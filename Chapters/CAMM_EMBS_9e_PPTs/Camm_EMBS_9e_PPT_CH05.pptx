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handoutMasterIdLst>
    <p:handoutMasterId r:id="rId51"/>
  </p:handoutMasterIdLst>
  <p:sldIdLst>
    <p:sldId id="656" r:id="rId5"/>
    <p:sldId id="524" r:id="rId6"/>
    <p:sldId id="548" r:id="rId7"/>
    <p:sldId id="597" r:id="rId8"/>
    <p:sldId id="596" r:id="rId9"/>
    <p:sldId id="598" r:id="rId10"/>
    <p:sldId id="640" r:id="rId11"/>
    <p:sldId id="599" r:id="rId12"/>
    <p:sldId id="601" r:id="rId13"/>
    <p:sldId id="602" r:id="rId14"/>
    <p:sldId id="641" r:id="rId15"/>
    <p:sldId id="642" r:id="rId16"/>
    <p:sldId id="607" r:id="rId17"/>
    <p:sldId id="605" r:id="rId18"/>
    <p:sldId id="643" r:id="rId19"/>
    <p:sldId id="644" r:id="rId20"/>
    <p:sldId id="645" r:id="rId21"/>
    <p:sldId id="646" r:id="rId22"/>
    <p:sldId id="631" r:id="rId23"/>
    <p:sldId id="611" r:id="rId24"/>
    <p:sldId id="612" r:id="rId25"/>
    <p:sldId id="613" r:id="rId26"/>
    <p:sldId id="632" r:id="rId27"/>
    <p:sldId id="615" r:id="rId28"/>
    <p:sldId id="616" r:id="rId29"/>
    <p:sldId id="617" r:id="rId30"/>
    <p:sldId id="618" r:id="rId31"/>
    <p:sldId id="633" r:id="rId32"/>
    <p:sldId id="634" r:id="rId33"/>
    <p:sldId id="647" r:id="rId34"/>
    <p:sldId id="649" r:id="rId35"/>
    <p:sldId id="622" r:id="rId36"/>
    <p:sldId id="635" r:id="rId37"/>
    <p:sldId id="628" r:id="rId38"/>
    <p:sldId id="650" r:id="rId39"/>
    <p:sldId id="652" r:id="rId40"/>
    <p:sldId id="653" r:id="rId41"/>
    <p:sldId id="636" r:id="rId42"/>
    <p:sldId id="624" r:id="rId43"/>
    <p:sldId id="625" r:id="rId44"/>
    <p:sldId id="637" r:id="rId45"/>
    <p:sldId id="654" r:id="rId46"/>
    <p:sldId id="655" r:id="rId47"/>
    <p:sldId id="638" r:id="rId48"/>
    <p:sldId id="523" r:id="rId4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F8197D-6385-3905-C8CC-4B1C755E6EA6}" name="Lumina" initials="LD" userId="Lumina" providerId="None"/>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5894E"/>
    <a:srgbClr val="D14B1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86258" autoAdjust="0"/>
  </p:normalViewPr>
  <p:slideViewPr>
    <p:cSldViewPr snapToGrid="0" snapToObjects="1">
      <p:cViewPr varScale="1">
        <p:scale>
          <a:sx n="54" d="100"/>
          <a:sy n="54" d="100"/>
        </p:scale>
        <p:origin x="1072" y="56"/>
      </p:cViewPr>
      <p:guideLst>
        <p:guide orient="horz" pos="2160"/>
        <p:guide pos="3840"/>
      </p:guideLst>
    </p:cSldViewPr>
  </p:slideViewPr>
  <p:outlineViewPr>
    <p:cViewPr>
      <p:scale>
        <a:sx n="33" d="100"/>
        <a:sy n="33" d="100"/>
      </p:scale>
      <p:origin x="0" y="-62128"/>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3141709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a:t>
            </a:r>
            <a:r>
              <a:rPr lang="en-US" b="0" i="0" dirty="0">
                <a:effectLst/>
                <a:latin typeface="Arial" panose="020B0604020202020204" pitchFamily="34" charset="0"/>
              </a:rPr>
              <a:t>One way to determine whether a random variable is discrete or continuous is to think of the values of the random variable as points on a line segment. Choose two points representing values of the random variable. If the entire line segment between the two points also represents possible values for the random variable, then the random variable is continuous.</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785636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2024491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t>the expected value does not have to be a value the random variable can assume.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1474973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t>the variance is a weighted average of the squared deviations of a random variable from its mean. The weights are the probabilities.</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695569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8378982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2656128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507426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stationarity assumption (property 3) should not be confused with the independence of the trials (property 4).</a:t>
            </a:r>
          </a:p>
          <a:p>
            <a:r>
              <a:rPr lang="en-US" dirty="0"/>
              <a:t>Consider the binomial experiment of </a:t>
            </a:r>
            <a:r>
              <a:rPr lang="en-US" b="0" i="0" dirty="0">
                <a:effectLst/>
                <a:latin typeface="Times New Roman" panose="02020603050405020304" pitchFamily="18" charset="0"/>
              </a:rPr>
              <a:t>an insurance salesperson visiting 10 randomly selected families. We define a </a:t>
            </a:r>
            <a:r>
              <a:rPr lang="en-US" b="0" i="1" dirty="0">
                <a:effectLst/>
                <a:latin typeface="Times New Roman" panose="02020603050405020304" pitchFamily="18" charset="0"/>
              </a:rPr>
              <a:t>success</a:t>
            </a:r>
            <a:r>
              <a:rPr lang="en-US" b="0" i="0" dirty="0">
                <a:effectLst/>
                <a:latin typeface="Times New Roman" panose="02020603050405020304" pitchFamily="18" charset="0"/>
              </a:rPr>
              <a:t> if the salesperson closes the sale of insurance with a family, and a </a:t>
            </a:r>
            <a:r>
              <a:rPr lang="en-US" b="0" i="1" dirty="0">
                <a:effectLst/>
                <a:latin typeface="Times New Roman" panose="02020603050405020304" pitchFamily="18" charset="0"/>
              </a:rPr>
              <a:t>failure</a:t>
            </a:r>
            <a:r>
              <a:rPr lang="en-US" b="0" i="0" dirty="0">
                <a:effectLst/>
                <a:latin typeface="Times New Roman" panose="02020603050405020304" pitchFamily="18" charset="0"/>
              </a:rPr>
              <a:t> if he does not. From past experience we know that the salesperson closes on an insurance in 10% of the family visits. In other words, </a:t>
            </a:r>
            <a:r>
              <a:rPr lang="en-US" b="0" i="1" dirty="0">
                <a:effectLst/>
                <a:latin typeface="Times New Roman" panose="02020603050405020304" pitchFamily="18" charset="0"/>
              </a:rPr>
              <a:t>p</a:t>
            </a:r>
            <a:r>
              <a:rPr lang="en-US" b="0" i="0" dirty="0">
                <a:effectLst/>
                <a:latin typeface="Times New Roman" panose="02020603050405020304" pitchFamily="18" charset="0"/>
              </a:rPr>
              <a:t> = 0.10. The stationarity assumption requires that the probability of a success (selling the insurance) remains the same over each trial (a family visit). In other words, if a salesperson got tired and lost interest in selling insurance, the probability of a success would decrease, and that would violate the stationarity assumption. The independence of the trials regards the decision of each family of whether to purchase or not the insurance.</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131100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to Use a table of binomial probabilities we must specify the values of </a:t>
            </a:r>
            <a:r>
              <a:rPr lang="en-US" i="1" dirty="0"/>
              <a:t>n</a:t>
            </a:r>
            <a:r>
              <a:rPr lang="en-US" dirty="0"/>
              <a:t>, </a:t>
            </a:r>
            <a:r>
              <a:rPr lang="en-US" i="1" dirty="0"/>
              <a:t>p</a:t>
            </a:r>
            <a:r>
              <a:rPr lang="en-US" dirty="0"/>
              <a:t>, and </a:t>
            </a:r>
            <a:r>
              <a:rPr lang="en-US" i="1" dirty="0"/>
              <a:t>x</a:t>
            </a:r>
            <a:r>
              <a:rPr lang="en-US" dirty="0"/>
              <a:t> for the binomial experiment of interest. For example, to obtain the probability of </a:t>
            </a:r>
            <a:r>
              <a:rPr lang="en-US" i="1" dirty="0"/>
              <a:t>x</a:t>
            </a:r>
            <a:r>
              <a:rPr lang="en-US" dirty="0"/>
              <a:t> = 3 successes in a binomial experiment with </a:t>
            </a:r>
            <a:r>
              <a:rPr lang="en-US" i="1" dirty="0"/>
              <a:t>n</a:t>
            </a:r>
            <a:r>
              <a:rPr lang="en-US" dirty="0"/>
              <a:t> = 10 and </a:t>
            </a:r>
            <a:r>
              <a:rPr lang="en-US" i="1" dirty="0"/>
              <a:t>p</a:t>
            </a:r>
            <a:r>
              <a:rPr lang="en-US" dirty="0"/>
              <a:t> = 0.40, first, scroll down the leftmost column until you find the group for </a:t>
            </a:r>
            <a:r>
              <a:rPr lang="en-US" i="1" dirty="0"/>
              <a:t>n</a:t>
            </a:r>
            <a:r>
              <a:rPr lang="en-US" dirty="0"/>
              <a:t> = 10. Second, in the column next to it, locate </a:t>
            </a:r>
            <a:r>
              <a:rPr lang="en-US" i="1" dirty="0"/>
              <a:t>x</a:t>
            </a:r>
            <a:r>
              <a:rPr lang="en-US" dirty="0"/>
              <a:t> = 3 from the available rows. Third, move along the row for </a:t>
            </a:r>
            <a:r>
              <a:rPr lang="en-US" i="1" dirty="0"/>
              <a:t>n</a:t>
            </a:r>
            <a:r>
              <a:rPr lang="en-US" dirty="0"/>
              <a:t> = 10 and </a:t>
            </a:r>
            <a:r>
              <a:rPr lang="en-US" i="1" dirty="0"/>
              <a:t>x</a:t>
            </a:r>
            <a:r>
              <a:rPr lang="en-US" dirty="0"/>
              <a:t> = 3 until you reach the column corresponding to </a:t>
            </a:r>
            <a:r>
              <a:rPr lang="en-US" i="1" dirty="0"/>
              <a:t>p</a:t>
            </a:r>
            <a:r>
              <a:rPr lang="en-US" dirty="0"/>
              <a:t> = 0.40. The answer is 0.2150.</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132060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1367502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3312290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2298127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741768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*Note: remember that a Poisson probability distribution has the variance equal to the mean. Therefore,, over a 15-minute interval, we have 𝜇=10, the standard deviation, </a:t>
                </a:r>
                <a:r>
                  <a:rPr lang="en-US" sz="1200" i="0" dirty="0">
                    <a:latin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ea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2 )=√10=3.16</a:t>
                </a:r>
                <a:r>
                  <a:rPr lang="en-US" sz="1200" dirty="0">
                    <a:latin typeface="Arial" panose="020B0604020202020204" pitchFamily="34" charset="0"/>
                    <a:cs typeface="Arial" panose="020B0604020202020204" pitchFamily="34" charset="0"/>
                  </a:rPr>
                  <a:t>, and a coefficient of variation of </a:t>
                </a:r>
                <a:r>
                  <a:rPr lang="en-US" sz="1200" b="0" i="0" dirty="0">
                    <a:latin typeface="Cambria Math" panose="02040503050406030204" pitchFamily="18" charset="0"/>
                    <a:cs typeface="Arial" panose="020B0604020202020204" pitchFamily="34" charset="0"/>
                  </a:rPr>
                  <a:t>100</a:t>
                </a:r>
                <a:r>
                  <a:rPr lang="en-US" sz="1200" b="0" i="0" dirty="0">
                    <a:latin typeface="Cambria Math" panose="02040503050406030204" pitchFamily="18" charset="0"/>
                    <a:ea typeface="Cambria Math" panose="02040503050406030204" pitchFamily="18" charset="0"/>
                    <a:cs typeface="Arial" panose="020B0604020202020204" pitchFamily="34" charset="0"/>
                  </a:rPr>
                  <a:t>×(3.16/10)%=</a:t>
                </a:r>
                <a:r>
                  <a:rPr lang="en-US" sz="1200" i="0" dirty="0">
                    <a:latin typeface="Cambria Math" panose="02040503050406030204" pitchFamily="18" charset="0"/>
                    <a:cs typeface="Arial" panose="020B0604020202020204" pitchFamily="34" charset="0"/>
                  </a:rPr>
                  <a:t>31.6%</a:t>
                </a:r>
                <a:r>
                  <a:rPr lang="en-US" sz="1200" dirty="0">
                    <a:latin typeface="Arial" panose="020B0604020202020204" pitchFamily="34" charset="0"/>
                    <a:cs typeface="Arial" panose="020B0604020202020204" pitchFamily="34" charset="0"/>
                  </a:rPr>
                  <a:t> . But over a 3-minute interval, we have 𝜇=2 and  </a:t>
                </a:r>
                <a:r>
                  <a:rPr lang="en-US" sz="1200" i="0" dirty="0">
                    <a:latin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ea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2 )=√2=1.41</a:t>
                </a:r>
                <a:r>
                  <a:rPr lang="en-US" sz="1200" dirty="0">
                    <a:latin typeface="Arial" panose="020B0604020202020204" pitchFamily="34" charset="0"/>
                    <a:cs typeface="Arial" panose="020B0604020202020204" pitchFamily="34" charset="0"/>
                  </a:rPr>
                  <a:t>, and a much larger coefficient of variation of </a:t>
                </a:r>
                <a:r>
                  <a:rPr lang="en-US" sz="1200" b="0" i="0" dirty="0">
                    <a:latin typeface="Cambria Math" panose="02040503050406030204" pitchFamily="18" charset="0"/>
                    <a:cs typeface="Arial" panose="020B0604020202020204" pitchFamily="34" charset="0"/>
                  </a:rPr>
                  <a:t>100</a:t>
                </a:r>
                <a:r>
                  <a:rPr lang="en-US" sz="1200" b="0" i="0" dirty="0">
                    <a:latin typeface="Cambria Math" panose="02040503050406030204" pitchFamily="18" charset="0"/>
                    <a:ea typeface="Cambria Math" panose="02040503050406030204" pitchFamily="18" charset="0"/>
                    <a:cs typeface="Arial" panose="020B0604020202020204" pitchFamily="34" charset="0"/>
                  </a:rPr>
                  <a:t>×(1.41/2)%=</a:t>
                </a:r>
                <a:r>
                  <a:rPr lang="en-US" sz="1200" b="0" i="0" dirty="0">
                    <a:latin typeface="Cambria Math" panose="02040503050406030204" pitchFamily="18" charset="0"/>
                    <a:cs typeface="Arial" panose="020B0604020202020204" pitchFamily="34" charset="0"/>
                  </a:rPr>
                  <a:t>70.7</a:t>
                </a:r>
                <a:r>
                  <a:rPr lang="en-US" sz="1200" i="0" dirty="0">
                    <a:latin typeface="Cambria Math" panose="02040503050406030204" pitchFamily="18" charset="0"/>
                    <a:cs typeface="Arial" panose="020B0604020202020204" pitchFamily="34" charset="0"/>
                  </a:rPr>
                  <a:t>%</a:t>
                </a:r>
                <a:r>
                  <a:rPr lang="en-US" sz="1200" dirty="0">
                    <a:latin typeface="Arial" panose="020B0604020202020204" pitchFamily="34" charset="0"/>
                    <a:cs typeface="Arial" panose="020B0604020202020204" pitchFamily="34" charset="0"/>
                  </a:rPr>
                  <a:t>. That’s the reason why the probabilities are also very different.</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3305066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22806323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36</a:t>
            </a:fld>
            <a:endParaRPr lang="en-US" dirty="0"/>
          </a:p>
        </p:txBody>
      </p:sp>
    </p:spTree>
    <p:extLst>
      <p:ext uri="{BB962C8B-B14F-4D97-AF65-F5344CB8AC3E}">
        <p14:creationId xmlns:p14="http://schemas.microsoft.com/office/powerpoint/2010/main" val="2089406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828179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*Note: remember that a Poisson probability distribution has the variance equal to the mean. Therefore,, over a 15-minute interval, we have 𝜇=10, the standard deviation, </a:t>
                </a:r>
                <a14:m>
                  <m:oMath xmlns:m="http://schemas.openxmlformats.org/officeDocument/2006/math">
                    <m:r>
                      <a:rPr lang="en-US" sz="1200" i="1" dirty="0" smtClean="0">
                        <a:latin typeface="Cambria Math" panose="02040503050406030204" pitchFamily="18" charset="0"/>
                        <a:cs typeface="Arial" panose="020B0604020202020204" pitchFamily="34" charset="0"/>
                      </a:rPr>
                      <m:t>𝜎</m:t>
                    </m:r>
                    <m:r>
                      <a:rPr lang="en-US" sz="1200" b="0" i="1" dirty="0" smtClean="0">
                        <a:latin typeface="Cambria Math" panose="02040503050406030204" pitchFamily="18" charset="0"/>
                        <a:cs typeface="Arial" panose="020B0604020202020204" pitchFamily="34" charset="0"/>
                      </a:rPr>
                      <m:t>=</m:t>
                    </m:r>
                    <m:rad>
                      <m:radPr>
                        <m:degHide m:val="on"/>
                        <m:ctrlPr>
                          <a:rPr lang="en-US" sz="1200" b="0" i="1" dirty="0" smtClean="0">
                            <a:latin typeface="Cambria Math" panose="02040503050406030204" pitchFamily="18" charset="0"/>
                            <a:cs typeface="Arial" panose="020B0604020202020204" pitchFamily="34" charset="0"/>
                          </a:rPr>
                        </m:ctrlPr>
                      </m:radPr>
                      <m:deg/>
                      <m:e>
                        <m:sSup>
                          <m:sSupPr>
                            <m:ctrlPr>
                              <a:rPr lang="en-US" sz="1200" b="0" i="1" dirty="0" smtClean="0">
                                <a:latin typeface="Cambria Math" panose="02040503050406030204" pitchFamily="18" charset="0"/>
                                <a:cs typeface="Arial" panose="020B0604020202020204" pitchFamily="34" charset="0"/>
                              </a:rPr>
                            </m:ctrlPr>
                          </m:sSupPr>
                          <m:e>
                            <m:r>
                              <a:rPr lang="en-US" sz="1200" b="0" i="1" dirty="0" smtClean="0">
                                <a:latin typeface="Cambria Math" panose="02040503050406030204" pitchFamily="18" charset="0"/>
                                <a:ea typeface="Cambria Math" panose="02040503050406030204" pitchFamily="18" charset="0"/>
                                <a:cs typeface="Arial" panose="020B0604020202020204" pitchFamily="34" charset="0"/>
                              </a:rPr>
                              <m:t>𝜎</m:t>
                            </m:r>
                          </m:e>
                          <m:sup>
                            <m:r>
                              <a:rPr lang="en-US" sz="1200" b="0" i="1" dirty="0" smtClean="0">
                                <a:latin typeface="Cambria Math" panose="02040503050406030204" pitchFamily="18" charset="0"/>
                                <a:cs typeface="Arial" panose="020B0604020202020204" pitchFamily="34" charset="0"/>
                              </a:rPr>
                              <m:t>2</m:t>
                            </m:r>
                          </m:sup>
                        </m:sSup>
                      </m:e>
                    </m:rad>
                    <m:r>
                      <a:rPr lang="en-US" sz="1200" b="0" i="1" dirty="0" smtClean="0">
                        <a:latin typeface="Cambria Math" panose="02040503050406030204" pitchFamily="18" charset="0"/>
                        <a:cs typeface="Arial" panose="020B0604020202020204" pitchFamily="34" charset="0"/>
                      </a:rPr>
                      <m:t>=</m:t>
                    </m:r>
                    <m:rad>
                      <m:radPr>
                        <m:degHide m:val="on"/>
                        <m:ctrlPr>
                          <a:rPr lang="en-US" sz="1200" b="0" i="1" dirty="0" smtClean="0">
                            <a:latin typeface="Cambria Math" panose="02040503050406030204" pitchFamily="18" charset="0"/>
                            <a:cs typeface="Arial" panose="020B0604020202020204" pitchFamily="34" charset="0"/>
                          </a:rPr>
                        </m:ctrlPr>
                      </m:radPr>
                      <m:deg/>
                      <m:e>
                        <m:r>
                          <a:rPr lang="en-US" sz="1200" b="0" i="1" dirty="0" smtClean="0">
                            <a:latin typeface="Cambria Math" panose="02040503050406030204" pitchFamily="18" charset="0"/>
                            <a:cs typeface="Arial" panose="020B0604020202020204" pitchFamily="34" charset="0"/>
                          </a:rPr>
                          <m:t>10</m:t>
                        </m:r>
                      </m:e>
                    </m:rad>
                    <m:r>
                      <a:rPr lang="en-US" sz="1200" b="0" i="1" dirty="0" smtClean="0">
                        <a:latin typeface="Cambria Math" panose="02040503050406030204" pitchFamily="18" charset="0"/>
                        <a:cs typeface="Arial" panose="020B0604020202020204" pitchFamily="34" charset="0"/>
                      </a:rPr>
                      <m:t>=3.16</m:t>
                    </m:r>
                  </m:oMath>
                </a14:m>
                <a:r>
                  <a:rPr lang="en-US" sz="1200" dirty="0">
                    <a:latin typeface="Arial" panose="020B0604020202020204" pitchFamily="34" charset="0"/>
                    <a:cs typeface="Arial" panose="020B0604020202020204" pitchFamily="34" charset="0"/>
                  </a:rPr>
                  <a:t>, and a coefficient of variation of </a:t>
                </a:r>
                <a14:m>
                  <m:oMath xmlns:m="http://schemas.openxmlformats.org/officeDocument/2006/math">
                    <m:r>
                      <a:rPr lang="en-US" sz="1200" b="0" i="0" dirty="0" smtClean="0">
                        <a:latin typeface="Cambria Math" panose="02040503050406030204" pitchFamily="18" charset="0"/>
                        <a:cs typeface="Arial" panose="020B0604020202020204" pitchFamily="34" charset="0"/>
                      </a:rPr>
                      <m:t>100</m:t>
                    </m:r>
                    <m:r>
                      <a:rPr lang="en-US" sz="1200" b="0" i="1" dirty="0" smtClean="0">
                        <a:latin typeface="Cambria Math" panose="02040503050406030204" pitchFamily="18" charset="0"/>
                        <a:ea typeface="Cambria Math" panose="02040503050406030204" pitchFamily="18" charset="0"/>
                        <a:cs typeface="Arial" panose="020B0604020202020204" pitchFamily="34" charset="0"/>
                      </a:rPr>
                      <m:t>×</m:t>
                    </m:r>
                    <m:d>
                      <m:dPr>
                        <m:ctrlPr>
                          <a:rPr lang="en-US" sz="1200" b="0" i="1" dirty="0" smtClean="0">
                            <a:latin typeface="Cambria Math" panose="02040503050406030204" pitchFamily="18" charset="0"/>
                            <a:ea typeface="Cambria Math" panose="02040503050406030204" pitchFamily="18" charset="0"/>
                            <a:cs typeface="Arial" panose="020B0604020202020204" pitchFamily="34" charset="0"/>
                          </a:rPr>
                        </m:ctrlPr>
                      </m:dPr>
                      <m:e>
                        <m:r>
                          <a:rPr lang="en-US" sz="1200" b="0" i="1" dirty="0" smtClean="0">
                            <a:latin typeface="Cambria Math" panose="02040503050406030204" pitchFamily="18" charset="0"/>
                            <a:ea typeface="Cambria Math" panose="02040503050406030204" pitchFamily="18" charset="0"/>
                            <a:cs typeface="Arial" panose="020B0604020202020204" pitchFamily="34" charset="0"/>
                          </a:rPr>
                          <m:t>3.16/10</m:t>
                        </m:r>
                      </m:e>
                    </m:d>
                    <m:r>
                      <a:rPr lang="en-US" sz="1200" b="0" i="1" dirty="0" smtClean="0">
                        <a:latin typeface="Cambria Math" panose="02040503050406030204" pitchFamily="18" charset="0"/>
                        <a:ea typeface="Cambria Math" panose="02040503050406030204" pitchFamily="18" charset="0"/>
                        <a:cs typeface="Arial" panose="020B0604020202020204" pitchFamily="34" charset="0"/>
                      </a:rPr>
                      <m:t>%=</m:t>
                    </m:r>
                    <m:r>
                      <a:rPr lang="en-US" sz="1200" i="1" dirty="0" smtClean="0">
                        <a:latin typeface="Cambria Math" panose="02040503050406030204" pitchFamily="18" charset="0"/>
                        <a:cs typeface="Arial" panose="020B0604020202020204" pitchFamily="34" charset="0"/>
                      </a:rPr>
                      <m:t>31.6%</m:t>
                    </m:r>
                  </m:oMath>
                </a14:m>
                <a:r>
                  <a:rPr lang="en-US" sz="1200" dirty="0">
                    <a:latin typeface="Arial" panose="020B0604020202020204" pitchFamily="34" charset="0"/>
                    <a:cs typeface="Arial" panose="020B0604020202020204" pitchFamily="34" charset="0"/>
                  </a:rPr>
                  <a:t> . But over a 3-minute interval, we have 𝜇=2 and  </a:t>
                </a:r>
                <a14:m>
                  <m:oMath xmlns:m="http://schemas.openxmlformats.org/officeDocument/2006/math">
                    <m:r>
                      <a:rPr lang="en-US" sz="1200" i="1" dirty="0" smtClean="0">
                        <a:latin typeface="Cambria Math" panose="02040503050406030204" pitchFamily="18" charset="0"/>
                        <a:cs typeface="Arial" panose="020B0604020202020204" pitchFamily="34" charset="0"/>
                      </a:rPr>
                      <m:t>𝜎</m:t>
                    </m:r>
                    <m:r>
                      <a:rPr lang="en-US" sz="1200" b="0" i="1" dirty="0" smtClean="0">
                        <a:latin typeface="Cambria Math" panose="02040503050406030204" pitchFamily="18" charset="0"/>
                        <a:cs typeface="Arial" panose="020B0604020202020204" pitchFamily="34" charset="0"/>
                      </a:rPr>
                      <m:t>=</m:t>
                    </m:r>
                    <m:rad>
                      <m:radPr>
                        <m:degHide m:val="on"/>
                        <m:ctrlPr>
                          <a:rPr lang="en-US" sz="1200" b="0" i="1" dirty="0" smtClean="0">
                            <a:latin typeface="Cambria Math" panose="02040503050406030204" pitchFamily="18" charset="0"/>
                            <a:cs typeface="Arial" panose="020B0604020202020204" pitchFamily="34" charset="0"/>
                          </a:rPr>
                        </m:ctrlPr>
                      </m:radPr>
                      <m:deg/>
                      <m:e>
                        <m:sSup>
                          <m:sSupPr>
                            <m:ctrlPr>
                              <a:rPr lang="en-US" sz="1200" b="0" i="1" dirty="0" smtClean="0">
                                <a:latin typeface="Cambria Math" panose="02040503050406030204" pitchFamily="18" charset="0"/>
                                <a:cs typeface="Arial" panose="020B0604020202020204" pitchFamily="34" charset="0"/>
                              </a:rPr>
                            </m:ctrlPr>
                          </m:sSupPr>
                          <m:e>
                            <m:r>
                              <a:rPr lang="en-US" sz="1200" b="0" i="1" dirty="0" smtClean="0">
                                <a:latin typeface="Cambria Math" panose="02040503050406030204" pitchFamily="18" charset="0"/>
                                <a:ea typeface="Cambria Math" panose="02040503050406030204" pitchFamily="18" charset="0"/>
                                <a:cs typeface="Arial" panose="020B0604020202020204" pitchFamily="34" charset="0"/>
                              </a:rPr>
                              <m:t>𝜎</m:t>
                            </m:r>
                          </m:e>
                          <m:sup>
                            <m:r>
                              <a:rPr lang="en-US" sz="1200" b="0" i="1" dirty="0" smtClean="0">
                                <a:latin typeface="Cambria Math" panose="02040503050406030204" pitchFamily="18" charset="0"/>
                                <a:cs typeface="Arial" panose="020B0604020202020204" pitchFamily="34" charset="0"/>
                              </a:rPr>
                              <m:t>2</m:t>
                            </m:r>
                          </m:sup>
                        </m:sSup>
                      </m:e>
                    </m:rad>
                    <m:r>
                      <a:rPr lang="en-US" sz="1200" b="0" i="1" dirty="0" smtClean="0">
                        <a:latin typeface="Cambria Math" panose="02040503050406030204" pitchFamily="18" charset="0"/>
                        <a:cs typeface="Arial" panose="020B0604020202020204" pitchFamily="34" charset="0"/>
                      </a:rPr>
                      <m:t>=</m:t>
                    </m:r>
                    <m:rad>
                      <m:radPr>
                        <m:degHide m:val="on"/>
                        <m:ctrlPr>
                          <a:rPr lang="en-US" sz="1200" b="0" i="1" dirty="0" smtClean="0">
                            <a:latin typeface="Cambria Math" panose="02040503050406030204" pitchFamily="18" charset="0"/>
                            <a:cs typeface="Arial" panose="020B0604020202020204" pitchFamily="34" charset="0"/>
                          </a:rPr>
                        </m:ctrlPr>
                      </m:radPr>
                      <m:deg/>
                      <m:e>
                        <m:r>
                          <a:rPr lang="en-US" sz="1200" b="0" i="1" dirty="0" smtClean="0">
                            <a:latin typeface="Cambria Math" panose="02040503050406030204" pitchFamily="18" charset="0"/>
                            <a:cs typeface="Arial" panose="020B0604020202020204" pitchFamily="34" charset="0"/>
                          </a:rPr>
                          <m:t>2</m:t>
                        </m:r>
                      </m:e>
                    </m:rad>
                    <m:r>
                      <a:rPr lang="en-US" sz="1200" b="0" i="1" dirty="0" smtClean="0">
                        <a:latin typeface="Cambria Math" panose="02040503050406030204" pitchFamily="18" charset="0"/>
                        <a:cs typeface="Arial" panose="020B0604020202020204" pitchFamily="34" charset="0"/>
                      </a:rPr>
                      <m:t>=1.41</m:t>
                    </m:r>
                  </m:oMath>
                </a14:m>
                <a:r>
                  <a:rPr lang="en-US" sz="1200" dirty="0">
                    <a:latin typeface="Arial" panose="020B0604020202020204" pitchFamily="34" charset="0"/>
                    <a:cs typeface="Arial" panose="020B0604020202020204" pitchFamily="34" charset="0"/>
                  </a:rPr>
                  <a:t>, and a much larger coefficient of variation of </a:t>
                </a:r>
                <a14:m>
                  <m:oMath xmlns:m="http://schemas.openxmlformats.org/officeDocument/2006/math">
                    <m:r>
                      <a:rPr lang="en-US" sz="1200" b="0" i="0" dirty="0" smtClean="0">
                        <a:latin typeface="Cambria Math" panose="02040503050406030204" pitchFamily="18" charset="0"/>
                        <a:cs typeface="Arial" panose="020B0604020202020204" pitchFamily="34" charset="0"/>
                      </a:rPr>
                      <m:t>100</m:t>
                    </m:r>
                    <m:r>
                      <a:rPr lang="en-US" sz="1200" b="0" i="1" dirty="0" smtClean="0">
                        <a:latin typeface="Cambria Math" panose="02040503050406030204" pitchFamily="18" charset="0"/>
                        <a:ea typeface="Cambria Math" panose="02040503050406030204" pitchFamily="18" charset="0"/>
                        <a:cs typeface="Arial" panose="020B0604020202020204" pitchFamily="34" charset="0"/>
                      </a:rPr>
                      <m:t>×</m:t>
                    </m:r>
                    <m:d>
                      <m:dPr>
                        <m:ctrlPr>
                          <a:rPr lang="en-US" sz="1200" b="0" i="1" dirty="0" smtClean="0">
                            <a:latin typeface="Cambria Math" panose="02040503050406030204" pitchFamily="18" charset="0"/>
                            <a:ea typeface="Cambria Math" panose="02040503050406030204" pitchFamily="18" charset="0"/>
                            <a:cs typeface="Arial" panose="020B0604020202020204" pitchFamily="34" charset="0"/>
                          </a:rPr>
                        </m:ctrlPr>
                      </m:dPr>
                      <m:e>
                        <m:r>
                          <a:rPr lang="en-US" sz="1200" b="0" i="1" dirty="0" smtClean="0">
                            <a:latin typeface="Cambria Math" panose="02040503050406030204" pitchFamily="18" charset="0"/>
                            <a:ea typeface="Cambria Math" panose="02040503050406030204" pitchFamily="18" charset="0"/>
                            <a:cs typeface="Arial" panose="020B0604020202020204" pitchFamily="34" charset="0"/>
                          </a:rPr>
                          <m:t>1.41/2</m:t>
                        </m:r>
                      </m:e>
                    </m:d>
                    <m:r>
                      <a:rPr lang="en-US" sz="1200" b="0" i="1" dirty="0" smtClean="0">
                        <a:latin typeface="Cambria Math" panose="02040503050406030204" pitchFamily="18" charset="0"/>
                        <a:ea typeface="Cambria Math" panose="02040503050406030204" pitchFamily="18" charset="0"/>
                        <a:cs typeface="Arial" panose="020B0604020202020204" pitchFamily="34" charset="0"/>
                      </a:rPr>
                      <m:t>%=</m:t>
                    </m:r>
                    <m:r>
                      <a:rPr lang="en-US" sz="1200" b="0" i="1" dirty="0" smtClean="0">
                        <a:latin typeface="Cambria Math" panose="02040503050406030204" pitchFamily="18" charset="0"/>
                        <a:cs typeface="Arial" panose="020B0604020202020204" pitchFamily="34" charset="0"/>
                      </a:rPr>
                      <m:t>70.7</m:t>
                    </m:r>
                    <m:r>
                      <a:rPr lang="en-US" sz="1200" i="1" dirty="0" smtClean="0">
                        <a:latin typeface="Cambria Math" panose="02040503050406030204" pitchFamily="18" charset="0"/>
                        <a:cs typeface="Arial" panose="020B0604020202020204" pitchFamily="34" charset="0"/>
                      </a:rPr>
                      <m:t>%</m:t>
                    </m:r>
                  </m:oMath>
                </a14:m>
                <a:r>
                  <a:rPr lang="en-US" sz="1200" dirty="0">
                    <a:latin typeface="Arial" panose="020B0604020202020204" pitchFamily="34" charset="0"/>
                    <a:cs typeface="Arial" panose="020B0604020202020204" pitchFamily="34" charset="0"/>
                  </a:rPr>
                  <a:t>. That’s the reason why the probabilities are also very different.</a:t>
                </a: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latin typeface="Arial" panose="020B0604020202020204" pitchFamily="34" charset="0"/>
                    <a:cs typeface="Arial" panose="020B0604020202020204" pitchFamily="34" charset="0"/>
                  </a:rPr>
                  <a:t>*Note: remember that a Poisson probability distribution has the variance equal to the mean. Therefore,, over a 15-minute interval, we have 𝜇=10, the standard deviation, </a:t>
                </a:r>
                <a:r>
                  <a:rPr lang="en-US" sz="1200" i="0" dirty="0">
                    <a:latin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ea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2 )=√10=3.16</a:t>
                </a:r>
                <a:r>
                  <a:rPr lang="en-US" sz="1200" dirty="0">
                    <a:latin typeface="Arial" panose="020B0604020202020204" pitchFamily="34" charset="0"/>
                    <a:cs typeface="Arial" panose="020B0604020202020204" pitchFamily="34" charset="0"/>
                  </a:rPr>
                  <a:t>, and a coefficient of variation of </a:t>
                </a:r>
                <a:r>
                  <a:rPr lang="en-US" sz="1200" b="0" i="0" dirty="0">
                    <a:latin typeface="Cambria Math" panose="02040503050406030204" pitchFamily="18" charset="0"/>
                    <a:cs typeface="Arial" panose="020B0604020202020204" pitchFamily="34" charset="0"/>
                  </a:rPr>
                  <a:t>100</a:t>
                </a:r>
                <a:r>
                  <a:rPr lang="en-US" sz="1200" b="0" i="0" dirty="0">
                    <a:latin typeface="Cambria Math" panose="02040503050406030204" pitchFamily="18" charset="0"/>
                    <a:ea typeface="Cambria Math" panose="02040503050406030204" pitchFamily="18" charset="0"/>
                    <a:cs typeface="Arial" panose="020B0604020202020204" pitchFamily="34" charset="0"/>
                  </a:rPr>
                  <a:t>×(3.16/10)%=</a:t>
                </a:r>
                <a:r>
                  <a:rPr lang="en-US" sz="1200" i="0" dirty="0">
                    <a:latin typeface="Cambria Math" panose="02040503050406030204" pitchFamily="18" charset="0"/>
                    <a:cs typeface="Arial" panose="020B0604020202020204" pitchFamily="34" charset="0"/>
                  </a:rPr>
                  <a:t>31.6%</a:t>
                </a:r>
                <a:r>
                  <a:rPr lang="en-US" sz="1200" dirty="0">
                    <a:latin typeface="Arial" panose="020B0604020202020204" pitchFamily="34" charset="0"/>
                    <a:cs typeface="Arial" panose="020B0604020202020204" pitchFamily="34" charset="0"/>
                  </a:rPr>
                  <a:t> . But over a 3-minute interval, we have 𝜇=2 and  </a:t>
                </a:r>
                <a:r>
                  <a:rPr lang="en-US" sz="1200" i="0" dirty="0">
                    <a:latin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a:t>
                </a:r>
                <a:r>
                  <a:rPr lang="en-US" sz="1200" b="0" i="0" dirty="0">
                    <a:latin typeface="Cambria Math" panose="02040503050406030204" pitchFamily="18" charset="0"/>
                    <a:ea typeface="Cambria Math" panose="02040503050406030204" pitchFamily="18" charset="0"/>
                    <a:cs typeface="Arial" panose="020B0604020202020204" pitchFamily="34" charset="0"/>
                  </a:rPr>
                  <a:t>𝜎^</a:t>
                </a:r>
                <a:r>
                  <a:rPr lang="en-US" sz="1200" b="0" i="0" dirty="0">
                    <a:latin typeface="Cambria Math" panose="02040503050406030204" pitchFamily="18" charset="0"/>
                    <a:cs typeface="Arial" panose="020B0604020202020204" pitchFamily="34" charset="0"/>
                  </a:rPr>
                  <a:t>2 )=√2=1.41</a:t>
                </a:r>
                <a:r>
                  <a:rPr lang="en-US" sz="1200" dirty="0">
                    <a:latin typeface="Arial" panose="020B0604020202020204" pitchFamily="34" charset="0"/>
                    <a:cs typeface="Arial" panose="020B0604020202020204" pitchFamily="34" charset="0"/>
                  </a:rPr>
                  <a:t>, and a much larger coefficient of variation of </a:t>
                </a:r>
                <a:r>
                  <a:rPr lang="en-US" sz="1200" b="0" i="0" dirty="0">
                    <a:latin typeface="Cambria Math" panose="02040503050406030204" pitchFamily="18" charset="0"/>
                    <a:cs typeface="Arial" panose="020B0604020202020204" pitchFamily="34" charset="0"/>
                  </a:rPr>
                  <a:t>100</a:t>
                </a:r>
                <a:r>
                  <a:rPr lang="en-US" sz="1200" b="0" i="0" dirty="0">
                    <a:latin typeface="Cambria Math" panose="02040503050406030204" pitchFamily="18" charset="0"/>
                    <a:ea typeface="Cambria Math" panose="02040503050406030204" pitchFamily="18" charset="0"/>
                    <a:cs typeface="Arial" panose="020B0604020202020204" pitchFamily="34" charset="0"/>
                  </a:rPr>
                  <a:t>×(1.41/2)%=</a:t>
                </a:r>
                <a:r>
                  <a:rPr lang="en-US" sz="1200" b="0" i="0" dirty="0">
                    <a:latin typeface="Cambria Math" panose="02040503050406030204" pitchFamily="18" charset="0"/>
                    <a:cs typeface="Arial" panose="020B0604020202020204" pitchFamily="34" charset="0"/>
                  </a:rPr>
                  <a:t>70.7</a:t>
                </a:r>
                <a:r>
                  <a:rPr lang="en-US" sz="1200" i="0" dirty="0">
                    <a:latin typeface="Cambria Math" panose="02040503050406030204" pitchFamily="18" charset="0"/>
                    <a:cs typeface="Arial" panose="020B0604020202020204" pitchFamily="34" charset="0"/>
                  </a:rPr>
                  <a:t>%</a:t>
                </a:r>
                <a:r>
                  <a:rPr lang="en-US" sz="1200" dirty="0">
                    <a:latin typeface="Arial" panose="020B0604020202020204" pitchFamily="34" charset="0"/>
                    <a:cs typeface="Arial" panose="020B0604020202020204" pitchFamily="34" charset="0"/>
                  </a:rPr>
                  <a:t>. That’s the reason why the probabilities are also very different.</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41561284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690097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72564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15783913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40054536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1.xml"/><Relationship Id="rId5" Type="http://schemas.openxmlformats.org/officeDocument/2006/relationships/image" Target="NULL"/><Relationship Id="rId4" Type="http://schemas.openxmlformats.org/officeDocument/2006/relationships/image" Target="NUL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NUL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NULL"/><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4.pn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0.png"/></Relationships>
</file>

<file path=ppt/slides/_rels/slide3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45.png"/><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47.png"/><Relationship Id="rId4"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C0B6FF-68BF-1E64-E214-A524C3BFD451}"/>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E6782689-9A75-2B4C-5C8B-3FA09D70EB51}"/>
              </a:ext>
            </a:extLst>
          </p:cNvPr>
          <p:cNvPicPr>
            <a:picLocks noChangeAspect="1"/>
          </p:cNvPicPr>
          <p:nvPr/>
        </p:nvPicPr>
        <p:blipFill>
          <a:blip r:embed="rId2"/>
          <a:stretch>
            <a:fillRect/>
          </a:stretch>
        </p:blipFill>
        <p:spPr>
          <a:xfrm>
            <a:off x="0" y="-1"/>
            <a:ext cx="12192000" cy="6858001"/>
          </a:xfrm>
          <a:prstGeom prst="rect">
            <a:avLst/>
          </a:prstGeom>
        </p:spPr>
      </p:pic>
    </p:spTree>
    <p:extLst>
      <p:ext uri="{BB962C8B-B14F-4D97-AF65-F5344CB8AC3E}">
        <p14:creationId xmlns:p14="http://schemas.microsoft.com/office/powerpoint/2010/main" val="667969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619573"/>
            <a:ext cx="10711543" cy="4022944"/>
          </a:xfrm>
        </p:spPr>
        <p:txBody>
          <a:bodyPr/>
          <a:lstStyle/>
          <a:p>
            <a:pPr marL="1371600" indent="-914400"/>
            <a:r>
              <a:rPr lang="en-US" sz="2000" dirty="0"/>
              <a:t>5.1	Random Variables</a:t>
            </a:r>
          </a:p>
          <a:p>
            <a:pPr marL="1371600" indent="-914400"/>
            <a:r>
              <a:rPr lang="en-US" sz="2000" dirty="0"/>
              <a:t>5.2	Developing Discrete Probability Distributions</a:t>
            </a:r>
          </a:p>
          <a:p>
            <a:pPr marL="1371600" indent="-914400"/>
            <a:r>
              <a:rPr lang="en-US" sz="2000" dirty="0"/>
              <a:t>5.3	Expected Value and Variance</a:t>
            </a:r>
          </a:p>
          <a:p>
            <a:pPr marL="1371600" indent="-914400"/>
            <a:r>
              <a:rPr lang="en-US" sz="2000" dirty="0"/>
              <a:t>5.4	Bivariate Distributions, Covariance, and Financial Portfolios</a:t>
            </a:r>
          </a:p>
          <a:p>
            <a:pPr marL="1371600" indent="-914400"/>
            <a:r>
              <a:rPr lang="en-US" sz="2000" dirty="0"/>
              <a:t>5.5	Binomial Probability Distribution</a:t>
            </a:r>
          </a:p>
          <a:p>
            <a:pPr marL="1371600" indent="-914400"/>
            <a:r>
              <a:rPr lang="en-US" sz="2000" dirty="0"/>
              <a:t>5.6	Poisson Probability Distribution</a:t>
            </a:r>
          </a:p>
          <a:p>
            <a:pPr marL="1371600" indent="-914400"/>
            <a:r>
              <a:rPr lang="en-US" sz="2000" dirty="0"/>
              <a:t>5.7	Hypergeometric Probability Distribution</a:t>
            </a:r>
          </a:p>
          <a:p>
            <a:pPr marL="1371600" indent="-914400"/>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254635"/>
            <a:ext cx="10610224" cy="4348729"/>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lvl="1" indent="-1371600">
              <a:spcBef>
                <a:spcPts val="1200"/>
              </a:spcBef>
              <a:buNone/>
            </a:pPr>
            <a:r>
              <a:rPr lang="en-US" sz="2000" dirty="0">
                <a:latin typeface="Arial" panose="020B0604020202020204" pitchFamily="34" charset="0"/>
                <a:cs typeface="Arial" panose="020B0604020202020204" pitchFamily="34" charset="0"/>
              </a:rPr>
              <a:t>LO 5-1 	Define and identify discrete and continuous random variables.</a:t>
            </a:r>
          </a:p>
          <a:p>
            <a:pPr marL="1828800" lvl="1" indent="-1371600">
              <a:spcBef>
                <a:spcPts val="1200"/>
              </a:spcBef>
              <a:buNone/>
            </a:pPr>
            <a:r>
              <a:rPr lang="en-US" sz="2000" dirty="0">
                <a:latin typeface="Arial" panose="020B0604020202020204" pitchFamily="34" charset="0"/>
                <a:cs typeface="Arial" panose="020B0604020202020204" pitchFamily="34" charset="0"/>
              </a:rPr>
              <a:t>LO 5-2 	Develop, graph, and interpret valid probability distributions for discrete random variables.</a:t>
            </a:r>
          </a:p>
          <a:p>
            <a:pPr marL="1828800" lvl="1" indent="-1371600">
              <a:spcBef>
                <a:spcPts val="1200"/>
              </a:spcBef>
              <a:buNone/>
            </a:pPr>
            <a:r>
              <a:rPr lang="en-US" sz="2000" dirty="0">
                <a:latin typeface="Arial" panose="020B0604020202020204" pitchFamily="34" charset="0"/>
                <a:cs typeface="Arial" panose="020B0604020202020204" pitchFamily="34" charset="0"/>
              </a:rPr>
              <a:t>LO 5-3 	Calculate and interpret the expected value, variance, and standard deviation for discrete random variables.</a:t>
            </a:r>
          </a:p>
          <a:p>
            <a:pPr marL="1828800" lvl="1" indent="-1371600">
              <a:spcBef>
                <a:spcPts val="1200"/>
              </a:spcBef>
              <a:buNone/>
            </a:pPr>
            <a:r>
              <a:rPr lang="en-US" sz="2000" dirty="0">
                <a:latin typeface="Arial" panose="020B0604020202020204" pitchFamily="34" charset="0"/>
                <a:cs typeface="Arial" panose="020B0604020202020204" pitchFamily="34" charset="0"/>
              </a:rPr>
              <a:t>LO 5-4 	Develop and interpret the bivariate probability distribution for two discrete random variables.</a:t>
            </a:r>
          </a:p>
          <a:p>
            <a:pPr marL="1828800" lvl="1" indent="-1371600">
              <a:spcBef>
                <a:spcPts val="1200"/>
              </a:spcBef>
              <a:buNone/>
            </a:pPr>
            <a:r>
              <a:rPr lang="en-US" sz="2000" dirty="0">
                <a:latin typeface="Arial" panose="020B0604020202020204" pitchFamily="34" charset="0"/>
                <a:cs typeface="Arial" panose="020B0604020202020204" pitchFamily="34" charset="0"/>
              </a:rPr>
              <a:t>LO 5-5 	Calculate and interpret the covariance and correlation coefficient for two discrete random variables.</a:t>
            </a:r>
          </a:p>
          <a:p>
            <a:pPr marL="1828800" lvl="1" indent="-1371600">
              <a:spcBef>
                <a:spcPts val="1200"/>
              </a:spcBef>
              <a:buNone/>
            </a:pPr>
            <a:r>
              <a:rPr lang="en-US" sz="2000" dirty="0">
                <a:latin typeface="Arial" panose="020B0604020202020204" pitchFamily="34" charset="0"/>
                <a:cs typeface="Arial" panose="020B0604020202020204" pitchFamily="34" charset="0"/>
              </a:rPr>
              <a:t>LO 5-6 	Calculate and interpret the expected value and variance of a linear combination of two random variables.</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6" y="1712063"/>
            <a:ext cx="10610224" cy="4189645"/>
          </a:xfrm>
        </p:spPr>
        <p:txBody>
          <a:bodyPr/>
          <a:lstStyle/>
          <a:p>
            <a:pPr marL="1828800" lvl="1" indent="-1371600">
              <a:spcBef>
                <a:spcPts val="1200"/>
              </a:spcBef>
              <a:buNone/>
            </a:pPr>
            <a:r>
              <a:rPr lang="en-US" sz="2000" dirty="0">
                <a:latin typeface="Arial" panose="020B0604020202020204" pitchFamily="34" charset="0"/>
                <a:cs typeface="Arial" panose="020B0604020202020204" pitchFamily="34" charset="0"/>
              </a:rPr>
              <a:t>LO 5-7 	Identify and use the binomial probability function to compute the probability of a specified number of successes out of a given number of trials.</a:t>
            </a:r>
          </a:p>
          <a:p>
            <a:pPr marL="1828800" lvl="1" indent="-1371600">
              <a:spcBef>
                <a:spcPts val="1200"/>
              </a:spcBef>
              <a:buNone/>
            </a:pPr>
            <a:r>
              <a:rPr lang="en-US" sz="2000" dirty="0">
                <a:latin typeface="Arial" panose="020B0604020202020204" pitchFamily="34" charset="0"/>
                <a:cs typeface="Arial" panose="020B0604020202020204" pitchFamily="34" charset="0"/>
              </a:rPr>
              <a:t>LO 5-8 	Calculate and interpret the expected value, variance, and standard deviation for binomial experiments.</a:t>
            </a:r>
          </a:p>
          <a:p>
            <a:pPr marL="1828800" lvl="1" indent="-1371600">
              <a:spcBef>
                <a:spcPts val="1200"/>
              </a:spcBef>
              <a:buNone/>
            </a:pPr>
            <a:r>
              <a:rPr lang="en-US" sz="2000" dirty="0">
                <a:latin typeface="Arial" panose="020B0604020202020204" pitchFamily="34" charset="0"/>
                <a:cs typeface="Arial" panose="020B0604020202020204" pitchFamily="34" charset="0"/>
              </a:rPr>
              <a:t>LO 5-9 	Identify and use the Poisson probability function to compute the probability of a specified number of occurrences over a given interval.</a:t>
            </a:r>
          </a:p>
          <a:p>
            <a:pPr marL="1828800" lvl="1" indent="-1371600">
              <a:spcBef>
                <a:spcPts val="1200"/>
              </a:spcBef>
              <a:buNone/>
            </a:pPr>
            <a:r>
              <a:rPr lang="en-US" sz="2000" dirty="0">
                <a:latin typeface="Arial" panose="020B0604020202020204" pitchFamily="34" charset="0"/>
                <a:cs typeface="Arial" panose="020B0604020202020204" pitchFamily="34" charset="0"/>
              </a:rPr>
              <a:t>LO 5-10	 Calculate and interpret the expected value, variance, and standard deviation for Poisson experiments.</a:t>
            </a:r>
          </a:p>
          <a:p>
            <a:pPr marL="1828800" lvl="1" indent="-1371600">
              <a:spcBef>
                <a:spcPts val="1200"/>
              </a:spcBef>
              <a:buNone/>
            </a:pPr>
            <a:r>
              <a:rPr lang="en-US" sz="2000" dirty="0">
                <a:latin typeface="Arial" panose="020B0604020202020204" pitchFamily="34" charset="0"/>
                <a:cs typeface="Arial" panose="020B0604020202020204" pitchFamily="34" charset="0"/>
              </a:rPr>
              <a:t>LO 5-11	Identify and use the hypergeometric probability function to compute the probability of a specified number of successes out of a given number of trials.</a:t>
            </a:r>
          </a:p>
          <a:p>
            <a:pPr marL="1828800" lvl="1" indent="-1371600">
              <a:spcBef>
                <a:spcPts val="1200"/>
              </a:spcBef>
              <a:buNone/>
            </a:pPr>
            <a:r>
              <a:rPr lang="en-US" sz="2000" dirty="0">
                <a:latin typeface="Arial" panose="020B0604020202020204" pitchFamily="34" charset="0"/>
                <a:cs typeface="Arial" panose="020B0604020202020204" pitchFamily="34" charset="0"/>
              </a:rPr>
              <a:t>LO 5-12	Calculate and interpret the expected value, variance, and standard deviation for hypergeometric experiments.</a:t>
            </a:r>
          </a:p>
        </p:txBody>
      </p:sp>
    </p:spTree>
    <p:extLst>
      <p:ext uri="{BB962C8B-B14F-4D97-AF65-F5344CB8AC3E}">
        <p14:creationId xmlns:p14="http://schemas.microsoft.com/office/powerpoint/2010/main" val="2159593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838779" y="1231977"/>
            <a:ext cx="10515601" cy="4487182"/>
          </a:xfrm>
        </p:spPr>
        <p:txBody>
          <a:bodyPr/>
          <a:lstStyle/>
          <a:p>
            <a:pPr>
              <a:lnSpc>
                <a:spcPct val="100000"/>
              </a:lnSpc>
              <a:spcBef>
                <a:spcPts val="600"/>
              </a:spcBef>
            </a:pPr>
            <a:r>
              <a:rPr lang="en-US" sz="2000" dirty="0"/>
              <a:t>In this chapter, we extend the study of probability by introducing the concepts of random variables and probability distributions. </a:t>
            </a:r>
          </a:p>
          <a:p>
            <a:pPr>
              <a:lnSpc>
                <a:spcPct val="100000"/>
              </a:lnSpc>
              <a:spcBef>
                <a:spcPts val="600"/>
              </a:spcBef>
            </a:pPr>
            <a:r>
              <a:rPr lang="en-US" sz="2000" dirty="0"/>
              <a:t>Random variables and probability distributions are models for populations of data. </a:t>
            </a:r>
          </a:p>
          <a:p>
            <a:pPr>
              <a:lnSpc>
                <a:spcPct val="100000"/>
              </a:lnSpc>
              <a:spcBef>
                <a:spcPts val="600"/>
              </a:spcBef>
            </a:pPr>
            <a:r>
              <a:rPr lang="en-US" sz="2000" dirty="0"/>
              <a:t>The values of random variables represent the values of the data, and the probability distribution provides either the probability of each data value or a rule for computing the probability of each data value or a set of data values</a:t>
            </a:r>
          </a:p>
          <a:p>
            <a:pPr>
              <a:lnSpc>
                <a:spcPct val="100000"/>
              </a:lnSpc>
              <a:spcBef>
                <a:spcPts val="600"/>
              </a:spcBef>
            </a:pPr>
            <a:r>
              <a:rPr lang="en-US" sz="2000" dirty="0"/>
              <a:t>The focus of this chapter is on probability distributions for discrete data, that is, discrete probabil­ity distributions.</a:t>
            </a:r>
          </a:p>
          <a:p>
            <a:pPr>
              <a:lnSpc>
                <a:spcPct val="100000"/>
              </a:lnSpc>
              <a:spcBef>
                <a:spcPts val="600"/>
              </a:spcBef>
            </a:pPr>
            <a:r>
              <a:rPr lang="en-US" sz="2000" dirty="0"/>
              <a:t>We will introduce two types of discrete probability distributions. </a:t>
            </a:r>
          </a:p>
          <a:p>
            <a:pPr marL="914400" indent="-342900">
              <a:lnSpc>
                <a:spcPct val="100000"/>
              </a:lnSpc>
              <a:spcBef>
                <a:spcPts val="600"/>
              </a:spcBef>
              <a:buFont typeface="Arial" panose="020B0604020202020204" pitchFamily="34" charset="0"/>
              <a:buChar char="•"/>
            </a:pPr>
            <a:r>
              <a:rPr lang="en-US" sz="2000" dirty="0"/>
              <a:t>A table with one column for the values of the random variable and a second column for the asso­ciated probabilities. </a:t>
            </a:r>
          </a:p>
          <a:p>
            <a:pPr marL="914400" indent="-342900">
              <a:lnSpc>
                <a:spcPct val="100000"/>
              </a:lnSpc>
              <a:spcBef>
                <a:spcPts val="600"/>
              </a:spcBef>
              <a:buFont typeface="Arial" panose="020B0604020202020204" pitchFamily="34" charset="0"/>
              <a:buChar char="•"/>
            </a:pPr>
            <a:r>
              <a:rPr lang="en-US" sz="2000" dirty="0"/>
              <a:t>Three types of mathematical functions that represent a probability distribution: the binomial, Poisson, and hypergeometric distribution.</a:t>
            </a: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1D7C-DC50-1F3F-7325-2C703544E912}"/>
              </a:ext>
            </a:extLst>
          </p:cNvPr>
          <p:cNvSpPr>
            <a:spLocks noGrp="1"/>
          </p:cNvSpPr>
          <p:nvPr>
            <p:ph type="title"/>
          </p:nvPr>
        </p:nvSpPr>
        <p:spPr/>
        <p:txBody>
          <a:bodyPr/>
          <a:lstStyle/>
          <a:p>
            <a:r>
              <a:rPr lang="en-US" dirty="0">
                <a:solidFill>
                  <a:srgbClr val="D14B1E"/>
                </a:solidFill>
              </a:rPr>
              <a:t>5.1 Random Variables</a:t>
            </a:r>
          </a:p>
        </p:txBody>
      </p:sp>
      <p:sp>
        <p:nvSpPr>
          <p:cNvPr id="7" name="Text Placeholder 6">
            <a:extLst>
              <a:ext uri="{FF2B5EF4-FFF2-40B4-BE49-F238E27FC236}">
                <a16:creationId xmlns:a16="http://schemas.microsoft.com/office/drawing/2014/main" id="{C1ECB93D-396F-8E85-D130-37049A6203D0}"/>
              </a:ext>
            </a:extLst>
          </p:cNvPr>
          <p:cNvSpPr>
            <a:spLocks noGrp="1"/>
          </p:cNvSpPr>
          <p:nvPr>
            <p:ph type="body" sz="quarter" idx="15"/>
          </p:nvPr>
        </p:nvSpPr>
        <p:spPr>
          <a:xfrm>
            <a:off x="743576" y="1248586"/>
            <a:ext cx="10610223" cy="1050350"/>
          </a:xfrm>
        </p:spPr>
        <p:txBody>
          <a:bodyPr/>
          <a:lstStyle/>
          <a:p>
            <a:r>
              <a:rPr lang="en-US" sz="2000" dirty="0"/>
              <a:t>A </a:t>
            </a:r>
            <a:r>
              <a:rPr lang="en-US" sz="2000" b="1" dirty="0"/>
              <a:t>random variable </a:t>
            </a:r>
            <a:r>
              <a:rPr lang="en-US" sz="2000" dirty="0"/>
              <a:t>is a numerical description of the outcome of an experiment.</a:t>
            </a:r>
          </a:p>
          <a:p>
            <a:pPr>
              <a:lnSpc>
                <a:spcPct val="100000"/>
              </a:lnSpc>
              <a:spcBef>
                <a:spcPts val="600"/>
              </a:spcBef>
            </a:pPr>
            <a:r>
              <a:rPr lang="en-US" sz="2000" dirty="0"/>
              <a:t>A </a:t>
            </a:r>
            <a:r>
              <a:rPr lang="en-US" sz="2000" b="1" dirty="0"/>
              <a:t>discrete random variable </a:t>
            </a:r>
            <a:r>
              <a:rPr lang="en-US" sz="2000" dirty="0"/>
              <a:t>may assume either a finite number of values or an infinite sequence of values.</a:t>
            </a:r>
          </a:p>
        </p:txBody>
      </p:sp>
      <p:graphicFrame>
        <p:nvGraphicFramePr>
          <p:cNvPr id="15" name="Table 15">
            <a:extLst>
              <a:ext uri="{FF2B5EF4-FFF2-40B4-BE49-F238E27FC236}">
                <a16:creationId xmlns:a16="http://schemas.microsoft.com/office/drawing/2014/main" id="{67BA0D7E-0D28-DA0F-20A3-1DEC445159E1}"/>
              </a:ext>
            </a:extLst>
          </p:cNvPr>
          <p:cNvGraphicFramePr>
            <a:graphicFrameLocks noGrp="1"/>
          </p:cNvGraphicFramePr>
          <p:nvPr>
            <p:ph type="tbl" sz="quarter" idx="16"/>
          </p:nvPr>
        </p:nvGraphicFramePr>
        <p:xfrm>
          <a:off x="1278147" y="2298936"/>
          <a:ext cx="9635706" cy="3623092"/>
        </p:xfrm>
        <a:graphic>
          <a:graphicData uri="http://schemas.openxmlformats.org/drawingml/2006/table">
            <a:tbl>
              <a:tblPr firstRow="1" bandRow="1">
                <a:tableStyleId>{5C22544A-7EE6-4342-B048-85BDC9FD1C3A}</a:tableStyleId>
              </a:tblPr>
              <a:tblGrid>
                <a:gridCol w="3211902">
                  <a:extLst>
                    <a:ext uri="{9D8B030D-6E8A-4147-A177-3AD203B41FA5}">
                      <a16:colId xmlns:a16="http://schemas.microsoft.com/office/drawing/2014/main" val="1633933113"/>
                    </a:ext>
                  </a:extLst>
                </a:gridCol>
                <a:gridCol w="3211902">
                  <a:extLst>
                    <a:ext uri="{9D8B030D-6E8A-4147-A177-3AD203B41FA5}">
                      <a16:colId xmlns:a16="http://schemas.microsoft.com/office/drawing/2014/main" val="216286341"/>
                    </a:ext>
                  </a:extLst>
                </a:gridCol>
                <a:gridCol w="3211902">
                  <a:extLst>
                    <a:ext uri="{9D8B030D-6E8A-4147-A177-3AD203B41FA5}">
                      <a16:colId xmlns:a16="http://schemas.microsoft.com/office/drawing/2014/main" val="561235495"/>
                    </a:ext>
                  </a:extLst>
                </a:gridCol>
              </a:tblGrid>
              <a:tr h="522014">
                <a:tc>
                  <a:txBody>
                    <a:bodyPr/>
                    <a:lstStyle/>
                    <a:p>
                      <a:pPr marL="344488" indent="-171450" algn="l" fontAlgn="ctr"/>
                      <a:r>
                        <a:rPr lang="en-US" sz="1800" b="1" i="0" u="none" strike="noStrike" dirty="0">
                          <a:solidFill>
                            <a:srgbClr val="000000"/>
                          </a:solidFill>
                          <a:effectLst/>
                          <a:latin typeface="Arial Unicode MS"/>
                        </a:rPr>
                        <a:t>Random Experiment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1" i="0" u="none" strike="noStrike" dirty="0">
                          <a:solidFill>
                            <a:srgbClr val="000000"/>
                          </a:solidFill>
                          <a:effectLst/>
                          <a:latin typeface="Arial Unicode MS"/>
                        </a:rPr>
                        <a:t>Random Variable (x)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173038" indent="0" algn="l" fontAlgn="ctr"/>
                      <a:r>
                        <a:rPr lang="en-US" sz="1800" b="1" i="0" u="none" strike="noStrike" dirty="0">
                          <a:solidFill>
                            <a:srgbClr val="000000"/>
                          </a:solidFill>
                          <a:effectLst/>
                          <a:latin typeface="Arial Unicode MS"/>
                        </a:rPr>
                        <a:t>Possible Values for the Random Variable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99503975"/>
                  </a:ext>
                </a:extLst>
              </a:tr>
              <a:tr h="522014">
                <a:tc>
                  <a:txBody>
                    <a:bodyPr/>
                    <a:lstStyle/>
                    <a:p>
                      <a:pPr marL="344488" indent="-171450" algn="l" fontAlgn="ctr"/>
                      <a:r>
                        <a:rPr lang="en-US" sz="1800" b="0" i="0" u="none" strike="noStrike" dirty="0">
                          <a:solidFill>
                            <a:srgbClr val="000000"/>
                          </a:solidFill>
                          <a:effectLst/>
                          <a:latin typeface="Arial Unicode MS"/>
                        </a:rPr>
                        <a:t>Flip a coin </a:t>
                      </a:r>
                    </a:p>
                  </a:txBody>
                  <a:tcPr marL="6350" marR="6350" marT="635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Face of coin showing </a:t>
                      </a:r>
                    </a:p>
                  </a:txBody>
                  <a:tcPr marL="6350" marR="6350" marT="635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a:solidFill>
                            <a:srgbClr val="000000"/>
                          </a:solidFill>
                          <a:effectLst/>
                          <a:latin typeface="Arial Unicode MS"/>
                        </a:rPr>
                        <a:t>1 if heads; 0 if tails </a:t>
                      </a:r>
                    </a:p>
                  </a:txBody>
                  <a:tcPr marL="6350" marR="6350" marT="635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47478249"/>
                  </a:ext>
                </a:extLst>
              </a:tr>
              <a:tr h="522014">
                <a:tc>
                  <a:txBody>
                    <a:bodyPr/>
                    <a:lstStyle/>
                    <a:p>
                      <a:pPr marL="344488" indent="-171450" algn="l" fontAlgn="ctr"/>
                      <a:r>
                        <a:rPr lang="en-US" sz="1800" b="0" i="0" u="none" strike="noStrike" dirty="0">
                          <a:solidFill>
                            <a:srgbClr val="000000"/>
                          </a:solidFill>
                          <a:effectLst/>
                          <a:latin typeface="Arial Unicode MS"/>
                        </a:rPr>
                        <a:t>Roll a die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Number of dots showing on top of die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b"/>
                      <a:r>
                        <a:rPr lang="en-US" sz="1800" b="0" i="0" u="none" strike="noStrike" dirty="0">
                          <a:solidFill>
                            <a:srgbClr val="000000"/>
                          </a:solidFill>
                          <a:effectLst/>
                          <a:latin typeface="Calibri" panose="020F0502020204030204" pitchFamily="34" charset="0"/>
                        </a:rPr>
                        <a:t>1, 2, 3, 4, 5, 6</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73192877"/>
                  </a:ext>
                </a:extLst>
              </a:tr>
              <a:tr h="522014">
                <a:tc>
                  <a:txBody>
                    <a:bodyPr/>
                    <a:lstStyle/>
                    <a:p>
                      <a:pPr marL="344488" indent="-171450" algn="l" fontAlgn="ctr"/>
                      <a:r>
                        <a:rPr lang="en-US" sz="1800" b="0" i="0" u="none" strike="noStrike" dirty="0">
                          <a:solidFill>
                            <a:srgbClr val="000000"/>
                          </a:solidFill>
                          <a:effectLst/>
                          <a:latin typeface="Arial Unicode MS"/>
                        </a:rPr>
                        <a:t>Contact five customers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Number of customers who place an order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b"/>
                      <a:r>
                        <a:rPr lang="en-US" sz="1800" b="0" i="0" u="none" strike="noStrike" dirty="0">
                          <a:solidFill>
                            <a:srgbClr val="000000"/>
                          </a:solidFill>
                          <a:effectLst/>
                          <a:latin typeface="Calibri" panose="020F0502020204030204" pitchFamily="34" charset="0"/>
                        </a:rPr>
                        <a:t>0, 1, 2, 3, 4, 5</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95716043"/>
                  </a:ext>
                </a:extLst>
              </a:tr>
              <a:tr h="522014">
                <a:tc>
                  <a:txBody>
                    <a:bodyPr/>
                    <a:lstStyle/>
                    <a:p>
                      <a:pPr marL="344488" indent="-171450" algn="l" fontAlgn="ctr"/>
                      <a:r>
                        <a:rPr lang="en-US" sz="1800" b="0" i="0" u="none" strike="noStrike" dirty="0">
                          <a:solidFill>
                            <a:srgbClr val="000000"/>
                          </a:solidFill>
                          <a:effectLst/>
                          <a:latin typeface="Arial Unicode MS"/>
                        </a:rPr>
                        <a:t>Operate a health care clinic for one day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Number of patients who arrive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b"/>
                      <a:r>
                        <a:rPr lang="en-US" sz="1800" b="0" i="0" u="none" strike="noStrike" dirty="0">
                          <a:solidFill>
                            <a:srgbClr val="000000"/>
                          </a:solidFill>
                          <a:effectLst/>
                          <a:latin typeface="Calibri" panose="020F0502020204030204" pitchFamily="34" charset="0"/>
                        </a:rPr>
                        <a:t>0, 1, 2, 3,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88410711"/>
                  </a:ext>
                </a:extLst>
              </a:tr>
              <a:tr h="652518">
                <a:tc>
                  <a:txBody>
                    <a:bodyPr/>
                    <a:lstStyle/>
                    <a:p>
                      <a:pPr marL="344488" indent="-171450" algn="l" fontAlgn="ctr"/>
                      <a:r>
                        <a:rPr lang="en-US" sz="1800" b="0" i="0" u="none" strike="noStrike" dirty="0">
                          <a:solidFill>
                            <a:srgbClr val="000000"/>
                          </a:solidFill>
                          <a:effectLst/>
                          <a:latin typeface="Arial Unicode MS"/>
                        </a:rPr>
                        <a:t>Offer a customer the choice of two products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Product chosen by customer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0 if none; 1 if choose product A; 2 if choose product B</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9920564"/>
                  </a:ext>
                </a:extLst>
              </a:tr>
            </a:tbl>
          </a:graphicData>
        </a:graphic>
      </p:graphicFrame>
    </p:spTree>
    <p:extLst>
      <p:ext uri="{BB962C8B-B14F-4D97-AF65-F5344CB8AC3E}">
        <p14:creationId xmlns:p14="http://schemas.microsoft.com/office/powerpoint/2010/main" val="2580078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B1D7C-DC50-1F3F-7325-2C703544E912}"/>
              </a:ext>
            </a:extLst>
          </p:cNvPr>
          <p:cNvSpPr>
            <a:spLocks noGrp="1"/>
          </p:cNvSpPr>
          <p:nvPr>
            <p:ph type="title"/>
          </p:nvPr>
        </p:nvSpPr>
        <p:spPr/>
        <p:txBody>
          <a:bodyPr/>
          <a:lstStyle/>
          <a:p>
            <a:r>
              <a:rPr lang="en-US" dirty="0"/>
              <a:t>5.1 Examples of Continuous Random Variables</a:t>
            </a:r>
          </a:p>
        </p:txBody>
      </p:sp>
      <p:sp>
        <p:nvSpPr>
          <p:cNvPr id="7" name="Text Placeholder 6">
            <a:extLst>
              <a:ext uri="{FF2B5EF4-FFF2-40B4-BE49-F238E27FC236}">
                <a16:creationId xmlns:a16="http://schemas.microsoft.com/office/drawing/2014/main" id="{C1ECB93D-396F-8E85-D130-37049A6203D0}"/>
              </a:ext>
            </a:extLst>
          </p:cNvPr>
          <p:cNvSpPr>
            <a:spLocks noGrp="1"/>
          </p:cNvSpPr>
          <p:nvPr>
            <p:ph type="body" sz="quarter" idx="15"/>
          </p:nvPr>
        </p:nvSpPr>
        <p:spPr>
          <a:xfrm>
            <a:off x="743577" y="1393916"/>
            <a:ext cx="10610223" cy="672105"/>
          </a:xfrm>
        </p:spPr>
        <p:txBody>
          <a:bodyPr/>
          <a:lstStyle/>
          <a:p>
            <a:pPr>
              <a:lnSpc>
                <a:spcPct val="100000"/>
              </a:lnSpc>
              <a:spcBef>
                <a:spcPts val="600"/>
              </a:spcBef>
            </a:pPr>
            <a:r>
              <a:rPr lang="en-US" sz="2000" dirty="0"/>
              <a:t>A </a:t>
            </a:r>
            <a:r>
              <a:rPr lang="en-US" sz="2000" b="1" dirty="0"/>
              <a:t>continuous random variable </a:t>
            </a:r>
            <a:r>
              <a:rPr lang="en-US" sz="2000" dirty="0"/>
              <a:t>may assume any numerical value in an interval or collection of intervals (*see notes.)</a:t>
            </a:r>
          </a:p>
        </p:txBody>
      </p:sp>
      <p:graphicFrame>
        <p:nvGraphicFramePr>
          <p:cNvPr id="15" name="Table 15">
            <a:extLst>
              <a:ext uri="{FF2B5EF4-FFF2-40B4-BE49-F238E27FC236}">
                <a16:creationId xmlns:a16="http://schemas.microsoft.com/office/drawing/2014/main" id="{67BA0D7E-0D28-DA0F-20A3-1DEC445159E1}"/>
              </a:ext>
            </a:extLst>
          </p:cNvPr>
          <p:cNvGraphicFramePr>
            <a:graphicFrameLocks noGrp="1"/>
          </p:cNvGraphicFramePr>
          <p:nvPr>
            <p:ph type="tbl" sz="quarter" idx="16"/>
          </p:nvPr>
        </p:nvGraphicFramePr>
        <p:xfrm>
          <a:off x="1278147" y="2113458"/>
          <a:ext cx="9635706" cy="3597910"/>
        </p:xfrm>
        <a:graphic>
          <a:graphicData uri="http://schemas.openxmlformats.org/drawingml/2006/table">
            <a:tbl>
              <a:tblPr firstRow="1" bandRow="1">
                <a:tableStyleId>{5C22544A-7EE6-4342-B048-85BDC9FD1C3A}</a:tableStyleId>
              </a:tblPr>
              <a:tblGrid>
                <a:gridCol w="3211902">
                  <a:extLst>
                    <a:ext uri="{9D8B030D-6E8A-4147-A177-3AD203B41FA5}">
                      <a16:colId xmlns:a16="http://schemas.microsoft.com/office/drawing/2014/main" val="1633933113"/>
                    </a:ext>
                  </a:extLst>
                </a:gridCol>
                <a:gridCol w="3211902">
                  <a:extLst>
                    <a:ext uri="{9D8B030D-6E8A-4147-A177-3AD203B41FA5}">
                      <a16:colId xmlns:a16="http://schemas.microsoft.com/office/drawing/2014/main" val="216286341"/>
                    </a:ext>
                  </a:extLst>
                </a:gridCol>
                <a:gridCol w="3211902">
                  <a:extLst>
                    <a:ext uri="{9D8B030D-6E8A-4147-A177-3AD203B41FA5}">
                      <a16:colId xmlns:a16="http://schemas.microsoft.com/office/drawing/2014/main" val="561235495"/>
                    </a:ext>
                  </a:extLst>
                </a:gridCol>
              </a:tblGrid>
              <a:tr h="522014">
                <a:tc>
                  <a:txBody>
                    <a:bodyPr/>
                    <a:lstStyle/>
                    <a:p>
                      <a:pPr marL="344488" indent="-171450" algn="l" fontAlgn="ctr"/>
                      <a:r>
                        <a:rPr lang="en-US" sz="1800" b="1" i="0" u="none" strike="noStrike" dirty="0">
                          <a:solidFill>
                            <a:srgbClr val="000000"/>
                          </a:solidFill>
                          <a:effectLst/>
                          <a:latin typeface="Arial Unicode MS"/>
                        </a:rPr>
                        <a:t>Random Experiment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1" i="0" u="none" strike="noStrike" dirty="0">
                          <a:solidFill>
                            <a:srgbClr val="000000"/>
                          </a:solidFill>
                          <a:effectLst/>
                          <a:latin typeface="Arial Unicode MS"/>
                        </a:rPr>
                        <a:t>Random Variable (x)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173038" indent="0" algn="l" fontAlgn="ctr"/>
                      <a:r>
                        <a:rPr lang="en-US" sz="1800" b="1" i="0" u="none" strike="noStrike" dirty="0">
                          <a:solidFill>
                            <a:srgbClr val="000000"/>
                          </a:solidFill>
                          <a:effectLst/>
                          <a:latin typeface="Arial Unicode MS"/>
                        </a:rPr>
                        <a:t>Possible Values for the Random Variable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99503975"/>
                  </a:ext>
                </a:extLst>
              </a:tr>
              <a:tr h="522014">
                <a:tc>
                  <a:txBody>
                    <a:bodyPr/>
                    <a:lstStyle/>
                    <a:p>
                      <a:pPr marL="344488" indent="-171450" algn="l" fontAlgn="ctr"/>
                      <a:r>
                        <a:rPr lang="en-US" sz="1800" b="0" i="0" u="none" strike="noStrike" dirty="0">
                          <a:solidFill>
                            <a:srgbClr val="000000"/>
                          </a:solidFill>
                          <a:effectLst/>
                          <a:latin typeface="Arial Unicode MS"/>
                        </a:rPr>
                        <a:t>Customer visits a web page </a:t>
                      </a:r>
                    </a:p>
                  </a:txBody>
                  <a:tcPr marL="6350" marR="6350" marT="635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Time customer spends on web page in minutes </a:t>
                      </a:r>
                    </a:p>
                  </a:txBody>
                  <a:tcPr marL="6350" marR="6350" marT="635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1" u="none" strike="noStrike">
                          <a:solidFill>
                            <a:srgbClr val="000000"/>
                          </a:solidFill>
                          <a:effectLst/>
                          <a:latin typeface="Arial Unicode MS"/>
                        </a:rPr>
                        <a:t>x</a:t>
                      </a:r>
                      <a:r>
                        <a:rPr lang="en-US" sz="1800" b="0" i="0" u="none" strike="noStrike">
                          <a:solidFill>
                            <a:srgbClr val="000000"/>
                          </a:solidFill>
                          <a:effectLst/>
                          <a:latin typeface="Arial Unicode MS"/>
                        </a:rPr>
                        <a:t> </a:t>
                      </a:r>
                      <a:r>
                        <a:rPr lang="en-US" sz="1800" b="0" i="0" u="none" strike="noStrike">
                          <a:solidFill>
                            <a:srgbClr val="000000"/>
                          </a:solidFill>
                          <a:effectLst/>
                          <a:latin typeface="Calibri" panose="020F0502020204030204" pitchFamily="34" charset="0"/>
                        </a:rPr>
                        <a:t>≥</a:t>
                      </a:r>
                      <a:r>
                        <a:rPr lang="en-US" sz="1800" b="0" i="0" u="none" strike="noStrike">
                          <a:solidFill>
                            <a:srgbClr val="000000"/>
                          </a:solidFill>
                          <a:effectLst/>
                          <a:latin typeface="Arial Unicode MS"/>
                        </a:rPr>
                        <a:t> 0</a:t>
                      </a:r>
                    </a:p>
                  </a:txBody>
                  <a:tcPr marL="6350" marR="6350" marT="635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747478249"/>
                  </a:ext>
                </a:extLst>
              </a:tr>
              <a:tr h="522014">
                <a:tc>
                  <a:txBody>
                    <a:bodyPr/>
                    <a:lstStyle/>
                    <a:p>
                      <a:pPr marL="344488" indent="-171450" algn="l" fontAlgn="ctr"/>
                      <a:r>
                        <a:rPr lang="en-US" sz="1800" b="0" i="0" u="none" strike="noStrike" dirty="0">
                          <a:solidFill>
                            <a:srgbClr val="000000"/>
                          </a:solidFill>
                          <a:effectLst/>
                          <a:latin typeface="Arial Unicode MS"/>
                        </a:rPr>
                        <a:t>Fill a soft drink can (max capacity = 12.1 ounces)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Number of ounces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a:solidFill>
                            <a:srgbClr val="000000"/>
                          </a:solidFill>
                          <a:effectLst/>
                          <a:latin typeface="Arial Unicode MS"/>
                        </a:rPr>
                        <a:t>0</a:t>
                      </a:r>
                      <a:r>
                        <a:rPr lang="en-US" sz="1800" b="0" i="1" u="none" strike="noStrike">
                          <a:solidFill>
                            <a:srgbClr val="000000"/>
                          </a:solidFill>
                          <a:effectLst/>
                          <a:latin typeface="Arial Unicode MS"/>
                        </a:rPr>
                        <a:t> ≤ x</a:t>
                      </a:r>
                      <a:r>
                        <a:rPr lang="en-US" sz="1800" b="0" i="0" u="none" strike="noStrike">
                          <a:solidFill>
                            <a:srgbClr val="000000"/>
                          </a:solidFill>
                          <a:effectLst/>
                          <a:latin typeface="Arial Unicode MS"/>
                        </a:rPr>
                        <a:t> </a:t>
                      </a:r>
                      <a:r>
                        <a:rPr lang="en-US" sz="1800" b="0" i="0" u="none" strike="noStrike">
                          <a:solidFill>
                            <a:srgbClr val="000000"/>
                          </a:solidFill>
                          <a:effectLst/>
                          <a:latin typeface="Arial" panose="020B0604020202020204" pitchFamily="34" charset="0"/>
                        </a:rPr>
                        <a:t>≤</a:t>
                      </a:r>
                      <a:r>
                        <a:rPr lang="en-US" sz="1800" b="0" i="0" u="none" strike="noStrike">
                          <a:solidFill>
                            <a:srgbClr val="000000"/>
                          </a:solidFill>
                          <a:effectLst/>
                          <a:latin typeface="Arial Unicode MS"/>
                        </a:rPr>
                        <a:t> 12.1</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73192877"/>
                  </a:ext>
                </a:extLst>
              </a:tr>
              <a:tr h="522014">
                <a:tc>
                  <a:txBody>
                    <a:bodyPr/>
                    <a:lstStyle/>
                    <a:p>
                      <a:pPr marL="344488" indent="-171450" algn="l" fontAlgn="ctr"/>
                      <a:r>
                        <a:rPr lang="en-US" sz="1800" b="0" i="0" u="none" strike="noStrike">
                          <a:solidFill>
                            <a:srgbClr val="000000"/>
                          </a:solidFill>
                          <a:effectLst/>
                          <a:latin typeface="Arial Unicode MS"/>
                        </a:rPr>
                        <a:t>Test a new chemical process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Temperature when the desired reaction takes place (min temperature = 150°F; max temperature = 212°F)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150</a:t>
                      </a:r>
                      <a:r>
                        <a:rPr lang="en-US" sz="1800" b="0" i="1" u="none" strike="noStrike" dirty="0">
                          <a:solidFill>
                            <a:srgbClr val="000000"/>
                          </a:solidFill>
                          <a:effectLst/>
                          <a:latin typeface="Arial Unicode MS"/>
                        </a:rPr>
                        <a:t> ≤ x</a:t>
                      </a:r>
                      <a:r>
                        <a:rPr lang="en-US" sz="1800" b="0" i="0" u="none" strike="noStrike" dirty="0">
                          <a:solidFill>
                            <a:srgbClr val="000000"/>
                          </a:solidFill>
                          <a:effectLst/>
                          <a:latin typeface="Arial Unicode MS"/>
                        </a:rPr>
                        <a:t> </a:t>
                      </a:r>
                      <a:r>
                        <a:rPr lang="en-US" sz="1800" b="0" i="0" u="none" strike="noStrike" dirty="0">
                          <a:solidFill>
                            <a:srgbClr val="000000"/>
                          </a:solidFill>
                          <a:effectLst/>
                          <a:latin typeface="Arial" panose="020B0604020202020204" pitchFamily="34" charset="0"/>
                        </a:rPr>
                        <a:t>≤</a:t>
                      </a:r>
                      <a:r>
                        <a:rPr lang="en-US" sz="1800" b="0" i="0" u="none" strike="noStrike" dirty="0">
                          <a:solidFill>
                            <a:srgbClr val="000000"/>
                          </a:solidFill>
                          <a:effectLst/>
                          <a:latin typeface="Arial Unicode MS"/>
                        </a:rPr>
                        <a:t> 212</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95716043"/>
                  </a:ext>
                </a:extLst>
              </a:tr>
              <a:tr h="522014">
                <a:tc>
                  <a:txBody>
                    <a:bodyPr/>
                    <a:lstStyle/>
                    <a:p>
                      <a:pPr marL="344488" indent="-171450" algn="l" fontAlgn="ctr"/>
                      <a:r>
                        <a:rPr lang="en-US" sz="1800" b="0" i="0" u="none" strike="noStrike">
                          <a:solidFill>
                            <a:srgbClr val="000000"/>
                          </a:solidFill>
                          <a:effectLst/>
                          <a:latin typeface="Arial Unicode MS"/>
                        </a:rPr>
                        <a:t>Invest $10,000 in the stock market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0" u="none" strike="noStrike" dirty="0">
                          <a:solidFill>
                            <a:srgbClr val="000000"/>
                          </a:solidFill>
                          <a:effectLst/>
                          <a:latin typeface="Arial Unicode MS"/>
                        </a:rPr>
                        <a:t>Value of investment after one year </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344488" indent="-171450" algn="l" fontAlgn="ctr"/>
                      <a:r>
                        <a:rPr lang="en-US" sz="1800" b="0" i="1" u="none" strike="noStrike" dirty="0">
                          <a:solidFill>
                            <a:srgbClr val="000000"/>
                          </a:solidFill>
                          <a:effectLst/>
                          <a:latin typeface="Arial Unicode MS"/>
                        </a:rPr>
                        <a:t>x</a:t>
                      </a:r>
                      <a:r>
                        <a:rPr lang="en-US" sz="1800" b="0" i="0" u="none" strike="noStrike" dirty="0">
                          <a:solidFill>
                            <a:srgbClr val="000000"/>
                          </a:solidFill>
                          <a:effectLst/>
                          <a:latin typeface="Arial Unicode MS"/>
                        </a:rPr>
                        <a:t> </a:t>
                      </a:r>
                      <a:r>
                        <a:rPr lang="en-US" sz="1800" b="0" i="0" u="none" strike="noStrike" dirty="0">
                          <a:solidFill>
                            <a:srgbClr val="000000"/>
                          </a:solidFill>
                          <a:effectLst/>
                          <a:latin typeface="Calibri" panose="020F0502020204030204" pitchFamily="34" charset="0"/>
                        </a:rPr>
                        <a:t>≥</a:t>
                      </a:r>
                      <a:r>
                        <a:rPr lang="en-US" sz="1800" b="0" i="0" u="none" strike="noStrike" dirty="0">
                          <a:solidFill>
                            <a:srgbClr val="000000"/>
                          </a:solidFill>
                          <a:effectLst/>
                          <a:latin typeface="Arial Unicode MS"/>
                        </a:rPr>
                        <a:t> 0</a:t>
                      </a:r>
                    </a:p>
                  </a:txBody>
                  <a:tcPr marL="6350" marR="6350" marT="635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88410711"/>
                  </a:ext>
                </a:extLst>
              </a:tr>
            </a:tbl>
          </a:graphicData>
        </a:graphic>
      </p:graphicFrame>
    </p:spTree>
    <p:extLst>
      <p:ext uri="{BB962C8B-B14F-4D97-AF65-F5344CB8AC3E}">
        <p14:creationId xmlns:p14="http://schemas.microsoft.com/office/powerpoint/2010/main" val="3862682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7F526-4081-02EC-8559-09FC01915CD3}"/>
              </a:ext>
            </a:extLst>
          </p:cNvPr>
          <p:cNvSpPr>
            <a:spLocks noGrp="1"/>
          </p:cNvSpPr>
          <p:nvPr>
            <p:ph type="title"/>
          </p:nvPr>
        </p:nvSpPr>
        <p:spPr/>
        <p:txBody>
          <a:bodyPr/>
          <a:lstStyle/>
          <a:p>
            <a:r>
              <a:rPr lang="en-US" dirty="0">
                <a:solidFill>
                  <a:srgbClr val="D14B1E"/>
                </a:solidFill>
              </a:rPr>
              <a:t>5.2 Developing Discrete Probability Distributions</a:t>
            </a:r>
          </a:p>
        </p:txBody>
      </p:sp>
      <p:sp>
        <p:nvSpPr>
          <p:cNvPr id="7" name="Text Placeholder 6">
            <a:extLst>
              <a:ext uri="{FF2B5EF4-FFF2-40B4-BE49-F238E27FC236}">
                <a16:creationId xmlns:a16="http://schemas.microsoft.com/office/drawing/2014/main" id="{30DE9F24-D014-BCD4-997A-2851CD409426}"/>
              </a:ext>
            </a:extLst>
          </p:cNvPr>
          <p:cNvSpPr>
            <a:spLocks noGrp="1"/>
          </p:cNvSpPr>
          <p:nvPr>
            <p:ph type="body" sz="quarter" idx="16"/>
          </p:nvPr>
        </p:nvSpPr>
        <p:spPr>
          <a:xfrm>
            <a:off x="740228" y="1410397"/>
            <a:ext cx="10711543" cy="1061584"/>
          </a:xfrm>
        </p:spPr>
        <p:txBody>
          <a:bodyPr/>
          <a:lstStyle/>
          <a:p>
            <a:r>
              <a:rPr lang="en-US" dirty="0"/>
              <a:t>The </a:t>
            </a:r>
            <a:r>
              <a:rPr lang="en-US" b="1" dirty="0"/>
              <a:t>probability distribution </a:t>
            </a:r>
            <a:r>
              <a:rPr lang="en-US" dirty="0"/>
              <a:t>for a random variable describes how probabilities are distributed over the values of the random variable.</a:t>
            </a:r>
          </a:p>
          <a:p>
            <a:r>
              <a:rPr lang="en-US" dirty="0"/>
              <a:t>We can describe a discrete probability distribution with a table, graph, or formula.</a:t>
            </a:r>
          </a:p>
          <a:p>
            <a:endParaRPr lang="en-US" dirty="0"/>
          </a:p>
        </p:txBody>
      </p:sp>
      <p:sp>
        <p:nvSpPr>
          <p:cNvPr id="3" name="Text Placeholder 2">
            <a:extLst>
              <a:ext uri="{FF2B5EF4-FFF2-40B4-BE49-F238E27FC236}">
                <a16:creationId xmlns:a16="http://schemas.microsoft.com/office/drawing/2014/main" id="{6108742E-ACBD-E5A7-E014-DB2F7E133597}"/>
              </a:ext>
            </a:extLst>
          </p:cNvPr>
          <p:cNvSpPr>
            <a:spLocks noGrp="1"/>
          </p:cNvSpPr>
          <p:nvPr>
            <p:ph type="body" sz="quarter" idx="21"/>
          </p:nvPr>
        </p:nvSpPr>
        <p:spPr>
          <a:xfrm>
            <a:off x="743575" y="2665709"/>
            <a:ext cx="5200024" cy="709047"/>
          </a:xfrm>
        </p:spPr>
        <p:txBody>
          <a:bodyPr/>
          <a:lstStyle/>
          <a:p>
            <a:r>
              <a:rPr lang="en-US" dirty="0"/>
              <a:t>The Two Types of Discrete Probability Distributions</a:t>
            </a:r>
          </a:p>
        </p:txBody>
      </p:sp>
      <p:sp>
        <p:nvSpPr>
          <p:cNvPr id="4" name="Text Placeholder 3">
            <a:extLst>
              <a:ext uri="{FF2B5EF4-FFF2-40B4-BE49-F238E27FC236}">
                <a16:creationId xmlns:a16="http://schemas.microsoft.com/office/drawing/2014/main" id="{F0AB1D4F-C095-A9A4-D523-0EF8254D3F39}"/>
              </a:ext>
            </a:extLst>
          </p:cNvPr>
          <p:cNvSpPr>
            <a:spLocks noGrp="1"/>
          </p:cNvSpPr>
          <p:nvPr>
            <p:ph type="body" sz="quarter" idx="15"/>
          </p:nvPr>
        </p:nvSpPr>
        <p:spPr>
          <a:xfrm>
            <a:off x="743576" y="3428999"/>
            <a:ext cx="5200024" cy="2289877"/>
          </a:xfrm>
        </p:spPr>
        <p:txBody>
          <a:bodyPr>
            <a:normAutofit lnSpcReduction="10000"/>
          </a:bodyPr>
          <a:lstStyle/>
          <a:p>
            <a:pPr marL="627063" indent="-403225">
              <a:lnSpc>
                <a:spcPct val="110000"/>
              </a:lnSpc>
              <a:buFont typeface="+mj-lt"/>
              <a:buAutoNum type="arabicPeriod"/>
            </a:pPr>
            <a:r>
              <a:rPr lang="en-US" dirty="0"/>
              <a:t>Uses the rules of assigning probabilities to experimental outcomes to determine probabilities for each value of the random variable.</a:t>
            </a:r>
          </a:p>
          <a:p>
            <a:pPr marL="627063" indent="-403225">
              <a:lnSpc>
                <a:spcPct val="110000"/>
              </a:lnSpc>
              <a:buFont typeface="+mj-lt"/>
              <a:buAutoNum type="arabicPeriod"/>
            </a:pPr>
            <a:r>
              <a:rPr lang="en-US" dirty="0"/>
              <a:t>Uses a special mathematical formula to compute the probabilities for each value of the random variable.</a:t>
            </a:r>
          </a:p>
          <a:p>
            <a:endParaRPr lang="en-US" dirty="0"/>
          </a:p>
        </p:txBody>
      </p:sp>
      <p:sp>
        <p:nvSpPr>
          <p:cNvPr id="5" name="Text Placeholder 4">
            <a:extLst>
              <a:ext uri="{FF2B5EF4-FFF2-40B4-BE49-F238E27FC236}">
                <a16:creationId xmlns:a16="http://schemas.microsoft.com/office/drawing/2014/main" id="{19AF89CE-2231-C9FB-B0DA-8B154136C6BD}"/>
              </a:ext>
            </a:extLst>
          </p:cNvPr>
          <p:cNvSpPr>
            <a:spLocks noGrp="1"/>
          </p:cNvSpPr>
          <p:nvPr>
            <p:ph type="body" sz="quarter" idx="22"/>
          </p:nvPr>
        </p:nvSpPr>
        <p:spPr>
          <a:xfrm>
            <a:off x="6122680" y="2665708"/>
            <a:ext cx="5200024" cy="643181"/>
          </a:xfrm>
        </p:spPr>
        <p:txBody>
          <a:bodyPr/>
          <a:lstStyle/>
          <a:p>
            <a:r>
              <a:rPr lang="en-US" dirty="0"/>
              <a:t>Probability Function</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D5656B64-9DD9-91ED-44D0-CE6759318909}"/>
                  </a:ext>
                </a:extLst>
              </p:cNvPr>
              <p:cNvSpPr>
                <a:spLocks noGrp="1"/>
              </p:cNvSpPr>
              <p:nvPr>
                <p:ph type="body" sz="quarter" idx="18"/>
              </p:nvPr>
            </p:nvSpPr>
            <p:spPr>
              <a:xfrm>
                <a:off x="6122680" y="3084165"/>
                <a:ext cx="5200024" cy="2704453"/>
              </a:xfrm>
            </p:spPr>
            <p:txBody>
              <a:bodyPr>
                <a:noAutofit/>
              </a:bodyPr>
              <a:lstStyle/>
              <a:p>
                <a:r>
                  <a:rPr lang="en-US" dirty="0"/>
                  <a:t>The </a:t>
                </a:r>
                <a:r>
                  <a:rPr lang="en-US" b="1" dirty="0"/>
                  <a:t>probability function</a:t>
                </a:r>
                <a:r>
                  <a:rPr lang="en-US" dirty="0"/>
                  <a:t>, denoted by </a:t>
                </a:r>
                <a:r>
                  <a:rPr lang="en-US" i="1" dirty="0"/>
                  <a:t>f</a:t>
                </a:r>
                <a:r>
                  <a:rPr lang="en-US" dirty="0"/>
                  <a:t>(</a:t>
                </a:r>
                <a:r>
                  <a:rPr lang="en-US" i="1" dirty="0"/>
                  <a:t>x</a:t>
                </a:r>
                <a:r>
                  <a:rPr lang="en-US" dirty="0"/>
                  <a:t>), defines the probability distribution by providing the probability for each value of the random variable.</a:t>
                </a:r>
              </a:p>
              <a:p>
                <a:r>
                  <a:rPr lang="en-US" dirty="0"/>
                  <a:t>The required conditions for a discrete probability function are:</a:t>
                </a:r>
              </a:p>
              <a:p>
                <a:pPr marL="457200"/>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𝒇</m:t>
                      </m:r>
                      <m:d>
                        <m:dPr>
                          <m:ctrlPr>
                            <a:rPr lang="en-US" b="1" i="1" smtClean="0">
                              <a:latin typeface="Cambria Math" panose="02040503050406030204" pitchFamily="18" charset="0"/>
                            </a:rPr>
                          </m:ctrlPr>
                        </m:dPr>
                        <m:e>
                          <m:r>
                            <a:rPr lang="en-US" b="1" i="1" smtClean="0">
                              <a:latin typeface="Cambria Math" panose="02040503050406030204" pitchFamily="18" charset="0"/>
                            </a:rPr>
                            <m:t>𝒙</m:t>
                          </m:r>
                        </m:e>
                      </m:d>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𝟎</m:t>
                      </m:r>
                      <m:r>
                        <a:rPr lang="en-US" b="1" i="1" smtClean="0">
                          <a:latin typeface="Cambria Math" panose="02040503050406030204" pitchFamily="18" charset="0"/>
                          <a:ea typeface="Cambria Math" panose="02040503050406030204" pitchFamily="18" charset="0"/>
                        </a:rPr>
                        <m:t>   </m:t>
                      </m:r>
                      <m:r>
                        <m:rPr>
                          <m:nor/>
                        </m:rPr>
                        <a:rPr lang="en-US" b="0" i="0" smtClean="0">
                          <a:latin typeface="Arial" panose="020B0604020202020204" pitchFamily="34" charset="0"/>
                          <a:ea typeface="Cambria Math" panose="02040503050406030204" pitchFamily="18" charset="0"/>
                          <a:cs typeface="Arial" panose="020B0604020202020204" pitchFamily="34" charset="0"/>
                        </a:rPr>
                        <m:t>and</m:t>
                      </m:r>
                      <m:r>
                        <a:rPr lang="en-US" b="0" i="1" smtClean="0">
                          <a:latin typeface="Cambria Math" panose="02040503050406030204" pitchFamily="18" charset="0"/>
                          <a:ea typeface="Cambria Math" panose="02040503050406030204" pitchFamily="18" charset="0"/>
                        </a:rPr>
                        <m:t>     </m:t>
                      </m:r>
                      <m:nary>
                        <m:naryPr>
                          <m:chr m:val="∑"/>
                          <m:subHide m:val="on"/>
                          <m:supHide m:val="on"/>
                          <m:ctrlPr>
                            <a:rPr lang="en-US" b="1" i="1" smtClean="0">
                              <a:latin typeface="Cambria Math" panose="02040503050406030204" pitchFamily="18" charset="0"/>
                              <a:ea typeface="Cambria Math" panose="02040503050406030204" pitchFamily="18" charset="0"/>
                            </a:rPr>
                          </m:ctrlPr>
                        </m:naryPr>
                        <m:sub/>
                        <m:sup/>
                        <m:e>
                          <m:r>
                            <a:rPr lang="en-US" b="1" i="1" smtClean="0">
                              <a:latin typeface="Cambria Math" panose="02040503050406030204" pitchFamily="18" charset="0"/>
                              <a:ea typeface="Cambria Math" panose="02040503050406030204" pitchFamily="18" charset="0"/>
                            </a:rPr>
                            <m:t>𝒇</m:t>
                          </m:r>
                          <m:d>
                            <m:dPr>
                              <m:ctrlPr>
                                <a:rPr lang="en-US" b="1" i="1" smtClean="0">
                                  <a:latin typeface="Cambria Math" panose="02040503050406030204" pitchFamily="18" charset="0"/>
                                  <a:ea typeface="Cambria Math" panose="02040503050406030204" pitchFamily="18" charset="0"/>
                                </a:rPr>
                              </m:ctrlPr>
                            </m:dPr>
                            <m:e>
                              <m:r>
                                <a:rPr lang="en-US" b="1" i="1" smtClean="0">
                                  <a:latin typeface="Cambria Math" panose="02040503050406030204" pitchFamily="18" charset="0"/>
                                  <a:ea typeface="Cambria Math" panose="02040503050406030204" pitchFamily="18" charset="0"/>
                                </a:rPr>
                                <m:t>𝒙</m:t>
                              </m:r>
                            </m:e>
                          </m:d>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𝟏</m:t>
                          </m:r>
                        </m:e>
                      </m:nary>
                    </m:oMath>
                  </m:oMathPara>
                </a14:m>
                <a:endParaRPr lang="en-US" b="1" dirty="0"/>
              </a:p>
            </p:txBody>
          </p:sp>
        </mc:Choice>
        <mc:Fallback xmlns="">
          <p:sp>
            <p:nvSpPr>
              <p:cNvPr id="6" name="Text Placeholder 5">
                <a:extLst>
                  <a:ext uri="{FF2B5EF4-FFF2-40B4-BE49-F238E27FC236}">
                    <a16:creationId xmlns:a16="http://schemas.microsoft.com/office/drawing/2014/main" id="{D5656B64-9DD9-91ED-44D0-CE6759318909}"/>
                  </a:ext>
                </a:extLst>
              </p:cNvPr>
              <p:cNvSpPr>
                <a:spLocks noGrp="1" noRot="1" noChangeAspect="1" noMove="1" noResize="1" noEditPoints="1" noAdjustHandles="1" noChangeArrowheads="1" noChangeShapeType="1" noTextEdit="1"/>
              </p:cNvSpPr>
              <p:nvPr>
                <p:ph type="body" sz="quarter" idx="18"/>
              </p:nvPr>
            </p:nvSpPr>
            <p:spPr>
              <a:xfrm>
                <a:off x="6122680" y="3084165"/>
                <a:ext cx="5200024" cy="2704453"/>
              </a:xfrm>
              <a:blipFill>
                <a:blip r:embed="rId2"/>
                <a:stretch>
                  <a:fillRect l="-2931" t="-2703" r="-1524"/>
                </a:stretch>
              </a:blipFill>
            </p:spPr>
            <p:txBody>
              <a:bodyPr/>
              <a:lstStyle/>
              <a:p>
                <a:r>
                  <a:rPr lang="en-US">
                    <a:noFill/>
                  </a:rPr>
                  <a:t> </a:t>
                </a:r>
              </a:p>
            </p:txBody>
          </p:sp>
        </mc:Fallback>
      </mc:AlternateContent>
    </p:spTree>
    <p:extLst>
      <p:ext uri="{BB962C8B-B14F-4D97-AF65-F5344CB8AC3E}">
        <p14:creationId xmlns:p14="http://schemas.microsoft.com/office/powerpoint/2010/main" val="128957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F2101-C330-F812-1F34-9F1EE1B38574}"/>
              </a:ext>
            </a:extLst>
          </p:cNvPr>
          <p:cNvSpPr>
            <a:spLocks noGrp="1"/>
          </p:cNvSpPr>
          <p:nvPr>
            <p:ph type="title"/>
          </p:nvPr>
        </p:nvSpPr>
        <p:spPr/>
        <p:txBody>
          <a:bodyPr/>
          <a:lstStyle/>
          <a:p>
            <a:r>
              <a:rPr lang="en-US" dirty="0"/>
              <a:t>5.2 Empirical Discrete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6ECC890-92FE-27D2-E604-9D5A33A2FA1D}"/>
                  </a:ext>
                </a:extLst>
              </p:cNvPr>
              <p:cNvSpPr>
                <a:spLocks noGrp="1"/>
              </p:cNvSpPr>
              <p:nvPr>
                <p:ph type="body" sz="quarter" idx="15"/>
              </p:nvPr>
            </p:nvSpPr>
            <p:spPr>
              <a:xfrm>
                <a:off x="743575" y="1239915"/>
                <a:ext cx="6323651" cy="4735957"/>
              </a:xfrm>
            </p:spPr>
            <p:txBody>
              <a:bodyPr>
                <a:normAutofit/>
              </a:bodyPr>
              <a:lstStyle/>
              <a:p>
                <a:pPr>
                  <a:lnSpc>
                    <a:spcPct val="100000"/>
                  </a:lnSpc>
                  <a:spcBef>
                    <a:spcPts val="600"/>
                  </a:spcBef>
                </a:pPr>
                <a:r>
                  <a:rPr lang="en-US" sz="2000" dirty="0"/>
                  <a:t>There are three methods for assigning probabilities to random variables: classical method, subjective method, and relative frequency method.</a:t>
                </a:r>
              </a:p>
              <a:p>
                <a:pPr>
                  <a:lnSpc>
                    <a:spcPct val="100000"/>
                  </a:lnSpc>
                  <a:spcBef>
                    <a:spcPts val="600"/>
                  </a:spcBef>
                </a:pPr>
                <a:r>
                  <a:rPr lang="en-US" sz="2000" dirty="0"/>
                  <a:t>The use of the relative frequency method to develop discrete probability distributions leads to an </a:t>
                </a:r>
                <a:r>
                  <a:rPr lang="en-US" sz="2000" b="1" dirty="0"/>
                  <a:t>empirical discrete distribution</a:t>
                </a:r>
                <a:r>
                  <a:rPr lang="en-US" sz="2000" dirty="0"/>
                  <a:t>.</a:t>
                </a:r>
              </a:p>
              <a:p>
                <a:pPr>
                  <a:lnSpc>
                    <a:spcPct val="100000"/>
                  </a:lnSpc>
                  <a:spcBef>
                    <a:spcPts val="600"/>
                  </a:spcBef>
                </a:pPr>
                <a:r>
                  <a:rPr lang="en-US" sz="2000" b="1" dirty="0"/>
                  <a:t>Example: </a:t>
                </a:r>
                <a:r>
                  <a:rPr lang="en-US" sz="2000" dirty="0"/>
                  <a:t>Number of automobiles sold during a day at DiCarlo Motors.</a:t>
                </a:r>
              </a:p>
              <a:p>
                <a:pPr>
                  <a:lnSpc>
                    <a:spcPct val="100000"/>
                  </a:lnSpc>
                  <a:spcBef>
                    <a:spcPts val="600"/>
                  </a:spcBef>
                </a:pPr>
                <a:r>
                  <a:rPr lang="en-US" sz="2000" dirty="0"/>
                  <a:t>The table to the right shows the number of automobiles sold at DiCarlo over the past 300 days.</a:t>
                </a:r>
              </a:p>
              <a:p>
                <a:pPr>
                  <a:lnSpc>
                    <a:spcPct val="100000"/>
                  </a:lnSpc>
                  <a:spcBef>
                    <a:spcPts val="600"/>
                  </a:spcBef>
                </a:pPr>
                <a:r>
                  <a:rPr lang="en-US" sz="2000" dirty="0"/>
                  <a:t>We define the random variable of interest as: </a:t>
                </a:r>
              </a:p>
              <a:p>
                <a:pPr marL="457200">
                  <a:lnSpc>
                    <a:spcPct val="100000"/>
                  </a:lnSpc>
                  <a:spcBef>
                    <a:spcPts val="600"/>
                  </a:spcBef>
                </a:pPr>
                <a14:m>
                  <m:oMath xmlns:m="http://schemas.openxmlformats.org/officeDocument/2006/math">
                    <m:r>
                      <a:rPr lang="en-US" sz="2000" i="1" dirty="0" smtClean="0">
                        <a:latin typeface="Cambria Math" panose="02040503050406030204" pitchFamily="18" charset="0"/>
                      </a:rPr>
                      <m:t>𝑥</m:t>
                    </m:r>
                  </m:oMath>
                </a14:m>
                <a:r>
                  <a:rPr lang="en-US" sz="2000" dirty="0"/>
                  <a:t> = the number of automobiles sold during a day.</a:t>
                </a:r>
              </a:p>
              <a:p>
                <a:pPr>
                  <a:lnSpc>
                    <a:spcPct val="100000"/>
                  </a:lnSpc>
                  <a:spcBef>
                    <a:spcPts val="600"/>
                  </a:spcBef>
                </a:pPr>
                <a:r>
                  <a:rPr lang="en-US" sz="2000" dirty="0"/>
                  <a:t>We can use the relative frequencies to represent graphically the empirical discrete distribution for </a:t>
                </a:r>
                <a14:m>
                  <m:oMath xmlns:m="http://schemas.openxmlformats.org/officeDocument/2006/math">
                    <m:r>
                      <a:rPr lang="en-US" sz="2000" i="1" dirty="0" smtClean="0">
                        <a:latin typeface="Cambria Math" panose="02040503050406030204" pitchFamily="18" charset="0"/>
                      </a:rPr>
                      <m:t>𝑥</m:t>
                    </m:r>
                  </m:oMath>
                </a14:m>
                <a:r>
                  <a:rPr lang="en-US" sz="2000" dirty="0"/>
                  <a:t>.</a:t>
                </a:r>
              </a:p>
            </p:txBody>
          </p:sp>
        </mc:Choice>
        <mc:Fallback xmlns="">
          <p:sp>
            <p:nvSpPr>
              <p:cNvPr id="3" name="Text Placeholder 2">
                <a:extLst>
                  <a:ext uri="{FF2B5EF4-FFF2-40B4-BE49-F238E27FC236}">
                    <a16:creationId xmlns:a16="http://schemas.microsoft.com/office/drawing/2014/main" id="{06ECC890-92FE-27D2-E604-9D5A33A2FA1D}"/>
                  </a:ext>
                </a:extLst>
              </p:cNvPr>
              <p:cNvSpPr>
                <a:spLocks noGrp="1" noRot="1" noChangeAspect="1" noMove="1" noResize="1" noEditPoints="1" noAdjustHandles="1" noChangeArrowheads="1" noChangeShapeType="1" noTextEdit="1"/>
              </p:cNvSpPr>
              <p:nvPr>
                <p:ph type="body" sz="quarter" idx="15"/>
              </p:nvPr>
            </p:nvSpPr>
            <p:spPr>
              <a:xfrm>
                <a:off x="743575" y="1239915"/>
                <a:ext cx="6323651" cy="4735957"/>
              </a:xfrm>
              <a:blipFill>
                <a:blip r:embed="rId3"/>
                <a:stretch>
                  <a:fillRect l="-2507" t="-1544" r="-1929" b="-3218"/>
                </a:stretch>
              </a:blipFill>
            </p:spPr>
            <p:txBody>
              <a:bodyPr/>
              <a:lstStyle/>
              <a:p>
                <a:r>
                  <a:rPr lang="en-US">
                    <a:noFill/>
                  </a:rPr>
                  <a:t> </a:t>
                </a:r>
              </a:p>
            </p:txBody>
          </p:sp>
        </mc:Fallback>
      </mc:AlternateContent>
      <p:pic>
        <p:nvPicPr>
          <p:cNvPr id="8" name="Picture Placeholder 8" descr="A graph with six vertical lines plots probability versus number of automobiles sold during a day. The horizontal axis is labeled “Number of Automobiles Sold During a Day” and ranges from 0 to 5 with tickmarks in increments of 1. The vertical axis is labeled “Probability” and ranges from 0.00 to 0.40 with tickmarks in increments of 0.10. The data from the graph are as follows. 0: 0.18. 1: 0.39. 2: 0.24. 3: 0.14. 4: 0.04. 5: 0.01. &#10;">
            <a:extLst>
              <a:ext uri="{FF2B5EF4-FFF2-40B4-BE49-F238E27FC236}">
                <a16:creationId xmlns:a16="http://schemas.microsoft.com/office/drawing/2014/main" id="{4BE94A84-08DF-8E0D-ECC2-14F149BB485F}"/>
              </a:ext>
            </a:extLst>
          </p:cNvPr>
          <p:cNvPicPr>
            <a:picLocks noGrp="1" noChangeAspect="1"/>
          </p:cNvPicPr>
          <p:nvPr>
            <p:ph type="pic" sz="quarter" idx="23"/>
          </p:nvPr>
        </p:nvPicPr>
        <p:blipFill rotWithShape="1">
          <a:blip r:embed="rId4"/>
          <a:srcRect t="35" b="35"/>
          <a:stretch/>
        </p:blipFill>
        <p:spPr>
          <a:xfrm>
            <a:off x="7193231" y="3040076"/>
            <a:ext cx="4255194" cy="3108325"/>
          </a:xfrm>
        </p:spPr>
      </p:pic>
      <p:graphicFrame>
        <p:nvGraphicFramePr>
          <p:cNvPr id="6" name="Table 6">
            <a:extLst>
              <a:ext uri="{FF2B5EF4-FFF2-40B4-BE49-F238E27FC236}">
                <a16:creationId xmlns:a16="http://schemas.microsoft.com/office/drawing/2014/main" id="{B3BD6C1D-945A-EEF2-7428-1FB50B1DF49D}"/>
              </a:ext>
            </a:extLst>
          </p:cNvPr>
          <p:cNvGraphicFramePr>
            <a:graphicFrameLocks noGrp="1"/>
          </p:cNvGraphicFramePr>
          <p:nvPr>
            <p:ph type="tbl" sz="quarter" idx="22"/>
            <p:extLst>
              <p:ext uri="{D42A27DB-BD31-4B8C-83A1-F6EECF244321}">
                <p14:modId xmlns:p14="http://schemas.microsoft.com/office/powerpoint/2010/main" val="3594895600"/>
              </p:ext>
            </p:extLst>
          </p:nvPr>
        </p:nvGraphicFramePr>
        <p:xfrm>
          <a:off x="8057072" y="1239915"/>
          <a:ext cx="3230845" cy="2438400"/>
        </p:xfrm>
        <a:graphic>
          <a:graphicData uri="http://schemas.openxmlformats.org/drawingml/2006/table">
            <a:tbl>
              <a:tblPr firstRow="1" bandRow="1">
                <a:tableStyleId>{5C22544A-7EE6-4342-B048-85BDC9FD1C3A}</a:tableStyleId>
              </a:tblPr>
              <a:tblGrid>
                <a:gridCol w="736732">
                  <a:extLst>
                    <a:ext uri="{9D8B030D-6E8A-4147-A177-3AD203B41FA5}">
                      <a16:colId xmlns:a16="http://schemas.microsoft.com/office/drawing/2014/main" val="3408369366"/>
                    </a:ext>
                  </a:extLst>
                </a:gridCol>
                <a:gridCol w="998855">
                  <a:extLst>
                    <a:ext uri="{9D8B030D-6E8A-4147-A177-3AD203B41FA5}">
                      <a16:colId xmlns:a16="http://schemas.microsoft.com/office/drawing/2014/main" val="2569525239"/>
                    </a:ext>
                  </a:extLst>
                </a:gridCol>
                <a:gridCol w="1495258">
                  <a:extLst>
                    <a:ext uri="{9D8B030D-6E8A-4147-A177-3AD203B41FA5}">
                      <a16:colId xmlns:a16="http://schemas.microsoft.com/office/drawing/2014/main" val="1781074434"/>
                    </a:ext>
                  </a:extLst>
                </a:gridCol>
              </a:tblGrid>
              <a:tr h="267851">
                <a:tc>
                  <a:txBody>
                    <a:bodyPr/>
                    <a:lstStyle/>
                    <a:p>
                      <a:pPr algn="ctr"/>
                      <a:r>
                        <a:rPr lang="en-US" sz="1400" b="1" i="1" dirty="0">
                          <a:solidFill>
                            <a:srgbClr val="000000"/>
                          </a:solidFill>
                          <a:latin typeface="Arial" panose="020B0604020202020204" pitchFamily="34" charset="0"/>
                          <a:cs typeface="Arial" panose="020B0604020202020204" pitchFamily="34" charset="0"/>
                        </a:rPr>
                        <a:t>x</a:t>
                      </a:r>
                      <a:endParaRPr lang="en-US" sz="1400" b="1" dirty="0">
                        <a:solidFill>
                          <a:srgbClr val="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b="1" dirty="0">
                          <a:solidFill>
                            <a:srgbClr val="000000"/>
                          </a:solidFill>
                          <a:latin typeface="Arial" panose="020B0604020202020204" pitchFamily="34" charset="0"/>
                          <a:cs typeface="Arial" panose="020B0604020202020204" pitchFamily="34" charset="0"/>
                        </a:rPr>
                        <a:t># of days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a:r>
                        <a:rPr lang="en-US" sz="1400" b="1" i="1" dirty="0">
                          <a:solidFill>
                            <a:srgbClr val="000000"/>
                          </a:solidFill>
                          <a:latin typeface="Arial" panose="020B0604020202020204" pitchFamily="34" charset="0"/>
                          <a:cs typeface="Arial" panose="020B0604020202020204" pitchFamily="34" charset="0"/>
                        </a:rPr>
                        <a:t>f</a:t>
                      </a:r>
                      <a:r>
                        <a:rPr lang="en-US" sz="1400" b="1" dirty="0">
                          <a:solidFill>
                            <a:srgbClr val="000000"/>
                          </a:solidFill>
                          <a:latin typeface="Arial" panose="020B0604020202020204" pitchFamily="34" charset="0"/>
                          <a:cs typeface="Arial" panose="020B0604020202020204" pitchFamily="34" charset="0"/>
                        </a:rPr>
                        <a:t>(</a:t>
                      </a:r>
                      <a:r>
                        <a:rPr lang="en-US" sz="1400" b="1" i="1" dirty="0">
                          <a:solidFill>
                            <a:srgbClr val="000000"/>
                          </a:solidFill>
                          <a:latin typeface="Arial" panose="020B0604020202020204" pitchFamily="34" charset="0"/>
                          <a:cs typeface="Arial" panose="020B0604020202020204" pitchFamily="34" charset="0"/>
                        </a:rPr>
                        <a:t>x</a:t>
                      </a:r>
                      <a:r>
                        <a:rPr lang="en-US" sz="1400" b="1" dirty="0">
                          <a:solidFill>
                            <a:srgbClr val="000000"/>
                          </a:solidFill>
                          <a:latin typeface="Arial" panose="020B0604020202020204" pitchFamily="34" charset="0"/>
                          <a:cs typeface="Arial" panose="020B0604020202020204" pitchFamily="34" charset="0"/>
                        </a:rPr>
                        <a: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139309950"/>
                  </a:ext>
                </a:extLst>
              </a:tr>
              <a:tr h="267851">
                <a:tc>
                  <a:txBody>
                    <a:bodyPr/>
                    <a:lstStyle/>
                    <a:p>
                      <a:pPr algn="ctr"/>
                      <a:r>
                        <a:rPr lang="en-US" sz="1400" dirty="0">
                          <a:solidFill>
                            <a:srgbClr val="000000"/>
                          </a:solidFill>
                          <a:latin typeface="Arial" panose="020B0604020202020204" pitchFamily="34" charset="0"/>
                          <a:cs typeface="Arial" panose="020B0604020202020204" pitchFamily="34" charset="0"/>
                        </a:rPr>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54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54 / 300 = 0.18</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747021108"/>
                  </a:ext>
                </a:extLst>
              </a:tr>
              <a:tr h="267851">
                <a:tc>
                  <a:txBody>
                    <a:bodyPr/>
                    <a:lstStyle/>
                    <a:p>
                      <a:pPr algn="ctr"/>
                      <a:r>
                        <a:rPr lang="en-US" sz="1400" dirty="0">
                          <a:solidFill>
                            <a:srgbClr val="000000"/>
                          </a:solidFill>
                          <a:latin typeface="Arial" panose="020B0604020202020204" pitchFamily="34" charset="0"/>
                          <a:cs typeface="Arial" panose="020B0604020202020204" pitchFamily="34" charset="0"/>
                        </a:rPr>
                        <a:t>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117</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117 / 300 = 0.39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795917439"/>
                  </a:ext>
                </a:extLst>
              </a:tr>
              <a:tr h="267851">
                <a:tc>
                  <a:txBody>
                    <a:bodyPr/>
                    <a:lstStyle/>
                    <a:p>
                      <a:pPr algn="ctr"/>
                      <a:r>
                        <a:rPr lang="en-US" sz="1400" dirty="0">
                          <a:solidFill>
                            <a:srgbClr val="000000"/>
                          </a:solidFill>
                          <a:latin typeface="Arial" panose="020B0604020202020204" pitchFamily="34" charset="0"/>
                          <a:cs typeface="Arial" panose="020B0604020202020204" pitchFamily="34" charset="0"/>
                        </a:rPr>
                        <a:t>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72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72 / 300 = 0.24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00861269"/>
                  </a:ext>
                </a:extLst>
              </a:tr>
              <a:tr h="267851">
                <a:tc>
                  <a:txBody>
                    <a:bodyPr/>
                    <a:lstStyle/>
                    <a:p>
                      <a:pPr algn="ctr"/>
                      <a:r>
                        <a:rPr lang="en-US" sz="1400" dirty="0">
                          <a:solidFill>
                            <a:srgbClr val="000000"/>
                          </a:solidFill>
                          <a:latin typeface="Arial" panose="020B0604020202020204" pitchFamily="34" charset="0"/>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42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42 / 300 = 0.14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347059929"/>
                  </a:ext>
                </a:extLst>
              </a:tr>
              <a:tr h="267851">
                <a:tc>
                  <a:txBody>
                    <a:bodyPr/>
                    <a:lstStyle/>
                    <a:p>
                      <a:pPr algn="ctr"/>
                      <a:r>
                        <a:rPr lang="en-US" sz="1400" dirty="0">
                          <a:solidFill>
                            <a:srgbClr val="000000"/>
                          </a:solidFill>
                          <a:latin typeface="Arial" panose="020B0604020202020204" pitchFamily="34" charset="0"/>
                          <a:cs typeface="Arial" panose="020B0604020202020204" pitchFamily="34" charset="0"/>
                        </a:rPr>
                        <a:t>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12</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12 / 300 = 0.04</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43753768"/>
                  </a:ext>
                </a:extLst>
              </a:tr>
              <a:tr h="267851">
                <a:tc>
                  <a:txBody>
                    <a:bodyPr/>
                    <a:lstStyle/>
                    <a:p>
                      <a:pPr algn="ctr"/>
                      <a:r>
                        <a:rPr lang="en-US" sz="1400" dirty="0">
                          <a:solidFill>
                            <a:srgbClr val="000000"/>
                          </a:solidFill>
                          <a:latin typeface="Arial" panose="020B0604020202020204" pitchFamily="34" charset="0"/>
                          <a:cs typeface="Arial" panose="020B0604020202020204" pitchFamily="34" charset="0"/>
                        </a:rPr>
                        <a:t>5</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3 / 300 = 0.01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154011044"/>
                  </a:ext>
                </a:extLst>
              </a:tr>
              <a:tr h="267851">
                <a:tc>
                  <a:txBody>
                    <a:bodyPr/>
                    <a:lstStyle/>
                    <a:p>
                      <a:pPr algn="ctr"/>
                      <a:endParaRPr lang="en-US" sz="1400" dirty="0">
                        <a:solidFill>
                          <a:srgbClr val="000000"/>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300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a:r>
                        <a:rPr lang="en-US" sz="1400" dirty="0">
                          <a:solidFill>
                            <a:srgbClr val="000000"/>
                          </a:solidFill>
                          <a:latin typeface="Arial" panose="020B0604020202020204" pitchFamily="34" charset="0"/>
                          <a:cs typeface="Arial" panose="020B0604020202020204" pitchFamily="34" charset="0"/>
                        </a:rPr>
                        <a:t>Total       1.00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17733234"/>
                  </a:ext>
                </a:extLst>
              </a:tr>
            </a:tbl>
          </a:graphicData>
        </a:graphic>
      </p:graphicFrame>
    </p:spTree>
    <p:extLst>
      <p:ext uri="{BB962C8B-B14F-4D97-AF65-F5344CB8AC3E}">
        <p14:creationId xmlns:p14="http://schemas.microsoft.com/office/powerpoint/2010/main" val="1251723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2B96D-F48C-25D5-44DD-AFBB36454134}"/>
              </a:ext>
            </a:extLst>
          </p:cNvPr>
          <p:cNvSpPr>
            <a:spLocks noGrp="1"/>
          </p:cNvSpPr>
          <p:nvPr>
            <p:ph type="title"/>
          </p:nvPr>
        </p:nvSpPr>
        <p:spPr/>
        <p:txBody>
          <a:bodyPr/>
          <a:lstStyle/>
          <a:p>
            <a:r>
              <a:rPr lang="en-US" dirty="0"/>
              <a:t>5.2 Probability Distribution Given by a Formula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9B9001B-EA86-AE50-9578-41D12F1C4B13}"/>
                  </a:ext>
                </a:extLst>
              </p:cNvPr>
              <p:cNvSpPr>
                <a:spLocks noGrp="1"/>
              </p:cNvSpPr>
              <p:nvPr>
                <p:ph type="body" sz="quarter" idx="15"/>
              </p:nvPr>
            </p:nvSpPr>
            <p:spPr>
              <a:xfrm>
                <a:off x="743576" y="1325105"/>
                <a:ext cx="10711543" cy="4641744"/>
              </a:xfrm>
            </p:spPr>
            <p:txBody>
              <a:bodyPr/>
              <a:lstStyle/>
              <a:p>
                <a:pPr>
                  <a:spcBef>
                    <a:spcPts val="600"/>
                  </a:spcBef>
                </a:pPr>
                <a:r>
                  <a:rPr lang="en-US" sz="2000" dirty="0"/>
                  <a:t>In addition to tables and graphs, a formula that gives the probability function, </a:t>
                </a:r>
                <a14:m>
                  <m:oMath xmlns:m="http://schemas.openxmlformats.org/officeDocument/2006/math">
                    <m:r>
                      <a:rPr lang="en-US" sz="200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for every value of </a:t>
                </a:r>
                <a:r>
                  <a:rPr lang="en-US" sz="2000" i="1" dirty="0"/>
                  <a:t>x</a:t>
                </a:r>
                <a:r>
                  <a:rPr lang="en-US" sz="2000" dirty="0"/>
                  <a:t> is often used to describe the probability distributions.</a:t>
                </a:r>
              </a:p>
              <a:p>
                <a:pPr>
                  <a:spcBef>
                    <a:spcPts val="600"/>
                  </a:spcBef>
                  <a:spcAft>
                    <a:spcPts val="600"/>
                  </a:spcAft>
                </a:pPr>
                <a:r>
                  <a:rPr lang="en-US" sz="2000" dirty="0"/>
                  <a:t>Typical discrete probability distributions specified by formulas are the discrete-uniform, binomial, Poisson, and hypergeometric distributions.</a:t>
                </a:r>
              </a:p>
              <a:p>
                <a:pPr>
                  <a:spcBef>
                    <a:spcPts val="600"/>
                  </a:spcBef>
                </a:pPr>
                <a:r>
                  <a:rPr lang="en-US" sz="2000" dirty="0"/>
                  <a:t>The </a:t>
                </a:r>
                <a:r>
                  <a:rPr lang="en-US" sz="2000" b="1" dirty="0"/>
                  <a:t>discrete uniform probability distribution </a:t>
                </a:r>
                <a:r>
                  <a:rPr lang="en-US" sz="2000" dirty="0"/>
                  <a:t>is the simplest example of a discrete probability distribution given by a formula.</a:t>
                </a:r>
              </a:p>
              <a:p>
                <a:pPr>
                  <a:spcBef>
                    <a:spcPts val="600"/>
                  </a:spcBef>
                  <a:spcAft>
                    <a:spcPts val="600"/>
                  </a:spcAft>
                </a:pPr>
                <a:r>
                  <a:rPr lang="en-US" sz="2000" dirty="0"/>
                  <a:t>The discrete uniform probability function is</a:t>
                </a:r>
              </a:p>
              <a:p>
                <a:pPr marL="914400">
                  <a:spcBef>
                    <a:spcPts val="600"/>
                  </a:spcBef>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𝑛</m:t>
                          </m:r>
                        </m:den>
                      </m:f>
                    </m:oMath>
                  </m:oMathPara>
                </a14:m>
                <a:endParaRPr lang="en-US" sz="2000" dirty="0"/>
              </a:p>
              <a:p>
                <a:pPr marL="914400">
                  <a:spcBef>
                    <a:spcPts val="600"/>
                  </a:spcBef>
                </a:pPr>
                <a:r>
                  <a:rPr lang="en-US" sz="2000" dirty="0"/>
                  <a:t>Where: </a:t>
                </a:r>
                <a:r>
                  <a:rPr lang="en-US" sz="2000" i="1" dirty="0"/>
                  <a:t>n</a:t>
                </a:r>
                <a:r>
                  <a:rPr lang="en-US" sz="2000" dirty="0"/>
                  <a:t> = the number of values the random variable may assume</a:t>
                </a:r>
              </a:p>
              <a:p>
                <a:pPr>
                  <a:spcBef>
                    <a:spcPts val="600"/>
                  </a:spcBef>
                </a:pPr>
                <a:r>
                  <a:rPr lang="en-US" sz="2000" dirty="0"/>
                  <a:t>An example of a discrete uniform probability distribution is provided by the experiment of rolling a die, in which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=6</m:t>
                    </m:r>
                  </m:oMath>
                </a14:m>
                <a:r>
                  <a:rPr lang="en-US" sz="2000" dirty="0"/>
                  <a:t> equally likely outcomes, the random variable </a:t>
                </a:r>
                <a14:m>
                  <m:oMath xmlns:m="http://schemas.openxmlformats.org/officeDocument/2006/math">
                    <m:r>
                      <a:rPr lang="en-US" sz="2000" i="1" dirty="0" smtClean="0">
                        <a:latin typeface="Cambria Math" panose="02040503050406030204" pitchFamily="18" charset="0"/>
                      </a:rPr>
                      <m:t>𝑥</m:t>
                    </m:r>
                  </m:oMath>
                </a14:m>
                <a:r>
                  <a:rPr lang="en-US" sz="2000" dirty="0"/>
                  <a:t> is represented by the number of dots on the upward face of the die, and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i="1">
                        <a:latin typeface="Cambria Math" panose="02040503050406030204" pitchFamily="18" charset="0"/>
                      </a:rPr>
                      <m:t>=1/</m:t>
                    </m:r>
                    <m:r>
                      <a:rPr lang="en-US" sz="2000" b="0" i="1" smtClean="0">
                        <a:latin typeface="Cambria Math" panose="02040503050406030204" pitchFamily="18" charset="0"/>
                      </a:rPr>
                      <m:t>𝑛</m:t>
                    </m:r>
                    <m:r>
                      <a:rPr lang="en-US" sz="2000" i="1">
                        <a:latin typeface="Cambria Math" panose="02040503050406030204" pitchFamily="18" charset="0"/>
                      </a:rPr>
                      <m:t>=1/6</m:t>
                    </m:r>
                  </m:oMath>
                </a14:m>
                <a:r>
                  <a:rPr lang="en-US" sz="2000" dirty="0"/>
                  <a:t>.</a:t>
                </a:r>
              </a:p>
            </p:txBody>
          </p:sp>
        </mc:Choice>
        <mc:Fallback xmlns="">
          <p:sp>
            <p:nvSpPr>
              <p:cNvPr id="3" name="Text Placeholder 2">
                <a:extLst>
                  <a:ext uri="{FF2B5EF4-FFF2-40B4-BE49-F238E27FC236}">
                    <a16:creationId xmlns:a16="http://schemas.microsoft.com/office/drawing/2014/main" id="{69B9001B-EA86-AE50-9578-41D12F1C4B13}"/>
                  </a:ext>
                </a:extLst>
              </p:cNvPr>
              <p:cNvSpPr>
                <a:spLocks noGrp="1" noRot="1" noChangeAspect="1" noMove="1" noResize="1" noEditPoints="1" noAdjustHandles="1" noChangeArrowheads="1" noChangeShapeType="1" noTextEdit="1"/>
              </p:cNvSpPr>
              <p:nvPr>
                <p:ph type="body" sz="quarter" idx="15"/>
              </p:nvPr>
            </p:nvSpPr>
            <p:spPr>
              <a:xfrm>
                <a:off x="743576" y="1325105"/>
                <a:ext cx="10711543" cy="4641744"/>
              </a:xfrm>
              <a:blipFill>
                <a:blip r:embed="rId2"/>
                <a:stretch>
                  <a:fillRect l="-1480" t="-1575" r="-1537"/>
                </a:stretch>
              </a:blipFill>
            </p:spPr>
            <p:txBody>
              <a:bodyPr/>
              <a:lstStyle/>
              <a:p>
                <a:r>
                  <a:rPr lang="en-US">
                    <a:noFill/>
                  </a:rPr>
                  <a:t> </a:t>
                </a:r>
              </a:p>
            </p:txBody>
          </p:sp>
        </mc:Fallback>
      </mc:AlternateContent>
    </p:spTree>
    <p:extLst>
      <p:ext uri="{BB962C8B-B14F-4D97-AF65-F5344CB8AC3E}">
        <p14:creationId xmlns:p14="http://schemas.microsoft.com/office/powerpoint/2010/main" val="36596339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F0AD-BEDD-1CD6-9980-1243985D09DD}"/>
              </a:ext>
            </a:extLst>
          </p:cNvPr>
          <p:cNvSpPr>
            <a:spLocks noGrp="1"/>
          </p:cNvSpPr>
          <p:nvPr>
            <p:ph type="title"/>
          </p:nvPr>
        </p:nvSpPr>
        <p:spPr/>
        <p:txBody>
          <a:bodyPr/>
          <a:lstStyle/>
          <a:p>
            <a:r>
              <a:rPr lang="en-US" dirty="0">
                <a:solidFill>
                  <a:srgbClr val="D14B1E"/>
                </a:solidFill>
              </a:rPr>
              <a:t>5.3 Expected Value and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3EE5BE-8A3A-1A6B-1D69-1AD6ADCBB4F6}"/>
                  </a:ext>
                </a:extLst>
              </p:cNvPr>
              <p:cNvSpPr>
                <a:spLocks noGrp="1"/>
              </p:cNvSpPr>
              <p:nvPr>
                <p:ph type="body" sz="quarter" idx="15"/>
              </p:nvPr>
            </p:nvSpPr>
            <p:spPr>
              <a:xfrm>
                <a:off x="801820" y="1486410"/>
                <a:ext cx="10515600" cy="1807074"/>
              </a:xfrm>
            </p:spPr>
            <p:txBody>
              <a:bodyPr>
                <a:normAutofit/>
              </a:bodyPr>
              <a:lstStyle/>
              <a:p>
                <a:pPr>
                  <a:lnSpc>
                    <a:spcPct val="100000"/>
                  </a:lnSpc>
                  <a:spcBef>
                    <a:spcPts val="600"/>
                  </a:spcBef>
                </a:pPr>
                <a:r>
                  <a:rPr lang="en-US" sz="2000" dirty="0"/>
                  <a:t>The </a:t>
                </a:r>
                <a:r>
                  <a:rPr lang="en-US" sz="2000" b="1" dirty="0"/>
                  <a:t>expected value</a:t>
                </a:r>
                <a:r>
                  <a:rPr lang="en-US" sz="2000" dirty="0"/>
                  <a:t>, or mean, of a random variable is a measure of its central location.</a:t>
                </a:r>
              </a:p>
              <a:p>
                <a:pPr>
                  <a:lnSpc>
                    <a:spcPct val="100000"/>
                  </a:lnSpc>
                  <a:spcBef>
                    <a:spcPts val="600"/>
                  </a:spcBef>
                  <a:spcAft>
                    <a:spcPts val="600"/>
                  </a:spcAft>
                </a:pPr>
                <a:r>
                  <a:rPr lang="en-US" sz="2000" dirty="0"/>
                  <a:t>The expected value of a discrete random variable is calculated as a weighted average of the values the random variable may assume. The weights are the probabilities.</a:t>
                </a:r>
              </a:p>
              <a:p>
                <a:pPr marL="914400">
                  <a:lnSpc>
                    <a:spcPct val="100000"/>
                  </a:lnSpc>
                  <a:spcBef>
                    <a:spcPts val="600"/>
                  </a:spcBef>
                </a:pPr>
                <a14:m>
                  <m:oMathPara xmlns:m="http://schemas.openxmlformats.org/officeDocument/2006/math">
                    <m:oMathParaPr>
                      <m:jc m:val="left"/>
                    </m:oMathParaPr>
                    <m:oMath xmlns:m="http://schemas.openxmlformats.org/officeDocument/2006/math">
                      <m:r>
                        <a:rPr lang="en-US" sz="2000" b="1" i="1" smtClean="0">
                          <a:solidFill>
                            <a:srgbClr val="000000"/>
                          </a:solidFill>
                          <a:latin typeface="Cambria Math" panose="02040503050406030204" pitchFamily="18" charset="0"/>
                        </a:rPr>
                        <m:t>𝑬</m:t>
                      </m:r>
                      <m:d>
                        <m:dPr>
                          <m:ctrlPr>
                            <a:rPr lang="en-US" sz="2000" b="1" i="1" smtClean="0">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𝒙</m:t>
                          </m:r>
                        </m:e>
                      </m:d>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ea typeface="Cambria Math" panose="02040503050406030204" pitchFamily="18" charset="0"/>
                        </a:rPr>
                        <m:t>𝝁</m:t>
                      </m:r>
                      <m:r>
                        <a:rPr lang="en-US" sz="2000" b="1" i="1" smtClean="0">
                          <a:solidFill>
                            <a:srgbClr val="000000"/>
                          </a:solidFill>
                          <a:latin typeface="Cambria Math" panose="02040503050406030204" pitchFamily="18" charset="0"/>
                          <a:ea typeface="Cambria Math" panose="02040503050406030204" pitchFamily="18" charset="0"/>
                        </a:rPr>
                        <m:t>=</m:t>
                      </m:r>
                      <m:nary>
                        <m:naryPr>
                          <m:chr m:val="∑"/>
                          <m:subHide m:val="on"/>
                          <m:supHide m:val="on"/>
                          <m:ctrlPr>
                            <a:rPr lang="en-US" sz="2000" b="1" i="1" smtClean="0">
                              <a:solidFill>
                                <a:srgbClr val="000000"/>
                              </a:solidFill>
                              <a:latin typeface="Cambria Math" panose="02040503050406030204" pitchFamily="18" charset="0"/>
                            </a:rPr>
                          </m:ctrlPr>
                        </m:naryPr>
                        <m:sub/>
                        <m:sup/>
                        <m:e>
                          <m:r>
                            <a:rPr lang="en-US" sz="2000" b="1" i="1" smtClean="0">
                              <a:solidFill>
                                <a:srgbClr val="000000"/>
                              </a:solidFill>
                              <a:latin typeface="Cambria Math" panose="02040503050406030204" pitchFamily="18" charset="0"/>
                            </a:rPr>
                            <m:t>𝒙𝒇</m:t>
                          </m:r>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𝒙</m:t>
                          </m:r>
                          <m:r>
                            <a:rPr lang="en-US" sz="2000" b="1" i="1" smtClean="0">
                              <a:solidFill>
                                <a:srgbClr val="000000"/>
                              </a:solidFill>
                              <a:latin typeface="Cambria Math" panose="02040503050406030204" pitchFamily="18" charset="0"/>
                            </a:rPr>
                            <m:t>)</m:t>
                          </m:r>
                        </m:e>
                      </m:nary>
                    </m:oMath>
                  </m:oMathPara>
                </a14:m>
                <a:endParaRPr lang="en-US" sz="2000" b="1" dirty="0"/>
              </a:p>
            </p:txBody>
          </p:sp>
        </mc:Choice>
        <mc:Fallback xmlns="">
          <p:sp>
            <p:nvSpPr>
              <p:cNvPr id="3" name="Text Placeholder 2">
                <a:extLst>
                  <a:ext uri="{FF2B5EF4-FFF2-40B4-BE49-F238E27FC236}">
                    <a16:creationId xmlns:a16="http://schemas.microsoft.com/office/drawing/2014/main" id="{5E3EE5BE-8A3A-1A6B-1D69-1AD6ADCBB4F6}"/>
                  </a:ext>
                </a:extLst>
              </p:cNvPr>
              <p:cNvSpPr>
                <a:spLocks noGrp="1" noRot="1" noChangeAspect="1" noMove="1" noResize="1" noEditPoints="1" noAdjustHandles="1" noChangeArrowheads="1" noChangeShapeType="1" noTextEdit="1"/>
              </p:cNvSpPr>
              <p:nvPr>
                <p:ph type="body" sz="quarter" idx="15"/>
              </p:nvPr>
            </p:nvSpPr>
            <p:spPr>
              <a:xfrm>
                <a:off x="801820" y="1486410"/>
                <a:ext cx="10515600" cy="1807074"/>
              </a:xfrm>
              <a:blipFill>
                <a:blip r:embed="rId4"/>
                <a:stretch>
                  <a:fillRect l="-1507" t="-4054" r="-58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28B84993-F792-7CAB-8F72-D9A8A278FAC5}"/>
                  </a:ext>
                </a:extLst>
              </p:cNvPr>
              <p:cNvSpPr>
                <a:spLocks noGrp="1"/>
              </p:cNvSpPr>
              <p:nvPr>
                <p:ph type="body" sz="quarter" idx="18"/>
              </p:nvPr>
            </p:nvSpPr>
            <p:spPr>
              <a:xfrm>
                <a:off x="787911" y="3293484"/>
                <a:ext cx="6233992" cy="2270554"/>
              </a:xfrm>
            </p:spPr>
            <p:txBody>
              <a:bodyPr>
                <a:noAutofit/>
              </a:bodyPr>
              <a:lstStyle/>
              <a:p>
                <a:pPr>
                  <a:lnSpc>
                    <a:spcPct val="100000"/>
                  </a:lnSpc>
                  <a:spcAft>
                    <a:spcPts val="600"/>
                  </a:spcAft>
                </a:pPr>
                <a:r>
                  <a:rPr lang="en-US" sz="2000" dirty="0"/>
                  <a:t>The expected value for the DiCarlo Motors example is</a:t>
                </a:r>
              </a:p>
              <a:p>
                <a:pPr marL="457200">
                  <a:lnSpc>
                    <a:spcPct val="100000"/>
                  </a:lnSpc>
                  <a:spcBef>
                    <a:spcPts val="600"/>
                  </a:spcBef>
                  <a:spcAft>
                    <a:spcPts val="600"/>
                  </a:spcAft>
                </a:pPr>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nary>
                      <m:naryPr>
                        <m:chr m:val="∑"/>
                        <m:subHide m:val="on"/>
                        <m:supHide m:val="on"/>
                        <m:ctrlPr>
                          <a:rPr lang="en-US" sz="2000" b="0" i="1" smtClean="0">
                            <a:latin typeface="Cambria Math" panose="02040503050406030204" pitchFamily="18" charset="0"/>
                          </a:rPr>
                        </m:ctrlPr>
                      </m:naryPr>
                      <m:sub/>
                      <m:sup/>
                      <m:e>
                        <m:r>
                          <a:rPr lang="en-US" sz="2000" b="0" i="1" smtClean="0">
                            <a:latin typeface="Cambria Math" panose="02040503050406030204" pitchFamily="18" charset="0"/>
                          </a:rPr>
                          <m:t>𝑥𝑓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e>
                    </m:nary>
                    <m:r>
                      <a:rPr lang="en-US" sz="2000" b="0" i="1" smtClean="0">
                        <a:latin typeface="Cambria Math" panose="02040503050406030204" pitchFamily="18" charset="0"/>
                      </a:rPr>
                      <m:t>=1.50</m:t>
                    </m:r>
                  </m:oMath>
                </a14:m>
                <a:r>
                  <a:rPr lang="en-US" sz="2000" dirty="0"/>
                  <a:t> automobiles (*see notes)</a:t>
                </a:r>
              </a:p>
              <a:p>
                <a:pPr>
                  <a:lnSpc>
                    <a:spcPct val="100000"/>
                  </a:lnSpc>
                  <a:spcBef>
                    <a:spcPts val="600"/>
                  </a:spcBef>
                </a:pPr>
                <a:r>
                  <a:rPr lang="en-US" sz="2000" dirty="0"/>
                  <a:t>Although sales from 0 to 5 automobiles are possible on any one day, over time DiCarlo can anticipate selling an average of 1.50 automobiles per day, or 30(1.50) = 45 automobiles per month.</a:t>
                </a:r>
              </a:p>
            </p:txBody>
          </p:sp>
        </mc:Choice>
        <mc:Fallback xmlns="">
          <p:sp>
            <p:nvSpPr>
              <p:cNvPr id="5" name="Text Placeholder 4">
                <a:extLst>
                  <a:ext uri="{FF2B5EF4-FFF2-40B4-BE49-F238E27FC236}">
                    <a16:creationId xmlns:a16="http://schemas.microsoft.com/office/drawing/2014/main" id="{28B84993-F792-7CAB-8F72-D9A8A278FAC5}"/>
                  </a:ext>
                </a:extLst>
              </p:cNvPr>
              <p:cNvSpPr>
                <a:spLocks noGrp="1" noRot="1" noChangeAspect="1" noMove="1" noResize="1" noEditPoints="1" noAdjustHandles="1" noChangeArrowheads="1" noChangeShapeType="1" noTextEdit="1"/>
              </p:cNvSpPr>
              <p:nvPr>
                <p:ph type="body" sz="quarter" idx="18"/>
              </p:nvPr>
            </p:nvSpPr>
            <p:spPr>
              <a:xfrm>
                <a:off x="787911" y="3293484"/>
                <a:ext cx="6233992" cy="2270554"/>
              </a:xfrm>
              <a:blipFill>
                <a:blip r:embed="rId5"/>
                <a:stretch>
                  <a:fillRect l="-2444" t="-3217" r="-2737" b="-1072"/>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EA5B58AD-3678-0719-BF6A-7FFD6AF8A095}"/>
              </a:ext>
            </a:extLst>
          </p:cNvPr>
          <p:cNvGraphicFramePr>
            <a:graphicFrameLocks noGrp="1"/>
          </p:cNvGraphicFramePr>
          <p:nvPr>
            <p:ph type="tbl" sz="quarter" idx="22"/>
            <p:extLst>
              <p:ext uri="{D42A27DB-BD31-4B8C-83A1-F6EECF244321}">
                <p14:modId xmlns:p14="http://schemas.microsoft.com/office/powerpoint/2010/main" val="4191440949"/>
              </p:ext>
            </p:extLst>
          </p:nvPr>
        </p:nvGraphicFramePr>
        <p:xfrm>
          <a:off x="7660221" y="2866558"/>
          <a:ext cx="3363163" cy="269748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650830248"/>
                    </a:ext>
                  </a:extLst>
                </a:gridCol>
                <a:gridCol w="1097280">
                  <a:extLst>
                    <a:ext uri="{9D8B030D-6E8A-4147-A177-3AD203B41FA5}">
                      <a16:colId xmlns:a16="http://schemas.microsoft.com/office/drawing/2014/main" val="707242737"/>
                    </a:ext>
                  </a:extLst>
                </a:gridCol>
                <a:gridCol w="1351483">
                  <a:extLst>
                    <a:ext uri="{9D8B030D-6E8A-4147-A177-3AD203B41FA5}">
                      <a16:colId xmlns:a16="http://schemas.microsoft.com/office/drawing/2014/main" val="1859019035"/>
                    </a:ext>
                  </a:extLst>
                </a:gridCol>
              </a:tblGrid>
              <a:tr h="457200">
                <a:tc>
                  <a:txBody>
                    <a:bodyPr/>
                    <a:lstStyle/>
                    <a:p>
                      <a:pPr algn="ctr" fontAlgn="b"/>
                      <a:r>
                        <a:rPr lang="en-US" sz="1800" b="1" i="1" u="none" strike="noStrike" dirty="0">
                          <a:solidFill>
                            <a:srgbClr val="000000"/>
                          </a:solidFill>
                          <a:effectLst/>
                          <a:latin typeface="+mn-lt"/>
                        </a:rPr>
                        <a:t>x</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mn-lt"/>
                        </a:rPr>
                        <a:t>f</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x</a:t>
                      </a:r>
                      <a:r>
                        <a:rPr lang="en-US" sz="1800" b="1" i="0" u="none" strike="noStrike" dirty="0">
                          <a:solidFill>
                            <a:srgbClr val="000000"/>
                          </a:solidFill>
                          <a:effectLst/>
                          <a:latin typeface="+mn-lt"/>
                        </a:rPr>
                        <a:t>)</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err="1">
                          <a:solidFill>
                            <a:srgbClr val="000000"/>
                          </a:solidFill>
                          <a:effectLst/>
                          <a:latin typeface="+mn-lt"/>
                        </a:rPr>
                        <a:t>xf</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x</a:t>
                      </a:r>
                      <a:r>
                        <a:rPr lang="en-US" sz="1800" b="1" i="0" u="none" strike="noStrike" dirty="0">
                          <a:solidFill>
                            <a:srgbClr val="000000"/>
                          </a:solidFill>
                          <a:effectLst/>
                          <a:latin typeface="+mn-lt"/>
                        </a:rPr>
                        <a:t>)</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56308379"/>
                  </a:ext>
                </a:extLst>
              </a:tr>
              <a:tr h="320040">
                <a:tc>
                  <a:txBody>
                    <a:bodyPr/>
                    <a:lstStyle/>
                    <a:p>
                      <a:pPr algn="ctr" fontAlgn="b"/>
                      <a:r>
                        <a:rPr lang="en-US" sz="1800" b="0" i="0" u="none" strike="noStrike" dirty="0">
                          <a:solidFill>
                            <a:srgbClr val="000000"/>
                          </a:solidFill>
                          <a:effectLst/>
                          <a:latin typeface="+mn-lt"/>
                        </a:rPr>
                        <a:t>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0.18</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0(0.18) = 0.00</a:t>
                      </a:r>
                    </a:p>
                  </a:txBody>
                  <a:tcPr marL="6350" marR="6350" marT="635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65709044"/>
                  </a:ext>
                </a:extLst>
              </a:tr>
              <a:tr h="320040">
                <a:tc>
                  <a:txBody>
                    <a:bodyPr/>
                    <a:lstStyle/>
                    <a:p>
                      <a:pPr algn="ctr" fontAlgn="b"/>
                      <a:r>
                        <a:rPr lang="en-US" sz="1800" b="0" i="0" u="none" strike="noStrike" dirty="0">
                          <a:solidFill>
                            <a:srgbClr val="000000"/>
                          </a:solidFill>
                          <a:effectLst/>
                          <a:latin typeface="+mn-lt"/>
                        </a:rPr>
                        <a:t>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1(0.39) = 0.39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87937671"/>
                  </a:ext>
                </a:extLst>
              </a:tr>
              <a:tr h="320040">
                <a:tc>
                  <a:txBody>
                    <a:bodyPr/>
                    <a:lstStyle/>
                    <a:p>
                      <a:pPr algn="ctr" fontAlgn="b"/>
                      <a:r>
                        <a:rPr lang="en-US" sz="1800" b="0" i="0" u="none" strike="noStrike" dirty="0">
                          <a:solidFill>
                            <a:srgbClr val="000000"/>
                          </a:solidFill>
                          <a:effectLst/>
                          <a:latin typeface="+mn-lt"/>
                        </a:rPr>
                        <a:t>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2(0.24) = 0.48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17290118"/>
                  </a:ext>
                </a:extLst>
              </a:tr>
              <a:tr h="320040">
                <a:tc>
                  <a:txBody>
                    <a:bodyPr/>
                    <a:lstStyle/>
                    <a:p>
                      <a:pPr algn="ctr" fontAlgn="b"/>
                      <a:r>
                        <a:rPr lang="en-US" sz="1800" b="0" i="0" u="none" strike="noStrike" dirty="0">
                          <a:solidFill>
                            <a:srgbClr val="000000"/>
                          </a:solidFill>
                          <a:effectLst/>
                          <a:latin typeface="+mn-lt"/>
                        </a:rPr>
                        <a:t>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0.14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3(0.14) = 0.42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02877535"/>
                  </a:ext>
                </a:extLst>
              </a:tr>
              <a:tr h="320040">
                <a:tc>
                  <a:txBody>
                    <a:bodyPr/>
                    <a:lstStyle/>
                    <a:p>
                      <a:pPr algn="ctr" fontAlgn="b"/>
                      <a:r>
                        <a:rPr lang="en-US" sz="1800" b="0" i="0" u="none" strike="noStrike" dirty="0">
                          <a:solidFill>
                            <a:srgbClr val="000000"/>
                          </a:solidFill>
                          <a:effectLst/>
                          <a:latin typeface="+mn-lt"/>
                        </a:rPr>
                        <a:t>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0" i="0" u="none" strike="noStrike" dirty="0">
                          <a:solidFill>
                            <a:srgbClr val="000000"/>
                          </a:solidFill>
                          <a:effectLst/>
                          <a:latin typeface="+mn-lt"/>
                        </a:rPr>
                        <a:t>0.04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4(0.04) = 0.16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50003583"/>
                  </a:ext>
                </a:extLst>
              </a:tr>
              <a:tr h="320040">
                <a:tc>
                  <a:txBody>
                    <a:bodyPr/>
                    <a:lstStyle/>
                    <a:p>
                      <a:pPr algn="ctr" fontAlgn="b"/>
                      <a:r>
                        <a:rPr lang="en-US" sz="1800" b="0" i="0" u="none" strike="noStrike" dirty="0">
                          <a:solidFill>
                            <a:srgbClr val="000000"/>
                          </a:solidFill>
                          <a:effectLst/>
                          <a:latin typeface="+mn-lt"/>
                        </a:rPr>
                        <a:t>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0" i="0" u="none" strike="noStrike" dirty="0">
                          <a:solidFill>
                            <a:srgbClr val="000000"/>
                          </a:solidFill>
                          <a:effectLst/>
                          <a:latin typeface="+mn-lt"/>
                        </a:rPr>
                        <a:t>0.01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5(0.01) = 0.05</a:t>
                      </a: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32444655"/>
                  </a:ext>
                </a:extLst>
              </a:tr>
              <a:tr h="320040">
                <a:tc>
                  <a:txBody>
                    <a:bodyPr/>
                    <a:lstStyle/>
                    <a:p>
                      <a:pPr algn="l" fontAlgn="b"/>
                      <a:endParaRPr lang="en-US" sz="18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endParaRPr lang="en-US" sz="1800" b="0" i="0" u="none" strike="noStrike" dirty="0">
                        <a:solidFill>
                          <a:srgbClr val="000000"/>
                        </a:solidFill>
                        <a:effectLst/>
                        <a:latin typeface="+mn-lt"/>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800" b="0" i="0" u="none" strike="noStrike" dirty="0">
                          <a:solidFill>
                            <a:srgbClr val="000000"/>
                          </a:solidFill>
                          <a:effectLst/>
                          <a:latin typeface="+mn-lt"/>
                        </a:rPr>
                        <a:t>E(x) = 1.50</a:t>
                      </a:r>
                    </a:p>
                  </a:txBody>
                  <a:tcPr marL="6350" marR="6350" marT="6350" marB="0" anchor="b">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914161732"/>
                  </a:ext>
                </a:extLst>
              </a:tr>
            </a:tbl>
          </a:graphicData>
        </a:graphic>
      </p:graphicFrame>
    </p:spTree>
    <p:extLst>
      <p:ext uri="{BB962C8B-B14F-4D97-AF65-F5344CB8AC3E}">
        <p14:creationId xmlns:p14="http://schemas.microsoft.com/office/powerpoint/2010/main" val="1840244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EF0AD-BEDD-1CD6-9980-1243985D09DD}"/>
              </a:ext>
            </a:extLst>
          </p:cNvPr>
          <p:cNvSpPr>
            <a:spLocks noGrp="1"/>
          </p:cNvSpPr>
          <p:nvPr>
            <p:ph type="title"/>
          </p:nvPr>
        </p:nvSpPr>
        <p:spPr/>
        <p:txBody>
          <a:bodyPr/>
          <a:lstStyle/>
          <a:p>
            <a:r>
              <a:rPr lang="en-US" dirty="0"/>
              <a:t>5.3 Variance and Standard Deviation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3EE5BE-8A3A-1A6B-1D69-1AD6ADCBB4F6}"/>
                  </a:ext>
                </a:extLst>
              </p:cNvPr>
              <p:cNvSpPr>
                <a:spLocks noGrp="1"/>
              </p:cNvSpPr>
              <p:nvPr>
                <p:ph type="body" sz="quarter" idx="15"/>
              </p:nvPr>
            </p:nvSpPr>
            <p:spPr>
              <a:xfrm>
                <a:off x="801820" y="1443280"/>
                <a:ext cx="10515600" cy="1784019"/>
              </a:xfrm>
            </p:spPr>
            <p:txBody>
              <a:bodyPr>
                <a:noAutofit/>
              </a:bodyPr>
              <a:lstStyle/>
              <a:p>
                <a:pPr>
                  <a:lnSpc>
                    <a:spcPct val="100000"/>
                  </a:lnSpc>
                  <a:spcBef>
                    <a:spcPts val="600"/>
                  </a:spcBef>
                </a:pPr>
                <a:r>
                  <a:rPr lang="en-US" sz="2000" dirty="0"/>
                  <a:t>The variance summarizes the variability in the values of a random variable (*see notes.)</a:t>
                </a:r>
              </a:p>
              <a:p>
                <a:pPr>
                  <a:lnSpc>
                    <a:spcPct val="100000"/>
                  </a:lnSpc>
                  <a:spcBef>
                    <a:spcPts val="600"/>
                  </a:spcBef>
                </a:pPr>
                <a:r>
                  <a:rPr lang="en-US" sz="2000" dirty="0"/>
                  <a:t>The variance of a discrete random variable is calculated as</a:t>
                </a:r>
              </a:p>
              <a:p>
                <a:pPr marL="914400">
                  <a:lnSpc>
                    <a:spcPct val="100000"/>
                  </a:lnSpc>
                  <a:spcBef>
                    <a:spcPts val="6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𝑽𝒂𝒓</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𝝈</m:t>
                          </m:r>
                        </m:e>
                        <m:sup>
                          <m:r>
                            <a:rPr lang="en-US" sz="2000" b="1" i="1" smtClean="0">
                              <a:latin typeface="Cambria Math" panose="02040503050406030204" pitchFamily="18" charset="0"/>
                            </a:rPr>
                            <m:t>𝟐</m:t>
                          </m:r>
                        </m:sup>
                      </m:sSup>
                      <m:r>
                        <a:rPr lang="en-US" sz="2000" b="1" i="1" smtClean="0">
                          <a:latin typeface="Cambria Math" panose="02040503050406030204" pitchFamily="18" charset="0"/>
                        </a:rPr>
                        <m:t>=</m:t>
                      </m:r>
                      <m:nary>
                        <m:naryPr>
                          <m:chr m:val="∑"/>
                          <m:subHide m:val="on"/>
                          <m:supHide m:val="on"/>
                          <m:ctrlPr>
                            <a:rPr lang="en-US" sz="2000" b="1" i="1" smtClean="0">
                              <a:latin typeface="Cambria Math" panose="02040503050406030204" pitchFamily="18" charset="0"/>
                            </a:rPr>
                          </m:ctrlPr>
                        </m:naryPr>
                        <m:sub/>
                        <m:sup/>
                        <m:e>
                          <m:sSup>
                            <m:sSupPr>
                              <m:ctrlPr>
                                <a:rPr lang="en-US" sz="2000" b="1" i="1" smtClean="0">
                                  <a:latin typeface="Cambria Math" panose="02040503050406030204" pitchFamily="18" charset="0"/>
                                </a:rPr>
                              </m:ctrlPr>
                            </m:sSupPr>
                            <m:e>
                              <m:r>
                                <a:rPr lang="en-US" sz="2000" b="1" i="1">
                                  <a:latin typeface="Cambria Math" panose="02040503050406030204" pitchFamily="18" charset="0"/>
                                </a:rPr>
                                <m:t>(</m:t>
                              </m:r>
                              <m:r>
                                <a:rPr lang="en-US" sz="2000" b="1" i="1">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𝝁</m:t>
                              </m:r>
                              <m:r>
                                <a:rPr lang="en-US" sz="2000" b="1" i="1">
                                  <a:latin typeface="Cambria Math" panose="02040503050406030204" pitchFamily="18" charset="0"/>
                                </a:rPr>
                                <m:t>)</m:t>
                              </m:r>
                            </m:e>
                            <m:sup>
                              <m:r>
                                <a:rPr lang="en-US" sz="2000" b="1" i="1" smtClean="0">
                                  <a:latin typeface="Cambria Math" panose="02040503050406030204" pitchFamily="18" charset="0"/>
                                </a:rPr>
                                <m:t>𝟐</m:t>
                              </m:r>
                            </m:sup>
                          </m:sSup>
                          <m:r>
                            <a:rPr lang="en-US" sz="2000" b="1" i="1" smtClean="0">
                              <a:latin typeface="Cambria Math" panose="02040503050406030204" pitchFamily="18" charset="0"/>
                            </a:rPr>
                            <m:t>𝒇</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e>
                      </m:nary>
                    </m:oMath>
                  </m:oMathPara>
                </a14:m>
                <a:endParaRPr lang="en-US" sz="2000" b="1" dirty="0"/>
              </a:p>
              <a:p>
                <a:pPr>
                  <a:lnSpc>
                    <a:spcPct val="100000"/>
                  </a:lnSpc>
                  <a:spcBef>
                    <a:spcPts val="0"/>
                  </a:spcBef>
                </a:pPr>
                <a:r>
                  <a:rPr lang="en-US" sz="2000" dirty="0"/>
                  <a:t>For the DiCarlo Motors example, variance and standard deviation are calculated as</a:t>
                </a:r>
                <a:endParaRPr lang="en-US" sz="2000" b="0" i="1" dirty="0">
                  <a:latin typeface="Cambria Math" panose="02040503050406030204" pitchFamily="18" charset="0"/>
                </a:endParaRPr>
              </a:p>
            </p:txBody>
          </p:sp>
        </mc:Choice>
        <mc:Fallback xmlns="">
          <p:sp>
            <p:nvSpPr>
              <p:cNvPr id="3" name="Text Placeholder 2">
                <a:extLst>
                  <a:ext uri="{FF2B5EF4-FFF2-40B4-BE49-F238E27FC236}">
                    <a16:creationId xmlns:a16="http://schemas.microsoft.com/office/drawing/2014/main" id="{5E3EE5BE-8A3A-1A6B-1D69-1AD6ADCBB4F6}"/>
                  </a:ext>
                </a:extLst>
              </p:cNvPr>
              <p:cNvSpPr>
                <a:spLocks noGrp="1" noRot="1" noChangeAspect="1" noMove="1" noResize="1" noEditPoints="1" noAdjustHandles="1" noChangeArrowheads="1" noChangeShapeType="1" noTextEdit="1"/>
              </p:cNvSpPr>
              <p:nvPr>
                <p:ph type="body" sz="quarter" idx="15"/>
              </p:nvPr>
            </p:nvSpPr>
            <p:spPr>
              <a:xfrm>
                <a:off x="801820" y="1443280"/>
                <a:ext cx="10515600" cy="1784019"/>
              </a:xfrm>
              <a:blipFill>
                <a:blip r:embed="rId4"/>
                <a:stretch>
                  <a:fillRect l="-1507" t="-4110" b="-58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28B84993-F792-7CAB-8F72-D9A8A278FAC5}"/>
                  </a:ext>
                </a:extLst>
              </p:cNvPr>
              <p:cNvSpPr>
                <a:spLocks noGrp="1"/>
              </p:cNvSpPr>
              <p:nvPr>
                <p:ph type="body" sz="quarter" idx="18"/>
              </p:nvPr>
            </p:nvSpPr>
            <p:spPr>
              <a:xfrm>
                <a:off x="787911" y="3227299"/>
                <a:ext cx="5423108" cy="2610412"/>
              </a:xfrm>
            </p:spPr>
            <p:txBody>
              <a:bodyPr>
                <a:noAutofit/>
              </a:bodyPr>
              <a:lstStyle/>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nary>
                        <m:naryPr>
                          <m:chr m:val="∑"/>
                          <m:subHide m:val="on"/>
                          <m:supHide m:val="on"/>
                          <m:ctrlPr>
                            <a:rPr lang="en-US" sz="2000" b="0" i="1" smtClean="0">
                              <a:latin typeface="Cambria Math" panose="02040503050406030204" pitchFamily="18" charset="0"/>
                            </a:rPr>
                          </m:ctrlPr>
                        </m:naryPr>
                        <m:sub/>
                        <m:sup/>
                        <m:e>
                          <m:sSup>
                            <m:sSupPr>
                              <m:ctrlPr>
                                <a:rPr lang="en-US" sz="2000" b="0" i="1" smtClean="0">
                                  <a:latin typeface="Cambria Math" panose="02040503050406030204" pitchFamily="18" charset="0"/>
                                </a:rPr>
                              </m:ctrlPr>
                            </m:sSupPr>
                            <m:e>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𝜇</m:t>
                                  </m:r>
                                </m:e>
                              </m:d>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=1.25</m:t>
                          </m:r>
                        </m:e>
                      </m:nary>
                    </m:oMath>
                  </m:oMathPara>
                </a14:m>
                <a:endParaRPr lang="en-US" sz="2000" dirty="0"/>
              </a:p>
              <a:p>
                <a:pPr marL="457200">
                  <a:lnSpc>
                    <a:spcPct val="100000"/>
                  </a:lnSpc>
                  <a:spcBef>
                    <a:spcPts val="0"/>
                  </a:spcBef>
                  <a:spcAft>
                    <a:spcPts val="600"/>
                  </a:spcAft>
                </a:pPr>
                <a14:m>
                  <m:oMath xmlns:m="http://schemas.openxmlformats.org/officeDocument/2006/math">
                    <m:r>
                      <a:rPr lang="en-US" sz="2000" b="1" i="1" smtClean="0">
                        <a:latin typeface="Cambria Math" panose="02040503050406030204" pitchFamily="18" charset="0"/>
                        <a:ea typeface="Cambria Math" panose="02040503050406030204" pitchFamily="18" charset="0"/>
                      </a:rPr>
                      <m:t>𝝈</m:t>
                    </m:r>
                    <m:r>
                      <a:rPr lang="en-US" sz="2000" b="1" i="1" smtClean="0">
                        <a:latin typeface="Cambria Math" panose="02040503050406030204" pitchFamily="18" charset="0"/>
                        <a:ea typeface="Cambria Math" panose="02040503050406030204" pitchFamily="18" charset="0"/>
                      </a:rPr>
                      <m:t>=</m:t>
                    </m:r>
                    <m:rad>
                      <m:radPr>
                        <m:degHide m:val="on"/>
                        <m:ctrlPr>
                          <a:rPr lang="en-US" sz="2000" b="1" i="1" smtClean="0">
                            <a:latin typeface="Cambria Math" panose="02040503050406030204" pitchFamily="18" charset="0"/>
                            <a:ea typeface="Cambria Math" panose="02040503050406030204" pitchFamily="18" charset="0"/>
                          </a:rPr>
                        </m:ctrlPr>
                      </m:radPr>
                      <m:deg/>
                      <m:e>
                        <m:r>
                          <a:rPr lang="en-US" sz="2000" b="1" i="1" smtClean="0">
                            <a:latin typeface="Cambria Math" panose="02040503050406030204" pitchFamily="18" charset="0"/>
                            <a:ea typeface="Cambria Math" panose="02040503050406030204" pitchFamily="18" charset="0"/>
                          </a:rPr>
                          <m:t>𝑽𝒂𝒓</m:t>
                        </m:r>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𝒙</m:t>
                        </m:r>
                        <m:r>
                          <a:rPr lang="en-US" sz="2000" b="1" i="1" smtClean="0">
                            <a:latin typeface="Cambria Math" panose="02040503050406030204" pitchFamily="18" charset="0"/>
                            <a:ea typeface="Cambria Math" panose="02040503050406030204" pitchFamily="18" charset="0"/>
                          </a:rPr>
                          <m:t>)</m:t>
                        </m:r>
                      </m:e>
                    </m:rad>
                    <m:r>
                      <a:rPr lang="en-US" sz="2000" b="0" i="1" smtClean="0">
                        <a:latin typeface="Cambria Math" panose="02040503050406030204" pitchFamily="18" charset="0"/>
                        <a:ea typeface="Cambria Math" panose="02040503050406030204" pitchFamily="18" charset="0"/>
                      </a:rPr>
                      <m:t>=</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1.25</m:t>
                        </m:r>
                      </m:e>
                    </m:rad>
                    <m:r>
                      <a:rPr lang="en-US" sz="2000" b="0" i="1" smtClean="0">
                        <a:latin typeface="Cambria Math" panose="02040503050406030204" pitchFamily="18" charset="0"/>
                        <a:ea typeface="Cambria Math" panose="02040503050406030204" pitchFamily="18" charset="0"/>
                      </a:rPr>
                      <m:t>=1.118</m:t>
                    </m:r>
                  </m:oMath>
                </a14:m>
                <a:r>
                  <a:rPr lang="en-US" sz="2000" dirty="0"/>
                  <a:t> automobiles</a:t>
                </a:r>
              </a:p>
              <a:p>
                <a:pPr>
                  <a:lnSpc>
                    <a:spcPct val="100000"/>
                  </a:lnSpc>
                  <a:spcBef>
                    <a:spcPts val="600"/>
                  </a:spcBef>
                </a:pPr>
                <a:r>
                  <a:rPr lang="en-US" sz="2000" dirty="0"/>
                  <a:t>Because the standard deviation is measured in the same units as the random variable, it is often preferred in describing the variability of a random vari­able.</a:t>
                </a:r>
              </a:p>
            </p:txBody>
          </p:sp>
        </mc:Choice>
        <mc:Fallback xmlns="">
          <p:sp>
            <p:nvSpPr>
              <p:cNvPr id="5" name="Text Placeholder 4">
                <a:extLst>
                  <a:ext uri="{FF2B5EF4-FFF2-40B4-BE49-F238E27FC236}">
                    <a16:creationId xmlns:a16="http://schemas.microsoft.com/office/drawing/2014/main" id="{28B84993-F792-7CAB-8F72-D9A8A278FAC5}"/>
                  </a:ext>
                </a:extLst>
              </p:cNvPr>
              <p:cNvSpPr>
                <a:spLocks noGrp="1" noRot="1" noChangeAspect="1" noMove="1" noResize="1" noEditPoints="1" noAdjustHandles="1" noChangeArrowheads="1" noChangeShapeType="1" noTextEdit="1"/>
              </p:cNvSpPr>
              <p:nvPr>
                <p:ph type="body" sz="quarter" idx="18"/>
              </p:nvPr>
            </p:nvSpPr>
            <p:spPr>
              <a:xfrm>
                <a:off x="787911" y="3227299"/>
                <a:ext cx="5423108" cy="2610412"/>
              </a:xfrm>
              <a:blipFill>
                <a:blip r:embed="rId5"/>
                <a:stretch>
                  <a:fillRect l="-2809" r="-1461" b="-3963"/>
                </a:stretch>
              </a:blipFill>
            </p:spPr>
            <p:txBody>
              <a:bodyPr/>
              <a:lstStyle/>
              <a:p>
                <a:r>
                  <a:rPr lang="en-US">
                    <a:noFill/>
                  </a:rPr>
                  <a:t> </a:t>
                </a:r>
              </a:p>
            </p:txBody>
          </p:sp>
        </mc:Fallback>
      </mc:AlternateContent>
      <p:graphicFrame>
        <p:nvGraphicFramePr>
          <p:cNvPr id="8" name="Table 8">
            <a:extLst>
              <a:ext uri="{FF2B5EF4-FFF2-40B4-BE49-F238E27FC236}">
                <a16:creationId xmlns:a16="http://schemas.microsoft.com/office/drawing/2014/main" id="{2205D102-0414-2186-C0B9-894DAFBFD578}"/>
              </a:ext>
            </a:extLst>
          </p:cNvPr>
          <p:cNvGraphicFramePr>
            <a:graphicFrameLocks noGrp="1"/>
          </p:cNvGraphicFramePr>
          <p:nvPr>
            <p:ph type="tbl" sz="quarter" idx="22"/>
            <p:extLst>
              <p:ext uri="{D42A27DB-BD31-4B8C-83A1-F6EECF244321}">
                <p14:modId xmlns:p14="http://schemas.microsoft.com/office/powerpoint/2010/main" val="884628703"/>
              </p:ext>
            </p:extLst>
          </p:nvPr>
        </p:nvGraphicFramePr>
        <p:xfrm>
          <a:off x="6239465" y="3411407"/>
          <a:ext cx="5164624" cy="2586895"/>
        </p:xfrm>
        <a:graphic>
          <a:graphicData uri="http://schemas.openxmlformats.org/drawingml/2006/table">
            <a:tbl>
              <a:tblPr firstRow="1" bandRow="1">
                <a:tableStyleId>{5C22544A-7EE6-4342-B048-85BDC9FD1C3A}</a:tableStyleId>
              </a:tblPr>
              <a:tblGrid>
                <a:gridCol w="482642">
                  <a:extLst>
                    <a:ext uri="{9D8B030D-6E8A-4147-A177-3AD203B41FA5}">
                      <a16:colId xmlns:a16="http://schemas.microsoft.com/office/drawing/2014/main" val="1948634904"/>
                    </a:ext>
                  </a:extLst>
                </a:gridCol>
                <a:gridCol w="1285773">
                  <a:extLst>
                    <a:ext uri="{9D8B030D-6E8A-4147-A177-3AD203B41FA5}">
                      <a16:colId xmlns:a16="http://schemas.microsoft.com/office/drawing/2014/main" val="3192317050"/>
                    </a:ext>
                  </a:extLst>
                </a:gridCol>
                <a:gridCol w="972218">
                  <a:extLst>
                    <a:ext uri="{9D8B030D-6E8A-4147-A177-3AD203B41FA5}">
                      <a16:colId xmlns:a16="http://schemas.microsoft.com/office/drawing/2014/main" val="4156918669"/>
                    </a:ext>
                  </a:extLst>
                </a:gridCol>
                <a:gridCol w="569344">
                  <a:extLst>
                    <a:ext uri="{9D8B030D-6E8A-4147-A177-3AD203B41FA5}">
                      <a16:colId xmlns:a16="http://schemas.microsoft.com/office/drawing/2014/main" val="794563914"/>
                    </a:ext>
                  </a:extLst>
                </a:gridCol>
                <a:gridCol w="1854647">
                  <a:extLst>
                    <a:ext uri="{9D8B030D-6E8A-4147-A177-3AD203B41FA5}">
                      <a16:colId xmlns:a16="http://schemas.microsoft.com/office/drawing/2014/main" val="1713020884"/>
                    </a:ext>
                  </a:extLst>
                </a:gridCol>
              </a:tblGrid>
              <a:tr h="346615">
                <a:tc>
                  <a:txBody>
                    <a:bodyPr/>
                    <a:lstStyle/>
                    <a:p>
                      <a:pPr algn="ctr" fontAlgn="b"/>
                      <a:r>
                        <a:rPr lang="en-US" sz="1600" b="1" i="1" u="none" strike="noStrike" dirty="0">
                          <a:solidFill>
                            <a:srgbClr val="000000"/>
                          </a:solidFill>
                          <a:effectLst/>
                          <a:latin typeface="Calibri" panose="020F0502020204030204" pitchFamily="34" charset="0"/>
                        </a:rPr>
                        <a:t>x</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 − </a:t>
                      </a:r>
                      <a:r>
                        <a:rPr lang="el-GR" sz="1600" b="1" i="1" u="none" strike="noStrike" dirty="0">
                          <a:solidFill>
                            <a:srgbClr val="000000"/>
                          </a:solidFill>
                          <a:effectLst/>
                          <a:latin typeface="Calibri" panose="020F0502020204030204" pitchFamily="34" charset="0"/>
                        </a:rPr>
                        <a:t>μ</a:t>
                      </a:r>
                      <a:endParaRPr lang="el-GR" sz="1600" b="1" i="0" u="none" strike="noStrike" dirty="0">
                        <a:solidFill>
                          <a:srgbClr val="000000"/>
                        </a:solidFill>
                        <a:effectLst/>
                        <a:latin typeface="Calibri" panose="020F0502020204030204" pitchFamily="34" charset="0"/>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 − </a:t>
                      </a:r>
                      <a:r>
                        <a:rPr lang="el-GR" sz="1600" b="1" i="1" u="none" strike="noStrike" dirty="0">
                          <a:solidFill>
                            <a:srgbClr val="000000"/>
                          </a:solidFill>
                          <a:effectLst/>
                          <a:latin typeface="Calibri" panose="020F0502020204030204" pitchFamily="34" charset="0"/>
                        </a:rPr>
                        <a:t>μ</a:t>
                      </a:r>
                      <a:r>
                        <a:rPr lang="el-GR" sz="1600" b="1" i="0" u="none" strike="noStrike" dirty="0">
                          <a:solidFill>
                            <a:srgbClr val="000000"/>
                          </a:solidFill>
                          <a:effectLst/>
                          <a:latin typeface="Calibri" panose="020F0502020204030204" pitchFamily="34" charset="0"/>
                        </a:rPr>
                        <a:t>)</a:t>
                      </a:r>
                      <a:r>
                        <a:rPr lang="el-GR" sz="1600" b="1" i="0" u="none" strike="noStrike" baseline="30000" dirty="0">
                          <a:solidFill>
                            <a:srgbClr val="000000"/>
                          </a:solidFill>
                          <a:effectLst/>
                          <a:latin typeface="Calibri" panose="020F0502020204030204" pitchFamily="34" charset="0"/>
                        </a:rPr>
                        <a:t>2</a:t>
                      </a:r>
                      <a:endParaRPr lang="el-GR" sz="1600" b="1" i="0" u="none" strike="noStrike" dirty="0">
                        <a:solidFill>
                          <a:srgbClr val="000000"/>
                        </a:solidFill>
                        <a:effectLst/>
                        <a:latin typeface="Calibri" panose="020F0502020204030204" pitchFamily="34" charset="0"/>
                      </a:endParaRP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1" u="none" strike="noStrike" dirty="0">
                          <a:solidFill>
                            <a:srgbClr val="000000"/>
                          </a:solidFill>
                          <a:effectLst/>
                          <a:latin typeface="Calibri" panose="020F0502020204030204" pitchFamily="34" charset="0"/>
                        </a:rPr>
                        <a:t>f</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 − </a:t>
                      </a:r>
                      <a:r>
                        <a:rPr lang="el-GR" sz="1600" b="1" i="1" u="none" strike="noStrike" dirty="0">
                          <a:solidFill>
                            <a:srgbClr val="000000"/>
                          </a:solidFill>
                          <a:effectLst/>
                          <a:latin typeface="Calibri" panose="020F0502020204030204" pitchFamily="34" charset="0"/>
                        </a:rPr>
                        <a:t>μ</a:t>
                      </a:r>
                      <a:r>
                        <a:rPr lang="el-GR" sz="1600" b="1" i="0" u="none" strike="noStrike" dirty="0">
                          <a:solidFill>
                            <a:srgbClr val="000000"/>
                          </a:solidFill>
                          <a:effectLst/>
                          <a:latin typeface="Calibri" panose="020F0502020204030204" pitchFamily="34" charset="0"/>
                        </a:rPr>
                        <a:t>)</a:t>
                      </a:r>
                      <a:r>
                        <a:rPr lang="el-GR" sz="1600" b="1" i="0" u="none" strike="noStrike" baseline="30000" dirty="0">
                          <a:solidFill>
                            <a:srgbClr val="000000"/>
                          </a:solidFill>
                          <a:effectLst/>
                          <a:latin typeface="Calibri" panose="020F0502020204030204" pitchFamily="34" charset="0"/>
                        </a:rPr>
                        <a:t>2</a:t>
                      </a:r>
                      <a:r>
                        <a:rPr lang="en-US" sz="1600" b="1" i="0" u="none" strike="noStrike" baseline="30000" dirty="0">
                          <a:solidFill>
                            <a:srgbClr val="000000"/>
                          </a:solidFill>
                          <a:effectLst/>
                          <a:latin typeface="Calibri" panose="020F0502020204030204" pitchFamily="34" charset="0"/>
                        </a:rPr>
                        <a:t> </a:t>
                      </a:r>
                      <a:r>
                        <a:rPr lang="en-US" sz="1600" b="1" i="1" u="none" strike="noStrike" dirty="0">
                          <a:solidFill>
                            <a:srgbClr val="000000"/>
                          </a:solidFill>
                          <a:effectLst/>
                          <a:latin typeface="Calibri" panose="020F0502020204030204" pitchFamily="34" charset="0"/>
                        </a:rPr>
                        <a:t>f</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a:t>
                      </a:r>
                    </a:p>
                  </a:txBody>
                  <a:tcPr marL="6350" marR="6350" marT="635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26493806"/>
                  </a:ext>
                </a:extLst>
              </a:tr>
              <a:tr h="320040">
                <a:tc>
                  <a:txBody>
                    <a:bodyPr/>
                    <a:lstStyle/>
                    <a:p>
                      <a:pPr algn="ctr" fontAlgn="b"/>
                      <a:r>
                        <a:rPr lang="en-US" sz="1600" b="0" i="0" u="none" strike="noStrike" dirty="0">
                          <a:solidFill>
                            <a:srgbClr val="000000"/>
                          </a:solidFill>
                          <a:effectLst/>
                          <a:latin typeface="+mn-lt"/>
                        </a:rPr>
                        <a:t>0</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0 − 1.5 = −1.50</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2.25</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0.18</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2.25(0.18) = 0.4050</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5948023"/>
                  </a:ext>
                </a:extLst>
              </a:tr>
              <a:tr h="320040">
                <a:tc>
                  <a:txBody>
                    <a:bodyPr/>
                    <a:lstStyle/>
                    <a:p>
                      <a:pPr algn="ctr" fontAlgn="b"/>
                      <a:r>
                        <a:rPr lang="en-US" sz="1600" b="0" i="0" u="none" strike="noStrike" dirty="0">
                          <a:solidFill>
                            <a:srgbClr val="000000"/>
                          </a:solidFill>
                          <a:effectLst/>
                          <a:latin typeface="+mn-lt"/>
                        </a:rPr>
                        <a:t>1</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1 − 1.5 = −0.50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0.25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0.39</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0.25(0.39) = 0.0975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7609260"/>
                  </a:ext>
                </a:extLst>
              </a:tr>
              <a:tr h="320040">
                <a:tc>
                  <a:txBody>
                    <a:bodyPr/>
                    <a:lstStyle/>
                    <a:p>
                      <a:pPr algn="ctr" fontAlgn="b"/>
                      <a:r>
                        <a:rPr lang="en-US" sz="1600" b="0" i="0" u="none" strike="noStrike" dirty="0">
                          <a:solidFill>
                            <a:srgbClr val="000000"/>
                          </a:solidFill>
                          <a:effectLst/>
                          <a:latin typeface="+mn-lt"/>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2 − 1.5 =   0.50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algn="l" defTabSz="914400" rtl="0" eaLnBrk="1" fontAlgn="b" latinLnBrk="0" hangingPunct="1">
                        <a:tabLst>
                          <a:tab pos="690563" algn="r"/>
                        </a:tabLst>
                      </a:pPr>
                      <a:r>
                        <a:rPr lang="en-US" sz="1600" b="0" i="0" u="none" strike="noStrike" kern="1200" dirty="0">
                          <a:solidFill>
                            <a:srgbClr val="000000"/>
                          </a:solidFill>
                          <a:effectLst/>
                          <a:latin typeface="+mn-lt"/>
                          <a:ea typeface="+mn-ea"/>
                          <a:cs typeface="+mn-cs"/>
                        </a:rPr>
                        <a:t>	0.25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0.24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0.25(0.24) = 0.0600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102505693"/>
                  </a:ext>
                </a:extLst>
              </a:tr>
              <a:tr h="320040">
                <a:tc>
                  <a:txBody>
                    <a:bodyPr/>
                    <a:lstStyle/>
                    <a:p>
                      <a:pPr algn="ctr" fontAlgn="b"/>
                      <a:r>
                        <a:rPr lang="en-US" sz="1600" b="0" i="0" u="none" strike="noStrike" dirty="0">
                          <a:solidFill>
                            <a:srgbClr val="000000"/>
                          </a:solidFill>
                          <a:effectLst/>
                          <a:latin typeface="+mn-lt"/>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3 − 1.5 =   1.50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90563" algn="r"/>
                        </a:tabLst>
                      </a:pPr>
                      <a:r>
                        <a:rPr lang="en-US" sz="1600" b="0" i="0" u="none" strike="noStrike" dirty="0">
                          <a:solidFill>
                            <a:srgbClr val="000000"/>
                          </a:solidFill>
                          <a:effectLst/>
                          <a:latin typeface="+mn-lt"/>
                        </a:rPr>
                        <a:t>	2.25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0" i="0" u="none" strike="noStrike" dirty="0">
                          <a:solidFill>
                            <a:srgbClr val="000000"/>
                          </a:solidFill>
                          <a:effectLst/>
                          <a:latin typeface="+mn-lt"/>
                        </a:rPr>
                        <a:t>0.14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2.25(0.14) = 0.3150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706995598"/>
                  </a:ext>
                </a:extLst>
              </a:tr>
              <a:tr h="320040">
                <a:tc>
                  <a:txBody>
                    <a:bodyPr/>
                    <a:lstStyle/>
                    <a:p>
                      <a:pPr algn="ctr" fontAlgn="b"/>
                      <a:r>
                        <a:rPr lang="en-US" sz="1600" b="0" i="0" u="none" strike="noStrike" dirty="0">
                          <a:solidFill>
                            <a:srgbClr val="000000"/>
                          </a:solidFill>
                          <a:effectLst/>
                          <a:latin typeface="+mn-lt"/>
                        </a:rPr>
                        <a:t>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4 − 1.5 =   2.50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90563" algn="r"/>
                        </a:tabLst>
                      </a:pPr>
                      <a:r>
                        <a:rPr lang="en-US" sz="1600" b="0" i="0" u="none" strike="noStrike" dirty="0">
                          <a:solidFill>
                            <a:srgbClr val="000000"/>
                          </a:solidFill>
                          <a:effectLst/>
                          <a:latin typeface="+mn-lt"/>
                        </a:rPr>
                        <a:t>	6.25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0.04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6.25(0.04) = 0.2500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67637868"/>
                  </a:ext>
                </a:extLst>
              </a:tr>
              <a:tr h="320040">
                <a:tc>
                  <a:txBody>
                    <a:bodyPr/>
                    <a:lstStyle/>
                    <a:p>
                      <a:pPr algn="ctr" fontAlgn="b"/>
                      <a:r>
                        <a:rPr lang="en-US" sz="1600" b="0" i="0" u="none" strike="noStrike" dirty="0">
                          <a:solidFill>
                            <a:srgbClr val="000000"/>
                          </a:solidFill>
                          <a:effectLst/>
                          <a:latin typeface="+mn-lt"/>
                        </a:rPr>
                        <a:t>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5 − 1.5 =   3.50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90563" algn="r"/>
                        </a:tabLst>
                      </a:pPr>
                      <a:r>
                        <a:rPr lang="en-US" sz="1600" b="0" i="0" u="none" strike="noStrike" dirty="0">
                          <a:solidFill>
                            <a:srgbClr val="000000"/>
                          </a:solidFill>
                          <a:effectLst/>
                          <a:latin typeface="+mn-lt"/>
                        </a:rPr>
                        <a:t>	12.25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600" b="0" i="0" u="none" strike="noStrike" dirty="0">
                          <a:solidFill>
                            <a:srgbClr val="000000"/>
                          </a:solidFill>
                          <a:effectLst/>
                          <a:latin typeface="+mn-lt"/>
                        </a:rPr>
                        <a:t>0.01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dirty="0">
                          <a:solidFill>
                            <a:srgbClr val="000000"/>
                          </a:solidFill>
                          <a:effectLst/>
                          <a:latin typeface="+mn-lt"/>
                        </a:rPr>
                        <a:t>12.25(0.01) = 0.1225</a:t>
                      </a: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99050637"/>
                  </a:ext>
                </a:extLst>
              </a:tr>
              <a:tr h="320040">
                <a:tc>
                  <a:txBody>
                    <a:bodyPr/>
                    <a:lstStyle/>
                    <a:p>
                      <a:pPr algn="ctr" fontAlgn="b"/>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tabLst>
                          <a:tab pos="690563" algn="r"/>
                        </a:tabLst>
                      </a:pPr>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endParaRPr lang="en-US" sz="16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l-GR" sz="1600" b="0" i="0" u="none" strike="noStrike" dirty="0">
                          <a:solidFill>
                            <a:srgbClr val="000000"/>
                          </a:solidFill>
                          <a:effectLst/>
                          <a:latin typeface="+mn-lt"/>
                        </a:rPr>
                        <a:t>σ</a:t>
                      </a:r>
                      <a:r>
                        <a:rPr lang="en-US" sz="1600" b="0" i="0" u="none" strike="noStrike" baseline="30000" dirty="0">
                          <a:solidFill>
                            <a:srgbClr val="000000"/>
                          </a:solidFill>
                          <a:effectLst/>
                          <a:latin typeface="+mn-lt"/>
                        </a:rPr>
                        <a:t>2</a:t>
                      </a:r>
                      <a:r>
                        <a:rPr lang="en-US" sz="1600" b="0" i="0" u="none" strike="noStrike" dirty="0">
                          <a:solidFill>
                            <a:srgbClr val="000000"/>
                          </a:solidFill>
                          <a:effectLst/>
                          <a:latin typeface="+mn-lt"/>
                        </a:rPr>
                        <a:t> =1.2500</a:t>
                      </a: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05149446"/>
                  </a:ext>
                </a:extLst>
              </a:tr>
            </a:tbl>
          </a:graphicData>
        </a:graphic>
      </p:graphicFrame>
    </p:spTree>
    <p:extLst>
      <p:ext uri="{BB962C8B-B14F-4D97-AF65-F5344CB8AC3E}">
        <p14:creationId xmlns:p14="http://schemas.microsoft.com/office/powerpoint/2010/main" val="10703425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solidFill>
                  <a:srgbClr val="25894E"/>
                </a:solidFill>
              </a:rPr>
              <a:t>5.3 Excel: Compute the Expected Value, Variance, and Standard Deviation</a:t>
            </a:r>
          </a:p>
        </p:txBody>
      </p:sp>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7" y="1552131"/>
            <a:ext cx="10704846" cy="1283937"/>
          </a:xfrm>
        </p:spPr>
        <p:txBody>
          <a:bodyPr/>
          <a:lstStyle/>
          <a:p>
            <a:r>
              <a:rPr lang="en-US" sz="2000" dirty="0"/>
              <a:t>An easier way to compute the expected value, variance, and standard deviation of a discrete probability distribution is to use Excel’s SUMPRODUCT function.</a:t>
            </a:r>
          </a:p>
          <a:p>
            <a:r>
              <a:rPr lang="en-US" sz="2000" b="1" dirty="0"/>
              <a:t>Enter/Access Data</a:t>
            </a:r>
            <a:r>
              <a:rPr lang="en-US" sz="2000" dirty="0"/>
              <a:t>: Enter the values for the random variable and the corresponding probabilities in cells A1:B7, properly labeled.</a:t>
            </a:r>
          </a:p>
          <a:p>
            <a:endParaRPr lang="en-US" sz="2000" dirty="0"/>
          </a:p>
        </p:txBody>
      </p:sp>
      <p:sp>
        <p:nvSpPr>
          <p:cNvPr id="7" name="Text Placeholder 6">
            <a:extLst>
              <a:ext uri="{FF2B5EF4-FFF2-40B4-BE49-F238E27FC236}">
                <a16:creationId xmlns:a16="http://schemas.microsoft.com/office/drawing/2014/main" id="{AC9873B1-3630-476E-AD59-760C92693DD9}"/>
              </a:ext>
            </a:extLst>
          </p:cNvPr>
          <p:cNvSpPr>
            <a:spLocks noGrp="1"/>
          </p:cNvSpPr>
          <p:nvPr>
            <p:ph type="body" sz="quarter" idx="17"/>
          </p:nvPr>
        </p:nvSpPr>
        <p:spPr>
          <a:xfrm>
            <a:off x="743577" y="2950368"/>
            <a:ext cx="5294312" cy="2928937"/>
          </a:xfrm>
        </p:spPr>
        <p:txBody>
          <a:bodyPr/>
          <a:lstStyle/>
          <a:p>
            <a:r>
              <a:rPr lang="en-US" sz="2000" b="1" dirty="0"/>
              <a:t>Enter Functions and Formulas</a:t>
            </a:r>
            <a:r>
              <a:rPr lang="en-US" sz="2000" dirty="0"/>
              <a:t>: In cell B9, the SUMPRODUCT function multiplies each value in one range by the corresponding value in another range and sums the products.</a:t>
            </a:r>
          </a:p>
          <a:p>
            <a:r>
              <a:rPr lang="en-US" sz="2000" dirty="0"/>
              <a:t>We compute square deviations from the mean in cells C2:C7. The SUMPRODUCT function is then used again in cell B10 for the variance.</a:t>
            </a:r>
          </a:p>
          <a:p>
            <a:r>
              <a:rPr lang="en-US" sz="2000" dirty="0"/>
              <a:t>The SQRT function in cell B11 computes the standard deviation.</a:t>
            </a:r>
          </a:p>
        </p:txBody>
      </p:sp>
      <p:pic>
        <p:nvPicPr>
          <p:cNvPr id="10" name="Picture Placeholder 9" descr="Two screenshots of Excel spreadsheets for calculating mean, variance, and standard deviation. In the first spreadsheet, there are three columns. Column A is labeled sales. Column B is labeled probability. Column C is labeled squared deviation from mean. The entries in rows 2 through 7 are as follows. Row 2. Sales: 0. Probability: 0.18. Squared deviation from mean: =(A 2 minus dollar sign, B, dollar sign, 9)^2. Row 3. Sales: 1. Probability: 0.39. Squared deviation from mean: =(A 3 minus dollar sign, B, dollar sign, 9)^2. Row 4. Sales: 2. Probability: 0.24. Squared deviation from mean: =(A 4 minus dollar sign, B, dollar sign, 9)^2. Row 5. Sales: 3. Probability: 0.14. Squared deviation from mean: =(A 5 minus dollar sign, B, dollar sign, 9)^2. Row 6. Sales: 4. Probability: 0.04. Squared deviation from mean: =(A 6 minus dollar sign, B, dollar sign, 9)^2. Row 7. Sales: 5. Probability: 0.01. Squared deviation from mean: =(A 7 minus dollar sign, B, dollar sign, 9)^2. The entries in other cells are as follows. A 9: Mean. B 9: = SUM PRODUCT(A 2:A 7, B 2:B 7). A 10: Variance. B 10: = SUM PRODUCT(C 2:C 7, B 2:B 7). A 11: Standard deviation. B 11: =S Q R T(B 11). In the second spreadsheet, there are three columns. Column A is labeled sales. Column B is labeled probability. Column C is labeled squared deviation from mean. The entries in rows 2 through 7 are as follows. Row 2. Sales: 0. Probability: 0.18. Squared deviation from mean: 2.25. Row 3. Sales: 1. Probability: 0.39. Squared deviation from mean: 0.25. Row 4. Sales: 2. Probability: 0.24. Squared deviation from mean: 0.25. Row 5. Sales: 3. Probability: 0.14. Squared deviation from mean: 2.25. Row 6. Sales: 4. Probability: 0.04. Squared deviation from mean: 6.25. Row 7. Sales: 5. Probability: 0.01. Squared deviation from mean: 12.25. The entries in other cells are as follows. A 9: Mean. B 9: 1.500. A 10: Variance. B 10: 1.250. A 11: Standard deviation. B 11: 1.118.">
            <a:extLst>
              <a:ext uri="{FF2B5EF4-FFF2-40B4-BE49-F238E27FC236}">
                <a16:creationId xmlns:a16="http://schemas.microsoft.com/office/drawing/2014/main" id="{F758AF87-0526-0F3F-D4A2-9705BB663ECE}"/>
              </a:ext>
            </a:extLst>
          </p:cNvPr>
          <p:cNvPicPr>
            <a:picLocks noGrp="1" noChangeAspect="1"/>
          </p:cNvPicPr>
          <p:nvPr>
            <p:ph type="pic" sz="quarter" idx="16"/>
          </p:nvPr>
        </p:nvPicPr>
        <p:blipFill>
          <a:blip r:embed="rId3"/>
          <a:srcRect l="72" r="72"/>
          <a:stretch/>
        </p:blipFill>
        <p:spPr>
          <a:xfrm>
            <a:off x="6096000" y="2666997"/>
            <a:ext cx="5294312" cy="3148012"/>
          </a:xfrm>
          <a:ln>
            <a:solidFill>
              <a:srgbClr val="000000"/>
            </a:solidFill>
          </a:ln>
        </p:spPr>
      </p:pic>
    </p:spTree>
    <p:extLst>
      <p:ext uri="{BB962C8B-B14F-4D97-AF65-F5344CB8AC3E}">
        <p14:creationId xmlns:p14="http://schemas.microsoft.com/office/powerpoint/2010/main" val="2107447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0EDB6-B04E-390A-8456-4FAFDFA62F52}"/>
              </a:ext>
            </a:extLst>
          </p:cNvPr>
          <p:cNvSpPr>
            <a:spLocks noGrp="1"/>
          </p:cNvSpPr>
          <p:nvPr>
            <p:ph type="title"/>
          </p:nvPr>
        </p:nvSpPr>
        <p:spPr/>
        <p:txBody>
          <a:bodyPr/>
          <a:lstStyle/>
          <a:p>
            <a:r>
              <a:rPr lang="en-US" sz="3200" dirty="0">
                <a:solidFill>
                  <a:srgbClr val="D14B1E"/>
                </a:solidFill>
              </a:rPr>
              <a:t>5.4 Bivariate Probability Distributions, Covariance, and Financial Portfolios</a:t>
            </a:r>
          </a:p>
        </p:txBody>
      </p:sp>
      <p:sp>
        <p:nvSpPr>
          <p:cNvPr id="3" name="Text Placeholder 2">
            <a:extLst>
              <a:ext uri="{FF2B5EF4-FFF2-40B4-BE49-F238E27FC236}">
                <a16:creationId xmlns:a16="http://schemas.microsoft.com/office/drawing/2014/main" id="{2458AB72-53A8-8C9B-1336-24A40AC60FE5}"/>
              </a:ext>
            </a:extLst>
          </p:cNvPr>
          <p:cNvSpPr>
            <a:spLocks noGrp="1"/>
          </p:cNvSpPr>
          <p:nvPr>
            <p:ph type="body" sz="quarter" idx="15"/>
          </p:nvPr>
        </p:nvSpPr>
        <p:spPr>
          <a:xfrm>
            <a:off x="743576" y="1589545"/>
            <a:ext cx="10711543" cy="4269783"/>
          </a:xfrm>
        </p:spPr>
        <p:txBody>
          <a:bodyPr/>
          <a:lstStyle/>
          <a:p>
            <a:pPr>
              <a:spcBef>
                <a:spcPts val="600"/>
              </a:spcBef>
            </a:pPr>
            <a:r>
              <a:rPr lang="en-US" sz="2000" dirty="0"/>
              <a:t>A </a:t>
            </a:r>
            <a:r>
              <a:rPr lang="en-US" sz="2000" b="1" dirty="0"/>
              <a:t>bivariate probability distribution </a:t>
            </a:r>
            <a:r>
              <a:rPr lang="en-US" sz="2000" dirty="0"/>
              <a:t>is a probability distribution involving two random variables.</a:t>
            </a:r>
          </a:p>
          <a:p>
            <a:pPr>
              <a:spcBef>
                <a:spcPts val="600"/>
              </a:spcBef>
            </a:pPr>
            <a:r>
              <a:rPr lang="en-US" sz="2000" dirty="0"/>
              <a:t>The outcomes of a </a:t>
            </a:r>
            <a:r>
              <a:rPr lang="en-US" sz="2000" b="1" dirty="0"/>
              <a:t>bivariate experiment </a:t>
            </a:r>
            <a:r>
              <a:rPr lang="en-US" sz="2000" dirty="0"/>
              <a:t>consist of the values of two random variables.</a:t>
            </a:r>
          </a:p>
          <a:p>
            <a:pPr>
              <a:spcBef>
                <a:spcPts val="600"/>
              </a:spcBef>
            </a:pPr>
            <a:r>
              <a:rPr lang="en-US" sz="2000" dirty="0"/>
              <a:t>Examples of bivariate experiments:</a:t>
            </a:r>
          </a:p>
          <a:p>
            <a:pPr marL="914400" indent="-342900">
              <a:spcBef>
                <a:spcPts val="600"/>
              </a:spcBef>
              <a:buFont typeface="Arial" panose="020B0604020202020204" pitchFamily="34" charset="0"/>
              <a:buChar char="•"/>
            </a:pPr>
            <a:r>
              <a:rPr lang="en-US" sz="2000" dirty="0"/>
              <a:t>Rolling a pair of dice and recording the number for each die.</a:t>
            </a:r>
          </a:p>
          <a:p>
            <a:pPr marL="914400" indent="-342900">
              <a:spcBef>
                <a:spcPts val="600"/>
              </a:spcBef>
              <a:buFont typeface="Arial" panose="020B0604020202020204" pitchFamily="34" charset="0"/>
              <a:buChar char="•"/>
            </a:pPr>
            <a:r>
              <a:rPr lang="en-US" sz="2000" dirty="0"/>
              <a:t>Recording the percentage gain for a stock fund and a bond fund over a period of time.</a:t>
            </a:r>
          </a:p>
          <a:p>
            <a:pPr>
              <a:spcBef>
                <a:spcPts val="600"/>
              </a:spcBef>
            </a:pPr>
            <a:r>
              <a:rPr lang="en-US" sz="2000" dirty="0"/>
              <a:t>When dealing with bivariate probability distributions, we are often interested in the relationship between the two random variables.</a:t>
            </a:r>
          </a:p>
          <a:p>
            <a:pPr>
              <a:spcBef>
                <a:spcPts val="600"/>
              </a:spcBef>
            </a:pPr>
            <a:r>
              <a:rPr lang="en-US" sz="2000" dirty="0"/>
              <a:t>In this section, we introduce bivariate distributions and show how the covariance and correlation coefficient can be used as a measure of linear association between the random variables. </a:t>
            </a:r>
          </a:p>
          <a:p>
            <a:pPr>
              <a:spcBef>
                <a:spcPts val="600"/>
              </a:spcBef>
            </a:pPr>
            <a:r>
              <a:rPr lang="en-US" sz="2000" dirty="0"/>
              <a:t>We shall also see how bivariate probability distributions can be used to construct and analyze financial portfolios.</a:t>
            </a:r>
          </a:p>
          <a:p>
            <a:pPr>
              <a:spcBef>
                <a:spcPts val="600"/>
              </a:spcBef>
            </a:pPr>
            <a:endParaRPr lang="en-US" sz="2000" dirty="0"/>
          </a:p>
          <a:p>
            <a:pPr>
              <a:spcBef>
                <a:spcPts val="600"/>
              </a:spcBef>
            </a:pPr>
            <a:endParaRPr lang="en-US" sz="2000" dirty="0"/>
          </a:p>
        </p:txBody>
      </p:sp>
    </p:spTree>
    <p:extLst>
      <p:ext uri="{BB962C8B-B14F-4D97-AF65-F5344CB8AC3E}">
        <p14:creationId xmlns:p14="http://schemas.microsoft.com/office/powerpoint/2010/main" val="1804551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66D0-468D-6624-8359-2FE6B102A2A6}"/>
              </a:ext>
            </a:extLst>
          </p:cNvPr>
          <p:cNvSpPr>
            <a:spLocks noGrp="1"/>
          </p:cNvSpPr>
          <p:nvPr>
            <p:ph type="title"/>
          </p:nvPr>
        </p:nvSpPr>
        <p:spPr/>
        <p:txBody>
          <a:bodyPr/>
          <a:lstStyle/>
          <a:p>
            <a:r>
              <a:rPr lang="en-US"/>
              <a:t>5.4 A Bivariate Experiment for DiCarlo Motors</a:t>
            </a:r>
            <a:br>
              <a:rPr lang="en-US"/>
            </a:br>
            <a:endParaRPr lang="en-US" dirty="0"/>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113F8C61-44CA-B624-487B-11499C1EF1E3}"/>
                  </a:ext>
                </a:extLst>
              </p:cNvPr>
              <p:cNvSpPr>
                <a:spLocks noGrp="1"/>
              </p:cNvSpPr>
              <p:nvPr>
                <p:ph type="body" sz="quarter" idx="15"/>
              </p:nvPr>
            </p:nvSpPr>
            <p:spPr>
              <a:xfrm>
                <a:off x="743576" y="1268083"/>
                <a:ext cx="10610224" cy="2380891"/>
              </a:xfrm>
            </p:spPr>
            <p:txBody>
              <a:bodyPr/>
              <a:lstStyle/>
              <a:p>
                <a:pPr>
                  <a:lnSpc>
                    <a:spcPct val="100000"/>
                  </a:lnSpc>
                  <a:spcBef>
                    <a:spcPts val="600"/>
                  </a:spcBef>
                </a:pPr>
                <a:r>
                  <a:rPr lang="en-US" sz="2000" dirty="0"/>
                  <a:t>Suppose we consider the bivariate experiment of observing a day of operations at DiCarlo Motors and recording the number of cars sold daily at the DiCarlo Motors automobile dealerships in Saratoga and Geneva, New York. </a:t>
                </a:r>
              </a:p>
              <a:p>
                <a:pPr>
                  <a:lnSpc>
                    <a:spcPct val="100000"/>
                  </a:lnSpc>
                  <a:spcBef>
                    <a:spcPts val="600"/>
                  </a:spcBef>
                </a:pPr>
                <a:r>
                  <a:rPr lang="en-US" sz="2000" dirty="0"/>
                  <a:t>Let us define,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m:t>
                    </m:r>
                  </m:oMath>
                </a14:m>
                <a:r>
                  <a:rPr lang="en-US" sz="2000" dirty="0"/>
                  <a:t> the number of cars sold at the Geneva dealership, and </a:t>
                </a:r>
                <a14:m>
                  <m:oMath xmlns:m="http://schemas.openxmlformats.org/officeDocument/2006/math">
                    <m:r>
                      <a:rPr lang="en-US" sz="2000" i="1" dirty="0" smtClean="0">
                        <a:latin typeface="Cambria Math" panose="02040503050406030204" pitchFamily="18" charset="0"/>
                      </a:rPr>
                      <m:t>𝑦</m:t>
                    </m:r>
                    <m:r>
                      <a:rPr lang="en-US" sz="2000" i="1" dirty="0" smtClean="0">
                        <a:latin typeface="Cambria Math" panose="02040503050406030204" pitchFamily="18" charset="0"/>
                      </a:rPr>
                      <m:t>=</m:t>
                    </m:r>
                  </m:oMath>
                </a14:m>
                <a:r>
                  <a:rPr lang="en-US" sz="2000" dirty="0"/>
                  <a:t> the number of cars sold at the Saratoga dealership.</a:t>
                </a:r>
              </a:p>
              <a:p>
                <a:pPr>
                  <a:lnSpc>
                    <a:spcPct val="100000"/>
                  </a:lnSpc>
                  <a:spcBef>
                    <a:spcPts val="600"/>
                  </a:spcBef>
                </a:pPr>
                <a:r>
                  <a:rPr lang="en-US" sz="2000" dirty="0"/>
                  <a:t>The table shows the number of cars sold (frequencies) at each of the dealerships over a 300-day period.</a:t>
                </a:r>
              </a:p>
            </p:txBody>
          </p:sp>
        </mc:Choice>
        <mc:Fallback xmlns="">
          <p:sp>
            <p:nvSpPr>
              <p:cNvPr id="5" name="Text Placeholder 4">
                <a:extLst>
                  <a:ext uri="{FF2B5EF4-FFF2-40B4-BE49-F238E27FC236}">
                    <a16:creationId xmlns:a16="http://schemas.microsoft.com/office/drawing/2014/main" id="{113F8C61-44CA-B624-487B-11499C1EF1E3}"/>
                  </a:ext>
                </a:extLst>
              </p:cNvPr>
              <p:cNvSpPr>
                <a:spLocks noGrp="1" noRot="1" noChangeAspect="1" noMove="1" noResize="1" noEditPoints="1" noAdjustHandles="1" noChangeArrowheads="1" noChangeShapeType="1" noTextEdit="1"/>
              </p:cNvSpPr>
              <p:nvPr>
                <p:ph type="body" sz="quarter" idx="15"/>
              </p:nvPr>
            </p:nvSpPr>
            <p:spPr>
              <a:xfrm>
                <a:off x="743576" y="1268083"/>
                <a:ext cx="10610224" cy="2380891"/>
              </a:xfrm>
              <a:blipFill>
                <a:blip r:embed="rId2"/>
                <a:stretch>
                  <a:fillRect l="-1493" t="-3069" b="-2813"/>
                </a:stretch>
              </a:blipFill>
            </p:spPr>
            <p:txBody>
              <a:bodyPr/>
              <a:lstStyle/>
              <a:p>
                <a:r>
                  <a:rPr lang="en-US">
                    <a:noFill/>
                  </a:rPr>
                  <a:t> </a:t>
                </a:r>
              </a:p>
            </p:txBody>
          </p:sp>
        </mc:Fallback>
      </mc:AlternateContent>
      <p:graphicFrame>
        <p:nvGraphicFramePr>
          <p:cNvPr id="4" name="Table 5">
            <a:extLst>
              <a:ext uri="{FF2B5EF4-FFF2-40B4-BE49-F238E27FC236}">
                <a16:creationId xmlns:a16="http://schemas.microsoft.com/office/drawing/2014/main" id="{3BB59FF3-0FCB-25AD-31D0-88BCE8902078}"/>
              </a:ext>
            </a:extLst>
          </p:cNvPr>
          <p:cNvGraphicFramePr>
            <a:graphicFrameLocks noGrp="1"/>
          </p:cNvGraphicFramePr>
          <p:nvPr>
            <p:ph type="tbl" sz="quarter" idx="16"/>
            <p:extLst>
              <p:ext uri="{D42A27DB-BD31-4B8C-83A1-F6EECF244321}">
                <p14:modId xmlns:p14="http://schemas.microsoft.com/office/powerpoint/2010/main" val="2967053193"/>
              </p:ext>
            </p:extLst>
          </p:nvPr>
        </p:nvGraphicFramePr>
        <p:xfrm>
          <a:off x="1035103" y="3775416"/>
          <a:ext cx="10121794" cy="2244662"/>
        </p:xfrm>
        <a:graphic>
          <a:graphicData uri="http://schemas.openxmlformats.org/drawingml/2006/table">
            <a:tbl>
              <a:tblPr firstRow="1" bandRow="1">
                <a:tableStyleId>{5C22544A-7EE6-4342-B048-85BDC9FD1C3A}</a:tableStyleId>
              </a:tblPr>
              <a:tblGrid>
                <a:gridCol w="2360973">
                  <a:extLst>
                    <a:ext uri="{9D8B030D-6E8A-4147-A177-3AD203B41FA5}">
                      <a16:colId xmlns:a16="http://schemas.microsoft.com/office/drawing/2014/main" val="2897711531"/>
                    </a:ext>
                  </a:extLst>
                </a:gridCol>
                <a:gridCol w="921794">
                  <a:extLst>
                    <a:ext uri="{9D8B030D-6E8A-4147-A177-3AD203B41FA5}">
                      <a16:colId xmlns:a16="http://schemas.microsoft.com/office/drawing/2014/main" val="1901359408"/>
                    </a:ext>
                  </a:extLst>
                </a:gridCol>
                <a:gridCol w="921794">
                  <a:extLst>
                    <a:ext uri="{9D8B030D-6E8A-4147-A177-3AD203B41FA5}">
                      <a16:colId xmlns:a16="http://schemas.microsoft.com/office/drawing/2014/main" val="764961786"/>
                    </a:ext>
                  </a:extLst>
                </a:gridCol>
                <a:gridCol w="2230057">
                  <a:extLst>
                    <a:ext uri="{9D8B030D-6E8A-4147-A177-3AD203B41FA5}">
                      <a16:colId xmlns:a16="http://schemas.microsoft.com/office/drawing/2014/main" val="3400848905"/>
                    </a:ext>
                  </a:extLst>
                </a:gridCol>
                <a:gridCol w="921794">
                  <a:extLst>
                    <a:ext uri="{9D8B030D-6E8A-4147-A177-3AD203B41FA5}">
                      <a16:colId xmlns:a16="http://schemas.microsoft.com/office/drawing/2014/main" val="150013668"/>
                    </a:ext>
                  </a:extLst>
                </a:gridCol>
                <a:gridCol w="921794">
                  <a:extLst>
                    <a:ext uri="{9D8B030D-6E8A-4147-A177-3AD203B41FA5}">
                      <a16:colId xmlns:a16="http://schemas.microsoft.com/office/drawing/2014/main" val="2010968560"/>
                    </a:ext>
                  </a:extLst>
                </a:gridCol>
                <a:gridCol w="921794">
                  <a:extLst>
                    <a:ext uri="{9D8B030D-6E8A-4147-A177-3AD203B41FA5}">
                      <a16:colId xmlns:a16="http://schemas.microsoft.com/office/drawing/2014/main" val="4043240061"/>
                    </a:ext>
                  </a:extLst>
                </a:gridCol>
                <a:gridCol w="921794">
                  <a:extLst>
                    <a:ext uri="{9D8B030D-6E8A-4147-A177-3AD203B41FA5}">
                      <a16:colId xmlns:a16="http://schemas.microsoft.com/office/drawing/2014/main" val="598610172"/>
                    </a:ext>
                  </a:extLst>
                </a:gridCol>
              </a:tblGrid>
              <a:tr h="320666">
                <a:tc>
                  <a:txBody>
                    <a:bodyPr/>
                    <a:lstStyle/>
                    <a:p>
                      <a:pPr algn="ctr" fontAlgn="b"/>
                      <a:endParaRPr lang="en-US" sz="20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70C0"/>
                          </a:solidFill>
                          <a:effectLst/>
                          <a:latin typeface="Calibri" panose="020F0502020204030204" pitchFamily="34" charset="0"/>
                        </a:rPr>
                        <a:t>Saratoga Dealership </a:t>
                      </a: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9271289"/>
                  </a:ext>
                </a:extLst>
              </a:tr>
              <a:tr h="320666">
                <a:tc>
                  <a:txBody>
                    <a:bodyPr/>
                    <a:lstStyle/>
                    <a:p>
                      <a:pPr algn="ctr" fontAlgn="b"/>
                      <a:r>
                        <a:rPr lang="en-US" sz="2000" b="1" i="0" u="none" strike="noStrike" dirty="0">
                          <a:solidFill>
                            <a:srgbClr val="0070C0"/>
                          </a:solidFill>
                          <a:effectLst/>
                          <a:latin typeface="Calibri" panose="020F0502020204030204" pitchFamily="34" charset="0"/>
                        </a:rPr>
                        <a:t>Geneva Dealership </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0</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1</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2</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3</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4</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5</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Total</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06140016"/>
                  </a:ext>
                </a:extLst>
              </a:tr>
              <a:tr h="320666">
                <a:tc>
                  <a:txBody>
                    <a:bodyPr/>
                    <a:lstStyle/>
                    <a:p>
                      <a:pPr algn="ctr" fontAlgn="b"/>
                      <a:r>
                        <a:rPr lang="en-US" sz="2000" b="0" i="0" u="none" strike="noStrike" dirty="0">
                          <a:solidFill>
                            <a:srgbClr val="000000"/>
                          </a:solidFill>
                          <a:effectLst/>
                          <a:latin typeface="Calibri" panose="020F0502020204030204" pitchFamily="34" charset="0"/>
                        </a:rPr>
                        <a:t>0</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21</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30</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24</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9</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86</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59053007"/>
                  </a:ext>
                </a:extLst>
              </a:tr>
              <a:tr h="320666">
                <a:tc>
                  <a:txBody>
                    <a:bodyPr/>
                    <a:lstStyle/>
                    <a:p>
                      <a:pPr algn="ctr" fontAlgn="b"/>
                      <a:r>
                        <a:rPr lang="en-US" sz="2000" b="0" i="0" u="none" strike="noStrike" dirty="0">
                          <a:solidFill>
                            <a:srgbClr val="000000"/>
                          </a:solidFill>
                          <a:effectLst/>
                          <a:latin typeface="Calibri" panose="020F0502020204030204" pitchFamily="34" charset="0"/>
                        </a:rPr>
                        <a:t>1</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21</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36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1</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111</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98262419"/>
                  </a:ext>
                </a:extLst>
              </a:tr>
              <a:tr h="320666">
                <a:tc>
                  <a:txBody>
                    <a:bodyPr/>
                    <a:lstStyle/>
                    <a:p>
                      <a:pPr algn="ctr" fontAlgn="b"/>
                      <a:r>
                        <a:rPr lang="en-US" sz="2000" b="0" i="0" u="none" strike="noStrike" dirty="0">
                          <a:solidFill>
                            <a:srgbClr val="000000"/>
                          </a:solidFill>
                          <a:effectLst/>
                          <a:latin typeface="Calibri" panose="020F0502020204030204" pitchFamily="34" charset="0"/>
                        </a:rPr>
                        <a:t>2</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9</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42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2</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77</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60683111"/>
                  </a:ext>
                </a:extLst>
              </a:tr>
              <a:tr h="320666">
                <a:tc>
                  <a:txBody>
                    <a:bodyPr/>
                    <a:lstStyle/>
                    <a:p>
                      <a:pPr algn="ctr" fontAlgn="b"/>
                      <a:r>
                        <a:rPr lang="en-US" sz="2000" b="0" i="0" u="none" strike="noStrike" dirty="0">
                          <a:solidFill>
                            <a:srgbClr val="000000"/>
                          </a:solidFill>
                          <a:effectLst/>
                          <a:latin typeface="Calibri" panose="020F0502020204030204" pitchFamily="34" charset="0"/>
                        </a:rPr>
                        <a:t>3</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3</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9</a:t>
                      </a:r>
                    </a:p>
                  </a:txBody>
                  <a:tcPr marL="6350" marR="6350" marT="6350" marB="0" anchor="ctr">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6</a:t>
                      </a:r>
                    </a:p>
                  </a:txBody>
                  <a:tcPr marL="6350" marR="6350" marT="6350" marB="0" anchor="ctr">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3</a:t>
                      </a:r>
                    </a:p>
                  </a:txBody>
                  <a:tcPr marL="6350" marR="6350" marT="6350" marB="0" anchor="ctr">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5</a:t>
                      </a:r>
                    </a:p>
                  </a:txBody>
                  <a:tcPr marL="6350" marR="6350" marT="6350" marB="0" anchor="ctr">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26</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80077421"/>
                  </a:ext>
                </a:extLst>
              </a:tr>
              <a:tr h="320666">
                <a:tc>
                  <a:txBody>
                    <a:bodyPr/>
                    <a:lstStyle/>
                    <a:p>
                      <a:pPr algn="ctr" fontAlgn="b"/>
                      <a:r>
                        <a:rPr lang="en-US" sz="2000" b="1" i="0" u="none" strike="noStrike" dirty="0">
                          <a:solidFill>
                            <a:srgbClr val="000000"/>
                          </a:solidFill>
                          <a:effectLst/>
                          <a:latin typeface="Calibri" panose="020F0502020204030204" pitchFamily="34" charset="0"/>
                        </a:rPr>
                        <a:t>Total</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54</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117</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72</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42</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12</a:t>
                      </a:r>
                    </a:p>
                  </a:txBody>
                  <a:tcPr marL="6350" marR="6350" marT="6350" marB="0" anchor="ctr">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3</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300</a:t>
                      </a:r>
                    </a:p>
                  </a:txBody>
                  <a:tcPr marL="6350" marR="6350" marT="6350" marB="0" anchor="ctr">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391716515"/>
                  </a:ext>
                </a:extLst>
              </a:tr>
            </a:tbl>
          </a:graphicData>
        </a:graphic>
      </p:graphicFrame>
    </p:spTree>
    <p:extLst>
      <p:ext uri="{BB962C8B-B14F-4D97-AF65-F5344CB8AC3E}">
        <p14:creationId xmlns:p14="http://schemas.microsoft.com/office/powerpoint/2010/main" val="29117277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66D0-468D-6624-8359-2FE6B102A2A6}"/>
              </a:ext>
            </a:extLst>
          </p:cNvPr>
          <p:cNvSpPr>
            <a:spLocks noGrp="1"/>
          </p:cNvSpPr>
          <p:nvPr>
            <p:ph type="title"/>
          </p:nvPr>
        </p:nvSpPr>
        <p:spPr/>
        <p:txBody>
          <a:bodyPr/>
          <a:lstStyle/>
          <a:p>
            <a:r>
              <a:rPr lang="en-US" sz="3200" dirty="0"/>
              <a:t>5.4 A Bivariate Empirical Discrete Probability Distribution for DiCarlo Motors</a:t>
            </a:r>
          </a:p>
        </p:txBody>
      </p:sp>
      <p:sp>
        <p:nvSpPr>
          <p:cNvPr id="5" name="Text Placeholder 4">
            <a:extLst>
              <a:ext uri="{FF2B5EF4-FFF2-40B4-BE49-F238E27FC236}">
                <a16:creationId xmlns:a16="http://schemas.microsoft.com/office/drawing/2014/main" id="{113F8C61-44CA-B624-487B-11499C1EF1E3}"/>
              </a:ext>
            </a:extLst>
          </p:cNvPr>
          <p:cNvSpPr>
            <a:spLocks noGrp="1"/>
          </p:cNvSpPr>
          <p:nvPr>
            <p:ph type="body" sz="quarter" idx="15"/>
          </p:nvPr>
        </p:nvSpPr>
        <p:spPr>
          <a:xfrm>
            <a:off x="631432" y="1577691"/>
            <a:ext cx="10610224" cy="1966823"/>
          </a:xfrm>
        </p:spPr>
        <p:txBody>
          <a:bodyPr/>
          <a:lstStyle/>
          <a:p>
            <a:r>
              <a:rPr lang="en-US" sz="2000" dirty="0"/>
              <a:t>If we divide all the frequencies by the 300 observations, we develop a </a:t>
            </a:r>
            <a:r>
              <a:rPr lang="en-US" sz="2000" b="1" dirty="0"/>
              <a:t>bivariate empirical discrete probability distribution </a:t>
            </a:r>
            <a:r>
              <a:rPr lang="en-US" sz="2000" dirty="0"/>
              <a:t>for automobile sales at the two DiCarlo dealerships.</a:t>
            </a:r>
          </a:p>
          <a:p>
            <a:r>
              <a:rPr lang="en-US" sz="2000" dirty="0"/>
              <a:t>The probabilities in the lower and right margins provide the marginal distributions for the DiCarlo Motors Saratoga and Geneva dealerships, respectively.</a:t>
            </a:r>
          </a:p>
          <a:p>
            <a:r>
              <a:rPr lang="en-US" sz="2000" dirty="0"/>
              <a:t>The probabilities in the table provide the bivariate probability distribution for sales at both dealerships.</a:t>
            </a:r>
          </a:p>
        </p:txBody>
      </p:sp>
      <p:graphicFrame>
        <p:nvGraphicFramePr>
          <p:cNvPr id="4" name="Table 5">
            <a:extLst>
              <a:ext uri="{FF2B5EF4-FFF2-40B4-BE49-F238E27FC236}">
                <a16:creationId xmlns:a16="http://schemas.microsoft.com/office/drawing/2014/main" id="{3BB59FF3-0FCB-25AD-31D0-88BCE8902078}"/>
              </a:ext>
            </a:extLst>
          </p:cNvPr>
          <p:cNvGraphicFramePr>
            <a:graphicFrameLocks noGrp="1"/>
          </p:cNvGraphicFramePr>
          <p:nvPr>
            <p:ph type="tbl" sz="quarter" idx="16"/>
            <p:extLst>
              <p:ext uri="{D42A27DB-BD31-4B8C-83A1-F6EECF244321}">
                <p14:modId xmlns:p14="http://schemas.microsoft.com/office/powerpoint/2010/main" val="2938259411"/>
              </p:ext>
            </p:extLst>
          </p:nvPr>
        </p:nvGraphicFramePr>
        <p:xfrm>
          <a:off x="870364" y="3610746"/>
          <a:ext cx="10451272" cy="2539946"/>
        </p:xfrm>
        <a:graphic>
          <a:graphicData uri="http://schemas.openxmlformats.org/drawingml/2006/table">
            <a:tbl>
              <a:tblPr firstRow="1" bandRow="1">
                <a:tableStyleId>{5C22544A-7EE6-4342-B048-85BDC9FD1C3A}</a:tableStyleId>
              </a:tblPr>
              <a:tblGrid>
                <a:gridCol w="2229350">
                  <a:extLst>
                    <a:ext uri="{9D8B030D-6E8A-4147-A177-3AD203B41FA5}">
                      <a16:colId xmlns:a16="http://schemas.microsoft.com/office/drawing/2014/main" val="2897711531"/>
                    </a:ext>
                  </a:extLst>
                </a:gridCol>
                <a:gridCol w="1214245">
                  <a:extLst>
                    <a:ext uri="{9D8B030D-6E8A-4147-A177-3AD203B41FA5}">
                      <a16:colId xmlns:a16="http://schemas.microsoft.com/office/drawing/2014/main" val="1901359408"/>
                    </a:ext>
                  </a:extLst>
                </a:gridCol>
                <a:gridCol w="966954">
                  <a:extLst>
                    <a:ext uri="{9D8B030D-6E8A-4147-A177-3AD203B41FA5}">
                      <a16:colId xmlns:a16="http://schemas.microsoft.com/office/drawing/2014/main" val="764961786"/>
                    </a:ext>
                  </a:extLst>
                </a:gridCol>
                <a:gridCol w="2172907">
                  <a:extLst>
                    <a:ext uri="{9D8B030D-6E8A-4147-A177-3AD203B41FA5}">
                      <a16:colId xmlns:a16="http://schemas.microsoft.com/office/drawing/2014/main" val="3400848905"/>
                    </a:ext>
                  </a:extLst>
                </a:gridCol>
                <a:gridCol w="966954">
                  <a:extLst>
                    <a:ext uri="{9D8B030D-6E8A-4147-A177-3AD203B41FA5}">
                      <a16:colId xmlns:a16="http://schemas.microsoft.com/office/drawing/2014/main" val="150013668"/>
                    </a:ext>
                  </a:extLst>
                </a:gridCol>
                <a:gridCol w="966954">
                  <a:extLst>
                    <a:ext uri="{9D8B030D-6E8A-4147-A177-3AD203B41FA5}">
                      <a16:colId xmlns:a16="http://schemas.microsoft.com/office/drawing/2014/main" val="2010968560"/>
                    </a:ext>
                  </a:extLst>
                </a:gridCol>
                <a:gridCol w="966954">
                  <a:extLst>
                    <a:ext uri="{9D8B030D-6E8A-4147-A177-3AD203B41FA5}">
                      <a16:colId xmlns:a16="http://schemas.microsoft.com/office/drawing/2014/main" val="4043240061"/>
                    </a:ext>
                  </a:extLst>
                </a:gridCol>
                <a:gridCol w="966954">
                  <a:extLst>
                    <a:ext uri="{9D8B030D-6E8A-4147-A177-3AD203B41FA5}">
                      <a16:colId xmlns:a16="http://schemas.microsoft.com/office/drawing/2014/main" val="598610172"/>
                    </a:ext>
                  </a:extLst>
                </a:gridCol>
              </a:tblGrid>
              <a:tr h="320666">
                <a:tc>
                  <a:txBody>
                    <a:bodyPr/>
                    <a:lstStyle/>
                    <a:p>
                      <a:pPr algn="ctr" fontAlgn="b"/>
                      <a:endParaRPr lang="en-US" sz="2000" b="1" i="0" u="none" strike="noStrike" dirty="0">
                        <a:solidFill>
                          <a:srgbClr val="0070C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2000" b="1" i="0" u="none" strike="noStrike" dirty="0">
                          <a:solidFill>
                            <a:srgbClr val="0070C0"/>
                          </a:solidFill>
                          <a:effectLst/>
                          <a:latin typeface="Calibri" panose="020F0502020204030204" pitchFamily="34" charset="0"/>
                        </a:rPr>
                        <a:t>Saratoga Dealership</a:t>
                      </a: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endParaRPr lang="en-US" sz="2000" b="1"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74320161"/>
                  </a:ext>
                </a:extLst>
              </a:tr>
              <a:tr h="320666">
                <a:tc>
                  <a:txBody>
                    <a:bodyPr/>
                    <a:lstStyle/>
                    <a:p>
                      <a:pPr algn="ctr" fontAlgn="b"/>
                      <a:r>
                        <a:rPr lang="en-US" sz="2000" b="1" i="0" u="none" strike="noStrike" dirty="0">
                          <a:solidFill>
                            <a:srgbClr val="0070C0"/>
                          </a:solidFill>
                          <a:effectLst/>
                          <a:latin typeface="Calibri" panose="020F0502020204030204" pitchFamily="34" charset="0"/>
                        </a:rPr>
                        <a:t>Geneva Dealership </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0</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1</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2</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3</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  4</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5</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1" i="0" u="none" strike="noStrike" dirty="0">
                          <a:solidFill>
                            <a:srgbClr val="000000"/>
                          </a:solidFill>
                          <a:effectLst/>
                          <a:latin typeface="Calibri" panose="020F0502020204030204" pitchFamily="34" charset="0"/>
                        </a:rPr>
                        <a:t>Total</a:t>
                      </a:r>
                    </a:p>
                  </a:txBody>
                  <a:tcPr marL="6350" marR="6350" marT="6350" marB="0" anchor="ctr">
                    <a:lnL w="12700" cmpd="sng">
                      <a:noFill/>
                    </a:lnL>
                    <a:lnR w="12700" cmpd="sng">
                      <a:noFill/>
                    </a:lnR>
                    <a:lnT w="381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06140016"/>
                  </a:ext>
                </a:extLst>
              </a:tr>
              <a:tr h="320666">
                <a:tc>
                  <a:txBody>
                    <a:bodyPr/>
                    <a:lstStyle/>
                    <a:p>
                      <a:pPr algn="ctr" fontAlgn="b"/>
                      <a:r>
                        <a:rPr lang="en-US" sz="2000" b="0" i="0" u="none" strike="noStrike" dirty="0">
                          <a:solidFill>
                            <a:srgbClr val="000000"/>
                          </a:solidFill>
                          <a:effectLst/>
                          <a:latin typeface="Calibri" panose="020F0502020204030204" pitchFamily="34" charset="0"/>
                        </a:rPr>
                        <a:t>0</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0.0700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0.1000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0.0800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0.0300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0.0067</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0.0000</a:t>
                      </a:r>
                    </a:p>
                  </a:txBody>
                  <a:tcPr marL="6350" marR="6350" marT="6350" marB="0" anchor="b">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2000" b="0" i="0" u="none" strike="noStrike">
                          <a:solidFill>
                            <a:srgbClr val="000000"/>
                          </a:solidFill>
                          <a:effectLst/>
                          <a:latin typeface="Calibri" panose="020F0502020204030204" pitchFamily="34" charset="0"/>
                        </a:rPr>
                        <a:t>0.2867</a:t>
                      </a:r>
                    </a:p>
                  </a:txBody>
                  <a:tcPr marL="6350" marR="6350" marT="6350" marB="0" anchor="b">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959053007"/>
                  </a:ext>
                </a:extLst>
              </a:tr>
              <a:tr h="320666">
                <a:tc>
                  <a:txBody>
                    <a:bodyPr/>
                    <a:lstStyle/>
                    <a:p>
                      <a:pPr algn="ctr" fontAlgn="b"/>
                      <a:r>
                        <a:rPr lang="en-US" sz="2000" b="0" i="0" u="none" strike="noStrike" dirty="0">
                          <a:solidFill>
                            <a:srgbClr val="000000"/>
                          </a:solidFill>
                          <a:effectLst/>
                          <a:latin typeface="Calibri" panose="020F0502020204030204" pitchFamily="34" charset="0"/>
                        </a:rPr>
                        <a:t>1</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0.0700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0.1200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0.1100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0.0600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0.0067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0.0033</a:t>
                      </a:r>
                    </a:p>
                  </a:txBody>
                  <a:tcPr marL="6350" marR="6350" marT="6350" marB="0" anchor="b">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2000" b="0" i="0" u="none" strike="noStrike">
                          <a:solidFill>
                            <a:srgbClr val="000000"/>
                          </a:solidFill>
                          <a:effectLst/>
                          <a:latin typeface="Calibri" panose="020F0502020204030204" pitchFamily="34" charset="0"/>
                        </a:rPr>
                        <a:t>0.3700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098262419"/>
                  </a:ext>
                </a:extLst>
              </a:tr>
              <a:tr h="320666">
                <a:tc>
                  <a:txBody>
                    <a:bodyPr/>
                    <a:lstStyle/>
                    <a:p>
                      <a:pPr algn="ctr" fontAlgn="b"/>
                      <a:r>
                        <a:rPr lang="en-US" sz="2000" b="0" i="0" u="none" strike="noStrike" dirty="0">
                          <a:solidFill>
                            <a:srgbClr val="000000"/>
                          </a:solidFill>
                          <a:effectLst/>
                          <a:latin typeface="Calibri" panose="020F0502020204030204" pitchFamily="34" charset="0"/>
                        </a:rPr>
                        <a:t>2</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0.0300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0.1400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0.0300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0.0400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0.0100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a:solidFill>
                            <a:srgbClr val="000000"/>
                          </a:solidFill>
                          <a:effectLst/>
                          <a:latin typeface="Calibri" panose="020F0502020204030204" pitchFamily="34" charset="0"/>
                        </a:rPr>
                        <a:t>0.0067</a:t>
                      </a:r>
                    </a:p>
                  </a:txBody>
                  <a:tcPr marL="6350" marR="6350" marT="6350" marB="0" anchor="b">
                    <a:lnL w="12700" cmpd="sng">
                      <a:noFill/>
                    </a:lnL>
                    <a:lnR w="12700" cap="flat" cmpd="sng" algn="ctr">
                      <a:solidFill>
                        <a:srgbClr val="0070C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2000" b="0" i="0" u="none" strike="noStrike">
                          <a:solidFill>
                            <a:srgbClr val="000000"/>
                          </a:solidFill>
                          <a:effectLst/>
                          <a:latin typeface="Calibri" panose="020F0502020204030204" pitchFamily="34" charset="0"/>
                        </a:rPr>
                        <a:t>0.2567</a:t>
                      </a:r>
                    </a:p>
                  </a:txBody>
                  <a:tcPr marL="6350" marR="6350" marT="6350" marB="0" anchor="b">
                    <a:lnL w="12700" cap="flat" cmpd="sng" algn="ctr">
                      <a:solidFill>
                        <a:srgbClr val="0070C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60683111"/>
                  </a:ext>
                </a:extLst>
              </a:tr>
              <a:tr h="320666">
                <a:tc>
                  <a:txBody>
                    <a:bodyPr/>
                    <a:lstStyle/>
                    <a:p>
                      <a:pPr algn="ctr" fontAlgn="b"/>
                      <a:r>
                        <a:rPr lang="en-US" sz="2000" b="0" i="0" u="none" strike="noStrike" dirty="0">
                          <a:solidFill>
                            <a:srgbClr val="000000"/>
                          </a:solidFill>
                          <a:effectLst/>
                          <a:latin typeface="Calibri" panose="020F0502020204030204" pitchFamily="34" charset="0"/>
                        </a:rPr>
                        <a:t>3</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0.0100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0.0300</a:t>
                      </a:r>
                    </a:p>
                  </a:txBody>
                  <a:tcPr marL="6350" marR="6350" marT="6350" marB="0" anchor="b">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0.0200</a:t>
                      </a:r>
                    </a:p>
                  </a:txBody>
                  <a:tcPr marL="6350" marR="6350" marT="6350" marB="0" anchor="b">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0.0100</a:t>
                      </a:r>
                    </a:p>
                  </a:txBody>
                  <a:tcPr marL="6350" marR="6350" marT="6350" marB="0" anchor="b">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0.0167</a:t>
                      </a:r>
                    </a:p>
                  </a:txBody>
                  <a:tcPr marL="6350" marR="6350" marT="6350" marB="0" anchor="b">
                    <a:lnL w="12700" cmpd="sng">
                      <a:noFill/>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0.0000</a:t>
                      </a:r>
                    </a:p>
                  </a:txBody>
                  <a:tcPr marL="6350" marR="6350" marT="6350" marB="0" anchor="b">
                    <a:lnL w="12700" cmpd="sng">
                      <a:noFill/>
                    </a:lnL>
                    <a:lnR w="12700" cap="flat" cmpd="sng" algn="ctr">
                      <a:solidFill>
                        <a:srgbClr val="0070C0"/>
                      </a:solidFill>
                      <a:prstDash val="solid"/>
                      <a:round/>
                      <a:headEnd type="none" w="med" len="med"/>
                      <a:tailEnd type="none" w="med" len="med"/>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r" fontAlgn="b"/>
                      <a:r>
                        <a:rPr lang="en-US" sz="2000" b="0" i="0" u="none" strike="noStrike">
                          <a:solidFill>
                            <a:srgbClr val="000000"/>
                          </a:solidFill>
                          <a:effectLst/>
                          <a:latin typeface="Calibri" panose="020F0502020204030204" pitchFamily="34" charset="0"/>
                        </a:rPr>
                        <a:t>0.0867</a:t>
                      </a:r>
                    </a:p>
                  </a:txBody>
                  <a:tcPr marL="6350" marR="6350" marT="6350" marB="0" anchor="b">
                    <a:lnL w="12700" cap="flat" cmpd="sng" algn="ctr">
                      <a:solidFill>
                        <a:srgbClr val="0070C0"/>
                      </a:solidFill>
                      <a:prstDash val="solid"/>
                      <a:round/>
                      <a:headEnd type="none" w="med" len="med"/>
                      <a:tailEnd type="none" w="med" len="med"/>
                    </a:lnL>
                    <a:lnR w="12700" cmpd="sng">
                      <a:noFill/>
                    </a:lnR>
                    <a:lnT w="12700" cmpd="sng">
                      <a:noFill/>
                    </a:lnT>
                    <a:lnB w="127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480077421"/>
                  </a:ext>
                </a:extLst>
              </a:tr>
              <a:tr h="615950">
                <a:tc>
                  <a:txBody>
                    <a:bodyPr/>
                    <a:lstStyle/>
                    <a:p>
                      <a:pPr algn="ctr" fontAlgn="b"/>
                      <a:r>
                        <a:rPr lang="en-US" sz="2000" b="1" i="0" u="none" strike="noStrike" dirty="0">
                          <a:solidFill>
                            <a:srgbClr val="000000"/>
                          </a:solidFill>
                          <a:effectLst/>
                          <a:latin typeface="Calibri" panose="020F0502020204030204" pitchFamily="34" charset="0"/>
                        </a:rPr>
                        <a:t>Total</a:t>
                      </a:r>
                    </a:p>
                  </a:txBody>
                  <a:tcPr marL="6350" marR="6350" marT="6350" marB="0" anchor="ctr">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2000" b="0" i="0" u="none" strike="noStrike" dirty="0">
                          <a:solidFill>
                            <a:srgbClr val="000000"/>
                          </a:solidFill>
                          <a:effectLst/>
                          <a:latin typeface="Calibri" panose="020F0502020204030204" pitchFamily="34" charset="0"/>
                        </a:rPr>
                        <a:t>     0.1800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0.3900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0.2400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0.1400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0.0400</a:t>
                      </a:r>
                    </a:p>
                  </a:txBody>
                  <a:tcPr marL="6350" marR="6350" marT="6350" marB="0" anchor="b">
                    <a:lnL w="12700" cmpd="sng">
                      <a:noFill/>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2000" b="0" i="0" u="none" strike="noStrike" dirty="0">
                          <a:solidFill>
                            <a:srgbClr val="000000"/>
                          </a:solidFill>
                          <a:effectLst/>
                          <a:latin typeface="Calibri" panose="020F0502020204030204" pitchFamily="34" charset="0"/>
                        </a:rPr>
                        <a:t>     0.0100</a:t>
                      </a:r>
                    </a:p>
                  </a:txBody>
                  <a:tcPr marL="6350" marR="6350" marT="6350" marB="0" anchor="b">
                    <a:lnL w="12700" cmpd="sng">
                      <a:noFill/>
                    </a:lnL>
                    <a:lnR w="12700" cap="flat" cmpd="sng" algn="ctr">
                      <a:solidFill>
                        <a:srgbClr val="0070C0"/>
                      </a:solidFill>
                      <a:prstDash val="solid"/>
                      <a:round/>
                      <a:headEnd type="none" w="med" len="med"/>
                      <a:tailEnd type="none" w="med" len="med"/>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2000" b="0" i="0" u="none" strike="noStrike" dirty="0">
                          <a:solidFill>
                            <a:srgbClr val="000000"/>
                          </a:solidFill>
                          <a:effectLst/>
                          <a:latin typeface="Calibri" panose="020F0502020204030204" pitchFamily="34" charset="0"/>
                        </a:rPr>
                        <a:t>1.0000</a:t>
                      </a:r>
                    </a:p>
                  </a:txBody>
                  <a:tcPr marL="6350" marR="6350" marT="6350" marB="0" anchor="b">
                    <a:lnL w="12700" cap="flat" cmpd="sng" algn="ctr">
                      <a:solidFill>
                        <a:srgbClr val="0070C0"/>
                      </a:solidFill>
                      <a:prstDash val="solid"/>
                      <a:round/>
                      <a:headEnd type="none" w="med" len="med"/>
                      <a:tailEnd type="none" w="med" len="med"/>
                    </a:lnL>
                    <a:lnR w="12700" cmpd="sng">
                      <a:noFill/>
                    </a:lnR>
                    <a:lnT w="12700" cap="flat" cmpd="sng" algn="ctr">
                      <a:solidFill>
                        <a:srgbClr val="0070C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391716515"/>
                  </a:ext>
                </a:extLst>
              </a:tr>
            </a:tbl>
          </a:graphicData>
        </a:graphic>
      </p:graphicFrame>
    </p:spTree>
    <p:extLst>
      <p:ext uri="{BB962C8B-B14F-4D97-AF65-F5344CB8AC3E}">
        <p14:creationId xmlns:p14="http://schemas.microsoft.com/office/powerpoint/2010/main" val="848136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A467A-7BA9-DBE0-578B-F97C00D8A664}"/>
              </a:ext>
            </a:extLst>
          </p:cNvPr>
          <p:cNvSpPr>
            <a:spLocks noGrp="1"/>
          </p:cNvSpPr>
          <p:nvPr>
            <p:ph type="title"/>
          </p:nvPr>
        </p:nvSpPr>
        <p:spPr/>
        <p:txBody>
          <a:bodyPr/>
          <a:lstStyle/>
          <a:p>
            <a:r>
              <a:rPr lang="en-US" sz="3200" dirty="0"/>
              <a:t>5.4 Probability Distribution for Total Daily Sales at DiCarlo Motors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5E0F50F-8C74-65F8-D541-8206B8920304}"/>
                  </a:ext>
                </a:extLst>
              </p:cNvPr>
              <p:cNvSpPr>
                <a:spLocks noGrp="1"/>
              </p:cNvSpPr>
              <p:nvPr>
                <p:ph type="body" sz="quarter" idx="15"/>
              </p:nvPr>
            </p:nvSpPr>
            <p:spPr>
              <a:xfrm>
                <a:off x="793193" y="1650312"/>
                <a:ext cx="10515599" cy="1067010"/>
              </a:xfrm>
            </p:spPr>
            <p:txBody>
              <a:bodyPr>
                <a:normAutofit/>
              </a:bodyPr>
              <a:lstStyle/>
              <a:p>
                <a:pPr>
                  <a:lnSpc>
                    <a:spcPct val="100000"/>
                  </a:lnSpc>
                  <a:spcBef>
                    <a:spcPts val="600"/>
                  </a:spcBef>
                </a:pPr>
                <a:r>
                  <a:rPr lang="en-US" sz="2000" dirty="0"/>
                  <a:t>Let us define the total sales at DiCarlo Motors as: </a:t>
                </a:r>
                <a14:m>
                  <m:oMath xmlns:m="http://schemas.openxmlformats.org/officeDocument/2006/math">
                    <m:r>
                      <a:rPr lang="en-US" sz="2000" i="1" dirty="0" smtClean="0">
                        <a:latin typeface="Cambria Math" panose="02040503050406030204" pitchFamily="18" charset="0"/>
                      </a:rPr>
                      <m:t>𝑠</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𝑦</m:t>
                    </m:r>
                  </m:oMath>
                </a14:m>
                <a:r>
                  <a:rPr lang="en-US" sz="2000" dirty="0"/>
                  <a:t>. </a:t>
                </a:r>
              </a:p>
              <a:p>
                <a:pPr>
                  <a:lnSpc>
                    <a:spcPct val="100000"/>
                  </a:lnSpc>
                  <a:spcBef>
                    <a:spcPts val="600"/>
                  </a:spcBef>
                </a:pPr>
                <a:r>
                  <a:rPr lang="en-US" sz="2000" dirty="0"/>
                  <a:t>From the bivariate probability distribution, we see that: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m:rPr>
                            <m:nor/>
                          </m:rPr>
                          <a:rPr lang="en-US" sz="2000" b="0" i="0" smtClean="0">
                            <a:latin typeface="Cambria Math" panose="02040503050406030204" pitchFamily="18" charset="0"/>
                          </a:rPr>
                          <m:t>s</m:t>
                        </m:r>
                        <m:r>
                          <m:rPr>
                            <m:nor/>
                          </m:rPr>
                          <a:rPr lang="en-US" sz="2000" b="0" i="0" smtClean="0">
                            <a:latin typeface="Cambria Math" panose="02040503050406030204" pitchFamily="18" charset="0"/>
                          </a:rPr>
                          <m:t>=0</m:t>
                        </m:r>
                      </m:e>
                    </m:d>
                    <m:r>
                      <a:rPr lang="en-US" sz="2000" b="0" i="1" smtClean="0">
                        <a:latin typeface="Cambria Math" panose="02040503050406030204" pitchFamily="18" charset="0"/>
                      </a:rPr>
                      <m:t>=0.0700</m:t>
                    </m:r>
                  </m:oMath>
                </a14:m>
                <a:r>
                  <a:rPr lang="en-US" sz="2000" dirty="0"/>
                  <a:t>, </a:t>
                </a:r>
                <a14:m>
                  <m:oMath xmlns:m="http://schemas.openxmlformats.org/officeDocument/2006/math">
                    <m:r>
                      <a:rPr lang="en-US" sz="2000" i="1">
                        <a:latin typeface="Cambria Math" panose="02040503050406030204" pitchFamily="18" charset="0"/>
                      </a:rPr>
                      <m:t>𝑓</m:t>
                    </m:r>
                    <m:d>
                      <m:dPr>
                        <m:ctrlPr>
                          <a:rPr lang="en-US" sz="2000" i="1">
                            <a:latin typeface="Cambria Math" panose="02040503050406030204" pitchFamily="18" charset="0"/>
                          </a:rPr>
                        </m:ctrlPr>
                      </m:dPr>
                      <m:e>
                        <m:r>
                          <m:rPr>
                            <m:nor/>
                          </m:rPr>
                          <a:rPr lang="en-US" sz="2000" b="0" i="0" smtClean="0">
                            <a:latin typeface="Cambria Math" panose="02040503050406030204" pitchFamily="18" charset="0"/>
                          </a:rPr>
                          <m:t>s</m:t>
                        </m:r>
                        <m:r>
                          <m:rPr>
                            <m:nor/>
                          </m:rPr>
                          <a:rPr lang="en-US" sz="2000" b="0" i="0" smtClean="0">
                            <a:latin typeface="Cambria Math" panose="02040503050406030204" pitchFamily="18" charset="0"/>
                          </a:rPr>
                          <m:t>=1</m:t>
                        </m:r>
                      </m:e>
                    </m:d>
                    <m:r>
                      <a:rPr lang="en-US" sz="2000" i="1">
                        <a:latin typeface="Cambria Math" panose="02040503050406030204" pitchFamily="18" charset="0"/>
                      </a:rPr>
                      <m:t>=0.0700</m:t>
                    </m:r>
                    <m:r>
                      <a:rPr lang="en-US" sz="2000" b="0" i="1" smtClean="0">
                        <a:latin typeface="Cambria Math" panose="02040503050406030204" pitchFamily="18" charset="0"/>
                      </a:rPr>
                      <m:t>+0.1000=0.1700</m:t>
                    </m:r>
                  </m:oMath>
                </a14:m>
                <a:r>
                  <a:rPr lang="en-US" sz="2000" dirty="0"/>
                  <a:t>, </a:t>
                </a:r>
                <a14:m>
                  <m:oMath xmlns:m="http://schemas.openxmlformats.org/officeDocument/2006/math">
                    <m:r>
                      <a:rPr lang="en-US" sz="2000" i="1">
                        <a:latin typeface="Cambria Math" panose="02040503050406030204" pitchFamily="18" charset="0"/>
                      </a:rPr>
                      <m:t>𝑓</m:t>
                    </m:r>
                    <m:d>
                      <m:dPr>
                        <m:ctrlPr>
                          <a:rPr lang="en-US" sz="2000" i="1">
                            <a:latin typeface="Cambria Math" panose="02040503050406030204" pitchFamily="18" charset="0"/>
                          </a:rPr>
                        </m:ctrlPr>
                      </m:dPr>
                      <m:e>
                        <m:r>
                          <m:rPr>
                            <m:nor/>
                          </m:rPr>
                          <a:rPr lang="en-US" sz="2000">
                            <a:latin typeface="Cambria Math" panose="02040503050406030204" pitchFamily="18" charset="0"/>
                          </a:rPr>
                          <m:t>s</m:t>
                        </m:r>
                        <m:r>
                          <m:rPr>
                            <m:nor/>
                          </m:rPr>
                          <a:rPr lang="en-US" sz="2000">
                            <a:latin typeface="Cambria Math" panose="02040503050406030204" pitchFamily="18" charset="0"/>
                          </a:rPr>
                          <m:t>=</m:t>
                        </m:r>
                        <m:r>
                          <a:rPr lang="en-US" sz="2000" b="0" i="1" smtClean="0">
                            <a:latin typeface="Cambria Math" panose="02040503050406030204" pitchFamily="18" charset="0"/>
                          </a:rPr>
                          <m:t>2</m:t>
                        </m:r>
                      </m:e>
                    </m:d>
                    <m:r>
                      <a:rPr lang="en-US" sz="2000" i="1">
                        <a:latin typeface="Cambria Math" panose="02040503050406030204" pitchFamily="18" charset="0"/>
                      </a:rPr>
                      <m:t>=0.0</m:t>
                    </m:r>
                    <m:r>
                      <a:rPr lang="en-US" sz="2000" b="0" i="1" smtClean="0">
                        <a:latin typeface="Cambria Math" panose="02040503050406030204" pitchFamily="18" charset="0"/>
                      </a:rPr>
                      <m:t>3</m:t>
                    </m:r>
                    <m:r>
                      <a:rPr lang="en-US" sz="2000" i="1">
                        <a:latin typeface="Cambria Math" panose="02040503050406030204" pitchFamily="18" charset="0"/>
                      </a:rPr>
                      <m:t>00+0.1</m:t>
                    </m:r>
                    <m:r>
                      <a:rPr lang="en-US" sz="2000" b="0" i="1" smtClean="0">
                        <a:latin typeface="Cambria Math" panose="02040503050406030204" pitchFamily="18" charset="0"/>
                      </a:rPr>
                      <m:t>2</m:t>
                    </m:r>
                    <m:r>
                      <a:rPr lang="en-US" sz="2000" i="1">
                        <a:latin typeface="Cambria Math" panose="02040503050406030204" pitchFamily="18" charset="0"/>
                      </a:rPr>
                      <m:t>00</m:t>
                    </m:r>
                    <m:r>
                      <a:rPr lang="en-US" sz="2000" b="0" i="1" smtClean="0">
                        <a:latin typeface="Cambria Math" panose="02040503050406030204" pitchFamily="18" charset="0"/>
                      </a:rPr>
                      <m:t>+0.0800</m:t>
                    </m:r>
                    <m:r>
                      <a:rPr lang="en-US" sz="2000" i="1">
                        <a:latin typeface="Cambria Math" panose="02040503050406030204" pitchFamily="18" charset="0"/>
                      </a:rPr>
                      <m:t>=0.</m:t>
                    </m:r>
                    <m:r>
                      <a:rPr lang="en-US" sz="2000" b="0" i="1" smtClean="0">
                        <a:latin typeface="Cambria Math" panose="02040503050406030204" pitchFamily="18" charset="0"/>
                      </a:rPr>
                      <m:t>23</m:t>
                    </m:r>
                    <m:r>
                      <a:rPr lang="en-US" sz="2000" i="1">
                        <a:latin typeface="Cambria Math" panose="02040503050406030204" pitchFamily="18" charset="0"/>
                      </a:rPr>
                      <m:t>00</m:t>
                    </m:r>
                  </m:oMath>
                </a14:m>
                <a:r>
                  <a:rPr lang="en-US" sz="2000" dirty="0"/>
                  <a:t>, and so on.</a:t>
                </a:r>
              </a:p>
            </p:txBody>
          </p:sp>
        </mc:Choice>
        <mc:Fallback xmlns="">
          <p:sp>
            <p:nvSpPr>
              <p:cNvPr id="3" name="Text Placeholder 2">
                <a:extLst>
                  <a:ext uri="{FF2B5EF4-FFF2-40B4-BE49-F238E27FC236}">
                    <a16:creationId xmlns:a16="http://schemas.microsoft.com/office/drawing/2014/main" id="{E5E0F50F-8C74-65F8-D541-8206B8920304}"/>
                  </a:ext>
                </a:extLst>
              </p:cNvPr>
              <p:cNvSpPr>
                <a:spLocks noGrp="1" noRot="1" noChangeAspect="1" noMove="1" noResize="1" noEditPoints="1" noAdjustHandles="1" noChangeArrowheads="1" noChangeShapeType="1" noTextEdit="1"/>
              </p:cNvSpPr>
              <p:nvPr>
                <p:ph type="body" sz="quarter" idx="15"/>
              </p:nvPr>
            </p:nvSpPr>
            <p:spPr>
              <a:xfrm>
                <a:off x="793193" y="1650312"/>
                <a:ext cx="10515599" cy="1067010"/>
              </a:xfrm>
              <a:blipFill>
                <a:blip r:embed="rId2"/>
                <a:stretch>
                  <a:fillRect l="-1449" t="-6857" b="-7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BF67CF93-3E47-9791-12E8-8E78EABF4B52}"/>
                  </a:ext>
                </a:extLst>
              </p:cNvPr>
              <p:cNvSpPr>
                <a:spLocks noGrp="1"/>
              </p:cNvSpPr>
              <p:nvPr>
                <p:ph type="body" sz="quarter" idx="18"/>
              </p:nvPr>
            </p:nvSpPr>
            <p:spPr>
              <a:xfrm>
                <a:off x="793194" y="2734574"/>
                <a:ext cx="3666663" cy="2987088"/>
              </a:xfrm>
            </p:spPr>
            <p:txBody>
              <a:bodyPr>
                <a:noAutofit/>
              </a:bodyPr>
              <a:lstStyle/>
              <a:p>
                <a:pPr>
                  <a:lnSpc>
                    <a:spcPct val="100000"/>
                  </a:lnSpc>
                  <a:spcBef>
                    <a:spcPts val="600"/>
                  </a:spcBef>
                  <a:spcAft>
                    <a:spcPts val="600"/>
                  </a:spcAft>
                </a:pPr>
                <a:r>
                  <a:rPr lang="en-US" sz="2000" dirty="0"/>
                  <a:t>The table to the right shows the complete probability distribution, along with the computation of the expected value and variance of total daily sales at DiCarlo Motors:</a:t>
                </a:r>
              </a:p>
              <a:p>
                <a:pPr marL="457200">
                  <a:lnSpc>
                    <a:spcPct val="100000"/>
                  </a:lnSpc>
                  <a:spcBef>
                    <a:spcPts val="600"/>
                  </a:spcBef>
                  <a:spcAft>
                    <a:spcPts val="600"/>
                  </a:spcAft>
                </a:pPr>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e>
                    </m:d>
                    <m:r>
                      <a:rPr lang="en-US" sz="2000" b="0" i="1" smtClean="0">
                        <a:latin typeface="Cambria Math" panose="02040503050406030204" pitchFamily="18" charset="0"/>
                      </a:rPr>
                      <m:t>=2.6433</m:t>
                    </m:r>
                  </m:oMath>
                </a14:m>
                <a:r>
                  <a:rPr lang="en-US" sz="2000" b="0" i="1" dirty="0">
                    <a:latin typeface="Cambria Math" panose="02040503050406030204" pitchFamily="18" charset="0"/>
                  </a:rPr>
                  <a:t> </a:t>
                </a:r>
              </a:p>
              <a:p>
                <a:pPr marL="457200">
                  <a:lnSpc>
                    <a:spcPct val="100000"/>
                  </a:lnSpc>
                  <a:spcBef>
                    <a:spcPts val="600"/>
                  </a:spcBef>
                  <a:spcAft>
                    <a:spcPts val="600"/>
                  </a:spcAft>
                </a:pPr>
                <a14:m>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e>
                    </m:d>
                    <m:r>
                      <a:rPr lang="en-US" sz="2000" b="0" i="1" smtClean="0">
                        <a:latin typeface="Cambria Math" panose="02040503050406030204" pitchFamily="18" charset="0"/>
                      </a:rPr>
                      <m:t>=2.3895</m:t>
                    </m:r>
                  </m:oMath>
                </a14:m>
                <a:r>
                  <a:rPr lang="en-US" sz="2000" dirty="0"/>
                  <a:t> </a:t>
                </a:r>
              </a:p>
            </p:txBody>
          </p:sp>
        </mc:Choice>
        <mc:Fallback xmlns="">
          <p:sp>
            <p:nvSpPr>
              <p:cNvPr id="4" name="Text Placeholder 3">
                <a:extLst>
                  <a:ext uri="{FF2B5EF4-FFF2-40B4-BE49-F238E27FC236}">
                    <a16:creationId xmlns:a16="http://schemas.microsoft.com/office/drawing/2014/main" id="{BF67CF93-3E47-9791-12E8-8E78EABF4B52}"/>
                  </a:ext>
                </a:extLst>
              </p:cNvPr>
              <p:cNvSpPr>
                <a:spLocks noGrp="1" noRot="1" noChangeAspect="1" noMove="1" noResize="1" noEditPoints="1" noAdjustHandles="1" noChangeArrowheads="1" noChangeShapeType="1" noTextEdit="1"/>
              </p:cNvSpPr>
              <p:nvPr>
                <p:ph type="body" sz="quarter" idx="18"/>
              </p:nvPr>
            </p:nvSpPr>
            <p:spPr>
              <a:xfrm>
                <a:off x="793194" y="2734574"/>
                <a:ext cx="3666663" cy="2987088"/>
              </a:xfrm>
              <a:blipFill>
                <a:blip r:embed="rId3"/>
                <a:stretch>
                  <a:fillRect l="-4153" t="-2449" r="-5648"/>
                </a:stretch>
              </a:blipFill>
            </p:spPr>
            <p:txBody>
              <a:bodyPr/>
              <a:lstStyle/>
              <a:p>
                <a:r>
                  <a:rPr lang="en-US">
                    <a:noFill/>
                  </a:rPr>
                  <a:t> </a:t>
                </a:r>
              </a:p>
            </p:txBody>
          </p:sp>
        </mc:Fallback>
      </mc:AlternateContent>
      <p:graphicFrame>
        <p:nvGraphicFramePr>
          <p:cNvPr id="6" name="Table 6">
            <a:extLst>
              <a:ext uri="{FF2B5EF4-FFF2-40B4-BE49-F238E27FC236}">
                <a16:creationId xmlns:a16="http://schemas.microsoft.com/office/drawing/2014/main" id="{40B17947-9F22-EE65-9A6C-660163C903D2}"/>
              </a:ext>
            </a:extLst>
          </p:cNvPr>
          <p:cNvGraphicFramePr>
            <a:graphicFrameLocks noGrp="1"/>
          </p:cNvGraphicFramePr>
          <p:nvPr>
            <p:ph type="tbl" sz="quarter" idx="22"/>
          </p:nvPr>
        </p:nvGraphicFramePr>
        <p:xfrm>
          <a:off x="4813540" y="2734574"/>
          <a:ext cx="6625086" cy="3172460"/>
        </p:xfrm>
        <a:graphic>
          <a:graphicData uri="http://schemas.openxmlformats.org/drawingml/2006/table">
            <a:tbl>
              <a:tblPr firstRow="1" bandRow="1">
                <a:tableStyleId>{5C22544A-7EE6-4342-B048-85BDC9FD1C3A}</a:tableStyleId>
              </a:tblPr>
              <a:tblGrid>
                <a:gridCol w="612475">
                  <a:extLst>
                    <a:ext uri="{9D8B030D-6E8A-4147-A177-3AD203B41FA5}">
                      <a16:colId xmlns:a16="http://schemas.microsoft.com/office/drawing/2014/main" val="269736174"/>
                    </a:ext>
                  </a:extLst>
                </a:gridCol>
                <a:gridCol w="905774">
                  <a:extLst>
                    <a:ext uri="{9D8B030D-6E8A-4147-A177-3AD203B41FA5}">
                      <a16:colId xmlns:a16="http://schemas.microsoft.com/office/drawing/2014/main" val="2198475435"/>
                    </a:ext>
                  </a:extLst>
                </a:gridCol>
                <a:gridCol w="1268083">
                  <a:extLst>
                    <a:ext uri="{9D8B030D-6E8A-4147-A177-3AD203B41FA5}">
                      <a16:colId xmlns:a16="http://schemas.microsoft.com/office/drawing/2014/main" val="3206919544"/>
                    </a:ext>
                  </a:extLst>
                </a:gridCol>
                <a:gridCol w="1181819">
                  <a:extLst>
                    <a:ext uri="{9D8B030D-6E8A-4147-A177-3AD203B41FA5}">
                      <a16:colId xmlns:a16="http://schemas.microsoft.com/office/drawing/2014/main" val="131521955"/>
                    </a:ext>
                  </a:extLst>
                </a:gridCol>
                <a:gridCol w="966158">
                  <a:extLst>
                    <a:ext uri="{9D8B030D-6E8A-4147-A177-3AD203B41FA5}">
                      <a16:colId xmlns:a16="http://schemas.microsoft.com/office/drawing/2014/main" val="2818086926"/>
                    </a:ext>
                  </a:extLst>
                </a:gridCol>
                <a:gridCol w="1690777">
                  <a:extLst>
                    <a:ext uri="{9D8B030D-6E8A-4147-A177-3AD203B41FA5}">
                      <a16:colId xmlns:a16="http://schemas.microsoft.com/office/drawing/2014/main" val="2475491831"/>
                    </a:ext>
                  </a:extLst>
                </a:gridCol>
              </a:tblGrid>
              <a:tr h="365760">
                <a:tc>
                  <a:txBody>
                    <a:bodyPr/>
                    <a:lstStyle/>
                    <a:p>
                      <a:pPr algn="ctr" fontAlgn="b"/>
                      <a:r>
                        <a:rPr lang="en-US" sz="1800" b="1" i="1" u="none" strike="noStrike" dirty="0">
                          <a:solidFill>
                            <a:srgbClr val="000000"/>
                          </a:solidFill>
                          <a:effectLst/>
                          <a:latin typeface="+mn-lt"/>
                        </a:rPr>
                        <a:t>s</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mn-lt"/>
                        </a:rPr>
                        <a:t>f</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mn-lt"/>
                        </a:rPr>
                        <a:t>s f</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 − </a:t>
                      </a:r>
                      <a:r>
                        <a:rPr lang="en-US" sz="1800" b="1" i="1" u="none" strike="noStrike" dirty="0">
                          <a:solidFill>
                            <a:srgbClr val="000000"/>
                          </a:solidFill>
                          <a:effectLst/>
                          <a:latin typeface="+mn-lt"/>
                        </a:rPr>
                        <a:t>E</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 − </a:t>
                      </a:r>
                      <a:r>
                        <a:rPr lang="en-US" sz="1800" b="1" i="1" u="none" strike="noStrike" dirty="0">
                          <a:solidFill>
                            <a:srgbClr val="000000"/>
                          </a:solidFill>
                          <a:effectLst/>
                          <a:latin typeface="+mn-lt"/>
                        </a:rPr>
                        <a:t>E</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a:t>
                      </a:r>
                      <a:r>
                        <a:rPr lang="en-US" sz="1800" b="1" i="0" u="none" strike="noStrike" baseline="30000" dirty="0">
                          <a:solidFill>
                            <a:srgbClr val="000000"/>
                          </a:solidFill>
                          <a:effectLst/>
                          <a:latin typeface="+mn-lt"/>
                        </a:rPr>
                        <a:t>2</a:t>
                      </a:r>
                      <a:endParaRPr lang="en-US" sz="1800" b="1"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pt-BR" sz="1800" b="1" i="0" u="none" strike="noStrike" dirty="0">
                          <a:solidFill>
                            <a:srgbClr val="000000"/>
                          </a:solidFill>
                          <a:effectLst/>
                          <a:latin typeface="+mn-lt"/>
                        </a:rPr>
                        <a:t>[s − </a:t>
                      </a:r>
                      <a:r>
                        <a:rPr lang="pt-BR" sz="1800" b="1" i="1" u="none" strike="noStrike" dirty="0">
                          <a:solidFill>
                            <a:srgbClr val="000000"/>
                          </a:solidFill>
                          <a:effectLst/>
                          <a:latin typeface="+mn-lt"/>
                        </a:rPr>
                        <a:t>E</a:t>
                      </a:r>
                      <a:r>
                        <a:rPr lang="pt-BR" sz="1800" b="1" i="0" u="none" strike="noStrike" dirty="0">
                          <a:solidFill>
                            <a:srgbClr val="000000"/>
                          </a:solidFill>
                          <a:effectLst/>
                          <a:latin typeface="+mn-lt"/>
                        </a:rPr>
                        <a:t>(</a:t>
                      </a:r>
                      <a:r>
                        <a:rPr lang="pt-BR" sz="1800" b="1" i="1" u="none" strike="noStrike" dirty="0">
                          <a:solidFill>
                            <a:srgbClr val="000000"/>
                          </a:solidFill>
                          <a:effectLst/>
                          <a:latin typeface="+mn-lt"/>
                        </a:rPr>
                        <a:t>s</a:t>
                      </a:r>
                      <a:r>
                        <a:rPr lang="pt-BR" sz="1800" b="1" i="0" u="none" strike="noStrike" dirty="0">
                          <a:solidFill>
                            <a:srgbClr val="000000"/>
                          </a:solidFill>
                          <a:effectLst/>
                          <a:latin typeface="+mn-lt"/>
                        </a:rPr>
                        <a:t>)]</a:t>
                      </a:r>
                      <a:r>
                        <a:rPr lang="pt-BR" sz="1800" b="1" i="0" u="none" strike="noStrike" baseline="30000" dirty="0">
                          <a:solidFill>
                            <a:srgbClr val="000000"/>
                          </a:solidFill>
                          <a:effectLst/>
                          <a:latin typeface="+mn-lt"/>
                        </a:rPr>
                        <a:t>2</a:t>
                      </a:r>
                      <a:r>
                        <a:rPr lang="pt-BR" sz="1800" b="1" i="0" u="none" strike="noStrike" dirty="0">
                          <a:solidFill>
                            <a:srgbClr val="000000"/>
                          </a:solidFill>
                          <a:effectLst/>
                          <a:latin typeface="+mn-lt"/>
                        </a:rPr>
                        <a:t> </a:t>
                      </a:r>
                      <a:r>
                        <a:rPr lang="pt-BR" sz="1800" b="1" i="1" u="none" strike="noStrike" dirty="0">
                          <a:solidFill>
                            <a:srgbClr val="000000"/>
                          </a:solidFill>
                          <a:effectLst/>
                          <a:latin typeface="+mn-lt"/>
                        </a:rPr>
                        <a:t>f</a:t>
                      </a:r>
                      <a:r>
                        <a:rPr lang="pt-BR" sz="1800" b="1" i="0" u="none" strike="noStrike" dirty="0">
                          <a:solidFill>
                            <a:srgbClr val="000000"/>
                          </a:solidFill>
                          <a:effectLst/>
                          <a:latin typeface="+mn-lt"/>
                        </a:rPr>
                        <a:t>(</a:t>
                      </a:r>
                      <a:r>
                        <a:rPr lang="pt-BR" sz="1800" b="1" i="1" u="none" strike="noStrike" dirty="0">
                          <a:solidFill>
                            <a:srgbClr val="000000"/>
                          </a:solidFill>
                          <a:effectLst/>
                          <a:latin typeface="+mn-lt"/>
                        </a:rPr>
                        <a:t>s</a:t>
                      </a:r>
                      <a:r>
                        <a:rPr lang="pt-BR" sz="1800" b="1" i="0" u="none" strike="noStrike" dirty="0">
                          <a:solidFill>
                            <a:srgbClr val="000000"/>
                          </a:solidFill>
                          <a:effectLst/>
                          <a:latin typeface="+mn-lt"/>
                        </a:rPr>
                        <a:t>)</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112687300"/>
                  </a:ext>
                </a:extLst>
              </a:tr>
              <a:tr h="224829">
                <a:tc>
                  <a:txBody>
                    <a:bodyPr/>
                    <a:lstStyle/>
                    <a:p>
                      <a:pPr algn="ctr" fontAlgn="b"/>
                      <a:r>
                        <a:rPr lang="en-US" sz="1800" b="0" i="0" u="none" strike="noStrike" dirty="0">
                          <a:solidFill>
                            <a:srgbClr val="000000"/>
                          </a:solidFill>
                          <a:effectLst/>
                          <a:latin typeface="+mn-lt"/>
                        </a:rPr>
                        <a:t>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0.0700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0.0000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-2.6433</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6.9872</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0.4891</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547217588"/>
                  </a:ext>
                </a:extLst>
              </a:tr>
              <a:tr h="224829">
                <a:tc>
                  <a:txBody>
                    <a:bodyPr/>
                    <a:lstStyle/>
                    <a:p>
                      <a:pPr algn="ctr" fontAlgn="b"/>
                      <a:r>
                        <a:rPr lang="en-US" sz="1800" b="0" i="0" u="none" strike="noStrike" dirty="0">
                          <a:solidFill>
                            <a:srgbClr val="000000"/>
                          </a:solidFill>
                          <a:effectLst/>
                          <a:latin typeface="+mn-lt"/>
                        </a:rPr>
                        <a:t>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0.1700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0.1700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-1.6433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2.7005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0.4591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824340078"/>
                  </a:ext>
                </a:extLst>
              </a:tr>
              <a:tr h="224829">
                <a:tc>
                  <a:txBody>
                    <a:bodyPr/>
                    <a:lstStyle/>
                    <a:p>
                      <a:pPr algn="ctr" fontAlgn="b"/>
                      <a:r>
                        <a:rPr lang="en-US" sz="1800" b="0" i="0" u="none" strike="noStrike" dirty="0">
                          <a:solidFill>
                            <a:srgbClr val="000000"/>
                          </a:solidFill>
                          <a:effectLst/>
                          <a:latin typeface="+mn-lt"/>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0.2300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0.4600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-0.6433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0.4139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0.0952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435289859"/>
                  </a:ext>
                </a:extLst>
              </a:tr>
              <a:tr h="224829">
                <a:tc>
                  <a:txBody>
                    <a:bodyPr/>
                    <a:lstStyle/>
                    <a:p>
                      <a:pPr algn="ctr" fontAlgn="b"/>
                      <a:r>
                        <a:rPr lang="en-US" sz="1800" b="0" i="0" u="none" strike="noStrike" dirty="0">
                          <a:solidFill>
                            <a:srgbClr val="000000"/>
                          </a:solidFill>
                          <a:effectLst/>
                          <a:latin typeface="+mn-lt"/>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0.2900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0.8700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mn-lt"/>
                        </a:rPr>
                        <a:t>0.3567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0.1272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0.0369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669886506"/>
                  </a:ext>
                </a:extLst>
              </a:tr>
              <a:tr h="224829">
                <a:tc>
                  <a:txBody>
                    <a:bodyPr/>
                    <a:lstStyle/>
                    <a:p>
                      <a:pPr algn="ctr" fontAlgn="b"/>
                      <a:r>
                        <a:rPr lang="en-US" sz="1800" b="0" i="0" u="none" strike="noStrike" dirty="0">
                          <a:solidFill>
                            <a:srgbClr val="000000"/>
                          </a:solidFill>
                          <a:effectLst/>
                          <a:latin typeface="+mn-lt"/>
                        </a:rPr>
                        <a:t>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0" i="0" u="none" strike="noStrike" dirty="0">
                          <a:solidFill>
                            <a:srgbClr val="000000"/>
                          </a:solidFill>
                          <a:effectLst/>
                          <a:latin typeface="+mn-lt"/>
                        </a:rPr>
                        <a:t>0.1267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0.5067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1.3567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1.8405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0.2331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516678869"/>
                  </a:ext>
                </a:extLst>
              </a:tr>
              <a:tr h="224829">
                <a:tc>
                  <a:txBody>
                    <a:bodyPr/>
                    <a:lstStyle/>
                    <a:p>
                      <a:pPr algn="ctr" fontAlgn="b"/>
                      <a:r>
                        <a:rPr lang="en-US" sz="1800" b="0" i="0" u="none" strike="noStrike" dirty="0">
                          <a:solidFill>
                            <a:srgbClr val="000000"/>
                          </a:solidFill>
                          <a:effectLst/>
                          <a:latin typeface="+mn-lt"/>
                        </a:rPr>
                        <a:t>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ctr"/>
                      <a:r>
                        <a:rPr lang="en-US" sz="1800" b="0" i="0" u="none" strike="noStrike" dirty="0">
                          <a:solidFill>
                            <a:srgbClr val="000000"/>
                          </a:solidFill>
                          <a:effectLst/>
                          <a:latin typeface="+mn-lt"/>
                        </a:rPr>
                        <a:t>0.0667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0.3333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2.3567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5.5539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0.3703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884912948"/>
                  </a:ext>
                </a:extLst>
              </a:tr>
              <a:tr h="224829">
                <a:tc>
                  <a:txBody>
                    <a:bodyPr/>
                    <a:lstStyle/>
                    <a:p>
                      <a:pPr algn="ctr" fontAlgn="b"/>
                      <a:r>
                        <a:rPr lang="en-US" sz="1800" b="0" i="0" u="none" strike="noStrike" dirty="0">
                          <a:solidFill>
                            <a:srgbClr val="000000"/>
                          </a:solidFill>
                          <a:effectLst/>
                          <a:latin typeface="+mn-lt"/>
                        </a:rPr>
                        <a:t>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0.0233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0.1400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3.3567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11.2672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0.2629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25369596"/>
                  </a:ext>
                </a:extLst>
              </a:tr>
              <a:tr h="224829">
                <a:tc>
                  <a:txBody>
                    <a:bodyPr/>
                    <a:lstStyle/>
                    <a:p>
                      <a:pPr algn="ctr" fontAlgn="b"/>
                      <a:r>
                        <a:rPr lang="en-US" sz="1800" b="0" i="0" u="none" strike="noStrike" dirty="0">
                          <a:solidFill>
                            <a:srgbClr val="000000"/>
                          </a:solidFill>
                          <a:effectLst/>
                          <a:latin typeface="+mn-lt"/>
                        </a:rPr>
                        <a:t>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0.0233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0.1633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4.3567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18.9805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0.4429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837092140"/>
                  </a:ext>
                </a:extLst>
              </a:tr>
              <a:tr h="224829">
                <a:tc>
                  <a:txBody>
                    <a:bodyPr/>
                    <a:lstStyle/>
                    <a:p>
                      <a:pPr algn="ctr" fontAlgn="b"/>
                      <a:r>
                        <a:rPr lang="en-US" sz="1800" b="0" i="0" u="none" strike="noStrike" dirty="0">
                          <a:solidFill>
                            <a:srgbClr val="000000"/>
                          </a:solidFill>
                          <a:effectLst/>
                          <a:latin typeface="+mn-lt"/>
                        </a:rPr>
                        <a:t>8</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0.0000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0.0000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5.3567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28.6939</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mn-lt"/>
                        </a:rPr>
                        <a:t>0.0000</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535861615"/>
                  </a:ext>
                </a:extLst>
              </a:tr>
              <a:tr h="224829">
                <a:tc>
                  <a:txBody>
                    <a:bodyPr/>
                    <a:lstStyle/>
                    <a:p>
                      <a:pPr algn="ctr" fontAlgn="b"/>
                      <a:endParaRPr lang="en-US" sz="18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8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mn-lt"/>
                        </a:rPr>
                        <a:t>E</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 = 2.6433</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8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800" b="0" i="0" u="none" strike="noStrike" dirty="0">
                        <a:solidFill>
                          <a:srgbClr val="000000"/>
                        </a:solidFill>
                        <a:effectLst/>
                        <a:latin typeface="+mn-lt"/>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mn-lt"/>
                        </a:rPr>
                        <a:t>Var</a:t>
                      </a:r>
                      <a:r>
                        <a:rPr lang="en-US" sz="1800" b="1" i="0" u="none" strike="noStrike" dirty="0">
                          <a:solidFill>
                            <a:srgbClr val="000000"/>
                          </a:solidFill>
                          <a:effectLst/>
                          <a:latin typeface="+mn-lt"/>
                        </a:rPr>
                        <a:t>(</a:t>
                      </a:r>
                      <a:r>
                        <a:rPr lang="en-US" sz="1800" b="1" i="1" u="none" strike="noStrike" dirty="0">
                          <a:solidFill>
                            <a:srgbClr val="000000"/>
                          </a:solidFill>
                          <a:effectLst/>
                          <a:latin typeface="+mn-lt"/>
                        </a:rPr>
                        <a:t>s</a:t>
                      </a:r>
                      <a:r>
                        <a:rPr lang="en-US" sz="1800" b="1" i="0" u="none" strike="noStrike" dirty="0">
                          <a:solidFill>
                            <a:srgbClr val="000000"/>
                          </a:solidFill>
                          <a:effectLst/>
                          <a:latin typeface="+mn-lt"/>
                        </a:rPr>
                        <a:t>) = 2.3895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949671134"/>
                  </a:ext>
                </a:extLst>
              </a:tr>
            </a:tbl>
          </a:graphicData>
        </a:graphic>
      </p:graphicFrame>
    </p:spTree>
    <p:extLst>
      <p:ext uri="{BB962C8B-B14F-4D97-AF65-F5344CB8AC3E}">
        <p14:creationId xmlns:p14="http://schemas.microsoft.com/office/powerpoint/2010/main" val="85267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2AA08-B6D3-882F-C79F-6C0BF9FB17E7}"/>
              </a:ext>
            </a:extLst>
          </p:cNvPr>
          <p:cNvSpPr>
            <a:spLocks noGrp="1"/>
          </p:cNvSpPr>
          <p:nvPr>
            <p:ph type="title"/>
          </p:nvPr>
        </p:nvSpPr>
        <p:spPr/>
        <p:txBody>
          <a:bodyPr/>
          <a:lstStyle/>
          <a:p>
            <a:r>
              <a:rPr lang="en-US" sz="3200" dirty="0"/>
              <a:t>5.4 Expected Value and Variance of Daily Sales at the Geneva Dealership</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F71A543-F912-F282-69D0-32842CF47D76}"/>
                  </a:ext>
                </a:extLst>
              </p:cNvPr>
              <p:cNvSpPr>
                <a:spLocks noGrp="1"/>
              </p:cNvSpPr>
              <p:nvPr>
                <p:ph type="body" sz="quarter" idx="15"/>
              </p:nvPr>
            </p:nvSpPr>
            <p:spPr>
              <a:xfrm>
                <a:off x="743576" y="1623837"/>
                <a:ext cx="10834511" cy="3388110"/>
              </a:xfrm>
            </p:spPr>
            <p:txBody>
              <a:bodyPr/>
              <a:lstStyle/>
              <a:p>
                <a:pPr>
                  <a:lnSpc>
                    <a:spcPct val="100000"/>
                  </a:lnSpc>
                  <a:spcBef>
                    <a:spcPts val="600"/>
                  </a:spcBef>
                </a:pPr>
                <a:r>
                  <a:rPr lang="en-US" sz="2000" dirty="0"/>
                  <a:t>With bivariate probability distributions, we often want to better understand the relationship existing between the two random variables by calculating the covariance and/or correlation coefficient as measures of association between two random variables.</a:t>
                </a:r>
              </a:p>
              <a:p>
                <a:pPr>
                  <a:lnSpc>
                    <a:spcPct val="100000"/>
                  </a:lnSpc>
                  <a:spcBef>
                    <a:spcPts val="600"/>
                  </a:spcBef>
                </a:pPr>
                <a:r>
                  <a:rPr lang="en-US" sz="2000" dirty="0"/>
                  <a:t>To calculate the covariance, we need </a:t>
                </a:r>
                <a14:m>
                  <m:oMath xmlns:m="http://schemas.openxmlformats.org/officeDocument/2006/math">
                    <m:r>
                      <a:rPr lang="en-US" sz="2000" i="1" dirty="0">
                        <a:latin typeface="Cambria Math" panose="02040503050406030204" pitchFamily="18" charset="0"/>
                      </a:rPr>
                      <m:t>𝑉𝑎𝑟</m:t>
                    </m:r>
                    <m:r>
                      <a:rPr lang="en-US" sz="2000" i="1" dirty="0">
                        <a:latin typeface="Cambria Math" panose="02040503050406030204" pitchFamily="18" charset="0"/>
                      </a:rPr>
                      <m:t>(</m:t>
                    </m:r>
                    <m:r>
                      <a:rPr lang="en-US" sz="2000" i="1" dirty="0">
                        <a:latin typeface="Cambria Math" panose="02040503050406030204" pitchFamily="18" charset="0"/>
                      </a:rPr>
                      <m:t>𝑥</m:t>
                    </m:r>
                    <m:r>
                      <a:rPr lang="en-US" sz="2000" i="1" dirty="0">
                        <a:latin typeface="Cambria Math" panose="02040503050406030204" pitchFamily="18" charset="0"/>
                      </a:rPr>
                      <m:t>)</m:t>
                    </m:r>
                  </m:oMath>
                </a14:m>
                <a:r>
                  <a:rPr lang="en-US" sz="2000" dirty="0"/>
                  <a:t>, </a:t>
                </a:r>
                <a14:m>
                  <m:oMath xmlns:m="http://schemas.openxmlformats.org/officeDocument/2006/math">
                    <m:r>
                      <a:rPr lang="en-US" sz="2000" i="1" dirty="0">
                        <a:latin typeface="Cambria Math" panose="02040503050406030204" pitchFamily="18" charset="0"/>
                      </a:rPr>
                      <m:t>𝑉𝑎𝑟</m:t>
                    </m:r>
                    <m:r>
                      <a:rPr lang="en-US" sz="2000" i="1" dirty="0">
                        <a:latin typeface="Cambria Math" panose="02040503050406030204" pitchFamily="18" charset="0"/>
                      </a:rPr>
                      <m:t>(</m:t>
                    </m:r>
                    <m:r>
                      <a:rPr lang="en-US" sz="2000" i="1" dirty="0">
                        <a:latin typeface="Cambria Math" panose="02040503050406030204" pitchFamily="18" charset="0"/>
                      </a:rPr>
                      <m:t>𝑦</m:t>
                    </m:r>
                    <m:r>
                      <a:rPr lang="en-US" sz="2000" i="1" dirty="0">
                        <a:latin typeface="Cambria Math" panose="02040503050406030204" pitchFamily="18" charset="0"/>
                      </a:rPr>
                      <m:t>)</m:t>
                    </m:r>
                  </m:oMath>
                </a14:m>
                <a:r>
                  <a:rPr lang="en-US" sz="2000" dirty="0"/>
                  <a:t>, and </a:t>
                </a:r>
                <a14:m>
                  <m:oMath xmlns:m="http://schemas.openxmlformats.org/officeDocument/2006/math">
                    <m:r>
                      <a:rPr lang="en-US" sz="2000" i="1" dirty="0">
                        <a:latin typeface="Cambria Math" panose="02040503050406030204" pitchFamily="18" charset="0"/>
                      </a:rPr>
                      <m:t>𝑉𝑎𝑟</m:t>
                    </m:r>
                    <m:r>
                      <a:rPr lang="en-US" sz="2000" i="1" dirty="0">
                        <a:latin typeface="Cambria Math" panose="02040503050406030204" pitchFamily="18" charset="0"/>
                      </a:rPr>
                      <m:t>(</m:t>
                    </m:r>
                    <m:r>
                      <a:rPr lang="en-US" sz="2000" i="1" dirty="0" smtClean="0">
                        <a:latin typeface="Cambria Math" panose="02040503050406030204" pitchFamily="18" charset="0"/>
                      </a:rPr>
                      <m:t>𝑠</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m:t>
                    </m:r>
                    <m:r>
                      <a:rPr lang="en-US" sz="2000" i="1" dirty="0" smtClean="0">
                        <a:latin typeface="Cambria Math" panose="02040503050406030204" pitchFamily="18" charset="0"/>
                      </a:rPr>
                      <m:t>𝑦</m:t>
                    </m:r>
                    <m:r>
                      <a:rPr lang="en-US" sz="2000" i="1" dirty="0">
                        <a:latin typeface="Cambria Math" panose="02040503050406030204" pitchFamily="18" charset="0"/>
                      </a:rPr>
                      <m:t>)</m:t>
                    </m:r>
                  </m:oMath>
                </a14:m>
                <a:r>
                  <a:rPr lang="en-US" sz="2000" dirty="0"/>
                  <a:t>. </a:t>
                </a:r>
              </a:p>
              <a:p>
                <a:pPr>
                  <a:lnSpc>
                    <a:spcPct val="100000"/>
                  </a:lnSpc>
                  <a:spcBef>
                    <a:spcPts val="600"/>
                  </a:spcBef>
                  <a:spcAft>
                    <a:spcPts val="600"/>
                  </a:spcAft>
                </a:pPr>
                <a:r>
                  <a:rPr lang="en-US" sz="2000" dirty="0"/>
                  <a:t>We have already computed the last two. Calculations of daily sales at the Geneva dealership follow:</a:t>
                </a:r>
              </a:p>
              <a:p>
                <a:pPr marL="457200">
                  <a:lnSpc>
                    <a:spcPct val="100000"/>
                  </a:lnSpc>
                  <a:spcBef>
                    <a:spcPts val="600"/>
                  </a:spcBef>
                  <a:spcAft>
                    <a:spcPts val="600"/>
                  </a:spcAft>
                </a:pPr>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=1.1435</m:t>
                    </m:r>
                  </m:oMath>
                </a14:m>
                <a:r>
                  <a:rPr lang="en-US" sz="2000" b="0" i="1" dirty="0">
                    <a:latin typeface="Cambria Math" panose="02040503050406030204" pitchFamily="18" charset="0"/>
                  </a:rPr>
                  <a:t> </a:t>
                </a:r>
              </a:p>
              <a:p>
                <a:pPr marL="457200">
                  <a:lnSpc>
                    <a:spcPct val="100000"/>
                  </a:lnSpc>
                  <a:spcBef>
                    <a:spcPts val="600"/>
                  </a:spcBef>
                  <a:spcAft>
                    <a:spcPts val="600"/>
                  </a:spcAft>
                </a:pPr>
                <a14:m>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=0.8696</m:t>
                    </m:r>
                  </m:oMath>
                </a14:m>
                <a:r>
                  <a:rPr lang="en-US" sz="2000" dirty="0"/>
                  <a:t>  </a:t>
                </a:r>
              </a:p>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panose="02040503050406030204" pitchFamily="18" charset="0"/>
                        </a:rPr>
                        <m:t>𝜎</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e>
                      </m:d>
                      <m:r>
                        <a:rPr lang="en-US" sz="2000" b="0" i="1" smtClean="0">
                          <a:latin typeface="Cambria Math" panose="02040503050406030204" pitchFamily="18" charset="0"/>
                          <a:ea typeface="Cambria Math" panose="02040503050406030204" pitchFamily="18" charset="0"/>
                        </a:rPr>
                        <m:t>=</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ea typeface="Cambria Math" panose="02040503050406030204" pitchFamily="18" charset="0"/>
                            </a:rPr>
                            <m:t>0.8696</m:t>
                          </m:r>
                        </m:e>
                      </m:rad>
                      <m:r>
                        <a:rPr lang="en-US" sz="2000" b="0" i="1" smtClean="0">
                          <a:latin typeface="Cambria Math" panose="02040503050406030204" pitchFamily="18" charset="0"/>
                        </a:rPr>
                        <m:t>=0.9325</m:t>
                      </m:r>
                    </m:oMath>
                  </m:oMathPara>
                </a14:m>
                <a:endParaRPr lang="en-US" sz="2000" dirty="0"/>
              </a:p>
            </p:txBody>
          </p:sp>
        </mc:Choice>
        <mc:Fallback xmlns="">
          <p:sp>
            <p:nvSpPr>
              <p:cNvPr id="3" name="Text Placeholder 2">
                <a:extLst>
                  <a:ext uri="{FF2B5EF4-FFF2-40B4-BE49-F238E27FC236}">
                    <a16:creationId xmlns:a16="http://schemas.microsoft.com/office/drawing/2014/main" id="{8F71A543-F912-F282-69D0-32842CF47D76}"/>
                  </a:ext>
                </a:extLst>
              </p:cNvPr>
              <p:cNvSpPr>
                <a:spLocks noGrp="1" noRot="1" noChangeAspect="1" noMove="1" noResize="1" noEditPoints="1" noAdjustHandles="1" noChangeArrowheads="1" noChangeShapeType="1" noTextEdit="1"/>
              </p:cNvSpPr>
              <p:nvPr>
                <p:ph type="body" sz="quarter" idx="15"/>
              </p:nvPr>
            </p:nvSpPr>
            <p:spPr>
              <a:xfrm>
                <a:off x="743576" y="1623837"/>
                <a:ext cx="10834511" cy="3388110"/>
              </a:xfrm>
              <a:blipFill>
                <a:blip r:embed="rId3"/>
                <a:stretch>
                  <a:fillRect l="-1463" t="-2158"/>
                </a:stretch>
              </a:blipFill>
            </p:spPr>
            <p:txBody>
              <a:bodyPr/>
              <a:lstStyle/>
              <a:p>
                <a:r>
                  <a:rPr lang="en-US">
                    <a:noFill/>
                  </a:rPr>
                  <a:t> </a:t>
                </a:r>
              </a:p>
            </p:txBody>
          </p:sp>
        </mc:Fallback>
      </mc:AlternateContent>
      <p:graphicFrame>
        <p:nvGraphicFramePr>
          <p:cNvPr id="5" name="Table 5">
            <a:extLst>
              <a:ext uri="{FF2B5EF4-FFF2-40B4-BE49-F238E27FC236}">
                <a16:creationId xmlns:a16="http://schemas.microsoft.com/office/drawing/2014/main" id="{5ADA569F-A5C2-B2E5-24B2-E4DFFFD39BEC}"/>
              </a:ext>
            </a:extLst>
          </p:cNvPr>
          <p:cNvGraphicFramePr>
            <a:graphicFrameLocks noGrp="1"/>
          </p:cNvGraphicFramePr>
          <p:nvPr>
            <p:ph type="tbl" sz="quarter" idx="16"/>
            <p:extLst>
              <p:ext uri="{D42A27DB-BD31-4B8C-83A1-F6EECF244321}">
                <p14:modId xmlns:p14="http://schemas.microsoft.com/office/powerpoint/2010/main" val="1033026056"/>
              </p:ext>
            </p:extLst>
          </p:nvPr>
        </p:nvGraphicFramePr>
        <p:xfrm>
          <a:off x="4339087" y="3472130"/>
          <a:ext cx="6789740" cy="222352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522422975"/>
                    </a:ext>
                  </a:extLst>
                </a:gridCol>
                <a:gridCol w="914400">
                  <a:extLst>
                    <a:ext uri="{9D8B030D-6E8A-4147-A177-3AD203B41FA5}">
                      <a16:colId xmlns:a16="http://schemas.microsoft.com/office/drawing/2014/main" val="474049012"/>
                    </a:ext>
                  </a:extLst>
                </a:gridCol>
                <a:gridCol w="1310092">
                  <a:extLst>
                    <a:ext uri="{9D8B030D-6E8A-4147-A177-3AD203B41FA5}">
                      <a16:colId xmlns:a16="http://schemas.microsoft.com/office/drawing/2014/main" val="867802750"/>
                    </a:ext>
                  </a:extLst>
                </a:gridCol>
                <a:gridCol w="1097280">
                  <a:extLst>
                    <a:ext uri="{9D8B030D-6E8A-4147-A177-3AD203B41FA5}">
                      <a16:colId xmlns:a16="http://schemas.microsoft.com/office/drawing/2014/main" val="3548614307"/>
                    </a:ext>
                  </a:extLst>
                </a:gridCol>
                <a:gridCol w="1097280">
                  <a:extLst>
                    <a:ext uri="{9D8B030D-6E8A-4147-A177-3AD203B41FA5}">
                      <a16:colId xmlns:a16="http://schemas.microsoft.com/office/drawing/2014/main" val="3102465790"/>
                    </a:ext>
                  </a:extLst>
                </a:gridCol>
                <a:gridCol w="1456288">
                  <a:extLst>
                    <a:ext uri="{9D8B030D-6E8A-4147-A177-3AD203B41FA5}">
                      <a16:colId xmlns:a16="http://schemas.microsoft.com/office/drawing/2014/main" val="2367528364"/>
                    </a:ext>
                  </a:extLst>
                </a:gridCol>
              </a:tblGrid>
              <a:tr h="457200">
                <a:tc>
                  <a:txBody>
                    <a:bodyPr/>
                    <a:lstStyle/>
                    <a:p>
                      <a:pPr algn="ctr" fontAlgn="b"/>
                      <a:r>
                        <a:rPr lang="en-US" sz="1800" b="1" i="1" u="none" strike="noStrike" dirty="0">
                          <a:solidFill>
                            <a:srgbClr val="000000"/>
                          </a:solidFill>
                          <a:effectLst/>
                          <a:latin typeface="Calibri" panose="020F0502020204030204" pitchFamily="34" charset="0"/>
                        </a:rPr>
                        <a:t>x</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Calibri" panose="020F0502020204030204" pitchFamily="34" charset="0"/>
                        </a:rPr>
                        <a:t>f</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Calibri" panose="020F0502020204030204" pitchFamily="34" charset="0"/>
                        </a:rPr>
                        <a:t>x f(x)</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 − </a:t>
                      </a:r>
                      <a:r>
                        <a:rPr lang="en-US" sz="1800" b="1" i="1" u="none" strike="noStrike" dirty="0">
                          <a:solidFill>
                            <a:srgbClr val="000000"/>
                          </a:solidFill>
                          <a:effectLst/>
                          <a:latin typeface="Calibri" panose="020F0502020204030204" pitchFamily="34" charset="0"/>
                        </a:rPr>
                        <a:t>E</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 − </a:t>
                      </a:r>
                      <a:r>
                        <a:rPr lang="en-US" sz="1800" b="1" i="1" u="none" strike="noStrike" dirty="0">
                          <a:solidFill>
                            <a:srgbClr val="000000"/>
                          </a:solidFill>
                          <a:effectLst/>
                          <a:latin typeface="Calibri" panose="020F0502020204030204" pitchFamily="34" charset="0"/>
                        </a:rPr>
                        <a:t>E</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a:t>
                      </a:r>
                      <a:r>
                        <a:rPr lang="en-US" sz="1800" b="1" i="0" u="none" strike="noStrike" baseline="30000" dirty="0">
                          <a:solidFill>
                            <a:srgbClr val="000000"/>
                          </a:solidFill>
                          <a:effectLst/>
                          <a:latin typeface="Calibri" panose="020F0502020204030204" pitchFamily="34" charset="0"/>
                        </a:rPr>
                        <a:t>2</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 − </a:t>
                      </a:r>
                      <a:r>
                        <a:rPr lang="en-US" sz="1800" b="1" i="1" u="none" strike="noStrike" dirty="0">
                          <a:solidFill>
                            <a:srgbClr val="000000"/>
                          </a:solidFill>
                          <a:effectLst/>
                          <a:latin typeface="Calibri" panose="020F0502020204030204" pitchFamily="34" charset="0"/>
                        </a:rPr>
                        <a:t>E</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a:t>
                      </a:r>
                      <a:r>
                        <a:rPr lang="en-US" sz="1800" b="1" i="0" u="none" strike="noStrike" baseline="30000" dirty="0">
                          <a:solidFill>
                            <a:srgbClr val="000000"/>
                          </a:solidFill>
                          <a:effectLst/>
                          <a:latin typeface="Calibri" panose="020F0502020204030204" pitchFamily="34" charset="0"/>
                        </a:rPr>
                        <a:t>2</a:t>
                      </a:r>
                      <a:r>
                        <a:rPr lang="en-US" sz="1800" b="1" i="0" u="none" strike="noStrike" dirty="0">
                          <a:solidFill>
                            <a:srgbClr val="000000"/>
                          </a:solidFill>
                          <a:effectLst/>
                          <a:latin typeface="Calibri" panose="020F0502020204030204" pitchFamily="34" charset="0"/>
                        </a:rPr>
                        <a:t> </a:t>
                      </a:r>
                      <a:r>
                        <a:rPr lang="en-US" sz="1800" b="1" i="1" u="none" strike="noStrike" dirty="0">
                          <a:solidFill>
                            <a:srgbClr val="000000"/>
                          </a:solidFill>
                          <a:effectLst/>
                          <a:latin typeface="Calibri" panose="020F0502020204030204" pitchFamily="34" charset="0"/>
                        </a:rPr>
                        <a:t>f</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a:t>
                      </a:r>
                    </a:p>
                  </a:txBody>
                  <a:tcPr marL="6350" marR="6350" marT="635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951324975"/>
                  </a:ext>
                </a:extLst>
              </a:tr>
              <a:tr h="353264">
                <a:tc>
                  <a:txBody>
                    <a:bodyPr/>
                    <a:lstStyle/>
                    <a:p>
                      <a:pPr algn="ctr" fontAlgn="b"/>
                      <a:r>
                        <a:rPr lang="en-US" sz="1800" b="0" i="0" u="none" strike="noStrike" dirty="0">
                          <a:solidFill>
                            <a:srgbClr val="000000"/>
                          </a:solidFill>
                          <a:effectLst/>
                          <a:latin typeface="Calibri" panose="020F0502020204030204" pitchFamily="34" charset="0"/>
                        </a:rPr>
                        <a:t>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0.2867</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Calibri" panose="020F0502020204030204" pitchFamily="34" charset="0"/>
                        </a:rPr>
                        <a:t>0.0000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-1.1435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Calibri" panose="020F0502020204030204" pitchFamily="34" charset="0"/>
                        </a:rPr>
                        <a:t>1.3076</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Calibri" panose="020F0502020204030204" pitchFamily="34" charset="0"/>
                        </a:rPr>
                        <a:t>0.3748</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602020564"/>
                  </a:ext>
                </a:extLst>
              </a:tr>
              <a:tr h="353264">
                <a:tc>
                  <a:txBody>
                    <a:bodyPr/>
                    <a:lstStyle/>
                    <a:p>
                      <a:pPr algn="ctr" fontAlgn="b"/>
                      <a:r>
                        <a:rPr lang="en-US" sz="1800" b="0" i="0" u="none" strike="noStrike" dirty="0">
                          <a:solidFill>
                            <a:srgbClr val="000000"/>
                          </a:solidFill>
                          <a:effectLst/>
                          <a:latin typeface="Calibri" panose="020F0502020204030204" pitchFamily="34" charset="0"/>
                        </a:rPr>
                        <a:t>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0.3700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0.3700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Calibri" panose="020F0502020204030204" pitchFamily="34" charset="0"/>
                        </a:rPr>
                        <a:t>-0.1435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0.0206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Calibri" panose="020F0502020204030204" pitchFamily="34" charset="0"/>
                        </a:rPr>
                        <a:t>0.0076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919665314"/>
                  </a:ext>
                </a:extLst>
              </a:tr>
              <a:tr h="353264">
                <a:tc>
                  <a:txBody>
                    <a:bodyPr/>
                    <a:lstStyle/>
                    <a:p>
                      <a:pPr algn="ctr" fontAlgn="b"/>
                      <a:r>
                        <a:rPr lang="en-US" sz="1800" b="0" i="0" u="none" strike="noStrike" dirty="0">
                          <a:solidFill>
                            <a:srgbClr val="000000"/>
                          </a:solidFill>
                          <a:effectLst/>
                          <a:latin typeface="Calibri" panose="020F050202020403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0.2567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0.5134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  0.8565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0.7336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a:solidFill>
                            <a:srgbClr val="000000"/>
                          </a:solidFill>
                          <a:effectLst/>
                          <a:latin typeface="Calibri" panose="020F0502020204030204" pitchFamily="34" charset="0"/>
                        </a:rPr>
                        <a:t>0.1883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848629440"/>
                  </a:ext>
                </a:extLst>
              </a:tr>
              <a:tr h="353264">
                <a:tc>
                  <a:txBody>
                    <a:bodyPr/>
                    <a:lstStyle/>
                    <a:p>
                      <a:pPr algn="ctr" fontAlgn="b"/>
                      <a:r>
                        <a:rPr lang="en-US" sz="1800" b="0" i="0" u="none" strike="noStrike" dirty="0">
                          <a:solidFill>
                            <a:srgbClr val="000000"/>
                          </a:solidFill>
                          <a:effectLst/>
                          <a:latin typeface="Calibri" panose="020F0502020204030204" pitchFamily="34" charset="0"/>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0.0867</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0.2601</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  1.8565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3.4466</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0.2988</a:t>
                      </a:r>
                    </a:p>
                  </a:txBody>
                  <a:tcPr marL="6350" marR="6350" marT="6350" marB="0"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536447804"/>
                  </a:ext>
                </a:extLst>
              </a:tr>
              <a:tr h="353264">
                <a:tc>
                  <a:txBody>
                    <a:bodyPr/>
                    <a:lstStyle/>
                    <a:p>
                      <a:pPr algn="ctr" fontAlgn="b"/>
                      <a:endParaRPr lang="en-US" sz="18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8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Calibri" panose="020F0502020204030204" pitchFamily="34" charset="0"/>
                        </a:rPr>
                        <a:t>E</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 = 1.1435</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8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endParaRPr lang="en-US" sz="18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1" i="1" u="none" strike="noStrike" dirty="0">
                          <a:solidFill>
                            <a:srgbClr val="000000"/>
                          </a:solidFill>
                          <a:effectLst/>
                          <a:latin typeface="Calibri" panose="020F0502020204030204" pitchFamily="34" charset="0"/>
                        </a:rPr>
                        <a:t>Var</a:t>
                      </a:r>
                      <a:r>
                        <a:rPr lang="en-US" sz="1800" b="1" i="0" u="none" strike="noStrike" dirty="0">
                          <a:solidFill>
                            <a:srgbClr val="000000"/>
                          </a:solidFill>
                          <a:effectLst/>
                          <a:latin typeface="Calibri" panose="020F0502020204030204" pitchFamily="34" charset="0"/>
                        </a:rPr>
                        <a:t>(</a:t>
                      </a:r>
                      <a:r>
                        <a:rPr lang="en-US" sz="1800" b="1" i="1" u="none" strike="noStrike" dirty="0">
                          <a:solidFill>
                            <a:srgbClr val="000000"/>
                          </a:solidFill>
                          <a:effectLst/>
                          <a:latin typeface="Calibri" panose="020F0502020204030204" pitchFamily="34" charset="0"/>
                        </a:rPr>
                        <a:t>x</a:t>
                      </a:r>
                      <a:r>
                        <a:rPr lang="en-US" sz="1800" b="1" i="0" u="none" strike="noStrike" dirty="0">
                          <a:solidFill>
                            <a:srgbClr val="000000"/>
                          </a:solidFill>
                          <a:effectLst/>
                          <a:latin typeface="Calibri" panose="020F0502020204030204" pitchFamily="34" charset="0"/>
                        </a:rPr>
                        <a:t>) = 0.8696</a:t>
                      </a:r>
                    </a:p>
                  </a:txBody>
                  <a:tcPr marL="6350" marR="6350" marT="6350" marB="0"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176719805"/>
                  </a:ext>
                </a:extLst>
              </a:tr>
            </a:tbl>
          </a:graphicData>
        </a:graphic>
      </p:graphicFrame>
    </p:spTree>
    <p:extLst>
      <p:ext uri="{BB962C8B-B14F-4D97-AF65-F5344CB8AC3E}">
        <p14:creationId xmlns:p14="http://schemas.microsoft.com/office/powerpoint/2010/main" val="2552995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B0677-4006-29C1-316A-AC83EE45F4D7}"/>
              </a:ext>
            </a:extLst>
          </p:cNvPr>
          <p:cNvSpPr>
            <a:spLocks noGrp="1"/>
          </p:cNvSpPr>
          <p:nvPr>
            <p:ph type="title"/>
          </p:nvPr>
        </p:nvSpPr>
        <p:spPr/>
        <p:txBody>
          <a:bodyPr/>
          <a:lstStyle/>
          <a:p>
            <a:r>
              <a:rPr lang="en-US" dirty="0"/>
              <a:t>5.4 Covariance and Correlation at DiCarlo Motors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FEADB77-4AFA-92B3-AD57-23DD64788EB1}"/>
                  </a:ext>
                </a:extLst>
              </p:cNvPr>
              <p:cNvSpPr>
                <a:spLocks noGrp="1"/>
              </p:cNvSpPr>
              <p:nvPr>
                <p:ph type="body" sz="quarter" idx="15"/>
              </p:nvPr>
            </p:nvSpPr>
            <p:spPr>
              <a:xfrm>
                <a:off x="740228" y="1366283"/>
                <a:ext cx="10711543" cy="4153786"/>
              </a:xfrm>
            </p:spPr>
            <p:txBody>
              <a:bodyPr/>
              <a:lstStyle/>
              <a:p>
                <a:pPr>
                  <a:spcBef>
                    <a:spcPts val="600"/>
                  </a:spcBef>
                  <a:spcAft>
                    <a:spcPts val="600"/>
                  </a:spcAft>
                </a:pPr>
                <a:r>
                  <a:rPr lang="en-US" sz="2000" dirty="0"/>
                  <a:t>The formula to compute the </a:t>
                </a:r>
                <a:r>
                  <a:rPr lang="en-US" sz="2000" b="1" dirty="0"/>
                  <a:t>covariance</a:t>
                </a:r>
                <a:r>
                  <a:rPr lang="en-US" sz="2000" dirty="0"/>
                  <a:t> between the random variables </a:t>
                </a:r>
                <a14:m>
                  <m:oMath xmlns:m="http://schemas.openxmlformats.org/officeDocument/2006/math">
                    <m:r>
                      <a:rPr lang="en-US" sz="2000" i="1" dirty="0" smtClean="0">
                        <a:latin typeface="Cambria Math" panose="02040503050406030204" pitchFamily="18" charset="0"/>
                      </a:rPr>
                      <m:t>𝑥</m:t>
                    </m:r>
                  </m:oMath>
                </a14:m>
                <a:r>
                  <a:rPr lang="en-US" sz="2000" dirty="0"/>
                  <a:t> and </a:t>
                </a:r>
                <a14:m>
                  <m:oMath xmlns:m="http://schemas.openxmlformats.org/officeDocument/2006/math">
                    <m:r>
                      <a:rPr lang="en-US" sz="2000" i="1" dirty="0" smtClean="0">
                        <a:latin typeface="Cambria Math" panose="02040503050406030204" pitchFamily="18" charset="0"/>
                      </a:rPr>
                      <m:t>𝑦</m:t>
                    </m:r>
                  </m:oMath>
                </a14:m>
                <a:r>
                  <a:rPr lang="en-US" sz="2000" dirty="0"/>
                  <a:t> is</a:t>
                </a:r>
              </a:p>
              <a:p>
                <a:pPr marL="457200">
                  <a:spcBef>
                    <a:spcPts val="600"/>
                  </a:spcBef>
                  <a:spcAft>
                    <a:spcPts val="600"/>
                  </a:spcAft>
                </a:pP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𝝈</m:t>
                        </m:r>
                      </m:e>
                      <m:sub>
                        <m:r>
                          <a:rPr lang="en-US" sz="2000" b="1" i="1" smtClean="0">
                            <a:latin typeface="Cambria Math" panose="02040503050406030204" pitchFamily="18" charset="0"/>
                          </a:rPr>
                          <m:t>𝒙𝒚</m:t>
                        </m:r>
                      </m:sub>
                    </m:sSub>
                    <m:r>
                      <a:rPr lang="en-US" sz="2000" b="1" i="1" smtClean="0">
                        <a:latin typeface="Cambria Math" panose="02040503050406030204" pitchFamily="18" charset="0"/>
                      </a:rPr>
                      <m:t>=</m:t>
                    </m:r>
                    <m:f>
                      <m:fPr>
                        <m:type m:val="lin"/>
                        <m:ctrlPr>
                          <a:rPr lang="en-US" sz="2000" b="1" i="1" smtClean="0">
                            <a:latin typeface="Cambria Math" panose="02040503050406030204" pitchFamily="18" charset="0"/>
                          </a:rPr>
                        </m:ctrlPr>
                      </m:fPr>
                      <m:num>
                        <m:d>
                          <m:dPr>
                            <m:begChr m:val="["/>
                            <m:endChr m:val="]"/>
                            <m:ctrlPr>
                              <a:rPr lang="en-US" sz="2000" b="1" i="1" smtClean="0">
                                <a:latin typeface="Cambria Math" panose="02040503050406030204" pitchFamily="18" charset="0"/>
                              </a:rPr>
                            </m:ctrlPr>
                          </m:dPr>
                          <m:e>
                            <m:r>
                              <a:rPr lang="en-US" sz="2000" b="1" i="1" smtClean="0">
                                <a:latin typeface="Cambria Math" panose="02040503050406030204" pitchFamily="18" charset="0"/>
                              </a:rPr>
                              <m:t>𝑽𝒂𝒓</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e>
                            </m:d>
                            <m:r>
                              <a:rPr lang="en-US" sz="2000" b="1" i="1" smtClean="0">
                                <a:latin typeface="Cambria Math" panose="02040503050406030204" pitchFamily="18" charset="0"/>
                              </a:rPr>
                              <m:t>−</m:t>
                            </m:r>
                            <m:r>
                              <a:rPr lang="en-US" sz="2000" b="1" i="1" smtClean="0">
                                <a:latin typeface="Cambria Math" panose="02040503050406030204" pitchFamily="18" charset="0"/>
                              </a:rPr>
                              <m:t>𝑽𝒂𝒓</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𝒙</m:t>
                                </m:r>
                              </m:e>
                            </m:d>
                            <m:r>
                              <a:rPr lang="en-US" sz="2000" b="1" i="1" smtClean="0">
                                <a:latin typeface="Cambria Math" panose="02040503050406030204" pitchFamily="18" charset="0"/>
                              </a:rPr>
                              <m:t>−</m:t>
                            </m:r>
                            <m:r>
                              <a:rPr lang="en-US" sz="2000" b="1" i="1" smtClean="0">
                                <a:latin typeface="Cambria Math" panose="02040503050406030204" pitchFamily="18" charset="0"/>
                              </a:rPr>
                              <m:t>𝑽𝒂𝒓</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e>
                        </m:d>
                      </m:num>
                      <m:den>
                        <m:r>
                          <a:rPr lang="en-US" sz="2000" b="1" i="1" smtClean="0">
                            <a:latin typeface="Cambria Math" panose="02040503050406030204" pitchFamily="18" charset="0"/>
                          </a:rPr>
                          <m:t>𝟐</m:t>
                        </m:r>
                      </m:den>
                    </m:f>
                  </m:oMath>
                </a14:m>
                <a:r>
                  <a:rPr lang="en-US" sz="2000" dirty="0"/>
                  <a:t> </a:t>
                </a:r>
                <a14:m>
                  <m:oMath xmlns:m="http://schemas.openxmlformats.org/officeDocument/2006/math">
                    <m:r>
                      <a:rPr lang="en-US" sz="2000" b="0" i="1" smtClean="0">
                        <a:latin typeface="Cambria Math" panose="02040503050406030204" pitchFamily="18" charset="0"/>
                      </a:rPr>
                      <m:t>=</m:t>
                    </m:r>
                    <m:f>
                      <m:fPr>
                        <m:type m:val="lin"/>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r>
                              <a:rPr lang="en-US" sz="2000" b="0" i="1" smtClean="0">
                                <a:latin typeface="Cambria Math" panose="02040503050406030204" pitchFamily="18" charset="0"/>
                              </a:rPr>
                              <m:t>2.3895−0.8696−1.25</m:t>
                            </m:r>
                          </m:e>
                        </m:d>
                      </m:num>
                      <m:den>
                        <m:r>
                          <a:rPr lang="en-US" sz="2000" b="0" i="1" smtClean="0">
                            <a:latin typeface="Cambria Math" panose="02040503050406030204" pitchFamily="18" charset="0"/>
                          </a:rPr>
                          <m:t>2</m:t>
                        </m:r>
                      </m:den>
                    </m:f>
                    <m:r>
                      <a:rPr lang="en-US" sz="2000" b="0" i="1" smtClean="0">
                        <a:latin typeface="Cambria Math" panose="02040503050406030204" pitchFamily="18" charset="0"/>
                      </a:rPr>
                      <m:t>=0.1350</m:t>
                    </m:r>
                  </m:oMath>
                </a14:m>
                <a:r>
                  <a:rPr lang="en-US" sz="2000" dirty="0"/>
                  <a:t> </a:t>
                </a:r>
              </a:p>
              <a:p>
                <a:pPr>
                  <a:spcBef>
                    <a:spcPts val="600"/>
                  </a:spcBef>
                </a:pPr>
                <a:r>
                  <a:rPr lang="en-US" sz="2000" dirty="0"/>
                  <a:t>The covariance of 0.1350 indicates that daily sales at DiCarlo’s two dealerships have a pos­itive relationship, but it is not suitable to get a sense of the strength of such relationship.</a:t>
                </a:r>
              </a:p>
              <a:p>
                <a:pPr>
                  <a:spcBef>
                    <a:spcPts val="600"/>
                  </a:spcBef>
                  <a:spcAft>
                    <a:spcPts val="600"/>
                  </a:spcAft>
                </a:pPr>
                <a:r>
                  <a:rPr lang="en-US" sz="2000" dirty="0">
                    <a:latin typeface="Arial" panose="020B0604020202020204" pitchFamily="34" charset="0"/>
                    <a:cs typeface="Arial" panose="020B0604020202020204" pitchFamily="34" charset="0"/>
                  </a:rPr>
                  <a:t>To assess the strength of a relationship, we use the </a:t>
                </a:r>
                <a:r>
                  <a:rPr lang="en-US" sz="2000" b="1" dirty="0">
                    <a:latin typeface="Arial" panose="020B0604020202020204" pitchFamily="34" charset="0"/>
                    <a:cs typeface="Arial" panose="020B0604020202020204" pitchFamily="34" charset="0"/>
                  </a:rPr>
                  <a:t>correlation coefficient </a:t>
                </a:r>
                <a:r>
                  <a:rPr lang="en-US" sz="2000" dirty="0">
                    <a:latin typeface="Arial" panose="020B0604020202020204" pitchFamily="34" charset="0"/>
                    <a:cs typeface="Arial" panose="020B0604020202020204" pitchFamily="34" charset="0"/>
                  </a:rPr>
                  <a:t>between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and </a:t>
                </a:r>
                <a:r>
                  <a:rPr lang="en-US" sz="2000" i="1" dirty="0">
                    <a:latin typeface="Arial" panose="020B0604020202020204" pitchFamily="34" charset="0"/>
                    <a:cs typeface="Arial" panose="020B0604020202020204" pitchFamily="34" charset="0"/>
                  </a:rPr>
                  <a:t>y</a:t>
                </a:r>
                <a:endParaRPr lang="en-US" sz="2000" dirty="0">
                  <a:latin typeface="Arial" panose="020B0604020202020204" pitchFamily="34" charset="0"/>
                  <a:cs typeface="Arial" panose="020B0604020202020204" pitchFamily="34" charset="0"/>
                </a:endParaRPr>
              </a:p>
              <a:p>
                <a:pPr marL="4572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𝝆</m:t>
                          </m:r>
                        </m:e>
                        <m:sub>
                          <m:r>
                            <a:rPr lang="en-US" sz="2000" b="1" i="1">
                              <a:latin typeface="Cambria Math" panose="02040503050406030204" pitchFamily="18" charset="0"/>
                            </a:rPr>
                            <m:t>𝒙𝒚</m:t>
                          </m:r>
                        </m:sub>
                      </m:sSub>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𝝈</m:t>
                              </m:r>
                            </m:e>
                            <m:sub>
                              <m:r>
                                <a:rPr lang="en-US" sz="2000" b="1" i="1">
                                  <a:latin typeface="Cambria Math" panose="02040503050406030204" pitchFamily="18" charset="0"/>
                                </a:rPr>
                                <m:t>𝒙𝒚</m:t>
                              </m:r>
                            </m:sub>
                          </m:sSub>
                        </m:num>
                        <m:den>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𝝈</m:t>
                              </m:r>
                            </m:e>
                            <m:sub>
                              <m:r>
                                <a:rPr lang="en-US" sz="2000" b="1" i="1">
                                  <a:latin typeface="Cambria Math" panose="02040503050406030204" pitchFamily="18" charset="0"/>
                                </a:rPr>
                                <m:t>𝒙</m:t>
                              </m:r>
                            </m:sub>
                          </m:sSub>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𝝈</m:t>
                              </m:r>
                            </m:e>
                            <m:sub>
                              <m:r>
                                <a:rPr lang="en-US" sz="2000" b="1" i="1" smtClean="0">
                                  <a:latin typeface="Cambria Math" panose="02040503050406030204" pitchFamily="18" charset="0"/>
                                </a:rPr>
                                <m:t>𝒚</m:t>
                              </m:r>
                            </m:sub>
                          </m:sSub>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0.1350</m:t>
                          </m:r>
                        </m:num>
                        <m:den>
                          <m:r>
                            <a:rPr lang="en-US" sz="2000" b="0" i="1" smtClean="0">
                              <a:latin typeface="Cambria Math" panose="02040503050406030204" pitchFamily="18" charset="0"/>
                            </a:rPr>
                            <m:t>(0.9325)(1.118)</m:t>
                          </m:r>
                        </m:den>
                      </m:f>
                      <m:r>
                        <a:rPr lang="en-US" sz="2000" b="0" i="1" smtClean="0">
                          <a:latin typeface="Cambria Math" panose="02040503050406030204" pitchFamily="18" charset="0"/>
                        </a:rPr>
                        <m:t>=0.1295</m:t>
                      </m:r>
                    </m:oMath>
                  </m:oMathPara>
                </a14:m>
                <a:endParaRPr lang="en-US" sz="2000" dirty="0"/>
              </a:p>
              <a:p>
                <a:pPr>
                  <a:spcBef>
                    <a:spcPts val="600"/>
                  </a:spcBef>
                </a:pPr>
                <a:r>
                  <a:rPr lang="en-US" sz="2000" dirty="0"/>
                  <a:t>A correlation coefficient of .1295 indicates that there is a weak positive relationship between the random variables representing daily sales at the two DiCarlo dealerships.</a:t>
                </a:r>
              </a:p>
              <a:p>
                <a:pPr>
                  <a:spcBef>
                    <a:spcPts val="600"/>
                  </a:spcBef>
                </a:pPr>
                <a:r>
                  <a:rPr lang="en-US" sz="2000" dirty="0"/>
                  <a:t>If the correlation coefficient had equaled zero, we would have concluded that daily sales at the two dealerships were independent.</a:t>
                </a:r>
              </a:p>
            </p:txBody>
          </p:sp>
        </mc:Choice>
        <mc:Fallback xmlns="">
          <p:sp>
            <p:nvSpPr>
              <p:cNvPr id="3" name="Text Placeholder 2">
                <a:extLst>
                  <a:ext uri="{FF2B5EF4-FFF2-40B4-BE49-F238E27FC236}">
                    <a16:creationId xmlns:a16="http://schemas.microsoft.com/office/drawing/2014/main" id="{DFEADB77-4AFA-92B3-AD57-23DD64788EB1}"/>
                  </a:ext>
                </a:extLst>
              </p:cNvPr>
              <p:cNvSpPr>
                <a:spLocks noGrp="1" noRot="1" noChangeAspect="1" noMove="1" noResize="1" noEditPoints="1" noAdjustHandles="1" noChangeArrowheads="1" noChangeShapeType="1" noTextEdit="1"/>
              </p:cNvSpPr>
              <p:nvPr>
                <p:ph type="body" sz="quarter" idx="15"/>
              </p:nvPr>
            </p:nvSpPr>
            <p:spPr>
              <a:xfrm>
                <a:off x="740228" y="1366283"/>
                <a:ext cx="10711543" cy="4153786"/>
              </a:xfrm>
              <a:blipFill>
                <a:blip r:embed="rId2"/>
                <a:stretch>
                  <a:fillRect l="-1422" t="-1760" r="-1991" b="-3079"/>
                </a:stretch>
              </a:blipFill>
            </p:spPr>
            <p:txBody>
              <a:bodyPr/>
              <a:lstStyle/>
              <a:p>
                <a:r>
                  <a:rPr lang="en-US">
                    <a:noFill/>
                  </a:rPr>
                  <a:t> </a:t>
                </a:r>
              </a:p>
            </p:txBody>
          </p:sp>
        </mc:Fallback>
      </mc:AlternateContent>
    </p:spTree>
    <p:extLst>
      <p:ext uri="{BB962C8B-B14F-4D97-AF65-F5344CB8AC3E}">
        <p14:creationId xmlns:p14="http://schemas.microsoft.com/office/powerpoint/2010/main" val="1244280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166D0-468D-6624-8359-2FE6B102A2A6}"/>
              </a:ext>
            </a:extLst>
          </p:cNvPr>
          <p:cNvSpPr>
            <a:spLocks noGrp="1"/>
          </p:cNvSpPr>
          <p:nvPr>
            <p:ph type="title"/>
          </p:nvPr>
        </p:nvSpPr>
        <p:spPr/>
        <p:txBody>
          <a:bodyPr/>
          <a:lstStyle/>
          <a:p>
            <a:r>
              <a:rPr lang="en-US" dirty="0"/>
              <a:t>5.4 Financial Applications</a:t>
            </a:r>
          </a:p>
        </p:txBody>
      </p:sp>
      <p:sp>
        <p:nvSpPr>
          <p:cNvPr id="5" name="Text Placeholder 4">
            <a:extLst>
              <a:ext uri="{FF2B5EF4-FFF2-40B4-BE49-F238E27FC236}">
                <a16:creationId xmlns:a16="http://schemas.microsoft.com/office/drawing/2014/main" id="{113F8C61-44CA-B624-487B-11499C1EF1E3}"/>
              </a:ext>
            </a:extLst>
          </p:cNvPr>
          <p:cNvSpPr>
            <a:spLocks noGrp="1"/>
          </p:cNvSpPr>
          <p:nvPr>
            <p:ph type="body" sz="quarter" idx="15"/>
          </p:nvPr>
        </p:nvSpPr>
        <p:spPr>
          <a:xfrm>
            <a:off x="743575" y="1343883"/>
            <a:ext cx="10610223" cy="2163157"/>
          </a:xfrm>
        </p:spPr>
        <p:txBody>
          <a:bodyPr/>
          <a:lstStyle/>
          <a:p>
            <a:pPr>
              <a:lnSpc>
                <a:spcPct val="100000"/>
              </a:lnSpc>
              <a:spcBef>
                <a:spcPts val="600"/>
              </a:spcBef>
            </a:pPr>
            <a:r>
              <a:rPr lang="en-US" sz="2000" dirty="0"/>
              <a:t>A financial advisor is considering a financial portfolio for the coming year and for each of the four economic scenarios has developed a probability distribu­tion showing:</a:t>
            </a:r>
          </a:p>
          <a:p>
            <a:pPr marL="914400">
              <a:lnSpc>
                <a:spcPct val="100000"/>
              </a:lnSpc>
              <a:spcBef>
                <a:spcPts val="600"/>
              </a:spcBef>
            </a:pPr>
            <a:r>
              <a:rPr lang="en-US" sz="2000" i="1" dirty="0"/>
              <a:t>x</a:t>
            </a:r>
            <a:r>
              <a:rPr lang="en-US" sz="2000" dirty="0"/>
              <a:t> = the percent return for investing in a large-­cap stock fund the percent return</a:t>
            </a:r>
          </a:p>
          <a:p>
            <a:pPr marL="914400">
              <a:lnSpc>
                <a:spcPct val="100000"/>
              </a:lnSpc>
              <a:spcBef>
                <a:spcPts val="600"/>
              </a:spcBef>
            </a:pPr>
            <a:r>
              <a:rPr lang="en-US" sz="2000" i="1" dirty="0"/>
              <a:t>y</a:t>
            </a:r>
            <a:r>
              <a:rPr lang="en-US" sz="2000" dirty="0"/>
              <a:t> = the percent return for investing in a long-term government bond fund</a:t>
            </a:r>
          </a:p>
          <a:p>
            <a:pPr>
              <a:lnSpc>
                <a:spcPct val="100000"/>
              </a:lnSpc>
              <a:spcBef>
                <a:spcPts val="600"/>
              </a:spcBef>
            </a:pPr>
            <a:r>
              <a:rPr lang="en-US" sz="2000" dirty="0"/>
              <a:t>The bivariate probability distribution for </a:t>
            </a:r>
            <a:r>
              <a:rPr lang="en-US" sz="2000" i="1" dirty="0"/>
              <a:t>x</a:t>
            </a:r>
            <a:r>
              <a:rPr lang="en-US" sz="2000" dirty="0"/>
              <a:t> and </a:t>
            </a:r>
            <a:r>
              <a:rPr lang="en-US" sz="2000" i="1" dirty="0"/>
              <a:t>y</a:t>
            </a:r>
            <a:r>
              <a:rPr lang="en-US" sz="2000" dirty="0"/>
              <a:t> is simply a list with a separate row for each experimental outcome (economic scenario.)</a:t>
            </a:r>
          </a:p>
        </p:txBody>
      </p:sp>
      <p:graphicFrame>
        <p:nvGraphicFramePr>
          <p:cNvPr id="4" name="Table 6">
            <a:extLst>
              <a:ext uri="{FF2B5EF4-FFF2-40B4-BE49-F238E27FC236}">
                <a16:creationId xmlns:a16="http://schemas.microsoft.com/office/drawing/2014/main" id="{3BD3B0FB-C3A0-FA51-C672-EBBA9A0A2F02}"/>
              </a:ext>
            </a:extLst>
          </p:cNvPr>
          <p:cNvGraphicFramePr>
            <a:graphicFrameLocks noGrp="1"/>
          </p:cNvGraphicFramePr>
          <p:nvPr>
            <p:ph type="tbl" sz="quarter" idx="16"/>
            <p:extLst>
              <p:ext uri="{D42A27DB-BD31-4B8C-83A1-F6EECF244321}">
                <p14:modId xmlns:p14="http://schemas.microsoft.com/office/powerpoint/2010/main" val="2692466030"/>
              </p:ext>
            </p:extLst>
          </p:nvPr>
        </p:nvGraphicFramePr>
        <p:xfrm>
          <a:off x="1752600" y="3507040"/>
          <a:ext cx="8686800" cy="1968983"/>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914701628"/>
                    </a:ext>
                  </a:extLst>
                </a:gridCol>
                <a:gridCol w="1828800">
                  <a:extLst>
                    <a:ext uri="{9D8B030D-6E8A-4147-A177-3AD203B41FA5}">
                      <a16:colId xmlns:a16="http://schemas.microsoft.com/office/drawing/2014/main" val="1882911857"/>
                    </a:ext>
                  </a:extLst>
                </a:gridCol>
                <a:gridCol w="1828800">
                  <a:extLst>
                    <a:ext uri="{9D8B030D-6E8A-4147-A177-3AD203B41FA5}">
                      <a16:colId xmlns:a16="http://schemas.microsoft.com/office/drawing/2014/main" val="2432345084"/>
                    </a:ext>
                  </a:extLst>
                </a:gridCol>
                <a:gridCol w="2743200">
                  <a:extLst>
                    <a:ext uri="{9D8B030D-6E8A-4147-A177-3AD203B41FA5}">
                      <a16:colId xmlns:a16="http://schemas.microsoft.com/office/drawing/2014/main" val="2153068676"/>
                    </a:ext>
                  </a:extLst>
                </a:gridCol>
              </a:tblGrid>
              <a:tr h="780523">
                <a:tc>
                  <a:txBody>
                    <a:bodyPr/>
                    <a:lstStyle/>
                    <a:p>
                      <a:pPr marL="112713" indent="0" algn="l" fontAlgn="ctr"/>
                      <a:r>
                        <a:rPr lang="en-US" sz="1800" b="1" i="0" u="none" strike="noStrike" dirty="0">
                          <a:solidFill>
                            <a:srgbClr val="000000"/>
                          </a:solidFill>
                          <a:effectLst/>
                          <a:latin typeface="Arial Unicode MS"/>
                        </a:rPr>
                        <a:t>Economic Scenario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marL="112713" indent="0" algn="l" fontAlgn="ctr"/>
                      <a:r>
                        <a:rPr lang="en-US" sz="1800" b="1" i="0" u="none" strike="noStrike" dirty="0">
                          <a:solidFill>
                            <a:srgbClr val="000000"/>
                          </a:solidFill>
                          <a:effectLst/>
                          <a:latin typeface="Arial Unicode MS"/>
                        </a:rPr>
                        <a:t>Probability</a:t>
                      </a:r>
                    </a:p>
                    <a:p>
                      <a:pPr marL="112713" indent="0" algn="l" fontAlgn="ctr"/>
                      <a:r>
                        <a:rPr lang="en-US" sz="1800" b="1" i="1" u="none" strike="noStrike" dirty="0">
                          <a:solidFill>
                            <a:srgbClr val="000000"/>
                          </a:solidFill>
                          <a:effectLst/>
                          <a:latin typeface="Arial Unicode MS"/>
                        </a:rPr>
                        <a:t>f</a:t>
                      </a:r>
                      <a:r>
                        <a:rPr lang="en-US" sz="1800" b="1" i="0" u="none" strike="noStrike" dirty="0">
                          <a:solidFill>
                            <a:srgbClr val="000000"/>
                          </a:solidFill>
                          <a:effectLst/>
                          <a:latin typeface="Arial Unicode MS"/>
                        </a:rPr>
                        <a:t>(</a:t>
                      </a:r>
                      <a:r>
                        <a:rPr lang="en-US" sz="1800" b="1" i="1" u="none" strike="noStrike" dirty="0">
                          <a:solidFill>
                            <a:srgbClr val="000000"/>
                          </a:solidFill>
                          <a:effectLst/>
                          <a:latin typeface="Arial Unicode MS"/>
                        </a:rPr>
                        <a:t>x</a:t>
                      </a:r>
                      <a:r>
                        <a:rPr lang="en-US" sz="1800" b="1" i="0" u="none" strike="noStrike" dirty="0">
                          <a:solidFill>
                            <a:srgbClr val="000000"/>
                          </a:solidFill>
                          <a:effectLst/>
                          <a:latin typeface="Arial Unicode MS"/>
                        </a:rPr>
                        <a:t>, </a:t>
                      </a:r>
                      <a:r>
                        <a:rPr lang="en-US" sz="1800" b="1" i="1" u="none" strike="noStrike" dirty="0">
                          <a:solidFill>
                            <a:srgbClr val="000000"/>
                          </a:solidFill>
                          <a:effectLst/>
                          <a:latin typeface="Arial Unicode MS"/>
                        </a:rPr>
                        <a:t>y</a:t>
                      </a:r>
                      <a:r>
                        <a:rPr lang="en-US" sz="1800" b="1" i="0" u="none" strike="noStrike" dirty="0">
                          <a:solidFill>
                            <a:srgbClr val="000000"/>
                          </a:solidFill>
                          <a:effectLst/>
                          <a:latin typeface="Arial Unicode MS"/>
                        </a:rPr>
                        <a:t>)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1" i="0" u="none" strike="noStrike" dirty="0">
                          <a:solidFill>
                            <a:srgbClr val="000000"/>
                          </a:solidFill>
                          <a:effectLst/>
                          <a:latin typeface="Arial Unicode MS"/>
                        </a:rPr>
                        <a:t>Large-Cap</a:t>
                      </a:r>
                    </a:p>
                    <a:p>
                      <a:pPr algn="l" fontAlgn="ctr"/>
                      <a:r>
                        <a:rPr lang="en-US" sz="1800" b="1" i="0" u="none" strike="noStrike" dirty="0">
                          <a:solidFill>
                            <a:srgbClr val="000000"/>
                          </a:solidFill>
                          <a:effectLst/>
                          <a:latin typeface="Arial Unicode MS"/>
                        </a:rPr>
                        <a:t>Stock Fund (</a:t>
                      </a:r>
                      <a:r>
                        <a:rPr lang="en-US" sz="1800" b="1" i="1" u="none" strike="noStrike" dirty="0">
                          <a:solidFill>
                            <a:srgbClr val="000000"/>
                          </a:solidFill>
                          <a:effectLst/>
                          <a:latin typeface="Arial Unicode MS"/>
                        </a:rPr>
                        <a:t>x</a:t>
                      </a:r>
                      <a:r>
                        <a:rPr lang="en-US" sz="1800" b="1" i="0" u="none" strike="noStrike" dirty="0">
                          <a:solidFill>
                            <a:srgbClr val="000000"/>
                          </a:solidFill>
                          <a:effectLst/>
                          <a:latin typeface="Arial Unicode MS"/>
                        </a:rPr>
                        <a:t>)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1" i="0" u="none" strike="noStrike" dirty="0">
                          <a:solidFill>
                            <a:srgbClr val="000000"/>
                          </a:solidFill>
                          <a:effectLst/>
                          <a:latin typeface="Arial Unicode MS"/>
                        </a:rPr>
                        <a:t>Long-Term Government Bond Fund (</a:t>
                      </a:r>
                      <a:r>
                        <a:rPr lang="en-US" sz="1800" b="1" i="1" u="none" strike="noStrike" dirty="0">
                          <a:solidFill>
                            <a:srgbClr val="000000"/>
                          </a:solidFill>
                          <a:effectLst/>
                          <a:latin typeface="Arial Unicode MS"/>
                        </a:rPr>
                        <a:t>y</a:t>
                      </a:r>
                      <a:r>
                        <a:rPr lang="en-US" sz="1800" b="1" i="0" u="none" strike="noStrike" dirty="0">
                          <a:solidFill>
                            <a:srgbClr val="000000"/>
                          </a:solidFill>
                          <a:effectLst/>
                          <a:latin typeface="Arial Unicode MS"/>
                        </a:rPr>
                        <a:t>)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319393048"/>
                  </a:ext>
                </a:extLst>
              </a:tr>
              <a:tr h="297115">
                <a:tc>
                  <a:txBody>
                    <a:bodyPr/>
                    <a:lstStyle/>
                    <a:p>
                      <a:pPr marL="112713" indent="0" algn="l" fontAlgn="ctr"/>
                      <a:r>
                        <a:rPr lang="en-US" sz="1800" b="0" i="0" u="none" strike="noStrike" dirty="0">
                          <a:solidFill>
                            <a:srgbClr val="000000"/>
                          </a:solidFill>
                          <a:effectLst/>
                          <a:latin typeface="Arial Unicode MS"/>
                        </a:rPr>
                        <a:t>Recession </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a:solidFill>
                            <a:srgbClr val="000000"/>
                          </a:solidFill>
                          <a:effectLst/>
                          <a:latin typeface="Arial Unicode MS"/>
                        </a:rPr>
                        <a:t>	0.10</a:t>
                      </a:r>
                      <a:endParaRPr lang="en-US" sz="1800" b="0" i="0" u="none" strike="noStrike" dirty="0">
                        <a:solidFill>
                          <a:srgbClr val="000000"/>
                        </a:solidFill>
                        <a:effectLst/>
                        <a:latin typeface="Arial Unicode MS"/>
                      </a:endParaRP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dirty="0">
                          <a:solidFill>
                            <a:srgbClr val="000000"/>
                          </a:solidFill>
                          <a:effectLst/>
                          <a:latin typeface="Calibri" panose="020F0502020204030204" pitchFamily="34" charset="0"/>
                        </a:rPr>
                        <a:t>	−</a:t>
                      </a:r>
                      <a:r>
                        <a:rPr lang="en-US" sz="1800" b="0" i="0" u="none" strike="noStrike" dirty="0">
                          <a:solidFill>
                            <a:srgbClr val="000000"/>
                          </a:solidFill>
                          <a:effectLst/>
                          <a:latin typeface="Arial Unicode MS"/>
                        </a:rPr>
                        <a:t>40</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Arial Unicode MS"/>
                        </a:rPr>
                        <a:t>	30</a:t>
                      </a:r>
                    </a:p>
                  </a:txBody>
                  <a:tcPr marL="6350" marR="6350" marT="6350" marB="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761796"/>
                  </a:ext>
                </a:extLst>
              </a:tr>
              <a:tr h="297115">
                <a:tc>
                  <a:txBody>
                    <a:bodyPr/>
                    <a:lstStyle/>
                    <a:p>
                      <a:pPr marL="112713" indent="0" algn="l" fontAlgn="ctr"/>
                      <a:r>
                        <a:rPr lang="en-US" sz="1800" b="0" i="0" u="none" strike="noStrike" dirty="0">
                          <a:solidFill>
                            <a:srgbClr val="000000"/>
                          </a:solidFill>
                          <a:effectLst/>
                          <a:latin typeface="Arial Unicode MS"/>
                        </a:rPr>
                        <a:t>Weak Growth </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dirty="0">
                          <a:solidFill>
                            <a:srgbClr val="000000"/>
                          </a:solidFill>
                          <a:effectLst/>
                          <a:latin typeface="Arial Unicode MS"/>
                        </a:rPr>
                        <a:t>	0.25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a:solidFill>
                            <a:srgbClr val="000000"/>
                          </a:solidFill>
                          <a:effectLst/>
                          <a:latin typeface="Arial Unicode MS"/>
                        </a:rPr>
                        <a:t>    	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Arial Unicode MS"/>
                        </a:rPr>
                        <a:t>  	  5</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234603169"/>
                  </a:ext>
                </a:extLst>
              </a:tr>
              <a:tr h="297115">
                <a:tc>
                  <a:txBody>
                    <a:bodyPr/>
                    <a:lstStyle/>
                    <a:p>
                      <a:pPr marL="112713" indent="0" algn="l" fontAlgn="ctr"/>
                      <a:r>
                        <a:rPr lang="en-US" sz="1800" b="0" i="0" u="none" strike="noStrike" dirty="0">
                          <a:solidFill>
                            <a:srgbClr val="000000"/>
                          </a:solidFill>
                          <a:effectLst/>
                          <a:latin typeface="Arial Unicode MS"/>
                        </a:rPr>
                        <a:t>Stable Growth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dirty="0">
                          <a:solidFill>
                            <a:srgbClr val="000000"/>
                          </a:solidFill>
                          <a:effectLst/>
                          <a:latin typeface="Arial Unicode MS"/>
                        </a:rPr>
                        <a:t>	0.50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dirty="0">
                          <a:solidFill>
                            <a:srgbClr val="000000"/>
                          </a:solidFill>
                          <a:effectLst/>
                          <a:latin typeface="Arial Unicode MS"/>
                        </a:rPr>
                        <a:t>  	15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Arial Unicode MS"/>
                        </a:rPr>
                        <a:t>  	  4</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95994302"/>
                  </a:ext>
                </a:extLst>
              </a:tr>
              <a:tr h="297115">
                <a:tc>
                  <a:txBody>
                    <a:bodyPr/>
                    <a:lstStyle/>
                    <a:p>
                      <a:pPr marL="112713" indent="0" algn="l" fontAlgn="ctr"/>
                      <a:r>
                        <a:rPr lang="en-US" sz="1800" b="0" i="0" u="none" strike="noStrike" dirty="0">
                          <a:solidFill>
                            <a:srgbClr val="000000"/>
                          </a:solidFill>
                          <a:effectLst/>
                          <a:latin typeface="Arial Unicode MS"/>
                        </a:rPr>
                        <a:t>Strong Growth </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dirty="0">
                          <a:solidFill>
                            <a:srgbClr val="000000"/>
                          </a:solidFill>
                          <a:effectLst/>
                          <a:latin typeface="Arial Unicode MS"/>
                        </a:rPr>
                        <a:t>	0.15</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tabLst>
                          <a:tab pos="914400" algn="r"/>
                        </a:tabLst>
                      </a:pPr>
                      <a:r>
                        <a:rPr lang="en-US" sz="1800" b="0" i="0" u="none" strike="noStrike" dirty="0">
                          <a:solidFill>
                            <a:srgbClr val="000000"/>
                          </a:solidFill>
                          <a:effectLst/>
                          <a:latin typeface="Arial Unicode MS"/>
                        </a:rPr>
                        <a:t>  	30</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ctr"/>
                      <a:r>
                        <a:rPr lang="en-US" sz="1800" b="0" i="0" u="none" strike="noStrike" dirty="0">
                          <a:solidFill>
                            <a:srgbClr val="000000"/>
                          </a:solidFill>
                          <a:effectLst/>
                          <a:latin typeface="Arial Unicode MS"/>
                        </a:rPr>
                        <a:t>  	  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864602178"/>
                  </a:ext>
                </a:extLst>
              </a:tr>
            </a:tbl>
          </a:graphicData>
        </a:graphic>
      </p:graphicFrame>
    </p:spTree>
    <p:extLst>
      <p:ext uri="{BB962C8B-B14F-4D97-AF65-F5344CB8AC3E}">
        <p14:creationId xmlns:p14="http://schemas.microsoft.com/office/powerpoint/2010/main" val="2660365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31C5-04ED-DD40-39C6-729E30673371}"/>
              </a:ext>
            </a:extLst>
          </p:cNvPr>
          <p:cNvSpPr>
            <a:spLocks noGrp="1"/>
          </p:cNvSpPr>
          <p:nvPr>
            <p:ph type="title"/>
          </p:nvPr>
        </p:nvSpPr>
        <p:spPr/>
        <p:txBody>
          <a:bodyPr/>
          <a:lstStyle/>
          <a:p>
            <a:r>
              <a:rPr lang="en-US" dirty="0"/>
              <a:t>5.4 Return and Risk of the Individual Funds</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71EF353-7B04-4019-2CD5-E788F0F2A665}"/>
                  </a:ext>
                </a:extLst>
              </p:cNvPr>
              <p:cNvSpPr>
                <a:spLocks noGrp="1"/>
              </p:cNvSpPr>
              <p:nvPr>
                <p:ph type="body" sz="quarter" idx="15"/>
              </p:nvPr>
            </p:nvSpPr>
            <p:spPr>
              <a:xfrm>
                <a:off x="740228" y="1327042"/>
                <a:ext cx="10711543" cy="4432515"/>
              </a:xfrm>
            </p:spPr>
            <p:txBody>
              <a:bodyPr/>
              <a:lstStyle/>
              <a:p>
                <a:r>
                  <a:rPr lang="en-US" sz="2000" dirty="0"/>
                  <a:t>We can compute the expected percent return for investing in the stock fund, </a:t>
                </a:r>
                <a:r>
                  <a:rPr lang="en-US" sz="2000" i="1" dirty="0"/>
                  <a:t>E</a:t>
                </a:r>
                <a:r>
                  <a:rPr lang="en-US" sz="2000" dirty="0"/>
                  <a:t>(</a:t>
                </a:r>
                <a:r>
                  <a:rPr lang="en-US" sz="2000" i="1" dirty="0"/>
                  <a:t>x</a:t>
                </a:r>
                <a:r>
                  <a:rPr lang="en-US" sz="2000" dirty="0"/>
                  <a:t>), and the expected percent return for investing in the bond fund, </a:t>
                </a:r>
                <a:r>
                  <a:rPr lang="en-US" sz="2000" i="1" dirty="0"/>
                  <a:t>E</a:t>
                </a:r>
                <a:r>
                  <a:rPr lang="en-US" sz="2000" dirty="0"/>
                  <a:t>(</a:t>
                </a:r>
                <a:r>
                  <a:rPr lang="en-US" sz="2000" i="1" dirty="0"/>
                  <a:t>y</a:t>
                </a:r>
                <a:r>
                  <a:rPr lang="en-US" sz="2000" dirty="0"/>
                  <a:t>).</a:t>
                </a:r>
              </a:p>
              <a:p>
                <a:pPr marL="231775"/>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=0.10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−40</m:t>
                        </m:r>
                      </m:e>
                    </m:d>
                    <m:r>
                      <a:rPr lang="en-US" sz="2000" b="0" i="1" smtClean="0">
                        <a:latin typeface="Cambria Math" panose="02040503050406030204" pitchFamily="18" charset="0"/>
                      </a:rPr>
                      <m:t>+0.25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r>
                      <a:rPr lang="en-US" sz="2000" b="0" i="1" smtClean="0">
                        <a:latin typeface="Cambria Math" panose="02040503050406030204" pitchFamily="18" charset="0"/>
                      </a:rPr>
                      <m:t>+0.50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15</m:t>
                        </m:r>
                      </m:e>
                    </m:d>
                    <m:r>
                      <a:rPr lang="en-US" sz="2000" b="0" i="1" smtClean="0">
                        <a:latin typeface="Cambria Math" panose="02040503050406030204" pitchFamily="18" charset="0"/>
                      </a:rPr>
                      <m:t>+0.15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30</m:t>
                        </m:r>
                      </m:e>
                    </m:d>
                    <m:r>
                      <a:rPr lang="en-US" sz="2000" b="0" i="1" smtClean="0">
                        <a:latin typeface="Cambria Math" panose="02040503050406030204" pitchFamily="18" charset="0"/>
                      </a:rPr>
                      <m:t>=9.25</m:t>
                    </m:r>
                  </m:oMath>
                </a14:m>
                <a:r>
                  <a:rPr lang="en-US" sz="2000" dirty="0"/>
                  <a:t> </a:t>
                </a:r>
              </a:p>
              <a:p>
                <a:pPr marL="231775"/>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d>
                    <m:r>
                      <a:rPr lang="en-US" sz="2000" b="0" i="1" smtClean="0">
                        <a:latin typeface="Cambria Math" panose="02040503050406030204" pitchFamily="18" charset="0"/>
                      </a:rPr>
                      <m:t>=0.10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30</m:t>
                        </m:r>
                      </m:e>
                    </m:d>
                    <m:r>
                      <a:rPr lang="en-US" sz="2000" b="0" i="1" smtClean="0">
                        <a:latin typeface="Cambria Math" panose="02040503050406030204" pitchFamily="18" charset="0"/>
                      </a:rPr>
                      <m:t>+0.25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5</m:t>
                        </m:r>
                      </m:e>
                    </m:d>
                    <m:r>
                      <a:rPr lang="en-US" sz="2000" b="0" i="1" smtClean="0">
                        <a:latin typeface="Cambria Math" panose="02040503050406030204" pitchFamily="18" charset="0"/>
                      </a:rPr>
                      <m:t>+0.50</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4</m:t>
                        </m:r>
                      </m:e>
                    </m:d>
                    <m:r>
                      <a:rPr lang="en-US" sz="2000" b="0" i="1" smtClean="0">
                        <a:latin typeface="Cambria Math" panose="02040503050406030204" pitchFamily="18" charset="0"/>
                      </a:rPr>
                      <m:t>+0.15</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e>
                    </m:d>
                    <m:r>
                      <a:rPr lang="en-US" sz="2000" b="0" i="1" smtClean="0">
                        <a:latin typeface="Cambria Math" panose="02040503050406030204" pitchFamily="18" charset="0"/>
                      </a:rPr>
                      <m:t>=6.55</m:t>
                    </m:r>
                  </m:oMath>
                </a14:m>
                <a:r>
                  <a:rPr lang="en-US" sz="2000" dirty="0"/>
                  <a:t> </a:t>
                </a:r>
              </a:p>
              <a:p>
                <a:r>
                  <a:rPr lang="en-US" sz="2000" dirty="0"/>
                  <a:t>Financial analysts recommend that investors also consider the standard deviation associated with an investment as a measure of risk.</a:t>
                </a:r>
              </a:p>
              <a:p>
                <a:r>
                  <a:rPr lang="en-US" sz="2000" dirty="0"/>
                  <a:t>First, we need to calculate the individual variances.</a:t>
                </a:r>
              </a:p>
              <a:p>
                <a:pPr marL="231775"/>
                <a14:m>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=0.1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(−40−9.25)</m:t>
                        </m:r>
                      </m:e>
                      <m:sup>
                        <m:r>
                          <a:rPr lang="en-US" sz="2000" b="0" i="1" smtClean="0">
                            <a:latin typeface="Cambria Math" panose="02040503050406030204" pitchFamily="18" charset="0"/>
                          </a:rPr>
                          <m:t>2</m:t>
                        </m:r>
                      </m:sup>
                    </m:sSup>
                    <m:r>
                      <a:rPr lang="en-US" sz="2000" i="1">
                        <a:latin typeface="Cambria Math" panose="02040503050406030204" pitchFamily="18" charset="0"/>
                      </a:rPr>
                      <m:t>+0.</m:t>
                    </m:r>
                    <m:r>
                      <a:rPr lang="en-US" sz="2000" b="0" i="1" smtClean="0">
                        <a:latin typeface="Cambria Math" panose="02040503050406030204" pitchFamily="18" charset="0"/>
                      </a:rPr>
                      <m:t>25</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b="0" i="1" smtClean="0">
                            <a:latin typeface="Cambria Math" panose="02040503050406030204" pitchFamily="18" charset="0"/>
                          </a:rPr>
                          <m:t>5</m:t>
                        </m:r>
                        <m:r>
                          <a:rPr lang="en-US" sz="2000" i="1">
                            <a:latin typeface="Cambria Math" panose="02040503050406030204" pitchFamily="18" charset="0"/>
                          </a:rPr>
                          <m:t>−9.25)</m:t>
                        </m:r>
                      </m:e>
                      <m:sup>
                        <m:r>
                          <a:rPr lang="en-US" sz="2000" i="1">
                            <a:latin typeface="Cambria Math" panose="02040503050406030204" pitchFamily="18" charset="0"/>
                          </a:rPr>
                          <m:t>2</m:t>
                        </m:r>
                      </m:sup>
                    </m:sSup>
                    <m:r>
                      <a:rPr lang="en-US" sz="2000" i="1">
                        <a:latin typeface="Cambria Math" panose="02040503050406030204" pitchFamily="18" charset="0"/>
                      </a:rPr>
                      <m:t>+0.5</m:t>
                    </m:r>
                    <m:r>
                      <a:rPr lang="en-US" sz="2000" b="0" i="1" smtClean="0">
                        <a:latin typeface="Cambria Math" panose="02040503050406030204" pitchFamily="18" charset="0"/>
                      </a:rPr>
                      <m:t>0</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b="0" i="1" smtClean="0">
                            <a:latin typeface="Cambria Math" panose="02040503050406030204" pitchFamily="18" charset="0"/>
                          </a:rPr>
                          <m:t>1</m:t>
                        </m:r>
                        <m:r>
                          <a:rPr lang="en-US" sz="2000" i="1">
                            <a:latin typeface="Cambria Math" panose="02040503050406030204" pitchFamily="18" charset="0"/>
                          </a:rPr>
                          <m:t>5−9.25)</m:t>
                        </m:r>
                      </m:e>
                      <m:sup>
                        <m:r>
                          <a:rPr lang="en-US" sz="2000" i="1">
                            <a:latin typeface="Cambria Math" panose="02040503050406030204" pitchFamily="18" charset="0"/>
                          </a:rPr>
                          <m:t>2</m:t>
                        </m:r>
                      </m:sup>
                    </m:sSup>
                    <m:r>
                      <a:rPr lang="en-US" sz="2000" b="0" i="1" smtClean="0">
                        <a:latin typeface="Cambria Math" panose="02040503050406030204" pitchFamily="18" charset="0"/>
                      </a:rPr>
                      <m:t>+0.15</m:t>
                    </m:r>
                    <m:sSup>
                      <m:sSupPr>
                        <m:ctrlPr>
                          <a:rPr lang="en-US" sz="2000" i="1">
                            <a:latin typeface="Cambria Math" panose="02040503050406030204" pitchFamily="18" charset="0"/>
                          </a:rPr>
                        </m:ctrlPr>
                      </m:sSupPr>
                      <m:e>
                        <m:r>
                          <a:rPr lang="en-US" sz="2000" i="1">
                            <a:latin typeface="Cambria Math" panose="02040503050406030204" pitchFamily="18" charset="0"/>
                          </a:rPr>
                          <m:t>(</m:t>
                        </m:r>
                        <m:r>
                          <a:rPr lang="en-US" sz="2000" b="0" i="1" smtClean="0">
                            <a:latin typeface="Cambria Math" panose="02040503050406030204" pitchFamily="18" charset="0"/>
                          </a:rPr>
                          <m:t>30</m:t>
                        </m:r>
                        <m:r>
                          <a:rPr lang="en-US" sz="2000" i="1">
                            <a:latin typeface="Cambria Math" panose="02040503050406030204" pitchFamily="18" charset="0"/>
                          </a:rPr>
                          <m:t>−9.25)</m:t>
                        </m:r>
                      </m:e>
                      <m:sup>
                        <m:r>
                          <a:rPr lang="en-US" sz="2000" i="1">
                            <a:latin typeface="Cambria Math" panose="02040503050406030204" pitchFamily="18" charset="0"/>
                          </a:rPr>
                          <m:t>2</m:t>
                        </m:r>
                      </m:sup>
                    </m:sSup>
                    <m:r>
                      <a:rPr lang="en-US" sz="2000" b="0" i="1" smtClean="0">
                        <a:latin typeface="Cambria Math" panose="02040503050406030204" pitchFamily="18" charset="0"/>
                      </a:rPr>
                      <m:t>=328.1875</m:t>
                    </m:r>
                  </m:oMath>
                </a14:m>
                <a:r>
                  <a:rPr lang="en-US" sz="2000" dirty="0"/>
                  <a:t> </a:t>
                </a:r>
              </a:p>
              <a:p>
                <a:pPr marL="231775"/>
                <a14:m>
                  <m:oMath xmlns:m="http://schemas.openxmlformats.org/officeDocument/2006/math">
                    <m:r>
                      <a:rPr lang="en-US" sz="2000" b="0" i="1" smtClean="0">
                        <a:latin typeface="Cambria Math" panose="02040503050406030204" pitchFamily="18" charset="0"/>
                      </a:rPr>
                      <m:t>𝑉𝑎𝑟</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d>
                    <m:r>
                      <a:rPr lang="en-US" sz="2000" b="0" i="1" smtClean="0">
                        <a:latin typeface="Cambria Math" panose="02040503050406030204" pitchFamily="18" charset="0"/>
                      </a:rPr>
                      <m:t>=0.1</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(30−6.55)</m:t>
                        </m:r>
                      </m:e>
                      <m:sup>
                        <m:r>
                          <a:rPr lang="en-US" sz="2000" b="0" i="1" smtClean="0">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+0.</m:t>
                    </m:r>
                    <m:r>
                      <a:rPr lang="en-US" sz="2000" b="0" i="1" smtClean="0">
                        <a:solidFill>
                          <a:srgbClr val="000000"/>
                        </a:solidFill>
                        <a:latin typeface="Cambria Math" panose="02040503050406030204" pitchFamily="18" charset="0"/>
                      </a:rPr>
                      <m:t>25</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5</m:t>
                        </m:r>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6.55</m:t>
                        </m:r>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+0.5</m:t>
                    </m:r>
                    <m:r>
                      <a:rPr lang="en-US" sz="2000" b="0" i="1" smtClean="0">
                        <a:solidFill>
                          <a:srgbClr val="000000"/>
                        </a:solidFill>
                        <a:latin typeface="Cambria Math" panose="02040503050406030204" pitchFamily="18" charset="0"/>
                      </a:rPr>
                      <m:t>0</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4</m:t>
                        </m:r>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6.55</m:t>
                        </m:r>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+0.15</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2</m:t>
                        </m:r>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6.55</m:t>
                        </m:r>
                        <m:r>
                          <a:rPr lang="en-US" sz="2000" i="1">
                            <a:solidFill>
                              <a:srgbClr val="000000"/>
                            </a:solidFill>
                            <a:latin typeface="Cambria Math" panose="02040503050406030204" pitchFamily="18" charset="0"/>
                          </a:rPr>
                          <m:t>)</m:t>
                        </m:r>
                      </m:e>
                      <m:sup>
                        <m:r>
                          <a:rPr lang="en-US" sz="2000" i="1">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=61.9475</m:t>
                    </m:r>
                  </m:oMath>
                </a14:m>
                <a:r>
                  <a:rPr lang="en-US" sz="2000" dirty="0">
                    <a:solidFill>
                      <a:srgbClr val="000000"/>
                    </a:solidFill>
                  </a:rPr>
                  <a:t> </a:t>
                </a:r>
                <a:endParaRPr lang="en-US" sz="2000" dirty="0"/>
              </a:p>
              <a:p>
                <a:r>
                  <a:rPr lang="en-US" sz="2000" dirty="0"/>
                  <a:t>Thus, the individual standard deviation for </a:t>
                </a:r>
                <a:r>
                  <a:rPr lang="en-US" sz="2000" i="1" dirty="0"/>
                  <a:t>x</a:t>
                </a:r>
                <a:r>
                  <a:rPr lang="en-US" sz="2000" dirty="0"/>
                  <a:t> and </a:t>
                </a:r>
                <a:r>
                  <a:rPr lang="en-US" sz="2000" i="1" dirty="0"/>
                  <a:t>y</a:t>
                </a:r>
                <a:r>
                  <a:rPr lang="en-US" sz="2000" dirty="0"/>
                  <a:t> are:</a:t>
                </a:r>
              </a:p>
              <a:p>
                <a:pPr marL="231775"/>
                <a14:m>
                  <m:oMath xmlns:m="http://schemas.openxmlformats.org/officeDocument/2006/math">
                    <m:sSub>
                      <m:sSubPr>
                        <m:ctrlPr>
                          <a:rPr lang="en-US" sz="2000" i="1" smtClean="0">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𝑥</m:t>
                        </m:r>
                      </m:sub>
                    </m:sSub>
                    <m:r>
                      <a:rPr lang="en-US" sz="2000" b="0" i="1" smtClean="0">
                        <a:latin typeface="Cambria Math" panose="02040503050406030204" pitchFamily="18" charset="0"/>
                        <a:ea typeface="Cambria Math" panose="02040503050406030204" pitchFamily="18" charset="0"/>
                      </a:rPr>
                      <m:t>=</m:t>
                    </m:r>
                    <m:rad>
                      <m:radPr>
                        <m:degHide m:val="on"/>
                        <m:ctrlPr>
                          <a:rPr lang="en-US" sz="2000" b="0" i="1" smtClean="0">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rPr>
                          <m:t>328.1875</m:t>
                        </m:r>
                      </m:e>
                    </m:rad>
                    <m:r>
                      <a:rPr lang="en-US" sz="2000" b="0" i="1" smtClean="0">
                        <a:latin typeface="Cambria Math" panose="02040503050406030204" pitchFamily="18" charset="0"/>
                        <a:ea typeface="Cambria Math" panose="02040503050406030204" pitchFamily="18" charset="0"/>
                      </a:rPr>
                      <m:t>=18.1159%</m:t>
                    </m:r>
                  </m:oMath>
                </a14:m>
                <a:r>
                  <a:rPr lang="en-US" sz="2000" dirty="0"/>
                  <a:t>      and      </a:t>
                </a:r>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𝑥</m:t>
                        </m:r>
                      </m:sub>
                    </m:sSub>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r>
                          <a:rPr lang="en-US" sz="2000" b="0" i="1" smtClean="0">
                            <a:latin typeface="Cambria Math" panose="02040503050406030204" pitchFamily="18" charset="0"/>
                          </a:rPr>
                          <m:t>61.9475</m:t>
                        </m:r>
                      </m:e>
                    </m:rad>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7.8707</m:t>
                    </m:r>
                    <m:r>
                      <a:rPr lang="en-US" sz="2000" i="1">
                        <a:latin typeface="Cambria Math" panose="02040503050406030204" pitchFamily="18" charset="0"/>
                        <a:ea typeface="Cambria Math" panose="02040503050406030204" pitchFamily="18" charset="0"/>
                      </a:rPr>
                      <m:t>%</m:t>
                    </m:r>
                  </m:oMath>
                </a14:m>
                <a:endParaRPr lang="en-US" sz="2000" dirty="0"/>
              </a:p>
            </p:txBody>
          </p:sp>
        </mc:Choice>
        <mc:Fallback xmlns="">
          <p:sp>
            <p:nvSpPr>
              <p:cNvPr id="3" name="Text Placeholder 2">
                <a:extLst>
                  <a:ext uri="{FF2B5EF4-FFF2-40B4-BE49-F238E27FC236}">
                    <a16:creationId xmlns:a16="http://schemas.microsoft.com/office/drawing/2014/main" id="{D71EF353-7B04-4019-2CD5-E788F0F2A665}"/>
                  </a:ext>
                </a:extLst>
              </p:cNvPr>
              <p:cNvSpPr>
                <a:spLocks noGrp="1" noRot="1" noChangeAspect="1" noMove="1" noResize="1" noEditPoints="1" noAdjustHandles="1" noChangeArrowheads="1" noChangeShapeType="1" noTextEdit="1"/>
              </p:cNvSpPr>
              <p:nvPr>
                <p:ph type="body" sz="quarter" idx="15"/>
              </p:nvPr>
            </p:nvSpPr>
            <p:spPr>
              <a:xfrm>
                <a:off x="740228" y="1327042"/>
                <a:ext cx="10711543" cy="4432515"/>
              </a:xfrm>
              <a:blipFill>
                <a:blip r:embed="rId3"/>
                <a:stretch>
                  <a:fillRect l="-1422" t="-1651" b="-2751"/>
                </a:stretch>
              </a:blipFill>
            </p:spPr>
            <p:txBody>
              <a:bodyPr/>
              <a:lstStyle/>
              <a:p>
                <a:r>
                  <a:rPr lang="en-IN">
                    <a:noFill/>
                  </a:rPr>
                  <a:t> </a:t>
                </a:r>
              </a:p>
            </p:txBody>
          </p:sp>
        </mc:Fallback>
      </mc:AlternateContent>
    </p:spTree>
    <p:extLst>
      <p:ext uri="{BB962C8B-B14F-4D97-AF65-F5344CB8AC3E}">
        <p14:creationId xmlns:p14="http://schemas.microsoft.com/office/powerpoint/2010/main" val="4988747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31C5-04ED-DD40-39C6-729E30673371}"/>
              </a:ext>
            </a:extLst>
          </p:cNvPr>
          <p:cNvSpPr>
            <a:spLocks noGrp="1"/>
          </p:cNvSpPr>
          <p:nvPr>
            <p:ph type="title"/>
          </p:nvPr>
        </p:nvSpPr>
        <p:spPr>
          <a:xfrm>
            <a:off x="488194" y="365125"/>
            <a:ext cx="11199397" cy="672105"/>
          </a:xfrm>
        </p:spPr>
        <p:txBody>
          <a:bodyPr/>
          <a:lstStyle/>
          <a:p>
            <a:r>
              <a:rPr lang="en-US" sz="3200" dirty="0"/>
              <a:t>5.4 A Financial Portfolio of a Stock Fund and a Bond Fund</a:t>
            </a:r>
            <a:endParaRPr lang="en-US" sz="3200"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71EF353-7B04-4019-2CD5-E788F0F2A665}"/>
                  </a:ext>
                </a:extLst>
              </p:cNvPr>
              <p:cNvSpPr>
                <a:spLocks noGrp="1"/>
              </p:cNvSpPr>
              <p:nvPr>
                <p:ph type="body" sz="quarter" idx="15"/>
              </p:nvPr>
            </p:nvSpPr>
            <p:spPr>
              <a:xfrm>
                <a:off x="743576" y="1387098"/>
                <a:ext cx="10711543" cy="4083803"/>
              </a:xfrm>
            </p:spPr>
            <p:txBody>
              <a:bodyPr/>
              <a:lstStyle/>
              <a:p>
                <a:r>
                  <a:rPr lang="en-US" sz="2000" dirty="0"/>
                  <a:t>The computations of expected value and standard deviation for each of the two funds reveal that the large-cup stock fund </a:t>
                </a:r>
                <a:r>
                  <a:rPr lang="en-US" sz="2000" i="1" dirty="0"/>
                  <a:t>x</a:t>
                </a:r>
                <a:r>
                  <a:rPr lang="en-US" sz="2000" dirty="0"/>
                  <a:t> offers a more attractive return:</a:t>
                </a:r>
              </a:p>
              <a:p>
                <a:pPr marL="914400"/>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i="1">
                        <a:latin typeface="Cambria Math" panose="02040503050406030204" pitchFamily="18" charset="0"/>
                      </a:rPr>
                      <m:t>9.25%&gt;</m:t>
                    </m:r>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b="0" i="1" smtClean="0">
                            <a:latin typeface="Cambria Math" panose="02040503050406030204" pitchFamily="18" charset="0"/>
                          </a:rPr>
                          <m:t>𝑦</m:t>
                        </m:r>
                      </m:e>
                    </m:d>
                    <m:r>
                      <a:rPr lang="en-US" sz="2000" i="1">
                        <a:latin typeface="Cambria Math" panose="02040503050406030204" pitchFamily="18" charset="0"/>
                      </a:rPr>
                      <m:t>=</m:t>
                    </m:r>
                    <m:r>
                      <a:rPr lang="en-US" sz="2000" b="0" i="1" smtClean="0">
                        <a:latin typeface="Cambria Math" panose="02040503050406030204" pitchFamily="18" charset="0"/>
                      </a:rPr>
                      <m:t>6</m:t>
                    </m:r>
                    <m:r>
                      <a:rPr lang="en-US" sz="2000" i="1">
                        <a:latin typeface="Cambria Math" panose="02040503050406030204" pitchFamily="18" charset="0"/>
                      </a:rPr>
                      <m:t>.</m:t>
                    </m:r>
                    <m:r>
                      <a:rPr lang="en-US" sz="2000" b="0" i="1" smtClean="0">
                        <a:latin typeface="Cambria Math" panose="02040503050406030204" pitchFamily="18" charset="0"/>
                      </a:rPr>
                      <m:t>5</m:t>
                    </m:r>
                    <m:r>
                      <a:rPr lang="en-US" sz="2000" i="1">
                        <a:latin typeface="Cambria Math" panose="02040503050406030204" pitchFamily="18" charset="0"/>
                      </a:rPr>
                      <m:t>5</m:t>
                    </m:r>
                    <m:r>
                      <a:rPr lang="en-US" sz="2000" b="0" i="1" smtClean="0">
                        <a:latin typeface="Cambria Math" panose="02040503050406030204" pitchFamily="18" charset="0"/>
                      </a:rPr>
                      <m:t>%</m:t>
                    </m:r>
                  </m:oMath>
                </a14:m>
                <a:r>
                  <a:rPr lang="en-US" sz="2000" dirty="0"/>
                  <a:t> </a:t>
                </a:r>
              </a:p>
              <a:p>
                <a:r>
                  <a:rPr lang="en-US" sz="2000" dirty="0"/>
                  <a:t>Conversely, investing in the long-term bond fund </a:t>
                </a:r>
                <a:r>
                  <a:rPr lang="en-US" sz="2000" i="1" dirty="0"/>
                  <a:t>y</a:t>
                </a:r>
                <a:r>
                  <a:rPr lang="en-US" sz="2000" dirty="0"/>
                  <a:t> is less risky:</a:t>
                </a:r>
              </a:p>
              <a:p>
                <a:pPr marL="914400"/>
                <a14:m>
                  <m:oMath xmlns:m="http://schemas.openxmlformats.org/officeDocument/2006/math">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ea typeface="Cambria Math" panose="02040503050406030204" pitchFamily="18" charset="0"/>
                          </a:rPr>
                          <m:t>𝑥</m:t>
                        </m:r>
                      </m:sub>
                    </m:sSub>
                    <m:r>
                      <a:rPr lang="en-US" sz="2000" b="0" i="1" smtClean="0">
                        <a:latin typeface="Cambria Math" panose="02040503050406030204" pitchFamily="18" charset="0"/>
                      </a:rPr>
                      <m:t>=18</m:t>
                    </m:r>
                    <m:r>
                      <a:rPr lang="en-US" sz="2000" i="1">
                        <a:latin typeface="Cambria Math" panose="02040503050406030204" pitchFamily="18" charset="0"/>
                      </a:rPr>
                      <m:t>.</m:t>
                    </m:r>
                    <m:r>
                      <a:rPr lang="en-US" sz="2000" b="0" i="1" smtClean="0">
                        <a:latin typeface="Cambria Math" panose="02040503050406030204" pitchFamily="18" charset="0"/>
                      </a:rPr>
                      <m:t>12</m:t>
                    </m:r>
                    <m:r>
                      <a:rPr lang="en-US" sz="2000" i="1">
                        <a:latin typeface="Cambria Math" panose="02040503050406030204" pitchFamily="18" charset="0"/>
                      </a:rPr>
                      <m:t>%&gt;</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ea typeface="Cambria Math" panose="02040503050406030204" pitchFamily="18" charset="0"/>
                          </a:rPr>
                          <m:t>𝑦</m:t>
                        </m:r>
                      </m:sub>
                    </m:sSub>
                    <m:r>
                      <a:rPr lang="en-US" sz="2000" i="1">
                        <a:latin typeface="Cambria Math" panose="02040503050406030204" pitchFamily="18" charset="0"/>
                      </a:rPr>
                      <m:t>=</m:t>
                    </m:r>
                    <m:r>
                      <a:rPr lang="en-US" sz="2000" b="0" i="1" smtClean="0">
                        <a:latin typeface="Cambria Math" panose="02040503050406030204" pitchFamily="18" charset="0"/>
                      </a:rPr>
                      <m:t>7.87%</m:t>
                    </m:r>
                  </m:oMath>
                </a14:m>
                <a:r>
                  <a:rPr lang="en-US" sz="2000" dirty="0"/>
                  <a:t> </a:t>
                </a:r>
              </a:p>
              <a:p>
                <a:r>
                  <a:rPr lang="en-US" sz="2000" dirty="0"/>
                  <a:t>The choice of investment may depend on our attitude toward risk and return:</a:t>
                </a:r>
              </a:p>
              <a:p>
                <a:pPr marL="914400" indent="-342900">
                  <a:buFont typeface="Arial" panose="020B0604020202020204" pitchFamily="34" charset="0"/>
                  <a:buChar char="•"/>
                </a:pPr>
                <a:r>
                  <a:rPr lang="en-US" sz="2000" dirty="0"/>
                  <a:t>An aggressive investor may choose the stock fund because of the higher return.</a:t>
                </a:r>
              </a:p>
              <a:p>
                <a:pPr marL="914400" indent="-342900">
                  <a:buFont typeface="Arial" panose="020B0604020202020204" pitchFamily="34" charset="0"/>
                  <a:buChar char="•"/>
                </a:pPr>
                <a:r>
                  <a:rPr lang="en-US" sz="2000" dirty="0"/>
                  <a:t>A conservative investor may choose the bond fund because of the lower risk.</a:t>
                </a:r>
              </a:p>
              <a:p>
                <a:r>
                  <a:rPr lang="en-US" sz="2000" dirty="0"/>
                  <a:t>Another option is investing in a portfolio consisting of a linear combination of the stock fund and the bond fund.</a:t>
                </a:r>
              </a:p>
            </p:txBody>
          </p:sp>
        </mc:Choice>
        <mc:Fallback xmlns="">
          <p:sp>
            <p:nvSpPr>
              <p:cNvPr id="3" name="Text Placeholder 2">
                <a:extLst>
                  <a:ext uri="{FF2B5EF4-FFF2-40B4-BE49-F238E27FC236}">
                    <a16:creationId xmlns:a16="http://schemas.microsoft.com/office/drawing/2014/main" id="{D71EF353-7B04-4019-2CD5-E788F0F2A665}"/>
                  </a:ext>
                </a:extLst>
              </p:cNvPr>
              <p:cNvSpPr>
                <a:spLocks noGrp="1" noRot="1" noChangeAspect="1" noMove="1" noResize="1" noEditPoints="1" noAdjustHandles="1" noChangeArrowheads="1" noChangeShapeType="1" noTextEdit="1"/>
              </p:cNvSpPr>
              <p:nvPr>
                <p:ph type="body" sz="quarter" idx="15"/>
              </p:nvPr>
            </p:nvSpPr>
            <p:spPr>
              <a:xfrm>
                <a:off x="743576" y="1387098"/>
                <a:ext cx="10711543" cy="4083803"/>
              </a:xfrm>
              <a:blipFill>
                <a:blip r:embed="rId2"/>
                <a:stretch>
                  <a:fillRect l="-1480" t="-1794" r="-1764" b="-897"/>
                </a:stretch>
              </a:blipFill>
            </p:spPr>
            <p:txBody>
              <a:bodyPr/>
              <a:lstStyle/>
              <a:p>
                <a:r>
                  <a:rPr lang="en-US">
                    <a:noFill/>
                  </a:rPr>
                  <a:t> </a:t>
                </a:r>
              </a:p>
            </p:txBody>
          </p:sp>
        </mc:Fallback>
      </mc:AlternateContent>
    </p:spTree>
    <p:extLst>
      <p:ext uri="{BB962C8B-B14F-4D97-AF65-F5344CB8AC3E}">
        <p14:creationId xmlns:p14="http://schemas.microsoft.com/office/powerpoint/2010/main" val="1311627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31C5-04ED-DD40-39C6-729E30673371}"/>
              </a:ext>
            </a:extLst>
          </p:cNvPr>
          <p:cNvSpPr>
            <a:spLocks noGrp="1"/>
          </p:cNvSpPr>
          <p:nvPr>
            <p:ph type="title"/>
          </p:nvPr>
        </p:nvSpPr>
        <p:spPr>
          <a:xfrm>
            <a:off x="488194" y="365125"/>
            <a:ext cx="11199397" cy="672105"/>
          </a:xfrm>
        </p:spPr>
        <p:txBody>
          <a:bodyPr/>
          <a:lstStyle/>
          <a:p>
            <a:r>
              <a:rPr lang="en-US" sz="3200" dirty="0"/>
              <a:t>5.4 Properties of the Linear Combination of </a:t>
            </a:r>
            <a:r>
              <a:rPr lang="en-US" sz="3200" i="1" dirty="0"/>
              <a:t>x</a:t>
            </a:r>
            <a:r>
              <a:rPr lang="en-US" sz="3200" dirty="0"/>
              <a:t> and </a:t>
            </a:r>
            <a:r>
              <a:rPr lang="en-US" sz="3200" i="1" dirty="0"/>
              <a: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D71EF353-7B04-4019-2CD5-E788F0F2A665}"/>
                  </a:ext>
                </a:extLst>
              </p:cNvPr>
              <p:cNvSpPr>
                <a:spLocks noGrp="1"/>
              </p:cNvSpPr>
              <p:nvPr>
                <p:ph type="body" sz="quarter" idx="15"/>
              </p:nvPr>
            </p:nvSpPr>
            <p:spPr>
              <a:xfrm>
                <a:off x="743576" y="1218544"/>
                <a:ext cx="10711543" cy="4550734"/>
              </a:xfrm>
            </p:spPr>
            <p:txBody>
              <a:bodyPr/>
              <a:lstStyle/>
              <a:p>
                <a:pPr>
                  <a:spcBef>
                    <a:spcPts val="600"/>
                  </a:spcBef>
                  <a:spcAft>
                    <a:spcPts val="0"/>
                  </a:spcAft>
                </a:pPr>
                <a:r>
                  <a:rPr lang="en-US" sz="2000" dirty="0">
                    <a:solidFill>
                      <a:srgbClr val="000000"/>
                    </a:solidFill>
                  </a:rPr>
                  <a:t>Let us define a random variable return, </a:t>
                </a:r>
                <a14:m>
                  <m:oMath xmlns:m="http://schemas.openxmlformats.org/officeDocument/2006/math">
                    <m:r>
                      <a:rPr lang="en-US" sz="2000" i="1" dirty="0" smtClean="0">
                        <a:solidFill>
                          <a:srgbClr val="000000"/>
                        </a:solidFill>
                        <a:latin typeface="Cambria Math" panose="02040503050406030204" pitchFamily="18" charset="0"/>
                      </a:rPr>
                      <m:t>𝑟</m:t>
                    </m:r>
                  </m:oMath>
                </a14:m>
                <a:r>
                  <a:rPr lang="en-US" sz="2000" dirty="0">
                    <a:solidFill>
                      <a:srgbClr val="000000"/>
                    </a:solidFill>
                  </a:rPr>
                  <a:t>, as a linear combination of </a:t>
                </a:r>
                <a:r>
                  <a:rPr lang="en-US" sz="2000" i="1" dirty="0">
                    <a:solidFill>
                      <a:srgbClr val="000000"/>
                    </a:solidFill>
                  </a:rPr>
                  <a:t>x</a:t>
                </a:r>
                <a:r>
                  <a:rPr lang="en-US" sz="2000" dirty="0">
                    <a:solidFill>
                      <a:srgbClr val="000000"/>
                    </a:solidFill>
                  </a:rPr>
                  <a:t> and </a:t>
                </a:r>
                <a:r>
                  <a:rPr lang="en-US" sz="2000" i="1" dirty="0">
                    <a:solidFill>
                      <a:srgbClr val="000000"/>
                    </a:solidFill>
                  </a:rPr>
                  <a:t>y:  </a:t>
                </a:r>
                <a14:m>
                  <m:oMath xmlns:m="http://schemas.openxmlformats.org/officeDocument/2006/math">
                    <m:r>
                      <a:rPr lang="en-US" sz="2000" b="0" i="1" smtClean="0">
                        <a:solidFill>
                          <a:srgbClr val="000000"/>
                        </a:solidFill>
                        <a:latin typeface="Cambria Math" panose="02040503050406030204" pitchFamily="18" charset="0"/>
                      </a:rPr>
                      <m:t>𝑟</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𝑎𝑥</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𝑏𝑦</m:t>
                    </m:r>
                  </m:oMath>
                </a14:m>
                <a:endParaRPr lang="en-US" sz="2000" dirty="0">
                  <a:solidFill>
                    <a:srgbClr val="000000"/>
                  </a:solidFill>
                </a:endParaRPr>
              </a:p>
              <a:p>
                <a:pPr>
                  <a:spcBef>
                    <a:spcPts val="600"/>
                  </a:spcBef>
                </a:pPr>
                <a:r>
                  <a:rPr lang="en-US" sz="2000" dirty="0">
                    <a:solidFill>
                      <a:srgbClr val="000000"/>
                    </a:solidFill>
                  </a:rPr>
                  <a:t>Where </a:t>
                </a:r>
                <a:r>
                  <a:rPr lang="en-US" sz="2000" i="1" dirty="0">
                    <a:solidFill>
                      <a:srgbClr val="000000"/>
                    </a:solidFill>
                  </a:rPr>
                  <a:t>a</a:t>
                </a:r>
                <a:r>
                  <a:rPr lang="en-US" sz="2000" dirty="0">
                    <a:solidFill>
                      <a:srgbClr val="000000"/>
                    </a:solidFill>
                  </a:rPr>
                  <a:t> and </a:t>
                </a:r>
                <a:r>
                  <a:rPr lang="en-US" sz="2000" i="1" dirty="0">
                    <a:solidFill>
                      <a:srgbClr val="000000"/>
                    </a:solidFill>
                  </a:rPr>
                  <a:t>b</a:t>
                </a:r>
                <a:r>
                  <a:rPr lang="en-US" sz="2000" dirty="0">
                    <a:solidFill>
                      <a:srgbClr val="000000"/>
                    </a:solidFill>
                  </a:rPr>
                  <a:t> are coefficients such that </a:t>
                </a:r>
                <a14:m>
                  <m:oMath xmlns:m="http://schemas.openxmlformats.org/officeDocument/2006/math">
                    <m:r>
                      <a:rPr lang="en-US" sz="2000" i="1">
                        <a:solidFill>
                          <a:srgbClr val="000000"/>
                        </a:solidFill>
                        <a:latin typeface="Cambria Math" panose="02040503050406030204" pitchFamily="18" charset="0"/>
                      </a:rPr>
                      <m:t>𝑎</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𝑏</m:t>
                    </m:r>
                    <m:r>
                      <a:rPr lang="en-US" sz="2000" b="0" i="1" smtClean="0">
                        <a:solidFill>
                          <a:srgbClr val="000000"/>
                        </a:solidFill>
                        <a:latin typeface="Cambria Math" panose="02040503050406030204" pitchFamily="18" charset="0"/>
                      </a:rPr>
                      <m:t>&gt;0</m:t>
                    </m:r>
                  </m:oMath>
                </a14:m>
                <a:r>
                  <a:rPr lang="en-US" sz="2000" dirty="0">
                    <a:solidFill>
                      <a:srgbClr val="000000"/>
                    </a:solidFill>
                  </a:rPr>
                  <a:t> and </a:t>
                </a:r>
                <a14:m>
                  <m:oMath xmlns:m="http://schemas.openxmlformats.org/officeDocument/2006/math">
                    <m:r>
                      <a:rPr lang="en-US" sz="2000" b="0" i="1" smtClean="0">
                        <a:solidFill>
                          <a:srgbClr val="000000"/>
                        </a:solidFill>
                        <a:latin typeface="Cambria Math" panose="02040503050406030204" pitchFamily="18" charset="0"/>
                      </a:rPr>
                      <m:t>𝑎</m:t>
                    </m:r>
                    <m:r>
                      <a:rPr lang="en-US" sz="2000" b="0" i="1" smtClean="0">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𝑏</m:t>
                    </m:r>
                    <m:r>
                      <a:rPr lang="en-US" sz="2000" b="0" i="1" smtClean="0">
                        <a:solidFill>
                          <a:srgbClr val="000000"/>
                        </a:solidFill>
                        <a:latin typeface="Cambria Math" panose="02040503050406030204" pitchFamily="18" charset="0"/>
                      </a:rPr>
                      <m:t>=1</m:t>
                    </m:r>
                  </m:oMath>
                </a14:m>
                <a:r>
                  <a:rPr lang="en-US" sz="2000" dirty="0">
                    <a:solidFill>
                      <a:srgbClr val="000000"/>
                    </a:solidFill>
                  </a:rPr>
                  <a:t>.</a:t>
                </a:r>
              </a:p>
              <a:p>
                <a:pPr>
                  <a:spcBef>
                    <a:spcPts val="600"/>
                  </a:spcBef>
                  <a:spcAft>
                    <a:spcPts val="600"/>
                  </a:spcAft>
                </a:pPr>
                <a:r>
                  <a:rPr lang="en-US" sz="2000" dirty="0">
                    <a:solidFill>
                      <a:srgbClr val="000000"/>
                    </a:solidFill>
                  </a:rPr>
                  <a:t>To build a financial portfolio made of 50% stock fund and 50% bond fund, we calculate </a:t>
                </a:r>
                <a14:m>
                  <m:oMath xmlns:m="http://schemas.openxmlformats.org/officeDocument/2006/math">
                    <m:r>
                      <a:rPr lang="en-US" sz="2000" b="0" i="1" smtClean="0">
                        <a:solidFill>
                          <a:srgbClr val="000000"/>
                        </a:solidFill>
                        <a:latin typeface="Cambria Math" panose="02040503050406030204" pitchFamily="18" charset="0"/>
                      </a:rPr>
                      <m:t>𝐸</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𝑟</m:t>
                        </m:r>
                      </m:e>
                    </m:d>
                  </m:oMath>
                </a14:m>
                <a:r>
                  <a:rPr lang="en-US" sz="2000" dirty="0">
                    <a:solidFill>
                      <a:srgbClr val="000000"/>
                    </a:solidFill>
                  </a:rPr>
                  <a:t> as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a:solidFill>
                            <a:srgbClr val="000000"/>
                          </a:solidFill>
                          <a:latin typeface="Cambria Math" panose="02040503050406030204" pitchFamily="18" charset="0"/>
                        </a:rPr>
                        <m:t>𝑬</m:t>
                      </m:r>
                      <m:d>
                        <m:dPr>
                          <m:ctrlPr>
                            <a:rPr lang="en-US" sz="2000" b="1" i="1">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𝒓</m:t>
                          </m:r>
                        </m:e>
                      </m:d>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𝑬</m:t>
                      </m:r>
                      <m:d>
                        <m:dPr>
                          <m:ctrlPr>
                            <a:rPr lang="en-US" sz="2000" b="1" i="1" smtClean="0">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𝒂𝒙</m:t>
                          </m:r>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𝒃𝒚</m:t>
                          </m:r>
                        </m:e>
                      </m:d>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𝒂𝑬</m:t>
                      </m:r>
                      <m:d>
                        <m:dPr>
                          <m:ctrlPr>
                            <a:rPr lang="en-US" sz="2000" b="1" i="1" smtClean="0">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𝒙</m:t>
                          </m:r>
                        </m:e>
                      </m:d>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𝒃𝑬</m:t>
                      </m:r>
                      <m:d>
                        <m:dPr>
                          <m:ctrlPr>
                            <a:rPr lang="en-US" sz="2000" b="1" i="1" smtClean="0">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𝒚</m:t>
                          </m:r>
                        </m:e>
                      </m:d>
                      <m:r>
                        <a:rPr lang="en-US" sz="2000" b="0" i="1" smtClean="0">
                          <a:solidFill>
                            <a:srgbClr val="000000"/>
                          </a:solidFill>
                          <a:latin typeface="Cambria Math" panose="02040503050406030204" pitchFamily="18" charset="0"/>
                        </a:rPr>
                        <m:t>=0.5</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9.25</m:t>
                          </m:r>
                        </m:e>
                      </m:d>
                      <m:r>
                        <a:rPr lang="en-US" sz="2000" b="0" i="1" smtClean="0">
                          <a:solidFill>
                            <a:srgbClr val="000000"/>
                          </a:solidFill>
                          <a:latin typeface="Cambria Math" panose="02040503050406030204" pitchFamily="18" charset="0"/>
                        </a:rPr>
                        <m:t>+0.5</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6.55</m:t>
                          </m:r>
                        </m:e>
                      </m:d>
                      <m:r>
                        <a:rPr lang="en-US" sz="2000" b="0" i="1" smtClean="0">
                          <a:solidFill>
                            <a:srgbClr val="000000"/>
                          </a:solidFill>
                          <a:latin typeface="Cambria Math" panose="02040503050406030204" pitchFamily="18" charset="0"/>
                        </a:rPr>
                        <m:t>=7.9</m:t>
                      </m:r>
                    </m:oMath>
                  </m:oMathPara>
                </a14:m>
                <a:endParaRPr lang="en-US" sz="2000" dirty="0">
                  <a:solidFill>
                    <a:srgbClr val="000000"/>
                  </a:solidFill>
                </a:endParaRPr>
              </a:p>
              <a:p>
                <a:pPr>
                  <a:spcBef>
                    <a:spcPts val="600"/>
                  </a:spcBef>
                </a:pPr>
                <a:r>
                  <a:rPr lang="en-US" sz="2000" dirty="0">
                    <a:solidFill>
                      <a:srgbClr val="000000"/>
                    </a:solidFill>
                  </a:rPr>
                  <a:t>Thus, a $100 investment would return $7.90.</a:t>
                </a:r>
              </a:p>
              <a:p>
                <a:pPr>
                  <a:spcBef>
                    <a:spcPts val="600"/>
                  </a:spcBef>
                </a:pPr>
                <a:r>
                  <a:rPr lang="en-US" sz="2000" dirty="0">
                    <a:solidFill>
                      <a:srgbClr val="000000"/>
                    </a:solidFill>
                  </a:rPr>
                  <a:t>The variance of a linear combination of two random variables </a:t>
                </a:r>
                <a14:m>
                  <m:oMath xmlns:m="http://schemas.openxmlformats.org/officeDocument/2006/math">
                    <m:r>
                      <a:rPr lang="en-US" sz="2000" i="1" dirty="0" smtClean="0">
                        <a:solidFill>
                          <a:srgbClr val="000000"/>
                        </a:solidFill>
                        <a:latin typeface="Cambria Math" panose="02040503050406030204" pitchFamily="18" charset="0"/>
                      </a:rPr>
                      <m:t>𝑥</m:t>
                    </m:r>
                  </m:oMath>
                </a14:m>
                <a:r>
                  <a:rPr lang="en-US" sz="2000" dirty="0">
                    <a:solidFill>
                      <a:srgbClr val="000000"/>
                    </a:solidFill>
                  </a:rPr>
                  <a:t> and </a:t>
                </a:r>
                <a14:m>
                  <m:oMath xmlns:m="http://schemas.openxmlformats.org/officeDocument/2006/math">
                    <m:r>
                      <a:rPr lang="en-US" sz="2000" i="1" dirty="0" smtClean="0">
                        <a:solidFill>
                          <a:srgbClr val="000000"/>
                        </a:solidFill>
                        <a:latin typeface="Cambria Math" panose="02040503050406030204" pitchFamily="18" charset="0"/>
                      </a:rPr>
                      <m:t>𝑦</m:t>
                    </m:r>
                  </m:oMath>
                </a14:m>
                <a:r>
                  <a:rPr lang="en-US" sz="2000" dirty="0">
                    <a:solidFill>
                      <a:srgbClr val="000000"/>
                    </a:solidFill>
                  </a:rPr>
                  <a:t> can be calculated as</a:t>
                </a:r>
              </a:p>
              <a:p>
                <a:pPr marL="914400">
                  <a:spcBef>
                    <a:spcPts val="600"/>
                  </a:spcBef>
                </a:pPr>
                <a14:m>
                  <m:oMath xmlns:m="http://schemas.openxmlformats.org/officeDocument/2006/math">
                    <m:r>
                      <a:rPr lang="en-US" sz="2000" b="1" i="1">
                        <a:solidFill>
                          <a:srgbClr val="000000"/>
                        </a:solidFill>
                        <a:latin typeface="Cambria Math" panose="02040503050406030204" pitchFamily="18" charset="0"/>
                      </a:rPr>
                      <m:t>𝑽𝒂𝒓</m:t>
                    </m:r>
                    <m:d>
                      <m:dPr>
                        <m:ctrlPr>
                          <a:rPr lang="en-US" sz="2000" b="1" i="1">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𝒓</m:t>
                        </m:r>
                      </m:e>
                    </m:d>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𝑽𝒂𝒓</m:t>
                    </m:r>
                    <m:d>
                      <m:dPr>
                        <m:ctrlPr>
                          <a:rPr lang="en-US" sz="2000" b="1" i="1" smtClean="0">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𝒂𝒙</m:t>
                        </m:r>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𝒃𝒚</m:t>
                        </m:r>
                      </m:e>
                    </m:d>
                    <m:r>
                      <a:rPr lang="en-US" sz="2000" b="1" i="1" smtClean="0">
                        <a:solidFill>
                          <a:srgbClr val="000000"/>
                        </a:solidFill>
                        <a:latin typeface="Cambria Math" panose="02040503050406030204" pitchFamily="18" charset="0"/>
                      </a:rPr>
                      <m:t>=</m:t>
                    </m:r>
                    <m:sSup>
                      <m:sSupPr>
                        <m:ctrlPr>
                          <a:rPr lang="en-US" sz="2000" b="1" i="1" smtClean="0">
                            <a:solidFill>
                              <a:srgbClr val="000000"/>
                            </a:solidFill>
                            <a:latin typeface="Cambria Math" panose="02040503050406030204" pitchFamily="18" charset="0"/>
                          </a:rPr>
                        </m:ctrlPr>
                      </m:sSupPr>
                      <m:e>
                        <m:r>
                          <a:rPr lang="en-US" sz="2000" b="1" i="1" smtClean="0">
                            <a:solidFill>
                              <a:srgbClr val="000000"/>
                            </a:solidFill>
                            <a:latin typeface="Cambria Math" panose="02040503050406030204" pitchFamily="18" charset="0"/>
                          </a:rPr>
                          <m:t>𝒂</m:t>
                        </m:r>
                      </m:e>
                      <m:sup>
                        <m:r>
                          <a:rPr lang="en-US" sz="2000" b="1" i="1" smtClean="0">
                            <a:solidFill>
                              <a:srgbClr val="000000"/>
                            </a:solidFill>
                            <a:latin typeface="Cambria Math" panose="02040503050406030204" pitchFamily="18" charset="0"/>
                          </a:rPr>
                          <m:t>𝟐</m:t>
                        </m:r>
                      </m:sup>
                    </m:sSup>
                    <m:r>
                      <a:rPr lang="en-US" sz="2000" b="1" i="1" smtClean="0">
                        <a:solidFill>
                          <a:srgbClr val="000000"/>
                        </a:solidFill>
                        <a:latin typeface="Cambria Math" panose="02040503050406030204" pitchFamily="18" charset="0"/>
                      </a:rPr>
                      <m:t>𝑽𝒂𝒓</m:t>
                    </m:r>
                    <m:d>
                      <m:dPr>
                        <m:ctrlPr>
                          <a:rPr lang="en-US" sz="2000" b="1" i="1" smtClean="0">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𝒙</m:t>
                        </m:r>
                      </m:e>
                    </m:d>
                    <m:r>
                      <a:rPr lang="en-US" sz="2000" b="1" i="1" smtClean="0">
                        <a:solidFill>
                          <a:srgbClr val="000000"/>
                        </a:solidFill>
                        <a:latin typeface="Cambria Math" panose="02040503050406030204" pitchFamily="18" charset="0"/>
                      </a:rPr>
                      <m:t>+</m:t>
                    </m:r>
                    <m:sSup>
                      <m:sSupPr>
                        <m:ctrlPr>
                          <a:rPr lang="en-US" sz="2000" b="1" i="1">
                            <a:solidFill>
                              <a:srgbClr val="000000"/>
                            </a:solidFill>
                            <a:latin typeface="Cambria Math" panose="02040503050406030204" pitchFamily="18" charset="0"/>
                          </a:rPr>
                        </m:ctrlPr>
                      </m:sSupPr>
                      <m:e>
                        <m:r>
                          <a:rPr lang="en-US" sz="2000" b="1" i="1" smtClean="0">
                            <a:solidFill>
                              <a:srgbClr val="000000"/>
                            </a:solidFill>
                            <a:latin typeface="Cambria Math" panose="02040503050406030204" pitchFamily="18" charset="0"/>
                          </a:rPr>
                          <m:t>𝒃</m:t>
                        </m:r>
                      </m:e>
                      <m:sup>
                        <m:r>
                          <a:rPr lang="en-US" sz="2000" b="1" i="1">
                            <a:solidFill>
                              <a:srgbClr val="000000"/>
                            </a:solidFill>
                            <a:latin typeface="Cambria Math" panose="02040503050406030204" pitchFamily="18" charset="0"/>
                          </a:rPr>
                          <m:t>𝟐</m:t>
                        </m:r>
                      </m:sup>
                    </m:sSup>
                    <m:r>
                      <a:rPr lang="en-US" sz="2000" b="1" i="1">
                        <a:solidFill>
                          <a:srgbClr val="000000"/>
                        </a:solidFill>
                        <a:latin typeface="Cambria Math" panose="02040503050406030204" pitchFamily="18" charset="0"/>
                      </a:rPr>
                      <m:t>𝑽𝒂𝒓</m:t>
                    </m:r>
                    <m:d>
                      <m:dPr>
                        <m:ctrlPr>
                          <a:rPr lang="en-US" sz="2000" b="1" i="1">
                            <a:solidFill>
                              <a:srgbClr val="000000"/>
                            </a:solidFill>
                            <a:latin typeface="Cambria Math" panose="02040503050406030204" pitchFamily="18" charset="0"/>
                          </a:rPr>
                        </m:ctrlPr>
                      </m:dPr>
                      <m:e>
                        <m:r>
                          <a:rPr lang="en-US" sz="2000" b="1" i="1" smtClean="0">
                            <a:solidFill>
                              <a:srgbClr val="000000"/>
                            </a:solidFill>
                            <a:latin typeface="Cambria Math" panose="02040503050406030204" pitchFamily="18" charset="0"/>
                          </a:rPr>
                          <m:t>𝒚</m:t>
                        </m:r>
                      </m:e>
                    </m:d>
                    <m:r>
                      <a:rPr lang="en-US" sz="2000" b="1" i="1" smtClean="0">
                        <a:solidFill>
                          <a:srgbClr val="000000"/>
                        </a:solidFill>
                        <a:latin typeface="Cambria Math" panose="02040503050406030204" pitchFamily="18" charset="0"/>
                      </a:rPr>
                      <m:t>+</m:t>
                    </m:r>
                    <m:r>
                      <a:rPr lang="en-US" sz="2000" b="1" i="1" smtClean="0">
                        <a:solidFill>
                          <a:srgbClr val="000000"/>
                        </a:solidFill>
                        <a:latin typeface="Cambria Math" panose="02040503050406030204" pitchFamily="18" charset="0"/>
                      </a:rPr>
                      <m:t>𝟐</m:t>
                    </m:r>
                    <m:r>
                      <a:rPr lang="en-US" sz="2000" b="1" i="1" smtClean="0">
                        <a:solidFill>
                          <a:srgbClr val="000000"/>
                        </a:solidFill>
                        <a:latin typeface="Cambria Math" panose="02040503050406030204" pitchFamily="18" charset="0"/>
                      </a:rPr>
                      <m:t>𝒂𝒃</m:t>
                    </m:r>
                    <m:sSub>
                      <m:sSubPr>
                        <m:ctrlPr>
                          <a:rPr lang="en-US" sz="2000" b="1" i="1" smtClean="0">
                            <a:solidFill>
                              <a:srgbClr val="000000"/>
                            </a:solidFill>
                            <a:latin typeface="Cambria Math" panose="02040503050406030204" pitchFamily="18" charset="0"/>
                          </a:rPr>
                        </m:ctrlPr>
                      </m:sSubPr>
                      <m:e>
                        <m:r>
                          <a:rPr lang="en-US" sz="2000" b="1" i="1" smtClean="0">
                            <a:solidFill>
                              <a:srgbClr val="000000"/>
                            </a:solidFill>
                            <a:latin typeface="Cambria Math" panose="02040503050406030204" pitchFamily="18" charset="0"/>
                            <a:ea typeface="Cambria Math" panose="02040503050406030204" pitchFamily="18" charset="0"/>
                          </a:rPr>
                          <m:t>𝝈</m:t>
                        </m:r>
                      </m:e>
                      <m:sub>
                        <m:r>
                          <a:rPr lang="en-US" sz="2000" b="1" i="1" smtClean="0">
                            <a:solidFill>
                              <a:srgbClr val="000000"/>
                            </a:solidFill>
                            <a:latin typeface="Cambria Math" panose="02040503050406030204" pitchFamily="18" charset="0"/>
                          </a:rPr>
                          <m:t>𝒙𝒚</m:t>
                        </m:r>
                      </m:sub>
                    </m:sSub>
                  </m:oMath>
                </a14:m>
                <a:r>
                  <a:rPr lang="en-US" sz="2000" dirty="0">
                    <a:solidFill>
                      <a:srgbClr val="000000"/>
                    </a:solidFill>
                  </a:rPr>
                  <a:t> </a:t>
                </a:r>
              </a:p>
              <a:p>
                <a:pPr>
                  <a:spcBef>
                    <a:spcPts val="600"/>
                  </a:spcBef>
                </a:pPr>
                <a:r>
                  <a:rPr lang="en-US" sz="2000" dirty="0">
                    <a:solidFill>
                      <a:srgbClr val="000000"/>
                    </a:solidFill>
                  </a:rPr>
                  <a:t>Where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rPr>
                          <m:t>𝑥𝑦</m:t>
                        </m:r>
                      </m:sub>
                    </m:sSub>
                  </m:oMath>
                </a14:m>
                <a:r>
                  <a:rPr lang="en-US" sz="2000" dirty="0">
                    <a:solidFill>
                      <a:srgbClr val="000000"/>
                    </a:solidFill>
                  </a:rPr>
                  <a:t> is the covariance of </a:t>
                </a:r>
                <a14:m>
                  <m:oMath xmlns:m="http://schemas.openxmlformats.org/officeDocument/2006/math">
                    <m:r>
                      <a:rPr lang="en-US" sz="2000" i="1" dirty="0" smtClean="0">
                        <a:solidFill>
                          <a:srgbClr val="000000"/>
                        </a:solidFill>
                        <a:latin typeface="Cambria Math" panose="02040503050406030204" pitchFamily="18" charset="0"/>
                      </a:rPr>
                      <m:t>𝑥</m:t>
                    </m:r>
                  </m:oMath>
                </a14:m>
                <a:r>
                  <a:rPr lang="en-US" sz="2000" dirty="0">
                    <a:solidFill>
                      <a:srgbClr val="000000"/>
                    </a:solidFill>
                  </a:rPr>
                  <a:t> and </a:t>
                </a:r>
                <a14:m>
                  <m:oMath xmlns:m="http://schemas.openxmlformats.org/officeDocument/2006/math">
                    <m:r>
                      <a:rPr lang="en-US" sz="2000" i="1" dirty="0" smtClean="0">
                        <a:solidFill>
                          <a:srgbClr val="000000"/>
                        </a:solidFill>
                        <a:latin typeface="Cambria Math" panose="02040503050406030204" pitchFamily="18" charset="0"/>
                      </a:rPr>
                      <m:t>𝑦</m:t>
                    </m:r>
                  </m:oMath>
                </a14:m>
                <a:r>
                  <a:rPr lang="en-US" sz="2000" dirty="0">
                    <a:solidFill>
                      <a:srgbClr val="000000"/>
                    </a:solidFill>
                  </a:rPr>
                  <a:t>.</a:t>
                </a:r>
              </a:p>
              <a:p>
                <a:pPr>
                  <a:spcBef>
                    <a:spcPts val="600"/>
                  </a:spcBef>
                  <a:spcAft>
                    <a:spcPts val="600"/>
                  </a:spcAft>
                </a:pPr>
                <a:r>
                  <a:rPr lang="en-US" sz="2000" dirty="0">
                    <a:solidFill>
                      <a:srgbClr val="000000"/>
                    </a:solidFill>
                  </a:rPr>
                  <a:t>Given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𝜎</m:t>
                        </m:r>
                      </m:e>
                      <m:sub>
                        <m:r>
                          <a:rPr lang="en-US" sz="2000" i="1">
                            <a:solidFill>
                              <a:srgbClr val="000000"/>
                            </a:solidFill>
                            <a:latin typeface="Cambria Math" panose="02040503050406030204" pitchFamily="18" charset="0"/>
                          </a:rPr>
                          <m:t>𝑥𝑦</m:t>
                        </m:r>
                      </m:sub>
                    </m:sSub>
                    <m:r>
                      <a:rPr lang="en-US" sz="2000" i="1">
                        <a:solidFill>
                          <a:srgbClr val="000000"/>
                        </a:solidFill>
                        <a:latin typeface="Cambria Math" panose="02040503050406030204" pitchFamily="18" charset="0"/>
                      </a:rPr>
                      <m:t>=−135.3375</m:t>
                    </m:r>
                  </m:oMath>
                </a14:m>
                <a:r>
                  <a:rPr lang="en-US" sz="2000" dirty="0">
                    <a:solidFill>
                      <a:srgbClr val="000000"/>
                    </a:solidFill>
                  </a:rPr>
                  <a:t>, variance and standard deviation of the financial portfolio are</a:t>
                </a:r>
              </a:p>
              <a:p>
                <a:pPr marL="574675">
                  <a:spcBef>
                    <a:spcPts val="600"/>
                  </a:spcBef>
                  <a:spcAft>
                    <a:spcPts val="0"/>
                  </a:spcAft>
                </a:pPr>
                <a14:m>
                  <m:oMath xmlns:m="http://schemas.openxmlformats.org/officeDocument/2006/math">
                    <m:r>
                      <a:rPr lang="en-US" sz="2000" b="0" i="1" smtClean="0">
                        <a:solidFill>
                          <a:srgbClr val="000000"/>
                        </a:solidFill>
                        <a:latin typeface="Cambria Math" panose="02040503050406030204" pitchFamily="18" charset="0"/>
                      </a:rPr>
                      <m:t>𝑉𝑎𝑟</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𝑟</m:t>
                        </m:r>
                      </m:e>
                    </m:d>
                    <m:r>
                      <a:rPr lang="en-US" sz="2000" b="0" i="1" smtClean="0">
                        <a:solidFill>
                          <a:srgbClr val="000000"/>
                        </a:solidFill>
                        <a:latin typeface="Cambria Math" panose="02040503050406030204" pitchFamily="18" charset="0"/>
                      </a:rPr>
                      <m:t>=</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0.5</m:t>
                        </m:r>
                      </m:e>
                      <m:sup>
                        <m:r>
                          <a:rPr lang="en-US" sz="2000" b="0" i="1" smtClean="0">
                            <a:solidFill>
                              <a:srgbClr val="000000"/>
                            </a:solidFill>
                            <a:latin typeface="Cambria Math" panose="02040503050406030204" pitchFamily="18" charset="0"/>
                          </a:rPr>
                          <m:t>2</m:t>
                        </m:r>
                      </m:sup>
                    </m:sSup>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328.1875</m:t>
                        </m:r>
                      </m:e>
                    </m:d>
                    <m:r>
                      <a:rPr lang="en-US" sz="2000" b="0" i="1" smtClean="0">
                        <a:solidFill>
                          <a:srgbClr val="000000"/>
                        </a:solidFill>
                        <a:latin typeface="Cambria Math" panose="02040503050406030204" pitchFamily="18" charset="0"/>
                      </a:rPr>
                      <m:t>+</m:t>
                    </m:r>
                    <m:sSup>
                      <m:sSupPr>
                        <m:ctrlPr>
                          <a:rPr lang="en-US" sz="2000" i="1" smtClean="0">
                            <a:solidFill>
                              <a:srgbClr val="000000"/>
                            </a:solidFill>
                            <a:latin typeface="Cambria Math" panose="02040503050406030204" pitchFamily="18" charset="0"/>
                          </a:rPr>
                        </m:ctrlPr>
                      </m:sSupPr>
                      <m:e>
                        <m:r>
                          <a:rPr lang="en-US" sz="2000" i="1" smtClean="0">
                            <a:solidFill>
                              <a:srgbClr val="000000"/>
                            </a:solidFill>
                            <a:latin typeface="Cambria Math" panose="02040503050406030204" pitchFamily="18" charset="0"/>
                          </a:rPr>
                          <m:t>0</m:t>
                        </m:r>
                        <m:r>
                          <a:rPr lang="en-US" sz="2000" i="1">
                            <a:solidFill>
                              <a:srgbClr val="000000"/>
                            </a:solidFill>
                            <a:latin typeface="Cambria Math" panose="02040503050406030204" pitchFamily="18" charset="0"/>
                          </a:rPr>
                          <m:t>.5</m:t>
                        </m:r>
                      </m:e>
                      <m:sup>
                        <m:r>
                          <a:rPr lang="en-US" sz="2000" i="1">
                            <a:solidFill>
                              <a:srgbClr val="000000"/>
                            </a:solidFill>
                            <a:latin typeface="Cambria Math" panose="02040503050406030204" pitchFamily="18" charset="0"/>
                          </a:rPr>
                          <m:t>2</m:t>
                        </m:r>
                      </m:sup>
                    </m:sSup>
                    <m:d>
                      <m:dPr>
                        <m:ctrlPr>
                          <a:rPr lang="en-US" sz="2000" i="1">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61</m:t>
                        </m:r>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94</m:t>
                        </m:r>
                        <m:r>
                          <a:rPr lang="en-US" sz="2000" i="1">
                            <a:solidFill>
                              <a:srgbClr val="000000"/>
                            </a:solidFill>
                            <a:latin typeface="Cambria Math" panose="02040503050406030204" pitchFamily="18" charset="0"/>
                          </a:rPr>
                          <m:t>75</m:t>
                        </m:r>
                      </m:e>
                    </m:d>
                    <m:r>
                      <a:rPr lang="en-US" sz="2000" b="0" i="1" smtClean="0">
                        <a:solidFill>
                          <a:srgbClr val="000000"/>
                        </a:solidFill>
                        <a:latin typeface="Cambria Math" panose="02040503050406030204" pitchFamily="18" charset="0"/>
                      </a:rPr>
                      <m:t>+2</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0.5</m:t>
                        </m:r>
                      </m:e>
                    </m:d>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0.5</m:t>
                        </m:r>
                      </m:e>
                    </m:d>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−135.3375</m:t>
                        </m:r>
                      </m:e>
                    </m:d>
                    <m:r>
                      <a:rPr lang="en-US" sz="2000" b="0" i="1" smtClean="0">
                        <a:solidFill>
                          <a:srgbClr val="000000"/>
                        </a:solidFill>
                        <a:latin typeface="Cambria Math" panose="02040503050406030204" pitchFamily="18" charset="0"/>
                      </a:rPr>
                      <m:t>=29.865</m:t>
                    </m:r>
                  </m:oMath>
                </a14:m>
                <a:r>
                  <a:rPr lang="en-US" sz="2000" dirty="0">
                    <a:solidFill>
                      <a:srgbClr val="000000"/>
                    </a:solidFill>
                  </a:rPr>
                  <a:t> </a:t>
                </a:r>
              </a:p>
              <a:p>
                <a:pPr marL="573088">
                  <a:spcBef>
                    <a:spcPts val="600"/>
                  </a:spcBef>
                  <a:spcAft>
                    <a:spcPts val="600"/>
                  </a:spcAft>
                </a:pPr>
                <a14:m>
                  <m:oMath xmlns:m="http://schemas.openxmlformats.org/officeDocument/2006/math">
                    <m:sSub>
                      <m:sSubPr>
                        <m:ctrlPr>
                          <a:rPr lang="en-US" sz="2000" i="1" smtClean="0">
                            <a:solidFill>
                              <a:srgbClr val="000000"/>
                            </a:solidFill>
                            <a:latin typeface="Cambria Math" panose="02040503050406030204" pitchFamily="18" charset="0"/>
                            <a:ea typeface="Cambria Math" panose="02040503050406030204" pitchFamily="18" charset="0"/>
                          </a:rPr>
                        </m:ctrlPr>
                      </m:sSubPr>
                      <m:e>
                        <m:r>
                          <a:rPr lang="en-US" sz="2000" i="1">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𝑟</m:t>
                        </m:r>
                      </m:sub>
                    </m:sSub>
                    <m:r>
                      <a:rPr lang="en-US" sz="2000" b="0" i="1" smtClean="0">
                        <a:solidFill>
                          <a:srgbClr val="000000"/>
                        </a:solidFill>
                        <a:latin typeface="Cambria Math" panose="02040503050406030204" pitchFamily="18" charset="0"/>
                        <a:ea typeface="Cambria Math" panose="02040503050406030204" pitchFamily="18" charset="0"/>
                      </a:rPr>
                      <m:t>=</m:t>
                    </m:r>
                    <m:rad>
                      <m:radPr>
                        <m:degHide m:val="on"/>
                        <m:ctrlPr>
                          <a:rPr lang="en-US" sz="2000" b="0" i="1" smtClean="0">
                            <a:solidFill>
                              <a:srgbClr val="000000"/>
                            </a:solidFill>
                            <a:latin typeface="Cambria Math" panose="02040503050406030204" pitchFamily="18" charset="0"/>
                            <a:ea typeface="Cambria Math" panose="02040503050406030204" pitchFamily="18" charset="0"/>
                          </a:rPr>
                        </m:ctrlPr>
                      </m:radPr>
                      <m:deg/>
                      <m:e>
                        <m:r>
                          <a:rPr lang="en-US" sz="2000" b="0" i="1" smtClean="0">
                            <a:solidFill>
                              <a:srgbClr val="000000"/>
                            </a:solidFill>
                            <a:latin typeface="Cambria Math" panose="02040503050406030204" pitchFamily="18" charset="0"/>
                          </a:rPr>
                          <m:t>29.865</m:t>
                        </m:r>
                      </m:e>
                    </m:rad>
                    <m:r>
                      <a:rPr lang="en-US" sz="2000" b="0" i="1" smtClean="0">
                        <a:solidFill>
                          <a:srgbClr val="000000"/>
                        </a:solidFill>
                        <a:latin typeface="Cambria Math" panose="02040503050406030204" pitchFamily="18" charset="0"/>
                      </a:rPr>
                      <m:t>=5.4650%</m:t>
                    </m:r>
                  </m:oMath>
                </a14:m>
                <a:r>
                  <a:rPr lang="en-US" sz="2000" dirty="0">
                    <a:solidFill>
                      <a:srgbClr val="000000"/>
                    </a:solidFill>
                  </a:rPr>
                  <a:t> </a:t>
                </a:r>
              </a:p>
            </p:txBody>
          </p:sp>
        </mc:Choice>
        <mc:Fallback xmlns="">
          <p:sp>
            <p:nvSpPr>
              <p:cNvPr id="3" name="Text Placeholder 2">
                <a:extLst>
                  <a:ext uri="{FF2B5EF4-FFF2-40B4-BE49-F238E27FC236}">
                    <a16:creationId xmlns:a16="http://schemas.microsoft.com/office/drawing/2014/main" id="{D71EF353-7B04-4019-2CD5-E788F0F2A665}"/>
                  </a:ext>
                </a:extLst>
              </p:cNvPr>
              <p:cNvSpPr>
                <a:spLocks noGrp="1" noRot="1" noChangeAspect="1" noMove="1" noResize="1" noEditPoints="1" noAdjustHandles="1" noChangeArrowheads="1" noChangeShapeType="1" noTextEdit="1"/>
              </p:cNvSpPr>
              <p:nvPr>
                <p:ph type="body" sz="quarter" idx="15"/>
              </p:nvPr>
            </p:nvSpPr>
            <p:spPr>
              <a:xfrm>
                <a:off x="743576" y="1218544"/>
                <a:ext cx="10711543" cy="4550734"/>
              </a:xfrm>
              <a:blipFill>
                <a:blip r:embed="rId3"/>
                <a:stretch>
                  <a:fillRect l="-1480" t="-1609" r="-114"/>
                </a:stretch>
              </a:blipFill>
            </p:spPr>
            <p:txBody>
              <a:bodyPr/>
              <a:lstStyle/>
              <a:p>
                <a:r>
                  <a:rPr lang="en-IN">
                    <a:noFill/>
                  </a:rPr>
                  <a:t> </a:t>
                </a:r>
              </a:p>
            </p:txBody>
          </p:sp>
        </mc:Fallback>
      </mc:AlternateContent>
    </p:spTree>
    <p:extLst>
      <p:ext uri="{BB962C8B-B14F-4D97-AF65-F5344CB8AC3E}">
        <p14:creationId xmlns:p14="http://schemas.microsoft.com/office/powerpoint/2010/main" val="1856242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8A833-05BA-3E55-8902-58FCCE73AC9A}"/>
              </a:ext>
            </a:extLst>
          </p:cNvPr>
          <p:cNvSpPr>
            <a:spLocks noGrp="1"/>
          </p:cNvSpPr>
          <p:nvPr>
            <p:ph type="title"/>
          </p:nvPr>
        </p:nvSpPr>
        <p:spPr>
          <a:xfrm>
            <a:off x="552089" y="365125"/>
            <a:ext cx="10887974" cy="672105"/>
          </a:xfrm>
        </p:spPr>
        <p:txBody>
          <a:bodyPr/>
          <a:lstStyle/>
          <a:p>
            <a:r>
              <a:rPr lang="en-US" sz="3200" dirty="0"/>
              <a:t>5.4 Risk and Return for the Three Financial Alternatives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9D0295C6-6394-B0AD-A13B-30C0B55BCC70}"/>
                  </a:ext>
                </a:extLst>
              </p:cNvPr>
              <p:cNvSpPr>
                <a:spLocks noGrp="1"/>
              </p:cNvSpPr>
              <p:nvPr>
                <p:ph type="body" sz="quarter" idx="15"/>
              </p:nvPr>
            </p:nvSpPr>
            <p:spPr>
              <a:xfrm>
                <a:off x="743576" y="1428750"/>
                <a:ext cx="10610223" cy="2204299"/>
              </a:xfrm>
            </p:spPr>
            <p:txBody>
              <a:bodyPr/>
              <a:lstStyle/>
              <a:p>
                <a:pPr>
                  <a:lnSpc>
                    <a:spcPct val="100000"/>
                  </a:lnSpc>
                  <a:spcBef>
                    <a:spcPts val="600"/>
                  </a:spcBef>
                </a:pPr>
                <a:r>
                  <a:rPr lang="en-US" sz="2000" dirty="0">
                    <a:solidFill>
                      <a:srgbClr val="000000"/>
                    </a:solidFill>
                  </a:rPr>
                  <a:t>The expected return of the financial portfolio consisting of investing 50% in the stock fund and 50% in the bond fund is halfway between that of the stock fund alone and the bond fund alone, but at a considerably lower risk, as shown by the smaller standard deviation.</a:t>
                </a:r>
              </a:p>
              <a:p>
                <a:pPr>
                  <a:lnSpc>
                    <a:spcPct val="100000"/>
                  </a:lnSpc>
                  <a:spcBef>
                    <a:spcPts val="600"/>
                  </a:spcBef>
                  <a:spcAft>
                    <a:spcPts val="600"/>
                  </a:spcAft>
                </a:pPr>
                <a:r>
                  <a:rPr lang="en-US" sz="2000" dirty="0">
                    <a:solidFill>
                      <a:srgbClr val="000000"/>
                    </a:solidFill>
                  </a:rPr>
                  <a:t>Other linear combinations are possible. For example, a portfolio consisting of 25% stock fund and 75% bond fund reveals a comparable return to the 50%-50% investment, but at an even lower risk: </a:t>
                </a:r>
                <a14:m>
                  <m:oMath xmlns:m="http://schemas.openxmlformats.org/officeDocument/2006/math">
                    <m:r>
                      <m:rPr>
                        <m:sty m:val="p"/>
                      </m:rPr>
                      <a:rPr lang="en-US" sz="2000" b="0" i="0" smtClean="0">
                        <a:solidFill>
                          <a:srgbClr val="000000"/>
                        </a:solidFill>
                        <a:latin typeface="Cambria Math" panose="02040503050406030204" pitchFamily="18" charset="0"/>
                      </a:rPr>
                      <m:t>E</m:t>
                    </m:r>
                    <m:d>
                      <m:dPr>
                        <m:ctrlPr>
                          <a:rPr lang="en-US" sz="2000" b="0" i="1" smtClean="0">
                            <a:solidFill>
                              <a:srgbClr val="000000"/>
                            </a:solidFill>
                            <a:latin typeface="Cambria Math" panose="02040503050406030204" pitchFamily="18" charset="0"/>
                          </a:rPr>
                        </m:ctrlPr>
                      </m:dPr>
                      <m:e>
                        <m:r>
                          <m:rPr>
                            <m:sty m:val="p"/>
                          </m:rPr>
                          <a:rPr lang="en-US" sz="2000" b="0" i="0" smtClean="0">
                            <a:solidFill>
                              <a:srgbClr val="000000"/>
                            </a:solidFill>
                            <a:latin typeface="Cambria Math" panose="02040503050406030204" pitchFamily="18" charset="0"/>
                          </a:rPr>
                          <m:t>r</m:t>
                        </m:r>
                      </m:e>
                    </m:d>
                    <m:r>
                      <a:rPr lang="en-US" sz="2000" b="0" i="0" smtClean="0">
                        <a:solidFill>
                          <a:srgbClr val="000000"/>
                        </a:solidFill>
                        <a:latin typeface="Cambria Math" panose="02040503050406030204" pitchFamily="18" charset="0"/>
                      </a:rPr>
                      <m:t>=7.225, </m:t>
                    </m:r>
                    <m:r>
                      <m:rPr>
                        <m:sty m:val="p"/>
                      </m:rPr>
                      <a:rPr lang="en-US" sz="2000" b="0" i="0" smtClean="0">
                        <a:solidFill>
                          <a:srgbClr val="000000"/>
                        </a:solidFill>
                        <a:latin typeface="Cambria Math" panose="02040503050406030204" pitchFamily="18" charset="0"/>
                      </a:rPr>
                      <m:t>Var</m:t>
                    </m:r>
                    <m:d>
                      <m:dPr>
                        <m:ctrlPr>
                          <a:rPr lang="en-US" sz="2000" b="0" i="1" smtClean="0">
                            <a:solidFill>
                              <a:srgbClr val="000000"/>
                            </a:solidFill>
                            <a:latin typeface="Cambria Math" panose="02040503050406030204" pitchFamily="18" charset="0"/>
                          </a:rPr>
                        </m:ctrlPr>
                      </m:dPr>
                      <m:e>
                        <m:r>
                          <m:rPr>
                            <m:sty m:val="p"/>
                          </m:rPr>
                          <a:rPr lang="en-US" sz="2000" b="0" i="0" smtClean="0">
                            <a:solidFill>
                              <a:srgbClr val="000000"/>
                            </a:solidFill>
                            <a:latin typeface="Cambria Math" panose="02040503050406030204" pitchFamily="18" charset="0"/>
                          </a:rPr>
                          <m:t>r</m:t>
                        </m:r>
                      </m:e>
                    </m:d>
                    <m:r>
                      <a:rPr lang="en-US" sz="2000" b="0" i="0" smtClean="0">
                        <a:solidFill>
                          <a:srgbClr val="000000"/>
                        </a:solidFill>
                        <a:latin typeface="Cambria Math" panose="02040503050406030204" pitchFamily="18" charset="0"/>
                      </a:rPr>
                      <m:t>=4.6056, </m:t>
                    </m:r>
                    <m:sSub>
                      <m:sSubPr>
                        <m:ctrlPr>
                          <a:rPr lang="en-US" sz="2000" b="0" i="1" smtClean="0">
                            <a:solidFill>
                              <a:srgbClr val="000000"/>
                            </a:solidFill>
                            <a:latin typeface="Cambria Math" panose="02040503050406030204" pitchFamily="18" charset="0"/>
                          </a:rPr>
                        </m:ctrlPr>
                      </m:sSubPr>
                      <m:e>
                        <m:r>
                          <m:rPr>
                            <m:sty m:val="p"/>
                          </m:rPr>
                          <a:rPr lang="en-US" sz="2000" b="0" i="0" smtClean="0">
                            <a:solidFill>
                              <a:srgbClr val="000000"/>
                            </a:solidFill>
                            <a:latin typeface="Cambria Math" panose="02040503050406030204" pitchFamily="18" charset="0"/>
                            <a:ea typeface="Cambria Math" panose="02040503050406030204" pitchFamily="18" charset="0"/>
                          </a:rPr>
                          <m:t>σ</m:t>
                        </m:r>
                      </m:e>
                      <m:sub>
                        <m:r>
                          <m:rPr>
                            <m:sty m:val="p"/>
                          </m:rPr>
                          <a:rPr lang="en-US" sz="2000" b="0" i="0" smtClean="0">
                            <a:solidFill>
                              <a:srgbClr val="000000"/>
                            </a:solidFill>
                            <a:latin typeface="Cambria Math" panose="02040503050406030204" pitchFamily="18" charset="0"/>
                          </a:rPr>
                          <m:t>r</m:t>
                        </m:r>
                      </m:sub>
                    </m:sSub>
                    <m:r>
                      <a:rPr lang="en-US" sz="2000" b="0" i="0" smtClean="0">
                        <a:solidFill>
                          <a:srgbClr val="000000"/>
                        </a:solidFill>
                        <a:latin typeface="Cambria Math" panose="02040503050406030204" pitchFamily="18" charset="0"/>
                      </a:rPr>
                      <m:t>=2.14161</m:t>
                    </m:r>
                  </m:oMath>
                </a14:m>
                <a:endParaRPr lang="en-US" sz="2000" dirty="0">
                  <a:solidFill>
                    <a:srgbClr val="000000"/>
                  </a:solidFill>
                </a:endParaRPr>
              </a:p>
            </p:txBody>
          </p:sp>
        </mc:Choice>
        <mc:Fallback xmlns="">
          <p:sp>
            <p:nvSpPr>
              <p:cNvPr id="5" name="Text Placeholder 4">
                <a:extLst>
                  <a:ext uri="{FF2B5EF4-FFF2-40B4-BE49-F238E27FC236}">
                    <a16:creationId xmlns:a16="http://schemas.microsoft.com/office/drawing/2014/main" id="{9D0295C6-6394-B0AD-A13B-30C0B55BCC70}"/>
                  </a:ext>
                </a:extLst>
              </p:cNvPr>
              <p:cNvSpPr>
                <a:spLocks noGrp="1" noRot="1" noChangeAspect="1" noMove="1" noResize="1" noEditPoints="1" noAdjustHandles="1" noChangeArrowheads="1" noChangeShapeType="1" noTextEdit="1"/>
              </p:cNvSpPr>
              <p:nvPr>
                <p:ph type="body" sz="quarter" idx="15"/>
              </p:nvPr>
            </p:nvSpPr>
            <p:spPr>
              <a:xfrm>
                <a:off x="743576" y="1428750"/>
                <a:ext cx="10610223" cy="2204299"/>
              </a:xfrm>
              <a:blipFill>
                <a:blip r:embed="rId3"/>
                <a:stretch>
                  <a:fillRect l="-1494" t="-3315" r="-2069"/>
                </a:stretch>
              </a:blipFill>
            </p:spPr>
            <p:txBody>
              <a:bodyPr/>
              <a:lstStyle/>
              <a:p>
                <a:r>
                  <a:rPr lang="en-IN">
                    <a:noFill/>
                  </a:rPr>
                  <a:t> </a:t>
                </a:r>
              </a:p>
            </p:txBody>
          </p:sp>
        </mc:Fallback>
      </mc:AlternateContent>
      <p:graphicFrame>
        <p:nvGraphicFramePr>
          <p:cNvPr id="4" name="Table 5">
            <a:extLst>
              <a:ext uri="{FF2B5EF4-FFF2-40B4-BE49-F238E27FC236}">
                <a16:creationId xmlns:a16="http://schemas.microsoft.com/office/drawing/2014/main" id="{BBF30047-C996-4A7D-B8C0-0AD3B41A7D99}"/>
              </a:ext>
            </a:extLst>
          </p:cNvPr>
          <p:cNvGraphicFramePr>
            <a:graphicFrameLocks noGrp="1"/>
          </p:cNvGraphicFramePr>
          <p:nvPr>
            <p:ph type="tbl" sz="quarter" idx="16"/>
            <p:extLst>
              <p:ext uri="{D42A27DB-BD31-4B8C-83A1-F6EECF244321}">
                <p14:modId xmlns:p14="http://schemas.microsoft.com/office/powerpoint/2010/main" val="3179089104"/>
              </p:ext>
            </p:extLst>
          </p:nvPr>
        </p:nvGraphicFramePr>
        <p:xfrm>
          <a:off x="2156547" y="3806282"/>
          <a:ext cx="7498080" cy="2204298"/>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102517973"/>
                    </a:ext>
                  </a:extLst>
                </a:gridCol>
                <a:gridCol w="1463040">
                  <a:extLst>
                    <a:ext uri="{9D8B030D-6E8A-4147-A177-3AD203B41FA5}">
                      <a16:colId xmlns:a16="http://schemas.microsoft.com/office/drawing/2014/main" val="3361904622"/>
                    </a:ext>
                  </a:extLst>
                </a:gridCol>
                <a:gridCol w="1463040">
                  <a:extLst>
                    <a:ext uri="{9D8B030D-6E8A-4147-A177-3AD203B41FA5}">
                      <a16:colId xmlns:a16="http://schemas.microsoft.com/office/drawing/2014/main" val="3421612614"/>
                    </a:ext>
                  </a:extLst>
                </a:gridCol>
                <a:gridCol w="2011680">
                  <a:extLst>
                    <a:ext uri="{9D8B030D-6E8A-4147-A177-3AD203B41FA5}">
                      <a16:colId xmlns:a16="http://schemas.microsoft.com/office/drawing/2014/main" val="1356844278"/>
                    </a:ext>
                  </a:extLst>
                </a:gridCol>
              </a:tblGrid>
              <a:tr h="483757">
                <a:tc>
                  <a:txBody>
                    <a:bodyPr/>
                    <a:lstStyle/>
                    <a:p>
                      <a:pPr marL="112713" indent="0" algn="l" fontAlgn="b"/>
                      <a:r>
                        <a:rPr lang="en-US" sz="1800" b="1" i="0" u="none" strike="noStrike" dirty="0">
                          <a:solidFill>
                            <a:srgbClr val="000000"/>
                          </a:solidFill>
                          <a:effectLst/>
                          <a:latin typeface="Calibri" panose="020F0502020204030204" pitchFamily="34" charset="0"/>
                        </a:rPr>
                        <a:t>Investment Alternative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b"/>
                      <a:r>
                        <a:rPr lang="en-US" sz="1800" b="1" i="0" u="none" strike="noStrike" dirty="0">
                          <a:solidFill>
                            <a:srgbClr val="000000"/>
                          </a:solidFill>
                          <a:effectLst/>
                          <a:latin typeface="Calibri" panose="020F0502020204030204" pitchFamily="34" charset="0"/>
                        </a:rPr>
                        <a:t>Expected Return (%)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b"/>
                      <a:r>
                        <a:rPr lang="en-US" sz="1800" b="1" i="0" u="none" strike="noStrike" dirty="0">
                          <a:solidFill>
                            <a:srgbClr val="000000"/>
                          </a:solidFill>
                          <a:effectLst/>
                          <a:latin typeface="Calibri" panose="020F0502020204030204" pitchFamily="34" charset="0"/>
                        </a:rPr>
                        <a:t>Variance </a:t>
                      </a:r>
                    </a:p>
                    <a:p>
                      <a:pPr algn="l" fontAlgn="b"/>
                      <a:r>
                        <a:rPr lang="en-US" sz="1800" b="1" i="0" u="none" strike="noStrike" dirty="0">
                          <a:solidFill>
                            <a:srgbClr val="000000"/>
                          </a:solidFill>
                          <a:effectLst/>
                          <a:latin typeface="Calibri" panose="020F0502020204030204" pitchFamily="34" charset="0"/>
                        </a:rPr>
                        <a:t>of Return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l" fontAlgn="b"/>
                      <a:r>
                        <a:rPr lang="en-US" sz="1800" b="1" i="0" u="none" strike="noStrike" dirty="0">
                          <a:solidFill>
                            <a:srgbClr val="000000"/>
                          </a:solidFill>
                          <a:effectLst/>
                          <a:latin typeface="Calibri" panose="020F0502020204030204" pitchFamily="34" charset="0"/>
                        </a:rPr>
                        <a:t>Standard Deviation of Return (%) </a:t>
                      </a:r>
                    </a:p>
                  </a:txBody>
                  <a:tcPr marL="6350" marR="6350" marT="6350" marB="9144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41267530"/>
                  </a:ext>
                </a:extLst>
              </a:tr>
              <a:tr h="471847">
                <a:tc>
                  <a:txBody>
                    <a:bodyPr/>
                    <a:lstStyle/>
                    <a:p>
                      <a:pPr marL="112713" indent="0" algn="l" fontAlgn="b"/>
                      <a:r>
                        <a:rPr lang="en-US" sz="1800" b="0" i="0" u="none" strike="noStrike" dirty="0">
                          <a:solidFill>
                            <a:srgbClr val="000000"/>
                          </a:solidFill>
                          <a:effectLst/>
                          <a:latin typeface="Calibri" panose="020F0502020204030204" pitchFamily="34" charset="0"/>
                        </a:rPr>
                        <a:t>100% in Stock Fund </a:t>
                      </a:r>
                    </a:p>
                  </a:txBody>
                  <a:tcPr marL="6350" marR="6350" marT="635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Calibri" panose="020F0502020204030204" pitchFamily="34" charset="0"/>
                        </a:rPr>
                        <a:t>     9.25</a:t>
                      </a:r>
                    </a:p>
                  </a:txBody>
                  <a:tcPr marL="6350" marR="6350" marT="635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Calibri" panose="020F0502020204030204" pitchFamily="34" charset="0"/>
                        </a:rPr>
                        <a:t>328.1875</a:t>
                      </a:r>
                    </a:p>
                  </a:txBody>
                  <a:tcPr marL="6350" marR="6350" marT="635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18.1159</a:t>
                      </a:r>
                    </a:p>
                  </a:txBody>
                  <a:tcPr marL="6350" marR="6350" marT="635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57430475"/>
                  </a:ext>
                </a:extLst>
              </a:tr>
              <a:tr h="471847">
                <a:tc>
                  <a:txBody>
                    <a:bodyPr/>
                    <a:lstStyle/>
                    <a:p>
                      <a:pPr marL="112713" indent="0" algn="l" fontAlgn="b"/>
                      <a:r>
                        <a:rPr lang="en-US" sz="1800" b="0" i="0" u="none" strike="noStrike" dirty="0">
                          <a:solidFill>
                            <a:srgbClr val="000000"/>
                          </a:solidFill>
                          <a:effectLst/>
                          <a:latin typeface="Calibri" panose="020F0502020204030204" pitchFamily="34" charset="0"/>
                        </a:rPr>
                        <a:t>100% in Bond Fund </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Calibri" panose="020F0502020204030204" pitchFamily="34" charset="0"/>
                        </a:rPr>
                        <a:t>     6.55</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Calibri" panose="020F0502020204030204" pitchFamily="34" charset="0"/>
                        </a:rPr>
                        <a:t>  61.9475</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  7.8707</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743964704"/>
                  </a:ext>
                </a:extLst>
              </a:tr>
              <a:tr h="614174">
                <a:tc>
                  <a:txBody>
                    <a:bodyPr/>
                    <a:lstStyle/>
                    <a:p>
                      <a:pPr marL="284163" indent="-171450" algn="l" fontAlgn="b"/>
                      <a:r>
                        <a:rPr lang="en-US" sz="1800" b="0" i="0" u="none" strike="noStrike" dirty="0">
                          <a:solidFill>
                            <a:srgbClr val="000000"/>
                          </a:solidFill>
                          <a:effectLst/>
                          <a:latin typeface="Calibri" panose="020F0502020204030204" pitchFamily="34" charset="0"/>
                        </a:rPr>
                        <a:t>Portfolio (50% in stock fund, 50% in bond fund) </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Calibri" panose="020F0502020204030204" pitchFamily="34" charset="0"/>
                        </a:rPr>
                        <a:t>     7.90</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fontAlgn="b"/>
                      <a:r>
                        <a:rPr lang="en-US" sz="1800" b="0" i="0" u="none" strike="noStrike" dirty="0">
                          <a:solidFill>
                            <a:srgbClr val="000000"/>
                          </a:solidFill>
                          <a:effectLst/>
                          <a:latin typeface="Calibri" panose="020F0502020204030204" pitchFamily="34" charset="0"/>
                        </a:rPr>
                        <a:t>  29.8650</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fontAlgn="b"/>
                      <a:r>
                        <a:rPr lang="en-US" sz="1800" b="0" i="0" u="none" strike="noStrike" dirty="0">
                          <a:solidFill>
                            <a:srgbClr val="000000"/>
                          </a:solidFill>
                          <a:effectLst/>
                          <a:latin typeface="Calibri" panose="020F0502020204030204" pitchFamily="34" charset="0"/>
                        </a:rPr>
                        <a:t>  5.4650</a:t>
                      </a:r>
                    </a:p>
                  </a:txBody>
                  <a:tcPr marL="6350" marR="6350" marT="635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4097190550"/>
                  </a:ext>
                </a:extLst>
              </a:tr>
            </a:tbl>
          </a:graphicData>
        </a:graphic>
      </p:graphicFrame>
    </p:spTree>
    <p:extLst>
      <p:ext uri="{BB962C8B-B14F-4D97-AF65-F5344CB8AC3E}">
        <p14:creationId xmlns:p14="http://schemas.microsoft.com/office/powerpoint/2010/main" val="2286592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8A833-05BA-3E55-8902-58FCCE73AC9A}"/>
              </a:ext>
            </a:extLst>
          </p:cNvPr>
          <p:cNvSpPr>
            <a:spLocks noGrp="1"/>
          </p:cNvSpPr>
          <p:nvPr>
            <p:ph type="title"/>
          </p:nvPr>
        </p:nvSpPr>
        <p:spPr/>
        <p:txBody>
          <a:bodyPr/>
          <a:lstStyle/>
          <a:p>
            <a:r>
              <a:rPr lang="en-US" sz="3200" dirty="0">
                <a:solidFill>
                  <a:srgbClr val="D14B1E"/>
                </a:solidFill>
              </a:rPr>
              <a:t>5.5 Binomial Probability Distribution</a:t>
            </a:r>
          </a:p>
        </p:txBody>
      </p:sp>
      <p:sp>
        <p:nvSpPr>
          <p:cNvPr id="5" name="Text Placeholder 4">
            <a:extLst>
              <a:ext uri="{FF2B5EF4-FFF2-40B4-BE49-F238E27FC236}">
                <a16:creationId xmlns:a16="http://schemas.microsoft.com/office/drawing/2014/main" id="{9D0295C6-6394-B0AD-A13B-30C0B55BCC70}"/>
              </a:ext>
            </a:extLst>
          </p:cNvPr>
          <p:cNvSpPr>
            <a:spLocks noGrp="1"/>
          </p:cNvSpPr>
          <p:nvPr>
            <p:ph type="body" sz="quarter" idx="15"/>
          </p:nvPr>
        </p:nvSpPr>
        <p:spPr>
          <a:xfrm>
            <a:off x="743576" y="1460667"/>
            <a:ext cx="10711543" cy="4107507"/>
          </a:xfrm>
        </p:spPr>
        <p:txBody>
          <a:bodyPr/>
          <a:lstStyle/>
          <a:p>
            <a:pPr>
              <a:spcBef>
                <a:spcPts val="600"/>
              </a:spcBef>
            </a:pPr>
            <a:r>
              <a:rPr lang="en-US" sz="2000" dirty="0"/>
              <a:t>A </a:t>
            </a:r>
            <a:r>
              <a:rPr lang="en-US" sz="2000" b="1" dirty="0"/>
              <a:t>binomial experiment </a:t>
            </a:r>
            <a:r>
              <a:rPr lang="en-US" sz="2000" dirty="0"/>
              <a:t>exhibits the following four properties.</a:t>
            </a:r>
          </a:p>
          <a:p>
            <a:pPr marL="914400" indent="-457200">
              <a:spcBef>
                <a:spcPts val="600"/>
              </a:spcBef>
              <a:buFont typeface="+mj-lt"/>
              <a:buAutoNum type="arabicPeriod"/>
            </a:pPr>
            <a:r>
              <a:rPr lang="en-US" sz="2000" dirty="0"/>
              <a:t>The experiment consists of a sequence of </a:t>
            </a:r>
            <a:r>
              <a:rPr lang="en-US" sz="2000" i="1" dirty="0"/>
              <a:t>n</a:t>
            </a:r>
            <a:r>
              <a:rPr lang="en-US" sz="2000" dirty="0"/>
              <a:t> identical trials.</a:t>
            </a:r>
          </a:p>
          <a:p>
            <a:pPr marL="914400" indent="-457200">
              <a:spcBef>
                <a:spcPts val="600"/>
              </a:spcBef>
              <a:buFont typeface="+mj-lt"/>
              <a:buAutoNum type="arabicPeriod"/>
            </a:pPr>
            <a:r>
              <a:rPr lang="en-US" sz="2000" dirty="0"/>
              <a:t>Two outcomes, </a:t>
            </a:r>
            <a:r>
              <a:rPr lang="en-US" sz="2000" i="1" dirty="0"/>
              <a:t>success</a:t>
            </a:r>
            <a:r>
              <a:rPr lang="en-US" sz="2000" dirty="0"/>
              <a:t> and </a:t>
            </a:r>
            <a:r>
              <a:rPr lang="en-US" sz="2000" i="1" dirty="0"/>
              <a:t>failure</a:t>
            </a:r>
            <a:r>
              <a:rPr lang="en-US" sz="2000" dirty="0"/>
              <a:t>, are possible in each trial.</a:t>
            </a:r>
          </a:p>
          <a:p>
            <a:pPr marL="914400" indent="-457200">
              <a:spcBef>
                <a:spcPts val="600"/>
              </a:spcBef>
              <a:buFont typeface="+mj-lt"/>
              <a:buAutoNum type="arabicPeriod"/>
            </a:pPr>
            <a:r>
              <a:rPr lang="en-US" sz="2000" dirty="0"/>
              <a:t>The probability of a success, denoted by </a:t>
            </a:r>
            <a:r>
              <a:rPr lang="en-US" sz="2000" i="1" dirty="0"/>
              <a:t>p</a:t>
            </a:r>
            <a:r>
              <a:rPr lang="en-US" sz="2000" dirty="0"/>
              <a:t>, and the probability of a failure, denoted by 1 – </a:t>
            </a:r>
            <a:r>
              <a:rPr lang="en-US" sz="2000" i="1" dirty="0"/>
              <a:t>p</a:t>
            </a:r>
            <a:r>
              <a:rPr lang="en-US" sz="2000" dirty="0"/>
              <a:t>, do not change from trial to trial (the </a:t>
            </a:r>
            <a:r>
              <a:rPr lang="en-US" sz="2000" i="1" dirty="0"/>
              <a:t>stationarity assumption. </a:t>
            </a:r>
            <a:r>
              <a:rPr lang="en-US" sz="2000" dirty="0"/>
              <a:t>*See notes.)</a:t>
            </a:r>
          </a:p>
          <a:p>
            <a:pPr marL="914400" indent="-457200">
              <a:spcBef>
                <a:spcPts val="600"/>
              </a:spcBef>
              <a:buFont typeface="+mj-lt"/>
              <a:buAutoNum type="arabicPeriod"/>
            </a:pPr>
            <a:r>
              <a:rPr lang="en-US" sz="2000" dirty="0"/>
              <a:t>The trials are independent.</a:t>
            </a:r>
          </a:p>
          <a:p>
            <a:pPr>
              <a:spcBef>
                <a:spcPts val="600"/>
              </a:spcBef>
            </a:pPr>
            <a:r>
              <a:rPr lang="en-US" sz="2000" dirty="0"/>
              <a:t>If properties 2-4 are present, we say the trials are generated by a Bernoulli process.</a:t>
            </a:r>
          </a:p>
          <a:p>
            <a:pPr>
              <a:spcBef>
                <a:spcPts val="600"/>
              </a:spcBef>
            </a:pPr>
            <a:r>
              <a:rPr lang="en-US" sz="2000" dirty="0"/>
              <a:t>In a binomial experiment, our interest is in the number </a:t>
            </a:r>
            <a:r>
              <a:rPr lang="en-US" sz="2000" i="1" dirty="0"/>
              <a:t>x</a:t>
            </a:r>
            <a:r>
              <a:rPr lang="en-US" sz="2000" dirty="0"/>
              <a:t> of successes occurring in the </a:t>
            </a:r>
            <a:r>
              <a:rPr lang="en-US" sz="2000" i="1" dirty="0"/>
              <a:t>n</a:t>
            </a:r>
            <a:r>
              <a:rPr lang="en-US" sz="2000" dirty="0"/>
              <a:t> trials.</a:t>
            </a:r>
          </a:p>
          <a:p>
            <a:pPr>
              <a:spcBef>
                <a:spcPts val="600"/>
              </a:spcBef>
            </a:pPr>
            <a:r>
              <a:rPr lang="en-US" sz="2000" dirty="0"/>
              <a:t>Because the number of successes is finite, </a:t>
            </a:r>
            <a:r>
              <a:rPr lang="en-US" sz="2000" i="1" dirty="0"/>
              <a:t>x</a:t>
            </a:r>
            <a:r>
              <a:rPr lang="en-US" sz="2000" dirty="0"/>
              <a:t> is a discrete random variable.</a:t>
            </a:r>
          </a:p>
          <a:p>
            <a:pPr>
              <a:spcBef>
                <a:spcPts val="600"/>
              </a:spcBef>
            </a:pPr>
            <a:r>
              <a:rPr lang="en-US" sz="2000" dirty="0"/>
              <a:t>The probability distribution associated with this random variable is called the </a:t>
            </a:r>
            <a:r>
              <a:rPr lang="en-US" sz="2000" b="1" dirty="0"/>
              <a:t>binomial probability distribution</a:t>
            </a:r>
            <a:r>
              <a:rPr lang="en-US" sz="2000" dirty="0"/>
              <a:t>, and it is described by the </a:t>
            </a:r>
            <a:r>
              <a:rPr lang="en-US" sz="2000" i="1" dirty="0"/>
              <a:t>binomial probability function</a:t>
            </a:r>
            <a:r>
              <a:rPr lang="en-US" sz="2000" dirty="0"/>
              <a:t>.</a:t>
            </a:r>
          </a:p>
        </p:txBody>
      </p:sp>
    </p:spTree>
    <p:extLst>
      <p:ext uri="{BB962C8B-B14F-4D97-AF65-F5344CB8AC3E}">
        <p14:creationId xmlns:p14="http://schemas.microsoft.com/office/powerpoint/2010/main" val="1810864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8A833-05BA-3E55-8902-58FCCE73AC9A}"/>
              </a:ext>
            </a:extLst>
          </p:cNvPr>
          <p:cNvSpPr>
            <a:spLocks noGrp="1"/>
          </p:cNvSpPr>
          <p:nvPr>
            <p:ph type="title"/>
          </p:nvPr>
        </p:nvSpPr>
        <p:spPr>
          <a:xfrm>
            <a:off x="705172" y="365125"/>
            <a:ext cx="10695122" cy="672105"/>
          </a:xfrm>
        </p:spPr>
        <p:txBody>
          <a:bodyPr/>
          <a:lstStyle/>
          <a:p>
            <a:r>
              <a:rPr lang="en-US" dirty="0"/>
              <a:t>5.5 Martin Clothing Store Problem</a:t>
            </a:r>
          </a:p>
        </p:txBody>
      </p:sp>
      <p:sp>
        <p:nvSpPr>
          <p:cNvPr id="5" name="Text Placeholder 4">
            <a:extLst>
              <a:ext uri="{FF2B5EF4-FFF2-40B4-BE49-F238E27FC236}">
                <a16:creationId xmlns:a16="http://schemas.microsoft.com/office/drawing/2014/main" id="{9D0295C6-6394-B0AD-A13B-30C0B55BCC70}"/>
              </a:ext>
            </a:extLst>
          </p:cNvPr>
          <p:cNvSpPr>
            <a:spLocks noGrp="1"/>
          </p:cNvSpPr>
          <p:nvPr>
            <p:ph type="body" sz="quarter" idx="15"/>
          </p:nvPr>
        </p:nvSpPr>
        <p:spPr>
          <a:xfrm>
            <a:off x="743576" y="1356424"/>
            <a:ext cx="10382717" cy="4471988"/>
          </a:xfrm>
        </p:spPr>
        <p:txBody>
          <a:bodyPr/>
          <a:lstStyle/>
          <a:p>
            <a:r>
              <a:rPr lang="en-US" sz="2000" dirty="0"/>
              <a:t>On the basis of past experience, the store manager at the Martin Clothing store estimates the probability that any one customer will make a purchase to be 0.30. </a:t>
            </a:r>
          </a:p>
          <a:p>
            <a:r>
              <a:rPr lang="en-US" sz="2000" dirty="0"/>
              <a:t>What is the probability that two of the next three</a:t>
            </a:r>
          </a:p>
          <a:p>
            <a:pPr>
              <a:spcBef>
                <a:spcPts val="0"/>
              </a:spcBef>
            </a:pPr>
            <a:r>
              <a:rPr lang="en-US" sz="2000" dirty="0"/>
              <a:t>customers will make a purchase?</a:t>
            </a:r>
          </a:p>
          <a:p>
            <a:r>
              <a:rPr lang="en-US" sz="2000" dirty="0"/>
              <a:t>The tree diagram to the right shows that the</a:t>
            </a:r>
          </a:p>
          <a:p>
            <a:pPr>
              <a:spcBef>
                <a:spcPts val="0"/>
              </a:spcBef>
            </a:pPr>
            <a:r>
              <a:rPr lang="en-US" sz="2000" dirty="0"/>
              <a:t>experiment has eight possible outcomes.</a:t>
            </a:r>
          </a:p>
          <a:p>
            <a:r>
              <a:rPr lang="en-US" sz="2000" dirty="0"/>
              <a:t>The requirements for a binomial experiment are met:</a:t>
            </a:r>
          </a:p>
          <a:p>
            <a:pPr marL="688975" indent="-347663">
              <a:buFont typeface="+mj-lt"/>
              <a:buAutoNum type="arabicPeriod"/>
            </a:pPr>
            <a:r>
              <a:rPr lang="en-US" sz="2000" dirty="0"/>
              <a:t>Three identical trials, one for each customer</a:t>
            </a:r>
          </a:p>
          <a:p>
            <a:pPr marL="339725" indent="349250">
              <a:spcBef>
                <a:spcPts val="0"/>
              </a:spcBef>
            </a:pPr>
            <a:r>
              <a:rPr lang="en-US" sz="2000" dirty="0"/>
              <a:t>entering the store</a:t>
            </a:r>
          </a:p>
          <a:p>
            <a:pPr marL="688975" indent="-347663">
              <a:buFont typeface="+mj-lt"/>
              <a:buAutoNum type="arabicPeriod"/>
            </a:pPr>
            <a:r>
              <a:rPr lang="en-US" sz="2000" dirty="0"/>
              <a:t>Two outcomes: </a:t>
            </a:r>
            <a:r>
              <a:rPr lang="en-US" sz="2000" i="1" dirty="0"/>
              <a:t>S</a:t>
            </a:r>
            <a:r>
              <a:rPr lang="en-US" sz="2000" dirty="0"/>
              <a:t> = purchase, </a:t>
            </a:r>
            <a:r>
              <a:rPr lang="en-US" sz="2000" i="1" dirty="0"/>
              <a:t>F</a:t>
            </a:r>
            <a:r>
              <a:rPr lang="en-US" sz="2000" dirty="0"/>
              <a:t> = no purchase</a:t>
            </a:r>
          </a:p>
          <a:p>
            <a:pPr marL="688975" indent="-347663">
              <a:buFont typeface="+mj-lt"/>
              <a:buAutoNum type="arabicPeriod"/>
            </a:pPr>
            <a:r>
              <a:rPr lang="en-US" sz="2000" dirty="0"/>
              <a:t>Purchase:</a:t>
            </a:r>
            <a:r>
              <a:rPr lang="en-US" sz="2000" i="1" dirty="0"/>
              <a:t> p</a:t>
            </a:r>
            <a:r>
              <a:rPr lang="en-US" sz="2000" dirty="0"/>
              <a:t> = 0.30; no purchase: 1 – </a:t>
            </a:r>
            <a:r>
              <a:rPr lang="en-US" sz="2000" i="1" dirty="0"/>
              <a:t>p</a:t>
            </a:r>
            <a:r>
              <a:rPr lang="en-US" sz="2000" dirty="0"/>
              <a:t> = 0.70</a:t>
            </a:r>
          </a:p>
          <a:p>
            <a:pPr marL="688975" indent="-347663">
              <a:buFont typeface="+mj-lt"/>
              <a:buAutoNum type="arabicPeriod"/>
            </a:pPr>
            <a:r>
              <a:rPr lang="en-US" sz="2000" dirty="0"/>
              <a:t>Each purchase decision is independent</a:t>
            </a:r>
          </a:p>
        </p:txBody>
      </p:sp>
      <p:pic>
        <p:nvPicPr>
          <p:cNvPr id="6" name="Picture Placeholder 5" descr="A tree diagram shows the experimental outcome and value of x for Martin Clothing Store problem. There are four vertical sections divided by three dashed vertical lines. The first section is titled “First Customer.” Two lines radiate from a dot and extend to a dot each on the first dashed vertical line, such that there two dots. The top line is labeled “S” and the bottom line is labeled “F.” The second section is titled “Second Customer.” Two lines radiate from each dot on the first dashed line to a dot each on the second dashed line, such that there are four dots. The top and bottom lines from each dot are labeled “S” and “F,” respectively. The third section is titled “Third Customer.” Two lines radiate from each dot on the second dashed line to a dot each on the third dashed line, such that there are eight dots. The top and bottom lines from each dot are labeled “S” and “F,” respectively. The fourth section is titled “Experimental outcome” and “Value of x.” The data from the diagram, presented in the format, First customer, second customer, third customer, experimental outcome: Value of x, are as follows. S, S, S, (S, S, S): 3. S, S, F, (S, S, F): 2. S, F, S, (S, F, S): 2. S, F, F, (S, F, F): 1. F, S, S, (F, S, S): 2. F, S, F, (F, S, F): 1. F, F, S, (F, F, S): 1. F, F, F, (F, F, F): 0. Text at the bottom reads, S = Purchase. F = No purchase. x = Number of customers making a purchase.&#10;">
            <a:extLst>
              <a:ext uri="{FF2B5EF4-FFF2-40B4-BE49-F238E27FC236}">
                <a16:creationId xmlns:a16="http://schemas.microsoft.com/office/drawing/2014/main" id="{C4210136-1B08-DD29-38D0-7D5B886B9FF9}"/>
              </a:ext>
            </a:extLst>
          </p:cNvPr>
          <p:cNvPicPr>
            <a:picLocks noGrp="1" noChangeAspect="1"/>
          </p:cNvPicPr>
          <p:nvPr>
            <p:ph type="pic" sz="quarter" idx="16"/>
          </p:nvPr>
        </p:nvPicPr>
        <p:blipFill rotWithShape="1">
          <a:blip r:embed="rId2"/>
          <a:srcRect t="37" b="37"/>
          <a:stretch/>
        </p:blipFill>
        <p:spPr>
          <a:xfrm>
            <a:off x="6834752" y="2063968"/>
            <a:ext cx="4198550" cy="3609190"/>
          </a:xfrm>
        </p:spPr>
      </p:pic>
    </p:spTree>
    <p:extLst>
      <p:ext uri="{BB962C8B-B14F-4D97-AF65-F5344CB8AC3E}">
        <p14:creationId xmlns:p14="http://schemas.microsoft.com/office/powerpoint/2010/main" val="3474471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p:txBody>
          <a:bodyPr/>
          <a:lstStyle/>
          <a:p>
            <a:r>
              <a:rPr lang="en-US" dirty="0"/>
              <a:t>5.5 The Binomial Probability Function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43576" y="1332854"/>
                <a:ext cx="10787163" cy="4406307"/>
              </a:xfrm>
            </p:spPr>
            <p:txBody>
              <a:bodyPr/>
              <a:lstStyle/>
              <a:p>
                <a:pPr>
                  <a:spcBef>
                    <a:spcPts val="600"/>
                  </a:spcBef>
                  <a:spcAft>
                    <a:spcPts val="600"/>
                  </a:spcAft>
                </a:pPr>
                <a:r>
                  <a:rPr lang="en-US" sz="2000" dirty="0"/>
                  <a:t>The </a:t>
                </a:r>
                <a:r>
                  <a:rPr lang="en-US" sz="2000" b="1" dirty="0"/>
                  <a:t>binomial probability function </a:t>
                </a:r>
                <a:r>
                  <a:rPr lang="en-US" sz="2000" dirty="0"/>
                  <a:t>determines the probability of observing </a:t>
                </a:r>
                <a14:m>
                  <m:oMath xmlns:m="http://schemas.openxmlformats.org/officeDocument/2006/math">
                    <m:r>
                      <a:rPr lang="en-US" sz="2000" i="1" dirty="0" smtClean="0">
                        <a:latin typeface="Cambria Math" panose="02040503050406030204" pitchFamily="18" charset="0"/>
                      </a:rPr>
                      <m:t>𝑥</m:t>
                    </m:r>
                  </m:oMath>
                </a14:m>
                <a:r>
                  <a:rPr lang="en-US" sz="2000" dirty="0"/>
                  <a:t> successes in </a:t>
                </a:r>
                <a14:m>
                  <m:oMath xmlns:m="http://schemas.openxmlformats.org/officeDocument/2006/math">
                    <m:r>
                      <a:rPr lang="en-US" sz="2000" i="1" dirty="0" smtClean="0">
                        <a:latin typeface="Cambria Math" panose="02040503050406030204" pitchFamily="18" charset="0"/>
                      </a:rPr>
                      <m:t>𝑛</m:t>
                    </m:r>
                  </m:oMath>
                </a14:m>
                <a:r>
                  <a:rPr lang="en-US" sz="2000" dirty="0"/>
                  <a:t> trials in a binomial experiment.</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𝒇</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d>
                        <m:dPr>
                          <m:ctrlPr>
                            <a:rPr lang="pt-BR" sz="2000" b="1" i="1">
                              <a:latin typeface="Cambria Math" panose="02040503050406030204" pitchFamily="18" charset="0"/>
                            </a:rPr>
                          </m:ctrlPr>
                        </m:dPr>
                        <m:e>
                          <m:f>
                            <m:fPr>
                              <m:type m:val="noBar"/>
                              <m:ctrlPr>
                                <a:rPr lang="pt-BR" sz="2000" b="1" i="1">
                                  <a:latin typeface="Cambria Math" panose="02040503050406030204" pitchFamily="18" charset="0"/>
                                </a:rPr>
                              </m:ctrlPr>
                            </m:fPr>
                            <m:num>
                              <m:r>
                                <a:rPr lang="pt-BR" sz="2000" b="1" i="1">
                                  <a:latin typeface="Cambria Math" panose="02040503050406030204" pitchFamily="18" charset="0"/>
                                </a:rPr>
                                <m:t>𝒏</m:t>
                              </m:r>
                            </m:num>
                            <m:den>
                              <m:r>
                                <a:rPr lang="en-US" sz="2000" b="1" i="1" smtClean="0">
                                  <a:latin typeface="Cambria Math" panose="02040503050406030204" pitchFamily="18" charset="0"/>
                                </a:rPr>
                                <m:t>𝒙</m:t>
                              </m:r>
                            </m:den>
                          </m:f>
                        </m:e>
                      </m:d>
                      <m:sSup>
                        <m:sSupPr>
                          <m:ctrlPr>
                            <a:rPr lang="pt-BR" sz="2000" b="1" i="1">
                              <a:latin typeface="Cambria Math" panose="02040503050406030204" pitchFamily="18" charset="0"/>
                            </a:rPr>
                          </m:ctrlPr>
                        </m:sSupPr>
                        <m:e>
                          <m:r>
                            <a:rPr lang="en-US" sz="2000" b="1" i="1">
                              <a:latin typeface="Cambria Math" panose="02040503050406030204" pitchFamily="18" charset="0"/>
                            </a:rPr>
                            <m:t>𝒑</m:t>
                          </m:r>
                        </m:e>
                        <m:sup>
                          <m:r>
                            <a:rPr lang="en-US" sz="2000" b="1" i="1">
                              <a:latin typeface="Cambria Math" panose="02040503050406030204" pitchFamily="18" charset="0"/>
                            </a:rPr>
                            <m:t>𝒙</m:t>
                          </m:r>
                        </m:sup>
                      </m:sSup>
                      <m:sSup>
                        <m:sSupPr>
                          <m:ctrlPr>
                            <a:rPr lang="pt-BR" sz="2000" b="1" i="1">
                              <a:latin typeface="Cambria Math" panose="02040503050406030204" pitchFamily="18" charset="0"/>
                            </a:rPr>
                          </m:ctrlPr>
                        </m:sSupPr>
                        <m:e>
                          <m:d>
                            <m:dPr>
                              <m:ctrlPr>
                                <a:rPr lang="en-US" sz="2000" b="1" i="1">
                                  <a:latin typeface="Cambria Math" panose="02040503050406030204" pitchFamily="18" charset="0"/>
                                </a:rPr>
                              </m:ctrlPr>
                            </m:dPr>
                            <m:e>
                              <m:r>
                                <a:rPr lang="en-US" sz="2000" b="1" i="1">
                                  <a:latin typeface="Cambria Math" panose="02040503050406030204" pitchFamily="18" charset="0"/>
                                </a:rPr>
                                <m:t>𝟏</m:t>
                              </m:r>
                              <m:r>
                                <a:rPr lang="en-US" sz="2000" b="1" i="1">
                                  <a:latin typeface="Cambria Math" panose="02040503050406030204" pitchFamily="18" charset="0"/>
                                </a:rPr>
                                <m:t>−</m:t>
                              </m:r>
                              <m:r>
                                <a:rPr lang="en-US" sz="2000" b="1" i="1">
                                  <a:latin typeface="Cambria Math" panose="02040503050406030204" pitchFamily="18" charset="0"/>
                                </a:rPr>
                                <m:t>𝒑</m:t>
                              </m:r>
                            </m:e>
                          </m:d>
                        </m:e>
                        <m:sup>
                          <m:r>
                            <a:rPr lang="pt-BR" sz="2000" b="1" i="1">
                              <a:latin typeface="Cambria Math" panose="02040503050406030204" pitchFamily="18" charset="0"/>
                            </a:rPr>
                            <m:t>𝒏</m:t>
                          </m:r>
                          <m:r>
                            <a:rPr lang="pt-BR" sz="2000" b="1" i="1">
                              <a:latin typeface="Cambria Math" panose="02040503050406030204" pitchFamily="18" charset="0"/>
                            </a:rPr>
                            <m:t>−</m:t>
                          </m:r>
                          <m:r>
                            <a:rPr lang="en-US" sz="2000" b="1" i="1">
                              <a:latin typeface="Cambria Math" panose="02040503050406030204" pitchFamily="18" charset="0"/>
                            </a:rPr>
                            <m:t>𝒙</m:t>
                          </m:r>
                        </m:sup>
                      </m:sSup>
                    </m:oMath>
                  </m:oMathPara>
                </a14:m>
                <a:endParaRPr lang="en-US" sz="2000" b="1" dirty="0"/>
              </a:p>
              <a:p>
                <a:pPr>
                  <a:spcBef>
                    <a:spcPts val="0"/>
                  </a:spcBef>
                  <a:spcAft>
                    <a:spcPts val="0"/>
                  </a:spcAft>
                </a:pPr>
                <a:r>
                  <a:rPr lang="en-US" sz="2000" dirty="0"/>
                  <a:t>Where:</a:t>
                </a:r>
              </a:p>
              <a:p>
                <a:pPr marL="457200">
                  <a:spcBef>
                    <a:spcPts val="600"/>
                  </a:spcBef>
                  <a:spcAft>
                    <a:spcPts val="0"/>
                  </a:spcAft>
                  <a:tabLst>
                    <a:tab pos="1201738" algn="r"/>
                    <a:tab pos="1317625" algn="l"/>
                  </a:tabLst>
                </a:pPr>
                <a:r>
                  <a:rPr lang="en-US" sz="2000" i="1" dirty="0"/>
                  <a:t>	</a:t>
                </a:r>
                <a14:m>
                  <m:oMath xmlns:m="http://schemas.openxmlformats.org/officeDocument/2006/math">
                    <m:r>
                      <a:rPr lang="en-US" sz="2000" i="1" dirty="0" smtClean="0">
                        <a:latin typeface="Cambria Math" panose="02040503050406030204" pitchFamily="18" charset="0"/>
                      </a:rPr>
                      <m:t>𝑥</m:t>
                    </m:r>
                  </m:oMath>
                </a14:m>
                <a:r>
                  <a:rPr lang="en-US" sz="2000" dirty="0"/>
                  <a:t> =	the number of successes</a:t>
                </a:r>
              </a:p>
              <a:p>
                <a:pPr marL="457200">
                  <a:spcBef>
                    <a:spcPts val="600"/>
                  </a:spcBef>
                  <a:spcAft>
                    <a:spcPts val="0"/>
                  </a:spcAft>
                  <a:tabLst>
                    <a:tab pos="1201738" algn="r"/>
                    <a:tab pos="1317625" algn="l"/>
                  </a:tabLst>
                </a:pPr>
                <a:r>
                  <a:rPr lang="en-US" sz="2000" dirty="0"/>
                  <a:t>	</a:t>
                </a:r>
                <a14:m>
                  <m:oMath xmlns:m="http://schemas.openxmlformats.org/officeDocument/2006/math">
                    <m:r>
                      <a:rPr lang="en-US" sz="2000" i="1" dirty="0" smtClean="0">
                        <a:latin typeface="Cambria Math" panose="02040503050406030204" pitchFamily="18" charset="0"/>
                      </a:rPr>
                      <m:t>𝑝</m:t>
                    </m:r>
                  </m:oMath>
                </a14:m>
                <a:r>
                  <a:rPr lang="en-US" sz="2000" dirty="0"/>
                  <a:t> =	the probability of a success in one trial</a:t>
                </a:r>
              </a:p>
              <a:p>
                <a:pPr marL="457200">
                  <a:spcBef>
                    <a:spcPts val="600"/>
                  </a:spcBef>
                  <a:spcAft>
                    <a:spcPts val="0"/>
                  </a:spcAft>
                  <a:tabLst>
                    <a:tab pos="1201738" algn="r"/>
                    <a:tab pos="1317625" algn="l"/>
                  </a:tabLst>
                </a:pPr>
                <a:r>
                  <a:rPr lang="en-US" sz="2000" dirty="0"/>
                  <a:t>	</a:t>
                </a:r>
                <a14:m>
                  <m:oMath xmlns:m="http://schemas.openxmlformats.org/officeDocument/2006/math">
                    <m:r>
                      <a:rPr lang="en-US" sz="2000" i="1" dirty="0" smtClean="0">
                        <a:latin typeface="Cambria Math" panose="02040503050406030204" pitchFamily="18" charset="0"/>
                      </a:rPr>
                      <m:t>𝑛</m:t>
                    </m:r>
                  </m:oMath>
                </a14:m>
                <a:r>
                  <a:rPr lang="en-US" sz="2000" dirty="0"/>
                  <a:t> =	the number of trials</a:t>
                </a:r>
              </a:p>
              <a:p>
                <a:pPr marL="457200">
                  <a:spcBef>
                    <a:spcPts val="600"/>
                  </a:spcBef>
                  <a:spcAft>
                    <a:spcPts val="600"/>
                  </a:spcAft>
                  <a:tabLst>
                    <a:tab pos="1201738" algn="r"/>
                    <a:tab pos="1317625" algn="l"/>
                  </a:tabLst>
                </a:pPr>
                <a:r>
                  <a:rPr lang="en-US" sz="2000" dirty="0"/>
                  <a:t> 𝑓(𝑥)	=	the probability of </a:t>
                </a:r>
                <a:r>
                  <a:rPr lang="en-US" sz="2000" i="1" dirty="0"/>
                  <a:t>x</a:t>
                </a:r>
                <a:r>
                  <a:rPr lang="en-US" sz="2000" dirty="0"/>
                  <a:t> successes in </a:t>
                </a:r>
                <a:r>
                  <a:rPr lang="en-US" sz="2000" i="1" dirty="0"/>
                  <a:t>n</a:t>
                </a:r>
                <a:r>
                  <a:rPr lang="en-US" sz="2000" dirty="0"/>
                  <a:t> trials</a:t>
                </a:r>
              </a:p>
              <a:p>
                <a:pPr marL="573088" indent="-115888">
                  <a:spcBef>
                    <a:spcPts val="600"/>
                  </a:spcBef>
                  <a:spcAft>
                    <a:spcPts val="0"/>
                  </a:spcAft>
                  <a:tabLst>
                    <a:tab pos="1201738" algn="r"/>
                    <a:tab pos="1317625" algn="l"/>
                  </a:tabLs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type m:val="noBar"/>
                              <m:ctrlPr>
                                <a:rPr lang="en-US" sz="2000" i="1" smtClean="0">
                                  <a:latin typeface="Cambria Math" panose="02040503050406030204" pitchFamily="18" charset="0"/>
                                </a:rPr>
                              </m:ctrlPr>
                            </m:fPr>
                            <m:num>
                              <m:r>
                                <a:rPr lang="en-US" sz="2000" i="1" smtClean="0">
                                  <a:latin typeface="Cambria Math" panose="02040503050406030204" pitchFamily="18" charset="0"/>
                                </a:rPr>
                                <m:t>𝑛</m:t>
                              </m:r>
                            </m:num>
                            <m:den>
                              <m:r>
                                <a:rPr lang="en-US" sz="2000" b="0" i="1" smtClean="0">
                                  <a:latin typeface="Cambria Math" panose="02040503050406030204" pitchFamily="18" charset="0"/>
                                </a:rPr>
                                <m:t>𝑥</m:t>
                              </m:r>
                            </m:den>
                          </m:f>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r>
                            <a:rPr lang="en-US" sz="2000" b="0" i="1" smtClean="0">
                              <a:latin typeface="Cambria Math" panose="02040503050406030204" pitchFamily="18" charset="0"/>
                            </a:rPr>
                            <m:t>!</m:t>
                          </m:r>
                        </m:num>
                        <m:den>
                          <m:r>
                            <a:rPr lang="en-US" sz="2000" b="0" i="1" smtClean="0">
                              <a:latin typeface="Cambria Math" panose="02040503050406030204" pitchFamily="18" charset="0"/>
                            </a:rPr>
                            <m:t>𝑥</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𝑥</m:t>
                              </m:r>
                            </m:e>
                          </m:d>
                          <m:r>
                            <a:rPr lang="en-US" sz="2000" b="0" i="1" smtClean="0">
                              <a:latin typeface="Cambria Math" panose="02040503050406030204" pitchFamily="18" charset="0"/>
                            </a:rPr>
                            <m:t>!</m:t>
                          </m:r>
                        </m:den>
                      </m:f>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the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number</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of</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experimental</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outcomes</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providing</m:t>
                      </m:r>
                      <m:r>
                        <m:rPr>
                          <m:nor/>
                        </m:rPr>
                        <a:rPr lang="en-US" sz="2000" b="0" i="0" smtClean="0">
                          <a:latin typeface="Arial" panose="020B0604020202020204" pitchFamily="34" charset="0"/>
                          <a:cs typeface="Arial" panose="020B0604020202020204" pitchFamily="34" charset="0"/>
                        </a:rPr>
                        <m:t> </m:t>
                      </m:r>
                      <m:r>
                        <m:rPr>
                          <m:nor/>
                        </m:rPr>
                        <a:rPr lang="en-US" sz="2000" b="0" i="1" smtClean="0">
                          <a:latin typeface="Arial" panose="020B0604020202020204" pitchFamily="34" charset="0"/>
                          <a:cs typeface="Arial" panose="020B0604020202020204" pitchFamily="34" charset="0"/>
                        </a:rPr>
                        <m:t>x</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successes</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in</m:t>
                      </m:r>
                      <m:r>
                        <m:rPr>
                          <m:nor/>
                        </m:rPr>
                        <a:rPr lang="en-US" sz="2000" b="0" i="0" smtClean="0">
                          <a:latin typeface="Arial" panose="020B0604020202020204" pitchFamily="34" charset="0"/>
                          <a:cs typeface="Arial" panose="020B0604020202020204" pitchFamily="34" charset="0"/>
                        </a:rPr>
                        <m:t> </m:t>
                      </m:r>
                      <m:r>
                        <m:rPr>
                          <m:nor/>
                        </m:rPr>
                        <a:rPr lang="en-US" sz="2000" b="0" i="1" smtClean="0">
                          <a:latin typeface="Arial" panose="020B0604020202020204" pitchFamily="34" charset="0"/>
                          <a:cs typeface="Arial" panose="020B0604020202020204" pitchFamily="34" charset="0"/>
                        </a:rPr>
                        <m:t>n</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trials</m:t>
                      </m:r>
                      <m:r>
                        <m:rPr>
                          <m:nor/>
                        </m:rPr>
                        <a:rPr lang="en-US" sz="2000" b="0" i="0" smtClean="0">
                          <a:latin typeface="Arial" panose="020B0604020202020204" pitchFamily="34" charset="0"/>
                          <a:cs typeface="Arial" panose="020B0604020202020204" pitchFamily="34" charset="0"/>
                        </a:rPr>
                        <m:t>)</m:t>
                      </m:r>
                    </m:oMath>
                  </m:oMathPara>
                </a14:m>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Table 5 of Appendix B gives the probability of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oMath>
                </a14:m>
                <a:r>
                  <a:rPr lang="en-US" sz="2000" dirty="0">
                    <a:latin typeface="Arial" panose="020B0604020202020204" pitchFamily="34" charset="0"/>
                    <a:cs typeface="Arial" panose="020B0604020202020204" pitchFamily="34" charset="0"/>
                  </a:rPr>
                  <a:t> successes in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oMath>
                </a14:m>
                <a:r>
                  <a:rPr lang="en-US" sz="2000" dirty="0">
                    <a:latin typeface="Arial" panose="020B0604020202020204" pitchFamily="34" charset="0"/>
                    <a:cs typeface="Arial" panose="020B0604020202020204" pitchFamily="34" charset="0"/>
                  </a:rPr>
                  <a:t> trials for a bi­nomial experiment with varying values of the probability of success,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 (*see notes.)</a:t>
                </a:r>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43576" y="1332854"/>
                <a:ext cx="10787163" cy="4406307"/>
              </a:xfrm>
              <a:blipFill>
                <a:blip r:embed="rId3"/>
                <a:stretch>
                  <a:fillRect l="-1469" t="-1662" b="-4155"/>
                </a:stretch>
              </a:blipFill>
            </p:spPr>
            <p:txBody>
              <a:bodyPr/>
              <a:lstStyle/>
              <a:p>
                <a:r>
                  <a:rPr lang="en-US">
                    <a:noFill/>
                  </a:rPr>
                  <a:t> </a:t>
                </a:r>
              </a:p>
            </p:txBody>
          </p:sp>
        </mc:Fallback>
      </mc:AlternateContent>
    </p:spTree>
    <p:extLst>
      <p:ext uri="{BB962C8B-B14F-4D97-AF65-F5344CB8AC3E}">
        <p14:creationId xmlns:p14="http://schemas.microsoft.com/office/powerpoint/2010/main" val="378034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EC3B-294C-3B28-6DC5-05EEC5739564}"/>
              </a:ext>
            </a:extLst>
          </p:cNvPr>
          <p:cNvSpPr>
            <a:spLocks noGrp="1"/>
          </p:cNvSpPr>
          <p:nvPr>
            <p:ph type="title"/>
          </p:nvPr>
        </p:nvSpPr>
        <p:spPr/>
        <p:txBody>
          <a:bodyPr/>
          <a:lstStyle/>
          <a:p>
            <a:r>
              <a:rPr lang="en-US" sz="3200" dirty="0"/>
              <a:t>5.5 The Binomial Probability Calculation for the Martin Clothing Store Problem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C5484D-F052-C230-7D3D-6998490436CE}"/>
                  </a:ext>
                </a:extLst>
              </p:cNvPr>
              <p:cNvSpPr>
                <a:spLocks noGrp="1"/>
              </p:cNvSpPr>
              <p:nvPr>
                <p:ph type="body" sz="quarter" idx="15"/>
              </p:nvPr>
            </p:nvSpPr>
            <p:spPr>
              <a:xfrm>
                <a:off x="743577" y="1694983"/>
                <a:ext cx="10675272" cy="3843453"/>
              </a:xfrm>
            </p:spPr>
            <p:txBody>
              <a:bodyPr/>
              <a:lstStyle/>
              <a:p>
                <a:r>
                  <a:rPr lang="en-US" dirty="0"/>
                  <a:t>The binomial probability function is the product of two factors:</a:t>
                </a:r>
              </a:p>
              <a:p>
                <a:pPr marL="457200" indent="-287338">
                  <a:spcAft>
                    <a:spcPts val="600"/>
                  </a:spcAft>
                </a:pPr>
                <a:r>
                  <a:rPr lang="en-US" dirty="0"/>
                  <a:t>1. The number of experimental outcomes providing exactly </a:t>
                </a:r>
                <a14:m>
                  <m:oMath xmlns:m="http://schemas.openxmlformats.org/officeDocument/2006/math">
                    <m:r>
                      <a:rPr lang="en-US" i="1" dirty="0" smtClean="0">
                        <a:latin typeface="Cambria Math" panose="02040503050406030204" pitchFamily="18" charset="0"/>
                      </a:rPr>
                      <m:t>𝑥</m:t>
                    </m:r>
                  </m:oMath>
                </a14:m>
                <a:r>
                  <a:rPr lang="en-US" dirty="0"/>
                  <a:t> successes in </a:t>
                </a:r>
                <a14:m>
                  <m:oMath xmlns:m="http://schemas.openxmlformats.org/officeDocument/2006/math">
                    <m:r>
                      <a:rPr lang="en-US" i="1" dirty="0" smtClean="0">
                        <a:latin typeface="Cambria Math" panose="02040503050406030204" pitchFamily="18" charset="0"/>
                      </a:rPr>
                      <m:t>𝑛</m:t>
                    </m:r>
                  </m:oMath>
                </a14:m>
                <a:r>
                  <a:rPr lang="en-US" dirty="0"/>
                  <a:t> trials:</a:t>
                </a:r>
              </a:p>
              <a:p>
                <a:pPr marL="914400">
                  <a:spcAft>
                    <a:spcPts val="600"/>
                  </a:spcAf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type m:val="noBar"/>
                              <m:ctrlPr>
                                <a:rPr lang="en-US" sz="2000" i="1" smtClean="0">
                                  <a:latin typeface="Cambria Math" panose="02040503050406030204" pitchFamily="18" charset="0"/>
                                </a:rPr>
                              </m:ctrlPr>
                            </m:fPr>
                            <m:num>
                              <m:r>
                                <a:rPr lang="en-US" sz="2000" i="1" smtClean="0">
                                  <a:latin typeface="Cambria Math" panose="02040503050406030204" pitchFamily="18" charset="0"/>
                                </a:rPr>
                                <m:t>𝑛</m:t>
                              </m:r>
                            </m:num>
                            <m:den>
                              <m:r>
                                <a:rPr lang="en-US" sz="2000" b="0" i="1" smtClean="0">
                                  <a:latin typeface="Cambria Math" panose="02040503050406030204" pitchFamily="18" charset="0"/>
                                </a:rPr>
                                <m:t>𝑥</m:t>
                              </m:r>
                            </m:den>
                          </m:f>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𝑛</m:t>
                          </m:r>
                          <m:r>
                            <a:rPr lang="en-US" sz="2000" b="0" i="1" smtClean="0">
                              <a:latin typeface="Cambria Math" panose="02040503050406030204" pitchFamily="18" charset="0"/>
                            </a:rPr>
                            <m:t>!</m:t>
                          </m:r>
                        </m:num>
                        <m:den>
                          <m:r>
                            <a:rPr lang="en-US" sz="2000" b="0" i="1" smtClean="0">
                              <a:latin typeface="Cambria Math" panose="02040503050406030204" pitchFamily="18" charset="0"/>
                            </a:rPr>
                            <m:t>𝑥</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𝑥</m:t>
                              </m:r>
                            </m:e>
                          </m:d>
                          <m:r>
                            <a:rPr lang="en-US" sz="2000" b="0" i="1" smtClean="0">
                              <a:latin typeface="Cambria Math" panose="02040503050406030204" pitchFamily="18" charset="0"/>
                            </a:rPr>
                            <m:t>!</m:t>
                          </m:r>
                        </m:den>
                      </m:f>
                    </m:oMath>
                  </m:oMathPara>
                </a14:m>
                <a:endParaRPr lang="en-US" dirty="0"/>
              </a:p>
              <a:p>
                <a:pPr marL="457200" indent="-287338">
                  <a:spcAft>
                    <a:spcPts val="600"/>
                  </a:spcAft>
                </a:pPr>
                <a:r>
                  <a:rPr lang="en-US" dirty="0"/>
                  <a:t>2. The probability of a particular sequence of trial outcomes with </a:t>
                </a:r>
                <a14:m>
                  <m:oMath xmlns:m="http://schemas.openxmlformats.org/officeDocument/2006/math">
                    <m:r>
                      <a:rPr lang="en-US" i="1" dirty="0" smtClean="0">
                        <a:latin typeface="Cambria Math" panose="02040503050406030204" pitchFamily="18" charset="0"/>
                      </a:rPr>
                      <m:t>𝑥</m:t>
                    </m:r>
                  </m:oMath>
                </a14:m>
                <a:r>
                  <a:rPr lang="en-US" dirty="0"/>
                  <a:t> successes in </a:t>
                </a:r>
                <a14:m>
                  <m:oMath xmlns:m="http://schemas.openxmlformats.org/officeDocument/2006/math">
                    <m:r>
                      <a:rPr lang="en-US" i="1" dirty="0" smtClean="0">
                        <a:latin typeface="Cambria Math" panose="02040503050406030204" pitchFamily="18" charset="0"/>
                      </a:rPr>
                      <m:t>𝑛</m:t>
                    </m:r>
                  </m:oMath>
                </a14:m>
                <a:r>
                  <a:rPr lang="en-US" dirty="0"/>
                  <a:t> trials:</a:t>
                </a:r>
              </a:p>
              <a:p>
                <a:pPr marL="914400">
                  <a:spcAft>
                    <a:spcPts val="600"/>
                  </a:spcAft>
                </a:pPr>
                <a14:m>
                  <m:oMathPara xmlns:m="http://schemas.openxmlformats.org/officeDocument/2006/math">
                    <m:oMathParaPr>
                      <m:jc m:val="left"/>
                    </m:oMathParaPr>
                    <m:oMath xmlns:m="http://schemas.openxmlformats.org/officeDocument/2006/math">
                      <m:sSup>
                        <m:sSupPr>
                          <m:ctrlPr>
                            <a:rPr lang="pt-BR" sz="2000" i="1" smtClean="0">
                              <a:latin typeface="Cambria Math" panose="02040503050406030204" pitchFamily="18" charset="0"/>
                            </a:rPr>
                          </m:ctrlPr>
                        </m:sSupPr>
                        <m:e>
                          <m:r>
                            <a:rPr lang="en-US" sz="2000" b="0" i="1" smtClean="0">
                              <a:latin typeface="Cambria Math" panose="02040503050406030204" pitchFamily="18" charset="0"/>
                            </a:rPr>
                            <m:t>𝑝</m:t>
                          </m:r>
                        </m:e>
                        <m:sup>
                          <m:r>
                            <a:rPr lang="en-US" sz="2000" b="0" i="1" smtClean="0">
                              <a:latin typeface="Cambria Math" panose="02040503050406030204" pitchFamily="18" charset="0"/>
                            </a:rPr>
                            <m:t>𝑥</m:t>
                          </m:r>
                        </m:sup>
                      </m:sSup>
                      <m:sSup>
                        <m:sSupPr>
                          <m:ctrlPr>
                            <a:rPr lang="pt-BR" sz="2000" i="1" smtClean="0">
                              <a:latin typeface="Cambria Math" panose="02040503050406030204" pitchFamily="18" charset="0"/>
                            </a:rPr>
                          </m:ctrlPr>
                        </m:sSupPr>
                        <m:e>
                          <m:r>
                            <a:rPr lang="en-US" sz="2000" b="0" i="1" smtClean="0">
                              <a:latin typeface="Cambria Math" panose="02040503050406030204" pitchFamily="18" charset="0"/>
                            </a:rPr>
                            <m:t>(1−</m:t>
                          </m:r>
                          <m:r>
                            <a:rPr lang="en-US" sz="2000" b="0" i="1" smtClean="0">
                              <a:latin typeface="Cambria Math" panose="02040503050406030204" pitchFamily="18" charset="0"/>
                            </a:rPr>
                            <m:t>𝑝</m:t>
                          </m:r>
                          <m:r>
                            <a:rPr lang="en-US" sz="2000" b="0" i="1" smtClean="0">
                              <a:latin typeface="Cambria Math" panose="02040503050406030204" pitchFamily="18" charset="0"/>
                            </a:rPr>
                            <m:t>)</m:t>
                          </m:r>
                        </m:e>
                        <m:sup>
                          <m:r>
                            <a:rPr lang="pt-BR" sz="2000" b="0" i="1" smtClean="0">
                              <a:latin typeface="Cambria Math" panose="02040503050406030204" pitchFamily="18" charset="0"/>
                            </a:rPr>
                            <m:t>𝑛</m:t>
                          </m:r>
                          <m:r>
                            <a:rPr lang="pt-BR" sz="2000" b="0" i="1" smtClean="0">
                              <a:latin typeface="Cambria Math" panose="02040503050406030204" pitchFamily="18" charset="0"/>
                            </a:rPr>
                            <m:t>−</m:t>
                          </m:r>
                          <m:r>
                            <a:rPr lang="en-US" sz="2000" b="0" i="1" smtClean="0">
                              <a:latin typeface="Cambria Math" panose="02040503050406030204" pitchFamily="18" charset="0"/>
                            </a:rPr>
                            <m:t>𝑥</m:t>
                          </m:r>
                        </m:sup>
                      </m:sSup>
                    </m:oMath>
                  </m:oMathPara>
                </a14:m>
                <a:endParaRPr lang="en-US" dirty="0"/>
              </a:p>
              <a:p>
                <a:pPr>
                  <a:spcAft>
                    <a:spcPts val="600"/>
                  </a:spcAft>
                </a:pPr>
                <a:r>
                  <a:rPr lang="en-US" dirty="0"/>
                  <a:t>Thus, the probability that </a:t>
                </a:r>
                <a:r>
                  <a:rPr lang="en-US" sz="2000" dirty="0"/>
                  <a:t>two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=2</m:t>
                    </m:r>
                  </m:oMath>
                </a14:m>
                <a:r>
                  <a:rPr lang="en-US" sz="2000" dirty="0"/>
                  <a:t>) of the next three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=3</m:t>
                    </m:r>
                  </m:oMath>
                </a14:m>
                <a:r>
                  <a:rPr lang="en-US" sz="2000" dirty="0"/>
                  <a:t>) customers will make a purchase at the Martin Clothing Store is</a:t>
                </a:r>
              </a:p>
              <a:p>
                <a:pPr marL="460375">
                  <a:spcAft>
                    <a:spcPts val="600"/>
                  </a:spcAft>
                </a:pPr>
                <a14:m>
                  <m:oMathPara xmlns:m="http://schemas.openxmlformats.org/officeDocument/2006/math">
                    <m:oMathParaPr>
                      <m:jc m:val="centerGroup"/>
                    </m:oMathParaPr>
                    <m:oMath xmlns:m="http://schemas.openxmlformats.org/officeDocument/2006/math">
                      <m:r>
                        <a:rPr lang="en-US" b="0" i="1">
                          <a:latin typeface="Cambria Math" panose="02040503050406030204" pitchFamily="18" charset="0"/>
                        </a:rPr>
                        <m:t>𝑓</m:t>
                      </m:r>
                      <m:d>
                        <m:dPr>
                          <m:ctrlPr>
                            <a:rPr lang="en-US" i="1">
                              <a:latin typeface="Cambria Math" panose="02040503050406030204" pitchFamily="18" charset="0"/>
                            </a:rPr>
                          </m:ctrlPr>
                        </m:dPr>
                        <m:e>
                          <m:r>
                            <a:rPr lang="en-US" b="0" i="1">
                              <a:latin typeface="Cambria Math" panose="02040503050406030204" pitchFamily="18" charset="0"/>
                            </a:rPr>
                            <m:t>𝑥</m:t>
                          </m:r>
                        </m:e>
                      </m:d>
                      <m:r>
                        <a:rPr lang="en-US" b="0" i="1">
                          <a:latin typeface="Cambria Math" panose="02040503050406030204" pitchFamily="18" charset="0"/>
                        </a:rPr>
                        <m:t>=</m:t>
                      </m:r>
                      <m:d>
                        <m:dPr>
                          <m:ctrlPr>
                            <a:rPr lang="pt-BR" i="1">
                              <a:latin typeface="Cambria Math" panose="02040503050406030204" pitchFamily="18" charset="0"/>
                            </a:rPr>
                          </m:ctrlPr>
                        </m:dPr>
                        <m:e>
                          <m:f>
                            <m:fPr>
                              <m:type m:val="noBar"/>
                              <m:ctrlPr>
                                <a:rPr lang="pt-BR" i="1">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2</m:t>
                              </m:r>
                            </m:den>
                          </m:f>
                        </m:e>
                      </m:d>
                      <m:sSup>
                        <m:sSupPr>
                          <m:ctrlPr>
                            <a:rPr lang="pt-BR" i="1">
                              <a:latin typeface="Cambria Math" panose="02040503050406030204" pitchFamily="18" charset="0"/>
                            </a:rPr>
                          </m:ctrlPr>
                        </m:sSupPr>
                        <m:e>
                          <m:r>
                            <a:rPr lang="en-US" b="0" i="1" smtClean="0">
                              <a:latin typeface="Cambria Math" panose="02040503050406030204" pitchFamily="18" charset="0"/>
                            </a:rPr>
                            <m:t>0.30</m:t>
                          </m:r>
                        </m:e>
                        <m:sup>
                          <m:r>
                            <a:rPr lang="en-US" b="0" i="1" smtClean="0">
                              <a:latin typeface="Cambria Math" panose="02040503050406030204" pitchFamily="18" charset="0"/>
                            </a:rPr>
                            <m:t>2</m:t>
                          </m:r>
                        </m:sup>
                      </m:sSup>
                      <m:sSup>
                        <m:sSupPr>
                          <m:ctrlPr>
                            <a:rPr lang="pt-BR" i="1">
                              <a:latin typeface="Cambria Math" panose="02040503050406030204" pitchFamily="18" charset="0"/>
                            </a:rPr>
                          </m:ctrlPr>
                        </m:sSupPr>
                        <m:e>
                          <m:d>
                            <m:dPr>
                              <m:ctrlPr>
                                <a:rPr lang="en-US" i="1">
                                  <a:latin typeface="Cambria Math" panose="02040503050406030204" pitchFamily="18" charset="0"/>
                                </a:rPr>
                              </m:ctrlPr>
                            </m:dPr>
                            <m:e>
                              <m:r>
                                <a:rPr lang="en-US" b="0" i="1">
                                  <a:latin typeface="Cambria Math" panose="02040503050406030204" pitchFamily="18" charset="0"/>
                                </a:rPr>
                                <m:t>1−</m:t>
                              </m:r>
                              <m:r>
                                <a:rPr lang="en-US" b="0" i="1" smtClean="0">
                                  <a:latin typeface="Cambria Math" panose="02040503050406030204" pitchFamily="18" charset="0"/>
                                </a:rPr>
                                <m:t>0.30</m:t>
                              </m:r>
                            </m:e>
                          </m:d>
                        </m:e>
                        <m:sup>
                          <m:r>
                            <a:rPr lang="en-US" b="0" i="1" smtClean="0">
                              <a:latin typeface="Cambria Math" panose="02040503050406030204" pitchFamily="18" charset="0"/>
                            </a:rPr>
                            <m:t>3</m:t>
                          </m:r>
                          <m:r>
                            <a:rPr lang="pt-BR" b="0" i="1">
                              <a:latin typeface="Cambria Math" panose="02040503050406030204" pitchFamily="18" charset="0"/>
                            </a:rPr>
                            <m:t>−</m:t>
                          </m:r>
                          <m:r>
                            <a:rPr lang="en-US" b="0" i="1" smtClean="0">
                              <a:latin typeface="Cambria Math" panose="02040503050406030204" pitchFamily="18" charset="0"/>
                            </a:rPr>
                            <m:t>2</m:t>
                          </m:r>
                        </m:sup>
                      </m:sSup>
                      <m:r>
                        <a:rPr lang="en-US" b="0" i="1" smtClean="0">
                          <a:latin typeface="Cambria Math" panose="02040503050406030204" pitchFamily="18" charset="0"/>
                        </a:rPr>
                        <m:t>=</m:t>
                      </m:r>
                      <m:d>
                        <m:dPr>
                          <m:ctrlPr>
                            <a:rPr lang="en-US" b="0" i="1" smtClean="0">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3!</m:t>
                              </m:r>
                            </m:num>
                            <m:den>
                              <m:r>
                                <a:rPr lang="en-US" i="1">
                                  <a:latin typeface="Cambria Math" panose="02040503050406030204" pitchFamily="18" charset="0"/>
                                </a:rPr>
                                <m:t>2!</m:t>
                              </m:r>
                              <m:r>
                                <a:rPr lang="en-US" b="0" i="1" smtClean="0">
                                  <a:latin typeface="Cambria Math" panose="02040503050406030204" pitchFamily="18" charset="0"/>
                                </a:rPr>
                                <m:t>1</m:t>
                              </m:r>
                              <m:r>
                                <a:rPr lang="en-US" i="1">
                                  <a:latin typeface="Cambria Math" panose="02040503050406030204" pitchFamily="18" charset="0"/>
                                </a:rPr>
                                <m:t>!</m:t>
                              </m:r>
                            </m:den>
                          </m:f>
                        </m:e>
                      </m:d>
                      <m:sSup>
                        <m:sSupPr>
                          <m:ctrlPr>
                            <a:rPr lang="pt-BR" i="1">
                              <a:latin typeface="Cambria Math" panose="02040503050406030204" pitchFamily="18" charset="0"/>
                            </a:rPr>
                          </m:ctrlPr>
                        </m:sSupPr>
                        <m:e>
                          <m:r>
                            <a:rPr lang="en-US" i="1">
                              <a:latin typeface="Cambria Math" panose="02040503050406030204" pitchFamily="18" charset="0"/>
                            </a:rPr>
                            <m:t>0.30</m:t>
                          </m:r>
                        </m:e>
                        <m:sup>
                          <m:r>
                            <a:rPr lang="en-US" i="1">
                              <a:latin typeface="Cambria Math" panose="02040503050406030204" pitchFamily="18" charset="0"/>
                            </a:rPr>
                            <m:t>2</m:t>
                          </m:r>
                        </m:sup>
                      </m:sSup>
                      <m:sSup>
                        <m:sSupPr>
                          <m:ctrlPr>
                            <a:rPr lang="pt-BR"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0.</m:t>
                              </m:r>
                              <m:r>
                                <a:rPr lang="en-US" b="0" i="1" smtClean="0">
                                  <a:latin typeface="Cambria Math" panose="02040503050406030204" pitchFamily="18" charset="0"/>
                                </a:rPr>
                                <m:t>7</m:t>
                              </m:r>
                              <m:r>
                                <a:rPr lang="en-US" i="1">
                                  <a:latin typeface="Cambria Math" panose="02040503050406030204" pitchFamily="18" charset="0"/>
                                </a:rPr>
                                <m:t>0</m:t>
                              </m:r>
                            </m:e>
                          </m:d>
                        </m:e>
                        <m:sup>
                          <m:r>
                            <a:rPr lang="en-US" b="0" i="1" smtClean="0">
                              <a:latin typeface="Cambria Math" panose="02040503050406030204" pitchFamily="18" charset="0"/>
                            </a:rPr>
                            <m:t>1</m:t>
                          </m:r>
                        </m:sup>
                      </m:sSup>
                      <m:r>
                        <a:rPr lang="en-US" b="0" i="1" smtClean="0">
                          <a:latin typeface="Cambria Math" panose="02040503050406030204" pitchFamily="18" charset="0"/>
                        </a:rPr>
                        <m:t>=</m:t>
                      </m:r>
                      <m:r>
                        <a:rPr lang="en-US" sz="2000" i="1" dirty="0" smtClean="0">
                          <a:latin typeface="Cambria Math" panose="02040503050406030204" pitchFamily="18" charset="0"/>
                        </a:rPr>
                        <m:t>3(0.063)=0.189</m:t>
                      </m:r>
                    </m:oMath>
                  </m:oMathPara>
                </a14:m>
                <a:endParaRPr lang="en-US" sz="2000" dirty="0"/>
              </a:p>
            </p:txBody>
          </p:sp>
        </mc:Choice>
        <mc:Fallback xmlns="">
          <p:sp>
            <p:nvSpPr>
              <p:cNvPr id="3" name="Text Placeholder 2">
                <a:extLst>
                  <a:ext uri="{FF2B5EF4-FFF2-40B4-BE49-F238E27FC236}">
                    <a16:creationId xmlns:a16="http://schemas.microsoft.com/office/drawing/2014/main" id="{B7C5484D-F052-C230-7D3D-6998490436CE}"/>
                  </a:ext>
                </a:extLst>
              </p:cNvPr>
              <p:cNvSpPr>
                <a:spLocks noGrp="1" noRot="1" noChangeAspect="1" noMove="1" noResize="1" noEditPoints="1" noAdjustHandles="1" noChangeArrowheads="1" noChangeShapeType="1" noTextEdit="1"/>
              </p:cNvSpPr>
              <p:nvPr>
                <p:ph type="body" sz="quarter" idx="15"/>
              </p:nvPr>
            </p:nvSpPr>
            <p:spPr>
              <a:xfrm>
                <a:off x="743577" y="1694983"/>
                <a:ext cx="10675272" cy="3843453"/>
              </a:xfrm>
              <a:blipFill>
                <a:blip r:embed="rId2"/>
                <a:stretch>
                  <a:fillRect l="-1485" t="-1902" r="-800"/>
                </a:stretch>
              </a:blipFill>
            </p:spPr>
            <p:txBody>
              <a:bodyPr/>
              <a:lstStyle/>
              <a:p>
                <a:r>
                  <a:rPr lang="en-US">
                    <a:noFill/>
                  </a:rPr>
                  <a:t> </a:t>
                </a:r>
              </a:p>
            </p:txBody>
          </p:sp>
        </mc:Fallback>
      </mc:AlternateContent>
    </p:spTree>
    <p:extLst>
      <p:ext uri="{BB962C8B-B14F-4D97-AF65-F5344CB8AC3E}">
        <p14:creationId xmlns:p14="http://schemas.microsoft.com/office/powerpoint/2010/main" val="3093452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EC3B-294C-3B28-6DC5-05EEC5739564}"/>
              </a:ext>
            </a:extLst>
          </p:cNvPr>
          <p:cNvSpPr>
            <a:spLocks noGrp="1"/>
          </p:cNvSpPr>
          <p:nvPr>
            <p:ph type="title"/>
          </p:nvPr>
        </p:nvSpPr>
        <p:spPr/>
        <p:txBody>
          <a:bodyPr/>
          <a:lstStyle/>
          <a:p>
            <a:r>
              <a:rPr lang="en-US" sz="3200" dirty="0"/>
              <a:t>5.5 The Binomial Probability Distribution for the Martin Clothing Store Problem</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7C5484D-F052-C230-7D3D-6998490436CE}"/>
                  </a:ext>
                </a:extLst>
              </p:cNvPr>
              <p:cNvSpPr>
                <a:spLocks noGrp="1"/>
              </p:cNvSpPr>
              <p:nvPr>
                <p:ph type="body" sz="quarter" idx="15"/>
              </p:nvPr>
            </p:nvSpPr>
            <p:spPr>
              <a:xfrm>
                <a:off x="743575" y="1690373"/>
                <a:ext cx="10515600" cy="1406510"/>
              </a:xfrm>
            </p:spPr>
            <p:txBody>
              <a:bodyPr>
                <a:noAutofit/>
              </a:bodyPr>
              <a:lstStyle/>
              <a:p>
                <a:pPr>
                  <a:lnSpc>
                    <a:spcPct val="100000"/>
                  </a:lnSpc>
                  <a:spcBef>
                    <a:spcPts val="600"/>
                  </a:spcBef>
                </a:pPr>
                <a:r>
                  <a:rPr lang="en-US" sz="2000" dirty="0"/>
                  <a:t>If we repeat the calculation of the previous slide for the probability that the number of customers making a purchase is either 0, 1, or 3, we obtain the probability distribution.</a:t>
                </a:r>
              </a:p>
              <a:p>
                <a:pPr>
                  <a:lnSpc>
                    <a:spcPct val="100000"/>
                  </a:lnSpc>
                  <a:spcBef>
                    <a:spcPts val="600"/>
                  </a:spcBef>
                </a:pPr>
                <a:r>
                  <a:rPr lang="en-US" sz="2000" dirty="0"/>
                  <a:t>The probability distribution may also be displayed with a graph, in which the height of a bar is proportional to the probability for a given value of </a:t>
                </a:r>
                <a14:m>
                  <m:oMath xmlns:m="http://schemas.openxmlformats.org/officeDocument/2006/math">
                    <m:r>
                      <a:rPr lang="en-US" sz="2000" i="1" dirty="0" smtClean="0">
                        <a:latin typeface="Cambria Math" panose="02040503050406030204" pitchFamily="18" charset="0"/>
                      </a:rPr>
                      <m:t>𝑥</m:t>
                    </m:r>
                  </m:oMath>
                </a14:m>
                <a:r>
                  <a:rPr lang="en-US" sz="2000" dirty="0"/>
                  <a:t>.</a:t>
                </a:r>
              </a:p>
            </p:txBody>
          </p:sp>
        </mc:Choice>
        <mc:Fallback xmlns="">
          <p:sp>
            <p:nvSpPr>
              <p:cNvPr id="3" name="Text Placeholder 2">
                <a:extLst>
                  <a:ext uri="{FF2B5EF4-FFF2-40B4-BE49-F238E27FC236}">
                    <a16:creationId xmlns:a16="http://schemas.microsoft.com/office/drawing/2014/main" id="{B7C5484D-F052-C230-7D3D-6998490436CE}"/>
                  </a:ext>
                </a:extLst>
              </p:cNvPr>
              <p:cNvSpPr>
                <a:spLocks noGrp="1" noRot="1" noChangeAspect="1" noMove="1" noResize="1" noEditPoints="1" noAdjustHandles="1" noChangeArrowheads="1" noChangeShapeType="1" noTextEdit="1"/>
              </p:cNvSpPr>
              <p:nvPr>
                <p:ph type="body" sz="quarter" idx="15"/>
              </p:nvPr>
            </p:nvSpPr>
            <p:spPr>
              <a:xfrm>
                <a:off x="743575" y="1690373"/>
                <a:ext cx="10515600" cy="1406510"/>
              </a:xfrm>
              <a:blipFill>
                <a:blip r:embed="rId2"/>
                <a:stretch>
                  <a:fillRect l="-1507" t="-5195" r="-1275" b="-34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11">
                <a:extLst>
                  <a:ext uri="{FF2B5EF4-FFF2-40B4-BE49-F238E27FC236}">
                    <a16:creationId xmlns:a16="http://schemas.microsoft.com/office/drawing/2014/main" id="{CC061026-89C9-DCE4-7455-86FE1C935164}"/>
                  </a:ext>
                </a:extLst>
              </p:cNvPr>
              <p:cNvGraphicFramePr>
                <a:graphicFrameLocks noGrp="1"/>
              </p:cNvGraphicFramePr>
              <p:nvPr>
                <p:ph type="tbl" sz="quarter" idx="22"/>
                <p:extLst>
                  <p:ext uri="{D42A27DB-BD31-4B8C-83A1-F6EECF244321}">
                    <p14:modId xmlns:p14="http://schemas.microsoft.com/office/powerpoint/2010/main" val="3702213615"/>
                  </p:ext>
                </p:extLst>
              </p:nvPr>
            </p:nvGraphicFramePr>
            <p:xfrm>
              <a:off x="1422462" y="3219869"/>
              <a:ext cx="3905250" cy="2741090"/>
            </p:xfrm>
            <a:graphic>
              <a:graphicData uri="http://schemas.openxmlformats.org/drawingml/2006/table">
                <a:tbl>
                  <a:tblPr firstRow="1" bandRow="1">
                    <a:tableStyleId>{5C22544A-7EE6-4342-B048-85BDC9FD1C3A}</a:tableStyleId>
                  </a:tblPr>
                  <a:tblGrid>
                    <a:gridCol w="693398">
                      <a:extLst>
                        <a:ext uri="{9D8B030D-6E8A-4147-A177-3AD203B41FA5}">
                          <a16:colId xmlns:a16="http://schemas.microsoft.com/office/drawing/2014/main" val="278006019"/>
                        </a:ext>
                      </a:extLst>
                    </a:gridCol>
                    <a:gridCol w="3211852">
                      <a:extLst>
                        <a:ext uri="{9D8B030D-6E8A-4147-A177-3AD203B41FA5}">
                          <a16:colId xmlns:a16="http://schemas.microsoft.com/office/drawing/2014/main" val="3926675042"/>
                        </a:ext>
                      </a:extLst>
                    </a:gridCol>
                  </a:tblGrid>
                  <a:tr h="247192">
                    <a:tc>
                      <a:txBody>
                        <a:bodyPr/>
                        <a:lstStyle/>
                        <a:p>
                          <a:pPr algn="ctr" fontAlgn="b"/>
                          <a:r>
                            <a:rPr lang="en-US" sz="1600" b="1" i="1" u="none" strike="noStrike" dirty="0">
                              <a:solidFill>
                                <a:srgbClr val="000000"/>
                              </a:solidFill>
                              <a:effectLst/>
                              <a:latin typeface="Calibri" panose="020F0502020204030204" pitchFamily="34" charset="0"/>
                            </a:rPr>
                            <a:t>x</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1" u="none" strike="noStrike" dirty="0">
                              <a:solidFill>
                                <a:srgbClr val="000000"/>
                              </a:solidFill>
                              <a:effectLst/>
                              <a:latin typeface="Calibri" panose="020F0502020204030204" pitchFamily="34" charset="0"/>
                            </a:rPr>
                            <a:t>f</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984848256"/>
                      </a:ext>
                    </a:extLst>
                  </a:tr>
                  <a:tr h="498180">
                    <a:tc>
                      <a:txBody>
                        <a:bodyPr/>
                        <a:lstStyle/>
                        <a:p>
                          <a:pPr algn="ctr" fontAlgn="b"/>
                          <a:r>
                            <a:rPr lang="en-US" sz="1600" b="0" i="0" u="none" strike="noStrike" dirty="0">
                              <a:solidFill>
                                <a:srgbClr val="000000"/>
                              </a:solidFill>
                              <a:effectLst/>
                              <a:latin typeface="Calibri" panose="020F0502020204030204" pitchFamily="34" charset="0"/>
                            </a:rPr>
                            <a:t>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14:m>
                            <m:oMathPara xmlns:m="http://schemas.openxmlformats.org/officeDocument/2006/math">
                              <m:oMathParaPr>
                                <m:jc m:val="centerGroup"/>
                              </m:oMathParaPr>
                              <m:oMath xmlns:m="http://schemas.openxmlformats.org/officeDocument/2006/math">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3!</m:t>
                                    </m:r>
                                  </m:num>
                                  <m:den>
                                    <m:r>
                                      <a:rPr lang="en-US" sz="1600" b="0" i="1" u="none" strike="noStrike" smtClean="0">
                                        <a:solidFill>
                                          <a:srgbClr val="000000"/>
                                        </a:solidFill>
                                        <a:effectLst/>
                                        <a:latin typeface="Cambria Math" panose="02040503050406030204" pitchFamily="18" charset="0"/>
                                      </a:rPr>
                                      <m:t>0!3!</m:t>
                                    </m:r>
                                  </m:den>
                                </m:f>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0.30</m:t>
                                        </m:r>
                                      </m:e>
                                    </m:d>
                                  </m:e>
                                  <m:sup>
                                    <m:r>
                                      <a:rPr lang="en-US" sz="1600" b="0" i="1" u="none" strike="noStrike" smtClean="0">
                                        <a:solidFill>
                                          <a:srgbClr val="000000"/>
                                        </a:solidFill>
                                        <a:effectLst/>
                                        <a:latin typeface="Cambria Math" panose="02040503050406030204" pitchFamily="18" charset="0"/>
                                      </a:rPr>
                                      <m:t>0</m:t>
                                    </m:r>
                                  </m:sup>
                                </m:sSup>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0.70</m:t>
                                        </m:r>
                                      </m:e>
                                    </m:d>
                                  </m:e>
                                  <m:sup>
                                    <m:r>
                                      <a:rPr lang="en-US" sz="1600" b="0" i="1" u="none" strike="noStrike" smtClean="0">
                                        <a:solidFill>
                                          <a:srgbClr val="000000"/>
                                        </a:solidFill>
                                        <a:effectLst/>
                                        <a:latin typeface="Cambria Math" panose="02040503050406030204" pitchFamily="18" charset="0"/>
                                      </a:rPr>
                                      <m:t>3</m:t>
                                    </m:r>
                                  </m:sup>
                                </m:sSup>
                                <m:r>
                                  <a:rPr lang="en-US" sz="1600" b="0" i="1" u="none" strike="noStrike" smtClean="0">
                                    <a:solidFill>
                                      <a:srgbClr val="000000"/>
                                    </a:solidFill>
                                    <a:effectLst/>
                                    <a:latin typeface="Cambria Math" panose="02040503050406030204" pitchFamily="18" charset="0"/>
                                  </a:rPr>
                                  <m:t>= 0.343</m:t>
                                </m:r>
                              </m:oMath>
                            </m:oMathPara>
                          </a14:m>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749837858"/>
                      </a:ext>
                    </a:extLst>
                  </a:tr>
                  <a:tr h="498180">
                    <a:tc>
                      <a:txBody>
                        <a:bodyPr/>
                        <a:lstStyle/>
                        <a:p>
                          <a:pPr algn="ctr" fontAlgn="b"/>
                          <a:r>
                            <a:rPr lang="en-US" sz="1600" b="0" i="0" u="none" strike="noStrike" dirty="0">
                              <a:solidFill>
                                <a:srgbClr val="000000"/>
                              </a:solidFill>
                              <a:effectLst/>
                              <a:latin typeface="Calibri" panose="020F0502020204030204" pitchFamily="34" charset="0"/>
                            </a:rPr>
                            <a:t>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14:m>
                            <m:oMathPara xmlns:m="http://schemas.openxmlformats.org/officeDocument/2006/math">
                              <m:oMathParaPr>
                                <m:jc m:val="centerGroup"/>
                              </m:oMathParaPr>
                              <m:oMath xmlns:m="http://schemas.openxmlformats.org/officeDocument/2006/math">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3!</m:t>
                                    </m:r>
                                  </m:num>
                                  <m:den>
                                    <m:r>
                                      <a:rPr lang="en-US" sz="1600" b="0" i="1" u="none" strike="noStrike" smtClean="0">
                                        <a:solidFill>
                                          <a:srgbClr val="000000"/>
                                        </a:solidFill>
                                        <a:effectLst/>
                                        <a:latin typeface="Cambria Math" panose="02040503050406030204" pitchFamily="18" charset="0"/>
                                      </a:rPr>
                                      <m:t>1!2!</m:t>
                                    </m:r>
                                  </m:den>
                                </m:f>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0.30</m:t>
                                        </m:r>
                                      </m:e>
                                    </m:d>
                                  </m:e>
                                  <m:sup>
                                    <m:r>
                                      <a:rPr lang="en-US" sz="1600" b="0" i="1" u="none" strike="noStrike" smtClean="0">
                                        <a:solidFill>
                                          <a:srgbClr val="000000"/>
                                        </a:solidFill>
                                        <a:effectLst/>
                                        <a:latin typeface="Cambria Math" panose="02040503050406030204" pitchFamily="18" charset="0"/>
                                      </a:rPr>
                                      <m:t>1</m:t>
                                    </m:r>
                                  </m:sup>
                                </m:sSup>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0.70</m:t>
                                        </m:r>
                                      </m:e>
                                    </m:d>
                                  </m:e>
                                  <m:sup>
                                    <m:r>
                                      <a:rPr lang="en-US" sz="1600" b="0" i="1" u="none" strike="noStrike" smtClean="0">
                                        <a:solidFill>
                                          <a:srgbClr val="000000"/>
                                        </a:solidFill>
                                        <a:effectLst/>
                                        <a:latin typeface="Cambria Math" panose="02040503050406030204" pitchFamily="18" charset="0"/>
                                      </a:rPr>
                                      <m:t>2</m:t>
                                    </m:r>
                                  </m:sup>
                                </m:sSup>
                                <m:r>
                                  <a:rPr lang="en-US" sz="1600" b="0" i="1" u="none" strike="noStrike" smtClean="0">
                                    <a:solidFill>
                                      <a:srgbClr val="000000"/>
                                    </a:solidFill>
                                    <a:effectLst/>
                                    <a:latin typeface="Cambria Math" panose="02040503050406030204" pitchFamily="18" charset="0"/>
                                  </a:rPr>
                                  <m:t>= 0.441</m:t>
                                </m:r>
                              </m:oMath>
                            </m:oMathPara>
                          </a14:m>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511079268"/>
                      </a:ext>
                    </a:extLst>
                  </a:tr>
                  <a:tr h="498180">
                    <a:tc>
                      <a:txBody>
                        <a:bodyPr/>
                        <a:lstStyle/>
                        <a:p>
                          <a:pPr algn="ctr" fontAlgn="b"/>
                          <a:r>
                            <a:rPr lang="en-US" sz="1600" b="0" i="0" u="none" strike="noStrike" dirty="0">
                              <a:solidFill>
                                <a:srgbClr val="000000"/>
                              </a:solidFill>
                              <a:effectLst/>
                              <a:latin typeface="Calibri" panose="020F050202020403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14:m>
                            <m:oMathPara xmlns:m="http://schemas.openxmlformats.org/officeDocument/2006/math">
                              <m:oMathParaPr>
                                <m:jc m:val="centerGroup"/>
                              </m:oMathParaPr>
                              <m:oMath xmlns:m="http://schemas.openxmlformats.org/officeDocument/2006/math">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3!</m:t>
                                    </m:r>
                                  </m:num>
                                  <m:den>
                                    <m:r>
                                      <a:rPr lang="en-US" sz="1600" b="0" i="1" u="none" strike="noStrike" smtClean="0">
                                        <a:solidFill>
                                          <a:srgbClr val="000000"/>
                                        </a:solidFill>
                                        <a:effectLst/>
                                        <a:latin typeface="Cambria Math" panose="02040503050406030204" pitchFamily="18" charset="0"/>
                                      </a:rPr>
                                      <m:t>2!1!</m:t>
                                    </m:r>
                                  </m:den>
                                </m:f>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0.30</m:t>
                                        </m:r>
                                      </m:e>
                                    </m:d>
                                  </m:e>
                                  <m:sup>
                                    <m:r>
                                      <a:rPr lang="en-US" sz="1600" b="0" i="1" u="none" strike="noStrike" smtClean="0">
                                        <a:solidFill>
                                          <a:srgbClr val="000000"/>
                                        </a:solidFill>
                                        <a:effectLst/>
                                        <a:latin typeface="Cambria Math" panose="02040503050406030204" pitchFamily="18" charset="0"/>
                                      </a:rPr>
                                      <m:t>2</m:t>
                                    </m:r>
                                  </m:sup>
                                </m:sSup>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0.70</m:t>
                                        </m:r>
                                      </m:e>
                                    </m:d>
                                  </m:e>
                                  <m:sup>
                                    <m:r>
                                      <a:rPr lang="en-US" sz="1600" b="0" i="1" u="none" strike="noStrike" smtClean="0">
                                        <a:solidFill>
                                          <a:srgbClr val="000000"/>
                                        </a:solidFill>
                                        <a:effectLst/>
                                        <a:latin typeface="Cambria Math" panose="02040503050406030204" pitchFamily="18" charset="0"/>
                                      </a:rPr>
                                      <m:t>1</m:t>
                                    </m:r>
                                  </m:sup>
                                </m:sSup>
                                <m:r>
                                  <a:rPr lang="en-US" sz="1600" b="0" i="1" u="none" strike="noStrike" smtClean="0">
                                    <a:solidFill>
                                      <a:srgbClr val="000000"/>
                                    </a:solidFill>
                                    <a:effectLst/>
                                    <a:latin typeface="Cambria Math" panose="02040503050406030204" pitchFamily="18" charset="0"/>
                                  </a:rPr>
                                  <m:t>= 0.189</m:t>
                                </m:r>
                              </m:oMath>
                            </m:oMathPara>
                          </a14:m>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02859162"/>
                      </a:ext>
                    </a:extLst>
                  </a:tr>
                  <a:tr h="498180">
                    <a:tc>
                      <a:txBody>
                        <a:bodyPr/>
                        <a:lstStyle/>
                        <a:p>
                          <a:pPr algn="ctr" fontAlgn="b"/>
                          <a:r>
                            <a:rPr lang="en-US" sz="1600" b="0" i="0" u="none" strike="noStrike" dirty="0">
                              <a:solidFill>
                                <a:srgbClr val="000000"/>
                              </a:solidFill>
                              <a:effectLst/>
                              <a:latin typeface="Calibri" panose="020F0502020204030204" pitchFamily="34" charset="0"/>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14:m>
                            <m:oMathPara xmlns:m="http://schemas.openxmlformats.org/officeDocument/2006/math">
                              <m:oMathParaPr>
                                <m:jc m:val="centerGroup"/>
                              </m:oMathParaPr>
                              <m:oMath xmlns:m="http://schemas.openxmlformats.org/officeDocument/2006/math">
                                <m:f>
                                  <m:fPr>
                                    <m:ctrlPr>
                                      <a:rPr lang="en-US" sz="1600" b="0" i="1" u="none" strike="noStrike" smtClean="0">
                                        <a:solidFill>
                                          <a:srgbClr val="000000"/>
                                        </a:solidFill>
                                        <a:effectLst/>
                                        <a:latin typeface="Cambria Math" panose="02040503050406030204" pitchFamily="18" charset="0"/>
                                      </a:rPr>
                                    </m:ctrlPr>
                                  </m:fPr>
                                  <m:num>
                                    <m:r>
                                      <a:rPr lang="en-US" sz="1600" b="0" i="1" u="none" strike="noStrike" smtClean="0">
                                        <a:solidFill>
                                          <a:srgbClr val="000000"/>
                                        </a:solidFill>
                                        <a:effectLst/>
                                        <a:latin typeface="Cambria Math" panose="02040503050406030204" pitchFamily="18" charset="0"/>
                                      </a:rPr>
                                      <m:t>3!</m:t>
                                    </m:r>
                                  </m:num>
                                  <m:den>
                                    <m:r>
                                      <a:rPr lang="en-US" sz="1600" b="0" i="1" u="none" strike="noStrike" smtClean="0">
                                        <a:solidFill>
                                          <a:srgbClr val="000000"/>
                                        </a:solidFill>
                                        <a:effectLst/>
                                        <a:latin typeface="Cambria Math" panose="02040503050406030204" pitchFamily="18" charset="0"/>
                                      </a:rPr>
                                      <m:t>3!0!</m:t>
                                    </m:r>
                                  </m:den>
                                </m:f>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0.30</m:t>
                                        </m:r>
                                      </m:e>
                                    </m:d>
                                  </m:e>
                                  <m:sup>
                                    <m:r>
                                      <a:rPr lang="en-US" sz="1600" b="0" i="1" u="none" strike="noStrike" smtClean="0">
                                        <a:solidFill>
                                          <a:srgbClr val="000000"/>
                                        </a:solidFill>
                                        <a:effectLst/>
                                        <a:latin typeface="Cambria Math" panose="02040503050406030204" pitchFamily="18" charset="0"/>
                                      </a:rPr>
                                      <m:t>3</m:t>
                                    </m:r>
                                  </m:sup>
                                </m:sSup>
                                <m:sSup>
                                  <m:sSupPr>
                                    <m:ctrlPr>
                                      <a:rPr lang="en-US" sz="1600" b="0" i="1" u="none" strike="noStrike" smtClean="0">
                                        <a:solidFill>
                                          <a:srgbClr val="000000"/>
                                        </a:solidFill>
                                        <a:effectLst/>
                                        <a:latin typeface="Cambria Math" panose="02040503050406030204" pitchFamily="18" charset="0"/>
                                      </a:rPr>
                                    </m:ctrlPr>
                                  </m:sSupPr>
                                  <m:e>
                                    <m:d>
                                      <m:dPr>
                                        <m:ctrlPr>
                                          <a:rPr lang="en-US" sz="1600" b="0" i="1" u="none" strike="noStrike" smtClean="0">
                                            <a:solidFill>
                                              <a:srgbClr val="000000"/>
                                            </a:solidFill>
                                            <a:effectLst/>
                                            <a:latin typeface="Cambria Math" panose="02040503050406030204" pitchFamily="18" charset="0"/>
                                          </a:rPr>
                                        </m:ctrlPr>
                                      </m:dPr>
                                      <m:e>
                                        <m:r>
                                          <a:rPr lang="en-US" sz="1600" b="0" i="1" u="none" strike="noStrike" smtClean="0">
                                            <a:solidFill>
                                              <a:srgbClr val="000000"/>
                                            </a:solidFill>
                                            <a:effectLst/>
                                            <a:latin typeface="Cambria Math" panose="02040503050406030204" pitchFamily="18" charset="0"/>
                                          </a:rPr>
                                          <m:t>0.70</m:t>
                                        </m:r>
                                      </m:e>
                                    </m:d>
                                  </m:e>
                                  <m:sup>
                                    <m:r>
                                      <a:rPr lang="en-US" sz="1600" b="0" i="1" u="none" strike="noStrike" smtClean="0">
                                        <a:solidFill>
                                          <a:srgbClr val="000000"/>
                                        </a:solidFill>
                                        <a:effectLst/>
                                        <a:latin typeface="Cambria Math" panose="02040503050406030204" pitchFamily="18" charset="0"/>
                                      </a:rPr>
                                      <m:t>0</m:t>
                                    </m:r>
                                  </m:sup>
                                </m:sSup>
                                <m:r>
                                  <a:rPr lang="en-US" sz="1600" b="0" i="1" u="none" strike="noStrike" smtClean="0">
                                    <a:solidFill>
                                      <a:srgbClr val="000000"/>
                                    </a:solidFill>
                                    <a:effectLst/>
                                    <a:latin typeface="Cambria Math" panose="02040503050406030204" pitchFamily="18" charset="0"/>
                                  </a:rPr>
                                  <m:t>= 0.027</m:t>
                                </m:r>
                              </m:oMath>
                            </m:oMathPara>
                          </a14:m>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1034925000"/>
                      </a:ext>
                    </a:extLst>
                  </a:tr>
                  <a:tr h="498180">
                    <a:tc>
                      <a:txBody>
                        <a:bodyPr/>
                        <a:lstStyle/>
                        <a:p>
                          <a:pPr algn="ctr" fontAlgn="b"/>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r" fontAlgn="b"/>
                          <a:r>
                            <a:rPr lang="en-US" sz="1600" b="0" i="0" u="none" strike="noStrike" baseline="0" dirty="0">
                              <a:solidFill>
                                <a:srgbClr val="000000"/>
                              </a:solidFill>
                              <a:effectLst/>
                              <a:latin typeface="+mn-lt"/>
                            </a:rPr>
                            <a:t> </a:t>
                          </a:r>
                          <a14:m>
                            <m:oMath xmlns:m="http://schemas.openxmlformats.org/officeDocument/2006/math">
                              <m:r>
                                <a:rPr lang="en-US" sz="1600" b="0" i="1" u="none" strike="noStrike" smtClean="0">
                                  <a:solidFill>
                                    <a:srgbClr val="000000"/>
                                  </a:solidFill>
                                  <a:effectLst/>
                                  <a:latin typeface="Cambria Math" panose="02040503050406030204" pitchFamily="18" charset="0"/>
                                </a:rPr>
                                <m:t>1.000</m:t>
                              </m:r>
                            </m:oMath>
                          </a14:m>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143831202"/>
                      </a:ext>
                    </a:extLst>
                  </a:tr>
                </a:tbl>
              </a:graphicData>
            </a:graphic>
          </p:graphicFrame>
        </mc:Choice>
        <mc:Fallback xmlns="">
          <p:graphicFrame>
            <p:nvGraphicFramePr>
              <p:cNvPr id="11" name="Table 11">
                <a:extLst>
                  <a:ext uri="{FF2B5EF4-FFF2-40B4-BE49-F238E27FC236}">
                    <a16:creationId xmlns:a16="http://schemas.microsoft.com/office/drawing/2014/main" id="{CC061026-89C9-DCE4-7455-86FE1C935164}"/>
                  </a:ext>
                </a:extLst>
              </p:cNvPr>
              <p:cNvGraphicFramePr>
                <a:graphicFrameLocks noGrp="1"/>
              </p:cNvGraphicFramePr>
              <p:nvPr>
                <p:ph type="tbl" sz="quarter" idx="22"/>
                <p:extLst>
                  <p:ext uri="{D42A27DB-BD31-4B8C-83A1-F6EECF244321}">
                    <p14:modId xmlns:p14="http://schemas.microsoft.com/office/powerpoint/2010/main" val="3702213615"/>
                  </p:ext>
                </p:extLst>
              </p:nvPr>
            </p:nvGraphicFramePr>
            <p:xfrm>
              <a:off x="1422462" y="3219869"/>
              <a:ext cx="3905250" cy="2741090"/>
            </p:xfrm>
            <a:graphic>
              <a:graphicData uri="http://schemas.openxmlformats.org/drawingml/2006/table">
                <a:tbl>
                  <a:tblPr firstRow="1" bandRow="1">
                    <a:tableStyleId>{5C22544A-7EE6-4342-B048-85BDC9FD1C3A}</a:tableStyleId>
                  </a:tblPr>
                  <a:tblGrid>
                    <a:gridCol w="693398">
                      <a:extLst>
                        <a:ext uri="{9D8B030D-6E8A-4147-A177-3AD203B41FA5}">
                          <a16:colId xmlns:a16="http://schemas.microsoft.com/office/drawing/2014/main" val="278006019"/>
                        </a:ext>
                      </a:extLst>
                    </a:gridCol>
                    <a:gridCol w="3211852">
                      <a:extLst>
                        <a:ext uri="{9D8B030D-6E8A-4147-A177-3AD203B41FA5}">
                          <a16:colId xmlns:a16="http://schemas.microsoft.com/office/drawing/2014/main" val="3926675042"/>
                        </a:ext>
                      </a:extLst>
                    </a:gridCol>
                  </a:tblGrid>
                  <a:tr h="250190">
                    <a:tc>
                      <a:txBody>
                        <a:bodyPr/>
                        <a:lstStyle/>
                        <a:p>
                          <a:pPr algn="ctr" fontAlgn="b"/>
                          <a:r>
                            <a:rPr lang="en-US" sz="1600" b="1" i="1" u="none" strike="noStrike" dirty="0">
                              <a:solidFill>
                                <a:srgbClr val="000000"/>
                              </a:solidFill>
                              <a:effectLst/>
                              <a:latin typeface="Calibri" panose="020F0502020204030204" pitchFamily="34" charset="0"/>
                            </a:rPr>
                            <a:t>x</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fontAlgn="b"/>
                          <a:r>
                            <a:rPr lang="en-US" sz="1600" b="1" i="1" u="none" strike="noStrike" dirty="0">
                              <a:solidFill>
                                <a:srgbClr val="000000"/>
                              </a:solidFill>
                              <a:effectLst/>
                              <a:latin typeface="Calibri" panose="020F0502020204030204" pitchFamily="34" charset="0"/>
                            </a:rPr>
                            <a:t>f</a:t>
                          </a:r>
                          <a:r>
                            <a:rPr lang="en-US" sz="1600" b="1" i="0" u="none" strike="noStrike" dirty="0">
                              <a:solidFill>
                                <a:srgbClr val="000000"/>
                              </a:solidFill>
                              <a:effectLst/>
                              <a:latin typeface="Calibri" panose="020F0502020204030204" pitchFamily="34" charset="0"/>
                            </a:rPr>
                            <a:t>(</a:t>
                          </a:r>
                          <a:r>
                            <a:rPr lang="en-US" sz="1600" b="1" i="1" u="none" strike="noStrike" dirty="0">
                              <a:solidFill>
                                <a:srgbClr val="000000"/>
                              </a:solidFill>
                              <a:effectLst/>
                              <a:latin typeface="Calibri" panose="020F0502020204030204" pitchFamily="34" charset="0"/>
                            </a:rPr>
                            <a:t>x</a:t>
                          </a:r>
                          <a:r>
                            <a:rPr lang="en-US" sz="1600" b="1" i="0" u="none" strike="noStrike" dirty="0">
                              <a:solidFill>
                                <a:srgbClr val="000000"/>
                              </a:solidFill>
                              <a:effectLst/>
                              <a:latin typeface="Calibri" panose="020F0502020204030204" pitchFamily="34" charset="0"/>
                            </a:rPr>
                            <a:t>)</a:t>
                          </a:r>
                        </a:p>
                      </a:txBody>
                      <a:tcPr marL="6350" marR="6350" marT="6350" marB="0" anchor="b">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984848256"/>
                      </a:ext>
                    </a:extLst>
                  </a:tr>
                  <a:tr h="498180">
                    <a:tc>
                      <a:txBody>
                        <a:bodyPr/>
                        <a:lstStyle/>
                        <a:p>
                          <a:pPr algn="ctr" fontAlgn="b"/>
                          <a:r>
                            <a:rPr lang="en-US" sz="1600" b="0" i="0" u="none" strike="noStrike" dirty="0">
                              <a:solidFill>
                                <a:srgbClr val="000000"/>
                              </a:solidFill>
                              <a:effectLst/>
                              <a:latin typeface="Calibri" panose="020F0502020204030204" pitchFamily="34" charset="0"/>
                            </a:rPr>
                            <a:t>0</a:t>
                          </a:r>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marL="6350" marR="6350" marT="6350" marB="0"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21632" t="-59756" r="-380" b="-398780"/>
                          </a:stretch>
                        </a:blipFill>
                      </a:tcPr>
                    </a:tc>
                    <a:extLst>
                      <a:ext uri="{0D108BD9-81ED-4DB2-BD59-A6C34878D82A}">
                        <a16:rowId xmlns:a16="http://schemas.microsoft.com/office/drawing/2014/main" val="749837858"/>
                      </a:ext>
                    </a:extLst>
                  </a:tr>
                  <a:tr h="498180">
                    <a:tc>
                      <a:txBody>
                        <a:bodyPr/>
                        <a:lstStyle/>
                        <a:p>
                          <a:pPr algn="ctr" fontAlgn="b"/>
                          <a:r>
                            <a:rPr lang="en-US" sz="1600" b="0" i="0" u="none" strike="noStrike" dirty="0">
                              <a:solidFill>
                                <a:srgbClr val="000000"/>
                              </a:solidFill>
                              <a:effectLst/>
                              <a:latin typeface="Calibri" panose="020F0502020204030204" pitchFamily="34" charset="0"/>
                            </a:rPr>
                            <a:t>1</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1632" t="-159756" r="-380" b="-298780"/>
                          </a:stretch>
                        </a:blipFill>
                      </a:tcPr>
                    </a:tc>
                    <a:extLst>
                      <a:ext uri="{0D108BD9-81ED-4DB2-BD59-A6C34878D82A}">
                        <a16:rowId xmlns:a16="http://schemas.microsoft.com/office/drawing/2014/main" val="3511079268"/>
                      </a:ext>
                    </a:extLst>
                  </a:tr>
                  <a:tr h="498180">
                    <a:tc>
                      <a:txBody>
                        <a:bodyPr/>
                        <a:lstStyle/>
                        <a:p>
                          <a:pPr algn="ctr" fontAlgn="b"/>
                          <a:r>
                            <a:rPr lang="en-US" sz="1600" b="0" i="0" u="none" strike="noStrike" dirty="0">
                              <a:solidFill>
                                <a:srgbClr val="000000"/>
                              </a:solidFill>
                              <a:effectLst/>
                              <a:latin typeface="Calibri" panose="020F0502020204030204" pitchFamily="34" charset="0"/>
                            </a:rPr>
                            <a:t>2</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1632" t="-262963" r="-380" b="-202469"/>
                          </a:stretch>
                        </a:blipFill>
                      </a:tcPr>
                    </a:tc>
                    <a:extLst>
                      <a:ext uri="{0D108BD9-81ED-4DB2-BD59-A6C34878D82A}">
                        <a16:rowId xmlns:a16="http://schemas.microsoft.com/office/drawing/2014/main" val="302859162"/>
                      </a:ext>
                    </a:extLst>
                  </a:tr>
                  <a:tr h="498180">
                    <a:tc>
                      <a:txBody>
                        <a:bodyPr/>
                        <a:lstStyle/>
                        <a:p>
                          <a:pPr algn="ctr" fontAlgn="b"/>
                          <a:r>
                            <a:rPr lang="en-US" sz="1600" b="0" i="0" u="none" strike="noStrike" dirty="0">
                              <a:solidFill>
                                <a:srgbClr val="000000"/>
                              </a:solidFill>
                              <a:effectLst/>
                              <a:latin typeface="Calibri" panose="020F0502020204030204" pitchFamily="34" charset="0"/>
                            </a:rPr>
                            <a:t>3</a:t>
                          </a: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marL="6350" marR="6350" marT="635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3"/>
                          <a:stretch>
                            <a:fillRect l="-21632" t="-358537" r="-380" b="-100000"/>
                          </a:stretch>
                        </a:blipFill>
                      </a:tcPr>
                    </a:tc>
                    <a:extLst>
                      <a:ext uri="{0D108BD9-81ED-4DB2-BD59-A6C34878D82A}">
                        <a16:rowId xmlns:a16="http://schemas.microsoft.com/office/drawing/2014/main" val="1034925000"/>
                      </a:ext>
                    </a:extLst>
                  </a:tr>
                  <a:tr h="498180">
                    <a:tc>
                      <a:txBody>
                        <a:bodyPr/>
                        <a:lstStyle/>
                        <a:p>
                          <a:pPr algn="ctr" fontAlgn="b"/>
                          <a:endParaRPr lang="en-US" sz="1600" b="0" i="0" u="none" strike="noStrike" dirty="0">
                            <a:solidFill>
                              <a:srgbClr val="000000"/>
                            </a:solidFill>
                            <a:effectLst/>
                            <a:latin typeface="Calibri" panose="020F0502020204030204" pitchFamily="34" charset="0"/>
                          </a:endParaRPr>
                        </a:p>
                      </a:txBody>
                      <a:tcPr marL="6350" marR="6350" marT="635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marL="6350" marR="6350" marT="635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1632" t="-458537" r="-380"/>
                          </a:stretch>
                        </a:blipFill>
                      </a:tcPr>
                    </a:tc>
                    <a:extLst>
                      <a:ext uri="{0D108BD9-81ED-4DB2-BD59-A6C34878D82A}">
                        <a16:rowId xmlns:a16="http://schemas.microsoft.com/office/drawing/2014/main" val="2143831202"/>
                      </a:ext>
                    </a:extLst>
                  </a:tr>
                </a:tbl>
              </a:graphicData>
            </a:graphic>
          </p:graphicFrame>
        </mc:Fallback>
      </mc:AlternateContent>
      <p:pic>
        <p:nvPicPr>
          <p:cNvPr id="10" name="Picture Placeholder 6" descr="A graph with four vertical lines plots probability versus number of customers making a purchase. The horizontal axis is labeled “Number of Customers Making a Purchase” and ranges from 0 to 3 with tickmarks in increments of 1. The vertical axis is labeled “Probability” and ranges from 0.00 to 0.50 with tickmarks in increments of 0.10. The data from the graph are as follows. 0: 0.343. 1: 0.441. 2: 0.189. 3: 0.027.&#10;">
            <a:extLst>
              <a:ext uri="{FF2B5EF4-FFF2-40B4-BE49-F238E27FC236}">
                <a16:creationId xmlns:a16="http://schemas.microsoft.com/office/drawing/2014/main" id="{5E530958-8FA5-6335-55A3-FF6DC631CEBE}"/>
              </a:ext>
            </a:extLst>
          </p:cNvPr>
          <p:cNvPicPr>
            <a:picLocks noGrp="1" noChangeAspect="1"/>
          </p:cNvPicPr>
          <p:nvPr>
            <p:ph type="pic" sz="quarter" idx="23"/>
          </p:nvPr>
        </p:nvPicPr>
        <p:blipFill rotWithShape="1">
          <a:blip r:embed="rId4"/>
          <a:srcRect l="46" r="46"/>
          <a:stretch/>
        </p:blipFill>
        <p:spPr>
          <a:xfrm>
            <a:off x="6096000" y="3096883"/>
            <a:ext cx="3905250" cy="2824162"/>
          </a:xfrm>
        </p:spPr>
      </p:pic>
    </p:spTree>
    <p:extLst>
      <p:ext uri="{BB962C8B-B14F-4D97-AF65-F5344CB8AC3E}">
        <p14:creationId xmlns:p14="http://schemas.microsoft.com/office/powerpoint/2010/main" val="34481108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solidFill>
                  <a:srgbClr val="25894E"/>
                </a:solidFill>
              </a:rPr>
              <a:t>5.5 Excel: Computing Binomial Probabilities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7" y="1164432"/>
                <a:ext cx="10704846" cy="2164556"/>
              </a:xfrm>
            </p:spPr>
            <p:txBody>
              <a:bodyPr/>
              <a:lstStyle/>
              <a:p>
                <a:r>
                  <a:rPr lang="en-US" sz="2000" dirty="0"/>
                  <a:t>In this section, we show how Excel’s BINOM.DIST function is used to compute binomial probabilities and cumulative binomial probabilities.</a:t>
                </a:r>
              </a:p>
              <a:p>
                <a:r>
                  <a:rPr lang="en-US" sz="2000" b="1" dirty="0"/>
                  <a:t>Enter/Access Data</a:t>
                </a:r>
                <a:r>
                  <a:rPr lang="en-US" sz="2000" dirty="0"/>
                  <a:t>: We enter the number of trials (</a:t>
                </a:r>
                <a14:m>
                  <m:oMath xmlns:m="http://schemas.openxmlformats.org/officeDocument/2006/math">
                    <m:r>
                      <a:rPr lang="en-US" sz="2000" i="1" dirty="0" smtClean="0">
                        <a:latin typeface="Cambria Math" panose="02040503050406030204" pitchFamily="18" charset="0"/>
                      </a:rPr>
                      <m:t>𝑛</m:t>
                    </m:r>
                    <m:r>
                      <a:rPr lang="en-US" sz="2000" b="0" i="1" dirty="0" smtClean="0">
                        <a:latin typeface="Cambria Math" panose="02040503050406030204" pitchFamily="18" charset="0"/>
                      </a:rPr>
                      <m:t>=3</m:t>
                    </m:r>
                  </m:oMath>
                </a14:m>
                <a:r>
                  <a:rPr lang="en-US" sz="2000" dirty="0"/>
                  <a:t>) in cell C1, the probability of success (</a:t>
                </a:r>
                <a14:m>
                  <m:oMath xmlns:m="http://schemas.openxmlformats.org/officeDocument/2006/math">
                    <m:r>
                      <a:rPr lang="en-US" sz="2000" i="1" dirty="0" smtClean="0">
                        <a:latin typeface="Cambria Math" panose="02040503050406030204" pitchFamily="18" charset="0"/>
                      </a:rPr>
                      <m:t>𝑝</m:t>
                    </m:r>
                    <m:r>
                      <a:rPr lang="en-US" sz="2000" b="0" i="1" dirty="0" smtClean="0">
                        <a:latin typeface="Cambria Math" panose="02040503050406030204" pitchFamily="18" charset="0"/>
                      </a:rPr>
                      <m:t>=0.3</m:t>
                    </m:r>
                  </m:oMath>
                </a14:m>
                <a:r>
                  <a:rPr lang="en-US" sz="2000" dirty="0"/>
                  <a:t>) in cell C2, and the values of the random variable (</a:t>
                </a:r>
                <a14:m>
                  <m:oMath xmlns:m="http://schemas.openxmlformats.org/officeDocument/2006/math">
                    <m:r>
                      <a:rPr lang="en-US" sz="2000" i="1" dirty="0" smtClean="0">
                        <a:latin typeface="Cambria Math" panose="02040503050406030204" pitchFamily="18" charset="0"/>
                      </a:rPr>
                      <m:t>𝑥</m:t>
                    </m:r>
                  </m:oMath>
                </a14:m>
                <a:r>
                  <a:rPr lang="en-US" sz="2000" dirty="0"/>
                  <a:t>) in cells A5:A8, all labeled.</a:t>
                </a:r>
              </a:p>
              <a:p>
                <a:r>
                  <a:rPr lang="en-US" sz="2000" b="1" dirty="0"/>
                  <a:t>Enter Functions and Formulas</a:t>
                </a:r>
                <a:r>
                  <a:rPr lang="en-US" sz="2000" dirty="0"/>
                  <a:t>: We enter the binomial probability </a:t>
                </a:r>
                <a14:m>
                  <m:oMath xmlns:m="http://schemas.openxmlformats.org/officeDocument/2006/math">
                    <m:r>
                      <a:rPr lang="en-US" sz="2000" b="0" i="1" dirty="0" smtClean="0">
                        <a:latin typeface="Cambria Math" panose="02040503050406030204" pitchFamily="18" charset="0"/>
                      </a:rPr>
                      <m:t>𝑓</m:t>
                    </m:r>
                    <m:r>
                      <a:rPr lang="en-US" sz="2000" i="1" dirty="0" smtClean="0">
                        <a:latin typeface="Cambria Math" panose="02040503050406030204" pitchFamily="18" charset="0"/>
                      </a:rPr>
                      <m:t>(</m:t>
                    </m:r>
                    <m:r>
                      <a:rPr lang="en-US" sz="2000" i="1" dirty="0" smtClean="0">
                        <a:latin typeface="Cambria Math" panose="02040503050406030204" pitchFamily="18" charset="0"/>
                      </a:rPr>
                      <m:t>𝑥</m:t>
                    </m:r>
                    <m:r>
                      <a:rPr lang="en-US" sz="2000" i="1" dirty="0" smtClean="0">
                        <a:latin typeface="Cambria Math" panose="02040503050406030204" pitchFamily="18" charset="0"/>
                      </a:rPr>
                      <m:t>=0)</m:t>
                    </m:r>
                  </m:oMath>
                </a14:m>
                <a:r>
                  <a:rPr lang="en-US" sz="2000" dirty="0"/>
                  <a:t> in cell B5 as</a:t>
                </a:r>
              </a:p>
              <a:p>
                <a:pPr marL="914400"/>
                <a:r>
                  <a:rPr lang="en-US" sz="2000" i="1" dirty="0"/>
                  <a:t>=BINOM.DIST(</a:t>
                </a:r>
                <a14:m>
                  <m:oMath xmlns:m="http://schemas.openxmlformats.org/officeDocument/2006/math">
                    <m:r>
                      <a:rPr lang="en-US" sz="2000" i="1" dirty="0" smtClean="0">
                        <a:latin typeface="Cambria Math" panose="02040503050406030204" pitchFamily="18" charset="0"/>
                      </a:rPr>
                      <m:t>𝑥</m:t>
                    </m:r>
                  </m:oMath>
                </a14:m>
                <a:r>
                  <a:rPr lang="en-US" sz="2000" i="1" dirty="0" err="1"/>
                  <a:t>,</a:t>
                </a:r>
                <a14:m>
                  <m:oMath xmlns:m="http://schemas.openxmlformats.org/officeDocument/2006/math">
                    <m:r>
                      <a:rPr lang="en-US" sz="2000" i="1" dirty="0" smtClean="0">
                        <a:latin typeface="Cambria Math" panose="02040503050406030204" pitchFamily="18" charset="0"/>
                      </a:rPr>
                      <m:t>𝑛</m:t>
                    </m:r>
                  </m:oMath>
                </a14:m>
                <a:r>
                  <a:rPr lang="en-US" sz="2000" i="1" dirty="0" err="1"/>
                  <a:t>,</a:t>
                </a:r>
                <a14:m>
                  <m:oMath xmlns:m="http://schemas.openxmlformats.org/officeDocument/2006/math">
                    <m:r>
                      <a:rPr lang="en-US" sz="2000" i="1" dirty="0" smtClean="0">
                        <a:latin typeface="Cambria Math" panose="02040503050406030204" pitchFamily="18" charset="0"/>
                      </a:rPr>
                      <m:t>𝑝</m:t>
                    </m:r>
                  </m:oMath>
                </a14:m>
                <a:r>
                  <a:rPr lang="en-US" sz="2000" i="1" dirty="0" err="1"/>
                  <a:t>,FALSE</a:t>
                </a:r>
                <a:r>
                  <a:rPr lang="en-US" sz="2000" i="1" dirty="0"/>
                  <a:t>)</a:t>
                </a:r>
              </a:p>
              <a:p>
                <a:endParaRPr lang="en-US" sz="2000" dirty="0"/>
              </a:p>
            </p:txBody>
          </p:sp>
        </mc:Choice>
        <mc:Fallback xmlns="">
          <p:sp>
            <p:nvSpPr>
              <p:cNvPr id="5" name="Text Placeholder 4">
                <a:extLst>
                  <a:ext uri="{FF2B5EF4-FFF2-40B4-BE49-F238E27FC236}">
                    <a16:creationId xmlns:a16="http://schemas.microsoft.com/office/drawing/2014/main" id="{C57E986C-AE73-DA74-301E-184CA78D1692}"/>
                  </a:ext>
                </a:extLst>
              </p:cNvPr>
              <p:cNvSpPr>
                <a:spLocks noGrp="1" noRot="1" noChangeAspect="1" noMove="1" noResize="1" noEditPoints="1" noAdjustHandles="1" noChangeArrowheads="1" noChangeShapeType="1" noTextEdit="1"/>
              </p:cNvSpPr>
              <p:nvPr>
                <p:ph type="body" sz="quarter" idx="15"/>
              </p:nvPr>
            </p:nvSpPr>
            <p:spPr>
              <a:xfrm>
                <a:off x="743577" y="1164432"/>
                <a:ext cx="10704846" cy="2164556"/>
              </a:xfrm>
              <a:blipFill>
                <a:blip r:embed="rId3"/>
                <a:stretch>
                  <a:fillRect l="-1481" t="-3380" r="-1082" b="-25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C9873B1-3630-476E-AD59-760C92693DD9}"/>
                  </a:ext>
                </a:extLst>
              </p:cNvPr>
              <p:cNvSpPr>
                <a:spLocks noGrp="1"/>
              </p:cNvSpPr>
              <p:nvPr>
                <p:ph type="body" sz="quarter" idx="17"/>
              </p:nvPr>
            </p:nvSpPr>
            <p:spPr>
              <a:xfrm>
                <a:off x="743578" y="3378196"/>
                <a:ext cx="4307054" cy="2547132"/>
              </a:xfrm>
            </p:spPr>
            <p:txBody>
              <a:bodyPr/>
              <a:lstStyle/>
              <a:p>
                <a:r>
                  <a:rPr lang="en-US" sz="2000" dirty="0"/>
                  <a:t>We lock the relative references to </a:t>
                </a:r>
                <a14:m>
                  <m:oMath xmlns:m="http://schemas.openxmlformats.org/officeDocument/2006/math">
                    <m:r>
                      <a:rPr lang="en-US" sz="2000" i="1" dirty="0" smtClean="0">
                        <a:latin typeface="Cambria Math" panose="02040503050406030204" pitchFamily="18" charset="0"/>
                      </a:rPr>
                      <m:t>𝑛</m:t>
                    </m:r>
                  </m:oMath>
                </a14:m>
                <a:r>
                  <a:rPr lang="en-US" sz="2000" dirty="0"/>
                  <a:t> and </a:t>
                </a:r>
                <a14:m>
                  <m:oMath xmlns:m="http://schemas.openxmlformats.org/officeDocument/2006/math">
                    <m:r>
                      <a:rPr lang="en-US" sz="2000" i="1" dirty="0" smtClean="0">
                        <a:latin typeface="Cambria Math" panose="02040503050406030204" pitchFamily="18" charset="0"/>
                      </a:rPr>
                      <m:t>𝑝</m:t>
                    </m:r>
                  </m:oMath>
                </a14:m>
                <a:r>
                  <a:rPr lang="en-US" sz="2000" dirty="0"/>
                  <a:t> in cells C1 and C2 to absolute ($C$1 and $C$2) and copy the formula down to cells B6:B8 to compute the values for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=1,2</m:t>
                    </m:r>
                  </m:oMath>
                </a14:m>
                <a:r>
                  <a:rPr lang="en-US" sz="2000" dirty="0"/>
                  <a:t>, and </a:t>
                </a:r>
                <a14:m>
                  <m:oMath xmlns:m="http://schemas.openxmlformats.org/officeDocument/2006/math">
                    <m:r>
                      <a:rPr lang="en-US" sz="2000" i="1" dirty="0" smtClean="0">
                        <a:latin typeface="Cambria Math" panose="02040503050406030204" pitchFamily="18" charset="0"/>
                      </a:rPr>
                      <m:t>3</m:t>
                    </m:r>
                  </m:oMath>
                </a14:m>
                <a:r>
                  <a:rPr lang="en-US" sz="2000" dirty="0"/>
                  <a:t>.</a:t>
                </a:r>
              </a:p>
              <a:p>
                <a:r>
                  <a:rPr lang="en-US" sz="2000" dirty="0"/>
                  <a:t>We choose </a:t>
                </a:r>
                <a14:m>
                  <m:oMath xmlns:m="http://schemas.openxmlformats.org/officeDocument/2006/math">
                    <m:r>
                      <a:rPr lang="en-US" sz="2000" i="1" dirty="0" smtClean="0">
                        <a:latin typeface="Cambria Math" panose="02040503050406030204" pitchFamily="18" charset="0"/>
                      </a:rPr>
                      <m:t>𝐹𝐴𝐿𝑆𝐸</m:t>
                    </m:r>
                  </m:oMath>
                </a14:m>
                <a:r>
                  <a:rPr lang="en-US" sz="2000" dirty="0"/>
                  <a:t> for the fourth input if a probability is desired and </a:t>
                </a:r>
                <a14:m>
                  <m:oMath xmlns:m="http://schemas.openxmlformats.org/officeDocument/2006/math">
                    <m:r>
                      <a:rPr lang="en-US" sz="2000" i="1" dirty="0" smtClean="0">
                        <a:latin typeface="Cambria Math" panose="02040503050406030204" pitchFamily="18" charset="0"/>
                      </a:rPr>
                      <m:t>𝑇𝑅𝑈𝐸</m:t>
                    </m:r>
                  </m:oMath>
                </a14:m>
                <a:r>
                  <a:rPr lang="en-US" sz="2000" dirty="0"/>
                  <a:t> if a cumulative probability is desired.</a:t>
                </a:r>
              </a:p>
            </p:txBody>
          </p:sp>
        </mc:Choice>
        <mc:Fallback xmlns="">
          <p:sp>
            <p:nvSpPr>
              <p:cNvPr id="7" name="Text Placeholder 6">
                <a:extLst>
                  <a:ext uri="{FF2B5EF4-FFF2-40B4-BE49-F238E27FC236}">
                    <a16:creationId xmlns:a16="http://schemas.microsoft.com/office/drawing/2014/main" id="{AC9873B1-3630-476E-AD59-760C92693DD9}"/>
                  </a:ext>
                </a:extLst>
              </p:cNvPr>
              <p:cNvSpPr>
                <a:spLocks noGrp="1" noRot="1" noChangeAspect="1" noMove="1" noResize="1" noEditPoints="1" noAdjustHandles="1" noChangeArrowheads="1" noChangeShapeType="1" noTextEdit="1"/>
              </p:cNvSpPr>
              <p:nvPr>
                <p:ph type="body" sz="quarter" idx="17"/>
              </p:nvPr>
            </p:nvSpPr>
            <p:spPr>
              <a:xfrm>
                <a:off x="743578" y="3378196"/>
                <a:ext cx="4307054" cy="2547132"/>
              </a:xfrm>
              <a:blipFill>
                <a:blip r:embed="rId4"/>
                <a:stretch>
                  <a:fillRect l="-3678" t="-2871" r="-3112" b="-5024"/>
                </a:stretch>
              </a:blipFill>
            </p:spPr>
            <p:txBody>
              <a:bodyPr/>
              <a:lstStyle/>
              <a:p>
                <a:r>
                  <a:rPr lang="en-US">
                    <a:noFill/>
                  </a:rPr>
                  <a:t> </a:t>
                </a:r>
              </a:p>
            </p:txBody>
          </p:sp>
        </mc:Fallback>
      </mc:AlternateContent>
      <p:pic>
        <p:nvPicPr>
          <p:cNvPr id="6" name="Picture Placeholder 5" descr="Two screenshots of Excel spreadsheets for computing binomial distribution. In both the spreadsheets, the data on the top are as follows. B 1: Number of trials (n). C 1: 3. B 2: Probability of success (p). C 2: 0.3. There is a table with two columns. Column A is labeled x. Column B is labeled f of x. In the first spreadsheet, the entries in rows 5 through 8 are as follows. Row 5. x: 0. f of x: =BINOM.DIST(A 5, dollar sign C dollar sign 1, dollar sign C dollar sign 2, FALSE). Row 6. x: 1. f of x: =BINOM.DIST(A 6, dollar sign C dollar sign 1, dollar sign C dollar sign 2, FALSE). Row 7. x: 2. f of x: =BINOM.DIST(A 7, dollar sign C dollar sign 1, dollar sign C dollar sign 2, FALSE). Row 8. x: 3. f of x: =BINOM.DIST(A 8, dollar sign C dollar sign 1, dollar sign C dollar sign 2, FALSE). In the second spreadsheet, the entries in rows 5 through 8 are as follows. Row 5. x: 0. f of x: 0.343. Row 6. x: 1. f of x: 0.441. Row 7. x: 2. f of x: 0.189. Row 8. x: 3. f of x: 0.027.">
            <a:extLst>
              <a:ext uri="{FF2B5EF4-FFF2-40B4-BE49-F238E27FC236}">
                <a16:creationId xmlns:a16="http://schemas.microsoft.com/office/drawing/2014/main" id="{DA5A7199-3120-28D4-4CA3-B8645CBA147C}"/>
              </a:ext>
            </a:extLst>
          </p:cNvPr>
          <p:cNvPicPr>
            <a:picLocks noGrp="1" noChangeAspect="1"/>
          </p:cNvPicPr>
          <p:nvPr>
            <p:ph type="pic" sz="quarter" idx="16"/>
          </p:nvPr>
        </p:nvPicPr>
        <p:blipFill>
          <a:blip r:embed="rId5"/>
          <a:srcRect t="176" b="176"/>
          <a:stretch/>
        </p:blipFill>
        <p:spPr>
          <a:xfrm>
            <a:off x="5258090" y="3136106"/>
            <a:ext cx="6095710" cy="2789222"/>
          </a:xfrm>
          <a:ln>
            <a:solidFill>
              <a:srgbClr val="000000"/>
            </a:solidFill>
          </a:ln>
        </p:spPr>
      </p:pic>
    </p:spTree>
    <p:extLst>
      <p:ext uri="{BB962C8B-B14F-4D97-AF65-F5344CB8AC3E}">
        <p14:creationId xmlns:p14="http://schemas.microsoft.com/office/powerpoint/2010/main" val="3219171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a:xfrm>
            <a:off x="628653" y="365125"/>
            <a:ext cx="10910887" cy="672105"/>
          </a:xfrm>
        </p:spPr>
        <p:txBody>
          <a:bodyPr/>
          <a:lstStyle/>
          <a:p>
            <a:r>
              <a:rPr lang="en-US" sz="3200" dirty="0">
                <a:solidFill>
                  <a:srgbClr val="25894E"/>
                </a:solidFill>
              </a:rPr>
              <a:t>5.5 Excel: Computing Cumulative Binomial Probabilities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8" y="1243015"/>
                <a:ext cx="5035716" cy="4586289"/>
              </a:xfrm>
            </p:spPr>
            <p:txBody>
              <a:bodyPr/>
              <a:lstStyle/>
              <a:p>
                <a:r>
                  <a:rPr lang="en-US" sz="2000" b="1" dirty="0"/>
                  <a:t>Enter/Access Data</a:t>
                </a:r>
                <a:r>
                  <a:rPr lang="en-US" sz="2000" dirty="0"/>
                  <a:t>: We enter the number of trials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=10</m:t>
                    </m:r>
                  </m:oMath>
                </a14:m>
                <a:r>
                  <a:rPr lang="en-US" sz="2000" dirty="0"/>
                  <a:t>) in cell C1, the probability of success (</a:t>
                </a:r>
                <a14:m>
                  <m:oMath xmlns:m="http://schemas.openxmlformats.org/officeDocument/2006/math">
                    <m:r>
                      <a:rPr lang="en-US" sz="2000" i="1" dirty="0" smtClean="0">
                        <a:latin typeface="Cambria Math" panose="02040503050406030204" pitchFamily="18" charset="0"/>
                      </a:rPr>
                      <m:t>𝑝</m:t>
                    </m:r>
                    <m:r>
                      <a:rPr lang="en-US" sz="2000" i="1" dirty="0" smtClean="0">
                        <a:latin typeface="Cambria Math" panose="02040503050406030204" pitchFamily="18" charset="0"/>
                      </a:rPr>
                      <m:t>=0.3</m:t>
                    </m:r>
                  </m:oMath>
                </a14:m>
                <a:r>
                  <a:rPr lang="en-US" sz="2000" dirty="0"/>
                  <a:t>) in cell C2, and the values of the random variable (𝑥) in cells A5:A15.</a:t>
                </a:r>
              </a:p>
              <a:p>
                <a:r>
                  <a:rPr lang="en-US" sz="2000" b="1" dirty="0"/>
                  <a:t>Enter Functions and Formulas</a:t>
                </a:r>
                <a:r>
                  <a:rPr lang="en-US" sz="2000" dirty="0"/>
                  <a:t>: We enter cumulative binomial probability in cell B5 as</a:t>
                </a:r>
              </a:p>
              <a:p>
                <a:pPr marL="914400"/>
                <a:r>
                  <a:rPr lang="en-US" sz="2000" i="1" dirty="0"/>
                  <a:t>=BINOM.DIST(</a:t>
                </a:r>
                <a14:m>
                  <m:oMath xmlns:m="http://schemas.openxmlformats.org/officeDocument/2006/math">
                    <m:r>
                      <a:rPr lang="en-US" sz="2000" i="1" dirty="0">
                        <a:latin typeface="Cambria Math" panose="02040503050406030204" pitchFamily="18" charset="0"/>
                      </a:rPr>
                      <m:t>𝑥</m:t>
                    </m:r>
                  </m:oMath>
                </a14:m>
                <a:r>
                  <a:rPr lang="en-US" sz="2000" i="1" dirty="0" err="1"/>
                  <a:t>,</a:t>
                </a:r>
                <a14:m>
                  <m:oMath xmlns:m="http://schemas.openxmlformats.org/officeDocument/2006/math">
                    <m:r>
                      <a:rPr lang="en-US" sz="2000" i="1" dirty="0">
                        <a:latin typeface="Cambria Math" panose="02040503050406030204" pitchFamily="18" charset="0"/>
                      </a:rPr>
                      <m:t>𝑛</m:t>
                    </m:r>
                  </m:oMath>
                </a14:m>
                <a:r>
                  <a:rPr lang="en-US" sz="2000" i="1" dirty="0" err="1"/>
                  <a:t>,</a:t>
                </a:r>
                <a14:m>
                  <m:oMath xmlns:m="http://schemas.openxmlformats.org/officeDocument/2006/math">
                    <m:r>
                      <a:rPr lang="en-US" sz="2000" i="1" dirty="0">
                        <a:latin typeface="Cambria Math" panose="02040503050406030204" pitchFamily="18" charset="0"/>
                      </a:rPr>
                      <m:t>𝑝</m:t>
                    </m:r>
                  </m:oMath>
                </a14:m>
                <a:r>
                  <a:rPr lang="en-US" sz="2000" i="1" dirty="0"/>
                  <a:t>,TRUE)</a:t>
                </a:r>
              </a:p>
              <a:p>
                <a:r>
                  <a:rPr lang="en-US" sz="2000" dirty="0"/>
                  <a:t>As we did earlier, we lock the relative references to </a:t>
                </a:r>
                <a14:m>
                  <m:oMath xmlns:m="http://schemas.openxmlformats.org/officeDocument/2006/math">
                    <m:r>
                      <a:rPr lang="en-US" sz="2000" i="1" dirty="0" smtClean="0">
                        <a:latin typeface="Cambria Math" panose="02040503050406030204" pitchFamily="18" charset="0"/>
                      </a:rPr>
                      <m:t>𝑛</m:t>
                    </m:r>
                  </m:oMath>
                </a14:m>
                <a:r>
                  <a:rPr lang="en-US" sz="2000" dirty="0"/>
                  <a:t> and </a:t>
                </a:r>
                <a14:m>
                  <m:oMath xmlns:m="http://schemas.openxmlformats.org/officeDocument/2006/math">
                    <m:r>
                      <a:rPr lang="en-US" sz="2000" i="1" dirty="0" smtClean="0">
                        <a:latin typeface="Cambria Math" panose="02040503050406030204" pitchFamily="18" charset="0"/>
                      </a:rPr>
                      <m:t>𝑝</m:t>
                    </m:r>
                  </m:oMath>
                </a14:m>
                <a:r>
                  <a:rPr lang="en-US" sz="2000" dirty="0"/>
                  <a:t> in cells C1 and C2 to absolute ($C$1 and $C$2) and copy the formula down to cells B6:B15 to compute the cumulative probabilities for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=1,2,…,10</m:t>
                    </m:r>
                  </m:oMath>
                </a14:m>
                <a:r>
                  <a:rPr lang="en-US" sz="2000" dirty="0"/>
                  <a:t>.</a:t>
                </a:r>
              </a:p>
              <a:p>
                <a:r>
                  <a:rPr lang="en-US" sz="2000" dirty="0"/>
                  <a:t>This time, we choose </a:t>
                </a:r>
                <a14:m>
                  <m:oMath xmlns:m="http://schemas.openxmlformats.org/officeDocument/2006/math">
                    <m:r>
                      <a:rPr lang="en-US" sz="2000" i="1" dirty="0" smtClean="0">
                        <a:latin typeface="Cambria Math" panose="02040503050406030204" pitchFamily="18" charset="0"/>
                      </a:rPr>
                      <m:t>𝑇𝑅𝑈𝐸</m:t>
                    </m:r>
                  </m:oMath>
                </a14:m>
                <a:r>
                  <a:rPr lang="en-US" sz="2000" dirty="0"/>
                  <a:t> to compute the cumulative probabilities.</a:t>
                </a:r>
              </a:p>
              <a:p>
                <a:endParaRPr lang="en-US" sz="2000" dirty="0"/>
              </a:p>
            </p:txBody>
          </p:sp>
        </mc:Choice>
        <mc:Fallback xmlns="">
          <p:sp>
            <p:nvSpPr>
              <p:cNvPr id="5" name="Text Placeholder 4">
                <a:extLst>
                  <a:ext uri="{FF2B5EF4-FFF2-40B4-BE49-F238E27FC236}">
                    <a16:creationId xmlns:a16="http://schemas.microsoft.com/office/drawing/2014/main" id="{C57E986C-AE73-DA74-301E-184CA78D1692}"/>
                  </a:ext>
                </a:extLst>
              </p:cNvPr>
              <p:cNvSpPr>
                <a:spLocks noGrp="1" noRot="1" noChangeAspect="1" noMove="1" noResize="1" noEditPoints="1" noAdjustHandles="1" noChangeArrowheads="1" noChangeShapeType="1" noTextEdit="1"/>
              </p:cNvSpPr>
              <p:nvPr>
                <p:ph type="body" sz="quarter" idx="15"/>
              </p:nvPr>
            </p:nvSpPr>
            <p:spPr>
              <a:xfrm>
                <a:off x="743578" y="1243015"/>
                <a:ext cx="5035716" cy="4586289"/>
              </a:xfrm>
              <a:blipFill>
                <a:blip r:embed="rId3"/>
                <a:stretch>
                  <a:fillRect l="-3148" t="-1596" r="-4358" b="-3191"/>
                </a:stretch>
              </a:blipFill>
            </p:spPr>
            <p:txBody>
              <a:bodyPr/>
              <a:lstStyle/>
              <a:p>
                <a:r>
                  <a:rPr lang="en-US">
                    <a:noFill/>
                  </a:rPr>
                  <a:t> </a:t>
                </a:r>
              </a:p>
            </p:txBody>
          </p:sp>
        </mc:Fallback>
      </mc:AlternateContent>
      <p:pic>
        <p:nvPicPr>
          <p:cNvPr id="11" name="Picture Placeholder 10" descr="Two screenshots of Excel spreadsheets for computing the cumulative probability. In both the sheets, the entries on the top are as follows. B 1: Number of trials (n). C 1: 10. B 2: Probability of success (p). C 2: 0.3. There are two columns. Column A is labeled x. Column B is labeled Cumulative probability. In the first spreadsheet, the entries in rows 5 through 15 are as follows. Row 5. x: 0. f of x: =BINOM.DIST(A 5, dollar sign C dollar sign 1, dollar sign C dollar sign 2, FALSE). Cumulative probability: =BINOM.DIST(A 5, dollar sign C dollar sign 1, dollar sign C dollar sign 2, TRUE). Row 6. x: 1. f of x: =BINOM.DIST(A 6, dollar sign D dollar sign 1, dollar sign C dollar sign 2, FALSE). Cumulative probability: =BINOM.DIST(A 6, dollar sign C dollar sign 1, dollar sign C dollar sign 2, TRUE). Row 7. x: 2. f of x: =BINOM.DIST(A 7, dollar sign C dollar sign 1, dollar sign C dollar sign 2, FALSE). Cumulative probability: =BINOM.DIST(A 7, dollar sign C dollar sign 1, dollar sign C dollar sign 2, TRUE). Row 8. x: 3. f of x: =BINOM.DIST(A 8, dollar sign C dollar sign 1, dollar sign C dollar sign 2, FALSE). Cumulative probability: =BINOM.DIST(A 8, dollar sign C dollar sign 1, dollar sign C dollar sign 2, TRUE). Row 9. x: 4. f of x: =BINOM.DIST(A 9, dollar sign C dollar sign 1, dollar sign C dollar sign 2, FALSE). Cumulative probability: =BINOM.DIST(A 9, dollar sign C dollar sign 1, dollar sign C dollar sign 2, TRUE). Row 10. x: 5. f of x: =BINOM.DIST(A 10, dollar sign C dollar sign 1, dollar sign C dollar sign 2, FALSE). Cumulative probability: =BINOM.DIST(A 10, dollar sign C dollar sign 1, dollar sign C dollar sign 2, TRUE). Row 11. x: 6. f of x: =BINOM.DIST(A 11, dollar sign C dollar sign 1, dollar sign C dollar sign 2, FALSE). Cumulative probability: =BINOM.DIST(A 11, dollar sign C dollar sign 1, dollar sign C dollar sign 2, TRUE). Row 12. x: 7. f of x: =BINOM.DIST(A 12, dollar sign C dollar sign 1, dollar sign C dollar sign 2, FALSE). Cumulative probability: =BINOM.DIST(A 12, dollar sign C dollar sign 1, dollar sign C dollar sign 2, TRUE). Row 13. x: 8. f of x: =BINOM.DIST(A 13, dollar sign C dollar sign 1, dollar sign C dollar sign 2, FALSE). Cumulative probability: =BINOM.DIST(A 13, dollar sign C dollar sign 1, dollar sign C dollar sign 2, TRUE). Row 14. x: 9. f of x: =BINOM.DIST(A 14, dollar sign C dollar sign 1, dollar sign C dollar sign 2, FALSE). Cumulative probability: =BINOM.DIST(A 14, dollar sign C dollar sign 1, dollar sign C dollar sign 2, TRUE). Row 15. x: 10. f of x: =BINOM.DIST(A 15, dollar sign C dollar sign 1, dollar sign C dollar sign 2, FALSE). Cumulative probability: =BINOM.DIST(A 15, dollar sign C dollar sign 1, dollar sign C dollar sign 2, TRUE). In the second spreadsheet, the entries in rows 5 through 15 are as follows. Row 5. x: 0. f of x: 0.0282. Cumulative probability: 0.0282. Row 6. x: 1. f of x: 0.1211. Cumulative probability: 0.1493. Row 7. x: 2. f of x: 0.2335. Cumulative probability: 0.3828. Row 8. x: 3. f of x: 0.2668. Cumulative probability: 0.6496. Row 9. x: 4. f of x: 0.2001. Cumulative probability: 0.8497. Row 10. x: 5. f of x: 0.1029. Cumulative probability: 0.9527. Row 11. x: 6. f of x: 0.0368. Cumulative probability: 0.9894. Row 12. x: 7. f of x: 0.0090. Cumulative probability: 0.9984. Row 13. x: 8. f of x: 0.0014. Cumulative probability: 0.9999. Row 14. x: 9. f of x: 0.0001. Cumulative probability: 1.0000. Row 15. x: 10. f of x: 0.0001. Cumulative probability: 1.0000.">
            <a:extLst>
              <a:ext uri="{FF2B5EF4-FFF2-40B4-BE49-F238E27FC236}">
                <a16:creationId xmlns:a16="http://schemas.microsoft.com/office/drawing/2014/main" id="{D835986B-5253-5BB2-0283-8D5D444F8B11}"/>
              </a:ext>
            </a:extLst>
          </p:cNvPr>
          <p:cNvPicPr>
            <a:picLocks noGrp="1" noChangeAspect="1"/>
          </p:cNvPicPr>
          <p:nvPr>
            <p:ph type="pic" sz="quarter" idx="16"/>
          </p:nvPr>
        </p:nvPicPr>
        <p:blipFill>
          <a:blip r:embed="rId4"/>
          <a:srcRect l="1" r="1"/>
          <a:stretch/>
        </p:blipFill>
        <p:spPr>
          <a:xfrm>
            <a:off x="6001378" y="1428286"/>
            <a:ext cx="5352422" cy="4272888"/>
          </a:xfrm>
          <a:ln>
            <a:solidFill>
              <a:srgbClr val="000000"/>
            </a:solidFill>
          </a:ln>
        </p:spPr>
      </p:pic>
    </p:spTree>
    <p:extLst>
      <p:ext uri="{BB962C8B-B14F-4D97-AF65-F5344CB8AC3E}">
        <p14:creationId xmlns:p14="http://schemas.microsoft.com/office/powerpoint/2010/main" val="4021080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p:txBody>
          <a:bodyPr/>
          <a:lstStyle/>
          <a:p>
            <a:r>
              <a:rPr lang="en-US" dirty="0"/>
              <a:t>5.5 Properties of the Binomial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43576" y="1208581"/>
                <a:ext cx="10787163" cy="4512277"/>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In the previous section, we provided formulas for computing the expected value and variance of a discrete random variable.</a:t>
                </a:r>
              </a:p>
              <a:p>
                <a:pPr>
                  <a:spcBef>
                    <a:spcPts val="600"/>
                  </a:spcBef>
                  <a:spcAft>
                    <a:spcPts val="0"/>
                  </a:spcAft>
                </a:pPr>
                <a:r>
                  <a:rPr lang="en-US" sz="2000" dirty="0">
                    <a:latin typeface="Arial" panose="020B0604020202020204" pitchFamily="34" charset="0"/>
                    <a:cs typeface="Arial" panose="020B0604020202020204" pitchFamily="34" charset="0"/>
                  </a:rPr>
                  <a:t>If the random variable has a bi­nomial distribution with a known number of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oMath>
                </a14:m>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trials and a known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probability of success, the general formulas for the </a:t>
                </a:r>
                <a:r>
                  <a:rPr lang="en-US" sz="2000" b="1" dirty="0">
                    <a:latin typeface="Arial" panose="020B0604020202020204" pitchFamily="34" charset="0"/>
                    <a:cs typeface="Arial" panose="020B0604020202020204" pitchFamily="34" charset="0"/>
                  </a:rPr>
                  <a:t>expected value </a:t>
                </a:r>
                <a:r>
                  <a:rPr lang="en-US" sz="2000" dirty="0">
                    <a:latin typeface="Arial" panose="020B0604020202020204" pitchFamily="34" charset="0"/>
                    <a:cs typeface="Arial" panose="020B0604020202020204" pitchFamily="34" charset="0"/>
                  </a:rPr>
                  <a:t>and </a:t>
                </a:r>
                <a:r>
                  <a:rPr lang="en-US" sz="2000" b="1" dirty="0">
                    <a:latin typeface="Arial" panose="020B0604020202020204" pitchFamily="34" charset="0"/>
                    <a:cs typeface="Arial" panose="020B0604020202020204" pitchFamily="34" charset="0"/>
                  </a:rPr>
                  <a:t>variance</a:t>
                </a:r>
                <a:r>
                  <a:rPr lang="en-US" sz="2000" dirty="0">
                    <a:latin typeface="Arial" panose="020B0604020202020204" pitchFamily="34" charset="0"/>
                    <a:cs typeface="Arial" panose="020B0604020202020204" pitchFamily="34" charset="0"/>
                  </a:rPr>
                  <a:t> are</a:t>
                </a:r>
              </a:p>
              <a:p>
                <a:pPr marL="914400">
                  <a:spcBef>
                    <a:spcPts val="600"/>
                  </a:spcBef>
                  <a:spcAft>
                    <a:spcPts val="0"/>
                  </a:spcAft>
                </a:pPr>
                <a14:m>
                  <m:oMath xmlns:m="http://schemas.openxmlformats.org/officeDocument/2006/math">
                    <m:r>
                      <a:rPr lang="en-US" sz="2000" b="1" i="1" smtClean="0">
                        <a:latin typeface="Cambria Math" panose="02040503050406030204" pitchFamily="18" charset="0"/>
                        <a:cs typeface="Arial" panose="020B0604020202020204" pitchFamily="34" charset="0"/>
                      </a:rPr>
                      <m:t>𝑬</m:t>
                    </m:r>
                    <m:d>
                      <m:dPr>
                        <m:ctrlPr>
                          <a:rPr lang="en-US" sz="2000" b="1" i="1" smtClean="0">
                            <a:latin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cs typeface="Arial" panose="020B0604020202020204" pitchFamily="34" charset="0"/>
                          </a:rPr>
                          <m:t>𝒙</m:t>
                        </m:r>
                      </m:e>
                    </m:d>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𝝁</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𝒏𝒑</m:t>
                    </m:r>
                  </m:oMath>
                </a14:m>
                <a:r>
                  <a:rPr lang="en-US" sz="2000" b="1" dirty="0">
                    <a:latin typeface="Arial" panose="020B0604020202020204" pitchFamily="34" charset="0"/>
                    <a:cs typeface="Arial" panose="020B0604020202020204" pitchFamily="34" charset="0"/>
                  </a:rPr>
                  <a:t> </a:t>
                </a:r>
              </a:p>
              <a:p>
                <a:pPr marL="914400">
                  <a:spcBef>
                    <a:spcPts val="600"/>
                  </a:spcBef>
                  <a:spcAft>
                    <a:spcPts val="0"/>
                  </a:spcAft>
                </a:pPr>
                <a14:m>
                  <m:oMath xmlns:m="http://schemas.openxmlformats.org/officeDocument/2006/math">
                    <m:r>
                      <a:rPr lang="en-US" sz="2000" b="1" i="1" smtClean="0">
                        <a:latin typeface="Cambria Math" panose="02040503050406030204" pitchFamily="18" charset="0"/>
                        <a:cs typeface="Arial" panose="020B0604020202020204" pitchFamily="34" charset="0"/>
                      </a:rPr>
                      <m:t>𝑽𝒂𝒓</m:t>
                    </m:r>
                    <m:d>
                      <m:dPr>
                        <m:ctrlPr>
                          <a:rPr lang="en-US" sz="2000" b="1" i="1" smtClean="0">
                            <a:latin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cs typeface="Arial" panose="020B0604020202020204" pitchFamily="34" charset="0"/>
                          </a:rPr>
                          <m:t>𝒙</m:t>
                        </m:r>
                      </m:e>
                    </m:d>
                    <m:r>
                      <a:rPr lang="en-US" sz="2000" b="1" i="1" smtClean="0">
                        <a:latin typeface="Cambria Math" panose="02040503050406030204" pitchFamily="18" charset="0"/>
                        <a:cs typeface="Arial" panose="020B0604020202020204" pitchFamily="34" charset="0"/>
                      </a:rPr>
                      <m:t>=</m:t>
                    </m:r>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p>
                        <m:r>
                          <a:rPr lang="en-US" sz="2000" b="1" i="1" smtClean="0">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𝒏𝒑</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𝟏</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𝒑</m:t>
                    </m:r>
                    <m:r>
                      <a:rPr lang="en-US" sz="2000" b="1" i="1" smtClean="0">
                        <a:latin typeface="Cambria Math" panose="02040503050406030204" pitchFamily="18" charset="0"/>
                        <a:cs typeface="Arial" panose="020B0604020202020204" pitchFamily="34" charset="0"/>
                      </a:rPr>
                      <m:t>)</m:t>
                    </m:r>
                  </m:oMath>
                </a14:m>
                <a:r>
                  <a:rPr lang="en-US" sz="2000" b="1" dirty="0">
                    <a:latin typeface="Arial" panose="020B0604020202020204" pitchFamily="34" charset="0"/>
                    <a:cs typeface="Arial" panose="020B0604020202020204" pitchFamily="34" charset="0"/>
                  </a:rPr>
                  <a:t> </a:t>
                </a:r>
              </a:p>
              <a:p>
                <a:pPr>
                  <a:spcAft>
                    <a:spcPts val="0"/>
                  </a:spcAft>
                </a:pPr>
                <a:r>
                  <a:rPr lang="en-US" sz="2000" dirty="0">
                    <a:latin typeface="Arial" panose="020B0604020202020204" pitchFamily="34" charset="0"/>
                    <a:cs typeface="Arial" panose="020B0604020202020204" pitchFamily="34" charset="0"/>
                  </a:rPr>
                  <a:t>For the Martin Clothing store problem, we have:</a:t>
                </a:r>
              </a:p>
              <a:p>
                <a:pPr marL="914400">
                  <a:spcBef>
                    <a:spcPts val="600"/>
                  </a:spcBef>
                  <a:spcAft>
                    <a:spcPts val="0"/>
                  </a:spcAft>
                </a:pPr>
                <a14:m>
                  <m:oMath xmlns:m="http://schemas.openxmlformats.org/officeDocument/2006/math">
                    <m:r>
                      <a:rPr lang="en-US" sz="2000" b="0" i="1" smtClean="0">
                        <a:latin typeface="Cambria Math" panose="02040503050406030204" pitchFamily="18" charset="0"/>
                        <a:cs typeface="Arial" panose="020B0604020202020204" pitchFamily="34" charset="0"/>
                      </a:rPr>
                      <m:t>𝐸</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𝑥</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𝑛𝑝</m:t>
                    </m:r>
                    <m:r>
                      <a:rPr lang="en-US" sz="2000" b="0" i="1" smtClean="0">
                        <a:latin typeface="Cambria Math" panose="02040503050406030204" pitchFamily="18" charset="0"/>
                        <a:ea typeface="Cambria Math" panose="02040503050406030204" pitchFamily="18" charset="0"/>
                        <a:cs typeface="Arial" panose="020B0604020202020204" pitchFamily="34" charset="0"/>
                      </a:rPr>
                      <m:t>=3</m:t>
                    </m:r>
                    <m:d>
                      <m:d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0.30</m:t>
                        </m:r>
                      </m:e>
                    </m:d>
                    <m:r>
                      <a:rPr lang="en-US" sz="2000" b="0" i="1" smtClean="0">
                        <a:latin typeface="Cambria Math" panose="02040503050406030204" pitchFamily="18" charset="0"/>
                        <a:ea typeface="Cambria Math" panose="02040503050406030204" pitchFamily="18" charset="0"/>
                        <a:cs typeface="Arial" panose="020B0604020202020204" pitchFamily="34" charset="0"/>
                      </a:rPr>
                      <m:t>=0.9</m:t>
                    </m:r>
                  </m:oMath>
                </a14:m>
                <a:r>
                  <a:rPr lang="en-US" sz="2000" dirty="0">
                    <a:latin typeface="Arial" panose="020B0604020202020204" pitchFamily="34" charset="0"/>
                    <a:cs typeface="Arial" panose="020B0604020202020204" pitchFamily="34" charset="0"/>
                  </a:rPr>
                  <a:t> customers</a:t>
                </a:r>
              </a:p>
              <a:p>
                <a:pPr marL="914400">
                  <a:spcBef>
                    <a:spcPts val="600"/>
                  </a:spcBef>
                  <a:spcAft>
                    <a:spcPts val="0"/>
                  </a:spcAft>
                </a:pP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𝜎</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r>
                          <a:rPr lang="en-US" sz="2000" i="1">
                            <a:latin typeface="Cambria Math" panose="02040503050406030204" pitchFamily="18" charset="0"/>
                            <a:cs typeface="Arial" panose="020B0604020202020204" pitchFamily="34" charset="0"/>
                          </a:rPr>
                          <m:t>𝑛𝑝</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cs typeface="Arial" panose="020B0604020202020204" pitchFamily="34" charset="0"/>
                              </a:rPr>
                              <m:t>𝑝</m:t>
                            </m:r>
                          </m:e>
                        </m:d>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r>
                          <a:rPr lang="en-US" sz="2000" i="1">
                            <a:latin typeface="Cambria Math" panose="02040503050406030204" pitchFamily="18" charset="0"/>
                            <a:cs typeface="Arial" panose="020B0604020202020204" pitchFamily="34" charset="0"/>
                          </a:rPr>
                          <m:t>3</m:t>
                        </m:r>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0.30</m:t>
                            </m:r>
                          </m:e>
                        </m:d>
                        <m:d>
                          <m:dPr>
                            <m:ctrlPr>
                              <a:rPr lang="en-US" sz="2000" i="1">
                                <a:latin typeface="Cambria Math" panose="02040503050406030204" pitchFamily="18" charset="0"/>
                                <a:cs typeface="Arial" panose="020B0604020202020204" pitchFamily="34" charset="0"/>
                              </a:rPr>
                            </m:ctrlPr>
                          </m:dPr>
                          <m:e>
                            <m:r>
                              <a:rPr lang="en-US" sz="2000" i="1">
                                <a:latin typeface="Cambria Math" panose="02040503050406030204" pitchFamily="18" charset="0"/>
                                <a:cs typeface="Arial" panose="020B0604020202020204" pitchFamily="34" charset="0"/>
                              </a:rPr>
                              <m:t>0.70</m:t>
                            </m:r>
                          </m:e>
                        </m:d>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ea typeface="Cambria Math" panose="02040503050406030204" pitchFamily="18" charset="0"/>
                            <a:cs typeface="Arial" panose="020B0604020202020204" pitchFamily="34" charset="0"/>
                          </a:rPr>
                          <m:t>0.63</m:t>
                        </m:r>
                      </m:e>
                    </m:rad>
                    <m:r>
                      <a:rPr lang="en-US" sz="2000" b="0" i="1" smtClean="0">
                        <a:latin typeface="Cambria Math" panose="02040503050406030204" pitchFamily="18" charset="0"/>
                        <a:ea typeface="Cambria Math" panose="02040503050406030204" pitchFamily="18" charset="0"/>
                        <a:cs typeface="Arial" panose="020B0604020202020204" pitchFamily="34" charset="0"/>
                      </a:rPr>
                      <m:t>=0.79</m:t>
                    </m:r>
                  </m:oMath>
                </a14:m>
                <a:r>
                  <a:rPr lang="en-US" sz="2000" dirty="0">
                    <a:latin typeface="Arial" panose="020B0604020202020204" pitchFamily="34" charset="0"/>
                    <a:cs typeface="Arial" panose="020B0604020202020204" pitchFamily="34" charset="0"/>
                  </a:rPr>
                  <a:t> customers</a:t>
                </a:r>
              </a:p>
              <a:p>
                <a:pPr>
                  <a:spcBef>
                    <a:spcPts val="600"/>
                  </a:spcBef>
                  <a:spcAft>
                    <a:spcPts val="0"/>
                  </a:spcAft>
                </a:pPr>
                <a:r>
                  <a:rPr lang="en-US" sz="2000" dirty="0">
                    <a:latin typeface="Arial" panose="020B0604020202020204" pitchFamily="34" charset="0"/>
                    <a:cs typeface="Arial" panose="020B0604020202020204" pitchFamily="34" charset="0"/>
                  </a:rPr>
                  <a:t>If the next month the Martin Clothing store forecasts 1,000 customers, we can expect</a:t>
                </a:r>
              </a:p>
              <a:p>
                <a:pPr marL="914400">
                  <a:spcBef>
                    <a:spcPts val="600"/>
                  </a:spcBef>
                  <a:spcAft>
                    <a:spcPts val="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(1000)(0.3)=300 </m:t>
                    </m:r>
                  </m:oMath>
                </a14:m>
                <a:r>
                  <a:rPr lang="en-US" sz="2000" dirty="0">
                    <a:latin typeface="Arial" panose="020B0604020202020204" pitchFamily="34" charset="0"/>
                    <a:cs typeface="Arial" panose="020B0604020202020204" pitchFamily="34" charset="0"/>
                  </a:rPr>
                  <a:t>customers making a purchase</a:t>
                </a:r>
              </a:p>
              <a:p>
                <a:pPr marL="914400">
                  <a:spcBef>
                    <a:spcPts val="600"/>
                  </a:spcBef>
                  <a:spcAft>
                    <a:spcPts val="0"/>
                  </a:spcAft>
                </a:pPr>
                <a:r>
                  <a:rPr lang="en-US" sz="2000" dirty="0">
                    <a:latin typeface="Arial" panose="020B0604020202020204" pitchFamily="34" charset="0"/>
                    <a:cs typeface="Arial" panose="020B0604020202020204" pitchFamily="34" charset="0"/>
                  </a:rPr>
                  <a:t>with a standard deviation of </a:t>
                </a:r>
                <a14:m>
                  <m:oMath xmlns:m="http://schemas.openxmlformats.org/officeDocument/2006/math">
                    <m:rad>
                      <m:radPr>
                        <m:degHide m:val="on"/>
                        <m:ctrlPr>
                          <a:rPr lang="en-US" sz="200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(1000)(0.3)(0.7)</m:t>
                        </m:r>
                      </m:e>
                    </m:rad>
                    <m:r>
                      <a:rPr lang="en-US" sz="2000" b="0" i="1" smtClean="0">
                        <a:latin typeface="Cambria Math" panose="02040503050406030204" pitchFamily="18" charset="0"/>
                        <a:cs typeface="Arial" panose="020B0604020202020204" pitchFamily="34" charset="0"/>
                      </a:rPr>
                      <m:t>=14.</m:t>
                    </m:r>
                    <m:r>
                      <a:rPr lang="en-US" sz="2000" b="0" i="1" smtClean="0">
                        <a:solidFill>
                          <a:srgbClr val="FF0000"/>
                        </a:solidFill>
                        <a:latin typeface="Cambria Math" panose="02040503050406030204" pitchFamily="18" charset="0"/>
                        <a:cs typeface="Arial" panose="020B0604020202020204" pitchFamily="34" charset="0"/>
                      </a:rPr>
                      <m:t>49</m:t>
                    </m:r>
                  </m:oMath>
                </a14:m>
                <a:r>
                  <a:rPr lang="en-US" sz="2000" dirty="0">
                    <a:latin typeface="Arial" panose="020B0604020202020204" pitchFamily="34" charset="0"/>
                    <a:cs typeface="Arial" panose="020B0604020202020204" pitchFamily="34" charset="0"/>
                  </a:rPr>
                  <a:t> customers</a:t>
                </a:r>
              </a:p>
              <a:p>
                <a:pPr>
                  <a:spcBef>
                    <a:spcPts val="600"/>
                  </a:spcBef>
                  <a:spcAft>
                    <a:spcPts val="0"/>
                  </a:spcAft>
                </a:pPr>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43576" y="1208581"/>
                <a:ext cx="10787163" cy="4512277"/>
              </a:xfrm>
              <a:blipFill>
                <a:blip r:embed="rId4"/>
                <a:stretch>
                  <a:fillRect l="-1469" t="-1622" r="-1243" b="-3649"/>
                </a:stretch>
              </a:blipFill>
            </p:spPr>
            <p:txBody>
              <a:bodyPr/>
              <a:lstStyle/>
              <a:p>
                <a:r>
                  <a:rPr lang="en-US">
                    <a:noFill/>
                  </a:rPr>
                  <a:t> </a:t>
                </a:r>
              </a:p>
            </p:txBody>
          </p:sp>
        </mc:Fallback>
      </mc:AlternateContent>
    </p:spTree>
    <p:extLst>
      <p:ext uri="{BB962C8B-B14F-4D97-AF65-F5344CB8AC3E}">
        <p14:creationId xmlns:p14="http://schemas.microsoft.com/office/powerpoint/2010/main" val="308608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p:txBody>
          <a:bodyPr/>
          <a:lstStyle/>
          <a:p>
            <a:r>
              <a:rPr lang="en-US" dirty="0">
                <a:solidFill>
                  <a:srgbClr val="D14B1E"/>
                </a:solidFill>
              </a:rPr>
              <a:t>5.6 Poisson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43576" y="1286357"/>
                <a:ext cx="10787163" cy="4601487"/>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A </a:t>
                </a:r>
                <a:r>
                  <a:rPr lang="en-US" sz="2000" b="1" dirty="0">
                    <a:latin typeface="Arial" panose="020B0604020202020204" pitchFamily="34" charset="0"/>
                    <a:cs typeface="Arial" panose="020B0604020202020204" pitchFamily="34" charset="0"/>
                  </a:rPr>
                  <a:t>Poisson Probability Distribution </a:t>
                </a:r>
                <a:r>
                  <a:rPr lang="en-US" sz="2000" dirty="0">
                    <a:latin typeface="Arial" panose="020B0604020202020204" pitchFamily="34" charset="0"/>
                    <a:cs typeface="Arial" panose="020B0604020202020204" pitchFamily="34" charset="0"/>
                  </a:rPr>
                  <a:t>describes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the number of occurrences over a specified interval of time or space, if the following two properties of a </a:t>
                </a:r>
                <a:r>
                  <a:rPr lang="en-US" sz="2000" b="1" dirty="0">
                    <a:latin typeface="Arial" panose="020B0604020202020204" pitchFamily="34" charset="0"/>
                    <a:cs typeface="Arial" panose="020B0604020202020204" pitchFamily="34" charset="0"/>
                  </a:rPr>
                  <a:t>Poisson experiment </a:t>
                </a:r>
                <a:r>
                  <a:rPr lang="en-US" sz="2000" dirty="0">
                    <a:latin typeface="Arial" panose="020B0604020202020204" pitchFamily="34" charset="0"/>
                    <a:cs typeface="Arial" panose="020B0604020202020204" pitchFamily="34" charset="0"/>
                  </a:rPr>
                  <a:t>are respected.</a:t>
                </a:r>
              </a:p>
              <a:p>
                <a:pPr marL="914400" indent="-457200">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The probability of an occurrence is the same for any two intervals of equal length.</a:t>
                </a:r>
              </a:p>
              <a:p>
                <a:pPr marL="914400" indent="-457200">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The occurrence or nonoccurrence in any interval is independent of the occur­rence or nonoccurrence in any other interval.</a:t>
                </a:r>
              </a:p>
              <a:p>
                <a:pPr>
                  <a:spcBef>
                    <a:spcPts val="600"/>
                  </a:spcBef>
                  <a:spcAft>
                    <a:spcPts val="600"/>
                  </a:spcAft>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Poisson probability function </a:t>
                </a:r>
                <a:r>
                  <a:rPr lang="en-US" sz="2000" dirty="0">
                    <a:latin typeface="Arial" panose="020B0604020202020204" pitchFamily="34" charset="0"/>
                    <a:cs typeface="Arial" panose="020B0604020202020204" pitchFamily="34" charset="0"/>
                  </a:rPr>
                  <a:t>is described by the following equation</a:t>
                </a:r>
              </a:p>
              <a:p>
                <a:pPr marL="914400">
                  <a:spcBef>
                    <a:spcPts val="600"/>
                  </a:spcBef>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𝒇</m:t>
                      </m:r>
                      <m:d>
                        <m:dPr>
                          <m:ctrlPr>
                            <a:rPr lang="en-US" sz="2000" b="1" i="1" smtClean="0">
                              <a:latin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cs typeface="Arial" panose="020B0604020202020204" pitchFamily="34" charset="0"/>
                            </a:rPr>
                            <m:t>𝒙</m:t>
                          </m:r>
                        </m:e>
                      </m:d>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ea typeface="Cambria Math" panose="02040503050406030204" pitchFamily="18" charset="0"/>
                                  <a:cs typeface="Arial" panose="020B0604020202020204" pitchFamily="34" charset="0"/>
                                </a:rPr>
                                <m:t>𝝁</m:t>
                              </m:r>
                            </m:e>
                            <m:sup>
                              <m:r>
                                <a:rPr lang="en-US" sz="2000" b="1" i="1" smtClean="0">
                                  <a:latin typeface="Cambria Math" panose="02040503050406030204" pitchFamily="18" charset="0"/>
                                  <a:cs typeface="Arial" panose="020B0604020202020204" pitchFamily="34" charset="0"/>
                                </a:rPr>
                                <m:t>𝒙</m:t>
                              </m:r>
                            </m:sup>
                          </m:sSup>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cs typeface="Arial" panose="020B0604020202020204" pitchFamily="34" charset="0"/>
                                </a:rPr>
                                <m:t>𝒆</m:t>
                              </m:r>
                            </m:e>
                            <m:sup>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𝝁</m:t>
                              </m:r>
                            </m:sup>
                          </m:sSup>
                        </m:num>
                        <m:den>
                          <m:r>
                            <a:rPr lang="en-US" sz="2000" b="1" i="1" smtClean="0">
                              <a:latin typeface="Cambria Math" panose="02040503050406030204" pitchFamily="18" charset="0"/>
                              <a:cs typeface="Arial" panose="020B0604020202020204" pitchFamily="34" charset="0"/>
                            </a:rPr>
                            <m:t>𝒙</m:t>
                          </m:r>
                          <m:r>
                            <a:rPr lang="en-US" sz="2000" b="1" i="1" smtClean="0">
                              <a:latin typeface="Cambria Math" panose="02040503050406030204" pitchFamily="18" charset="0"/>
                              <a:cs typeface="Arial" panose="020B0604020202020204" pitchFamily="34" charset="0"/>
                            </a:rPr>
                            <m:t>!</m:t>
                          </m:r>
                        </m:den>
                      </m:f>
                    </m:oMath>
                  </m:oMathPara>
                </a14:m>
                <a:endParaRPr lang="en-US" sz="2000" dirty="0">
                  <a:latin typeface="Arial" panose="020B0604020202020204" pitchFamily="34" charset="0"/>
                  <a:cs typeface="Arial" panose="020B0604020202020204" pitchFamily="34" charset="0"/>
                </a:endParaRPr>
              </a:p>
              <a:p>
                <a:pPr>
                  <a:spcBef>
                    <a:spcPts val="0"/>
                  </a:spcBef>
                  <a:spcAft>
                    <a:spcPts val="0"/>
                  </a:spcAft>
                </a:pPr>
                <a:r>
                  <a:rPr lang="en-US" sz="2000" dirty="0">
                    <a:latin typeface="Arial" panose="020B0604020202020204" pitchFamily="34" charset="0"/>
                    <a:cs typeface="Arial" panose="020B0604020202020204" pitchFamily="34" charset="0"/>
                  </a:rPr>
                  <a:t>Where:</a:t>
                </a:r>
              </a:p>
              <a:p>
                <a:pPr>
                  <a:spcBef>
                    <a:spcPts val="600"/>
                  </a:spcBef>
                  <a:spcAft>
                    <a:spcPts val="0"/>
                  </a:spcAft>
                  <a:tabLst>
                    <a:tab pos="1030288" algn="r"/>
                    <a:tab pos="1146175" algn="l"/>
                  </a:tabLst>
                </a:pPr>
                <a:r>
                  <a:rPr lang="en-US" sz="2000" dirty="0">
                    <a:latin typeface="Arial" panose="020B0604020202020204" pitchFamily="34" charset="0"/>
                    <a:cs typeface="Arial" panose="020B0604020202020204" pitchFamily="34" charset="0"/>
                  </a:rPr>
                  <a:t> 	</a:t>
                </a:r>
                <a:r>
                  <a:rPr lang="en-US" sz="2000" i="1" dirty="0">
                    <a:latin typeface="Arial" panose="020B0604020202020204" pitchFamily="34" charset="0"/>
                    <a:cs typeface="Arial" panose="020B0604020202020204" pitchFamily="34" charset="0"/>
                  </a:rPr>
                  <a:t>x</a:t>
                </a:r>
                <a:r>
                  <a:rPr lang="en-US" sz="2000" dirty="0">
                    <a:latin typeface="Arial" panose="020B0604020202020204" pitchFamily="34" charset="0"/>
                    <a:cs typeface="Arial" panose="020B0604020202020204" pitchFamily="34" charset="0"/>
                  </a:rPr>
                  <a:t> =	a discrete random variable describing the number of occurrences over an interval.</a:t>
                </a:r>
              </a:p>
              <a:p>
                <a:pPr marL="457200">
                  <a:spcBef>
                    <a:spcPts val="600"/>
                  </a:spcBef>
                  <a:spcAft>
                    <a:spcPts val="0"/>
                  </a:spcAft>
                  <a:tabLst>
                    <a:tab pos="1030288" algn="r"/>
                    <a:tab pos="1146175" algn="l"/>
                  </a:tabLst>
                </a:pPr>
                <a:r>
                  <a:rPr lang="en-US" sz="2000" i="1" dirty="0"/>
                  <a:t>f</a:t>
                </a:r>
                <a:r>
                  <a:rPr lang="en-US" sz="2000" dirty="0"/>
                  <a:t>(</a:t>
                </a:r>
                <a:r>
                  <a:rPr lang="en-US" sz="2000" i="1" dirty="0"/>
                  <a:t>x</a:t>
                </a:r>
                <a:r>
                  <a:rPr lang="en-US" sz="2000" dirty="0"/>
                  <a:t>) = 	the probability of </a:t>
                </a:r>
                <a:r>
                  <a:rPr lang="en-US" sz="2000" i="1" dirty="0"/>
                  <a:t>x</a:t>
                </a:r>
                <a:r>
                  <a:rPr lang="en-US" sz="2000" dirty="0"/>
                  <a:t> occurrences in an interval</a:t>
                </a:r>
              </a:p>
              <a:p>
                <a:pPr marL="457200">
                  <a:spcBef>
                    <a:spcPts val="600"/>
                  </a:spcBef>
                  <a:spcAft>
                    <a:spcPts val="0"/>
                  </a:spcAft>
                  <a:tabLst>
                    <a:tab pos="1030288" algn="r"/>
                    <a:tab pos="1146175" algn="l"/>
                  </a:tabLst>
                </a:pPr>
                <a:r>
                  <a:rPr lang="en-US" sz="2000" dirty="0">
                    <a:latin typeface="Arial" panose="020B0604020202020204" pitchFamily="34" charset="0"/>
                    <a:cs typeface="Arial" panose="020B0604020202020204" pitchFamily="34" charset="0"/>
                  </a:rPr>
                  <a:t>   </a:t>
                </a:r>
                <a:r>
                  <a:rPr lang="en-US" sz="2000" i="1" dirty="0">
                    <a:latin typeface="Symbol" panose="05050102010706020507" pitchFamily="18" charset="2"/>
                    <a:cs typeface="Arial" panose="020B0604020202020204" pitchFamily="34" charset="0"/>
                  </a:rPr>
                  <a:t>m</a:t>
                </a:r>
                <a:r>
                  <a:rPr lang="en-US" sz="2000" dirty="0">
                    <a:latin typeface="Arial" panose="020B0604020202020204" pitchFamily="34" charset="0"/>
                    <a:cs typeface="Arial" panose="020B0604020202020204" pitchFamily="34" charset="0"/>
                  </a:rPr>
                  <a:t>	=	expected value or mean number of occurrences in an interval</a:t>
                </a:r>
              </a:p>
              <a:p>
                <a:pPr>
                  <a:spcBef>
                    <a:spcPts val="600"/>
                  </a:spcBef>
                  <a:spcAft>
                    <a:spcPts val="600"/>
                  </a:spcAft>
                </a:pPr>
                <a:r>
                  <a:rPr lang="en-US" sz="2000" dirty="0">
                    <a:latin typeface="Arial" panose="020B0604020202020204" pitchFamily="34" charset="0"/>
                    <a:cs typeface="Arial" panose="020B0604020202020204" pitchFamily="34" charset="0"/>
                  </a:rPr>
                  <a:t>Also, in a Poisson probability distribution, </a:t>
                </a:r>
                <a14:m>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p>
                        <m:r>
                          <a:rPr lang="en-US" sz="2000" b="1" i="1" smtClean="0">
                            <a:latin typeface="Cambria Math" panose="02040503050406030204" pitchFamily="18" charset="0"/>
                            <a:cs typeface="Arial" panose="020B0604020202020204" pitchFamily="34" charset="0"/>
                          </a:rPr>
                          <m:t>𝟐</m:t>
                        </m:r>
                      </m:sup>
                    </m:sSup>
                    <m:r>
                      <m:rPr>
                        <m:nor/>
                      </m:rPr>
                      <a:rPr lang="en-US" sz="2000" b="1" i="1" smtClean="0">
                        <a:latin typeface="Arial" panose="020B0604020202020204" pitchFamily="34"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 </m:t>
                    </m:r>
                    <m:r>
                      <a:rPr lang="en-US" sz="2000" b="1" i="1" smtClean="0">
                        <a:latin typeface="Cambria Math" panose="02040503050406030204" pitchFamily="18" charset="0"/>
                        <a:ea typeface="Cambria Math" panose="02040503050406030204" pitchFamily="18" charset="0"/>
                        <a:cs typeface="Arial" panose="020B0604020202020204" pitchFamily="34" charset="0"/>
                      </a:rPr>
                      <m:t>𝝁</m:t>
                    </m:r>
                  </m:oMath>
                </a14:m>
                <a:r>
                  <a:rPr lang="en-US" sz="2000"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(the variance is equal to the mean.)</a:t>
                </a:r>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43576" y="1286357"/>
                <a:ext cx="10787163" cy="4601487"/>
              </a:xfrm>
              <a:blipFill>
                <a:blip r:embed="rId3"/>
                <a:stretch>
                  <a:fillRect l="-1469" t="-1589" r="-1243" b="-2517"/>
                </a:stretch>
              </a:blipFill>
            </p:spPr>
            <p:txBody>
              <a:bodyPr/>
              <a:lstStyle/>
              <a:p>
                <a:r>
                  <a:rPr lang="en-US">
                    <a:noFill/>
                  </a:rPr>
                  <a:t> </a:t>
                </a:r>
              </a:p>
            </p:txBody>
          </p:sp>
        </mc:Fallback>
      </mc:AlternateContent>
    </p:spTree>
    <p:extLst>
      <p:ext uri="{BB962C8B-B14F-4D97-AF65-F5344CB8AC3E}">
        <p14:creationId xmlns:p14="http://schemas.microsoft.com/office/powerpoint/2010/main" val="7270917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a:xfrm>
            <a:off x="550124" y="365125"/>
            <a:ext cx="11083543" cy="672105"/>
          </a:xfrm>
        </p:spPr>
        <p:txBody>
          <a:bodyPr/>
          <a:lstStyle/>
          <a:p>
            <a:r>
              <a:rPr lang="en-US" sz="3200" dirty="0"/>
              <a:t>5.6 An Application of the Poisson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43576" y="1226884"/>
                <a:ext cx="10787163" cy="4703735"/>
              </a:xfrm>
            </p:spPr>
            <p:txBody>
              <a:bodyPr/>
              <a:lstStyle/>
              <a:p>
                <a:pPr>
                  <a:spcBef>
                    <a:spcPts val="600"/>
                  </a:spcBef>
                  <a:spcAft>
                    <a:spcPts val="0"/>
                  </a:spcAft>
                </a:pPr>
                <a:r>
                  <a:rPr lang="en-US" sz="2000" dirty="0"/>
                  <a:t>An analysis of historical data shows that patients arrive at the emergency room of a large hospital on weekend mornings at the average rate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=10</m:t>
                    </m:r>
                  </m:oMath>
                </a14:m>
                <a:r>
                  <a:rPr lang="en-US" sz="2000" dirty="0"/>
                  <a:t> over a 15-minute interval.</a:t>
                </a:r>
              </a:p>
              <a:p>
                <a:pPr>
                  <a:spcBef>
                    <a:spcPts val="600"/>
                  </a:spcBef>
                  <a:spcAft>
                    <a:spcPts val="0"/>
                  </a:spcAft>
                </a:pPr>
                <a:r>
                  <a:rPr lang="en-US" sz="2000" dirty="0"/>
                  <a:t>What is the probability of exactly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=5</m:t>
                    </m:r>
                  </m:oMath>
                </a14:m>
                <a:r>
                  <a:rPr lang="en-US" sz="2000" dirty="0"/>
                  <a:t> arrivals in 15 minutes on a weekend morning?</a:t>
                </a:r>
              </a:p>
              <a:p>
                <a:pPr>
                  <a:spcBef>
                    <a:spcPts val="600"/>
                  </a:spcBef>
                  <a:spcAft>
                    <a:spcPts val="600"/>
                  </a:spcAft>
                </a:pPr>
                <a:r>
                  <a:rPr lang="en-US" sz="2000" dirty="0"/>
                  <a:t>In a Poisson experiment, we have</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𝑓</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5</m:t>
                          </m:r>
                        </m:e>
                      </m:d>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p>
                              <m:r>
                                <a:rPr lang="en-US" sz="2000" b="0" i="1" smtClean="0">
                                  <a:latin typeface="Cambria Math" panose="02040503050406030204" pitchFamily="18" charset="0"/>
                                  <a:cs typeface="Arial" panose="020B0604020202020204" pitchFamily="34" charset="0"/>
                                </a:rPr>
                                <m:t>𝑥</m:t>
                              </m:r>
                            </m:sup>
                          </m:sSup>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𝑒</m:t>
                              </m:r>
                            </m:e>
                            <m:sup>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sup>
                          </m:sSup>
                        </m:num>
                        <m:den>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10</m:t>
                              </m:r>
                            </m:e>
                            <m:sup>
                              <m:r>
                                <a:rPr lang="en-US" sz="2000" b="0" i="1" smtClean="0">
                                  <a:latin typeface="Cambria Math" panose="02040503050406030204" pitchFamily="18" charset="0"/>
                                  <a:cs typeface="Arial" panose="020B0604020202020204" pitchFamily="34" charset="0"/>
                                </a:rPr>
                                <m:t>5</m:t>
                              </m:r>
                            </m:sup>
                          </m:sSup>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𝑒</m:t>
                              </m:r>
                            </m:e>
                            <m:sup>
                              <m:r>
                                <a:rPr lang="en-US" sz="2000" b="0" i="1" smtClean="0">
                                  <a:latin typeface="Cambria Math" panose="02040503050406030204" pitchFamily="18" charset="0"/>
                                  <a:cs typeface="Arial" panose="020B0604020202020204" pitchFamily="34" charset="0"/>
                                </a:rPr>
                                <m:t>−10</m:t>
                              </m:r>
                            </m:sup>
                          </m:sSup>
                        </m:num>
                        <m:den>
                          <m:r>
                            <a:rPr lang="en-US" sz="2000" b="0" i="1" smtClean="0">
                              <a:latin typeface="Cambria Math" panose="02040503050406030204" pitchFamily="18" charset="0"/>
                              <a:cs typeface="Arial" panose="020B0604020202020204" pitchFamily="34" charset="0"/>
                            </a:rPr>
                            <m:t>5!</m:t>
                          </m:r>
                        </m:den>
                      </m:f>
                      <m:r>
                        <a:rPr lang="en-US" sz="2000" b="0" i="1" smtClean="0">
                          <a:latin typeface="Cambria Math" panose="02040503050406030204" pitchFamily="18" charset="0"/>
                          <a:cs typeface="Arial" panose="020B0604020202020204" pitchFamily="34" charset="0"/>
                        </a:rPr>
                        <m:t>=0.0378</m:t>
                      </m:r>
                    </m:oMath>
                  </m:oMathPara>
                </a14:m>
                <a:endParaRPr lang="en-US" sz="2000" dirty="0"/>
              </a:p>
              <a:p>
                <a:pPr>
                  <a:spcBef>
                    <a:spcPts val="600"/>
                  </a:spcBef>
                  <a:spcAft>
                    <a:spcPts val="0"/>
                  </a:spcAft>
                </a:pPr>
                <a:r>
                  <a:rPr lang="en-US" sz="2000" dirty="0"/>
                  <a:t>What if we want to know the probability of exactly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m:t>
                    </m:r>
                  </m:oMath>
                </a14:m>
                <a:r>
                  <a:rPr lang="en-US" sz="2000" dirty="0"/>
                  <a:t> arrival over a 3-minute interval?</a:t>
                </a:r>
              </a:p>
              <a:p>
                <a:pPr>
                  <a:spcBef>
                    <a:spcPts val="600"/>
                  </a:spcBef>
                  <a:spcAft>
                    <a:spcPts val="600"/>
                  </a:spcAft>
                </a:pPr>
                <a:r>
                  <a:rPr lang="en-US" sz="2000" dirty="0"/>
                  <a:t>We observe that, on average, over a 3-minute interval, we have </a:t>
                </a:r>
                <a14:m>
                  <m:oMath xmlns:m="http://schemas.openxmlformats.org/officeDocument/2006/math">
                    <m:r>
                      <a:rPr lang="en-US" sz="200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ea typeface="Cambria Math" panose="02040503050406030204" pitchFamily="18" charset="0"/>
                      </a:rPr>
                      <m:t>=</m:t>
                    </m:r>
                    <m:d>
                      <m:dPr>
                        <m:ctrlPr>
                          <a:rPr lang="en-US" sz="2000" b="0" i="1" smtClean="0">
                            <a:latin typeface="Cambria Math" panose="02040503050406030204" pitchFamily="18" charset="0"/>
                            <a:ea typeface="Cambria Math" panose="02040503050406030204" pitchFamily="18" charset="0"/>
                          </a:rPr>
                        </m:ctrlPr>
                      </m:dPr>
                      <m:e>
                        <m:f>
                          <m:fPr>
                            <m:type m:val="lin"/>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10</m:t>
                            </m:r>
                          </m:num>
                          <m:den>
                            <m:r>
                              <a:rPr lang="en-US" sz="2000" b="0" i="1" smtClean="0">
                                <a:latin typeface="Cambria Math" panose="02040503050406030204" pitchFamily="18" charset="0"/>
                                <a:ea typeface="Cambria Math" panose="02040503050406030204" pitchFamily="18" charset="0"/>
                              </a:rPr>
                              <m:t>15</m:t>
                            </m:r>
                          </m:den>
                        </m:f>
                      </m:e>
                    </m:d>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3</m:t>
                        </m:r>
                      </m:e>
                    </m:d>
                    <m:r>
                      <a:rPr lang="en-US" sz="2000" b="0" i="1" smtClean="0">
                        <a:latin typeface="Cambria Math" panose="02040503050406030204" pitchFamily="18" charset="0"/>
                        <a:ea typeface="Cambria Math" panose="02040503050406030204" pitchFamily="18" charset="0"/>
                      </a:rPr>
                      <m:t>=2</m:t>
                    </m:r>
                  </m:oMath>
                </a14:m>
                <a:r>
                  <a:rPr lang="en-US" sz="2000" dirty="0"/>
                  <a:t>. Thus, the probability of one arrival over a 3-minute period is</a:t>
                </a:r>
              </a:p>
              <a:p>
                <a:pPr marL="4572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𝑓</m:t>
                      </m:r>
                      <m:d>
                        <m:dPr>
                          <m:ctrlPr>
                            <a:rPr lang="en-US" sz="200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m:t>
                          </m:r>
                        </m:e>
                      </m:d>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e>
                            <m:sup>
                              <m:r>
                                <a:rPr lang="en-US" sz="2000" b="0" i="1" smtClean="0">
                                  <a:latin typeface="Cambria Math" panose="02040503050406030204" pitchFamily="18" charset="0"/>
                                  <a:cs typeface="Arial" panose="020B0604020202020204" pitchFamily="34" charset="0"/>
                                </a:rPr>
                                <m:t>𝑥</m:t>
                              </m:r>
                            </m:sup>
                          </m:sSup>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𝑒</m:t>
                              </m:r>
                            </m:e>
                            <m:sup>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𝜇</m:t>
                              </m:r>
                            </m:sup>
                          </m:sSup>
                        </m:num>
                        <m:den>
                          <m:r>
                            <a:rPr lang="en-US" sz="2000" b="0" i="1" smtClean="0">
                              <a:latin typeface="Cambria Math" panose="02040503050406030204" pitchFamily="18" charset="0"/>
                              <a:cs typeface="Arial" panose="020B0604020202020204" pitchFamily="34" charset="0"/>
                            </a:rPr>
                            <m:t>𝑥</m:t>
                          </m:r>
                          <m:r>
                            <a:rPr lang="en-US" sz="2000" b="0" i="1" smtClean="0">
                              <a:latin typeface="Cambria Math" panose="02040503050406030204" pitchFamily="18" charset="0"/>
                              <a:cs typeface="Arial" panose="020B0604020202020204" pitchFamily="34" charset="0"/>
                            </a:rPr>
                            <m:t>!</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2</m:t>
                              </m:r>
                            </m:e>
                            <m:sup>
                              <m:r>
                                <a:rPr lang="en-US" sz="2000" b="0" i="1" smtClean="0">
                                  <a:latin typeface="Cambria Math" panose="02040503050406030204" pitchFamily="18" charset="0"/>
                                  <a:cs typeface="Arial" panose="020B0604020202020204" pitchFamily="34" charset="0"/>
                                </a:rPr>
                                <m:t>1</m:t>
                              </m:r>
                            </m:sup>
                          </m:sSup>
                          <m:sSup>
                            <m:sSupPr>
                              <m:ctrlPr>
                                <a:rPr lang="en-US" sz="2000" b="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𝑒</m:t>
                              </m:r>
                            </m:e>
                            <m:sup>
                              <m:r>
                                <a:rPr lang="en-US" sz="2000" b="0" i="1" smtClean="0">
                                  <a:latin typeface="Cambria Math" panose="02040503050406030204" pitchFamily="18" charset="0"/>
                                  <a:cs typeface="Arial" panose="020B0604020202020204" pitchFamily="34" charset="0"/>
                                </a:rPr>
                                <m:t>−2</m:t>
                              </m:r>
                            </m:sup>
                          </m:sSup>
                        </m:num>
                        <m:den>
                          <m:r>
                            <a:rPr lang="en-US" sz="2000" b="0" i="1" smtClean="0">
                              <a:latin typeface="Cambria Math" panose="02040503050406030204" pitchFamily="18" charset="0"/>
                              <a:cs typeface="Arial" panose="020B0604020202020204" pitchFamily="34" charset="0"/>
                            </a:rPr>
                            <m:t>1!</m:t>
                          </m:r>
                        </m:den>
                      </m:f>
                      <m:r>
                        <a:rPr lang="en-US" sz="2000" b="0" i="1" smtClean="0">
                          <a:latin typeface="Cambria Math" panose="02040503050406030204" pitchFamily="18" charset="0"/>
                          <a:cs typeface="Arial" panose="020B0604020202020204" pitchFamily="34" charset="0"/>
                        </a:rPr>
                        <m:t>=0.2707</m:t>
                      </m:r>
                    </m:oMath>
                  </m:oMathPara>
                </a14:m>
                <a:endParaRPr lang="en-US" sz="2000" dirty="0"/>
              </a:p>
              <a:p>
                <a:pPr>
                  <a:spcBef>
                    <a:spcPts val="600"/>
                  </a:spcBef>
                  <a:spcAft>
                    <a:spcPts val="0"/>
                  </a:spcAft>
                </a:pPr>
                <a:r>
                  <a:rPr lang="en-US" sz="2000" dirty="0"/>
                  <a:t>The probability of observing 5 arrivals over a 15-minute period is not the same as observing 1 arrival over a 3-minute period.</a:t>
                </a:r>
              </a:p>
              <a:p>
                <a:pPr>
                  <a:spcBef>
                    <a:spcPts val="600"/>
                  </a:spcBef>
                  <a:spcAft>
                    <a:spcPts val="0"/>
                  </a:spcAft>
                </a:pPr>
                <a:endParaRPr lang="en-US" sz="2000" dirty="0"/>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43576" y="1226884"/>
                <a:ext cx="10787163" cy="4703735"/>
              </a:xfrm>
              <a:blipFill>
                <a:blip r:embed="rId3"/>
                <a:stretch>
                  <a:fillRect l="-1469" t="-1554" r="-395" b="-2332"/>
                </a:stretch>
              </a:blipFill>
            </p:spPr>
            <p:txBody>
              <a:bodyPr/>
              <a:lstStyle/>
              <a:p>
                <a:r>
                  <a:rPr lang="en-US">
                    <a:noFill/>
                  </a:rPr>
                  <a:t> </a:t>
                </a:r>
              </a:p>
            </p:txBody>
          </p:sp>
        </mc:Fallback>
      </mc:AlternateContent>
    </p:spTree>
    <p:extLst>
      <p:ext uri="{BB962C8B-B14F-4D97-AF65-F5344CB8AC3E}">
        <p14:creationId xmlns:p14="http://schemas.microsoft.com/office/powerpoint/2010/main" val="22166546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solidFill>
                  <a:srgbClr val="25894E"/>
                </a:solidFill>
              </a:rPr>
              <a:t>5.6 Excel: Computing Poisson Probabilities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7" y="1184279"/>
                <a:ext cx="6314447" cy="4730749"/>
              </a:xfrm>
            </p:spPr>
            <p:txBody>
              <a:bodyPr/>
              <a:lstStyle/>
              <a:p>
                <a:r>
                  <a:rPr lang="en-US" sz="2000" dirty="0"/>
                  <a:t>The Excel function POISSON.DIST works in much the same way as the Excel function for computing binomial probabilities we saw earlier.</a:t>
                </a:r>
              </a:p>
              <a:p>
                <a:r>
                  <a:rPr lang="en-US" sz="2000" b="1" dirty="0"/>
                  <a:t>Enter/Access Data</a:t>
                </a:r>
                <a:r>
                  <a:rPr lang="en-US" sz="2000" dirty="0"/>
                  <a:t>: We enter the mean number of occurrences (</a:t>
                </a:r>
                <a14:m>
                  <m:oMath xmlns:m="http://schemas.openxmlformats.org/officeDocument/2006/math">
                    <m:r>
                      <a:rPr lang="el-GR" sz="2000" i="1" dirty="0" smtClean="0">
                        <a:latin typeface="Cambria Math" panose="02040503050406030204" pitchFamily="18" charset="0"/>
                        <a:ea typeface="Cambria Math" panose="02040503050406030204" pitchFamily="18" charset="0"/>
                      </a:rPr>
                      <m:t>𝜇</m:t>
                    </m:r>
                    <m:r>
                      <a:rPr lang="en-US" sz="2000" i="1" dirty="0" smtClean="0">
                        <a:latin typeface="Cambria Math" panose="02040503050406030204" pitchFamily="18" charset="0"/>
                      </a:rPr>
                      <m:t>=10</m:t>
                    </m:r>
                  </m:oMath>
                </a14:m>
                <a:r>
                  <a:rPr lang="en-US" sz="2000" dirty="0"/>
                  <a:t>) in cell C1 and the values of the random variable number of arrivals (𝑥) in cells A4:A24.</a:t>
                </a:r>
              </a:p>
              <a:p>
                <a:r>
                  <a:rPr lang="en-US" sz="2000" b="1" dirty="0"/>
                  <a:t>Enter Functions and Formulas</a:t>
                </a:r>
                <a:r>
                  <a:rPr lang="en-US" sz="2000" dirty="0"/>
                  <a:t>: We enter the Poisson probability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=0</m:t>
                        </m:r>
                      </m:e>
                    </m:d>
                  </m:oMath>
                </a14:m>
                <a:r>
                  <a:rPr lang="en-US" sz="2000" dirty="0"/>
                  <a:t> in cell B4 as</a:t>
                </a:r>
              </a:p>
              <a:p>
                <a:pPr marL="914400"/>
                <a:r>
                  <a:rPr lang="en-US" sz="2000" i="1" dirty="0"/>
                  <a:t>=POISSON.DIST(</a:t>
                </a:r>
                <a14:m>
                  <m:oMath xmlns:m="http://schemas.openxmlformats.org/officeDocument/2006/math">
                    <m:r>
                      <a:rPr lang="en-US" sz="2000" i="1" dirty="0">
                        <a:latin typeface="Cambria Math" panose="02040503050406030204" pitchFamily="18" charset="0"/>
                      </a:rPr>
                      <m:t>𝑥</m:t>
                    </m:r>
                  </m:oMath>
                </a14:m>
                <a:r>
                  <a:rPr lang="en-US" sz="2000" i="1" dirty="0"/>
                  <a:t>,</a:t>
                </a:r>
                <a14:m>
                  <m:oMath xmlns:m="http://schemas.openxmlformats.org/officeDocument/2006/math">
                    <m:r>
                      <a:rPr lang="el-GR" sz="2000" i="1" dirty="0">
                        <a:latin typeface="Cambria Math" panose="02040503050406030204" pitchFamily="18" charset="0"/>
                        <a:ea typeface="Cambria Math" panose="02040503050406030204" pitchFamily="18" charset="0"/>
                      </a:rPr>
                      <m:t>𝜇</m:t>
                    </m:r>
                  </m:oMath>
                </a14:m>
                <a:r>
                  <a:rPr lang="en-US" sz="2000" i="1" dirty="0"/>
                  <a:t>,FALSE)</a:t>
                </a:r>
              </a:p>
              <a:p>
                <a:r>
                  <a:rPr lang="en-US" sz="2000" dirty="0"/>
                  <a:t>As we did earlier, we lock the relative references to </a:t>
                </a:r>
                <a14:m>
                  <m:oMath xmlns:m="http://schemas.openxmlformats.org/officeDocument/2006/math">
                    <m:r>
                      <a:rPr lang="el-GR" sz="2000" i="1" dirty="0">
                        <a:latin typeface="Cambria Math" panose="02040503050406030204" pitchFamily="18" charset="0"/>
                        <a:ea typeface="Cambria Math" panose="02040503050406030204" pitchFamily="18" charset="0"/>
                      </a:rPr>
                      <m:t>𝜇</m:t>
                    </m:r>
                  </m:oMath>
                </a14:m>
                <a:r>
                  <a:rPr lang="en-US" sz="2000" dirty="0"/>
                  <a:t> in cell C2 to absolute ($C$1) and copy it down to cells B5:B24 to compute the Poisson probabilities for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=1,2,…,20</m:t>
                    </m:r>
                  </m:oMath>
                </a14:m>
                <a:r>
                  <a:rPr lang="en-US" sz="2000" dirty="0"/>
                  <a:t>.</a:t>
                </a:r>
              </a:p>
              <a:p>
                <a:r>
                  <a:rPr lang="en-US" sz="2000" dirty="0"/>
                  <a:t>We choose </a:t>
                </a:r>
                <a14:m>
                  <m:oMath xmlns:m="http://schemas.openxmlformats.org/officeDocument/2006/math">
                    <m:r>
                      <a:rPr lang="en-US" sz="2000" b="0" i="1" dirty="0" smtClean="0">
                        <a:latin typeface="Cambria Math" panose="02040503050406030204" pitchFamily="18" charset="0"/>
                      </a:rPr>
                      <m:t>𝐹𝐴𝐿𝑆𝐸</m:t>
                    </m:r>
                  </m:oMath>
                </a14:m>
                <a:r>
                  <a:rPr lang="en-US" sz="2000" dirty="0"/>
                  <a:t> to compute the Poisson probabilities.</a:t>
                </a:r>
              </a:p>
            </p:txBody>
          </p:sp>
        </mc:Choice>
        <mc:Fallback xmlns="">
          <p:sp>
            <p:nvSpPr>
              <p:cNvPr id="5" name="Text Placeholder 4">
                <a:extLst>
                  <a:ext uri="{FF2B5EF4-FFF2-40B4-BE49-F238E27FC236}">
                    <a16:creationId xmlns:a16="http://schemas.microsoft.com/office/drawing/2014/main" id="{C57E986C-AE73-DA74-301E-184CA78D1692}"/>
                  </a:ext>
                </a:extLst>
              </p:cNvPr>
              <p:cNvSpPr>
                <a:spLocks noGrp="1" noRot="1" noChangeAspect="1" noMove="1" noResize="1" noEditPoints="1" noAdjustHandles="1" noChangeArrowheads="1" noChangeShapeType="1" noTextEdit="1"/>
              </p:cNvSpPr>
              <p:nvPr>
                <p:ph type="body" sz="quarter" idx="15"/>
              </p:nvPr>
            </p:nvSpPr>
            <p:spPr>
              <a:xfrm>
                <a:off x="743577" y="1184279"/>
                <a:ext cx="6314447" cy="4730749"/>
              </a:xfrm>
              <a:blipFill>
                <a:blip r:embed="rId3"/>
                <a:stretch>
                  <a:fillRect l="-2510" t="-1546" r="-2413" b="-1675"/>
                </a:stretch>
              </a:blipFill>
            </p:spPr>
            <p:txBody>
              <a:bodyPr/>
              <a:lstStyle/>
              <a:p>
                <a:r>
                  <a:rPr lang="en-US">
                    <a:noFill/>
                  </a:rPr>
                  <a:t> </a:t>
                </a:r>
              </a:p>
            </p:txBody>
          </p:sp>
        </mc:Fallback>
      </mc:AlternateContent>
      <p:pic>
        <p:nvPicPr>
          <p:cNvPr id="6" name="Picture Placeholder 5" descr="Two screenshots of Excel spreadsheets for computing Poisson probability distribution. In the first spreadsheet, the entry on the top is as follows. B 1: Mean number of occurrences. C 1: 10. There are two tables. Column A is labeled number of arrivals. Column B is labeled probability of f of x. The entries in rows 4 through 24 are as follows. Row 4. Number: 0. Probability: =POISSON.DIST(A 4, dollar sign C dollar sign 1, FALSE). Row 5. Number: 1. Probability: =POISSON.DIST(A 5, dollar sign C dollar sign 1, FALSE). Row 6. Number: 2. Probability: =POISSON.DIST(A 6, dollar sign C dollar sign 1, FALSE). Row 7. Number: 3. Probability: =POISSON.DIST(A 7, dollar sign C dollar sign 1, FALSE). Row 8. Number: 4. Probability: =POISSON.DIST(A 8, dollar sign C dollar sign 1, FALSE). Row 9. Number: 5. Probability: =POISSON.DIST(A 9, dollar sign C dollar sign 1, FALSE). Row 10. Number: 6. Probability: =POISSON.DIST(A 10, dollar sign C dollar sign 1, FALSE). Row 11. Number: 7. Probability: =POISSON.DIST(A 11, dollar sign C dollar sign 1, FALSE). Row 12. Number: 8. Probability: =POISSON.DIST(A 12, dollar sign C dollar sign 1, FALSE). Row 13. Number: 9. Probability: =POISSON.DIST(A 13, dollar sign C dollar sign 1, FALSE). Row 14. Number: 10. Probability: =POISSON.DIST(A 14, dollar sign C dollar sign 1, FALSE). Row 15. Number: 11. Probability: =POISSON.DIST(A 15, dollar sign C dollar sign 1, FALSE). Row 16. Number: 12. Probability: =POISSON.DIST(A 16, dollar sign C dollar sign 1, FALSE). Row 17. Number: 13. Probability: =POISSON.DIST(A 17, dollar sign C dollar sign 1, FALSE). Row 18. Number: 14. Probability: =POISSON.DIST(A 18, dollar sign C dollar sign 1, FALSE). Row 19. Number: 15. Probability: =POISSON.DIST(A 19, dollar sign C dollar sign 1, FALSE). Row 20. Number: 16. Probability: =POISSON.DIST(A 20, dollar sign C dollar sign 1, FALSE). Row 21. Number: 17. Probability: =POISSON.DIST(A 21, dollar sign C dollar sign 1, FALSE). Row 22. Number: 18. Probability: =POISSON.DIST(A 22, dollar sign C dollar sign 1, FALSE). Row 23. Number: 19. Probability: =POISSON.DIST(A 23, dollar sign C dollar sign 1, FALSE). Row 24. Number: 20. Probability: =POISSON.DIST(A 24, dollar sign C dollar sign 1, FALSE). In the second spreadsheet, the entry on the top is as follows. B 1: Mean number of occurrences. C 1: 10. There are two tables. Column A is labeled number of arrivals. Column B is labeled probability of f of x. The entries in rows 4 through 24 are as follows. Row 4. Number: 0. Probability: 0.0000. Row 5. Number: 1. Probability: 0.0005. Row 6. Number: 2. Probability: 0.0023. Row 7. Number: 3. Probability: 0.0076. Row 8. Number: 4. Probability: 0.0189. Row 9. Number: 5. Probability: 0.0378. Row 10. Number: 6. Probability: 0.0631. Row 11. Number: 7. Probability: 0.0901. Row 12. Number: 8. Probability: 0.1126. Row 13. Number: 9. Probability: 0.1251. Row 14. Number: 10. Probability: 0.1251. Row 15. Number: 11. Probability: 0.1137. Row 16. Number: 12. Probability: 0.0948. Row 17. Number: 13. Probability: 0.0729. Row 18. Number: 14. Probability: 0.0521. Row 19. Number: 15. Probability: 0.0347. Row 20. Number: 16. Probability: 0.0217. Row 21. Number: 17. Probability: 0.0128. Row 22. Number: 18. Probability: 0.0071. Row 23. Number: 19. Probability: 0.0037. Row 24. Number: 20. Probability: 0.0019. ">
            <a:extLst>
              <a:ext uri="{FF2B5EF4-FFF2-40B4-BE49-F238E27FC236}">
                <a16:creationId xmlns:a16="http://schemas.microsoft.com/office/drawing/2014/main" id="{F75AC6B9-37C0-5183-C2F3-5344AD0AF5C5}"/>
              </a:ext>
            </a:extLst>
          </p:cNvPr>
          <p:cNvPicPr>
            <a:picLocks noGrp="1" noChangeAspect="1"/>
          </p:cNvPicPr>
          <p:nvPr>
            <p:ph type="pic" sz="quarter" idx="16"/>
          </p:nvPr>
        </p:nvPicPr>
        <p:blipFill>
          <a:blip r:embed="rId4"/>
          <a:srcRect l="33" r="33"/>
          <a:stretch/>
        </p:blipFill>
        <p:spPr>
          <a:xfrm>
            <a:off x="7146925" y="1134272"/>
            <a:ext cx="4206875" cy="4846638"/>
          </a:xfrm>
          <a:ln>
            <a:solidFill>
              <a:srgbClr val="000000"/>
            </a:solidFill>
          </a:ln>
        </p:spPr>
      </p:pic>
    </p:spTree>
    <p:extLst>
      <p:ext uri="{BB962C8B-B14F-4D97-AF65-F5344CB8AC3E}">
        <p14:creationId xmlns:p14="http://schemas.microsoft.com/office/powerpoint/2010/main" val="20181926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a:xfrm>
            <a:off x="664371" y="365125"/>
            <a:ext cx="10868025" cy="672105"/>
          </a:xfrm>
        </p:spPr>
        <p:txBody>
          <a:bodyPr/>
          <a:lstStyle/>
          <a:p>
            <a:r>
              <a:rPr lang="en-US" sz="3200" dirty="0">
                <a:solidFill>
                  <a:srgbClr val="25894E"/>
                </a:solidFill>
              </a:rPr>
              <a:t>5.6 Displaying Chart of Poisson Probability Distribution</a:t>
            </a:r>
          </a:p>
        </p:txBody>
      </p:sp>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7" y="1200146"/>
            <a:ext cx="3942723" cy="4793459"/>
          </a:xfrm>
        </p:spPr>
        <p:txBody>
          <a:bodyPr/>
          <a:lstStyle/>
          <a:p>
            <a:r>
              <a:rPr lang="en-US" sz="2000" dirty="0"/>
              <a:t>We can also use Excel’s chart tools to develop a graph of the Poisson probability distribution of arrivals using the probability values computed in the previous slide.</a:t>
            </a:r>
          </a:p>
          <a:p>
            <a:r>
              <a:rPr lang="en-US" sz="2000" dirty="0"/>
              <a:t>The chart gives a nice graphical presentation of the probabilities for the various number of arrival possibilities in a 15-minute interval.</a:t>
            </a:r>
          </a:p>
          <a:p>
            <a:r>
              <a:rPr lang="en-US" sz="2000" dirty="0"/>
              <a:t>We can see that the most likely number of arrivals is 10 or 11 and that the probabilities fall off smoothly for smaller and larger values.</a:t>
            </a:r>
          </a:p>
          <a:p>
            <a:endParaRPr lang="en-US" sz="2000" dirty="0"/>
          </a:p>
        </p:txBody>
      </p:sp>
      <p:pic>
        <p:nvPicPr>
          <p:cNvPr id="7" name="Picture Placeholder 6" descr="A bar chart is titled Poisson probabilities. The horizontal axis is labeled number of arrivals and ranges from 0 to 20 in increments of 1. The vertical axis is labeled probability and ranges from 0.0000 to 0.1400 in increments of 0.0200. The data from the graph are as follows. 0: 0.0000. 1: 0.0005. 2: 0.0023. 3: 0.0076. 4: 0.0189. 5: 0.0378. 6: 0.0631. 7: 0.0901. 8: 0.1126. 9: 0.1251. 10: 0.1251. 11: 0.1137. 12: 0.0948. 13: 0.0729. 14: 0.0521. 15: 0.0347. 16: 0.0217. 17: 0.0128. 18: 0.0071. 19: 0.0037. 20: 0.0019.">
            <a:extLst>
              <a:ext uri="{FF2B5EF4-FFF2-40B4-BE49-F238E27FC236}">
                <a16:creationId xmlns:a16="http://schemas.microsoft.com/office/drawing/2014/main" id="{E8A61EDD-E5B7-1C95-F490-FCA5E89B7C31}"/>
              </a:ext>
            </a:extLst>
          </p:cNvPr>
          <p:cNvPicPr>
            <a:picLocks noGrp="1" noChangeAspect="1"/>
          </p:cNvPicPr>
          <p:nvPr>
            <p:ph type="pic" sz="quarter" idx="16"/>
          </p:nvPr>
        </p:nvPicPr>
        <p:blipFill>
          <a:blip r:embed="rId3"/>
          <a:srcRect l="36" r="36"/>
          <a:stretch/>
        </p:blipFill>
        <p:spPr>
          <a:xfrm>
            <a:off x="4721331" y="1296583"/>
            <a:ext cx="6675334" cy="4282684"/>
          </a:xfrm>
        </p:spPr>
      </p:pic>
    </p:spTree>
    <p:extLst>
      <p:ext uri="{BB962C8B-B14F-4D97-AF65-F5344CB8AC3E}">
        <p14:creationId xmlns:p14="http://schemas.microsoft.com/office/powerpoint/2010/main" val="27186177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a:xfrm>
            <a:off x="658415" y="365125"/>
            <a:ext cx="10875169" cy="672105"/>
          </a:xfrm>
        </p:spPr>
        <p:txBody>
          <a:bodyPr/>
          <a:lstStyle/>
          <a:p>
            <a:r>
              <a:rPr lang="en-US" sz="3200" dirty="0">
                <a:solidFill>
                  <a:srgbClr val="25894E"/>
                </a:solidFill>
              </a:rPr>
              <a:t>5.6 Excel: Computing Cumulative Poisson Probabilities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8" y="1233651"/>
                <a:ext cx="6278728" cy="4702807"/>
              </a:xfrm>
            </p:spPr>
            <p:txBody>
              <a:bodyPr/>
              <a:lstStyle/>
              <a:p>
                <a:r>
                  <a:rPr lang="en-US" sz="2000" dirty="0"/>
                  <a:t>Computing cumulative Poisson probabilities is just a simple extension of what we have done earlier for the binomial probabilities.</a:t>
                </a:r>
              </a:p>
              <a:p>
                <a:r>
                  <a:rPr lang="en-US" sz="2000" b="1" dirty="0"/>
                  <a:t>Enter/Access Data</a:t>
                </a:r>
                <a:r>
                  <a:rPr lang="en-US" sz="2000" dirty="0"/>
                  <a:t>: We enter the mean number of occurrences (</a:t>
                </a:r>
                <a14:m>
                  <m:oMath xmlns:m="http://schemas.openxmlformats.org/officeDocument/2006/math">
                    <m:r>
                      <a:rPr lang="el-GR" sz="2000" i="1" dirty="0">
                        <a:latin typeface="Cambria Math" panose="02040503050406030204" pitchFamily="18" charset="0"/>
                        <a:ea typeface="Cambria Math" panose="02040503050406030204" pitchFamily="18" charset="0"/>
                      </a:rPr>
                      <m:t>𝜇</m:t>
                    </m:r>
                    <m:r>
                      <a:rPr lang="en-US" sz="2000" i="1" dirty="0">
                        <a:latin typeface="Cambria Math" panose="02040503050406030204" pitchFamily="18" charset="0"/>
                      </a:rPr>
                      <m:t>=10</m:t>
                    </m:r>
                  </m:oMath>
                </a14:m>
                <a:r>
                  <a:rPr lang="en-US" sz="2000" dirty="0"/>
                  <a:t>) in cell C1 and the values of the random variable number of arrivals (𝑥) in cells A4:A24.</a:t>
                </a:r>
              </a:p>
              <a:p>
                <a:r>
                  <a:rPr lang="en-US" sz="2000" b="1" dirty="0"/>
                  <a:t>Enter Functions and Formulas</a:t>
                </a:r>
                <a:r>
                  <a:rPr lang="en-US" sz="2000" dirty="0"/>
                  <a:t>: We enter the cumulative Poisson probability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=0</m:t>
                        </m:r>
                      </m:e>
                    </m:d>
                  </m:oMath>
                </a14:m>
                <a:r>
                  <a:rPr lang="en-US" sz="2000" dirty="0"/>
                  <a:t> in cell B4 as</a:t>
                </a:r>
              </a:p>
              <a:p>
                <a:pPr marL="914400"/>
                <a:r>
                  <a:rPr lang="en-US" sz="2000" i="1" dirty="0"/>
                  <a:t>=POISSON.DIST(</a:t>
                </a:r>
                <a14:m>
                  <m:oMath xmlns:m="http://schemas.openxmlformats.org/officeDocument/2006/math">
                    <m:r>
                      <a:rPr lang="en-US" sz="2000" i="1" dirty="0">
                        <a:latin typeface="Cambria Math" panose="02040503050406030204" pitchFamily="18" charset="0"/>
                      </a:rPr>
                      <m:t>𝑥</m:t>
                    </m:r>
                  </m:oMath>
                </a14:m>
                <a:r>
                  <a:rPr lang="en-US" sz="2000" i="1" dirty="0"/>
                  <a:t>,</a:t>
                </a:r>
                <a14:m>
                  <m:oMath xmlns:m="http://schemas.openxmlformats.org/officeDocument/2006/math">
                    <m:r>
                      <a:rPr lang="el-GR" sz="2000" i="1" dirty="0">
                        <a:latin typeface="Cambria Math" panose="02040503050406030204" pitchFamily="18" charset="0"/>
                        <a:ea typeface="Cambria Math" panose="02040503050406030204" pitchFamily="18" charset="0"/>
                      </a:rPr>
                      <m:t>𝜇</m:t>
                    </m:r>
                  </m:oMath>
                </a14:m>
                <a:r>
                  <a:rPr lang="en-US" sz="2000" i="1" dirty="0"/>
                  <a:t>,TRUE)</a:t>
                </a:r>
              </a:p>
              <a:p>
                <a:r>
                  <a:rPr lang="en-US" sz="2000" dirty="0"/>
                  <a:t>We lock again the relative references to </a:t>
                </a:r>
                <a14:m>
                  <m:oMath xmlns:m="http://schemas.openxmlformats.org/officeDocument/2006/math">
                    <m:r>
                      <a:rPr lang="el-GR" sz="2000" i="1" dirty="0">
                        <a:latin typeface="Cambria Math" panose="02040503050406030204" pitchFamily="18" charset="0"/>
                        <a:ea typeface="Cambria Math" panose="02040503050406030204" pitchFamily="18" charset="0"/>
                      </a:rPr>
                      <m:t>𝜇</m:t>
                    </m:r>
                  </m:oMath>
                </a14:m>
                <a:r>
                  <a:rPr lang="en-US" sz="2000" dirty="0"/>
                  <a:t> in cell C2 to absolute ($C$1) and copy it down to cells B5:B24 to compute the Poisson probabilities for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=1,2,…,20</m:t>
                    </m:r>
                  </m:oMath>
                </a14:m>
                <a:r>
                  <a:rPr lang="en-US" sz="2000" dirty="0"/>
                  <a:t>.</a:t>
                </a:r>
              </a:p>
              <a:p>
                <a:r>
                  <a:rPr lang="en-US" sz="2000" dirty="0"/>
                  <a:t>We choose </a:t>
                </a:r>
                <a14:m>
                  <m:oMath xmlns:m="http://schemas.openxmlformats.org/officeDocument/2006/math">
                    <m:r>
                      <a:rPr lang="en-US" sz="2000" b="0" i="1" dirty="0" smtClean="0">
                        <a:latin typeface="Cambria Math" panose="02040503050406030204" pitchFamily="18" charset="0"/>
                      </a:rPr>
                      <m:t>𝑇𝑅𝑈𝐸</m:t>
                    </m:r>
                  </m:oMath>
                </a14:m>
                <a:r>
                  <a:rPr lang="en-US" sz="2000" dirty="0"/>
                  <a:t> to compute the cumulative Poisson probabilities.</a:t>
                </a:r>
              </a:p>
            </p:txBody>
          </p:sp>
        </mc:Choice>
        <mc:Fallback xmlns="">
          <p:sp>
            <p:nvSpPr>
              <p:cNvPr id="5" name="Text Placeholder 4">
                <a:extLst>
                  <a:ext uri="{FF2B5EF4-FFF2-40B4-BE49-F238E27FC236}">
                    <a16:creationId xmlns:a16="http://schemas.microsoft.com/office/drawing/2014/main" id="{C57E986C-AE73-DA74-301E-184CA78D1692}"/>
                  </a:ext>
                </a:extLst>
              </p:cNvPr>
              <p:cNvSpPr>
                <a:spLocks noGrp="1" noRot="1" noChangeAspect="1" noMove="1" noResize="1" noEditPoints="1" noAdjustHandles="1" noChangeArrowheads="1" noChangeShapeType="1" noTextEdit="1"/>
              </p:cNvSpPr>
              <p:nvPr>
                <p:ph type="body" sz="quarter" idx="15"/>
              </p:nvPr>
            </p:nvSpPr>
            <p:spPr>
              <a:xfrm>
                <a:off x="743578" y="1233651"/>
                <a:ext cx="6278728" cy="4702807"/>
              </a:xfrm>
              <a:blipFill>
                <a:blip r:embed="rId3"/>
                <a:stretch>
                  <a:fillRect l="-2524" t="-1554" r="-97" b="-2202"/>
                </a:stretch>
              </a:blipFill>
            </p:spPr>
            <p:txBody>
              <a:bodyPr/>
              <a:lstStyle/>
              <a:p>
                <a:r>
                  <a:rPr lang="en-US">
                    <a:noFill/>
                  </a:rPr>
                  <a:t> </a:t>
                </a:r>
              </a:p>
            </p:txBody>
          </p:sp>
        </mc:Fallback>
      </mc:AlternateContent>
      <p:pic>
        <p:nvPicPr>
          <p:cNvPr id="7" name="Picture Placeholder 6" descr="Two screenshots of Excel spreadsheets for computing Poisson probability distribution. In the first spreadsheet, the entry on the top is as follows. B 1: Mean number of occurrences. C 1: 10. There are two tables. Column A is labeled number of arrivals. Column B is labeled probability of f of x. The entries in rows 4 through 24 are as follows. Row 4. Number: 0. Probability: =POISSON.DIST(A 4, dollar sign C dollar sign 1, TRUE). Row 5. Number: 1. Probability: =POISSON.DIST(A 5, dollar sign C dollar sign 1, TRUE). Row 6. Number: 2. Probability: =POISSON.DIST(A 6, dollar sign C dollar sign 1, TRUE). Row 7. Number: 3. Probability: =POISSON.DIST(A 7, dollar sign C dollar sign 1, TRUE). Row 8. Number: 4. Probability: =POISSON.DIST(A 8, dollar sign C dollar sign 1, TRUE). Row 9. Number: 5. Probability: =POISSON.DIST(A 9, dollar sign C dollar sign 1, TRUE). Row 10. Number: 6. Probability: =POISSON.DIST(A 10, dollar sign C dollar sign 1, TRUE). Row 11. Number: 7. Probability: =POISSON.DIST(A 11, dollar sign C dollar sign 1, TRUE). Row 12. Number: 8. Probability: =POISSON.DIST(A 12, dollar sign C dollar sign 1, TRUE). Row 13. Number: 9. Probability: =POISSON.DIST(A 13, dollar sign C dollar sign 1, TRUE). Row 14. Number: 10. Probability: =POISSON.DIST(A 14, dollar sign C dollar sign 1, TRUE). Row 15. Number: 11. Probability: =POISSON.DIST(A 15, dollar sign C dollar sign 1, TRUE). Row 16. Number: 12. Probability: =POISSON.DIST(A 16, dollar sign C dollar sign 1, TRUE). Row 17. Number: 13. Probability: =POISSON.DIST(A 17, dollar sign C dollar sign 1, TRUE). Row 18. Number: 14. Probability: =POISSON.DIST(A 18, dollar sign C dollar sign 1, TRUE). Row 19. Number: 15. Probability: =POISSON.DIST(A 19, dollar sign C dollar sign 1, TRUE). Row 20. Number: 16. Probability: =POISSON.DIST(A 20, dollar sign C dollar sign 1, TRUE). Row 21. Number: 17. Probability: =POISSON.DIST(A 21, dollar sign C dollar sign 1, TRUE). Row 22. Number: 18. Probability: =POISSON.DIST(A 22, dollar sign C dollar sign 1, TRUE). Row 23. Number: 19. Probability: =POISSON.DIST(A 23, dollar sign C dollar sign 1, TRUE). Row 24. Number: 20. Probability: =POISSON.DIST(A 24, dollar sign C dollar sign 1, TRUE). In the second spreadsheet, the entry on the top is as follows. B 1: Mean number of occurrences. C 1: 10. There are two tables. Column A is labeled number of arrivals. Column B is labeled probability of f of x. The entries in rows 4 through 24 are as follows. Row 4. Number: 0. Probability: 0.0000. Row 5. Number: 1. Probability: 0.0005. Row 6. Number: 2. Probability: 0.0028. Row 7. Number: 3. Probability: 0.0103. Row 8. Number: 4. Probability: 0.0293. Row 9. Number: 5. Probability: 0.0671. Row 10. Number: 6. Probability: 0.1301. Row 11. Number: 7. Probability: 0.2202. Row 12. Number: 8. Probability: 0.3328. Row 13. Number: 9. Probability: 0.4579. Row 14. Number: 10. Probability: 0.5830. Row 15. Number: 11. Probability: 0.6968. Row 16. Number: 12. Probability: 0.7916. Row 17. Number: 13. Probability: 0.8645. Row 18. Number: 14. Probability: 0.9165. Row 19. Number: 15. Probability: 0.9513. Row 20. Number: 16. Probability: 0.9730. Row 21. Number: 17. Probability: 0.9857. Row 22. Number: 18. Probability: 0.9928. Row 23. Number: 19. Probability: 0.9965. Row 24. Number: 20. Probability: 0.9984.">
            <a:extLst>
              <a:ext uri="{FF2B5EF4-FFF2-40B4-BE49-F238E27FC236}">
                <a16:creationId xmlns:a16="http://schemas.microsoft.com/office/drawing/2014/main" id="{EBE5B64A-A561-C068-0E19-0C89D0B9073E}"/>
              </a:ext>
            </a:extLst>
          </p:cNvPr>
          <p:cNvPicPr>
            <a:picLocks noGrp="1" noChangeAspect="1"/>
          </p:cNvPicPr>
          <p:nvPr>
            <p:ph type="pic" sz="quarter" idx="16"/>
          </p:nvPr>
        </p:nvPicPr>
        <p:blipFill>
          <a:blip r:embed="rId4"/>
          <a:srcRect l="74" r="74"/>
          <a:stretch/>
        </p:blipFill>
        <p:spPr>
          <a:xfrm>
            <a:off x="7165848" y="1176499"/>
            <a:ext cx="4187952" cy="4846320"/>
          </a:xfrm>
          <a:ln>
            <a:solidFill>
              <a:srgbClr val="000000"/>
            </a:solidFill>
          </a:ln>
        </p:spPr>
      </p:pic>
    </p:spTree>
    <p:extLst>
      <p:ext uri="{BB962C8B-B14F-4D97-AF65-F5344CB8AC3E}">
        <p14:creationId xmlns:p14="http://schemas.microsoft.com/office/powerpoint/2010/main" val="22547855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a:xfrm>
            <a:off x="641100" y="365125"/>
            <a:ext cx="10710072" cy="672105"/>
          </a:xfrm>
        </p:spPr>
        <p:txBody>
          <a:bodyPr/>
          <a:lstStyle/>
          <a:p>
            <a:r>
              <a:rPr lang="en-US" sz="3200" dirty="0"/>
              <a:t>5.6 Properties of the Poisson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28708" y="1226884"/>
                <a:ext cx="10787163" cy="4703735"/>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Because there is no stated upper limit for the number of occurrences, the Poisson probability function </a:t>
                </a:r>
                <a14:m>
                  <m:oMath xmlns:m="http://schemas.openxmlformats.org/officeDocument/2006/math">
                    <m:r>
                      <a:rPr lang="en-US" sz="2000" i="1" dirty="0" smtClean="0">
                        <a:latin typeface="Cambria Math" panose="02040503050406030204" pitchFamily="18" charset="0"/>
                        <a:cs typeface="Arial" panose="020B0604020202020204" pitchFamily="34" charset="0"/>
                      </a:rPr>
                      <m:t>𝑓</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is applicable for values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=0,1,2,…</m:t>
                    </m:r>
                  </m:oMath>
                </a14:m>
                <a:r>
                  <a:rPr lang="en-US" sz="2000" dirty="0">
                    <a:latin typeface="Arial" panose="020B0604020202020204" pitchFamily="34" charset="0"/>
                    <a:cs typeface="Arial" panose="020B0604020202020204" pitchFamily="34" charset="0"/>
                  </a:rPr>
                  <a:t> without limit.</a:t>
                </a:r>
              </a:p>
              <a:p>
                <a:pPr>
                  <a:spcBef>
                    <a:spcPts val="600"/>
                  </a:spcBef>
                  <a:spcAft>
                    <a:spcPts val="0"/>
                  </a:spcAft>
                </a:pPr>
                <a:r>
                  <a:rPr lang="en-US" sz="2000" dirty="0">
                    <a:latin typeface="Arial" panose="020B0604020202020204" pitchFamily="34" charset="0"/>
                    <a:cs typeface="Arial" panose="020B0604020202020204" pitchFamily="34" charset="0"/>
                  </a:rPr>
                  <a:t>In practical applications,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oMath>
                </a14:m>
                <a:r>
                  <a:rPr lang="en-US" sz="2000" dirty="0">
                    <a:latin typeface="Arial" panose="020B0604020202020204" pitchFamily="34" charset="0"/>
                    <a:cs typeface="Arial" panose="020B0604020202020204" pitchFamily="34" charset="0"/>
                  </a:rPr>
                  <a:t> will eventually become large enough so that </a:t>
                </a:r>
                <a14:m>
                  <m:oMath xmlns:m="http://schemas.openxmlformats.org/officeDocument/2006/math">
                    <m:r>
                      <a:rPr lang="en-US" sz="2000" i="1" dirty="0" smtClean="0">
                        <a:latin typeface="Cambria Math" panose="02040503050406030204" pitchFamily="18" charset="0"/>
                        <a:cs typeface="Arial" panose="020B0604020202020204" pitchFamily="34" charset="0"/>
                      </a:rPr>
                      <m:t>𝑓</m:t>
                    </m:r>
                    <m:r>
                      <a:rPr lang="en-US" sz="2000" i="1" dirty="0" smtClean="0">
                        <a:latin typeface="Cambria Math" panose="02040503050406030204" pitchFamily="18" charset="0"/>
                        <a:cs typeface="Arial" panose="020B0604020202020204" pitchFamily="34" charset="0"/>
                      </a:rPr>
                      <m:t>(</m:t>
                    </m:r>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becomes approximately zero and the probability of any larger values of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oMath>
                </a14:m>
                <a:r>
                  <a:rPr lang="en-US" sz="2000" dirty="0">
                    <a:latin typeface="Arial" panose="020B0604020202020204" pitchFamily="34" charset="0"/>
                    <a:cs typeface="Arial" panose="020B0604020202020204" pitchFamily="34" charset="0"/>
                  </a:rPr>
                  <a:t> negligible.</a:t>
                </a:r>
              </a:p>
              <a:p>
                <a:pPr>
                  <a:spcBef>
                    <a:spcPts val="600"/>
                  </a:spcBef>
                  <a:spcAft>
                    <a:spcPts val="600"/>
                  </a:spcAft>
                </a:pPr>
                <a:r>
                  <a:rPr lang="en-US" sz="2000" dirty="0">
                    <a:latin typeface="Arial" panose="020B0604020202020204" pitchFamily="34" charset="0"/>
                    <a:cs typeface="Arial" panose="020B0604020202020204" pitchFamily="34" charset="0"/>
                  </a:rPr>
                  <a:t>A Poisson probability distribution has the variance equal to the mean:</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dirty="0" smtClean="0">
                          <a:latin typeface="Cambria Math" panose="02040503050406030204" pitchFamily="18" charset="0"/>
                          <a:cs typeface="Arial" panose="020B0604020202020204" pitchFamily="34" charset="0"/>
                        </a:rPr>
                        <m:t>𝝁</m:t>
                      </m:r>
                      <m:r>
                        <a:rPr lang="en-US" sz="2000" b="1" i="1" dirty="0" smtClean="0">
                          <a:latin typeface="Cambria Math" panose="02040503050406030204" pitchFamily="18" charset="0"/>
                          <a:cs typeface="Arial" panose="020B0604020202020204" pitchFamily="34" charset="0"/>
                        </a:rPr>
                        <m:t>=</m:t>
                      </m:r>
                      <m:sSup>
                        <m:sSupPr>
                          <m:ctrlPr>
                            <a:rPr lang="en-US" sz="2000" b="1" i="1" dirty="0" smtClean="0">
                              <a:latin typeface="Cambria Math" panose="02040503050406030204" pitchFamily="18" charset="0"/>
                              <a:cs typeface="Arial" panose="020B0604020202020204" pitchFamily="34" charset="0"/>
                            </a:rPr>
                          </m:ctrlPr>
                        </m:sSupPr>
                        <m:e>
                          <m:r>
                            <a:rPr lang="en-US" sz="2000" b="1" i="1" dirty="0">
                              <a:latin typeface="Cambria Math" panose="02040503050406030204" pitchFamily="18" charset="0"/>
                              <a:cs typeface="Arial" panose="020B0604020202020204" pitchFamily="34" charset="0"/>
                            </a:rPr>
                            <m:t>𝝈</m:t>
                          </m:r>
                        </m:e>
                        <m:sup>
                          <m:r>
                            <a:rPr lang="en-US" sz="2000" b="1" i="1" dirty="0">
                              <a:latin typeface="Cambria Math" panose="02040503050406030204" pitchFamily="18" charset="0"/>
                              <a:cs typeface="Arial" panose="020B0604020202020204" pitchFamily="34" charset="0"/>
                            </a:rPr>
                            <m:t>𝟐</m:t>
                          </m:r>
                        </m:sup>
                      </m:sSup>
                    </m:oMath>
                  </m:oMathPara>
                </a14:m>
                <a:endParaRPr lang="en-US" sz="2000" b="1"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Probabilities can be calculated using a Poisson probability table (Table 7, Appendix B of the textbook). </a:t>
                </a:r>
              </a:p>
              <a:p>
                <a:pPr>
                  <a:spcBef>
                    <a:spcPts val="600"/>
                  </a:spcBef>
                  <a:spcAft>
                    <a:spcPts val="0"/>
                  </a:spcAft>
                </a:pPr>
                <a:r>
                  <a:rPr lang="en-US" sz="2000" dirty="0">
                    <a:latin typeface="Arial" panose="020B0604020202020204" pitchFamily="34" charset="0"/>
                    <a:cs typeface="Arial" panose="020B0604020202020204" pitchFamily="34" charset="0"/>
                  </a:rPr>
                  <a:t>For example, to obtain the probability of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=5</m:t>
                    </m:r>
                  </m:oMath>
                </a14:m>
                <a:r>
                  <a:rPr lang="en-US" sz="2000" dirty="0">
                    <a:latin typeface="Arial" panose="020B0604020202020204" pitchFamily="34" charset="0"/>
                    <a:cs typeface="Arial" panose="020B0604020202020204" pitchFamily="34" charset="0"/>
                  </a:rPr>
                  <a:t> arrivals over a 15-minute period when </a:t>
                </a:r>
                <a14:m>
                  <m:oMath xmlns:m="http://schemas.openxmlformats.org/officeDocument/2006/math">
                    <m:r>
                      <a:rPr lang="el-GR" sz="2000" i="1" dirty="0" smtClean="0">
                        <a:latin typeface="Cambria Math" panose="02040503050406030204" pitchFamily="18" charset="0"/>
                        <a:ea typeface="Cambria Math" panose="02040503050406030204" pitchFamily="18" charset="0"/>
                        <a:cs typeface="Arial" panose="020B0604020202020204" pitchFamily="34" charset="0"/>
                      </a:rPr>
                      <m:t>𝜇</m:t>
                    </m:r>
                    <m:r>
                      <a:rPr lang="en-US" sz="2000" i="1" dirty="0" smtClean="0">
                        <a:latin typeface="Cambria Math" panose="02040503050406030204" pitchFamily="18" charset="0"/>
                        <a:cs typeface="Arial" panose="020B0604020202020204" pitchFamily="34" charset="0"/>
                      </a:rPr>
                      <m:t>=10</m:t>
                    </m:r>
                  </m:oMath>
                </a14:m>
                <a:r>
                  <a:rPr lang="en-US" sz="2000" dirty="0">
                    <a:latin typeface="Arial" panose="020B0604020202020204" pitchFamily="34" charset="0"/>
                    <a:cs typeface="Arial" panose="020B0604020202020204" pitchFamily="34" charset="0"/>
                  </a:rPr>
                  <a:t> using the table, follow these two steps:</a:t>
                </a:r>
              </a:p>
              <a:p>
                <a:pPr marL="914400" indent="-457200">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Scroll down the leftmost column until you find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=5</m:t>
                    </m:r>
                  </m:oMath>
                </a14:m>
                <a:endParaRPr lang="en-US" sz="2000" dirty="0">
                  <a:latin typeface="Arial" panose="020B0604020202020204" pitchFamily="34" charset="0"/>
                  <a:cs typeface="Arial" panose="020B0604020202020204" pitchFamily="34" charset="0"/>
                </a:endParaRPr>
              </a:p>
              <a:p>
                <a:pPr marL="914400" indent="-457200">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Move along the row for </a:t>
                </a:r>
                <a14:m>
                  <m:oMath xmlns:m="http://schemas.openxmlformats.org/officeDocument/2006/math">
                    <m:r>
                      <a:rPr lang="en-US" sz="2000" i="1" dirty="0" smtClean="0">
                        <a:latin typeface="Cambria Math" panose="02040503050406030204" pitchFamily="18" charset="0"/>
                        <a:cs typeface="Arial" panose="020B0604020202020204" pitchFamily="34" charset="0"/>
                      </a:rPr>
                      <m:t>𝑥</m:t>
                    </m:r>
                    <m:r>
                      <a:rPr lang="en-US" sz="2000" i="1" dirty="0" smtClean="0">
                        <a:latin typeface="Cambria Math" panose="02040503050406030204" pitchFamily="18" charset="0"/>
                        <a:cs typeface="Arial" panose="020B0604020202020204" pitchFamily="34" charset="0"/>
                      </a:rPr>
                      <m:t>=5</m:t>
                    </m:r>
                  </m:oMath>
                </a14:m>
                <a:r>
                  <a:rPr lang="en-US" sz="2000" dirty="0">
                    <a:latin typeface="Arial" panose="020B0604020202020204" pitchFamily="34" charset="0"/>
                    <a:cs typeface="Arial" panose="020B0604020202020204" pitchFamily="34" charset="0"/>
                  </a:rPr>
                  <a:t> until you reach the column corresponding to </a:t>
                </a:r>
                <a14:m>
                  <m:oMath xmlns:m="http://schemas.openxmlformats.org/officeDocument/2006/math">
                    <m:r>
                      <a:rPr lang="el-GR" sz="2000" i="1" dirty="0">
                        <a:latin typeface="Cambria Math" panose="02040503050406030204" pitchFamily="18" charset="0"/>
                        <a:ea typeface="Cambria Math" panose="02040503050406030204" pitchFamily="18" charset="0"/>
                        <a:cs typeface="Arial" panose="020B0604020202020204" pitchFamily="34" charset="0"/>
                      </a:rPr>
                      <m:t>𝜇</m:t>
                    </m:r>
                    <m:r>
                      <a:rPr lang="en-US" sz="2000" i="1" dirty="0" smtClean="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10</m:t>
                    </m:r>
                  </m:oMath>
                </a14:m>
                <a:r>
                  <a:rPr lang="en-US" sz="2000"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The answer is 0.0378. As shown before, if using </a:t>
                </a:r>
                <a14:m>
                  <m:oMath xmlns:m="http://schemas.openxmlformats.org/officeDocument/2006/math">
                    <m:r>
                      <a:rPr lang="en-US" sz="2000" b="0" i="1" dirty="0" smtClean="0">
                        <a:latin typeface="Cambria Math" panose="02040503050406030204" pitchFamily="18" charset="0"/>
                        <a:cs typeface="Arial" panose="020B0604020202020204" pitchFamily="34" charset="0"/>
                      </a:rPr>
                      <m:t>𝑥</m:t>
                    </m:r>
                    <m:r>
                      <a:rPr lang="en-US" sz="2000" i="1" dirty="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l-GR" sz="2000" i="1" dirty="0" smtClean="0">
                        <a:latin typeface="Cambria Math" panose="02040503050406030204" pitchFamily="18" charset="0"/>
                        <a:ea typeface="Cambria Math" panose="02040503050406030204" pitchFamily="18" charset="0"/>
                        <a:cs typeface="Arial" panose="020B0604020202020204" pitchFamily="34" charset="0"/>
                      </a:rPr>
                      <m:t>𝜇</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2</m:t>
                    </m:r>
                  </m:oMath>
                </a14:m>
                <a:r>
                  <a:rPr lang="en-US" sz="2000" dirty="0">
                    <a:latin typeface="Arial" panose="020B0604020202020204" pitchFamily="34" charset="0"/>
                    <a:cs typeface="Arial" panose="020B0604020202020204" pitchFamily="34" charset="0"/>
                  </a:rPr>
                  <a:t>, we get 0.2707 (*see notes.)</a:t>
                </a:r>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28708" y="1226884"/>
                <a:ext cx="10787163" cy="4703735"/>
              </a:xfrm>
              <a:blipFill>
                <a:blip r:embed="rId3"/>
                <a:stretch>
                  <a:fillRect l="-1470" t="-1554" b="-2332"/>
                </a:stretch>
              </a:blipFill>
            </p:spPr>
            <p:txBody>
              <a:bodyPr/>
              <a:lstStyle/>
              <a:p>
                <a:r>
                  <a:rPr lang="en-US">
                    <a:noFill/>
                  </a:rPr>
                  <a:t> </a:t>
                </a:r>
              </a:p>
            </p:txBody>
          </p:sp>
        </mc:Fallback>
      </mc:AlternateContent>
    </p:spTree>
    <p:extLst>
      <p:ext uri="{BB962C8B-B14F-4D97-AF65-F5344CB8AC3E}">
        <p14:creationId xmlns:p14="http://schemas.microsoft.com/office/powerpoint/2010/main" val="10399052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p:txBody>
          <a:bodyPr/>
          <a:lstStyle/>
          <a:p>
            <a:r>
              <a:rPr lang="en-US" dirty="0">
                <a:solidFill>
                  <a:srgbClr val="D14B1E"/>
                </a:solidFill>
              </a:rPr>
              <a:t>5.7 Hypergeometric Probability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43576" y="1254122"/>
                <a:ext cx="10787163" cy="4602064"/>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hypergeometric probability distribution </a:t>
                </a:r>
                <a:r>
                  <a:rPr lang="en-US" sz="2000" dirty="0">
                    <a:latin typeface="Arial" panose="020B0604020202020204" pitchFamily="34" charset="0"/>
                    <a:cs typeface="Arial" panose="020B0604020202020204" pitchFamily="34" charset="0"/>
                  </a:rPr>
                  <a:t>is closely related to the binomial distribution, but it differs in two key respects:  </a:t>
                </a:r>
              </a:p>
              <a:p>
                <a:pPr marL="914400" indent="-342900">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trials are not independent.</a:t>
                </a:r>
              </a:p>
              <a:p>
                <a:pPr marL="914400" indent="-342900">
                  <a:spcBef>
                    <a:spcPts val="600"/>
                  </a:spcBef>
                  <a:spcAft>
                    <a:spcPts val="0"/>
                  </a:spcAft>
                  <a:buFont typeface="Arial" panose="020B0604020202020204" pitchFamily="34" charset="0"/>
                  <a:buChar char="•"/>
                </a:pPr>
                <a:r>
                  <a:rPr lang="en-US" sz="2000" dirty="0">
                    <a:latin typeface="Arial" panose="020B0604020202020204" pitchFamily="34" charset="0"/>
                    <a:cs typeface="Arial" panose="020B0604020202020204" pitchFamily="34" charset="0"/>
                  </a:rPr>
                  <a:t>The probability of success changes from trial to trial. </a:t>
                </a:r>
              </a:p>
              <a:p>
                <a:pPr>
                  <a:spcBef>
                    <a:spcPts val="600"/>
                  </a:spcBef>
                  <a:spcAft>
                    <a:spcPts val="600"/>
                  </a:spcAft>
                </a:pPr>
                <a:r>
                  <a:rPr lang="en-US" sz="2000" dirty="0">
                    <a:latin typeface="Arial" panose="020B0604020202020204" pitchFamily="34" charset="0"/>
                    <a:cs typeface="Arial" panose="020B0604020202020204" pitchFamily="34" charset="0"/>
                  </a:rPr>
                  <a:t>The </a:t>
                </a:r>
                <a:r>
                  <a:rPr lang="en-US" sz="2000" b="1" dirty="0">
                    <a:latin typeface="Arial" panose="020B0604020202020204" pitchFamily="34" charset="0"/>
                    <a:cs typeface="Arial" panose="020B0604020202020204" pitchFamily="34" charset="0"/>
                  </a:rPr>
                  <a:t>hypergeometric probability function </a:t>
                </a:r>
                <a:r>
                  <a:rPr lang="en-US" sz="2000" dirty="0">
                    <a:latin typeface="Arial" panose="020B0604020202020204" pitchFamily="34" charset="0"/>
                    <a:cs typeface="Arial" panose="020B0604020202020204" pitchFamily="34" charset="0"/>
                  </a:rPr>
                  <a:t>is described by the following equation:</a:t>
                </a:r>
              </a:p>
              <a:p>
                <a:pPr marL="914400">
                  <a:spcBef>
                    <a:spcPts val="600"/>
                  </a:spcBef>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𝒇</m:t>
                      </m:r>
                      <m:r>
                        <a:rPr lang="en-US" sz="2000" b="1" i="1" smtClean="0">
                          <a:latin typeface="Cambria Math" panose="02040503050406030204" pitchFamily="18" charset="0"/>
                        </a:rPr>
                        <m:t>(</m:t>
                      </m:r>
                      <m:r>
                        <a:rPr lang="en-US" sz="2000" b="1" i="1" smtClean="0">
                          <a:latin typeface="Cambria Math" panose="02040503050406030204" pitchFamily="18" charset="0"/>
                        </a:rPr>
                        <m:t>𝒙</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d>
                            <m:dPr>
                              <m:ctrlPr>
                                <a:rPr lang="en-US" sz="2000" b="1" i="1" smtClean="0">
                                  <a:latin typeface="Cambria Math" panose="02040503050406030204" pitchFamily="18" charset="0"/>
                                </a:rPr>
                              </m:ctrlPr>
                            </m:dPr>
                            <m:e>
                              <m:f>
                                <m:fPr>
                                  <m:type m:val="noBar"/>
                                  <m:ctrlPr>
                                    <a:rPr lang="en-US" sz="2000" b="1" i="1" smtClean="0">
                                      <a:latin typeface="Cambria Math" panose="02040503050406030204" pitchFamily="18" charset="0"/>
                                    </a:rPr>
                                  </m:ctrlPr>
                                </m:fPr>
                                <m:num>
                                  <m:r>
                                    <a:rPr lang="en-US" sz="2000" b="1" i="1" smtClean="0">
                                      <a:latin typeface="Cambria Math" panose="02040503050406030204" pitchFamily="18" charset="0"/>
                                    </a:rPr>
                                    <m:t>𝒓</m:t>
                                  </m:r>
                                </m:num>
                                <m:den>
                                  <m:r>
                                    <a:rPr lang="en-US" sz="2000" b="1" i="1" smtClean="0">
                                      <a:latin typeface="Cambria Math" panose="02040503050406030204" pitchFamily="18" charset="0"/>
                                    </a:rPr>
                                    <m:t>𝒙</m:t>
                                  </m:r>
                                </m:den>
                              </m:f>
                            </m:e>
                          </m:d>
                          <m:d>
                            <m:dPr>
                              <m:ctrlPr>
                                <a:rPr lang="en-US" sz="2000" b="1" i="1">
                                  <a:latin typeface="Cambria Math" panose="02040503050406030204" pitchFamily="18" charset="0"/>
                                </a:rPr>
                              </m:ctrlPr>
                            </m:dPr>
                            <m:e>
                              <m:f>
                                <m:fPr>
                                  <m:type m:val="noBar"/>
                                  <m:ctrlPr>
                                    <a:rPr lang="en-US" sz="2000" b="1" i="1">
                                      <a:latin typeface="Cambria Math" panose="02040503050406030204" pitchFamily="18" charset="0"/>
                                    </a:rPr>
                                  </m:ctrlPr>
                                </m:fPr>
                                <m:num>
                                  <m:r>
                                    <a:rPr lang="en-US" sz="2000" b="1" i="1">
                                      <a:latin typeface="Cambria Math" panose="02040503050406030204" pitchFamily="18" charset="0"/>
                                    </a:rPr>
                                    <m:t>𝑵</m:t>
                                  </m:r>
                                  <m:r>
                                    <a:rPr lang="en-US" sz="2000" b="1" i="1" smtClean="0">
                                      <a:latin typeface="Cambria Math" panose="02040503050406030204" pitchFamily="18" charset="0"/>
                                    </a:rPr>
                                    <m:t>−</m:t>
                                  </m:r>
                                  <m:r>
                                    <a:rPr lang="en-US" sz="2000" b="1" i="1" smtClean="0">
                                      <a:latin typeface="Cambria Math" panose="02040503050406030204" pitchFamily="18" charset="0"/>
                                    </a:rPr>
                                    <m:t>𝒓</m:t>
                                  </m:r>
                                </m:num>
                                <m:den>
                                  <m:r>
                                    <a:rPr lang="en-US" sz="2000" b="1" i="1">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𝒙</m:t>
                                  </m:r>
                                </m:den>
                              </m:f>
                            </m:e>
                          </m:d>
                        </m:num>
                        <m:den>
                          <m:d>
                            <m:dPr>
                              <m:ctrlPr>
                                <a:rPr lang="en-US" sz="2000" b="1" i="1" smtClean="0">
                                  <a:latin typeface="Cambria Math" panose="02040503050406030204" pitchFamily="18" charset="0"/>
                                </a:rPr>
                              </m:ctrlPr>
                            </m:dPr>
                            <m:e>
                              <m:f>
                                <m:fPr>
                                  <m:type m:val="noBar"/>
                                  <m:ctrlPr>
                                    <a:rPr lang="en-US" sz="2000" b="1" i="1">
                                      <a:latin typeface="Cambria Math" panose="02040503050406030204" pitchFamily="18" charset="0"/>
                                    </a:rPr>
                                  </m:ctrlPr>
                                </m:fPr>
                                <m:num>
                                  <m:r>
                                    <a:rPr lang="en-US" sz="2000" b="1" i="1" smtClean="0">
                                      <a:latin typeface="Cambria Math" panose="02040503050406030204" pitchFamily="18" charset="0"/>
                                    </a:rPr>
                                    <m:t>𝑵</m:t>
                                  </m:r>
                                </m:num>
                                <m:den>
                                  <m:r>
                                    <a:rPr lang="en-US" sz="2000" b="1" i="1" smtClean="0">
                                      <a:latin typeface="Cambria Math" panose="02040503050406030204" pitchFamily="18" charset="0"/>
                                    </a:rPr>
                                    <m:t>𝒏</m:t>
                                  </m:r>
                                </m:den>
                              </m:f>
                            </m:e>
                          </m:d>
                        </m:den>
                      </m:f>
                      <m:r>
                        <m:rPr>
                          <m:nor/>
                        </m:rPr>
                        <a:rPr lang="en-US" sz="2000" b="0" i="0" smtClean="0">
                          <a:latin typeface="Cambria Math" panose="02040503050406030204" pitchFamily="18" charset="0"/>
                        </a:rPr>
                        <m:t>    </m:t>
                      </m:r>
                      <m:r>
                        <m:rPr>
                          <m:nor/>
                        </m:rPr>
                        <a:rPr lang="en-US" sz="2000">
                          <a:latin typeface="Arial" panose="020B0604020202020204" pitchFamily="34" charset="0"/>
                          <a:cs typeface="Arial" panose="020B0604020202020204" pitchFamily="34" charset="0"/>
                        </a:rPr>
                        <m:t>for</m:t>
                      </m:r>
                      <m:r>
                        <m:rPr>
                          <m:nor/>
                        </m:rPr>
                        <a:rPr lang="en-US" sz="2000">
                          <a:latin typeface="Arial" panose="020B0604020202020204" pitchFamily="34" charset="0"/>
                          <a:cs typeface="Arial" panose="020B0604020202020204" pitchFamily="34" charset="0"/>
                        </a:rPr>
                        <m:t>   </m:t>
                      </m:r>
                      <m:r>
                        <a:rPr lang="en-US" sz="2000" i="1">
                          <a:latin typeface="Cambria Math" panose="02040503050406030204" pitchFamily="18" charset="0"/>
                          <a:cs typeface="Arial" panose="020B0604020202020204" pitchFamily="34" charset="0"/>
                        </a:rPr>
                        <m:t>0</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𝑥</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𝑟</m:t>
                      </m:r>
                    </m:oMath>
                  </m:oMathPara>
                </a14:m>
                <a:endParaRPr lang="en-US" sz="2000" b="1" dirty="0"/>
              </a:p>
              <a:p>
                <a:pPr>
                  <a:spcBef>
                    <a:spcPts val="600"/>
                  </a:spcBef>
                  <a:tabLst>
                    <a:tab pos="1371600" algn="l"/>
                  </a:tabLst>
                </a:pPr>
                <a:r>
                  <a:rPr lang="en-US" sz="2000" dirty="0"/>
                  <a:t>Where:</a:t>
                </a:r>
                <a:r>
                  <a:rPr lang="en-US" sz="2000" i="1" dirty="0"/>
                  <a:t>	x</a:t>
                </a:r>
                <a:r>
                  <a:rPr lang="en-US" sz="2000" dirty="0"/>
                  <a:t> =	the number of successes</a:t>
                </a:r>
              </a:p>
              <a:p>
                <a:pPr marL="914400">
                  <a:spcBef>
                    <a:spcPts val="600"/>
                  </a:spcBef>
                  <a:spcAft>
                    <a:spcPts val="0"/>
                  </a:spcAft>
                  <a:tabLst>
                    <a:tab pos="1717675" algn="r"/>
                    <a:tab pos="1828800" algn="l"/>
                  </a:tabLst>
                </a:pPr>
                <a:r>
                  <a:rPr lang="en-US" sz="2000" dirty="0"/>
                  <a:t>	</a:t>
                </a:r>
                <a:r>
                  <a:rPr lang="en-US" sz="2000" i="1" dirty="0"/>
                  <a:t>n</a:t>
                </a:r>
                <a:r>
                  <a:rPr lang="en-US" sz="2000" dirty="0"/>
                  <a:t> =	the number of trials</a:t>
                </a:r>
              </a:p>
              <a:p>
                <a:pPr marL="914400">
                  <a:spcBef>
                    <a:spcPts val="600"/>
                  </a:spcBef>
                  <a:spcAft>
                    <a:spcPts val="0"/>
                  </a:spcAft>
                  <a:tabLst>
                    <a:tab pos="1717675" algn="r"/>
                    <a:tab pos="1828800" algn="l"/>
                  </a:tabLst>
                </a:pPr>
                <a:r>
                  <a:rPr lang="en-US" sz="2000" dirty="0"/>
                  <a:t>  𝑓(𝑥)	=	the probability of </a:t>
                </a:r>
                <a:r>
                  <a:rPr lang="en-US" sz="2000" i="1" dirty="0"/>
                  <a:t>x</a:t>
                </a:r>
                <a:r>
                  <a:rPr lang="en-US" sz="2000" dirty="0"/>
                  <a:t> successes in </a:t>
                </a:r>
                <a:r>
                  <a:rPr lang="en-US" sz="2000" i="1" dirty="0"/>
                  <a:t>n</a:t>
                </a:r>
                <a:r>
                  <a:rPr lang="en-US" sz="2000" dirty="0"/>
                  <a:t> trials</a:t>
                </a:r>
              </a:p>
              <a:p>
                <a:pPr marL="914400">
                  <a:spcBef>
                    <a:spcPts val="600"/>
                  </a:spcBef>
                  <a:spcAft>
                    <a:spcPts val="0"/>
                  </a:spcAft>
                  <a:tabLst>
                    <a:tab pos="1717675" algn="r"/>
                    <a:tab pos="1828800" algn="l"/>
                  </a:tabLst>
                </a:pPr>
                <a:r>
                  <a:rPr lang="en-US" sz="2000" i="1" dirty="0"/>
                  <a:t>	N</a:t>
                </a:r>
                <a:r>
                  <a:rPr lang="en-US" sz="2000" dirty="0"/>
                  <a:t> =	the number of elements in the population</a:t>
                </a:r>
              </a:p>
              <a:p>
                <a:pPr marL="914400">
                  <a:spcBef>
                    <a:spcPts val="600"/>
                  </a:spcBef>
                  <a:spcAft>
                    <a:spcPts val="0"/>
                  </a:spcAft>
                  <a:tabLst>
                    <a:tab pos="1717675" algn="r"/>
                    <a:tab pos="1828800" algn="l"/>
                  </a:tabLst>
                </a:pPr>
                <a:r>
                  <a:rPr lang="en-US" sz="2000" dirty="0"/>
                  <a:t>	</a:t>
                </a:r>
                <a:r>
                  <a:rPr lang="en-US" sz="2000" i="1" dirty="0"/>
                  <a:t>r</a:t>
                </a:r>
                <a:r>
                  <a:rPr lang="en-US" sz="2000" dirty="0"/>
                  <a:t> =	the number of elements in the population labeled success</a:t>
                </a:r>
              </a:p>
              <a:p>
                <a:pPr marL="457200">
                  <a:spcBef>
                    <a:spcPts val="600"/>
                  </a:spcBef>
                  <a:spcAft>
                    <a:spcPts val="600"/>
                  </a:spcAft>
                  <a:tabLst>
                    <a:tab pos="1201738" algn="r"/>
                    <a:tab pos="1317625" algn="l"/>
                  </a:tabLst>
                </a:pPr>
                <a:endParaRPr lang="en-US" sz="2000" dirty="0"/>
              </a:p>
              <a:p>
                <a:pPr marL="914400">
                  <a:spcBef>
                    <a:spcPts val="600"/>
                  </a:spcBef>
                  <a:spcAft>
                    <a:spcPts val="0"/>
                  </a:spcAft>
                </a:pPr>
                <a:endParaRPr lang="en-US" sz="2000" dirty="0">
                  <a:latin typeface="Arial" panose="020B0604020202020204" pitchFamily="34" charset="0"/>
                  <a:cs typeface="Arial" panose="020B0604020202020204" pitchFamily="34" charset="0"/>
                </a:endParaRPr>
              </a:p>
              <a:p>
                <a:pPr>
                  <a:spcBef>
                    <a:spcPts val="600"/>
                  </a:spcBef>
                  <a:spcAft>
                    <a:spcPts val="0"/>
                  </a:spcAft>
                </a:pPr>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43576" y="1254122"/>
                <a:ext cx="10787163" cy="4602064"/>
              </a:xfrm>
              <a:blipFill>
                <a:blip r:embed="rId3"/>
                <a:stretch>
                  <a:fillRect l="-1469" t="-1589" r="-1243" b="-1722"/>
                </a:stretch>
              </a:blipFill>
            </p:spPr>
            <p:txBody>
              <a:bodyPr/>
              <a:lstStyle/>
              <a:p>
                <a:r>
                  <a:rPr lang="en-US">
                    <a:noFill/>
                  </a:rPr>
                  <a:t> </a:t>
                </a:r>
              </a:p>
            </p:txBody>
          </p:sp>
        </mc:Fallback>
      </mc:AlternateContent>
    </p:spTree>
    <p:extLst>
      <p:ext uri="{BB962C8B-B14F-4D97-AF65-F5344CB8AC3E}">
        <p14:creationId xmlns:p14="http://schemas.microsoft.com/office/powerpoint/2010/main" val="14229356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5DAF5-AACD-2A0C-83AB-945B0AFEB26A}"/>
              </a:ext>
            </a:extLst>
          </p:cNvPr>
          <p:cNvSpPr>
            <a:spLocks noGrp="1"/>
          </p:cNvSpPr>
          <p:nvPr>
            <p:ph type="title"/>
          </p:nvPr>
        </p:nvSpPr>
        <p:spPr/>
        <p:txBody>
          <a:bodyPr/>
          <a:lstStyle/>
          <a:p>
            <a:r>
              <a:rPr lang="en-US" dirty="0"/>
              <a:t>5.7 Hypergeometric Probability Function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B693A80-9900-93D8-EF35-64EC9F76BC46}"/>
                  </a:ext>
                </a:extLst>
              </p:cNvPr>
              <p:cNvSpPr>
                <a:spLocks noGrp="1"/>
              </p:cNvSpPr>
              <p:nvPr>
                <p:ph type="body" sz="quarter" idx="15"/>
              </p:nvPr>
            </p:nvSpPr>
            <p:spPr>
              <a:xfrm>
                <a:off x="743576" y="1261241"/>
                <a:ext cx="10787163" cy="4556236"/>
              </a:xfrm>
            </p:spPr>
            <p:txBody>
              <a:bodyPr/>
              <a:lstStyle/>
              <a:p>
                <a:pPr>
                  <a:spcBef>
                    <a:spcPts val="600"/>
                  </a:spcBef>
                  <a:spcAft>
                    <a:spcPts val="600"/>
                  </a:spcAft>
                </a:pPr>
                <a:r>
                  <a:rPr lang="en-US" sz="2000" dirty="0"/>
                  <a:t>The hypergeometric probability function, introduced in the previous slide, is used to compute the probability that in a random selection of </a:t>
                </a:r>
                <a:r>
                  <a:rPr lang="en-US" sz="2000" i="1" dirty="0"/>
                  <a:t>n</a:t>
                </a:r>
                <a:r>
                  <a:rPr lang="en-US" sz="2000" dirty="0"/>
                  <a:t> elements, selected without replacement, we obtain </a:t>
                </a:r>
                <a:r>
                  <a:rPr lang="en-US" sz="2000" i="1" dirty="0"/>
                  <a:t>x</a:t>
                </a:r>
                <a:r>
                  <a:rPr lang="en-US" sz="2000" dirty="0"/>
                  <a:t> elements labeled </a:t>
                </a:r>
                <a:r>
                  <a:rPr lang="en-US" sz="2000" i="1" dirty="0"/>
                  <a:t>success</a:t>
                </a:r>
                <a:r>
                  <a:rPr lang="en-US" sz="2000" dirty="0"/>
                  <a:t> and </a:t>
                </a:r>
                <a:r>
                  <a:rPr lang="en-US" sz="2000" i="1" dirty="0"/>
                  <a:t>n − x</a:t>
                </a:r>
                <a:r>
                  <a:rPr lang="en-US" sz="2000" dirty="0"/>
                  <a:t> elements labeled </a:t>
                </a:r>
                <a:r>
                  <a:rPr lang="en-US" sz="2000" i="1" dirty="0"/>
                  <a:t>failure</a:t>
                </a:r>
                <a:r>
                  <a:rPr lang="en-US" sz="2000" dirty="0"/>
                  <a:t>.</a:t>
                </a:r>
              </a:p>
              <a:p>
                <a:pPr>
                  <a:spcBef>
                    <a:spcPts val="600"/>
                  </a:spcBef>
                  <a:spcAft>
                    <a:spcPts val="600"/>
                  </a:spcAft>
                </a:pPr>
                <a:r>
                  <a:rPr lang="en-US" sz="2000" dirty="0"/>
                  <a:t>For this outcome to occur, we must obtain </a:t>
                </a:r>
                <a:r>
                  <a:rPr lang="en-US" sz="2000" i="1" dirty="0"/>
                  <a:t>x</a:t>
                </a:r>
                <a:r>
                  <a:rPr lang="en-US" sz="2000" dirty="0"/>
                  <a:t> successes from the </a:t>
                </a:r>
                <a:r>
                  <a:rPr lang="en-US" sz="2000" i="1" dirty="0"/>
                  <a:t>r</a:t>
                </a:r>
                <a:r>
                  <a:rPr lang="en-US" sz="2000" dirty="0"/>
                  <a:t> successes in the population and </a:t>
                </a:r>
                <a:r>
                  <a:rPr lang="en-US" sz="2000" i="1" dirty="0"/>
                  <a:t>n − x</a:t>
                </a:r>
                <a:r>
                  <a:rPr lang="en-US" sz="2000" dirty="0"/>
                  <a:t> failures from the </a:t>
                </a:r>
                <a:r>
                  <a:rPr lang="en-US" sz="2000" i="1" dirty="0"/>
                  <a:t>N − r</a:t>
                </a:r>
                <a:r>
                  <a:rPr lang="en-US" sz="2000" dirty="0"/>
                  <a:t> failures. </a:t>
                </a:r>
              </a:p>
              <a:p>
                <a:pPr>
                  <a:spcBef>
                    <a:spcPts val="600"/>
                  </a:spcBef>
                  <a:spcAft>
                    <a:spcPts val="600"/>
                  </a:spcAft>
                </a:pPr>
                <a:r>
                  <a:rPr lang="en-US" sz="2000" dirty="0"/>
                  <a:t>The hypergeometric probability function, </a:t>
                </a:r>
                <a:r>
                  <a:rPr lang="en-US" sz="2000" i="1" dirty="0"/>
                  <a:t>f</a:t>
                </a:r>
                <a:r>
                  <a:rPr lang="en-US" sz="2000" dirty="0"/>
                  <a:t>(</a:t>
                </a:r>
                <a:r>
                  <a:rPr lang="en-US" sz="2000" i="1" dirty="0"/>
                  <a:t>x</a:t>
                </a:r>
                <a:r>
                  <a:rPr lang="en-US" sz="2000" dirty="0"/>
                  <a:t>), the probability of obtaining </a:t>
                </a:r>
                <a:r>
                  <a:rPr lang="en-US" sz="2000" i="1" dirty="0"/>
                  <a:t>x</a:t>
                </a:r>
                <a:r>
                  <a:rPr lang="en-US" sz="2000" dirty="0"/>
                  <a:t> successes in </a:t>
                </a:r>
                <a:r>
                  <a:rPr lang="en-US" sz="2000" i="1" dirty="0"/>
                  <a:t>n</a:t>
                </a:r>
                <a:r>
                  <a:rPr lang="en-US" sz="2000" dirty="0"/>
                  <a:t> trials, shown in the previous slide, is made of the following three components:</a:t>
                </a:r>
              </a:p>
              <a:p>
                <a:pPr>
                  <a:spcBef>
                    <a:spcPts val="600"/>
                  </a:spcBef>
                  <a:spcAft>
                    <a:spcPts val="600"/>
                  </a:spcAf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type m:val="noBar"/>
                              <m:ctrlPr>
                                <a:rPr lang="en-US" sz="2000" i="1" smtClean="0">
                                  <a:latin typeface="Cambria Math" panose="02040503050406030204" pitchFamily="18" charset="0"/>
                                </a:rPr>
                              </m:ctrlPr>
                            </m:fPr>
                            <m:num>
                              <m:r>
                                <a:rPr lang="en-US" sz="2000" b="0" i="1" smtClean="0">
                                  <a:latin typeface="Cambria Math" panose="02040503050406030204" pitchFamily="18" charset="0"/>
                                </a:rPr>
                                <m:t>𝑟</m:t>
                              </m:r>
                            </m:num>
                            <m:den>
                              <m:r>
                                <a:rPr lang="en-US" sz="2000" b="0" i="1" smtClean="0">
                                  <a:latin typeface="Cambria Math" panose="02040503050406030204" pitchFamily="18" charset="0"/>
                                </a:rPr>
                                <m:t>𝑥</m:t>
                              </m:r>
                            </m:den>
                          </m:f>
                        </m:e>
                      </m:d>
                      <m:r>
                        <a:rPr lang="en-US" sz="2000" i="1">
                          <a:latin typeface="Cambria Math" panose="02040503050406030204" pitchFamily="18" charset="0"/>
                        </a:rPr>
                        <m:t>=</m:t>
                      </m:r>
                      <m:r>
                        <m:rPr>
                          <m:nor/>
                        </m:rPr>
                        <a:rPr lang="en-US" sz="2000" i="0">
                          <a:latin typeface="Arial" panose="020B0604020202020204" pitchFamily="34" charset="0"/>
                          <a:cs typeface="Arial" panose="020B0604020202020204" pitchFamily="34" charset="0"/>
                        </a:rPr>
                        <m:t>the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number</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of</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ways</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that</m:t>
                      </m:r>
                      <m:r>
                        <m:rPr>
                          <m:nor/>
                        </m:rPr>
                        <a:rPr lang="en-US" sz="2000" i="0">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x</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successes</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can</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be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selected</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from</m:t>
                      </m:r>
                      <m:r>
                        <m:rPr>
                          <m:nor/>
                        </m:rPr>
                        <a:rPr lang="en-US" sz="2000" i="0">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r</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successes</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in</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the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population</m:t>
                      </m:r>
                    </m:oMath>
                  </m:oMathPara>
                </a14:m>
                <a:endParaRPr lang="en-US" sz="2000" dirty="0">
                  <a:latin typeface="Arial" panose="020B0604020202020204" pitchFamily="34" charset="0"/>
                  <a:cs typeface="Arial" panose="020B0604020202020204" pitchFamily="34" charset="0"/>
                </a:endParaRPr>
              </a:p>
              <a:p>
                <a:pPr algn="ctr">
                  <a:spcBef>
                    <a:spcPts val="600"/>
                  </a:spcBef>
                  <a:spcAft>
                    <a:spcPts val="600"/>
                  </a:spcAf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a:latin typeface="Cambria Math" panose="02040503050406030204" pitchFamily="18" charset="0"/>
                                </a:rPr>
                                <m:t>𝑁</m:t>
                              </m:r>
                              <m:r>
                                <a:rPr lang="en-US" sz="2000" b="0" i="1" smtClean="0">
                                  <a:latin typeface="Cambria Math" panose="02040503050406030204" pitchFamily="18" charset="0"/>
                                </a:rPr>
                                <m:t>−</m:t>
                              </m:r>
                              <m:r>
                                <a:rPr lang="en-US" sz="2000" b="0" i="1" smtClean="0">
                                  <a:latin typeface="Cambria Math" panose="02040503050406030204" pitchFamily="18" charset="0"/>
                                </a:rPr>
                                <m:t>𝑟</m:t>
                              </m:r>
                            </m:num>
                            <m:den>
                              <m:r>
                                <a:rPr lang="en-US" sz="2000" b="0" i="1">
                                  <a:latin typeface="Cambria Math" panose="02040503050406030204" pitchFamily="18" charset="0"/>
                                </a:rPr>
                                <m:t>𝑛</m:t>
                              </m:r>
                              <m:r>
                                <a:rPr lang="en-US" sz="2000" b="0" i="1" smtClean="0">
                                  <a:latin typeface="Cambria Math" panose="02040503050406030204" pitchFamily="18" charset="0"/>
                                </a:rPr>
                                <m:t>−</m:t>
                              </m:r>
                              <m:r>
                                <a:rPr lang="en-US" sz="2000" b="0" i="1" smtClean="0">
                                  <a:latin typeface="Cambria Math" panose="02040503050406030204" pitchFamily="18" charset="0"/>
                                </a:rPr>
                                <m:t>𝑥</m:t>
                              </m:r>
                            </m:den>
                          </m:f>
                        </m:e>
                      </m:d>
                      <m:r>
                        <a:rPr lang="en-US" sz="2000" i="1">
                          <a:latin typeface="Cambria Math" panose="02040503050406030204" pitchFamily="18" charset="0"/>
                        </a:rPr>
                        <m:t>=</m:t>
                      </m:r>
                      <m:r>
                        <m:rPr>
                          <m:nor/>
                        </m:rPr>
                        <a:rPr lang="en-US" sz="2000" i="0">
                          <a:latin typeface="Arial" panose="020B0604020202020204" pitchFamily="34" charset="0"/>
                          <a:cs typeface="Arial" panose="020B0604020202020204" pitchFamily="34" charset="0"/>
                        </a:rPr>
                        <m:t>the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number</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of</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ways</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that</m:t>
                      </m:r>
                      <m:r>
                        <m:rPr>
                          <m:nor/>
                        </m:rPr>
                        <a:rPr lang="en-US" sz="2000" i="0">
                          <a:latin typeface="Arial" panose="020B0604020202020204" pitchFamily="34" charset="0"/>
                          <a:cs typeface="Arial" panose="020B0604020202020204" pitchFamily="34" charset="0"/>
                        </a:rPr>
                        <m:t> </m:t>
                      </m:r>
                      <m:r>
                        <a:rPr lang="en-US" sz="2000" i="1">
                          <a:latin typeface="Cambria Math" panose="02040503050406030204" pitchFamily="18" charset="0"/>
                        </a:rPr>
                        <m:t>𝑛</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 </m:t>
                      </m:r>
                      <m:r>
                        <m:rPr>
                          <m:nor/>
                        </m:rPr>
                        <a:rPr lang="en-US" sz="2000" i="0">
                          <a:latin typeface="Arial" panose="020B0604020202020204" pitchFamily="34" charset="0"/>
                          <a:cs typeface="Arial" panose="020B0604020202020204" pitchFamily="34" charset="0"/>
                        </a:rPr>
                        <m:t>failures</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can</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be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selected</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from</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a</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total</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of</m:t>
                      </m:r>
                      <m:r>
                        <m:rPr>
                          <m:nor/>
                        </m:rPr>
                        <a:rPr lang="en-US" sz="2000" i="0">
                          <a:latin typeface="Arial" panose="020B0604020202020204" pitchFamily="34" charset="0"/>
                          <a:cs typeface="Arial" panose="020B0604020202020204" pitchFamily="34" charset="0"/>
                        </a:rPr>
                        <m:t> </m:t>
                      </m:r>
                      <m:r>
                        <a:rPr lang="en-US" sz="2000" i="1">
                          <a:latin typeface="Cambria Math" panose="02040503050406030204" pitchFamily="18" charset="0"/>
                        </a:rPr>
                        <m:t>𝑁</m:t>
                      </m:r>
                      <m:r>
                        <a:rPr lang="en-US" sz="2000" i="1">
                          <a:latin typeface="Cambria Math" panose="02040503050406030204" pitchFamily="18" charset="0"/>
                        </a:rPr>
                        <m:t>−</m:t>
                      </m:r>
                      <m:r>
                        <a:rPr lang="en-US" sz="2000" i="1">
                          <a:latin typeface="Cambria Math" panose="02040503050406030204" pitchFamily="18" charset="0"/>
                        </a:rPr>
                        <m:t>𝑟</m:t>
                      </m:r>
                      <m:r>
                        <a:rPr lang="en-US" sz="2000" b="0" i="1" smtClean="0">
                          <a:latin typeface="Cambria Math" panose="02040503050406030204" pitchFamily="18" charset="0"/>
                        </a:rPr>
                        <m:t> </m:t>
                      </m:r>
                      <m:r>
                        <m:rPr>
                          <m:nor/>
                        </m:rPr>
                        <a:rPr lang="en-US" sz="2000" i="0">
                          <a:latin typeface="Arial" panose="020B0604020202020204" pitchFamily="34" charset="0"/>
                          <a:cs typeface="Arial" panose="020B0604020202020204" pitchFamily="34" charset="0"/>
                        </a:rPr>
                        <m:t>failures</m:t>
                      </m:r>
                    </m:oMath>
                  </m:oMathPara>
                </a14:m>
                <a:endParaRPr lang="en-US" sz="2000" dirty="0">
                  <a:latin typeface="Arial" panose="020B0604020202020204" pitchFamily="34" charset="0"/>
                  <a:cs typeface="Arial" panose="020B0604020202020204" pitchFamily="34" charset="0"/>
                </a:endParaRPr>
              </a:p>
              <a:p>
                <a:pPr algn="ctr">
                  <a:spcBef>
                    <a:spcPts val="600"/>
                  </a:spcBef>
                  <a:spcAft>
                    <a:spcPts val="600"/>
                  </a:spcAft>
                </a:pPr>
                <a14:m>
                  <m:oMathPara xmlns:m="http://schemas.openxmlformats.org/officeDocument/2006/math">
                    <m:oMathParaPr>
                      <m:jc m:val="left"/>
                    </m:oMathParaPr>
                    <m:oMath xmlns:m="http://schemas.openxmlformats.org/officeDocument/2006/math">
                      <m:d>
                        <m:dPr>
                          <m:ctrlPr>
                            <a:rPr lang="en-US" sz="2000" i="1" smtClean="0">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𝑁</m:t>
                              </m:r>
                            </m:num>
                            <m:den>
                              <m:r>
                                <a:rPr lang="en-US" sz="2000" b="0" i="1" smtClean="0">
                                  <a:latin typeface="Cambria Math" panose="02040503050406030204" pitchFamily="18" charset="0"/>
                                </a:rPr>
                                <m:t>𝑛</m:t>
                              </m:r>
                            </m:den>
                          </m:f>
                        </m:e>
                      </m:d>
                      <m:r>
                        <a:rPr lang="en-US" sz="2000" i="1">
                          <a:latin typeface="Cambria Math" panose="02040503050406030204" pitchFamily="18" charset="0"/>
                        </a:rPr>
                        <m:t>=</m:t>
                      </m:r>
                      <m:r>
                        <m:rPr>
                          <m:nor/>
                        </m:rPr>
                        <a:rPr lang="en-US" sz="2000" i="0">
                          <a:latin typeface="Arial" panose="020B0604020202020204" pitchFamily="34" charset="0"/>
                          <a:cs typeface="Arial" panose="020B0604020202020204" pitchFamily="34" charset="0"/>
                        </a:rPr>
                        <m:t>the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number</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of</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ways</m:t>
                      </m:r>
                      <m:r>
                        <m:rPr>
                          <m:nor/>
                        </m:rPr>
                        <a:rPr lang="en-US" sz="2000" i="0">
                          <a:latin typeface="Arial" panose="020B0604020202020204" pitchFamily="34" charset="0"/>
                          <a:cs typeface="Arial" panose="020B0604020202020204" pitchFamily="34" charset="0"/>
                        </a:rPr>
                        <m:t> </m:t>
                      </m:r>
                      <m:r>
                        <m:rPr>
                          <m:nor/>
                        </m:rPr>
                        <a:rPr lang="en-US" sz="2000" i="1">
                          <a:latin typeface="Arial" panose="020B0604020202020204" pitchFamily="34" charset="0"/>
                          <a:cs typeface="Arial" panose="020B0604020202020204" pitchFamily="34" charset="0"/>
                        </a:rPr>
                        <m:t>n</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elements</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can</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be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selected</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from</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a</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population</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of</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size</m:t>
                      </m:r>
                      <m:r>
                        <m:rPr>
                          <m:nor/>
                        </m:rPr>
                        <a:rPr lang="en-US" sz="2000" i="0">
                          <a:latin typeface="Arial" panose="020B0604020202020204" pitchFamily="34" charset="0"/>
                          <a:cs typeface="Arial" panose="020B0604020202020204" pitchFamily="34" charset="0"/>
                        </a:rPr>
                        <m:t> </m:t>
                      </m:r>
                      <m:r>
                        <m:rPr>
                          <m:nor/>
                        </m:rPr>
                        <a:rPr lang="en-US" sz="2000" i="0">
                          <a:latin typeface="Arial" panose="020B0604020202020204" pitchFamily="34" charset="0"/>
                          <a:cs typeface="Arial" panose="020B0604020202020204" pitchFamily="34" charset="0"/>
                        </a:rPr>
                        <m:t>N</m:t>
                      </m:r>
                    </m:oMath>
                  </m:oMathPara>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4B693A80-9900-93D8-EF35-64EC9F76BC46}"/>
                  </a:ext>
                </a:extLst>
              </p:cNvPr>
              <p:cNvSpPr>
                <a:spLocks noGrp="1" noRot="1" noChangeAspect="1" noMove="1" noResize="1" noEditPoints="1" noAdjustHandles="1" noChangeArrowheads="1" noChangeShapeType="1" noTextEdit="1"/>
              </p:cNvSpPr>
              <p:nvPr>
                <p:ph type="body" sz="quarter" idx="15"/>
              </p:nvPr>
            </p:nvSpPr>
            <p:spPr>
              <a:xfrm>
                <a:off x="743576" y="1261241"/>
                <a:ext cx="10787163" cy="4556236"/>
              </a:xfrm>
              <a:blipFill>
                <a:blip r:embed="rId3"/>
                <a:stretch>
                  <a:fillRect l="-1469" t="-1606" r="-1921" b="-402"/>
                </a:stretch>
              </a:blipFill>
            </p:spPr>
            <p:txBody>
              <a:bodyPr/>
              <a:lstStyle/>
              <a:p>
                <a:r>
                  <a:rPr lang="en-US">
                    <a:noFill/>
                  </a:rPr>
                  <a:t> </a:t>
                </a:r>
              </a:p>
            </p:txBody>
          </p:sp>
        </mc:Fallback>
      </mc:AlternateContent>
    </p:spTree>
    <p:extLst>
      <p:ext uri="{BB962C8B-B14F-4D97-AF65-F5344CB8AC3E}">
        <p14:creationId xmlns:p14="http://schemas.microsoft.com/office/powerpoint/2010/main" val="785223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77E1A-3870-6EBD-43DF-586FE68A3593}"/>
              </a:ext>
            </a:extLst>
          </p:cNvPr>
          <p:cNvSpPr>
            <a:spLocks noGrp="1"/>
          </p:cNvSpPr>
          <p:nvPr>
            <p:ph type="title"/>
          </p:nvPr>
        </p:nvSpPr>
        <p:spPr/>
        <p:txBody>
          <a:bodyPr/>
          <a:lstStyle/>
          <a:p>
            <a:r>
              <a:rPr lang="en-US" sz="3200" dirty="0"/>
              <a:t>5.7 An Application of the Hypergeometric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AD37B10-6079-A138-F11B-6805FF28C71A}"/>
                  </a:ext>
                </a:extLst>
              </p:cNvPr>
              <p:cNvSpPr>
                <a:spLocks noGrp="1"/>
              </p:cNvSpPr>
              <p:nvPr>
                <p:ph type="body" sz="quarter" idx="15"/>
              </p:nvPr>
            </p:nvSpPr>
            <p:spPr>
              <a:xfrm>
                <a:off x="743576" y="1215341"/>
                <a:ext cx="10711543" cy="4731975"/>
              </a:xfrm>
            </p:spPr>
            <p:txBody>
              <a:bodyPr/>
              <a:lstStyle/>
              <a:p>
                <a:pPr>
                  <a:spcBef>
                    <a:spcPts val="600"/>
                  </a:spcBef>
                  <a:spcAft>
                    <a:spcPts val="600"/>
                  </a:spcAft>
                </a:pPr>
                <a:r>
                  <a:rPr lang="en-US" sz="2000" dirty="0"/>
                  <a:t>If a box of </a:t>
                </a:r>
                <a14:m>
                  <m:oMath xmlns:m="http://schemas.openxmlformats.org/officeDocument/2006/math">
                    <m:r>
                      <a:rPr lang="en-US" sz="2000" i="1" dirty="0">
                        <a:latin typeface="Cambria Math" panose="02040503050406030204" pitchFamily="18" charset="0"/>
                      </a:rPr>
                      <m:t>𝑁</m:t>
                    </m:r>
                    <m:r>
                      <a:rPr lang="en-US" sz="2000" i="1" dirty="0">
                        <a:latin typeface="Cambria Math" panose="02040503050406030204" pitchFamily="18" charset="0"/>
                      </a:rPr>
                      <m:t>=12</m:t>
                    </m:r>
                  </m:oMath>
                </a14:m>
                <a:r>
                  <a:rPr lang="en-US" sz="2000" dirty="0"/>
                  <a:t> electric fuses contains exactly </a:t>
                </a:r>
                <a14:m>
                  <m:oMath xmlns:m="http://schemas.openxmlformats.org/officeDocument/2006/math">
                    <m:r>
                      <a:rPr lang="en-US" sz="2000" i="1" dirty="0" smtClean="0">
                        <a:latin typeface="Cambria Math" panose="02040503050406030204" pitchFamily="18" charset="0"/>
                      </a:rPr>
                      <m:t>𝑟</m:t>
                    </m:r>
                    <m:r>
                      <a:rPr lang="en-US" sz="2000" i="1" dirty="0" smtClean="0">
                        <a:latin typeface="Cambria Math" panose="02040503050406030204" pitchFamily="18" charset="0"/>
                      </a:rPr>
                      <m:t>=5</m:t>
                    </m:r>
                  </m:oMath>
                </a14:m>
                <a:r>
                  <a:rPr lang="en-US" sz="2000" dirty="0"/>
                  <a:t> defective fuses, what is the probability that a quality inspector will find exactly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=1</m:t>
                    </m:r>
                  </m:oMath>
                </a14:m>
                <a:r>
                  <a:rPr lang="en-US" sz="2000" dirty="0"/>
                  <a:t> defective fuse out of </a:t>
                </a:r>
                <a14:m>
                  <m:oMath xmlns:m="http://schemas.openxmlformats.org/officeDocument/2006/math">
                    <m:r>
                      <a:rPr lang="en-US" sz="2000" i="1" dirty="0">
                        <a:latin typeface="Cambria Math" panose="02040503050406030204" pitchFamily="18" charset="0"/>
                      </a:rPr>
                      <m:t>𝑛</m:t>
                    </m:r>
                    <m:r>
                      <a:rPr lang="en-US" sz="2000" i="1" dirty="0">
                        <a:latin typeface="Cambria Math" panose="02040503050406030204" pitchFamily="18" charset="0"/>
                      </a:rPr>
                      <m:t>=3</m:t>
                    </m:r>
                  </m:oMath>
                </a14:m>
                <a:r>
                  <a:rPr lang="en-US" sz="2000" dirty="0"/>
                  <a:t> selected? </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a:latin typeface="Cambria Math" panose="02040503050406030204" pitchFamily="18" charset="0"/>
                                    </a:rPr>
                                    <m:t>𝑟</m:t>
                                  </m:r>
                                </m:num>
                                <m:den>
                                  <m:r>
                                    <a:rPr lang="en-US" sz="2000" b="0" i="1">
                                      <a:latin typeface="Cambria Math" panose="02040503050406030204" pitchFamily="18" charset="0"/>
                                    </a:rPr>
                                    <m:t>𝑥</m:t>
                                  </m:r>
                                </m:den>
                              </m:f>
                            </m:e>
                          </m:d>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a:latin typeface="Cambria Math" panose="02040503050406030204" pitchFamily="18" charset="0"/>
                                    </a:rPr>
                                    <m:t>𝑁</m:t>
                                  </m:r>
                                  <m:r>
                                    <a:rPr lang="en-US" sz="2000" b="0" i="1">
                                      <a:latin typeface="Cambria Math" panose="02040503050406030204" pitchFamily="18" charset="0"/>
                                    </a:rPr>
                                    <m:t>−</m:t>
                                  </m:r>
                                  <m:r>
                                    <a:rPr lang="en-US" sz="2000" b="0" i="1">
                                      <a:latin typeface="Cambria Math" panose="02040503050406030204" pitchFamily="18" charset="0"/>
                                    </a:rPr>
                                    <m:t>𝑟</m:t>
                                  </m:r>
                                </m:num>
                                <m:den>
                                  <m:r>
                                    <a:rPr lang="en-US" sz="2000" b="0" i="1">
                                      <a:latin typeface="Cambria Math" panose="02040503050406030204" pitchFamily="18" charset="0"/>
                                    </a:rPr>
                                    <m:t>𝑛</m:t>
                                  </m:r>
                                  <m:r>
                                    <a:rPr lang="en-US" sz="2000" b="0" i="1">
                                      <a:latin typeface="Cambria Math" panose="02040503050406030204" pitchFamily="18" charset="0"/>
                                    </a:rPr>
                                    <m:t>−</m:t>
                                  </m:r>
                                  <m:r>
                                    <a:rPr lang="en-US" sz="2000" b="0" i="1">
                                      <a:latin typeface="Cambria Math" panose="02040503050406030204" pitchFamily="18" charset="0"/>
                                    </a:rPr>
                                    <m:t>𝑥</m:t>
                                  </m:r>
                                </m:den>
                              </m:f>
                            </m:e>
                          </m:d>
                        </m:num>
                        <m:den>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a:latin typeface="Cambria Math" panose="02040503050406030204" pitchFamily="18" charset="0"/>
                                    </a:rPr>
                                    <m:t>𝑁</m:t>
                                  </m:r>
                                </m:num>
                                <m:den>
                                  <m:r>
                                    <a:rPr lang="en-US" sz="2000" b="0" i="1">
                                      <a:latin typeface="Cambria Math" panose="02040503050406030204" pitchFamily="18" charset="0"/>
                                    </a:rPr>
                                    <m:t>𝑛</m:t>
                                  </m:r>
                                </m:den>
                              </m:f>
                            </m:e>
                          </m:d>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1</m:t>
                                  </m:r>
                                </m:den>
                              </m:f>
                            </m:e>
                          </m:d>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12</m:t>
                                  </m:r>
                                  <m:r>
                                    <a:rPr lang="en-US" sz="2000" i="1">
                                      <a:latin typeface="Cambria Math" panose="02040503050406030204" pitchFamily="18" charset="0"/>
                                    </a:rPr>
                                    <m:t>−</m:t>
                                  </m:r>
                                  <m:r>
                                    <a:rPr lang="en-US" sz="2000" b="0" i="1" smtClean="0">
                                      <a:latin typeface="Cambria Math" panose="02040503050406030204" pitchFamily="18" charset="0"/>
                                    </a:rPr>
                                    <m:t>5</m:t>
                                  </m:r>
                                </m:num>
                                <m:den>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1</m:t>
                                  </m:r>
                                </m:den>
                              </m:f>
                            </m:e>
                          </m:d>
                        </m:num>
                        <m:den>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12</m:t>
                                  </m:r>
                                </m:num>
                                <m:den>
                                  <m:r>
                                    <a:rPr lang="en-US" sz="2000" b="0" i="1" smtClean="0">
                                      <a:latin typeface="Cambria Math" panose="02040503050406030204" pitchFamily="18" charset="0"/>
                                    </a:rPr>
                                    <m:t>3</m:t>
                                  </m:r>
                                </m:den>
                              </m:f>
                            </m:e>
                          </m: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i="1">
                                      <a:latin typeface="Cambria Math" panose="02040503050406030204" pitchFamily="18" charset="0"/>
                                    </a:rPr>
                                    <m:t>1</m:t>
                                  </m:r>
                                </m:den>
                              </m:f>
                            </m:e>
                          </m:d>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7</m:t>
                                  </m:r>
                                </m:num>
                                <m:den>
                                  <m:r>
                                    <a:rPr lang="en-US" sz="2000" b="0" i="1" smtClean="0">
                                      <a:latin typeface="Cambria Math" panose="02040503050406030204" pitchFamily="18" charset="0"/>
                                    </a:rPr>
                                    <m:t>2</m:t>
                                  </m:r>
                                </m:den>
                              </m:f>
                            </m:e>
                          </m:d>
                        </m:num>
                        <m:den>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i="1">
                                      <a:latin typeface="Cambria Math" panose="02040503050406030204" pitchFamily="18" charset="0"/>
                                    </a:rPr>
                                    <m:t>12</m:t>
                                  </m:r>
                                </m:num>
                                <m:den>
                                  <m:r>
                                    <a:rPr lang="en-US" sz="2000" i="1">
                                      <a:latin typeface="Cambria Math" panose="02040503050406030204" pitchFamily="18" charset="0"/>
                                    </a:rPr>
                                    <m:t>3</m:t>
                                  </m:r>
                                </m:den>
                              </m:f>
                            </m:e>
                          </m:d>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solidFill>
                                        <a:srgbClr val="FF0000"/>
                                      </a:solidFill>
                                      <a:latin typeface="Cambria Math" panose="02040503050406030204" pitchFamily="18" charset="0"/>
                                    </a:rPr>
                                    <m:t>1!</m:t>
                                  </m:r>
                                  <m:r>
                                    <a:rPr lang="en-US" sz="2000" b="0" i="1" smtClean="0">
                                      <a:latin typeface="Cambria Math" panose="02040503050406030204" pitchFamily="18" charset="0"/>
                                    </a:rPr>
                                    <m:t>4!</m:t>
                                  </m:r>
                                </m:den>
                              </m:f>
                            </m:e>
                          </m:d>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smtClean="0">
                                      <a:latin typeface="Cambria Math" panose="02040503050406030204" pitchFamily="18" charset="0"/>
                                    </a:rPr>
                                    <m:t>7</m:t>
                                  </m:r>
                                  <m:r>
                                    <a:rPr lang="en-US" sz="2000" i="1">
                                      <a:latin typeface="Cambria Math" panose="02040503050406030204" pitchFamily="18" charset="0"/>
                                    </a:rPr>
                                    <m:t>!</m:t>
                                  </m:r>
                                </m:num>
                                <m:den>
                                  <m:r>
                                    <a:rPr lang="en-US" sz="2000" b="0" i="1" smtClean="0">
                                      <a:latin typeface="Cambria Math" panose="02040503050406030204" pitchFamily="18" charset="0"/>
                                    </a:rPr>
                                    <m:t>2</m:t>
                                  </m:r>
                                  <m:r>
                                    <a:rPr lang="en-US" sz="2000" i="1">
                                      <a:latin typeface="Cambria Math" panose="02040503050406030204" pitchFamily="18" charset="0"/>
                                    </a:rPr>
                                    <m:t>!</m:t>
                                  </m:r>
                                  <m:r>
                                    <a:rPr lang="en-US" sz="2000" b="0" i="1" smtClean="0">
                                      <a:latin typeface="Cambria Math" panose="02040503050406030204" pitchFamily="18" charset="0"/>
                                    </a:rPr>
                                    <m:t>5!</m:t>
                                  </m:r>
                                </m:den>
                              </m:f>
                            </m:e>
                          </m:d>
                        </m:num>
                        <m:den>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b="0" i="1" smtClean="0">
                                      <a:latin typeface="Cambria Math" panose="02040503050406030204" pitchFamily="18" charset="0"/>
                                    </a:rPr>
                                    <m:t>12</m:t>
                                  </m:r>
                                  <m:r>
                                    <a:rPr lang="en-US" sz="2000" i="1">
                                      <a:latin typeface="Cambria Math" panose="02040503050406030204" pitchFamily="18" charset="0"/>
                                    </a:rPr>
                                    <m:t>!</m:t>
                                  </m:r>
                                </m:num>
                                <m:den>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9!</m:t>
                                  </m:r>
                                </m:den>
                              </m:f>
                            </m:e>
                          </m:d>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r>
                                <a:rPr lang="en-US" sz="2000" i="1">
                                  <a:latin typeface="Cambria Math" panose="02040503050406030204" pitchFamily="18" charset="0"/>
                                </a:rPr>
                                <m:t>5</m:t>
                              </m:r>
                            </m:e>
                          </m:d>
                          <m:d>
                            <m:dPr>
                              <m:ctrlPr>
                                <a:rPr lang="en-US" sz="2000" i="1">
                                  <a:latin typeface="Cambria Math" panose="02040503050406030204" pitchFamily="18" charset="0"/>
                                </a:rPr>
                              </m:ctrlPr>
                            </m:dPr>
                            <m:e>
                              <m:r>
                                <a:rPr lang="en-US" sz="2000" i="1">
                                  <a:latin typeface="Cambria Math" panose="02040503050406030204" pitchFamily="18" charset="0"/>
                                </a:rPr>
                                <m:t>21</m:t>
                              </m:r>
                            </m:e>
                          </m:d>
                        </m:num>
                        <m:den>
                          <m:d>
                            <m:dPr>
                              <m:ctrlPr>
                                <a:rPr lang="en-US" sz="2000" i="1">
                                  <a:latin typeface="Cambria Math" panose="02040503050406030204" pitchFamily="18" charset="0"/>
                                </a:rPr>
                              </m:ctrlPr>
                            </m:dPr>
                            <m:e>
                              <m:r>
                                <a:rPr lang="en-US" sz="2000" i="1">
                                  <a:latin typeface="Cambria Math" panose="02040503050406030204" pitchFamily="18" charset="0"/>
                                </a:rPr>
                                <m:t>220</m:t>
                              </m:r>
                            </m:e>
                          </m:d>
                        </m:den>
                      </m:f>
                      <m:r>
                        <a:rPr lang="en-US" sz="2000" i="1">
                          <a:latin typeface="Cambria Math" panose="02040503050406030204" pitchFamily="18" charset="0"/>
                        </a:rPr>
                        <m:t>=0.4773</m:t>
                      </m:r>
                    </m:oMath>
                  </m:oMathPara>
                </a14:m>
                <a:endParaRPr lang="en-US" sz="2000" dirty="0"/>
              </a:p>
              <a:p>
                <a:pPr>
                  <a:spcBef>
                    <a:spcPts val="600"/>
                  </a:spcBef>
                  <a:spcAft>
                    <a:spcPts val="600"/>
                  </a:spcAft>
                </a:pPr>
                <a:r>
                  <a:rPr lang="en-US" sz="2000" dirty="0"/>
                  <a:t>If we want instead the probability of finding at least one defective fuse (</a:t>
                </a:r>
                <a14:m>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ea typeface="Cambria Math" panose="02040503050406030204" pitchFamily="18" charset="0"/>
                      </a:rPr>
                      <m:t>≥1</m:t>
                    </m:r>
                  </m:oMath>
                </a14:m>
                <a:r>
                  <a:rPr lang="en-US" sz="2000" dirty="0"/>
                  <a:t>), it is easier to find the probability that there are no defective fuses (</a:t>
                </a:r>
                <a14:m>
                  <m:oMath xmlns:m="http://schemas.openxmlformats.org/officeDocument/2006/math">
                    <m:r>
                      <a:rPr lang="en-US" sz="2000" i="1" dirty="0" smtClean="0">
                        <a:latin typeface="Cambria Math" panose="02040503050406030204" pitchFamily="18" charset="0"/>
                      </a:rPr>
                      <m:t>𝑥</m:t>
                    </m:r>
                    <m:r>
                      <a:rPr lang="en-US" sz="2000" i="1" dirty="0" smtClean="0">
                        <a:latin typeface="Cambria Math" panose="02040503050406030204" pitchFamily="18" charset="0"/>
                      </a:rPr>
                      <m:t>=0</m:t>
                    </m:r>
                  </m:oMath>
                </a14:m>
                <a:r>
                  <a:rPr lang="en-US" sz="2000" dirty="0"/>
                  <a:t>), and then take the complement.</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5</m:t>
                                  </m:r>
                                </m:num>
                                <m:den>
                                  <m:r>
                                    <a:rPr lang="en-US" sz="2000" b="0" i="1" smtClean="0">
                                      <a:latin typeface="Cambria Math" panose="02040503050406030204" pitchFamily="18" charset="0"/>
                                    </a:rPr>
                                    <m:t>0</m:t>
                                  </m:r>
                                </m:den>
                              </m:f>
                            </m:e>
                          </m:d>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7</m:t>
                                  </m:r>
                                </m:num>
                                <m:den>
                                  <m:r>
                                    <a:rPr lang="en-US" sz="2000" b="0" i="1" smtClean="0">
                                      <a:latin typeface="Cambria Math" panose="02040503050406030204" pitchFamily="18" charset="0"/>
                                    </a:rPr>
                                    <m:t>3</m:t>
                                  </m:r>
                                </m:den>
                              </m:f>
                            </m:e>
                          </m:d>
                        </m:num>
                        <m:den>
                          <m:d>
                            <m:dPr>
                              <m:ctrlPr>
                                <a:rPr lang="en-US" sz="2000" i="1">
                                  <a:latin typeface="Cambria Math" panose="02040503050406030204" pitchFamily="18" charset="0"/>
                                </a:rPr>
                              </m:ctrlPr>
                            </m:dPr>
                            <m:e>
                              <m:f>
                                <m:fPr>
                                  <m:type m:val="noBar"/>
                                  <m:ctrlPr>
                                    <a:rPr lang="en-US" sz="2000" i="1">
                                      <a:latin typeface="Cambria Math" panose="02040503050406030204" pitchFamily="18" charset="0"/>
                                    </a:rPr>
                                  </m:ctrlPr>
                                </m:fPr>
                                <m:num>
                                  <m:r>
                                    <a:rPr lang="en-US" sz="2000" b="0" i="1" smtClean="0">
                                      <a:latin typeface="Cambria Math" panose="02040503050406030204" pitchFamily="18" charset="0"/>
                                    </a:rPr>
                                    <m:t>12</m:t>
                                  </m:r>
                                </m:num>
                                <m:den>
                                  <m:r>
                                    <a:rPr lang="en-US" sz="2000" b="0" i="1" smtClean="0">
                                      <a:latin typeface="Cambria Math" panose="02040503050406030204" pitchFamily="18" charset="0"/>
                                    </a:rPr>
                                    <m:t>3</m:t>
                                  </m:r>
                                </m:den>
                              </m:f>
                            </m:e>
                          </m:d>
                        </m:den>
                      </m:f>
                      <m:r>
                        <a:rPr lang="en-US" sz="2000" b="0" i="1" smtClean="0">
                          <a:latin typeface="Cambria Math" panose="02040503050406030204" pitchFamily="18"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5!</m:t>
                                  </m:r>
                                </m:num>
                                <m:den>
                                  <m:r>
                                    <a:rPr lang="en-US" sz="2000" b="0" i="1" smtClean="0">
                                      <a:latin typeface="Cambria Math" panose="02040503050406030204" pitchFamily="18" charset="0"/>
                                    </a:rPr>
                                    <m:t>0</m:t>
                                  </m:r>
                                  <m:r>
                                    <a:rPr lang="en-US" sz="2000" i="1">
                                      <a:latin typeface="Cambria Math" panose="02040503050406030204" pitchFamily="18" charset="0"/>
                                    </a:rPr>
                                    <m:t>!</m:t>
                                  </m:r>
                                  <m:r>
                                    <a:rPr lang="en-US" sz="2000" b="0" i="1" smtClean="0">
                                      <a:latin typeface="Cambria Math" panose="02040503050406030204" pitchFamily="18" charset="0"/>
                                    </a:rPr>
                                    <m:t>5!</m:t>
                                  </m:r>
                                </m:den>
                              </m:f>
                            </m:e>
                          </m:d>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7!</m:t>
                                  </m:r>
                                </m:num>
                                <m:den>
                                  <m:r>
                                    <a:rPr lang="en-US" sz="2000" b="0" i="1" smtClean="0">
                                      <a:latin typeface="Cambria Math" panose="02040503050406030204" pitchFamily="18" charset="0"/>
                                    </a:rPr>
                                    <m:t>3</m:t>
                                  </m:r>
                                  <m:r>
                                    <a:rPr lang="en-US" sz="2000" i="1">
                                      <a:latin typeface="Cambria Math" panose="02040503050406030204" pitchFamily="18" charset="0"/>
                                    </a:rPr>
                                    <m:t>!</m:t>
                                  </m:r>
                                  <m:r>
                                    <a:rPr lang="en-US" sz="2000" b="0" i="1" smtClean="0">
                                      <a:latin typeface="Cambria Math" panose="02040503050406030204" pitchFamily="18" charset="0"/>
                                    </a:rPr>
                                    <m:t>4</m:t>
                                  </m:r>
                                  <m:r>
                                    <a:rPr lang="en-US" sz="2000" i="1">
                                      <a:latin typeface="Cambria Math" panose="02040503050406030204" pitchFamily="18" charset="0"/>
                                    </a:rPr>
                                    <m:t>!</m:t>
                                  </m:r>
                                </m:den>
                              </m:f>
                            </m:e>
                          </m:d>
                        </m:num>
                        <m:den>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12!</m:t>
                                  </m:r>
                                </m:num>
                                <m:den>
                                  <m:r>
                                    <a:rPr lang="en-US" sz="2000" i="1">
                                      <a:latin typeface="Cambria Math" panose="02040503050406030204" pitchFamily="18" charset="0"/>
                                    </a:rPr>
                                    <m:t>3!9!</m:t>
                                  </m:r>
                                </m:den>
                              </m:f>
                            </m:e>
                          </m:d>
                        </m:den>
                      </m:f>
                      <m:r>
                        <a:rPr lang="en-US" sz="2000" i="1">
                          <a:latin typeface="Cambria Math" panose="02040503050406030204" pitchFamily="18" charset="0"/>
                        </a:rPr>
                        <m:t>=0.</m:t>
                      </m:r>
                      <m:r>
                        <a:rPr lang="en-US" sz="2000" b="0" i="1" smtClean="0">
                          <a:latin typeface="Cambria Math" panose="02040503050406030204" pitchFamily="18" charset="0"/>
                        </a:rPr>
                        <m:t>1591</m:t>
                      </m:r>
                    </m:oMath>
                  </m:oMathPara>
                </a14:m>
                <a:endParaRPr lang="en-US" sz="2000" dirty="0"/>
              </a:p>
              <a:p>
                <a:pPr>
                  <a:spcBef>
                    <a:spcPts val="600"/>
                  </a:spcBef>
                  <a:spcAft>
                    <a:spcPts val="600"/>
                  </a:spcAft>
                </a:pPr>
                <a:r>
                  <a:rPr lang="en-US" sz="2000" dirty="0"/>
                  <a:t>Thus, the probability of finding at least one defective fuse is</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rPr>
                        <m:t>=1−</m:t>
                      </m:r>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m:t>
                          </m:r>
                        </m:e>
                      </m:d>
                      <m:r>
                        <a:rPr lang="en-US" sz="2000" b="0" i="1" smtClean="0">
                          <a:latin typeface="Cambria Math" panose="02040503050406030204" pitchFamily="18" charset="0"/>
                        </a:rPr>
                        <m:t>=</m:t>
                      </m:r>
                      <m:r>
                        <a:rPr lang="en-US" sz="2000">
                          <a:latin typeface="Cambria Math" panose="02040503050406030204" pitchFamily="18" charset="0"/>
                        </a:rPr>
                        <m:t>1−</m:t>
                      </m:r>
                      <m:r>
                        <a:rPr lang="en-US" sz="2000" i="1">
                          <a:latin typeface="Cambria Math" panose="02040503050406030204" pitchFamily="18" charset="0"/>
                        </a:rPr>
                        <m:t>0.1591=0.8409</m:t>
                      </m:r>
                    </m:oMath>
                  </m:oMathPara>
                </a14:m>
                <a:endParaRPr lang="en-US" sz="2000" dirty="0"/>
              </a:p>
            </p:txBody>
          </p:sp>
        </mc:Choice>
        <mc:Fallback xmlns="">
          <p:sp>
            <p:nvSpPr>
              <p:cNvPr id="3" name="Text Placeholder 2">
                <a:extLst>
                  <a:ext uri="{FF2B5EF4-FFF2-40B4-BE49-F238E27FC236}">
                    <a16:creationId xmlns:a16="http://schemas.microsoft.com/office/drawing/2014/main" id="{AAD37B10-6079-A138-F11B-6805FF28C71A}"/>
                  </a:ext>
                </a:extLst>
              </p:cNvPr>
              <p:cNvSpPr>
                <a:spLocks noGrp="1" noRot="1" noChangeAspect="1" noMove="1" noResize="1" noEditPoints="1" noAdjustHandles="1" noChangeArrowheads="1" noChangeShapeType="1" noTextEdit="1"/>
              </p:cNvSpPr>
              <p:nvPr>
                <p:ph type="body" sz="quarter" idx="15"/>
              </p:nvPr>
            </p:nvSpPr>
            <p:spPr>
              <a:xfrm>
                <a:off x="743576" y="1215341"/>
                <a:ext cx="10711543" cy="4731975"/>
              </a:xfrm>
              <a:blipFill>
                <a:blip r:embed="rId3"/>
                <a:stretch>
                  <a:fillRect l="-1480" t="-1544" r="-1935"/>
                </a:stretch>
              </a:blipFill>
            </p:spPr>
            <p:txBody>
              <a:bodyPr/>
              <a:lstStyle/>
              <a:p>
                <a:r>
                  <a:rPr lang="en-US">
                    <a:noFill/>
                  </a:rPr>
                  <a:t> </a:t>
                </a:r>
              </a:p>
            </p:txBody>
          </p:sp>
        </mc:Fallback>
      </mc:AlternateContent>
    </p:spTree>
    <p:extLst>
      <p:ext uri="{BB962C8B-B14F-4D97-AF65-F5344CB8AC3E}">
        <p14:creationId xmlns:p14="http://schemas.microsoft.com/office/powerpoint/2010/main" val="3683709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dirty="0">
                <a:solidFill>
                  <a:srgbClr val="25894E"/>
                </a:solidFill>
              </a:rPr>
              <a:t>5.7 Excel: Computing Hypergeometric Probabilities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6" y="1178717"/>
                <a:ext cx="10610223" cy="2401888"/>
              </a:xfrm>
            </p:spPr>
            <p:txBody>
              <a:bodyPr/>
              <a:lstStyle/>
              <a:p>
                <a:r>
                  <a:rPr lang="en-US" sz="2000" dirty="0"/>
                  <a:t>The Excel function HYPGEOM.DIST works in much the same way as the Excel functions for computing binomial and Poisson probabilities we saw earlier.</a:t>
                </a:r>
              </a:p>
              <a:p>
                <a:r>
                  <a:rPr lang="en-US" sz="2000" b="1" dirty="0"/>
                  <a:t>Enter/Access Data</a:t>
                </a:r>
                <a:r>
                  <a:rPr lang="en-US" sz="2000" dirty="0"/>
                  <a:t>: We enter the number of fuses selected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𝑛</m:t>
                    </m:r>
                    <m:r>
                      <a:rPr lang="en-US" sz="2000" i="1" dirty="0" smtClean="0">
                        <a:latin typeface="Cambria Math" panose="02040503050406030204" pitchFamily="18" charset="0"/>
                      </a:rPr>
                      <m:t>=</m:t>
                    </m:r>
                    <m:r>
                      <a:rPr lang="en-US" sz="2000" b="0" i="1" dirty="0" smtClean="0">
                        <a:latin typeface="Cambria Math" panose="02040503050406030204" pitchFamily="18" charset="0"/>
                      </a:rPr>
                      <m:t>3</m:t>
                    </m:r>
                  </m:oMath>
                </a14:m>
                <a:r>
                  <a:rPr lang="en-US" sz="2000" dirty="0"/>
                  <a:t>) in cell D1, the number of defective fuses in the box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𝑟</m:t>
                    </m:r>
                    <m:r>
                      <a:rPr lang="en-US" sz="2000" i="1" dirty="0">
                        <a:latin typeface="Cambria Math" panose="02040503050406030204" pitchFamily="18" charset="0"/>
                      </a:rPr>
                      <m:t>=</m:t>
                    </m:r>
                    <m:r>
                      <a:rPr lang="en-US" sz="2000" b="0" i="1" dirty="0" smtClean="0">
                        <a:latin typeface="Cambria Math" panose="02040503050406030204" pitchFamily="18" charset="0"/>
                      </a:rPr>
                      <m:t>5</m:t>
                    </m:r>
                  </m:oMath>
                </a14:m>
                <a:r>
                  <a:rPr lang="en-US" sz="2000" dirty="0"/>
                  <a:t>) in cell D2, the number of fuses in the box in cell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𝑁</m:t>
                    </m:r>
                    <m:r>
                      <a:rPr lang="en-US" sz="2000" i="1" dirty="0">
                        <a:latin typeface="Cambria Math" panose="02040503050406030204" pitchFamily="18" charset="0"/>
                      </a:rPr>
                      <m:t>=</m:t>
                    </m:r>
                    <m:r>
                      <a:rPr lang="en-US" sz="2000" b="0" i="1" dirty="0" smtClean="0">
                        <a:latin typeface="Cambria Math" panose="02040503050406030204" pitchFamily="18" charset="0"/>
                      </a:rPr>
                      <m:t>12</m:t>
                    </m:r>
                  </m:oMath>
                </a14:m>
                <a:r>
                  <a:rPr lang="en-US" sz="2000" dirty="0"/>
                  <a:t>) in cell D3, and the values of the number of selected fuses defective (𝑥) in cells A5:A8.</a:t>
                </a:r>
              </a:p>
              <a:p>
                <a:r>
                  <a:rPr lang="en-US" sz="2000" b="1" dirty="0"/>
                  <a:t>Enter Functions and Formulas</a:t>
                </a:r>
                <a:r>
                  <a:rPr lang="en-US" sz="2000" dirty="0"/>
                  <a:t>: We enter the hypergeometric probability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=0</m:t>
                        </m:r>
                      </m:e>
                    </m:d>
                  </m:oMath>
                </a14:m>
                <a:r>
                  <a:rPr lang="en-US" sz="2000" dirty="0"/>
                  <a:t> in cell B5</a:t>
                </a:r>
              </a:p>
              <a:p>
                <a:pPr marL="628650"/>
                <a:r>
                  <a:rPr lang="en-US" sz="2000" i="1" dirty="0"/>
                  <a:t>=HYPGEOM.DIST(</a:t>
                </a:r>
                <a14:m>
                  <m:oMath xmlns:m="http://schemas.openxmlformats.org/officeDocument/2006/math">
                    <m:r>
                      <a:rPr lang="en-US" sz="2000" b="0" i="1" smtClean="0">
                        <a:solidFill>
                          <a:srgbClr val="FF0000"/>
                        </a:solidFill>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𝑛</m:t>
                    </m:r>
                  </m:oMath>
                </a14:m>
                <a:r>
                  <a:rPr lang="en-US" sz="2000" i="1" dirty="0"/>
                  <a:t>,</a:t>
                </a:r>
                <a14:m>
                  <m:oMath xmlns:m="http://schemas.openxmlformats.org/officeDocument/2006/math">
                    <m:r>
                      <a:rPr lang="en-US" sz="2000" b="0" i="1" dirty="0" smtClean="0">
                        <a:latin typeface="Cambria Math" panose="02040503050406030204" pitchFamily="18" charset="0"/>
                      </a:rPr>
                      <m:t>𝑟</m:t>
                    </m:r>
                  </m:oMath>
                </a14:m>
                <a:r>
                  <a:rPr lang="en-US" sz="2000" i="1" dirty="0"/>
                  <a:t>,</a:t>
                </a:r>
                <a14:m>
                  <m:oMath xmlns:m="http://schemas.openxmlformats.org/officeDocument/2006/math">
                    <m:r>
                      <a:rPr lang="en-US" sz="2000" i="1" dirty="0">
                        <a:latin typeface="Cambria Math" panose="02040503050406030204" pitchFamily="18" charset="0"/>
                        <a:ea typeface="Cambria Math" panose="02040503050406030204" pitchFamily="18" charset="0"/>
                      </a:rPr>
                      <m:t>𝑁</m:t>
                    </m:r>
                  </m:oMath>
                </a14:m>
                <a:r>
                  <a:rPr lang="en-US" sz="2000" i="1" dirty="0"/>
                  <a:t>,FALSE)</a:t>
                </a:r>
              </a:p>
            </p:txBody>
          </p:sp>
        </mc:Choice>
        <mc:Fallback xmlns="">
          <p:sp>
            <p:nvSpPr>
              <p:cNvPr id="5" name="Text Placeholder 4">
                <a:extLst>
                  <a:ext uri="{FF2B5EF4-FFF2-40B4-BE49-F238E27FC236}">
                    <a16:creationId xmlns:a16="http://schemas.microsoft.com/office/drawing/2014/main" id="{C57E986C-AE73-DA74-301E-184CA78D1692}"/>
                  </a:ext>
                </a:extLst>
              </p:cNvPr>
              <p:cNvSpPr>
                <a:spLocks noGrp="1" noRot="1" noChangeAspect="1" noMove="1" noResize="1" noEditPoints="1" noAdjustHandles="1" noChangeArrowheads="1" noChangeShapeType="1" noTextEdit="1"/>
              </p:cNvSpPr>
              <p:nvPr>
                <p:ph type="body" sz="quarter" idx="15"/>
              </p:nvPr>
            </p:nvSpPr>
            <p:spPr>
              <a:xfrm>
                <a:off x="743576" y="1178717"/>
                <a:ext cx="10610223" cy="2401888"/>
              </a:xfrm>
              <a:blipFill>
                <a:blip r:embed="rId4"/>
                <a:stretch>
                  <a:fillRect l="-1494" t="-3046" r="-115" b="-50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C06B8644-9EB6-335B-F215-E20504811B7C}"/>
                  </a:ext>
                </a:extLst>
              </p:cNvPr>
              <p:cNvSpPr>
                <a:spLocks noGrp="1"/>
              </p:cNvSpPr>
              <p:nvPr>
                <p:ph type="body" sz="quarter" idx="17"/>
              </p:nvPr>
            </p:nvSpPr>
            <p:spPr>
              <a:xfrm>
                <a:off x="743578" y="3616327"/>
                <a:ext cx="4571372" cy="2245514"/>
              </a:xfrm>
            </p:spPr>
            <p:txBody>
              <a:bodyPr/>
              <a:lstStyle/>
              <a:p>
                <a:r>
                  <a:rPr lang="en-US" sz="2000" dirty="0"/>
                  <a:t>As we did earlier, we lock the relative references to cells D1:D3 and copy it down to cells B5:B8 to compute the hypergeometric probabilities for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=1,2</m:t>
                    </m:r>
                  </m:oMath>
                </a14:m>
                <a:r>
                  <a:rPr lang="en-US" sz="2000" dirty="0"/>
                  <a:t>, and 3.</a:t>
                </a:r>
              </a:p>
              <a:p>
                <a:r>
                  <a:rPr lang="en-US" sz="2000" dirty="0"/>
                  <a:t>We choose 𝐹𝐴𝐿𝑆𝐸 to compute the hypergeometric probabilities.</a:t>
                </a:r>
              </a:p>
            </p:txBody>
          </p:sp>
        </mc:Choice>
        <mc:Fallback xmlns="">
          <p:sp>
            <p:nvSpPr>
              <p:cNvPr id="7" name="Text Placeholder 6">
                <a:extLst>
                  <a:ext uri="{FF2B5EF4-FFF2-40B4-BE49-F238E27FC236}">
                    <a16:creationId xmlns:a16="http://schemas.microsoft.com/office/drawing/2014/main" id="{C06B8644-9EB6-335B-F215-E20504811B7C}"/>
                  </a:ext>
                </a:extLst>
              </p:cNvPr>
              <p:cNvSpPr>
                <a:spLocks noGrp="1" noRot="1" noChangeAspect="1" noMove="1" noResize="1" noEditPoints="1" noAdjustHandles="1" noChangeArrowheads="1" noChangeShapeType="1" noTextEdit="1"/>
              </p:cNvSpPr>
              <p:nvPr>
                <p:ph type="body" sz="quarter" idx="17"/>
              </p:nvPr>
            </p:nvSpPr>
            <p:spPr>
              <a:xfrm>
                <a:off x="743578" y="3616327"/>
                <a:ext cx="4571372" cy="2245514"/>
              </a:xfrm>
              <a:blipFill>
                <a:blip r:embed="rId5"/>
                <a:stretch>
                  <a:fillRect l="-3467" t="-3252" r="-3067" b="-5420"/>
                </a:stretch>
              </a:blipFill>
            </p:spPr>
            <p:txBody>
              <a:bodyPr/>
              <a:lstStyle/>
              <a:p>
                <a:r>
                  <a:rPr lang="en-US">
                    <a:noFill/>
                  </a:rPr>
                  <a:t> </a:t>
                </a:r>
              </a:p>
            </p:txBody>
          </p:sp>
        </mc:Fallback>
      </mc:AlternateContent>
      <p:pic>
        <p:nvPicPr>
          <p:cNvPr id="9" name="Picture Placeholder 8" descr="Two screenshots of Excel spreadsheets for computing hypergeometric probability distribution. In the first spreadsheet, the entries on the top are as follows. C 1: Number fuses selected, n. D 1: 3. C 2: Number defective fuses in box, r. D 2: 5. C 3: Number fuses in a box, N. D 3: 12. Column A is labeled number selected fuses defective, x. Column B is labeled probability, f of x. The entries in rows 6 through 9 are as follows. Row 6. x: 0. f of x: =HYPGEOM.DIST(A 6, dollar sign D dollar sign 1, dollar sign D dollar sign 2, dollar sign D dollar sign 3, FALSE). Row 7. x: 1. f of x: =HYPGEOM.DIST(A 7, dollar sign D dollar sign 1, dollar sign D dollar sign 2, dollar sign D dollar sign 3, FALSE). Row 8. x: 2. f of x: =HYPGEOM.DIST(A 8, dollar sign D dollar sign 1, dollar sign D dollar sign 2, dollar sign D dollar sign 3, FALSE). Row 9. x: 3. f of x: =HYPGEOM.DIST(A 9, dollar sign D dollar sign 1, dollar sign D dollar sign 2, dollar sign D dollar sign 3, FALSE). In the second spreadsheet, the entries on the top are as follows. A 1: Number fuses selected, n. D 1: 3. A 2: Number defective fuses in box, r. D 2: 5. A 3: Number fuses in a box, N. D 3: 12. Column A is labeled number selected fuses defective, x. Column B is labeled probability, f of x. The entries in rows 6 through 9 are as follows. Row 6. x: 0. f of x: 0.1591. Row 7. x: 1. f of x: 0.4773. Row 8. x: 2. f of x: 0.3182. Row 9. x: 3. f of x: 0.0455.">
            <a:extLst>
              <a:ext uri="{FF2B5EF4-FFF2-40B4-BE49-F238E27FC236}">
                <a16:creationId xmlns:a16="http://schemas.microsoft.com/office/drawing/2014/main" id="{D30E532F-0AC1-1C5D-A79E-011570DD9717}"/>
              </a:ext>
            </a:extLst>
          </p:cNvPr>
          <p:cNvPicPr>
            <a:picLocks noGrp="1" noChangeAspect="1"/>
          </p:cNvPicPr>
          <p:nvPr>
            <p:ph type="pic" sz="quarter" idx="16"/>
          </p:nvPr>
        </p:nvPicPr>
        <p:blipFill>
          <a:blip r:embed="rId6"/>
          <a:srcRect t="25" b="25"/>
          <a:stretch/>
        </p:blipFill>
        <p:spPr>
          <a:xfrm>
            <a:off x="5393860" y="3409944"/>
            <a:ext cx="5959940" cy="2401888"/>
          </a:xfrm>
          <a:ln>
            <a:solidFill>
              <a:srgbClr val="000000"/>
            </a:solidFill>
          </a:ln>
        </p:spPr>
      </p:pic>
    </p:spTree>
    <p:extLst>
      <p:ext uri="{BB962C8B-B14F-4D97-AF65-F5344CB8AC3E}">
        <p14:creationId xmlns:p14="http://schemas.microsoft.com/office/powerpoint/2010/main" val="15528308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F338-F3F9-5F43-E7AA-B1819A82B9A0}"/>
              </a:ext>
            </a:extLst>
          </p:cNvPr>
          <p:cNvSpPr>
            <a:spLocks noGrp="1"/>
          </p:cNvSpPr>
          <p:nvPr>
            <p:ph type="title"/>
          </p:nvPr>
        </p:nvSpPr>
        <p:spPr/>
        <p:txBody>
          <a:bodyPr/>
          <a:lstStyle/>
          <a:p>
            <a:r>
              <a:rPr lang="en-US" sz="3200" dirty="0">
                <a:solidFill>
                  <a:srgbClr val="25894E"/>
                </a:solidFill>
              </a:rPr>
              <a:t>5.7 Excel: Computing Cumulative Hypergeometric Probabilities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C57E986C-AE73-DA74-301E-184CA78D1692}"/>
                  </a:ext>
                </a:extLst>
              </p:cNvPr>
              <p:cNvSpPr>
                <a:spLocks noGrp="1"/>
              </p:cNvSpPr>
              <p:nvPr>
                <p:ph type="body" sz="quarter" idx="15"/>
              </p:nvPr>
            </p:nvSpPr>
            <p:spPr>
              <a:xfrm>
                <a:off x="743576" y="1671642"/>
                <a:ext cx="10610223" cy="2066130"/>
              </a:xfrm>
            </p:spPr>
            <p:txBody>
              <a:bodyPr/>
              <a:lstStyle/>
              <a:p>
                <a:r>
                  <a:rPr lang="en-US" sz="2000" b="1" dirty="0"/>
                  <a:t>Enter/Access Data</a:t>
                </a:r>
                <a:r>
                  <a:rPr lang="en-US" sz="2000" dirty="0"/>
                  <a:t>: We enter the number of fuses selected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𝑛</m:t>
                    </m:r>
                    <m:r>
                      <a:rPr lang="en-US" sz="2000" i="1" dirty="0" smtClean="0">
                        <a:latin typeface="Cambria Math" panose="02040503050406030204" pitchFamily="18" charset="0"/>
                      </a:rPr>
                      <m:t>=</m:t>
                    </m:r>
                    <m:r>
                      <a:rPr lang="en-US" sz="2000" b="0" i="1" dirty="0" smtClean="0">
                        <a:latin typeface="Cambria Math" panose="02040503050406030204" pitchFamily="18" charset="0"/>
                      </a:rPr>
                      <m:t>3</m:t>
                    </m:r>
                  </m:oMath>
                </a14:m>
                <a:r>
                  <a:rPr lang="en-US" sz="2000" dirty="0"/>
                  <a:t>) in cell D1, the number of defective fuses in the box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𝑟</m:t>
                    </m:r>
                    <m:r>
                      <a:rPr lang="en-US" sz="2000" i="1" dirty="0">
                        <a:latin typeface="Cambria Math" panose="02040503050406030204" pitchFamily="18" charset="0"/>
                      </a:rPr>
                      <m:t>=</m:t>
                    </m:r>
                    <m:r>
                      <a:rPr lang="en-US" sz="2000" b="0" i="1" dirty="0" smtClean="0">
                        <a:latin typeface="Cambria Math" panose="02040503050406030204" pitchFamily="18" charset="0"/>
                      </a:rPr>
                      <m:t>5</m:t>
                    </m:r>
                  </m:oMath>
                </a14:m>
                <a:r>
                  <a:rPr lang="en-US" sz="2000" dirty="0"/>
                  <a:t>) in cell D2, the number of fuses in the box in cell (</a:t>
                </a:r>
                <a14:m>
                  <m:oMath xmlns:m="http://schemas.openxmlformats.org/officeDocument/2006/math">
                    <m:r>
                      <a:rPr lang="en-US" sz="2000" b="0" i="1" dirty="0" smtClean="0">
                        <a:latin typeface="Cambria Math" panose="02040503050406030204" pitchFamily="18" charset="0"/>
                        <a:ea typeface="Cambria Math" panose="02040503050406030204" pitchFamily="18" charset="0"/>
                      </a:rPr>
                      <m:t>𝑁</m:t>
                    </m:r>
                    <m:r>
                      <a:rPr lang="en-US" sz="2000" i="1" dirty="0">
                        <a:latin typeface="Cambria Math" panose="02040503050406030204" pitchFamily="18" charset="0"/>
                      </a:rPr>
                      <m:t>=</m:t>
                    </m:r>
                    <m:r>
                      <a:rPr lang="en-US" sz="2000" b="0" i="1" dirty="0" smtClean="0">
                        <a:latin typeface="Cambria Math" panose="02040503050406030204" pitchFamily="18" charset="0"/>
                      </a:rPr>
                      <m:t>12</m:t>
                    </m:r>
                  </m:oMath>
                </a14:m>
                <a:r>
                  <a:rPr lang="en-US" sz="2000" dirty="0"/>
                  <a:t>) in cell D3, and the values of the number of selected fuses defective (𝑥) in cells A5:A8.</a:t>
                </a:r>
              </a:p>
              <a:p>
                <a:r>
                  <a:rPr lang="en-US" sz="2000" b="1" dirty="0"/>
                  <a:t>Enter Functions and Formulas</a:t>
                </a:r>
                <a:r>
                  <a:rPr lang="en-US" sz="2000" dirty="0"/>
                  <a:t>: We enter the cumulative hypergeometric probability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=0</m:t>
                        </m:r>
                      </m:e>
                    </m:d>
                  </m:oMath>
                </a14:m>
                <a:r>
                  <a:rPr lang="en-US" sz="2000" dirty="0"/>
                  <a:t> in cell B5 as</a:t>
                </a:r>
              </a:p>
              <a:p>
                <a:pPr marL="628650"/>
                <a:r>
                  <a:rPr lang="en-US" sz="2000" i="1" dirty="0"/>
                  <a:t>=HYPGEOM.DIST(</a:t>
                </a:r>
                <a14:m>
                  <m:oMath xmlns:m="http://schemas.openxmlformats.org/officeDocument/2006/math">
                    <m:r>
                      <a:rPr lang="en-US" sz="2000" b="0" i="1" smtClean="0">
                        <a:solidFill>
                          <a:srgbClr val="FF0000"/>
                        </a:solidFill>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𝑛</m:t>
                    </m:r>
                  </m:oMath>
                </a14:m>
                <a:r>
                  <a:rPr lang="en-US" sz="2000" i="1" dirty="0"/>
                  <a:t>,</a:t>
                </a:r>
                <a14:m>
                  <m:oMath xmlns:m="http://schemas.openxmlformats.org/officeDocument/2006/math">
                    <m:r>
                      <a:rPr lang="en-US" sz="2000" b="0" i="1" dirty="0" smtClean="0">
                        <a:latin typeface="Cambria Math" panose="02040503050406030204" pitchFamily="18" charset="0"/>
                      </a:rPr>
                      <m:t>𝑟</m:t>
                    </m:r>
                  </m:oMath>
                </a14:m>
                <a:r>
                  <a:rPr lang="en-US" sz="2000" i="1" dirty="0"/>
                  <a:t>,</a:t>
                </a:r>
                <a14:m>
                  <m:oMath xmlns:m="http://schemas.openxmlformats.org/officeDocument/2006/math">
                    <m:r>
                      <a:rPr lang="en-US" sz="2000" i="1" dirty="0">
                        <a:latin typeface="Cambria Math" panose="02040503050406030204" pitchFamily="18" charset="0"/>
                        <a:ea typeface="Cambria Math" panose="02040503050406030204" pitchFamily="18" charset="0"/>
                      </a:rPr>
                      <m:t>𝑁</m:t>
                    </m:r>
                  </m:oMath>
                </a14:m>
                <a:r>
                  <a:rPr lang="en-US" sz="2000" i="1" dirty="0"/>
                  <a:t>,TRUE)</a:t>
                </a:r>
              </a:p>
            </p:txBody>
          </p:sp>
        </mc:Choice>
        <mc:Fallback xmlns="">
          <p:sp>
            <p:nvSpPr>
              <p:cNvPr id="5" name="Text Placeholder 4">
                <a:extLst>
                  <a:ext uri="{FF2B5EF4-FFF2-40B4-BE49-F238E27FC236}">
                    <a16:creationId xmlns:a16="http://schemas.microsoft.com/office/drawing/2014/main" id="{C57E986C-AE73-DA74-301E-184CA78D1692}"/>
                  </a:ext>
                </a:extLst>
              </p:cNvPr>
              <p:cNvSpPr>
                <a:spLocks noGrp="1" noRot="1" noChangeAspect="1" noMove="1" noResize="1" noEditPoints="1" noAdjustHandles="1" noChangeArrowheads="1" noChangeShapeType="1" noTextEdit="1"/>
              </p:cNvSpPr>
              <p:nvPr>
                <p:ph type="body" sz="quarter" idx="15"/>
              </p:nvPr>
            </p:nvSpPr>
            <p:spPr>
              <a:xfrm>
                <a:off x="743576" y="1671642"/>
                <a:ext cx="10610223" cy="2066130"/>
              </a:xfrm>
              <a:blipFill>
                <a:blip r:embed="rId4"/>
                <a:stretch>
                  <a:fillRect l="-1494" t="-3540" r="-115" b="-38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C06B8644-9EB6-335B-F215-E20504811B7C}"/>
                  </a:ext>
                </a:extLst>
              </p:cNvPr>
              <p:cNvSpPr>
                <a:spLocks noGrp="1"/>
              </p:cNvSpPr>
              <p:nvPr>
                <p:ph type="body" sz="quarter" idx="17"/>
              </p:nvPr>
            </p:nvSpPr>
            <p:spPr>
              <a:xfrm>
                <a:off x="743578" y="3773494"/>
                <a:ext cx="4571372" cy="1991515"/>
              </a:xfrm>
            </p:spPr>
            <p:txBody>
              <a:bodyPr/>
              <a:lstStyle/>
              <a:p>
                <a:r>
                  <a:rPr lang="en-US" sz="2000" dirty="0"/>
                  <a:t>We lock the relative references to cells D1:D3 and copy it down to cells B5:B8 to compute the cumulative </a:t>
                </a:r>
                <a:r>
                  <a:rPr lang="en-US" sz="2000" dirty="0" err="1"/>
                  <a:t>hypergeo</a:t>
                </a:r>
                <a:r>
                  <a:rPr lang="en-US" sz="2000" dirty="0"/>
                  <a:t>-metric probabilities for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=1,2</m:t>
                    </m:r>
                  </m:oMath>
                </a14:m>
                <a:r>
                  <a:rPr lang="en-US" sz="2000" dirty="0"/>
                  <a:t>, and 3.</a:t>
                </a:r>
              </a:p>
              <a:p>
                <a:r>
                  <a:rPr lang="en-US" sz="2000" dirty="0"/>
                  <a:t>We choose </a:t>
                </a:r>
                <a14:m>
                  <m:oMath xmlns:m="http://schemas.openxmlformats.org/officeDocument/2006/math">
                    <m:r>
                      <a:rPr lang="en-US" sz="2000" i="1" dirty="0" smtClean="0">
                        <a:latin typeface="Cambria Math" panose="02040503050406030204" pitchFamily="18" charset="0"/>
                      </a:rPr>
                      <m:t>𝑇𝑅𝑈𝐸</m:t>
                    </m:r>
                  </m:oMath>
                </a14:m>
                <a:r>
                  <a:rPr lang="en-US" sz="2000" dirty="0"/>
                  <a:t> to compute the cumulative hypergeometric probabilities.</a:t>
                </a:r>
              </a:p>
            </p:txBody>
          </p:sp>
        </mc:Choice>
        <mc:Fallback xmlns="">
          <p:sp>
            <p:nvSpPr>
              <p:cNvPr id="7" name="Text Placeholder 6">
                <a:extLst>
                  <a:ext uri="{FF2B5EF4-FFF2-40B4-BE49-F238E27FC236}">
                    <a16:creationId xmlns:a16="http://schemas.microsoft.com/office/drawing/2014/main" id="{C06B8644-9EB6-335B-F215-E20504811B7C}"/>
                  </a:ext>
                </a:extLst>
              </p:cNvPr>
              <p:cNvSpPr>
                <a:spLocks noGrp="1" noRot="1" noChangeAspect="1" noMove="1" noResize="1" noEditPoints="1" noAdjustHandles="1" noChangeArrowheads="1" noChangeShapeType="1" noTextEdit="1"/>
              </p:cNvSpPr>
              <p:nvPr>
                <p:ph type="body" sz="quarter" idx="17"/>
              </p:nvPr>
            </p:nvSpPr>
            <p:spPr>
              <a:xfrm>
                <a:off x="743578" y="3773494"/>
                <a:ext cx="4571372" cy="1991515"/>
              </a:xfrm>
              <a:blipFill>
                <a:blip r:embed="rId5"/>
                <a:stretch>
                  <a:fillRect l="-3467" t="-3670" r="-2667" b="-3670"/>
                </a:stretch>
              </a:blipFill>
            </p:spPr>
            <p:txBody>
              <a:bodyPr/>
              <a:lstStyle/>
              <a:p>
                <a:r>
                  <a:rPr lang="en-US">
                    <a:noFill/>
                  </a:rPr>
                  <a:t> </a:t>
                </a:r>
              </a:p>
            </p:txBody>
          </p:sp>
        </mc:Fallback>
      </mc:AlternateContent>
      <p:pic>
        <p:nvPicPr>
          <p:cNvPr id="6" name="Picture Placeholder 5" descr="Two screenshots of Excel spreadsheets for computing hypergeometric probability distribution. In the first spreadsheet, the entries on the top are as follows. C 1: Number fuses selected, n. D 1: 3. C 2: Number defective fuses in box, r. D 2: 5. C 3: Number fuses in a box, N. D 3: 12. Column A is labeled number selected fuses defective, x. Column B is labeled probability, f of x. The entries in rows 6 through 9 are as follows. Row 6. x: 0. f of x: =HYPGEOM.DIST(A 6, dollar sign D dollar sign 1, dollar sign D dollar sign 2, dollar sign D dollar sign 3, TRUE). Row 7. x: 1. f of x: =HYPGEOM.DIST(A 7, dollar sign D dollar sign 1, dollar sign D dollar sign 2, dollar sign D dollar sign 3, TRUE). Row 8. x: 2. f of x: =HYPGEOM.DIST(A 8, dollar sign D dollar sign 1, dollar sign D dollar sign 2, dollar sign D dollar sign 3, TRUE). Row 9. x: 3. f of x: =HYPGEOM.DIST(A 9, dollar sign D dollar sign 1, dollar sign D dollar sign 2, dollar sign D dollar sign 3, TRUE). In the second spreadsheet, the entries on the top are as follows. A 1: Number fuses selected, n. D 1: 3. A 2: Number defective fuses in box, r. D 2: 5. A 3: Number fuses in a box, N. D 3: 12. Column A is labeled number selected fuses defective, x. Column B is labeled probability, f of x. The entries in rows 6 through 9 are as follows. Row 6. x: 0. f of x: 0.1591. Row 7. x: 1. f of x: 0.6364. Row 8. x: 2. f of x: 0.9545. Row 9. x: 3. f of x: 1.0000.">
            <a:extLst>
              <a:ext uri="{FF2B5EF4-FFF2-40B4-BE49-F238E27FC236}">
                <a16:creationId xmlns:a16="http://schemas.microsoft.com/office/drawing/2014/main" id="{6E81847E-F9B4-BC71-8DC0-18E2CA50E47D}"/>
              </a:ext>
            </a:extLst>
          </p:cNvPr>
          <p:cNvPicPr>
            <a:picLocks noGrp="1" noChangeAspect="1"/>
          </p:cNvPicPr>
          <p:nvPr>
            <p:ph type="pic" sz="quarter" idx="16"/>
          </p:nvPr>
        </p:nvPicPr>
        <p:blipFill>
          <a:blip r:embed="rId6"/>
          <a:srcRect t="3" b="3"/>
          <a:stretch/>
        </p:blipFill>
        <p:spPr>
          <a:xfrm>
            <a:off x="5428620" y="3294065"/>
            <a:ext cx="5962650" cy="2378075"/>
          </a:xfrm>
          <a:ln>
            <a:solidFill>
              <a:srgbClr val="000000"/>
            </a:solidFill>
          </a:ln>
        </p:spPr>
      </p:pic>
    </p:spTree>
    <p:extLst>
      <p:ext uri="{BB962C8B-B14F-4D97-AF65-F5344CB8AC3E}">
        <p14:creationId xmlns:p14="http://schemas.microsoft.com/office/powerpoint/2010/main" val="34405407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4FB9-C40E-83E7-5069-402C0DC6F675}"/>
              </a:ext>
            </a:extLst>
          </p:cNvPr>
          <p:cNvSpPr>
            <a:spLocks noGrp="1"/>
          </p:cNvSpPr>
          <p:nvPr>
            <p:ph type="title"/>
          </p:nvPr>
        </p:nvSpPr>
        <p:spPr/>
        <p:txBody>
          <a:bodyPr/>
          <a:lstStyle/>
          <a:p>
            <a:r>
              <a:rPr lang="en-US" dirty="0"/>
              <a:t>5.7 Properties of the Hypergeometric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D7EBE7E-64E4-FD94-3AD0-E75BC397E446}"/>
                  </a:ext>
                </a:extLst>
              </p:cNvPr>
              <p:cNvSpPr>
                <a:spLocks noGrp="1"/>
              </p:cNvSpPr>
              <p:nvPr>
                <p:ph type="body" sz="quarter" idx="15"/>
              </p:nvPr>
            </p:nvSpPr>
            <p:spPr>
              <a:xfrm>
                <a:off x="743576" y="1102576"/>
                <a:ext cx="10711543" cy="4926748"/>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expected value (mean) of a hyper-geometric distribution is calculated as</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𝑬</m:t>
                      </m:r>
                      <m:d>
                        <m:dPr>
                          <m:ctrlPr>
                            <a:rPr lang="en-US" sz="2000" b="1" i="1" smtClean="0">
                              <a:latin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cs typeface="Arial" panose="020B0604020202020204" pitchFamily="34" charset="0"/>
                            </a:rPr>
                            <m:t>𝒙</m:t>
                          </m:r>
                        </m:e>
                      </m:d>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𝝁</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𝒏</m:t>
                      </m:r>
                      <m:d>
                        <m:d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b="1" i="1">
                                  <a:latin typeface="Cambria Math" panose="02040503050406030204" pitchFamily="18" charset="0"/>
                                  <a:ea typeface="Cambria Math" panose="02040503050406030204" pitchFamily="18" charset="0"/>
                                  <a:cs typeface="Arial" panose="020B0604020202020204" pitchFamily="34" charset="0"/>
                                </a:rPr>
                              </m:ctrlPr>
                            </m:fPr>
                            <m:num>
                              <m:r>
                                <a:rPr lang="en-US" sz="2000" b="1" i="1">
                                  <a:latin typeface="Cambria Math" panose="02040503050406030204" pitchFamily="18" charset="0"/>
                                  <a:ea typeface="Cambria Math" panose="02040503050406030204" pitchFamily="18" charset="0"/>
                                  <a:cs typeface="Arial" panose="020B0604020202020204" pitchFamily="34" charset="0"/>
                                </a:rPr>
                                <m:t>𝒓</m:t>
                              </m:r>
                            </m:num>
                            <m:den>
                              <m:r>
                                <a:rPr lang="en-US" sz="2000" b="1" i="1" smtClean="0">
                                  <a:latin typeface="Cambria Math" panose="02040503050406030204" pitchFamily="18" charset="0"/>
                                  <a:ea typeface="Cambria Math" panose="02040503050406030204" pitchFamily="18" charset="0"/>
                                  <a:cs typeface="Arial" panose="020B0604020202020204" pitchFamily="34" charset="0"/>
                                </a:rPr>
                                <m:t>𝑵</m:t>
                              </m:r>
                            </m:den>
                          </m:f>
                        </m:e>
                      </m:d>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In the electric fuses example, we have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=3</m:t>
                    </m:r>
                  </m:oMath>
                </a14:m>
                <a:r>
                  <a:rPr lang="en-US" sz="2000" dirty="0"/>
                  <a:t>, </a:t>
                </a:r>
                <a14:m>
                  <m:oMath xmlns:m="http://schemas.openxmlformats.org/officeDocument/2006/math">
                    <m:r>
                      <a:rPr lang="en-US" sz="2000" i="1" dirty="0" smtClean="0">
                        <a:latin typeface="Cambria Math" panose="02040503050406030204" pitchFamily="18" charset="0"/>
                      </a:rPr>
                      <m:t>𝑁</m:t>
                    </m:r>
                    <m:r>
                      <a:rPr lang="en-US" sz="2000" i="1" dirty="0" smtClean="0">
                        <a:latin typeface="Cambria Math" panose="02040503050406030204" pitchFamily="18" charset="0"/>
                      </a:rPr>
                      <m:t>=12</m:t>
                    </m:r>
                  </m:oMath>
                </a14:m>
                <a:r>
                  <a:rPr lang="en-US" sz="2000" dirty="0"/>
                  <a:t>, and </a:t>
                </a:r>
                <a14:m>
                  <m:oMath xmlns:m="http://schemas.openxmlformats.org/officeDocument/2006/math">
                    <m:r>
                      <a:rPr lang="en-US" sz="2000" i="1" dirty="0" smtClean="0">
                        <a:latin typeface="Cambria Math" panose="02040503050406030204" pitchFamily="18" charset="0"/>
                      </a:rPr>
                      <m:t>𝑟</m:t>
                    </m:r>
                    <m:r>
                      <a:rPr lang="en-US" sz="2000" i="1" dirty="0" smtClean="0">
                        <a:latin typeface="Cambria Math" panose="02040503050406030204" pitchFamily="18" charset="0"/>
                      </a:rPr>
                      <m:t>=5</m:t>
                    </m:r>
                  </m:oMath>
                </a14:m>
                <a:r>
                  <a:rPr lang="en-US" sz="2000" dirty="0"/>
                  <a:t>. Thus</a:t>
                </a:r>
              </a:p>
              <a:p>
                <a:pPr marL="914400">
                  <a:spcAft>
                    <a:spcPts val="600"/>
                  </a:spcAft>
                </a:pPr>
                <a14:m>
                  <m:oMathPara xmlns:m="http://schemas.openxmlformats.org/officeDocument/2006/math">
                    <m:oMathParaPr>
                      <m:jc m:val="left"/>
                    </m:oMathParaPr>
                    <m:oMath xmlns:m="http://schemas.openxmlformats.org/officeDocument/2006/math">
                      <m:r>
                        <a:rPr lang="en-US" sz="2000" b="0" i="1">
                          <a:latin typeface="Cambria Math" panose="02040503050406030204" pitchFamily="18" charset="0"/>
                          <a:ea typeface="Cambria Math" panose="02040503050406030204" pitchFamily="18" charset="0"/>
                          <a:cs typeface="Arial" panose="020B0604020202020204" pitchFamily="34" charset="0"/>
                        </a:rPr>
                        <m:t>𝜇</m:t>
                      </m:r>
                      <m:r>
                        <a:rPr lang="en-US" sz="2000" b="0" i="1" smtClean="0">
                          <a:latin typeface="Cambria Math" panose="02040503050406030204" pitchFamily="18" charset="0"/>
                          <a:cs typeface="Arial" panose="020B0604020202020204" pitchFamily="34" charset="0"/>
                        </a:rPr>
                        <m:t>=</m:t>
                      </m:r>
                      <m:r>
                        <a:rPr lang="en-US" sz="2000" b="0" i="1">
                          <a:latin typeface="Cambria Math" panose="02040503050406030204" pitchFamily="18" charset="0"/>
                          <a:ea typeface="Cambria Math" panose="02040503050406030204" pitchFamily="18" charset="0"/>
                          <a:cs typeface="Arial" panose="020B0604020202020204" pitchFamily="34" charset="0"/>
                        </a:rPr>
                        <m:t>𝑛</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b="0" i="1">
                                  <a:latin typeface="Cambria Math" panose="02040503050406030204" pitchFamily="18" charset="0"/>
                                  <a:ea typeface="Cambria Math" panose="02040503050406030204" pitchFamily="18" charset="0"/>
                                  <a:cs typeface="Arial" panose="020B0604020202020204" pitchFamily="34" charset="0"/>
                                </a:rPr>
                                <m:t>𝑟</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𝑁</m:t>
                              </m:r>
                            </m:den>
                          </m:f>
                        </m:e>
                      </m:d>
                      <m:r>
                        <a:rPr lang="en-US" sz="2000" b="0" i="1" smtClean="0">
                          <a:latin typeface="Cambria Math" panose="02040503050406030204" pitchFamily="18" charset="0"/>
                          <a:ea typeface="Cambria Math" panose="02040503050406030204" pitchFamily="18" charset="0"/>
                          <a:cs typeface="Arial" panose="020B0604020202020204" pitchFamily="34" charset="0"/>
                        </a:rPr>
                        <m:t>=3</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5</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12</m:t>
                              </m:r>
                            </m:den>
                          </m:f>
                        </m:e>
                      </m:d>
                      <m:r>
                        <a:rPr lang="en-US" sz="2000" b="0" i="1" smtClean="0">
                          <a:latin typeface="Cambria Math" panose="02040503050406030204" pitchFamily="18" charset="0"/>
                          <a:ea typeface="Cambria Math" panose="02040503050406030204" pitchFamily="18" charset="0"/>
                          <a:cs typeface="Arial" panose="020B0604020202020204" pitchFamily="34" charset="0"/>
                        </a:rPr>
                        <m:t>=1.25 </m:t>
                      </m:r>
                      <m:r>
                        <m:rPr>
                          <m:nor/>
                        </m:rPr>
                        <a:rPr lang="en-US" sz="2000" b="0" i="0" smtClean="0">
                          <a:latin typeface="Arial" panose="020B0604020202020204" pitchFamily="34" charset="0"/>
                          <a:ea typeface="Cambria Math" panose="02040503050406030204" pitchFamily="18" charset="0"/>
                          <a:cs typeface="Arial" panose="020B0604020202020204" pitchFamily="34" charset="0"/>
                        </a:rPr>
                        <m:t>fuses</m:t>
                      </m:r>
                    </m:oMath>
                  </m:oMathPara>
                </a14:m>
                <a:endParaRPr lang="en-US" sz="2000" dirty="0">
                  <a:latin typeface="Arial" panose="020B0604020202020204" pitchFamily="34" charset="0"/>
                  <a:cs typeface="Arial" panose="020B0604020202020204" pitchFamily="34" charset="0"/>
                </a:endParaRPr>
              </a:p>
              <a:p>
                <a:pPr>
                  <a:spcAft>
                    <a:spcPts val="600"/>
                  </a:spcAft>
                </a:pPr>
                <a:r>
                  <a:rPr lang="en-US" sz="2000" dirty="0"/>
                  <a:t>The variance of a hypergeometric distribution can be calculated as</a:t>
                </a:r>
              </a:p>
              <a:p>
                <a:pPr marL="914400">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𝑽𝒂𝒓</m:t>
                      </m:r>
                      <m:d>
                        <m:dPr>
                          <m:ctrlPr>
                            <a:rPr lang="en-US" sz="2000" b="1" i="1" smtClean="0">
                              <a:latin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cs typeface="Arial" panose="020B0604020202020204" pitchFamily="34" charset="0"/>
                            </a:rPr>
                            <m:t>𝒙</m:t>
                          </m:r>
                        </m:e>
                      </m:d>
                      <m:r>
                        <a:rPr lang="en-US" sz="2000" b="1" i="1" smtClean="0">
                          <a:latin typeface="Cambria Math" panose="02040503050406030204" pitchFamily="18" charset="0"/>
                          <a:cs typeface="Arial" panose="020B0604020202020204" pitchFamily="34" charset="0"/>
                        </a:rPr>
                        <m:t>=</m:t>
                      </m:r>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ea typeface="Cambria Math" panose="02040503050406030204" pitchFamily="18" charset="0"/>
                              <a:cs typeface="Arial" panose="020B0604020202020204" pitchFamily="34" charset="0"/>
                            </a:rPr>
                            <m:t>𝝈</m:t>
                          </m:r>
                        </m:e>
                        <m:sup>
                          <m:r>
                            <a:rPr lang="en-US" sz="2000" b="1" i="1" smtClean="0">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cs typeface="Arial" panose="020B0604020202020204" pitchFamily="34" charset="0"/>
                        </a:rPr>
                        <m:t>=</m:t>
                      </m:r>
                      <m:r>
                        <a:rPr lang="en-US" sz="2000" b="1" i="1">
                          <a:latin typeface="Cambria Math" panose="02040503050406030204" pitchFamily="18" charset="0"/>
                          <a:ea typeface="Cambria Math" panose="02040503050406030204" pitchFamily="18" charset="0"/>
                          <a:cs typeface="Arial" panose="020B0604020202020204" pitchFamily="34" charset="0"/>
                        </a:rPr>
                        <m:t>𝒏</m:t>
                      </m:r>
                      <m:d>
                        <m:dPr>
                          <m:ctrlPr>
                            <a:rPr lang="en-US" sz="2000" b="1"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b="1" i="1">
                                  <a:latin typeface="Cambria Math" panose="02040503050406030204" pitchFamily="18" charset="0"/>
                                  <a:ea typeface="Cambria Math" panose="02040503050406030204" pitchFamily="18" charset="0"/>
                                  <a:cs typeface="Arial" panose="020B0604020202020204" pitchFamily="34" charset="0"/>
                                </a:rPr>
                              </m:ctrlPr>
                            </m:fPr>
                            <m:num>
                              <m:r>
                                <a:rPr lang="en-US" sz="2000" b="1" i="1">
                                  <a:latin typeface="Cambria Math" panose="02040503050406030204" pitchFamily="18" charset="0"/>
                                  <a:ea typeface="Cambria Math" panose="02040503050406030204" pitchFamily="18" charset="0"/>
                                  <a:cs typeface="Arial" panose="020B0604020202020204" pitchFamily="34" charset="0"/>
                                </a:rPr>
                                <m:t>𝒓</m:t>
                              </m:r>
                            </m:num>
                            <m:den>
                              <m:r>
                                <a:rPr lang="en-US" sz="2000" b="1" i="1">
                                  <a:latin typeface="Cambria Math" panose="02040503050406030204" pitchFamily="18" charset="0"/>
                                  <a:ea typeface="Cambria Math" panose="02040503050406030204" pitchFamily="18" charset="0"/>
                                  <a:cs typeface="Arial" panose="020B0604020202020204" pitchFamily="34" charset="0"/>
                                </a:rPr>
                                <m:t>𝒏</m:t>
                              </m:r>
                            </m:den>
                          </m:f>
                        </m:e>
                      </m:d>
                      <m:d>
                        <m:dPr>
                          <m:ctrlPr>
                            <a:rPr lang="en-US" sz="2000" b="1" i="1" smtClean="0">
                              <a:latin typeface="Cambria Math" panose="02040503050406030204" pitchFamily="18" charset="0"/>
                              <a:ea typeface="Cambria Math" panose="02040503050406030204" pitchFamily="18" charset="0"/>
                              <a:cs typeface="Arial" panose="020B0604020202020204" pitchFamily="34" charset="0"/>
                            </a:rPr>
                          </m:ctrlPr>
                        </m:dPr>
                        <m:e>
                          <m:r>
                            <a:rPr lang="en-US" sz="2000" b="1" i="1" smtClean="0">
                              <a:latin typeface="Cambria Math" panose="02040503050406030204" pitchFamily="18" charset="0"/>
                              <a:ea typeface="Cambria Math" panose="02040503050406030204" pitchFamily="18" charset="0"/>
                              <a:cs typeface="Arial" panose="020B0604020202020204" pitchFamily="34" charset="0"/>
                            </a:rPr>
                            <m:t>𝟏</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1" i="1">
                                  <a:latin typeface="Cambria Math" panose="02040503050406030204" pitchFamily="18" charset="0"/>
                                  <a:ea typeface="Cambria Math" panose="02040503050406030204" pitchFamily="18" charset="0"/>
                                  <a:cs typeface="Arial" panose="020B0604020202020204" pitchFamily="34" charset="0"/>
                                </a:rPr>
                              </m:ctrlPr>
                            </m:fPr>
                            <m:num>
                              <m:r>
                                <a:rPr lang="en-US" sz="2000" b="1" i="1">
                                  <a:latin typeface="Cambria Math" panose="02040503050406030204" pitchFamily="18" charset="0"/>
                                  <a:ea typeface="Cambria Math" panose="02040503050406030204" pitchFamily="18" charset="0"/>
                                  <a:cs typeface="Arial" panose="020B0604020202020204" pitchFamily="34" charset="0"/>
                                </a:rPr>
                                <m:t>𝒓</m:t>
                              </m:r>
                            </m:num>
                            <m:den>
                              <m:r>
                                <a:rPr lang="en-US" sz="2000" b="1" i="1">
                                  <a:latin typeface="Cambria Math" panose="02040503050406030204" pitchFamily="18" charset="0"/>
                                  <a:ea typeface="Cambria Math" panose="02040503050406030204" pitchFamily="18" charset="0"/>
                                  <a:cs typeface="Arial" panose="020B0604020202020204" pitchFamily="34" charset="0"/>
                                </a:rPr>
                                <m:t>𝒏</m:t>
                              </m:r>
                            </m:den>
                          </m:f>
                        </m:e>
                      </m:d>
                      <m:d>
                        <m:dPr>
                          <m:ctrlPr>
                            <a:rPr lang="en-US" sz="2000" b="1"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b="1" i="1">
                                  <a:latin typeface="Cambria Math" panose="02040503050406030204" pitchFamily="18" charset="0"/>
                                  <a:ea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ea typeface="Cambria Math" panose="02040503050406030204" pitchFamily="18" charset="0"/>
                                  <a:cs typeface="Arial" panose="020B0604020202020204" pitchFamily="34" charset="0"/>
                                </a:rPr>
                                <m:t>𝑵</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𝒏</m:t>
                              </m:r>
                            </m:num>
                            <m:den>
                              <m:r>
                                <a:rPr lang="en-US" sz="2000" b="1" i="1" smtClean="0">
                                  <a:latin typeface="Cambria Math" panose="02040503050406030204" pitchFamily="18" charset="0"/>
                                  <a:ea typeface="Cambria Math" panose="02040503050406030204" pitchFamily="18" charset="0"/>
                                  <a:cs typeface="Arial" panose="020B0604020202020204" pitchFamily="34" charset="0"/>
                                </a:rPr>
                                <m:t>𝑵</m:t>
                              </m:r>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smtClean="0">
                                  <a:latin typeface="Cambria Math" panose="02040503050406030204" pitchFamily="18" charset="0"/>
                                  <a:ea typeface="Cambria Math" panose="02040503050406030204" pitchFamily="18" charset="0"/>
                                  <a:cs typeface="Arial" panose="020B0604020202020204" pitchFamily="34" charset="0"/>
                                </a:rPr>
                                <m:t>𝟏</m:t>
                              </m:r>
                            </m:den>
                          </m:f>
                        </m:e>
                      </m:d>
                    </m:oMath>
                  </m:oMathPara>
                </a14:m>
                <a:endParaRPr lang="en-US" sz="2000" b="1" dirty="0">
                  <a:latin typeface="Arial" panose="020B0604020202020204" pitchFamily="34" charset="0"/>
                  <a:cs typeface="Arial" panose="020B0604020202020204" pitchFamily="34" charset="0"/>
                </a:endParaRPr>
              </a:p>
              <a:p>
                <a:pPr>
                  <a:spcAft>
                    <a:spcPts val="600"/>
                  </a:spcAft>
                </a:pPr>
                <a:r>
                  <a:rPr lang="en-US" sz="2000" dirty="0"/>
                  <a:t>In the electric fuses example, we can calculate the standard deviation as</a:t>
                </a:r>
              </a:p>
              <a:p>
                <a:pPr marL="914400">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radPr>
                        <m:deg/>
                        <m:e>
                          <m:sSup>
                            <m:sSupPr>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ea typeface="Cambria Math" panose="02040503050406030204" pitchFamily="18" charset="0"/>
                                  <a:cs typeface="Arial" panose="020B0604020202020204" pitchFamily="34" charset="0"/>
                                </a:rPr>
                                <m:t>2</m:t>
                              </m:r>
                            </m:sup>
                          </m:sSup>
                        </m:e>
                      </m:rad>
                      <m:r>
                        <a:rPr lang="en-US" sz="2000" b="0" i="1" smtClean="0">
                          <a:latin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cs typeface="Arial" panose="020B0604020202020204" pitchFamily="34" charset="0"/>
                            </a:rPr>
                          </m:ctrlPr>
                        </m:radPr>
                        <m:deg/>
                        <m:e>
                          <m:r>
                            <a:rPr lang="en-US" sz="2000" i="1">
                              <a:latin typeface="Cambria Math" panose="02040503050406030204" pitchFamily="18" charset="0"/>
                              <a:cs typeface="Arial" panose="020B0604020202020204" pitchFamily="34" charset="0"/>
                            </a:rPr>
                            <m:t>3</m:t>
                          </m:r>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5</m:t>
                                  </m:r>
                                </m:num>
                                <m:den>
                                  <m:r>
                                    <a:rPr lang="en-US" sz="2000" i="1">
                                      <a:latin typeface="Cambria Math" panose="02040503050406030204" pitchFamily="18" charset="0"/>
                                      <a:ea typeface="Cambria Math" panose="02040503050406030204" pitchFamily="18" charset="0"/>
                                      <a:cs typeface="Arial" panose="020B0604020202020204" pitchFamily="34" charset="0"/>
                                    </a:rPr>
                                    <m:t>12</m:t>
                                  </m:r>
                                </m:den>
                              </m:f>
                            </m:e>
                          </m:d>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r>
                                <a:rPr lang="en-US" sz="2000" i="1">
                                  <a:latin typeface="Cambria Math" panose="02040503050406030204" pitchFamily="18" charset="0"/>
                                  <a:ea typeface="Cambria Math" panose="02040503050406030204" pitchFamily="18" charset="0"/>
                                  <a:cs typeface="Arial" panose="020B0604020202020204" pitchFamily="34" charset="0"/>
                                </a:rPr>
                                <m:t>1−</m:t>
                              </m:r>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5</m:t>
                                  </m:r>
                                </m:num>
                                <m:den>
                                  <m:r>
                                    <a:rPr lang="en-US" sz="2000" i="1">
                                      <a:latin typeface="Cambria Math" panose="02040503050406030204" pitchFamily="18" charset="0"/>
                                      <a:ea typeface="Cambria Math" panose="02040503050406030204" pitchFamily="18" charset="0"/>
                                      <a:cs typeface="Arial" panose="020B0604020202020204" pitchFamily="34" charset="0"/>
                                    </a:rPr>
                                    <m:t>12</m:t>
                                  </m:r>
                                </m:den>
                              </m:f>
                            </m:e>
                          </m:d>
                          <m:d>
                            <m:dPr>
                              <m:ctrlPr>
                                <a:rPr lang="en-US" sz="2000" i="1">
                                  <a:latin typeface="Cambria Math" panose="02040503050406030204" pitchFamily="18" charset="0"/>
                                  <a:ea typeface="Cambria Math" panose="02040503050406030204" pitchFamily="18" charset="0"/>
                                  <a:cs typeface="Arial" panose="020B0604020202020204" pitchFamily="34" charset="0"/>
                                </a:rPr>
                              </m:ctrlPr>
                            </m:dPr>
                            <m:e>
                              <m:f>
                                <m:fPr>
                                  <m:ctrlPr>
                                    <a:rPr lang="en-US" sz="2000" i="1">
                                      <a:latin typeface="Cambria Math" panose="02040503050406030204" pitchFamily="18" charset="0"/>
                                      <a:ea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12−3</m:t>
                                  </m:r>
                                </m:num>
                                <m:den>
                                  <m:r>
                                    <a:rPr lang="en-US" sz="2000" i="1">
                                      <a:latin typeface="Cambria Math" panose="02040503050406030204" pitchFamily="18" charset="0"/>
                                      <a:ea typeface="Cambria Math" panose="02040503050406030204" pitchFamily="18" charset="0"/>
                                      <a:cs typeface="Arial" panose="020B0604020202020204" pitchFamily="34" charset="0"/>
                                    </a:rPr>
                                    <m:t>12−1</m:t>
                                  </m:r>
                                </m:den>
                              </m:f>
                            </m:e>
                          </m:d>
                        </m:e>
                      </m:rad>
                      <m:r>
                        <a:rPr lang="en-US" sz="2000" b="0" i="1" smtClean="0">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2000" i="1">
                              <a:latin typeface="Cambria Math" panose="02040503050406030204" pitchFamily="18" charset="0"/>
                              <a:ea typeface="Cambria Math" panose="02040503050406030204" pitchFamily="18" charset="0"/>
                            </a:rPr>
                          </m:ctrlPr>
                        </m:radPr>
                        <m:deg/>
                        <m:e>
                          <m:r>
                            <a:rPr lang="en-US" sz="2000" i="1">
                              <a:latin typeface="Cambria Math" panose="02040503050406030204" pitchFamily="18" charset="0"/>
                              <a:ea typeface="Cambria Math" panose="02040503050406030204" pitchFamily="18" charset="0"/>
                            </a:rPr>
                            <m:t>0.60</m:t>
                          </m:r>
                        </m:e>
                      </m:rad>
                      <m:r>
                        <a:rPr lang="en-US" sz="2000" i="1">
                          <a:latin typeface="Cambria Math" panose="02040503050406030204" pitchFamily="18" charset="0"/>
                          <a:ea typeface="Cambria Math" panose="02040503050406030204" pitchFamily="18" charset="0"/>
                        </a:rPr>
                        <m:t>=0.77 </m:t>
                      </m:r>
                      <m:r>
                        <m:rPr>
                          <m:nor/>
                        </m:rPr>
                        <a:rPr lang="en-US" sz="2000">
                          <a:latin typeface="Arial" panose="020B0604020202020204" pitchFamily="34" charset="0"/>
                          <a:ea typeface="Cambria Math" panose="02040503050406030204" pitchFamily="18" charset="0"/>
                          <a:cs typeface="Arial" panose="020B0604020202020204" pitchFamily="34" charset="0"/>
                        </a:rPr>
                        <m:t>fuses</m:t>
                      </m:r>
                    </m:oMath>
                  </m:oMathPara>
                </a14:m>
                <a:endParaRPr lang="en-US" sz="2000" dirty="0"/>
              </a:p>
              <a:p>
                <a:endParaRPr lang="en-US" dirty="0"/>
              </a:p>
            </p:txBody>
          </p:sp>
        </mc:Choice>
        <mc:Fallback xmlns="">
          <p:sp>
            <p:nvSpPr>
              <p:cNvPr id="3" name="Text Placeholder 2">
                <a:extLst>
                  <a:ext uri="{FF2B5EF4-FFF2-40B4-BE49-F238E27FC236}">
                    <a16:creationId xmlns:a16="http://schemas.microsoft.com/office/drawing/2014/main" id="{BD7EBE7E-64E4-FD94-3AD0-E75BC397E446}"/>
                  </a:ext>
                </a:extLst>
              </p:cNvPr>
              <p:cNvSpPr>
                <a:spLocks noGrp="1" noRot="1" noChangeAspect="1" noMove="1" noResize="1" noEditPoints="1" noAdjustHandles="1" noChangeArrowheads="1" noChangeShapeType="1" noTextEdit="1"/>
              </p:cNvSpPr>
              <p:nvPr>
                <p:ph type="body" sz="quarter" idx="15"/>
              </p:nvPr>
            </p:nvSpPr>
            <p:spPr>
              <a:xfrm>
                <a:off x="743576" y="1102576"/>
                <a:ext cx="10711543" cy="4926748"/>
              </a:xfrm>
              <a:blipFill>
                <a:blip r:embed="rId2"/>
                <a:stretch>
                  <a:fillRect l="-1480" t="-1485"/>
                </a:stretch>
              </a:blipFill>
            </p:spPr>
            <p:txBody>
              <a:bodyPr/>
              <a:lstStyle/>
              <a:p>
                <a:r>
                  <a:rPr lang="en-US">
                    <a:noFill/>
                  </a:rPr>
                  <a:t> </a:t>
                </a:r>
              </a:p>
            </p:txBody>
          </p:sp>
        </mc:Fallback>
      </mc:AlternateContent>
    </p:spTree>
    <p:extLst>
      <p:ext uri="{BB962C8B-B14F-4D97-AF65-F5344CB8AC3E}">
        <p14:creationId xmlns:p14="http://schemas.microsoft.com/office/powerpoint/2010/main" val="37468230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696300" y="1290067"/>
            <a:ext cx="10657500" cy="4521407"/>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A random variable provides a numerical description of the outcome of an experiment. </a:t>
            </a:r>
          </a:p>
          <a:p>
            <a:pPr>
              <a:lnSpc>
                <a:spcPct val="100000"/>
              </a:lnSpc>
              <a:spcBef>
                <a:spcPts val="600"/>
              </a:spcBef>
            </a:pPr>
            <a:r>
              <a:rPr lang="en-US" dirty="0">
                <a:latin typeface="Arial" panose="020B0604020202020204" pitchFamily="34" charset="0"/>
                <a:cs typeface="Arial" panose="020B0604020202020204" pitchFamily="34" charset="0"/>
              </a:rPr>
              <a:t>For any discrete random variable, the probability distribution defined by a probability function provides the probability associated with each value of the random variable.</a:t>
            </a:r>
          </a:p>
          <a:p>
            <a:pPr>
              <a:lnSpc>
                <a:spcPct val="100000"/>
              </a:lnSpc>
              <a:spcBef>
                <a:spcPts val="600"/>
              </a:spcBef>
            </a:pPr>
            <a:r>
              <a:rPr lang="en-US" dirty="0">
                <a:latin typeface="Arial" panose="020B0604020202020204" pitchFamily="34" charset="0"/>
                <a:cs typeface="Arial" panose="020B0604020202020204" pitchFamily="34" charset="0"/>
              </a:rPr>
              <a:t>We introduced two types of discrete probability distributions:</a:t>
            </a:r>
          </a:p>
          <a:p>
            <a:pPr lvl="1">
              <a:lnSpc>
                <a:spcPct val="100000"/>
              </a:lnSpc>
              <a:spcBef>
                <a:spcPts val="600"/>
              </a:spcBef>
            </a:pPr>
            <a:r>
              <a:rPr lang="en-US" dirty="0">
                <a:latin typeface="Arial" panose="020B0604020202020204" pitchFamily="34" charset="0"/>
                <a:cs typeface="Arial" panose="020B0604020202020204" pitchFamily="34" charset="0"/>
              </a:rPr>
              <a:t>A table consisting of the values of the random variable and associated probabilities.</a:t>
            </a:r>
          </a:p>
          <a:p>
            <a:pPr lvl="1">
              <a:lnSpc>
                <a:spcPct val="100000"/>
              </a:lnSpc>
              <a:spcBef>
                <a:spcPts val="600"/>
              </a:spcBef>
            </a:pPr>
            <a:r>
              <a:rPr lang="en-US" dirty="0">
                <a:latin typeface="Arial" panose="020B0604020202020204" pitchFamily="34" charset="0"/>
                <a:cs typeface="Arial" panose="020B0604020202020204" pitchFamily="34" charset="0"/>
              </a:rPr>
              <a:t>A mathematical function that provides the probabilities for the random variable.</a:t>
            </a:r>
          </a:p>
          <a:p>
            <a:pPr>
              <a:lnSpc>
                <a:spcPct val="100000"/>
              </a:lnSpc>
              <a:spcBef>
                <a:spcPts val="600"/>
              </a:spcBef>
            </a:pPr>
            <a:r>
              <a:rPr lang="en-US" dirty="0">
                <a:latin typeface="Arial" panose="020B0604020202020204" pitchFamily="34" charset="0"/>
                <a:cs typeface="Arial" panose="020B0604020202020204" pitchFamily="34" charset="0"/>
              </a:rPr>
              <a:t>We described a probability distribution with the expected value, a measure of central location, and the variance and standard deviation as measures of variability.</a:t>
            </a:r>
          </a:p>
          <a:p>
            <a:pPr>
              <a:lnSpc>
                <a:spcPct val="100000"/>
              </a:lnSpc>
              <a:spcBef>
                <a:spcPts val="600"/>
              </a:spcBef>
            </a:pPr>
            <a:r>
              <a:rPr lang="en-US" dirty="0">
                <a:latin typeface="Arial" panose="020B0604020202020204" pitchFamily="34" charset="0"/>
                <a:cs typeface="Arial" panose="020B0604020202020204" pitchFamily="34" charset="0"/>
              </a:rPr>
              <a:t>We showed how to compute the covariance and correlation coefficient as measures of a bivariate relationship, and how bivariate distributions involving market returns on financial assets can be used to create financial portfolios.</a:t>
            </a:r>
          </a:p>
          <a:p>
            <a:pPr>
              <a:lnSpc>
                <a:spcPct val="100000"/>
              </a:lnSpc>
              <a:spcBef>
                <a:spcPts val="600"/>
              </a:spcBef>
            </a:pPr>
            <a:r>
              <a:rPr lang="en-US" dirty="0">
                <a:latin typeface="Arial" panose="020B0604020202020204" pitchFamily="34" charset="0"/>
                <a:cs typeface="Arial" panose="020B0604020202020204" pitchFamily="34" charset="0"/>
              </a:rPr>
              <a:t>Finally, we introduced three discrete probability distributions that are described by a mathematical function: the binomial, Poisson, and hypergeometric distributions.</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99869</TotalTime>
  <Words>6960</Words>
  <Application>Microsoft Office PowerPoint</Application>
  <PresentationFormat>Widescreen</PresentationFormat>
  <Paragraphs>719</Paragraphs>
  <Slides>45</Slides>
  <Notes>23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45</vt:i4>
      </vt:variant>
    </vt:vector>
  </HeadingPairs>
  <TitlesOfParts>
    <vt:vector size="56" baseType="lpstr">
      <vt:lpstr>arial</vt:lpstr>
      <vt:lpstr>arial</vt:lpstr>
      <vt:lpstr>Arial Unicode MS</vt:lpstr>
      <vt:lpstr>Calibri</vt:lpstr>
      <vt:lpstr>Cambria Math</vt:lpstr>
      <vt:lpstr>Helvetica</vt:lpstr>
      <vt:lpstr>Open Sans</vt:lpstr>
      <vt:lpstr>Summer Font</vt:lpstr>
      <vt:lpstr>Symbol</vt:lpstr>
      <vt:lpstr>Times New Roman</vt:lpstr>
      <vt:lpstr>Office Theme</vt:lpstr>
      <vt:lpstr>PowerPoint Presentation</vt:lpstr>
      <vt:lpstr>Chapter Contents</vt:lpstr>
      <vt:lpstr>Chapter Objectives (1 of 2)</vt:lpstr>
      <vt:lpstr>Chapter Objectives (2 of 2)</vt:lpstr>
      <vt:lpstr>Introduction</vt:lpstr>
      <vt:lpstr>5.1 Random Variables</vt:lpstr>
      <vt:lpstr>5.1 Examples of Continuous Random Variables</vt:lpstr>
      <vt:lpstr>5.2 Developing Discrete Probability Distributions</vt:lpstr>
      <vt:lpstr>5.2 Empirical Discrete Distribution</vt:lpstr>
      <vt:lpstr>5.2 Probability Distribution Given by a Formula</vt:lpstr>
      <vt:lpstr>5.3 Expected Value and Variance</vt:lpstr>
      <vt:lpstr>5.3 Variance and Standard Deviation</vt:lpstr>
      <vt:lpstr>5.3 Excel: Compute the Expected Value, Variance, and Standard Deviation</vt:lpstr>
      <vt:lpstr>5.4 Bivariate Probability Distributions, Covariance, and Financial Portfolios</vt:lpstr>
      <vt:lpstr>5.4 A Bivariate Experiment for DiCarlo Motors </vt:lpstr>
      <vt:lpstr>5.4 A Bivariate Empirical Discrete Probability Distribution for DiCarlo Motors</vt:lpstr>
      <vt:lpstr>5.4 Probability Distribution for Total Daily Sales at DiCarlo Motors</vt:lpstr>
      <vt:lpstr>5.4 Expected Value and Variance of Daily Sales at the Geneva Dealership</vt:lpstr>
      <vt:lpstr>5.4 Covariance and Correlation at DiCarlo Motors</vt:lpstr>
      <vt:lpstr>5.4 Financial Applications</vt:lpstr>
      <vt:lpstr>5.4 Return and Risk of the Individual Funds</vt:lpstr>
      <vt:lpstr>5.4 A Financial Portfolio of a Stock Fund and a Bond Fund</vt:lpstr>
      <vt:lpstr>5.4 Properties of the Linear Combination of x and y</vt:lpstr>
      <vt:lpstr>5.4 Risk and Return for the Three Financial Alternatives</vt:lpstr>
      <vt:lpstr>5.5 Binomial Probability Distribution</vt:lpstr>
      <vt:lpstr>5.5 Martin Clothing Store Problem</vt:lpstr>
      <vt:lpstr>5.5 The Binomial Probability Function</vt:lpstr>
      <vt:lpstr>5.5 The Binomial Probability Calculation for the Martin Clothing Store Problem</vt:lpstr>
      <vt:lpstr>5.5 The Binomial Probability Distribution for the Martin Clothing Store Problem</vt:lpstr>
      <vt:lpstr>5.5 Excel: Computing Binomial Probabilities</vt:lpstr>
      <vt:lpstr>5.5 Excel: Computing Cumulative Binomial Probabilities</vt:lpstr>
      <vt:lpstr>5.5 Properties of the Binomial Distribution</vt:lpstr>
      <vt:lpstr>5.6 Poisson Probability Distribution</vt:lpstr>
      <vt:lpstr>5.6 An Application of the Poisson Probability Distribution</vt:lpstr>
      <vt:lpstr>5.6 Excel: Computing Poisson Probabilities</vt:lpstr>
      <vt:lpstr>5.6 Displaying Chart of Poisson Probability Distribution</vt:lpstr>
      <vt:lpstr>5.6 Excel: Computing Cumulative Poisson Probabilities</vt:lpstr>
      <vt:lpstr>5.6 Properties of the Poisson Probability Distribution</vt:lpstr>
      <vt:lpstr>5.7 Hypergeometric Probability Distribution</vt:lpstr>
      <vt:lpstr>5.7 Hypergeometric Probability Function</vt:lpstr>
      <vt:lpstr>5.7 An Application of the Hypergeometric Distribution</vt:lpstr>
      <vt:lpstr>5.7 Excel: Computing Hypergeometric Probabilities</vt:lpstr>
      <vt:lpstr>5.7 Excel: Computing Cumulative Hypergeometric Probabilities</vt:lpstr>
      <vt:lpstr>5.7 Properties of the Hypergeometric Distribution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2487</cp:revision>
  <cp:lastPrinted>2016-10-03T15:29:39Z</cp:lastPrinted>
  <dcterms:created xsi:type="dcterms:W3CDTF">2019-11-14T21:20:16Z</dcterms:created>
  <dcterms:modified xsi:type="dcterms:W3CDTF">2025-12-18T15:58:34Z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