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0"/>
  </p:notesMasterIdLst>
  <p:handoutMasterIdLst>
    <p:handoutMasterId r:id="rId51"/>
  </p:handoutMasterIdLst>
  <p:sldIdLst>
    <p:sldId id="680" r:id="rId5"/>
    <p:sldId id="524" r:id="rId6"/>
    <p:sldId id="548" r:id="rId7"/>
    <p:sldId id="640" r:id="rId8"/>
    <p:sldId id="596" r:id="rId9"/>
    <p:sldId id="665" r:id="rId10"/>
    <p:sldId id="641" r:id="rId11"/>
    <p:sldId id="642" r:id="rId12"/>
    <p:sldId id="643" r:id="rId13"/>
    <p:sldId id="669" r:id="rId14"/>
    <p:sldId id="601" r:id="rId15"/>
    <p:sldId id="644" r:id="rId16"/>
    <p:sldId id="645" r:id="rId17"/>
    <p:sldId id="646" r:id="rId18"/>
    <p:sldId id="670" r:id="rId19"/>
    <p:sldId id="671" r:id="rId20"/>
    <p:sldId id="666" r:id="rId21"/>
    <p:sldId id="647" r:id="rId22"/>
    <p:sldId id="648" r:id="rId23"/>
    <p:sldId id="649" r:id="rId24"/>
    <p:sldId id="672" r:id="rId25"/>
    <p:sldId id="673" r:id="rId26"/>
    <p:sldId id="650" r:id="rId27"/>
    <p:sldId id="651" r:id="rId28"/>
    <p:sldId id="652" r:id="rId29"/>
    <p:sldId id="620" r:id="rId30"/>
    <p:sldId id="674" r:id="rId31"/>
    <p:sldId id="675" r:id="rId32"/>
    <p:sldId id="653" r:id="rId33"/>
    <p:sldId id="654" r:id="rId34"/>
    <p:sldId id="655" r:id="rId35"/>
    <p:sldId id="656" r:id="rId36"/>
    <p:sldId id="657" r:id="rId37"/>
    <p:sldId id="676" r:id="rId38"/>
    <p:sldId id="677" r:id="rId39"/>
    <p:sldId id="667" r:id="rId40"/>
    <p:sldId id="658" r:id="rId41"/>
    <p:sldId id="659" r:id="rId42"/>
    <p:sldId id="660" r:id="rId43"/>
    <p:sldId id="678" r:id="rId44"/>
    <p:sldId id="661" r:id="rId45"/>
    <p:sldId id="662" r:id="rId46"/>
    <p:sldId id="664" r:id="rId47"/>
    <p:sldId id="679" r:id="rId48"/>
    <p:sldId id="523" r:id="rId4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FB7424-FDF1-8F6E-9596-ACB5A8234F08}" name="Lumina CE" initials="CE" userId="Lumina C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4B1E"/>
    <a:srgbClr val="25894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8" d="100"/>
          <a:sy n="58" d="100"/>
        </p:scale>
        <p:origin x="68" y="88"/>
      </p:cViewPr>
      <p:guideLst>
        <p:guide orient="horz" pos="2160"/>
        <p:guide pos="3840"/>
      </p:guideLst>
    </p:cSldViewPr>
  </p:slideViewPr>
  <p:outlineViewPr>
    <p:cViewPr>
      <p:scale>
        <a:sx n="33" d="100"/>
        <a:sy n="33" d="100"/>
      </p:scale>
      <p:origin x="0" y="-64556"/>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57867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2184858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b="0" i="0" dirty="0">
                    <a:effectLst/>
                    <a:latin typeface="Times New Roman" panose="02020603050405020304" pitchFamily="18" charset="0"/>
                  </a:rPr>
                  <a:t>If both populations have a normal distribution, or if the sample sizes are large enough that the central limit theorem enables us to conclude that the sampling distributions of </a:t>
                </a:r>
                <a14:m>
                  <m:oMath xmlns:m="http://schemas.openxmlformats.org/officeDocument/2006/math">
                    <m:sSub>
                      <m:sSubPr>
                        <m:ctrlPr>
                          <a:rPr lang="en-US" sz="1200" b="0" i="1" smtClean="0">
                            <a:latin typeface="Cambria Math" panose="02040503050406030204" pitchFamily="18" charset="0"/>
                            <a:cs typeface="Arial" panose="020B0604020202020204" pitchFamily="34" charset="0"/>
                          </a:rPr>
                        </m:ctrlPr>
                      </m:sSubPr>
                      <m:e>
                        <m:acc>
                          <m:accPr>
                            <m:chr m:val="̅"/>
                            <m:ctrlPr>
                              <a:rPr lang="en-US" sz="1200" b="0" i="1" smtClean="0">
                                <a:latin typeface="Cambria Math" panose="02040503050406030204" pitchFamily="18" charset="0"/>
                                <a:cs typeface="Arial" panose="020B0604020202020204" pitchFamily="34" charset="0"/>
                              </a:rPr>
                            </m:ctrlPr>
                          </m:accPr>
                          <m:e>
                            <m:r>
                              <a:rPr lang="en-US" sz="1200" b="0" i="1" smtClean="0">
                                <a:latin typeface="Cambria Math" panose="02040503050406030204" pitchFamily="18" charset="0"/>
                                <a:cs typeface="Arial" panose="020B0604020202020204" pitchFamily="34" charset="0"/>
                              </a:rPr>
                              <m:t>𝑥</m:t>
                            </m:r>
                          </m:e>
                        </m:acc>
                      </m:e>
                      <m:sub>
                        <m:r>
                          <a:rPr lang="en-US" sz="1200" b="0" i="1" smtClean="0">
                            <a:latin typeface="Cambria Math" panose="02040503050406030204" pitchFamily="18" charset="0"/>
                            <a:cs typeface="Arial" panose="020B0604020202020204" pitchFamily="34" charset="0"/>
                          </a:rPr>
                          <m:t>1</m:t>
                        </m:r>
                      </m:sub>
                    </m:sSub>
                  </m:oMath>
                </a14:m>
                <a:r>
                  <a:rPr lang="en-US" b="0" i="0" dirty="0">
                    <a:effectLst/>
                    <a:latin typeface="Times New Roman" panose="02020603050405020304" pitchFamily="18" charset="0"/>
                  </a:rPr>
                  <a:t> and </a:t>
                </a:r>
                <a14:m>
                  <m:oMath xmlns:m="http://schemas.openxmlformats.org/officeDocument/2006/math">
                    <m:sSub>
                      <m:sSubPr>
                        <m:ctrlPr>
                          <a:rPr lang="en-US" sz="1200" b="0" i="1" smtClean="0">
                            <a:latin typeface="Cambria Math" panose="02040503050406030204" pitchFamily="18" charset="0"/>
                            <a:cs typeface="Arial" panose="020B0604020202020204" pitchFamily="34" charset="0"/>
                          </a:rPr>
                        </m:ctrlPr>
                      </m:sSubPr>
                      <m:e>
                        <m:acc>
                          <m:accPr>
                            <m:chr m:val="̅"/>
                            <m:ctrlPr>
                              <a:rPr lang="en-US" sz="1200" b="0" i="1" smtClean="0">
                                <a:latin typeface="Cambria Math" panose="02040503050406030204" pitchFamily="18" charset="0"/>
                                <a:cs typeface="Arial" panose="020B0604020202020204" pitchFamily="34" charset="0"/>
                              </a:rPr>
                            </m:ctrlPr>
                          </m:accPr>
                          <m:e>
                            <m:r>
                              <a:rPr lang="en-US" sz="1200" b="0" i="1" smtClean="0">
                                <a:latin typeface="Cambria Math" panose="02040503050406030204" pitchFamily="18" charset="0"/>
                                <a:cs typeface="Arial" panose="020B0604020202020204" pitchFamily="34" charset="0"/>
                              </a:rPr>
                              <m:t>𝑥</m:t>
                            </m:r>
                          </m:e>
                        </m:acc>
                      </m:e>
                      <m:sub>
                        <m:r>
                          <a:rPr lang="en-US" sz="1200" b="0" i="1" smtClean="0">
                            <a:latin typeface="Cambria Math" panose="02040503050406030204" pitchFamily="18" charset="0"/>
                            <a:cs typeface="Arial" panose="020B0604020202020204" pitchFamily="34" charset="0"/>
                          </a:rPr>
                          <m:t>2</m:t>
                        </m:r>
                      </m:sub>
                    </m:sSub>
                  </m:oMath>
                </a14:m>
                <a:r>
                  <a:rPr lang="en-US" b="0" i="0" dirty="0">
                    <a:effectLst/>
                    <a:latin typeface="Times New Roman" panose="02020603050405020304" pitchFamily="18" charset="0"/>
                  </a:rPr>
                  <a:t> can be approximated by a normal distribution, the sampling distribution of </a:t>
                </a:r>
                <a14:m>
                  <m:oMath xmlns:m="http://schemas.openxmlformats.org/officeDocument/2006/math">
                    <m:sSub>
                      <m:sSubPr>
                        <m:ctrlPr>
                          <a:rPr lang="en-US" sz="1200" b="0" i="1" smtClean="0">
                            <a:latin typeface="Cambria Math" panose="02040503050406030204" pitchFamily="18" charset="0"/>
                            <a:cs typeface="Arial" panose="020B0604020202020204" pitchFamily="34" charset="0"/>
                          </a:rPr>
                        </m:ctrlPr>
                      </m:sSubPr>
                      <m:e>
                        <m:acc>
                          <m:accPr>
                            <m:chr m:val="̅"/>
                            <m:ctrlPr>
                              <a:rPr lang="en-US" sz="1200" b="0" i="1" smtClean="0">
                                <a:latin typeface="Cambria Math" panose="02040503050406030204" pitchFamily="18" charset="0"/>
                                <a:cs typeface="Arial" panose="020B0604020202020204" pitchFamily="34" charset="0"/>
                              </a:rPr>
                            </m:ctrlPr>
                          </m:accPr>
                          <m:e>
                            <m:r>
                              <a:rPr lang="en-US" sz="1200" b="0" i="1" smtClean="0">
                                <a:latin typeface="Cambria Math" panose="02040503050406030204" pitchFamily="18" charset="0"/>
                                <a:cs typeface="Arial" panose="020B0604020202020204" pitchFamily="34" charset="0"/>
                              </a:rPr>
                              <m:t>𝑥</m:t>
                            </m:r>
                          </m:e>
                        </m:acc>
                      </m:e>
                      <m:sub>
                        <m:r>
                          <a:rPr lang="en-US" sz="1200" b="0" i="1" smtClean="0">
                            <a:latin typeface="Cambria Math" panose="02040503050406030204" pitchFamily="18" charset="0"/>
                            <a:cs typeface="Arial" panose="020B0604020202020204" pitchFamily="34" charset="0"/>
                          </a:rPr>
                          <m:t>1</m:t>
                        </m:r>
                      </m:sub>
                    </m:sSub>
                    <m:r>
                      <a:rPr lang="en-US" sz="1200" b="0" i="1" smtClean="0">
                        <a:latin typeface="Cambria Math" panose="02040503050406030204" pitchFamily="18" charset="0"/>
                        <a:cs typeface="Arial" panose="020B0604020202020204" pitchFamily="34" charset="0"/>
                      </a:rPr>
                      <m:t>−</m:t>
                    </m:r>
                    <m:sSub>
                      <m:sSubPr>
                        <m:ctrlPr>
                          <a:rPr lang="en-US" sz="1200" b="0" i="1">
                            <a:latin typeface="Cambria Math" panose="02040503050406030204" pitchFamily="18" charset="0"/>
                            <a:cs typeface="Arial" panose="020B0604020202020204" pitchFamily="34" charset="0"/>
                          </a:rPr>
                        </m:ctrlPr>
                      </m:sSubPr>
                      <m:e>
                        <m:acc>
                          <m:accPr>
                            <m:chr m:val="̅"/>
                            <m:ctrlPr>
                              <a:rPr lang="en-US" sz="1200" b="0" i="1" smtClean="0">
                                <a:latin typeface="Cambria Math" panose="02040503050406030204" pitchFamily="18" charset="0"/>
                                <a:cs typeface="Arial" panose="020B0604020202020204" pitchFamily="34" charset="0"/>
                              </a:rPr>
                            </m:ctrlPr>
                          </m:accPr>
                          <m:e>
                            <m:r>
                              <a:rPr lang="en-US" sz="1200" b="0" i="1" smtClean="0">
                                <a:latin typeface="Cambria Math" panose="02040503050406030204" pitchFamily="18" charset="0"/>
                                <a:cs typeface="Arial" panose="020B0604020202020204" pitchFamily="34" charset="0"/>
                              </a:rPr>
                              <m:t>𝑥</m:t>
                            </m:r>
                          </m:e>
                        </m:acc>
                      </m:e>
                      <m:sub>
                        <m:r>
                          <a:rPr lang="en-US" sz="1200" b="0" i="1" smtClean="0">
                            <a:latin typeface="Cambria Math" panose="02040503050406030204" pitchFamily="18" charset="0"/>
                            <a:cs typeface="Arial" panose="020B0604020202020204" pitchFamily="34" charset="0"/>
                          </a:rPr>
                          <m:t>2</m:t>
                        </m:r>
                      </m:sub>
                    </m:sSub>
                  </m:oMath>
                </a14:m>
                <a:r>
                  <a:rPr lang="en-US" b="0" i="0" dirty="0">
                    <a:effectLst/>
                    <a:latin typeface="Times New Roman" panose="02020603050405020304" pitchFamily="18" charset="0"/>
                  </a:rPr>
                  <a:t> will have a normal distribution with mean given by </a:t>
                </a:r>
                <a14:m>
                  <m:oMath xmlns:m="http://schemas.openxmlformats.org/officeDocument/2006/math">
                    <m:sSub>
                      <m:sSubPr>
                        <m:ctrlPr>
                          <a:rPr lang="en-US" sz="1200" i="1" smtClean="0">
                            <a:solidFill>
                              <a:srgbClr val="000000"/>
                            </a:solidFill>
                            <a:latin typeface="Cambria Math" panose="02040503050406030204" pitchFamily="18" charset="0"/>
                            <a:cs typeface="Arial" panose="020B0604020202020204" pitchFamily="34" charset="0"/>
                          </a:rPr>
                        </m:ctrlPr>
                      </m:sSubPr>
                      <m:e>
                        <m:r>
                          <a:rPr lang="en-US" sz="1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1200" b="0" i="1" smtClean="0">
                            <a:solidFill>
                              <a:srgbClr val="000000"/>
                            </a:solidFill>
                            <a:latin typeface="Cambria Math" panose="02040503050406030204" pitchFamily="18" charset="0"/>
                            <a:cs typeface="Arial" panose="020B0604020202020204" pitchFamily="34" charset="0"/>
                          </a:rPr>
                          <m:t>1</m:t>
                        </m:r>
                      </m:sub>
                    </m:sSub>
                    <m:r>
                      <a:rPr lang="en-US" sz="1200" b="0" i="1" smtClean="0">
                        <a:solidFill>
                          <a:srgbClr val="000000"/>
                        </a:solidFill>
                        <a:latin typeface="Cambria Math" panose="02040503050406030204" pitchFamily="18" charset="0"/>
                        <a:cs typeface="Arial" panose="020B0604020202020204" pitchFamily="34" charset="0"/>
                      </a:rPr>
                      <m:t>−</m:t>
                    </m:r>
                    <m:sSub>
                      <m:sSubPr>
                        <m:ctrlPr>
                          <a:rPr lang="en-US" sz="1200" i="1" smtClean="0">
                            <a:solidFill>
                              <a:srgbClr val="000000"/>
                            </a:solidFill>
                            <a:latin typeface="Cambria Math" panose="02040503050406030204" pitchFamily="18" charset="0"/>
                            <a:cs typeface="Arial" panose="020B0604020202020204" pitchFamily="34" charset="0"/>
                          </a:rPr>
                        </m:ctrlPr>
                      </m:sSubPr>
                      <m:e>
                        <m:r>
                          <a:rPr lang="en-US" sz="1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1200" b="0" i="1" smtClean="0">
                            <a:solidFill>
                              <a:srgbClr val="000000"/>
                            </a:solidFill>
                            <a:latin typeface="Cambria Math" panose="02040503050406030204" pitchFamily="18" charset="0"/>
                            <a:cs typeface="Arial" panose="020B0604020202020204" pitchFamily="34" charset="0"/>
                          </a:rPr>
                          <m:t>2</m:t>
                        </m:r>
                      </m:sub>
                    </m:sSub>
                  </m:oMath>
                </a14:m>
                <a:r>
                  <a:rPr lang="en-US" b="0" i="0" dirty="0">
                    <a:effectLst/>
                    <a:latin typeface="Times New Roman" panose="02020603050405020304" pitchFamily="18" charset="0"/>
                  </a:rPr>
                  <a:t>.</a:t>
                </a: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b="0" i="0" dirty="0">
                    <a:effectLst/>
                    <a:latin typeface="Times New Roman" panose="02020603050405020304" pitchFamily="18" charset="0"/>
                  </a:rPr>
                  <a:t>If both populations have a normal distribution, or if the sample sizes are large enough that the central limit theorem enables us to conclude that the sampling distributions of </a:t>
                </a:r>
                <a:r>
                  <a:rPr lang="en-US" sz="1200" b="0" i="0">
                    <a:latin typeface="Cambria Math" panose="02040503050406030204" pitchFamily="18" charset="0"/>
                    <a:cs typeface="Arial" panose="020B0604020202020204" pitchFamily="34" charset="0"/>
                  </a:rPr>
                  <a:t>𝑥 ̅_1</a:t>
                </a:r>
                <a:r>
                  <a:rPr lang="en-US" b="0" i="0" dirty="0">
                    <a:effectLst/>
                    <a:latin typeface="Times New Roman" panose="02020603050405020304" pitchFamily="18" charset="0"/>
                  </a:rPr>
                  <a:t> and </a:t>
                </a:r>
                <a:r>
                  <a:rPr lang="en-US" sz="1200" b="0" i="0">
                    <a:latin typeface="Cambria Math" panose="02040503050406030204" pitchFamily="18" charset="0"/>
                    <a:cs typeface="Arial" panose="020B0604020202020204" pitchFamily="34" charset="0"/>
                  </a:rPr>
                  <a:t>𝑥 ̅_2</a:t>
                </a:r>
                <a:r>
                  <a:rPr lang="en-US" b="0" i="0" dirty="0">
                    <a:effectLst/>
                    <a:latin typeface="Times New Roman" panose="02020603050405020304" pitchFamily="18" charset="0"/>
                  </a:rPr>
                  <a:t> can be approximated by a normal distribution, the sampling distribution of </a:t>
                </a:r>
                <a:r>
                  <a:rPr lang="en-US" sz="1200" b="0" i="0">
                    <a:latin typeface="Cambria Math" panose="02040503050406030204" pitchFamily="18" charset="0"/>
                    <a:cs typeface="Arial" panose="020B0604020202020204" pitchFamily="34" charset="0"/>
                  </a:rPr>
                  <a:t>𝑥 ̅_1−𝑥 ̅_2</a:t>
                </a:r>
                <a:r>
                  <a:rPr lang="en-US" b="0" i="0" dirty="0">
                    <a:effectLst/>
                    <a:latin typeface="Times New Roman" panose="02020603050405020304" pitchFamily="18" charset="0"/>
                  </a:rPr>
                  <a:t> will have a normal distribution with mean given by </a:t>
                </a:r>
                <a:r>
                  <a:rPr lang="en-US" sz="1200" b="0" i="0">
                    <a:solidFill>
                      <a:srgbClr val="000000"/>
                    </a:solidFill>
                    <a:latin typeface="Cambria Math" panose="02040503050406030204" pitchFamily="18" charset="0"/>
                    <a:ea typeface="Cambria Math" panose="02040503050406030204" pitchFamily="18" charset="0"/>
                    <a:cs typeface="Arial" panose="020B0604020202020204" pitchFamily="34" charset="0"/>
                  </a:rPr>
                  <a:t>𝜇_</a:t>
                </a:r>
                <a:r>
                  <a:rPr lang="en-US" sz="1200" b="0" i="0">
                    <a:solidFill>
                      <a:srgbClr val="000000"/>
                    </a:solidFill>
                    <a:latin typeface="Cambria Math" panose="02040503050406030204" pitchFamily="18" charset="0"/>
                    <a:cs typeface="Arial" panose="020B0604020202020204" pitchFamily="34" charset="0"/>
                  </a:rPr>
                  <a:t>1−</a:t>
                </a:r>
                <a:r>
                  <a:rPr lang="en-US" sz="1200" b="0" i="0">
                    <a:solidFill>
                      <a:srgbClr val="000000"/>
                    </a:solidFill>
                    <a:latin typeface="Cambria Math" panose="02040503050406030204" pitchFamily="18" charset="0"/>
                    <a:ea typeface="Cambria Math" panose="02040503050406030204" pitchFamily="18" charset="0"/>
                    <a:cs typeface="Arial" panose="020B0604020202020204" pitchFamily="34" charset="0"/>
                  </a:rPr>
                  <a:t>𝜇_</a:t>
                </a:r>
                <a:r>
                  <a:rPr lang="en-US" sz="1200" b="0" i="0">
                    <a:solidFill>
                      <a:srgbClr val="000000"/>
                    </a:solidFill>
                    <a:latin typeface="Cambria Math" panose="02040503050406030204" pitchFamily="18" charset="0"/>
                    <a:cs typeface="Arial" panose="020B0604020202020204" pitchFamily="34" charset="0"/>
                  </a:rPr>
                  <a:t>2</a:t>
                </a:r>
                <a:r>
                  <a:rPr lang="en-US" b="0" i="0" dirty="0">
                    <a:effectLst/>
                    <a:latin typeface="Times New Roman" panose="02020603050405020304" pitchFamily="18" charset="0"/>
                  </a:rPr>
                  <a:t>.</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1612195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115326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442117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345325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b="0" i="0" dirty="0">
                <a:effectLst/>
                <a:latin typeface="Times New Roman" panose="02020603050405020304" pitchFamily="18" charset="0"/>
              </a:rPr>
              <a:t>In most applications of the interval estimation and hypothesis testing procedures presented in this section, random samples with </a:t>
            </a:r>
            <a:r>
              <a:rPr lang="en-US" b="0" i="1" dirty="0">
                <a:effectLst/>
                <a:latin typeface="Times New Roman" panose="02020603050405020304" pitchFamily="18" charset="0"/>
              </a:rPr>
              <a:t>n</a:t>
            </a:r>
            <a:r>
              <a:rPr lang="en-US" b="0" i="0" baseline="-25000" dirty="0">
                <a:effectLst/>
                <a:latin typeface="Times New Roman" panose="02020603050405020304" pitchFamily="18" charset="0"/>
              </a:rPr>
              <a:t>1</a:t>
            </a:r>
            <a:r>
              <a:rPr lang="en-US" b="0" i="0" dirty="0">
                <a:effectLst/>
                <a:latin typeface="Arial" panose="020B0604020202020204" pitchFamily="34" charset="0"/>
              </a:rPr>
              <a:t>≥</a:t>
            </a:r>
            <a:r>
              <a:rPr lang="en-US" b="0" i="0" dirty="0">
                <a:effectLst/>
                <a:latin typeface="Times New Roman" panose="02020603050405020304" pitchFamily="18" charset="0"/>
              </a:rPr>
              <a:t>30 and </a:t>
            </a:r>
            <a:r>
              <a:rPr lang="en-US" b="0" i="1" dirty="0">
                <a:effectLst/>
                <a:latin typeface="Times New Roman" panose="02020603050405020304" pitchFamily="18" charset="0"/>
              </a:rPr>
              <a:t>n</a:t>
            </a:r>
            <a:r>
              <a:rPr lang="en-US" b="0" i="0" baseline="-25000" dirty="0">
                <a:effectLst/>
                <a:latin typeface="Times New Roman" panose="02020603050405020304" pitchFamily="18" charset="0"/>
              </a:rPr>
              <a:t>2</a:t>
            </a:r>
            <a:r>
              <a:rPr lang="en-US" b="0" i="0" dirty="0">
                <a:effectLst/>
                <a:latin typeface="Arial" panose="020B0604020202020204" pitchFamily="34" charset="0"/>
              </a:rPr>
              <a:t>≥</a:t>
            </a:r>
            <a:r>
              <a:rPr lang="en-US" b="0" i="0" dirty="0">
                <a:effectLst/>
                <a:latin typeface="Times New Roman" panose="02020603050405020304" pitchFamily="18" charset="0"/>
              </a:rPr>
              <a:t>30 are adequate. In cases where either or both sample sizes are less than 30, the distributions of the populations become important considerations. In general, with smaller sample sizes, it is more important for the analyst to be satisfied that it is reasonable to assume that the distributions of the two populations are at least approximately normal.</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966266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829087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822667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2962265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Times New Roman" panose="02020603050405020304" pitchFamily="18" charset="0"/>
              </a:rPr>
              <a:t>The interval estimation and hypothesis testing procedures presented in this section are robust and can be used with relatively small sample sizes. In most applications, equal or nearly equal sample sizes such that the total sample size </a:t>
            </a:r>
            <a:r>
              <a:rPr lang="en-US" b="0" i="1" dirty="0">
                <a:effectLst/>
                <a:latin typeface="Times New Roman" panose="02020603050405020304" pitchFamily="18" charset="0"/>
              </a:rPr>
              <a:t>n</a:t>
            </a:r>
            <a:r>
              <a:rPr lang="en-US" b="0" i="0" baseline="-25000" dirty="0">
                <a:effectLst/>
                <a:latin typeface="Times New Roman" panose="02020603050405020304" pitchFamily="18" charset="0"/>
              </a:rPr>
              <a:t>1</a:t>
            </a:r>
            <a:r>
              <a:rPr lang="en-US" b="0" i="0" dirty="0">
                <a:effectLst/>
                <a:latin typeface="Arial" panose="020B0604020202020204" pitchFamily="34" charset="0"/>
              </a:rPr>
              <a:t>+</a:t>
            </a:r>
            <a:r>
              <a:rPr lang="en-US" b="0" i="1" dirty="0">
                <a:effectLst/>
                <a:latin typeface="Times New Roman" panose="02020603050405020304" pitchFamily="18" charset="0"/>
              </a:rPr>
              <a:t>n</a:t>
            </a:r>
            <a:r>
              <a:rPr lang="en-US" b="0" i="0" baseline="-25000" dirty="0">
                <a:effectLst/>
                <a:latin typeface="Times New Roman" panose="02020603050405020304" pitchFamily="18" charset="0"/>
              </a:rPr>
              <a:t>2</a:t>
            </a:r>
            <a:r>
              <a:rPr lang="en-US" b="0" i="0" dirty="0">
                <a:effectLst/>
                <a:latin typeface="Times New Roman" panose="02020603050405020304" pitchFamily="18" charset="0"/>
              </a:rPr>
              <a:t> is at least 20 can be expected to provide very good results even if the populations are not normal. Larger sample sizes are recommended if the distributions of the populations are highly skewed or contain outliers. Smaller sample sizes should only be used if the analyst is satisfied that the distributions of the populations are at least approximately normal.</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2133542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b="0" i="0" dirty="0">
                <a:effectLst/>
                <a:latin typeface="Times New Roman" panose="02020603050405020304" pitchFamily="18" charset="0"/>
              </a:rPr>
              <a:t>Statistical software packages compute the appropriate degrees of freedom automatically.</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4269440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2647368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Times New Roman" panose="02020603050405020304" pitchFamily="18" charset="0"/>
              </a:rPr>
              <a:t>The interval estimation and hypothesis testing procedures presented in this section are robust and can be used with relatively small sample sizes. In most applications, equal or nearly equal sample sizes such that the total sample size </a:t>
            </a:r>
            <a:r>
              <a:rPr lang="en-US" b="0" i="1" dirty="0">
                <a:effectLst/>
                <a:latin typeface="Times New Roman" panose="02020603050405020304" pitchFamily="18" charset="0"/>
              </a:rPr>
              <a:t>n</a:t>
            </a:r>
            <a:r>
              <a:rPr lang="en-US" b="0" i="0" baseline="-25000" dirty="0">
                <a:effectLst/>
                <a:latin typeface="Times New Roman" panose="02020603050405020304" pitchFamily="18" charset="0"/>
              </a:rPr>
              <a:t>1</a:t>
            </a:r>
            <a:r>
              <a:rPr lang="en-US" b="0" i="0" dirty="0">
                <a:effectLst/>
                <a:latin typeface="Arial" panose="020B0604020202020204" pitchFamily="34" charset="0"/>
              </a:rPr>
              <a:t>+</a:t>
            </a:r>
            <a:r>
              <a:rPr lang="en-US" b="0" i="1" dirty="0">
                <a:effectLst/>
                <a:latin typeface="Times New Roman" panose="02020603050405020304" pitchFamily="18" charset="0"/>
              </a:rPr>
              <a:t>n</a:t>
            </a:r>
            <a:r>
              <a:rPr lang="en-US" b="0" i="0" baseline="-25000" dirty="0">
                <a:effectLst/>
                <a:latin typeface="Times New Roman" panose="02020603050405020304" pitchFamily="18" charset="0"/>
              </a:rPr>
              <a:t>2</a:t>
            </a:r>
            <a:r>
              <a:rPr lang="en-US" b="0" i="0" dirty="0">
                <a:effectLst/>
                <a:latin typeface="Times New Roman" panose="02020603050405020304" pitchFamily="18" charset="0"/>
              </a:rPr>
              <a:t> is at least 20 can be expected to provide very good results even if the populations are not normal. Larger sample sizes are recommended if the distributions of the populations are highly skewed or contain outliers. Smaller sample sizes should only be used if the analyst is satisfied that the distributions of the populations are at least approximately normal.</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331379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spcBef>
                <a:spcPts val="600"/>
              </a:spcBef>
            </a:pPr>
            <a:r>
              <a:rPr lang="en-US" sz="1200" dirty="0"/>
              <a:t>*Note:</a:t>
            </a:r>
          </a:p>
          <a:p>
            <a:endParaRPr lang="en-US" sz="1200"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1606764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598702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spcBef>
                <a:spcPts val="600"/>
              </a:spcBef>
            </a:pPr>
            <a:r>
              <a:rPr lang="en-US" sz="1200" dirty="0"/>
              <a:t>*Note: </a:t>
            </a:r>
            <a:r>
              <a:rPr lang="en-US" sz="1200" b="0" i="0" dirty="0">
                <a:effectLst/>
                <a:latin typeface="Arial" panose="020B0604020202020204" pitchFamily="34" charset="0"/>
              </a:rPr>
              <a:t>a</a:t>
            </a:r>
            <a:r>
              <a:rPr lang="en-US" b="0" i="0" dirty="0">
                <a:effectLst/>
                <a:latin typeface="Arial" panose="020B0604020202020204" pitchFamily="34" charset="0"/>
              </a:rPr>
              <a:t> matched sample procedure for inferences about two population means generally provides better precision than the independent sample approach; therefore, it is the recommended design. However, in some applications, the matching cannot be achieved, or perhaps the time and cost associated with matching are excessive. In such cases, the independent sample design should be used.</a:t>
            </a:r>
            <a:endParaRPr lang="en-US" sz="1200"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2804758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spcBef>
                <a:spcPts val="600"/>
              </a:spcBef>
            </a:pPr>
            <a:r>
              <a:rPr lang="en-US" sz="1200" dirty="0"/>
              <a:t>*Note:</a:t>
            </a:r>
          </a:p>
          <a:p>
            <a:endParaRPr lang="en-US" sz="1200"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14514511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73919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it is not necessary to make the assumption that the population has a normal distribution if the sample size is large, but with the small sample of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=6</m:t>
                    </m:r>
                  </m:oMath>
                </a14:m>
                <a:r>
                  <a:rPr lang="en-US" dirty="0"/>
                  <a:t> workers, we need to make the assumption that the population of differences has a normal distribution. This assumption is necessary so that we may use the </a:t>
                </a:r>
                <a:r>
                  <a:rPr lang="en-US" i="1" dirty="0"/>
                  <a:t>t</a:t>
                </a:r>
                <a:r>
                  <a:rPr lang="en-US" dirty="0"/>
                  <a:t> distribution for hypothesis testing and interval estimation procedures.</a:t>
                </a:r>
              </a:p>
            </p:txBody>
          </p:sp>
        </mc:Choice>
        <mc:Fallback xmlns="">
          <p:sp>
            <p:nvSpPr>
              <p:cNvPr id="3" name="Notes Placeholder 2"/>
              <p:cNvSpPr>
                <a:spLocks noGrp="1"/>
              </p:cNvSpPr>
              <p:nvPr>
                <p:ph type="body" idx="1"/>
              </p:nvPr>
            </p:nvSpPr>
            <p:spPr/>
            <p:txBody>
              <a:bodyPr/>
              <a:lstStyle/>
              <a:p>
                <a:r>
                  <a:rPr lang="en-US" dirty="0"/>
                  <a:t>*Note: it is not necessary to make the assumption that the population has a normal distribution if the sample size is large, but with the small sample of </a:t>
                </a:r>
                <a:r>
                  <a:rPr lang="en-US" i="0" dirty="0">
                    <a:latin typeface="Cambria Math" panose="02040503050406030204" pitchFamily="18" charset="0"/>
                  </a:rPr>
                  <a:t>𝑛=6</a:t>
                </a:r>
                <a:r>
                  <a:rPr lang="en-US" dirty="0"/>
                  <a:t> workers, we need to make the assumption that the population of differences has a normal distribution. This assumption is necessary so that we may use the </a:t>
                </a:r>
                <a:r>
                  <a:rPr lang="en-US" i="1" dirty="0"/>
                  <a:t>t</a:t>
                </a:r>
                <a:r>
                  <a:rPr lang="en-US" dirty="0"/>
                  <a:t> distribution for hypothesis testing and interval estimation procedures.</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17857356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it is not necessary to make the assumption that the population has a normal distribution if the sample size is large, but with the small sample of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=6</m:t>
                    </m:r>
                  </m:oMath>
                </a14:m>
                <a:r>
                  <a:rPr lang="en-US" dirty="0"/>
                  <a:t> workers, we need to make the assumption that the population of differences has a normal distribution. This assumption is necessary so that we may use the </a:t>
                </a:r>
                <a:r>
                  <a:rPr lang="en-US" i="1" dirty="0"/>
                  <a:t>t</a:t>
                </a:r>
                <a:r>
                  <a:rPr lang="en-US" dirty="0"/>
                  <a:t> distribution for hypothesis testing and interval estimation procedures.</a:t>
                </a:r>
              </a:p>
            </p:txBody>
          </p:sp>
        </mc:Choice>
        <mc:Fallback xmlns="">
          <p:sp>
            <p:nvSpPr>
              <p:cNvPr id="3" name="Notes Placeholder 2"/>
              <p:cNvSpPr>
                <a:spLocks noGrp="1"/>
              </p:cNvSpPr>
              <p:nvPr>
                <p:ph type="body" idx="1"/>
              </p:nvPr>
            </p:nvSpPr>
            <p:spPr/>
            <p:txBody>
              <a:bodyPr/>
              <a:lstStyle/>
              <a:p>
                <a:r>
                  <a:rPr lang="en-US" dirty="0"/>
                  <a:t>*Note: it is not necessary to make the assumption that the population has a normal distribution if the sample size is large, but with the small sample of </a:t>
                </a:r>
                <a:r>
                  <a:rPr lang="en-US" i="0" dirty="0">
                    <a:latin typeface="Cambria Math" panose="02040503050406030204" pitchFamily="18" charset="0"/>
                  </a:rPr>
                  <a:t>𝑛=6</a:t>
                </a:r>
                <a:r>
                  <a:rPr lang="en-US" dirty="0"/>
                  <a:t> workers, we need to make the assumption that the population of differences has a normal distribution. This assumption is necessary so that we may use the </a:t>
                </a:r>
                <a:r>
                  <a:rPr lang="en-US" i="1" dirty="0"/>
                  <a:t>t</a:t>
                </a:r>
                <a:r>
                  <a:rPr lang="en-US" dirty="0"/>
                  <a:t> distribution for hypothesis testing and interval estimation procedures.</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38573673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spcBef>
                <a:spcPts val="600"/>
              </a:spcBef>
            </a:pPr>
            <a:endParaRPr lang="en-US" sz="1200"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18128612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9807286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657640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8691098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41</a:t>
            </a:fld>
            <a:endParaRPr lang="en-US" dirty="0"/>
          </a:p>
        </p:txBody>
      </p:sp>
    </p:spTree>
    <p:extLst>
      <p:ext uri="{BB962C8B-B14F-4D97-AF65-F5344CB8AC3E}">
        <p14:creationId xmlns:p14="http://schemas.microsoft.com/office/powerpoint/2010/main" val="7328924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Under the assumption </a:t>
                </a:r>
                <a:r>
                  <a:rPr lang="en-US" i="1" dirty="0"/>
                  <a:t>H</a:t>
                </a:r>
                <a:r>
                  <a:rPr lang="en-US" baseline="-25000" dirty="0"/>
                  <a:t>0</a:t>
                </a:r>
                <a:r>
                  <a:rPr lang="en-US" dirty="0"/>
                  <a:t> is true as an equality, the population proportions are equal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That is why we can use a weighted average of </a:t>
                </a:r>
                <a14:m>
                  <m:oMath xmlns:m="http://schemas.openxmlformats.org/officeDocument/2006/math">
                    <m:sSub>
                      <m:sSubPr>
                        <m:ctrlPr>
                          <a:rPr lang="en-US" sz="1200" i="1" smtClean="0">
                            <a:latin typeface="Cambria Math" panose="02040503050406030204" pitchFamily="18" charset="0"/>
                            <a:cs typeface="Arial" panose="020B0604020202020204" pitchFamily="34" charset="0"/>
                          </a:rPr>
                        </m:ctrlPr>
                      </m:sSubPr>
                      <m:e>
                        <m:acc>
                          <m:accPr>
                            <m:chr m:val="̅"/>
                            <m:ctrlPr>
                              <a:rPr lang="en-US" sz="1200" i="1">
                                <a:latin typeface="Cambria Math" panose="02040503050406030204" pitchFamily="18" charset="0"/>
                                <a:cs typeface="Arial" panose="020B0604020202020204" pitchFamily="34" charset="0"/>
                              </a:rPr>
                            </m:ctrlPr>
                          </m:accPr>
                          <m:e>
                            <m:r>
                              <a:rPr lang="en-US" sz="1200" i="1">
                                <a:latin typeface="Cambria Math" panose="02040503050406030204" pitchFamily="18" charset="0"/>
                                <a:cs typeface="Arial" panose="020B0604020202020204" pitchFamily="34" charset="0"/>
                              </a:rPr>
                              <m:t>𝑝</m:t>
                            </m:r>
                          </m:e>
                        </m:acc>
                      </m:e>
                      <m:sub>
                        <m:r>
                          <a:rPr lang="en-US" sz="1200" i="1">
                            <a:latin typeface="Cambria Math" panose="02040503050406030204" pitchFamily="18" charset="0"/>
                            <a:cs typeface="Arial" panose="020B0604020202020204" pitchFamily="34" charset="0"/>
                          </a:rPr>
                          <m:t>1</m:t>
                        </m:r>
                      </m:sub>
                    </m:sSub>
                    <m:r>
                      <a:rPr lang="en-US" sz="1200" b="0" i="1" smtClean="0">
                        <a:latin typeface="Cambria Math" panose="02040503050406030204" pitchFamily="18" charset="0"/>
                        <a:cs typeface="Arial" panose="020B0604020202020204" pitchFamily="34" charset="0"/>
                      </a:rPr>
                      <m:t> </m:t>
                    </m:r>
                    <m:r>
                      <m:rPr>
                        <m:nor/>
                      </m:rPr>
                      <a:rPr lang="en-US" sz="1200" b="0" i="0" smtClean="0">
                        <a:latin typeface="Arial" panose="020B0604020202020204" pitchFamily="34" charset="0"/>
                        <a:cs typeface="Arial" panose="020B0604020202020204" pitchFamily="34" charset="0"/>
                      </a:rPr>
                      <m:t>and</m:t>
                    </m:r>
                    <m:r>
                      <a:rPr lang="en-US" sz="1200" b="0" i="1" smtClean="0">
                        <a:latin typeface="Cambria Math" panose="02040503050406030204" pitchFamily="18" charset="0"/>
                        <a:cs typeface="Arial" panose="020B0604020202020204" pitchFamily="34" charset="0"/>
                      </a:rPr>
                      <m:t> </m:t>
                    </m:r>
                    <m:sSub>
                      <m:sSubPr>
                        <m:ctrlPr>
                          <a:rPr lang="en-US" sz="1200" i="1">
                            <a:latin typeface="Cambria Math" panose="02040503050406030204" pitchFamily="18" charset="0"/>
                            <a:cs typeface="Arial" panose="020B0604020202020204" pitchFamily="34" charset="0"/>
                          </a:rPr>
                        </m:ctrlPr>
                      </m:sSubPr>
                      <m:e>
                        <m:acc>
                          <m:accPr>
                            <m:chr m:val="̅"/>
                            <m:ctrlPr>
                              <a:rPr lang="en-US" sz="1200" i="1">
                                <a:latin typeface="Cambria Math" panose="02040503050406030204" pitchFamily="18" charset="0"/>
                                <a:cs typeface="Arial" panose="020B0604020202020204" pitchFamily="34" charset="0"/>
                              </a:rPr>
                            </m:ctrlPr>
                          </m:accPr>
                          <m:e>
                            <m:r>
                              <a:rPr lang="en-US" sz="1200" i="1">
                                <a:latin typeface="Cambria Math" panose="02040503050406030204" pitchFamily="18" charset="0"/>
                                <a:cs typeface="Arial" panose="020B0604020202020204" pitchFamily="34" charset="0"/>
                              </a:rPr>
                              <m:t>𝑝</m:t>
                            </m:r>
                          </m:e>
                        </m:acc>
                      </m:e>
                      <m:sub>
                        <m:r>
                          <a:rPr lang="en-US" sz="1200" b="0" i="1" smtClean="0">
                            <a:latin typeface="Cambria Math" panose="02040503050406030204" pitchFamily="18" charset="0"/>
                            <a:cs typeface="Arial" panose="020B0604020202020204" pitchFamily="34" charset="0"/>
                          </a:rPr>
                          <m:t>2</m:t>
                        </m:r>
                      </m:sub>
                    </m:sSub>
                  </m:oMath>
                </a14:m>
                <a:r>
                  <a:rPr lang="en-US" dirty="0"/>
                  <a:t> as</a:t>
                </a:r>
                <a:r>
                  <a:rPr lang="en-US" baseline="0" dirty="0"/>
                  <a:t> </a:t>
                </a:r>
                <a14:m>
                  <m:oMath xmlns:m="http://schemas.openxmlformats.org/officeDocument/2006/math">
                    <m:acc>
                      <m:accPr>
                        <m:chr m:val="̅"/>
                        <m:ctrlPr>
                          <a:rPr lang="en-US" sz="1200" i="1" smtClean="0">
                            <a:latin typeface="Cambria Math" panose="02040503050406030204" pitchFamily="18" charset="0"/>
                            <a:ea typeface="Cambria Math" panose="02040503050406030204" pitchFamily="18" charset="0"/>
                            <a:cs typeface="Arial" panose="020B0604020202020204" pitchFamily="34" charset="0"/>
                          </a:rPr>
                        </m:ctrlPr>
                      </m:accPr>
                      <m:e>
                        <m:r>
                          <a:rPr lang="en-US" sz="1200" i="1" smtClean="0">
                            <a:latin typeface="Cambria Math" panose="02040503050406030204" pitchFamily="18" charset="0"/>
                            <a:ea typeface="Cambria Math" panose="02040503050406030204" pitchFamily="18" charset="0"/>
                            <a:cs typeface="Arial" panose="020B0604020202020204" pitchFamily="34" charset="0"/>
                          </a:rPr>
                          <m:t>𝑝</m:t>
                        </m:r>
                      </m:e>
                    </m:acc>
                  </m:oMath>
                </a14:m>
                <a:r>
                  <a:rPr lang="en-US" baseline="0" dirty="0"/>
                  <a:t>, the pooled estimator of </a:t>
                </a:r>
                <a:r>
                  <a:rPr lang="en-US" i="1" baseline="0" dirty="0"/>
                  <a:t>p</a:t>
                </a:r>
                <a:r>
                  <a:rPr lang="en-US" baseline="0" dirty="0"/>
                  <a:t>.</a:t>
                </a:r>
                <a:endParaRPr lang="en-US" dirty="0"/>
              </a:p>
            </p:txBody>
          </p:sp>
        </mc:Choice>
        <mc:Fallback xmlns="">
          <p:sp>
            <p:nvSpPr>
              <p:cNvPr id="3" name="Notes Placeholder 2"/>
              <p:cNvSpPr>
                <a:spLocks noGrp="1"/>
              </p:cNvSpPr>
              <p:nvPr>
                <p:ph type="body" idx="1"/>
              </p:nvPr>
            </p:nvSpPr>
            <p:spPr/>
            <p:txBody>
              <a:bodyPr/>
              <a:lstStyle/>
              <a:p>
                <a:r>
                  <a:rPr lang="en-US" dirty="0"/>
                  <a:t>*Note: Under the assumption </a:t>
                </a:r>
                <a:r>
                  <a:rPr lang="en-US" i="1" dirty="0"/>
                  <a:t>H</a:t>
                </a:r>
                <a:r>
                  <a:rPr lang="en-US" baseline="-25000" dirty="0"/>
                  <a:t>0</a:t>
                </a:r>
                <a:r>
                  <a:rPr lang="en-US" dirty="0"/>
                  <a:t> is true as an equality, the population proportions are equal and </a:t>
                </a:r>
                <a:r>
                  <a:rPr lang="en-US" b="0" i="0">
                    <a:latin typeface="Cambria Math" panose="02040503050406030204" pitchFamily="18" charset="0"/>
                  </a:rPr>
                  <a:t>𝑝_1=𝑝_2=𝑝</a:t>
                </a:r>
                <a:r>
                  <a:rPr lang="en-US" dirty="0"/>
                  <a:t>. That is why we can use a weighted average of </a:t>
                </a:r>
                <a:r>
                  <a:rPr lang="en-US" sz="1200" i="0">
                    <a:latin typeface="Cambria Math" panose="02040503050406030204" pitchFamily="18" charset="0"/>
                    <a:cs typeface="Arial" panose="020B0604020202020204" pitchFamily="34" charset="0"/>
                  </a:rPr>
                  <a:t>𝑝 ̅_1</a:t>
                </a:r>
                <a:r>
                  <a:rPr lang="en-US" sz="1200" b="0" i="0">
                    <a:latin typeface="Cambria Math" panose="02040503050406030204" pitchFamily="18" charset="0"/>
                    <a:cs typeface="Arial" panose="020B0604020202020204" pitchFamily="34" charset="0"/>
                  </a:rPr>
                  <a:t>  "and" </a:t>
                </a:r>
                <a:r>
                  <a:rPr lang="en-US" sz="1200" i="0">
                    <a:latin typeface="Cambria Math" panose="02040503050406030204" pitchFamily="18" charset="0"/>
                    <a:cs typeface="Arial" panose="020B0604020202020204" pitchFamily="34" charset="0"/>
                  </a:rPr>
                  <a:t>𝑝 ̅_</a:t>
                </a:r>
                <a:r>
                  <a:rPr lang="en-US" sz="1200" b="0" i="0">
                    <a:latin typeface="Cambria Math" panose="02040503050406030204" pitchFamily="18" charset="0"/>
                    <a:cs typeface="Arial" panose="020B0604020202020204" pitchFamily="34" charset="0"/>
                  </a:rPr>
                  <a:t>2</a:t>
                </a:r>
                <a:r>
                  <a:rPr lang="en-US" dirty="0"/>
                  <a:t> as</a:t>
                </a:r>
                <a:r>
                  <a:rPr lang="en-US" baseline="0" dirty="0"/>
                  <a:t> </a:t>
                </a:r>
                <a:r>
                  <a:rPr lang="en-US" sz="1200" i="0">
                    <a:latin typeface="Cambria Math" panose="02040503050406030204" pitchFamily="18" charset="0"/>
                    <a:ea typeface="Cambria Math" panose="02040503050406030204" pitchFamily="18" charset="0"/>
                    <a:cs typeface="Arial" panose="020B0604020202020204" pitchFamily="34" charset="0"/>
                  </a:rPr>
                  <a:t>𝑝 ̅</a:t>
                </a:r>
                <a:r>
                  <a:rPr lang="en-US" baseline="0" dirty="0"/>
                  <a:t>, the pooled estimator of </a:t>
                </a:r>
                <a:r>
                  <a:rPr lang="en-US" i="1" baseline="0" dirty="0"/>
                  <a:t>p</a:t>
                </a:r>
                <a:r>
                  <a:rPr lang="en-US" baseline="0" dirty="0"/>
                  <a:t>.</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23592411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24014151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45</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NUL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NULL"/><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NUL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NUL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NULL"/></Relationships>
</file>

<file path=ppt/slides/_rels/slide26.xml.rels><?xml version="1.0" encoding="UTF-8" standalone="yes"?>
<Relationships xmlns="http://schemas.openxmlformats.org/package/2006/relationships"><Relationship Id="rId7"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2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3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2.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NUL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0.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NUL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NUL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A1D131-B562-9EE5-1AB8-45ADBE43484C}"/>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6AD51B1E-418E-6267-0D44-4B8ECD751F4B}"/>
              </a:ext>
            </a:extLst>
          </p:cNvPr>
          <p:cNvPicPr>
            <a:picLocks noChangeAspect="1"/>
          </p:cNvPicPr>
          <p:nvPr/>
        </p:nvPicPr>
        <p:blipFill>
          <a:blip r:embed="rId2"/>
          <a:stretch>
            <a:fillRect/>
          </a:stretch>
        </p:blipFill>
        <p:spPr>
          <a:xfrm>
            <a:off x="-1" y="-1"/>
            <a:ext cx="12192001" cy="6858001"/>
          </a:xfrm>
          <a:prstGeom prst="rect">
            <a:avLst/>
          </a:prstGeom>
        </p:spPr>
      </p:pic>
    </p:spTree>
    <p:extLst>
      <p:ext uri="{BB962C8B-B14F-4D97-AF65-F5344CB8AC3E}">
        <p14:creationId xmlns:p14="http://schemas.microsoft.com/office/powerpoint/2010/main" val="2679627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560791"/>
                <a:ext cx="10711543" cy="3720657"/>
              </a:xfrm>
            </p:spPr>
            <p:txBody>
              <a:bodyPr/>
              <a:lstStyle/>
              <a:p>
                <a:pPr marL="1371600" indent="-914400">
                  <a:spcBef>
                    <a:spcPts val="600"/>
                  </a:spcBef>
                  <a:spcAft>
                    <a:spcPts val="600"/>
                  </a:spcAft>
                  <a:buNone/>
                </a:pPr>
                <a:r>
                  <a:rPr lang="en-US" sz="2000" dirty="0"/>
                  <a:t>10.1	Inferences about the Difference Between Two Population Means: </a:t>
                </a:r>
                <a14:m>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ea typeface="Cambria Math" panose="02040503050406030204" pitchFamily="18" charset="0"/>
                          </a:rPr>
                          <m:t>2</m:t>
                        </m:r>
                      </m:sub>
                    </m:sSub>
                  </m:oMath>
                </a14:m>
                <a:r>
                  <a:rPr lang="en-US" sz="2000" dirty="0"/>
                  <a:t> known</a:t>
                </a:r>
              </a:p>
              <a:p>
                <a:pPr marL="1371600" indent="-914400">
                  <a:spcBef>
                    <a:spcPts val="600"/>
                  </a:spcBef>
                  <a:spcAft>
                    <a:spcPts val="600"/>
                  </a:spcAft>
                  <a:buNone/>
                </a:pPr>
                <a:r>
                  <a:rPr lang="en-US" sz="2000" dirty="0"/>
                  <a:t>10.2	Inferences about the Difference Between Two Population Means: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2</m:t>
                        </m:r>
                      </m:sub>
                    </m:sSub>
                  </m:oMath>
                </a14:m>
                <a:r>
                  <a:rPr lang="en-US" sz="2000" dirty="0"/>
                  <a:t> unknown</a:t>
                </a:r>
              </a:p>
              <a:p>
                <a:pPr marL="1371600" indent="-914400">
                  <a:spcBef>
                    <a:spcPts val="600"/>
                  </a:spcBef>
                  <a:spcAft>
                    <a:spcPts val="600"/>
                  </a:spcAft>
                  <a:buNone/>
                </a:pPr>
                <a:r>
                  <a:rPr lang="en-US" sz="2000" dirty="0"/>
                  <a:t>10.3	Inference about the Difference Between Two Population Means: Matched Samples</a:t>
                </a:r>
              </a:p>
              <a:p>
                <a:pPr marL="1371600" indent="-914400">
                  <a:spcBef>
                    <a:spcPts val="600"/>
                  </a:spcBef>
                  <a:spcAft>
                    <a:spcPts val="600"/>
                  </a:spcAft>
                  <a:buNone/>
                </a:pPr>
                <a:r>
                  <a:rPr lang="en-US" sz="2000" dirty="0"/>
                  <a:t>10.4	Inferences about the Difference Between Two Population Proportions</a:t>
                </a:r>
              </a:p>
              <a:p>
                <a:pPr marL="1371600" indent="-914400">
                  <a:spcBef>
                    <a:spcPts val="600"/>
                  </a:spcBef>
                  <a:spcAft>
                    <a:spcPts val="600"/>
                  </a:spcAft>
                </a:pPr>
                <a:r>
                  <a:rPr lang="en-US" sz="2000" dirty="0"/>
                  <a:t>	Summary</a:t>
                </a:r>
              </a:p>
            </p:txBody>
          </p:sp>
        </mc:Choice>
        <mc:Fallback xmlns="">
          <p:sp>
            <p:nvSpPr>
              <p:cNvPr id="4" name="Text Placeholder 3">
                <a:extLst>
                  <a:ext uri="{FF2B5EF4-FFF2-40B4-BE49-F238E27FC236}">
                    <a16:creationId xmlns:a16="http://schemas.microsoft.com/office/drawing/2014/main" id="{C9A0ABD4-C052-4227-B2EE-3395C907212B}"/>
                  </a:ext>
                </a:extLst>
              </p:cNvPr>
              <p:cNvSpPr>
                <a:spLocks noGrp="1" noRot="1" noChangeAspect="1" noMove="1" noResize="1" noEditPoints="1" noAdjustHandles="1" noChangeArrowheads="1" noChangeShapeType="1" noTextEdit="1"/>
              </p:cNvSpPr>
              <p:nvPr>
                <p:ph type="body" sz="quarter" idx="15"/>
              </p:nvPr>
            </p:nvSpPr>
            <p:spPr>
              <a:xfrm>
                <a:off x="743576" y="1560791"/>
                <a:ext cx="10711543" cy="3720657"/>
              </a:xfrm>
              <a:blipFill>
                <a:blip r:embed="rId3"/>
                <a:stretch>
                  <a:fillRect t="-1967" r="-854"/>
                </a:stretch>
              </a:blipFill>
            </p:spPr>
            <p:txBody>
              <a:bodyPr/>
              <a:lstStyle/>
              <a:p>
                <a:r>
                  <a:rPr lang="en-US">
                    <a:noFill/>
                  </a:rPr>
                  <a:t> </a:t>
                </a:r>
              </a:p>
            </p:txBody>
          </p:sp>
        </mc:Fallback>
      </mc:AlternateContent>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6" y="1247765"/>
            <a:ext cx="10610224" cy="4704145"/>
          </a:xfrm>
        </p:spPr>
        <p:txBody>
          <a:bodyPr/>
          <a:lstStyle/>
          <a:p>
            <a:pPr>
              <a:spcBef>
                <a:spcPts val="600"/>
              </a:spcBef>
            </a:pPr>
            <a:r>
              <a:rPr lang="en-US" sz="2000" dirty="0">
                <a:latin typeface="Arial" panose="020B0604020202020204" pitchFamily="34" charset="0"/>
                <a:cs typeface="Arial" panose="020B0604020202020204" pitchFamily="34" charset="0"/>
              </a:rPr>
              <a:t>After completing this chapter, you will be able to:</a:t>
            </a:r>
          </a:p>
          <a:p>
            <a:pPr marL="1828800" indent="-1371600">
              <a:spcBef>
                <a:spcPts val="600"/>
              </a:spcBef>
            </a:pPr>
            <a:r>
              <a:rPr lang="en-US" sz="2000" dirty="0">
                <a:latin typeface="Arial" panose="020B0604020202020204" pitchFamily="34" charset="0"/>
                <a:cs typeface="Arial" panose="020B0604020202020204" pitchFamily="34" charset="0"/>
              </a:rPr>
              <a:t>LO 10-1 	Describe and explain the distribution form and parameters of the sampling distribution of the difference between the sample means of two different populations. </a:t>
            </a:r>
          </a:p>
          <a:p>
            <a:pPr marL="1828800" indent="-1371600">
              <a:spcBef>
                <a:spcPts val="600"/>
              </a:spcBef>
            </a:pPr>
            <a:r>
              <a:rPr lang="en-US" sz="2000" dirty="0">
                <a:latin typeface="Arial" panose="020B0604020202020204" pitchFamily="34" charset="0"/>
                <a:cs typeface="Arial" panose="020B0604020202020204" pitchFamily="34" charset="0"/>
              </a:rPr>
              <a:t>LO 10-2 	Calculate and interpret the interval estimate at a given level of confidence for a difference between two population means when the standard deviations of the two populations are known.</a:t>
            </a:r>
          </a:p>
          <a:p>
            <a:pPr marL="1828800" indent="-1371600">
              <a:spcBef>
                <a:spcPts val="600"/>
              </a:spcBef>
            </a:pPr>
            <a:r>
              <a:rPr lang="en-US" sz="2000" dirty="0">
                <a:latin typeface="Arial" panose="020B0604020202020204" pitchFamily="34" charset="0"/>
                <a:cs typeface="Arial" panose="020B0604020202020204" pitchFamily="34" charset="0"/>
              </a:rPr>
              <a:t>LO 10-3 	Conduct a hypothesis test about the difference between two population means when the standard deviations of the two populations are known.</a:t>
            </a:r>
          </a:p>
          <a:p>
            <a:pPr marL="1828800" indent="-1371600">
              <a:spcBef>
                <a:spcPts val="600"/>
              </a:spcBef>
            </a:pPr>
            <a:r>
              <a:rPr lang="en-US" sz="2000" dirty="0">
                <a:latin typeface="Arial" panose="020B0604020202020204" pitchFamily="34" charset="0"/>
                <a:cs typeface="Arial" panose="020B0604020202020204" pitchFamily="34" charset="0"/>
              </a:rPr>
              <a:t>LO 10-4 	Calculate and interpret the interval estimate at a given level of confidence for a difference between two population means when the standard deviations of the two populations are unknown.</a:t>
            </a:r>
          </a:p>
          <a:p>
            <a:pPr marL="1828800" indent="-1371600">
              <a:spcBef>
                <a:spcPts val="600"/>
              </a:spcBef>
            </a:pPr>
            <a:r>
              <a:rPr lang="en-US" sz="2000" dirty="0">
                <a:latin typeface="Arial" panose="020B0604020202020204" pitchFamily="34" charset="0"/>
                <a:cs typeface="Arial" panose="020B0604020202020204" pitchFamily="34" charset="0"/>
              </a:rPr>
              <a:t>LO 10-5 	Conduct a hypothesis test about the difference between two population means when the standard deviations of the two populations are unknown.</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7" y="1264391"/>
            <a:ext cx="10610224" cy="4272456"/>
          </a:xfrm>
        </p:spPr>
        <p:txBody>
          <a:bodyPr/>
          <a:lstStyle/>
          <a:p>
            <a:pPr>
              <a:spcBef>
                <a:spcPts val="600"/>
              </a:spcBef>
            </a:pPr>
            <a:endParaRPr lang="en-US" sz="1800" dirty="0">
              <a:latin typeface="Arial" panose="020B0604020202020204" pitchFamily="34" charset="0"/>
              <a:cs typeface="Arial" panose="020B0604020202020204" pitchFamily="34" charset="0"/>
            </a:endParaRPr>
          </a:p>
          <a:p>
            <a:pPr marL="1828800" indent="-1371600">
              <a:spcBef>
                <a:spcPts val="600"/>
              </a:spcBef>
            </a:pPr>
            <a:r>
              <a:rPr lang="en-US" sz="2000" dirty="0">
                <a:latin typeface="Arial" panose="020B0604020202020204" pitchFamily="34" charset="0"/>
                <a:cs typeface="Arial" panose="020B0604020202020204" pitchFamily="34" charset="0"/>
              </a:rPr>
              <a:t>LO 10-6	Conduct a hypothesis test about the difference between two population means when using a matched sample design. </a:t>
            </a:r>
          </a:p>
          <a:p>
            <a:pPr marL="1828800" indent="-1371600">
              <a:spcBef>
                <a:spcPts val="600"/>
              </a:spcBef>
            </a:pPr>
            <a:r>
              <a:rPr lang="en-US" sz="2000" dirty="0">
                <a:latin typeface="Arial" panose="020B0604020202020204" pitchFamily="34" charset="0"/>
                <a:cs typeface="Arial" panose="020B0604020202020204" pitchFamily="34" charset="0"/>
              </a:rPr>
              <a:t>LO 10-7	Calculate and interpret the interval estimate at a given level of confidence for a difference between two population means when using a matched sample design.</a:t>
            </a:r>
          </a:p>
          <a:p>
            <a:pPr marL="1828800" indent="-1371600">
              <a:spcBef>
                <a:spcPts val="600"/>
              </a:spcBef>
            </a:pPr>
            <a:r>
              <a:rPr lang="en-US" sz="2000" dirty="0">
                <a:latin typeface="Arial" panose="020B0604020202020204" pitchFamily="34" charset="0"/>
                <a:cs typeface="Arial" panose="020B0604020202020204" pitchFamily="34" charset="0"/>
              </a:rPr>
              <a:t>LO 10-8	Describe and explain the distribution form and parameters of the sampling distribution of the difference between the sample proportions of two different populations.</a:t>
            </a:r>
          </a:p>
          <a:p>
            <a:pPr marL="1828800" indent="-1371600">
              <a:spcBef>
                <a:spcPts val="600"/>
              </a:spcBef>
            </a:pPr>
            <a:r>
              <a:rPr lang="en-US" sz="2000" dirty="0">
                <a:latin typeface="Arial" panose="020B0604020202020204" pitchFamily="34" charset="0"/>
                <a:cs typeface="Arial" panose="020B0604020202020204" pitchFamily="34" charset="0"/>
              </a:rPr>
              <a:t>LO 10-9 	Calculate and interpret the interval estimate at a given level of confidence for a difference between two population proportions.</a:t>
            </a:r>
          </a:p>
          <a:p>
            <a:pPr marL="1828800" indent="-1371600">
              <a:spcBef>
                <a:spcPts val="600"/>
              </a:spcBef>
            </a:pPr>
            <a:r>
              <a:rPr lang="en-US" sz="2000" dirty="0">
                <a:latin typeface="Arial" panose="020B0604020202020204" pitchFamily="34" charset="0"/>
                <a:cs typeface="Arial" panose="020B0604020202020204" pitchFamily="34" charset="0"/>
              </a:rPr>
              <a:t>LO 10-10	Conduct a hypothesis test about the difference between two population proportions.</a:t>
            </a:r>
          </a:p>
        </p:txBody>
      </p:sp>
    </p:spTree>
    <p:extLst>
      <p:ext uri="{BB962C8B-B14F-4D97-AF65-F5344CB8AC3E}">
        <p14:creationId xmlns:p14="http://schemas.microsoft.com/office/powerpoint/2010/main" val="3991266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59271"/>
            <a:ext cx="10711543" cy="4434698"/>
          </a:xfrm>
        </p:spPr>
        <p:txBody>
          <a:bodyPr/>
          <a:lstStyle/>
          <a:p>
            <a:pPr>
              <a:lnSpc>
                <a:spcPct val="100000"/>
              </a:lnSpc>
              <a:spcBef>
                <a:spcPts val="600"/>
              </a:spcBef>
            </a:pPr>
            <a:r>
              <a:rPr lang="en-US" sz="2000" dirty="0">
                <a:solidFill>
                  <a:srgbClr val="000000"/>
                </a:solidFill>
                <a:cs typeface="Arial" panose="020B0604020202020204" pitchFamily="34" charset="0"/>
              </a:rPr>
              <a:t>In this chapter, we extend the discussion of statistical inference by developing interval estimates and conducting hypothesis tests for situations involving the difference between two population means or two population proportions.</a:t>
            </a:r>
          </a:p>
          <a:p>
            <a:pPr>
              <a:lnSpc>
                <a:spcPct val="100000"/>
              </a:lnSpc>
              <a:spcBef>
                <a:spcPts val="600"/>
              </a:spcBef>
            </a:pPr>
            <a:r>
              <a:rPr lang="en-US" sz="2000" dirty="0">
                <a:solidFill>
                  <a:srgbClr val="000000"/>
                </a:solidFill>
                <a:cs typeface="Arial" panose="020B0604020202020204" pitchFamily="34" charset="0"/>
              </a:rPr>
              <a:t>For example, we may want to</a:t>
            </a:r>
          </a:p>
          <a:p>
            <a:pPr marL="6858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D</a:t>
            </a:r>
            <a:r>
              <a:rPr lang="en-US" sz="2000" dirty="0">
                <a:cs typeface="Arial" panose="020B0604020202020204" pitchFamily="34" charset="0"/>
              </a:rPr>
              <a:t>evelop a</a:t>
            </a:r>
            <a:r>
              <a:rPr lang="en-US" sz="2000" dirty="0">
                <a:solidFill>
                  <a:srgbClr val="000000"/>
                </a:solidFill>
                <a:cs typeface="Arial" panose="020B0604020202020204" pitchFamily="34" charset="0"/>
              </a:rPr>
              <a:t>n interval estimate of the difference in mean starting salary between a population of males and a population of females.</a:t>
            </a:r>
          </a:p>
          <a:p>
            <a:pPr marL="685800" indent="-342900">
              <a:lnSpc>
                <a:spcPct val="100000"/>
              </a:lnSpc>
              <a:spcBef>
                <a:spcPts val="600"/>
              </a:spcBef>
              <a:buFont typeface="Arial" panose="020B0604020202020204" pitchFamily="34" charset="0"/>
              <a:buChar char="•"/>
            </a:pPr>
            <a:r>
              <a:rPr lang="en-US" sz="2000" dirty="0">
                <a:cs typeface="Arial" panose="020B0604020202020204" pitchFamily="34" charset="0"/>
              </a:rPr>
              <a:t>C</a:t>
            </a:r>
            <a:r>
              <a:rPr lang="en-US" sz="2000" dirty="0">
                <a:solidFill>
                  <a:srgbClr val="000000"/>
                </a:solidFill>
                <a:cs typeface="Arial" panose="020B0604020202020204" pitchFamily="34" charset="0"/>
              </a:rPr>
              <a:t>onduct a hypothesis test to determine whether there is a difference in the proportion of defective parts between the populations of parts produced by two suppliers.</a:t>
            </a:r>
          </a:p>
          <a:p>
            <a:pPr>
              <a:lnSpc>
                <a:spcPct val="100000"/>
              </a:lnSpc>
              <a:spcBef>
                <a:spcPts val="600"/>
              </a:spcBef>
            </a:pPr>
            <a:r>
              <a:rPr lang="en-US" sz="2000" dirty="0">
                <a:solidFill>
                  <a:srgbClr val="000000"/>
                </a:solidFill>
                <a:cs typeface="Arial" panose="020B0604020202020204" pitchFamily="34" charset="0"/>
              </a:rPr>
              <a:t>We begin our discussion of inference about the difference between two population means by first considering the case of population standard deviations assumed known, and then repeating the process for the case of population standard deviations assumed unknown.</a:t>
            </a:r>
          </a:p>
          <a:p>
            <a:pPr>
              <a:lnSpc>
                <a:spcPct val="100000"/>
              </a:lnSpc>
              <a:spcBef>
                <a:spcPts val="600"/>
              </a:spcBef>
            </a:pPr>
            <a:r>
              <a:rPr lang="en-US" sz="2000" dirty="0">
                <a:cs typeface="Arial" panose="020B0604020202020204" pitchFamily="34" charset="0"/>
              </a:rPr>
              <a:t>Finally, we consider the inference of the </a:t>
            </a:r>
            <a:r>
              <a:rPr lang="en-US" sz="2000" dirty="0">
                <a:latin typeface="Arial" panose="020B0604020202020204" pitchFamily="34" charset="0"/>
                <a:cs typeface="Arial" panose="020B0604020202020204" pitchFamily="34" charset="0"/>
              </a:rPr>
              <a:t>difference between two population means when using a</a:t>
            </a:r>
            <a:r>
              <a:rPr lang="en-US" sz="2000" dirty="0">
                <a:cs typeface="Arial" panose="020B0604020202020204" pitchFamily="34" charset="0"/>
              </a:rPr>
              <a:t> matched sample design and the difference between two population proportions. </a:t>
            </a:r>
            <a:endParaRPr lang="en-US" sz="2000" dirty="0">
              <a:solidFill>
                <a:srgbClr val="000000"/>
              </a:solidFill>
              <a:cs typeface="Arial" panose="020B0604020202020204" pitchFamily="34" charset="0"/>
            </a:endParaRPr>
          </a:p>
        </p:txBody>
      </p:sp>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solidFill>
                      <a:srgbClr val="D14B1E"/>
                    </a:solidFill>
                  </a:rPr>
                  <a:t>10.1 Inferences about the Difference Between Two Population Means: </a:t>
                </a:r>
                <a14:m>
                  <m:oMath xmlns:m="http://schemas.openxmlformats.org/officeDocument/2006/math">
                    <m:sSub>
                      <m:sSubPr>
                        <m:ctrlPr>
                          <a:rPr lang="en-US" sz="3200" i="1" smtClean="0">
                            <a:solidFill>
                              <a:srgbClr val="D14B1E"/>
                            </a:solidFill>
                            <a:latin typeface="Cambria Math" panose="02040503050406030204" pitchFamily="18" charset="0"/>
                          </a:rPr>
                        </m:ctrlPr>
                      </m:sSubPr>
                      <m:e>
                        <m:r>
                          <a:rPr lang="en-US" sz="3200" i="1" smtClean="0">
                            <a:solidFill>
                              <a:srgbClr val="D14B1E"/>
                            </a:solidFill>
                            <a:latin typeface="Cambria Math" panose="02040503050406030204" pitchFamily="18" charset="0"/>
                            <a:ea typeface="Cambria Math" panose="02040503050406030204" pitchFamily="18" charset="0"/>
                          </a:rPr>
                          <m:t>𝝈</m:t>
                        </m:r>
                      </m:e>
                      <m:sub>
                        <m:r>
                          <a:rPr lang="en-US" sz="3200" b="1" i="1" smtClean="0">
                            <a:solidFill>
                              <a:srgbClr val="D14B1E"/>
                            </a:solidFill>
                            <a:latin typeface="Cambria Math" panose="02040503050406030204" pitchFamily="18" charset="0"/>
                          </a:rPr>
                          <m:t>𝟏</m:t>
                        </m:r>
                      </m:sub>
                    </m:sSub>
                  </m:oMath>
                </a14:m>
                <a:r>
                  <a:rPr lang="en-US" sz="3200" dirty="0">
                    <a:solidFill>
                      <a:srgbClr val="D14B1E"/>
                    </a:solidFill>
                  </a:rPr>
                  <a:t> and </a:t>
                </a:r>
                <a14:m>
                  <m:oMath xmlns:m="http://schemas.openxmlformats.org/officeDocument/2006/math">
                    <m:sSub>
                      <m:sSubPr>
                        <m:ctrlPr>
                          <a:rPr lang="en-US" sz="3200" i="1">
                            <a:solidFill>
                              <a:srgbClr val="D14B1E"/>
                            </a:solidFill>
                            <a:latin typeface="Cambria Math" panose="02040503050406030204" pitchFamily="18" charset="0"/>
                          </a:rPr>
                        </m:ctrlPr>
                      </m:sSubPr>
                      <m:e>
                        <m:r>
                          <a:rPr lang="en-US" sz="3200" i="1">
                            <a:solidFill>
                              <a:srgbClr val="D14B1E"/>
                            </a:solidFill>
                            <a:latin typeface="Cambria Math" panose="02040503050406030204" pitchFamily="18" charset="0"/>
                            <a:ea typeface="Cambria Math" panose="02040503050406030204" pitchFamily="18" charset="0"/>
                          </a:rPr>
                          <m:t>𝝈</m:t>
                        </m:r>
                      </m:e>
                      <m:sub>
                        <m:r>
                          <a:rPr lang="en-US" sz="3200" b="1" i="1" smtClean="0">
                            <a:solidFill>
                              <a:srgbClr val="D14B1E"/>
                            </a:solidFill>
                            <a:latin typeface="Cambria Math" panose="02040503050406030204" pitchFamily="18" charset="0"/>
                          </a:rPr>
                          <m:t>𝟐</m:t>
                        </m:r>
                      </m:sub>
                    </m:sSub>
                  </m:oMath>
                </a14:m>
                <a:r>
                  <a:rPr lang="en-US" sz="3200" dirty="0">
                    <a:solidFill>
                      <a:srgbClr val="D14B1E"/>
                    </a:solidFill>
                  </a:rPr>
                  <a:t> Known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blipFill>
                <a:blip r:embed="rId2"/>
                <a:stretch>
                  <a:fillRect t="-263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85926"/>
                <a:ext cx="10711543" cy="3986211"/>
              </a:xfrm>
            </p:spPr>
            <p:txBody>
              <a:bodyPr/>
              <a:lstStyle/>
              <a:p>
                <a:pPr>
                  <a:spcBef>
                    <a:spcPts val="600"/>
                  </a:spcBef>
                </a:pPr>
                <a:r>
                  <a:rPr lang="en-US" sz="2000" dirty="0">
                    <a:solidFill>
                      <a:srgbClr val="000000"/>
                    </a:solidFill>
                    <a:cs typeface="Arial" panose="020B0604020202020204" pitchFamily="34" charset="0"/>
                  </a:rPr>
                  <a:t>To make an inference about the difference between two population means,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a:t>
                </a:r>
              </a:p>
              <a:p>
                <a:pPr marL="914400" indent="-342900">
                  <a:spcBef>
                    <a:spcPts val="600"/>
                  </a:spcBef>
                  <a:buFont typeface="Arial" panose="020B0604020202020204" pitchFamily="34" charset="0"/>
                  <a:buChar char="•"/>
                </a:pPr>
                <a:r>
                  <a:rPr lang="en-US" sz="2000" dirty="0">
                    <a:cs typeface="Arial" panose="020B0604020202020204" pitchFamily="34" charset="0"/>
                  </a:rPr>
                  <a:t>where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oMath>
                </a14:m>
                <a:r>
                  <a:rPr lang="en-US" sz="2000" dirty="0">
                    <a:cs typeface="Arial" panose="020B0604020202020204" pitchFamily="34" charset="0"/>
                  </a:rPr>
                  <a:t> denotes the mean for population 1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the mean for population 2, </a:t>
                </a:r>
              </a:p>
              <a:p>
                <a:pPr marL="914400" indent="-342900">
                  <a:spcBef>
                    <a:spcPts val="600"/>
                  </a:spcBef>
                  <a:buFont typeface="Arial" panose="020B0604020202020204" pitchFamily="34" charset="0"/>
                  <a:buChar char="•"/>
                </a:pPr>
                <a:r>
                  <a:rPr lang="en-US" sz="2000" dirty="0">
                    <a:cs typeface="Arial" panose="020B0604020202020204" pitchFamily="34" charset="0"/>
                  </a:rPr>
                  <a:t>we </a:t>
                </a:r>
                <a:r>
                  <a:rPr lang="en-US" sz="2000" dirty="0">
                    <a:solidFill>
                      <a:srgbClr val="000000"/>
                    </a:solidFill>
                    <a:cs typeface="Arial" panose="020B0604020202020204" pitchFamily="34" charset="0"/>
                  </a:rPr>
                  <a:t>select a random sample of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𝑛</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cs typeface="Arial" panose="020B0604020202020204" pitchFamily="34" charset="0"/>
                  </a:rPr>
                  <a:t> units from population 1 and a second random sample of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units from population 2.</a:t>
                </a:r>
              </a:p>
              <a:p>
                <a:pPr marL="9144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The two samples, taken separately and independently, are referred to as </a:t>
                </a:r>
                <a:r>
                  <a:rPr lang="en-US" sz="2000" b="1" dirty="0">
                    <a:solidFill>
                      <a:srgbClr val="000000"/>
                    </a:solidFill>
                    <a:cs typeface="Arial" panose="020B0604020202020204" pitchFamily="34" charset="0"/>
                  </a:rPr>
                  <a:t>independent random samples</a:t>
                </a:r>
                <a:r>
                  <a:rPr lang="en-US" sz="2000" dirty="0">
                    <a:solidFill>
                      <a:srgbClr val="000000"/>
                    </a:solidFill>
                    <a:cs typeface="Arial" panose="020B0604020202020204" pitchFamily="34" charset="0"/>
                  </a:rPr>
                  <a:t>. </a:t>
                </a:r>
              </a:p>
              <a:p>
                <a:r>
                  <a:rPr lang="en-US" sz="2000" dirty="0">
                    <a:solidFill>
                      <a:srgbClr val="000000"/>
                    </a:solidFill>
                    <a:cs typeface="Arial" panose="020B0604020202020204" pitchFamily="34" charset="0"/>
                  </a:rPr>
                  <a:t>In this section, we assume that information is available such that the two population standard deviations, </a:t>
                </a:r>
                <a14:m>
                  <m:oMath xmlns:m="http://schemas.openxmlformats.org/officeDocument/2006/math">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can be assumed known prior to collecting the samples. </a:t>
                </a:r>
              </a:p>
              <a:p>
                <a:pPr marL="914400" indent="-342900">
                  <a:lnSpc>
                    <a:spcPct val="10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We refer to this situation as the </a:t>
                </a:r>
                <a14:m>
                  <m:oMath xmlns:m="http://schemas.openxmlformats.org/officeDocument/2006/math">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known case.</a:t>
                </a:r>
              </a:p>
              <a:p>
                <a:pPr>
                  <a:lnSpc>
                    <a:spcPct val="100000"/>
                  </a:lnSpc>
                </a:pPr>
                <a:r>
                  <a:rPr lang="en-US" sz="2000" dirty="0">
                    <a:solidFill>
                      <a:srgbClr val="000000"/>
                    </a:solidFill>
                    <a:cs typeface="Arial" panose="020B0604020202020204" pitchFamily="34" charset="0"/>
                  </a:rPr>
                  <a:t>In the following example, we show how to compute a margin of error and develop an interval estimate of the difference between the two population means when </a:t>
                </a:r>
                <a14:m>
                  <m:oMath xmlns:m="http://schemas.openxmlformats.org/officeDocument/2006/math">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are known.</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685926"/>
                <a:ext cx="10711543" cy="3986211"/>
              </a:xfrm>
              <a:blipFill>
                <a:blip r:embed="rId3"/>
                <a:stretch>
                  <a:fillRect l="-1422" t="-1838" r="-1593" b="-2144"/>
                </a:stretch>
              </a:blipFill>
            </p:spPr>
            <p:txBody>
              <a:bodyPr/>
              <a:lstStyle/>
              <a:p>
                <a:r>
                  <a:rPr lang="en-US">
                    <a:noFill/>
                  </a:rPr>
                  <a:t> </a:t>
                </a:r>
              </a:p>
            </p:txBody>
          </p:sp>
        </mc:Fallback>
      </mc:AlternateContent>
    </p:spTree>
    <p:extLst>
      <p:ext uri="{BB962C8B-B14F-4D97-AF65-F5344CB8AC3E}">
        <p14:creationId xmlns:p14="http://schemas.microsoft.com/office/powerpoint/2010/main" val="2626253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77919" y="365125"/>
                <a:ext cx="10841421" cy="672105"/>
              </a:xfrm>
            </p:spPr>
            <p:txBody>
              <a:bodyPr/>
              <a:lstStyle/>
              <a:p>
                <a:r>
                  <a:rPr lang="en-US" dirty="0"/>
                  <a:t>10.1 Interval Estimation of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b="1" i="1">
                            <a:latin typeface="Cambria Math" panose="02040503050406030204" pitchFamily="18" charset="0"/>
                            <a:ea typeface="Cambria Math" panose="02040503050406030204" pitchFamily="18" charset="0"/>
                            <a:cs typeface="Arial" panose="020B0604020202020204" pitchFamily="34" charset="0"/>
                          </a:rPr>
                          <m:t>𝝁</m:t>
                        </m:r>
                      </m:e>
                      <m:sub>
                        <m:r>
                          <a:rPr lang="en-US" b="1" i="1">
                            <a:latin typeface="Cambria Math" panose="02040503050406030204" pitchFamily="18" charset="0"/>
                            <a:cs typeface="Arial" panose="020B0604020202020204" pitchFamily="34" charset="0"/>
                          </a:rPr>
                          <m:t>𝟏</m:t>
                        </m:r>
                      </m:sub>
                    </m:sSub>
                    <m:r>
                      <a:rPr lang="en-US" b="1"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b="1" i="1">
                            <a:latin typeface="Cambria Math" panose="02040503050406030204" pitchFamily="18" charset="0"/>
                            <a:ea typeface="Cambria Math" panose="02040503050406030204" pitchFamily="18" charset="0"/>
                            <a:cs typeface="Arial" panose="020B0604020202020204" pitchFamily="34" charset="0"/>
                          </a:rPr>
                          <m:t>𝝁</m:t>
                        </m:r>
                      </m:e>
                      <m:sub>
                        <m:r>
                          <a:rPr lang="en-US" b="1" i="1">
                            <a:latin typeface="Cambria Math" panose="02040503050406030204" pitchFamily="18" charset="0"/>
                            <a:cs typeface="Arial" panose="020B0604020202020204" pitchFamily="34" charset="0"/>
                          </a:rPr>
                          <m:t>𝟐</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𝝈</m:t>
                        </m:r>
                      </m:e>
                      <m:sub>
                        <m:r>
                          <a:rPr lang="en-US" b="1" i="1" smtClean="0">
                            <a:latin typeface="Cambria Math" panose="02040503050406030204" pitchFamily="18" charset="0"/>
                          </a:rPr>
                          <m:t>𝟏</m:t>
                        </m:r>
                      </m:sub>
                    </m:sSub>
                  </m:oMath>
                </a14:m>
                <a:r>
                  <a:rPr lang="en-US" b="0" dirty="0"/>
                  <a:t> </a:t>
                </a:r>
                <a:r>
                  <a:rPr lang="en-US" dirty="0"/>
                  <a:t>and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𝝈</m:t>
                        </m:r>
                      </m:e>
                      <m:sub>
                        <m:r>
                          <a:rPr lang="en-US" b="1" i="1" smtClean="0">
                            <a:latin typeface="Cambria Math" panose="02040503050406030204" pitchFamily="18" charset="0"/>
                            <a:ea typeface="Cambria Math" panose="02040503050406030204" pitchFamily="18" charset="0"/>
                          </a:rPr>
                          <m:t>𝟐</m:t>
                        </m:r>
                      </m:sub>
                    </m:sSub>
                  </m:oMath>
                </a14:m>
                <a:r>
                  <a:rPr lang="en-US" dirty="0"/>
                  <a:t> Known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677919" y="365125"/>
                <a:ext cx="10841421" cy="672105"/>
              </a:xfrm>
              <a:blipFill>
                <a:blip r:embed="rId3"/>
                <a:stretch>
                  <a:fillRect l="-1911" t="-28182" r="-1855"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30719"/>
                <a:ext cx="10711543" cy="4158156"/>
              </a:xfrm>
            </p:spPr>
            <p:txBody>
              <a:bodyPr/>
              <a:lstStyle/>
              <a:p>
                <a:pPr>
                  <a:spcBef>
                    <a:spcPts val="600"/>
                  </a:spcBef>
                  <a:spcAft>
                    <a:spcPts val="600"/>
                  </a:spcAft>
                </a:pPr>
                <a:r>
                  <a:rPr lang="en-US" sz="2000" dirty="0">
                    <a:cs typeface="Arial" panose="020B0604020202020204" pitchFamily="34" charset="0"/>
                  </a:rPr>
                  <a:t>T</a:t>
                </a:r>
                <a:r>
                  <a:rPr lang="en-US" sz="2000" dirty="0">
                    <a:solidFill>
                      <a:srgbClr val="000000"/>
                    </a:solidFill>
                    <a:cs typeface="Arial" panose="020B0604020202020204" pitchFamily="34" charset="0"/>
                  </a:rPr>
                  <a:t>he interval estimate of the difference between two population means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when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ea typeface="Cambria Math" panose="02040503050406030204" pitchFamily="18" charset="0"/>
                          </a:rPr>
                          <m:t>2</m:t>
                        </m:r>
                      </m:sub>
                    </m:sSub>
                  </m:oMath>
                </a14:m>
                <a:r>
                  <a:rPr lang="en-US" sz="2000" dirty="0"/>
                  <a:t> are known,</a:t>
                </a:r>
                <a:r>
                  <a:rPr lang="en-US" sz="2000" dirty="0">
                    <a:solidFill>
                      <a:srgbClr val="000000"/>
                    </a:solidFill>
                    <a:cs typeface="Arial" panose="020B0604020202020204" pitchFamily="34" charset="0"/>
                  </a:rPr>
                  <a:t> can be written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cs typeface="Arial" panose="020B0604020202020204" pitchFamily="34" charset="0"/>
                            </a:rPr>
                            <m:t>𝟐</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𝒛</m:t>
                          </m:r>
                        </m:e>
                        <m:sub>
                          <m:f>
                            <m:fPr>
                              <m:type m:val="lin"/>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cs typeface="Arial" panose="020B0604020202020204" pitchFamily="34" charset="0"/>
                                </a:rPr>
                                <m:t>𝜶</m:t>
                              </m:r>
                            </m:num>
                            <m:den>
                              <m:r>
                                <a:rPr lang="en-US" sz="2000" b="1" i="1" smtClean="0">
                                  <a:latin typeface="Cambria Math" panose="02040503050406030204" pitchFamily="18" charset="0"/>
                                  <a:ea typeface="Cambria Math" panose="02040503050406030204" pitchFamily="18" charset="0"/>
                                  <a:cs typeface="Arial" panose="020B0604020202020204" pitchFamily="34" charset="0"/>
                                </a:rPr>
                                <m:t>𝟐</m:t>
                              </m:r>
                            </m:den>
                          </m:f>
                        </m:sub>
                      </m:sSub>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𝝈</m:t>
                          </m:r>
                        </m:e>
                        <m:sub>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ea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ea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ea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ea typeface="Cambria Math" panose="02040503050406030204" pitchFamily="18" charset="0"/>
                                  <a:cs typeface="Arial" panose="020B0604020202020204" pitchFamily="34" charset="0"/>
                                </a:rPr>
                                <m:t>𝟐</m:t>
                              </m:r>
                            </m:sub>
                          </m:sSub>
                        </m:sub>
                      </m:sSub>
                    </m:oMath>
                  </m:oMathPara>
                </a14:m>
                <a:endParaRPr lang="en-US" sz="2000" b="1" dirty="0">
                  <a:cs typeface="Arial" panose="020B0604020202020204" pitchFamily="34" charset="0"/>
                </a:endParaRPr>
              </a:p>
              <a:p>
                <a:pPr>
                  <a:spcBef>
                    <a:spcPts val="600"/>
                  </a:spcBef>
                </a:pPr>
                <a:r>
                  <a:rPr lang="en-US" sz="2000" dirty="0">
                    <a:cs typeface="Arial" panose="020B0604020202020204" pitchFamily="34" charset="0"/>
                  </a:rPr>
                  <a:t>Where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m:rPr>
                          <m:nor/>
                        </m:rPr>
                        <a:rPr lang="en-US" sz="2000" b="0" i="0" smtClean="0">
                          <a:latin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point</m:t>
                      </m:r>
                      <m:r>
                        <m:rPr>
                          <m:nor/>
                        </m:rPr>
                        <a:rPr lang="en-US" sz="2000" dirty="0">
                          <a:cs typeface="Arial" panose="020B0604020202020204" pitchFamily="34" charset="0"/>
                        </a:rPr>
                        <m:t> </m:t>
                      </m:r>
                      <m:r>
                        <m:rPr>
                          <m:nor/>
                        </m:rPr>
                        <a:rPr lang="en-US" sz="2000" dirty="0">
                          <a:cs typeface="Arial" panose="020B0604020202020204" pitchFamily="34" charset="0"/>
                        </a:rPr>
                        <m:t>estimator</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dirty="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a:p>
                <a:pPr marL="914400">
                  <a:spcBef>
                    <a:spcPts val="600"/>
                  </a:spcBef>
                  <a:spcAft>
                    <a:spcPts val="600"/>
                  </a:spcAft>
                </a:pPr>
                <a14:m>
                  <m:oMath xmlns:m="http://schemas.openxmlformats.org/officeDocument/2006/math">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ea typeface="Cambria Math" panose="02040503050406030204" pitchFamily="18" charset="0"/>
                        <a:cs typeface="Arial" panose="020B0604020202020204" pitchFamily="34" charset="0"/>
                      </a:rPr>
                      <m:t>𝛼</m:t>
                    </m:r>
                    <m:r>
                      <m:rPr>
                        <m:nor/>
                      </m:rPr>
                      <a:rPr lang="en-US" sz="200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confidence</m:t>
                    </m:r>
                    <m:r>
                      <m:rPr>
                        <m:nor/>
                      </m:rPr>
                      <a:rPr lang="en-US" sz="2000" dirty="0">
                        <a:cs typeface="Arial" panose="020B0604020202020204" pitchFamily="34" charset="0"/>
                      </a:rPr>
                      <m:t> </m:t>
                    </m:r>
                    <m:r>
                      <m:rPr>
                        <m:nor/>
                      </m:rPr>
                      <a:rPr lang="en-US" sz="2000" dirty="0">
                        <a:cs typeface="Arial" panose="020B0604020202020204" pitchFamily="34" charset="0"/>
                      </a:rPr>
                      <m:t>coefficient</m:t>
                    </m:r>
                  </m:oMath>
                </a14:m>
                <a:r>
                  <a:rPr lang="en-US" sz="2000" dirty="0">
                    <a:cs typeface="Arial" panose="020B0604020202020204" pitchFamily="34" charset="0"/>
                  </a:rPr>
                  <a:t> </a:t>
                </a:r>
              </a:p>
              <a:p>
                <a:pPr marL="914400">
                  <a:spcBef>
                    <a:spcPts val="600"/>
                  </a:spcBef>
                  <a:spcAft>
                    <a:spcPts val="600"/>
                  </a:spcAft>
                </a:pP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critical</m:t>
                    </m:r>
                    <m:r>
                      <m:rPr>
                        <m:nor/>
                      </m:rPr>
                      <a:rPr lang="en-US" sz="2000" dirty="0">
                        <a:cs typeface="Arial" panose="020B0604020202020204" pitchFamily="34" charset="0"/>
                      </a:rPr>
                      <m:t> </m:t>
                    </m:r>
                    <m:r>
                      <m:rPr>
                        <m:nor/>
                      </m:rPr>
                      <a:rPr lang="en-US" sz="2000" dirty="0">
                        <a:cs typeface="Arial" panose="020B0604020202020204" pitchFamily="34" charset="0"/>
                      </a:rPr>
                      <m:t>value</m:t>
                    </m:r>
                    <m:r>
                      <m:rPr>
                        <m:nor/>
                      </m:rPr>
                      <a:rPr lang="en-US" sz="2000" dirty="0">
                        <a:cs typeface="Arial" panose="020B0604020202020204" pitchFamily="34" charset="0"/>
                      </a:rPr>
                      <m:t> </m:t>
                    </m:r>
                    <m:r>
                      <m:rPr>
                        <m:nor/>
                      </m:rPr>
                      <a:rPr lang="en-US" sz="2000" dirty="0">
                        <a:cs typeface="Arial" panose="020B0604020202020204" pitchFamily="34" charset="0"/>
                      </a:rPr>
                      <m:t>such</m:t>
                    </m:r>
                    <m:r>
                      <m:rPr>
                        <m:nor/>
                      </m:rPr>
                      <a:rPr lang="en-US" sz="2000" dirty="0">
                        <a:cs typeface="Arial" panose="020B0604020202020204" pitchFamily="34" charset="0"/>
                      </a:rPr>
                      <m:t> </m:t>
                    </m:r>
                    <m:r>
                      <m:rPr>
                        <m:nor/>
                      </m:rPr>
                      <a:rPr lang="en-US" sz="2000" dirty="0">
                        <a:cs typeface="Arial" panose="020B0604020202020204" pitchFamily="34" charset="0"/>
                      </a:rPr>
                      <m:t>that</m:t>
                    </m:r>
                    <m:r>
                      <a:rPr lang="en-US" sz="2000" b="0" i="1" dirty="0"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𝛼</m:t>
                                </m:r>
                              </m:num>
                              <m:den>
                                <m:r>
                                  <a:rPr lang="en-US" sz="2000" i="1">
                                    <a:latin typeface="Cambria Math" panose="02040503050406030204" pitchFamily="18" charset="0"/>
                                    <a:ea typeface="Cambria Math" panose="02040503050406030204" pitchFamily="18" charset="0"/>
                                    <a:cs typeface="Arial" panose="020B0604020202020204" pitchFamily="34" charset="0"/>
                                  </a:rPr>
                                  <m:t>2</m:t>
                                </m:r>
                              </m:den>
                            </m:f>
                          </m:sub>
                        </m:sSub>
                      </m:e>
                    </m:d>
                    <m:r>
                      <a:rPr lang="en-US" sz="2000" b="0" i="1" smtClean="0">
                        <a:latin typeface="Cambria Math" panose="02040503050406030204" pitchFamily="18" charset="0"/>
                        <a:ea typeface="Cambria Math" panose="02040503050406030204" pitchFamily="18" charset="0"/>
                        <a:cs typeface="Arial" panose="020B0604020202020204" pitchFamily="34" charset="0"/>
                      </a:rPr>
                      <m:t>=1−</m:t>
                    </m:r>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oMath>
                </a14:m>
                <a:r>
                  <a:rPr lang="en-US" sz="2000" dirty="0">
                    <a:cs typeface="Arial" panose="020B0604020202020204" pitchFamily="34" charset="0"/>
                  </a:rPr>
                  <a:t> </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b="0" i="0" dirty="0" smtClean="0">
                          <a:cs typeface="Arial" panose="020B0604020202020204" pitchFamily="34" charset="0"/>
                        </a:rPr>
                        <m:t>standard</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error</m:t>
                      </m:r>
                      <m:r>
                        <m:rPr>
                          <m:nor/>
                        </m:rPr>
                        <a:rPr lang="en-US" sz="2000" b="0" i="0" dirty="0" smtClean="0">
                          <a:cs typeface="Arial" panose="020B0604020202020204" pitchFamily="34" charset="0"/>
                        </a:rPr>
                        <m:t> </m:t>
                      </m:r>
                      <m:r>
                        <m:rPr>
                          <m:nor/>
                        </m:rPr>
                        <a:rPr lang="en-US" sz="2000" dirty="0">
                          <a:cs typeface="Arial" panose="020B0604020202020204" pitchFamily="34" charset="0"/>
                        </a:rPr>
                        <m:t>of</m:t>
                      </m:r>
                      <m:r>
                        <a:rPr lang="en-US" sz="2000" b="0" i="1" dirty="0"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2</m:t>
                          </m:r>
                        </m:sub>
                      </m:sSub>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see</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notes</m:t>
                      </m:r>
                      <m:r>
                        <m:rPr>
                          <m:nor/>
                        </m:rPr>
                        <a:rPr lang="en-US" sz="2000" b="0" i="0" smtClean="0">
                          <a:latin typeface="Arial" panose="020B0604020202020204" pitchFamily="34" charset="0"/>
                          <a:cs typeface="Arial" panose="020B0604020202020204" pitchFamily="34" charset="0"/>
                        </a:rPr>
                        <m:t>)</m:t>
                      </m:r>
                    </m:oMath>
                  </m:oMathPara>
                </a14:m>
                <a:endParaRPr lang="en-US" sz="2000" dirty="0">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sub>
                      </m:sSub>
                      <m:r>
                        <m:rPr>
                          <m:nor/>
                        </m:rPr>
                        <a:rPr lang="en-US" sz="200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margin</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dirty="0">
                          <a:cs typeface="Arial" panose="020B0604020202020204" pitchFamily="34" charset="0"/>
                        </a:rPr>
                        <m:t> </m:t>
                      </m:r>
                      <m:r>
                        <m:rPr>
                          <m:nor/>
                        </m:rPr>
                        <a:rPr lang="en-US" sz="2000" dirty="0">
                          <a:cs typeface="Arial" panose="020B0604020202020204" pitchFamily="34" charset="0"/>
                        </a:rPr>
                        <m:t>error</m:t>
                      </m:r>
                    </m:oMath>
                  </m:oMathPara>
                </a14:m>
                <a:endParaRPr lang="en-US" sz="2000" dirty="0">
                  <a:cs typeface="Arial" panose="020B0604020202020204" pitchFamily="34" charset="0"/>
                </a:endParaRPr>
              </a:p>
              <a:p>
                <a:pPr>
                  <a:lnSpc>
                    <a:spcPct val="100000"/>
                  </a:lnSpc>
                  <a:spcBef>
                    <a:spcPts val="600"/>
                  </a:spcBef>
                </a:pPr>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30719"/>
                <a:ext cx="10711543" cy="4158156"/>
              </a:xfrm>
              <a:blipFill>
                <a:blip r:embed="rId4"/>
                <a:stretch>
                  <a:fillRect l="-1422" t="-1760"/>
                </a:stretch>
              </a:blipFill>
            </p:spPr>
            <p:txBody>
              <a:bodyPr/>
              <a:lstStyle/>
              <a:p>
                <a:r>
                  <a:rPr lang="en-US">
                    <a:noFill/>
                  </a:rPr>
                  <a:t> </a:t>
                </a:r>
              </a:p>
            </p:txBody>
          </p:sp>
        </mc:Fallback>
      </mc:AlternateContent>
    </p:spTree>
    <p:extLst>
      <p:ext uri="{BB962C8B-B14F-4D97-AF65-F5344CB8AC3E}">
        <p14:creationId xmlns:p14="http://schemas.microsoft.com/office/powerpoint/2010/main" val="3179181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p:txBody>
          <a:bodyPr/>
          <a:lstStyle/>
          <a:p>
            <a:r>
              <a:rPr lang="en-US" dirty="0"/>
              <a:t>10.1 The </a:t>
            </a:r>
            <a:r>
              <a:rPr lang="en-US" dirty="0" err="1"/>
              <a:t>HomeStyle</a:t>
            </a:r>
            <a:r>
              <a:rPr lang="en-US" dirty="0"/>
              <a:t> Furniture Stores Example </a:t>
            </a:r>
          </a:p>
        </p:txBody>
      </p:sp>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6" y="1128713"/>
            <a:ext cx="10610223" cy="1352044"/>
          </a:xfrm>
        </p:spPr>
        <p:txBody>
          <a:bodyPr/>
          <a:lstStyle/>
          <a:p>
            <a:r>
              <a:rPr lang="en-US" sz="2000" dirty="0" err="1"/>
              <a:t>DATAfile</a:t>
            </a:r>
            <a:r>
              <a:rPr lang="en-US" sz="2000" dirty="0"/>
              <a:t>: </a:t>
            </a:r>
            <a:r>
              <a:rPr lang="en-US" sz="2000" i="1" dirty="0" err="1"/>
              <a:t>homestyle_mod</a:t>
            </a:r>
            <a:endParaRPr lang="en-US" sz="2000" i="1" dirty="0"/>
          </a:p>
          <a:p>
            <a:r>
              <a:rPr lang="en-US" sz="2000" dirty="0"/>
              <a:t>The regional manager at </a:t>
            </a:r>
            <a:r>
              <a:rPr lang="en-US" sz="2000" dirty="0" err="1"/>
              <a:t>HomeStyle</a:t>
            </a:r>
            <a:r>
              <a:rPr lang="en-US" sz="2000" dirty="0"/>
              <a:t> furniture stores wants to investigate the difference between the mean ages of the customers who shop at two of their stores, one in the inner-city (index 1) and one in a suburban area (index 2.)</a:t>
            </a:r>
          </a:p>
          <a:p>
            <a:endParaRPr lang="en-US" sz="2000" dirty="0"/>
          </a:p>
        </p:txBody>
      </p:sp>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54599B37-5E46-7899-3F00-8839AE4869E1}"/>
                  </a:ext>
                </a:extLst>
              </p:cNvPr>
              <p:cNvSpPr>
                <a:spLocks noGrp="1"/>
              </p:cNvSpPr>
              <p:nvPr>
                <p:ph type="body" sz="quarter" idx="17"/>
              </p:nvPr>
            </p:nvSpPr>
            <p:spPr>
              <a:xfrm>
                <a:off x="734050" y="2495045"/>
                <a:ext cx="5361949" cy="3181689"/>
              </a:xfrm>
            </p:spPr>
            <p:txBody>
              <a:bodyPr/>
              <a:lstStyle/>
              <a:p>
                <a:r>
                  <a:rPr lang="en-US" sz="2000" dirty="0"/>
                  <a:t>Population standard deviations from previous studies are known as </a:t>
                </a:r>
                <a14:m>
                  <m:oMath xmlns:m="http://schemas.openxmlformats.org/officeDocument/2006/math">
                    <m:sSub>
                      <m:sSubPr>
                        <m:ctrlPr>
                          <a:rPr lang="en-US" sz="2000" i="1" smtClean="0">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rPr>
                          <m:t>1</m:t>
                        </m:r>
                      </m:sub>
                    </m:sSub>
                    <m:r>
                      <a:rPr lang="en-US" sz="2000" b="0" i="1" smtClean="0">
                        <a:latin typeface="Cambria Math" panose="02040503050406030204" pitchFamily="18" charset="0"/>
                      </a:rPr>
                      <m:t>=9</m:t>
                    </m:r>
                  </m:oMath>
                </a14:m>
                <a:r>
                  <a:rPr lang="en-US" sz="2000" dirty="0"/>
                  <a:t> years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10</m:t>
                    </m:r>
                  </m:oMath>
                </a14:m>
                <a:r>
                  <a:rPr lang="en-US" sz="2000" dirty="0"/>
                  <a:t> years.</a:t>
                </a:r>
              </a:p>
              <a:p>
                <a:pPr>
                  <a:spcAft>
                    <a:spcPts val="600"/>
                  </a:spcAft>
                </a:pPr>
                <a:r>
                  <a:rPr lang="en-US" sz="2000" dirty="0"/>
                  <a:t>Two independent random samples of </a:t>
                </a:r>
                <a:r>
                  <a:rPr lang="en-US" sz="2000" dirty="0" err="1"/>
                  <a:t>HomeStyle</a:t>
                </a:r>
                <a:r>
                  <a:rPr lang="en-US" sz="2000" dirty="0"/>
                  <a:t> customers provided the following information.</a:t>
                </a:r>
              </a:p>
              <a:p>
                <a:r>
                  <a:rPr lang="en-US" sz="2000" dirty="0"/>
                  <a:t>		</a:t>
                </a:r>
                <a:r>
                  <a:rPr lang="en-US" sz="2000" b="1" dirty="0"/>
                  <a:t>Inner City	Suburban</a:t>
                </a:r>
              </a:p>
              <a:p>
                <a:r>
                  <a:rPr lang="en-US" sz="2000" dirty="0"/>
                  <a:t>Sample size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=36</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49</m:t>
                    </m:r>
                  </m:oMath>
                </a14:m>
                <a:endParaRPr lang="en-US" sz="2000" dirty="0"/>
              </a:p>
              <a:p>
                <a:r>
                  <a:rPr lang="en-US" sz="2000" dirty="0"/>
                  <a:t>Sample mean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=40 </m:t>
                    </m:r>
                    <m:r>
                      <m:rPr>
                        <m:nor/>
                      </m:rPr>
                      <a:rPr lang="en-US" sz="2000" b="0" i="0" smtClean="0">
                        <a:latin typeface="Arial" panose="020B0604020202020204" pitchFamily="34" charset="0"/>
                        <a:cs typeface="Arial" panose="020B0604020202020204" pitchFamily="34" charset="0"/>
                      </a:rPr>
                      <m:t>years</m:t>
                    </m:r>
                  </m:oMath>
                </a14:m>
                <a:r>
                  <a:rPr lang="en-US" sz="2000" dirty="0"/>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35</m:t>
                    </m:r>
                    <m:r>
                      <a:rPr lang="en-US" sz="2000" i="1">
                        <a:latin typeface="Cambria Math" panose="02040503050406030204" pitchFamily="18"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years</m:t>
                    </m:r>
                  </m:oMath>
                </a14:m>
                <a:endParaRPr lang="en-US" sz="2000" dirty="0">
                  <a:latin typeface="Arial" panose="020B0604020202020204" pitchFamily="34" charset="0"/>
                  <a:cs typeface="Arial" panose="020B0604020202020204" pitchFamily="34" charset="0"/>
                </a:endParaRPr>
              </a:p>
              <a:p>
                <a:endParaRPr lang="en-US" sz="2000" dirty="0"/>
              </a:p>
            </p:txBody>
          </p:sp>
        </mc:Choice>
        <mc:Fallback xmlns="">
          <p:sp>
            <p:nvSpPr>
              <p:cNvPr id="9" name="Text Placeholder 8">
                <a:extLst>
                  <a:ext uri="{FF2B5EF4-FFF2-40B4-BE49-F238E27FC236}">
                    <a16:creationId xmlns:a16="http://schemas.microsoft.com/office/drawing/2014/main" id="{54599B37-5E46-7899-3F00-8839AE4869E1}"/>
                  </a:ext>
                </a:extLst>
              </p:cNvPr>
              <p:cNvSpPr>
                <a:spLocks noGrp="1" noRot="1" noChangeAspect="1" noMove="1" noResize="1" noEditPoints="1" noAdjustHandles="1" noChangeArrowheads="1" noChangeShapeType="1" noTextEdit="1"/>
              </p:cNvSpPr>
              <p:nvPr>
                <p:ph type="body" sz="quarter" idx="17"/>
              </p:nvPr>
            </p:nvSpPr>
            <p:spPr>
              <a:xfrm>
                <a:off x="734050" y="2495045"/>
                <a:ext cx="5361949" cy="3181689"/>
              </a:xfrm>
              <a:blipFill>
                <a:blip r:embed="rId3"/>
                <a:stretch>
                  <a:fillRect l="-2841" t="-2299" r="-227" b="-3257"/>
                </a:stretch>
              </a:blipFill>
            </p:spPr>
            <p:txBody>
              <a:bodyPr/>
              <a:lstStyle/>
              <a:p>
                <a:r>
                  <a:rPr lang="en-US">
                    <a:noFill/>
                  </a:rPr>
                  <a:t> </a:t>
                </a:r>
              </a:p>
            </p:txBody>
          </p:sp>
        </mc:Fallback>
      </mc:AlternateContent>
      <p:pic>
        <p:nvPicPr>
          <p:cNvPr id="15" name="Picture Placeholder 14" descr="An illustration shows the process of finding the different between two populations. Population 1 comprises inner-city store customers. Mu_1 = mean age of inner-city store customers. Population 2 comprises suburban store customers. Mu_2 = mean age of suburban store customers. Text below both populations reads, Mu_1 minus mu_2 = difference between the mean ages. Two independent simple random samples. Text under population 1 reads, Simple random sample of n_1 inner-city customers. x_1-bar = sample mean age for the inner-city store customers. Text under population 2 reads, Simple random sample of n_2 suburban customers. x_2-bar = sample mean age for the suburban store customers. x_1-bar minus x_2-bar = point estimator of mu_1 minus mu_2.&#10;">
            <a:extLst>
              <a:ext uri="{FF2B5EF4-FFF2-40B4-BE49-F238E27FC236}">
                <a16:creationId xmlns:a16="http://schemas.microsoft.com/office/drawing/2014/main" id="{383C1EA7-36D9-E6C2-7F11-C28D31A90DBE}"/>
              </a:ext>
            </a:extLst>
          </p:cNvPr>
          <p:cNvPicPr>
            <a:picLocks noGrp="1" noChangeAspect="1"/>
          </p:cNvPicPr>
          <p:nvPr>
            <p:ph type="pic" sz="quarter" idx="16"/>
          </p:nvPr>
        </p:nvPicPr>
        <p:blipFill rotWithShape="1">
          <a:blip r:embed="rId4"/>
          <a:srcRect l="18" r="18"/>
          <a:stretch/>
        </p:blipFill>
        <p:spPr>
          <a:xfrm>
            <a:off x="6191528" y="2346751"/>
            <a:ext cx="5162272" cy="3181689"/>
          </a:xfrm>
        </p:spPr>
      </p:pic>
    </p:spTree>
    <p:extLst>
      <p:ext uri="{BB962C8B-B14F-4D97-AF65-F5344CB8AC3E}">
        <p14:creationId xmlns:p14="http://schemas.microsoft.com/office/powerpoint/2010/main" val="1438597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10.1 Interval Estimate of the Difference Between the Mean Ages at </a:t>
            </a:r>
            <a:r>
              <a:rPr lang="en-US" sz="3200" dirty="0" err="1"/>
              <a:t>HomeStyle</a:t>
            </a:r>
            <a:r>
              <a:rPr lang="en-US" sz="3200" dirty="0"/>
              <a:t> Furniture Stores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801208"/>
                <a:ext cx="10711543" cy="3748253"/>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point estimate of the difference between the two population mean ages is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=40−35=5 </m:t>
                      </m:r>
                      <m:r>
                        <m:rPr>
                          <m:nor/>
                        </m:rPr>
                        <a:rPr lang="en-US" sz="2000" b="0" i="0" smtClean="0">
                          <a:latin typeface="Arial" panose="020B0604020202020204" pitchFamily="34" charset="0"/>
                          <a:cs typeface="Arial" panose="020B0604020202020204" pitchFamily="34" charset="0"/>
                        </a:rPr>
                        <m:t>years</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The standard error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oMath>
                </a14:m>
                <a:r>
                  <a:rPr lang="en-US" sz="2000" dirty="0">
                    <a:latin typeface="Arial" panose="020B0604020202020204" pitchFamily="34" charset="0"/>
                    <a:cs typeface="Arial" panose="020B0604020202020204" pitchFamily="34" charset="0"/>
                  </a:rPr>
                  <a:t> is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9</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36</m:t>
                              </m:r>
                            </m:den>
                          </m:f>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49</m:t>
                              </m:r>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=2.07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years</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ea typeface="Cambria Math" panose="02040503050406030204" pitchFamily="18" charset="0"/>
                    <a:cs typeface="Arial" panose="020B0604020202020204" pitchFamily="34" charset="0"/>
                  </a:rPr>
                  <a:t>Using 95% confidence and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.025</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=1.96</m:t>
                    </m:r>
                  </m:oMath>
                </a14:m>
                <a:r>
                  <a:rPr lang="en-US" sz="2000" dirty="0">
                    <a:latin typeface="Arial" panose="020B0604020202020204" pitchFamily="34" charset="0"/>
                    <a:ea typeface="Cambria Math" panose="02040503050406030204" pitchFamily="18" charset="0"/>
                    <a:cs typeface="Arial" panose="020B0604020202020204" pitchFamily="34" charset="0"/>
                  </a:rPr>
                  <a:t>,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=5±1.96</m:t>
                      </m:r>
                      <m:d>
                        <m:d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2.07</m:t>
                          </m:r>
                        </m:e>
                      </m:d>
                      <m:r>
                        <a:rPr lang="en-US" sz="2000" b="0" i="1">
                          <a:latin typeface="Cambria Math" panose="02040503050406030204" pitchFamily="18" charset="0"/>
                          <a:ea typeface="Cambria Math" panose="02040503050406030204" pitchFamily="18" charset="0"/>
                          <a:cs typeface="Arial" panose="020B0604020202020204" pitchFamily="34" charset="0"/>
                        </a:rPr>
                        <m:t>=5±</m:t>
                      </m:r>
                      <m:r>
                        <a:rPr lang="en-US" sz="2000" b="0" i="1" smtClean="0">
                          <a:latin typeface="Cambria Math" panose="02040503050406030204" pitchFamily="18" charset="0"/>
                          <a:ea typeface="Cambria Math" panose="02040503050406030204" pitchFamily="18" charset="0"/>
                          <a:cs typeface="Arial" panose="020B0604020202020204" pitchFamily="34" charset="0"/>
                        </a:rPr>
                        <m:t>4.06 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years</m:t>
                      </m:r>
                    </m:oMath>
                  </m:oMathPara>
                </a14:m>
                <a:endParaRPr lang="en-US" sz="2000" dirty="0">
                  <a:solidFill>
                    <a:srgbClr val="000000"/>
                  </a:solidFill>
                  <a:latin typeface="Arial" panose="020B0604020202020204" pitchFamily="34" charset="0"/>
                  <a:cs typeface="Arial" panose="020B0604020202020204" pitchFamily="34" charset="0"/>
                </a:endParaRPr>
              </a:p>
              <a:p>
                <a:pPr>
                  <a:spcBef>
                    <a:spcPts val="600"/>
                  </a:spcBef>
                  <a:spcAft>
                    <a:spcPts val="600"/>
                  </a:spcAft>
                </a:pPr>
                <a:r>
                  <a:rPr lang="en-US" sz="2000" dirty="0">
                    <a:solidFill>
                      <a:srgbClr val="000000"/>
                    </a:solidFill>
                    <a:cs typeface="Arial" panose="020B0604020202020204" pitchFamily="34" charset="0"/>
                  </a:rPr>
                  <a:t>Thus, the margin of error is 4.06 years, and the 95% confidence interval estimate of the difference between the two population means is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5−4.06=0.94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years</m:t>
                    </m:r>
                  </m:oMath>
                </a14:m>
                <a:r>
                  <a:rPr lang="en-US" sz="2000" dirty="0">
                    <a:solidFill>
                      <a:srgbClr val="000000"/>
                    </a:solidFill>
                    <a:cs typeface="Arial" panose="020B0604020202020204" pitchFamily="34" charset="0"/>
                  </a:rPr>
                  <a:t> to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5</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4.06=</m:t>
                    </m:r>
                    <m:r>
                      <a:rPr lang="en-US" sz="2000" b="0" i="1" smtClean="0">
                        <a:latin typeface="Cambria Math" panose="02040503050406030204" pitchFamily="18" charset="0"/>
                        <a:ea typeface="Cambria Math" panose="02040503050406030204" pitchFamily="18" charset="0"/>
                        <a:cs typeface="Arial" panose="020B0604020202020204" pitchFamily="34" charset="0"/>
                      </a:rPr>
                      <m:t>9</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06</m:t>
                    </m:r>
                    <m:r>
                      <a:rPr lang="en-US" sz="2000" i="1">
                        <a:latin typeface="Cambria Math" panose="02040503050406030204" pitchFamily="18" charset="0"/>
                        <a:ea typeface="Cambria Math" panose="02040503050406030204" pitchFamily="18" charset="0"/>
                        <a:cs typeface="Arial" panose="020B0604020202020204" pitchFamily="34" charset="0"/>
                      </a:rPr>
                      <m:t> </m:t>
                    </m:r>
                    <m:r>
                      <m:rPr>
                        <m:nor/>
                      </m:rPr>
                      <a:rPr lang="en-US" sz="2000">
                        <a:latin typeface="Arial" panose="020B0604020202020204" pitchFamily="34" charset="0"/>
                        <a:ea typeface="Cambria Math" panose="02040503050406030204" pitchFamily="18" charset="0"/>
                        <a:cs typeface="Arial" panose="020B0604020202020204" pitchFamily="34" charset="0"/>
                      </a:rPr>
                      <m:t>years</m:t>
                    </m:r>
                  </m:oMath>
                </a14:m>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801208"/>
                <a:ext cx="10711543" cy="3748253"/>
              </a:xfrm>
              <a:blipFill>
                <a:blip r:embed="rId3"/>
                <a:stretch>
                  <a:fillRect l="-1422" t="-1951" r="-1024" b="-5203"/>
                </a:stretch>
              </a:blipFill>
            </p:spPr>
            <p:txBody>
              <a:bodyPr/>
              <a:lstStyle/>
              <a:p>
                <a:r>
                  <a:rPr lang="en-US">
                    <a:noFill/>
                  </a:rPr>
                  <a:t> </a:t>
                </a:r>
              </a:p>
            </p:txBody>
          </p:sp>
        </mc:Fallback>
      </mc:AlternateContent>
    </p:spTree>
    <p:extLst>
      <p:ext uri="{BB962C8B-B14F-4D97-AF65-F5344CB8AC3E}">
        <p14:creationId xmlns:p14="http://schemas.microsoft.com/office/powerpoint/2010/main" val="1990622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10.1 Excel: Construct a 95% Confidence Interval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50722" y="1201929"/>
                <a:ext cx="3785560" cy="4492229"/>
              </a:xfrm>
            </p:spPr>
            <p:txBody>
              <a:bodyPr/>
              <a:lstStyle/>
              <a:p>
                <a:r>
                  <a:rPr lang="en-US" sz="2000" b="1" dirty="0"/>
                  <a:t>Enter/Access Data</a:t>
                </a:r>
                <a:r>
                  <a:rPr lang="en-US" sz="2000" dirty="0"/>
                  <a:t>: Open the file </a:t>
                </a:r>
                <a:r>
                  <a:rPr lang="en-US" sz="2000" i="1" dirty="0" err="1"/>
                  <a:t>homestyle_mod</a:t>
                </a:r>
                <a:r>
                  <a:rPr lang="en-US" sz="2000" dirty="0"/>
                  <a:t>. </a:t>
                </a:r>
              </a:p>
              <a:p>
                <a:r>
                  <a:rPr lang="en-US" sz="2000" dirty="0"/>
                  <a:t>The </a:t>
                </a:r>
                <a:r>
                  <a:rPr lang="en-US" sz="2000" i="1" dirty="0"/>
                  <a:t>Inner City </a:t>
                </a:r>
                <a:r>
                  <a:rPr lang="en-US" sz="2000" dirty="0"/>
                  <a:t>sample in column A has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𝑛</m:t>
                        </m:r>
                      </m:e>
                      <m:sub>
                        <m:r>
                          <a:rPr lang="en-US" sz="2000" i="1">
                            <a:latin typeface="Cambria Math" panose="02040503050406030204" pitchFamily="18" charset="0"/>
                          </a:rPr>
                          <m:t>1</m:t>
                        </m:r>
                      </m:sub>
                    </m:sSub>
                    <m:r>
                      <a:rPr lang="en-US" sz="2000" i="1" dirty="0" smtClean="0">
                        <a:latin typeface="Cambria Math" panose="02040503050406030204" pitchFamily="18" charset="0"/>
                      </a:rPr>
                      <m:t>=</m:t>
                    </m:r>
                    <m:r>
                      <a:rPr lang="en-US" sz="2000" b="0" i="1" dirty="0" smtClean="0">
                        <a:latin typeface="Cambria Math" panose="02040503050406030204" pitchFamily="18" charset="0"/>
                      </a:rPr>
                      <m:t>36</m:t>
                    </m:r>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e>
                      <m:sub>
                        <m:r>
                          <a:rPr lang="en-US" sz="2000" b="0" i="1" smtClean="0">
                            <a:latin typeface="Cambria Math" panose="02040503050406030204" pitchFamily="18" charset="0"/>
                          </a:rPr>
                          <m:t>1</m:t>
                        </m:r>
                      </m:sub>
                    </m:sSub>
                    <m:r>
                      <a:rPr lang="en-US" sz="2000" b="0" i="1" smtClean="0">
                        <a:latin typeface="Cambria Math" panose="02040503050406030204" pitchFamily="18" charset="0"/>
                      </a:rPr>
                      <m:t>=40.</m:t>
                    </m:r>
                  </m:oMath>
                </a14:m>
                <a:endParaRPr lang="en-US" sz="2000" dirty="0"/>
              </a:p>
              <a:p>
                <a:r>
                  <a:rPr lang="en-US" sz="2000" dirty="0"/>
                  <a:t>The </a:t>
                </a:r>
                <a:r>
                  <a:rPr lang="en-US" sz="2000" i="1" dirty="0"/>
                  <a:t>Suburban</a:t>
                </a:r>
                <a:r>
                  <a:rPr lang="en-US" sz="2000" dirty="0"/>
                  <a:t> sample in column B has</a:t>
                </a:r>
                <a14:m>
                  <m:oMath xmlns:m="http://schemas.openxmlformats.org/officeDocument/2006/math">
                    <m:r>
                      <a:rPr lang="en-US" sz="2000" b="0" i="0" smtClean="0">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b="0" i="1" smtClean="0">
                            <a:latin typeface="Cambria Math" panose="02040503050406030204" pitchFamily="18" charset="0"/>
                          </a:rPr>
                          <m:t>2</m:t>
                        </m:r>
                      </m:sub>
                    </m:sSub>
                    <m:r>
                      <a:rPr lang="en-US" sz="2000" i="1" dirty="0" smtClean="0">
                        <a:latin typeface="Cambria Math" panose="02040503050406030204" pitchFamily="18" charset="0"/>
                      </a:rPr>
                      <m:t>=49</m:t>
                    </m:r>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e>
                      <m:sub>
                        <m:r>
                          <a:rPr lang="en-US" sz="2000" b="0" i="1" smtClean="0">
                            <a:latin typeface="Cambria Math" panose="02040503050406030204" pitchFamily="18" charset="0"/>
                          </a:rPr>
                          <m:t>2</m:t>
                        </m:r>
                      </m:sub>
                    </m:sSub>
                    <m:r>
                      <a:rPr lang="en-US" sz="2000" b="0" i="1" smtClean="0">
                        <a:latin typeface="Cambria Math" panose="02040503050406030204" pitchFamily="18" charset="0"/>
                      </a:rPr>
                      <m:t>=35.</m:t>
                    </m:r>
                  </m:oMath>
                </a14:m>
                <a:endParaRPr lang="en-US" sz="2000" dirty="0"/>
              </a:p>
              <a:p>
                <a:r>
                  <a:rPr lang="en-US" sz="2000" b="1" dirty="0"/>
                  <a:t>Enter Functions and Formulas</a:t>
                </a:r>
                <a:r>
                  <a:rPr lang="en-US" sz="2000" dirty="0"/>
                  <a:t>: The standard error, 2.07, is computed in cell E9.</a:t>
                </a:r>
              </a:p>
              <a:p>
                <a:r>
                  <a:rPr lang="en-US" sz="2000" dirty="0"/>
                  <a:t>In cell E16, we compute the point estimate of the difference, 5.</a:t>
                </a:r>
              </a:p>
              <a:p>
                <a:r>
                  <a:rPr lang="en-US" sz="2000" dirty="0"/>
                  <a:t>The rest of the worksheet is constructed like in Section 8.1.</a:t>
                </a:r>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50722" y="1201929"/>
                <a:ext cx="3785560" cy="4492229"/>
              </a:xfrm>
              <a:blipFill>
                <a:blip r:embed="rId2"/>
                <a:stretch>
                  <a:fillRect l="-4026" t="-1628" r="-4831" b="-271"/>
                </a:stretch>
              </a:blipFill>
            </p:spPr>
            <p:txBody>
              <a:bodyPr/>
              <a:lstStyle/>
              <a:p>
                <a:r>
                  <a:rPr lang="en-US">
                    <a:noFill/>
                  </a:rPr>
                  <a:t> </a:t>
                </a:r>
              </a:p>
            </p:txBody>
          </p:sp>
        </mc:Fallback>
      </mc:AlternateContent>
      <p:pic>
        <p:nvPicPr>
          <p:cNvPr id="7" name="Picture Placeholder 6" descr="Two screenshots of Excel spreadsheets show the interval estimate of the difference in population means for sigma_1 and sigma_2 known cases. In both the spreadsheets, column A is labeled inner city and column B is labeled suburban. The entries under column A are as follows. Row 2: 38. Row 3: 46. Row 4: 32. Row 5: 23. Row 6: 39. Row 7: 40. Row 8: 35. Row 9: 36. Row 10: 36. Row 11: 41. Row 12: 32. Row 13: 38. Row 14: 44. Row 15: 50. Row 16: 47. Row 17: 59. Row 18: 38. Row 36: 44. Row 37: 62. The entries under column B are as follows. Row 2: 29. Row 3: 35. Row 4: 39. Row 5: 10. Row 6: 37. Row 7: 52. Row 8: 40. Row 9: 37. Row 10: 43. Row 11: 38. Row 12: 28. Row 13: 37. Row 14: 51. Row 15: 23. Row 16: 25. Row 17: 27. Row 18: 38. Row 36: 19. Row 37: 40. Row 49: 22. Row 50: 47. The entries under columns D, E, and F in the first spreadsheet are as follows. E 4: Inner city. F 4: Suburban. D 5: Sample size. E 5: =COUNT(A 2:A 37). F 5: =COUNT(B 2:B 50). D 6: Sample Mean. E 6: =AVERAGE(A 2:A 37). F 6: =AVERAGE(B 2:B 50). D 8: Population standard deviation. E 8: 9. F 8: 10. D 9: Standard error. E 9: =SQRT(E 8^2/E 5+F *^2/F 5). D 11: Confidence coefficient. E 11: 0.95. D 12: Level of significance. E 12: =1 minus E 11. D 13: z value. E 13: =NORM.S.INV(1 minus E 12/2). D 14: Margin of error: =E 13*E 9. D 16: Point estimate of difference. E 16: =E 6 minus F 6. D 17: Lower limit. E 17: =E 16 minus E 14. D 18: Upper limit. E 18: =E 16+E 14. The entries under columns D, E, and F in the second spreadsheet are as follows. E 4: Inner city. F 4: Suburban. D 5: Sample size. E 5: 36. F 5: 49. D 6: Sample Mean. E 6: 40. F 6: 35. D 8: Population standard deviation. E 8: 9. F 8: 10. D 9: Standard error. E 9: 2.07. D 11: Confidence coefficient. E 11: 0.95. D 12: Level of significance. E 12: 0.05. D 13: z value. E 13: 1.960. D 14: Margin of error: 4.06. D 16: Point estimate of difference. E 16: 5. D 17: Lower limit. E 17: 0.94. D 18: Upper limit. E 18: 9.06.">
            <a:extLst>
              <a:ext uri="{FF2B5EF4-FFF2-40B4-BE49-F238E27FC236}">
                <a16:creationId xmlns:a16="http://schemas.microsoft.com/office/drawing/2014/main" id="{C3324F31-9572-FF79-C61D-DC4E9A5390BF}"/>
              </a:ext>
            </a:extLst>
          </p:cNvPr>
          <p:cNvPicPr>
            <a:picLocks noGrp="1" noChangeAspect="1"/>
          </p:cNvPicPr>
          <p:nvPr>
            <p:ph type="pic" sz="quarter" idx="16"/>
          </p:nvPr>
        </p:nvPicPr>
        <p:blipFill>
          <a:blip r:embed="rId3"/>
          <a:srcRect l="2" r="2"/>
          <a:stretch/>
        </p:blipFill>
        <p:spPr>
          <a:xfrm>
            <a:off x="4770110" y="1201929"/>
            <a:ext cx="6671168" cy="4492229"/>
          </a:xfrm>
          <a:ln>
            <a:solidFill>
              <a:srgbClr val="000000"/>
            </a:solidFill>
          </a:ln>
        </p:spPr>
      </p:pic>
    </p:spTree>
    <p:extLst>
      <p:ext uri="{BB962C8B-B14F-4D97-AF65-F5344CB8AC3E}">
        <p14:creationId xmlns:p14="http://schemas.microsoft.com/office/powerpoint/2010/main" val="2348971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53A2DD1-FE1E-F138-7908-7831A6C81511}"/>
                  </a:ext>
                </a:extLst>
              </p:cNvPr>
              <p:cNvSpPr>
                <a:spLocks noGrp="1"/>
              </p:cNvSpPr>
              <p:nvPr>
                <p:ph type="title"/>
              </p:nvPr>
            </p:nvSpPr>
            <p:spPr>
              <a:xfrm>
                <a:off x="394140" y="365125"/>
                <a:ext cx="11353800" cy="672105"/>
              </a:xfrm>
            </p:spPr>
            <p:txBody>
              <a:bodyPr/>
              <a:lstStyle/>
              <a:p>
                <a:r>
                  <a:rPr lang="en-US" dirty="0"/>
                  <a:t>10.1 Hypothesis Tests About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𝝁</m:t>
                        </m:r>
                      </m:e>
                      <m:sub>
                        <m:r>
                          <a:rPr lang="en-US" b="1" i="1">
                            <a:latin typeface="Cambria Math" panose="02040503050406030204" pitchFamily="18" charset="0"/>
                          </a:rPr>
                          <m:t>𝟏</m:t>
                        </m:r>
                      </m:sub>
                    </m:sSub>
                    <m:r>
                      <a:rPr lang="en-US" b="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𝝁</m:t>
                        </m:r>
                      </m:e>
                      <m:sub>
                        <m:r>
                          <a:rPr lang="en-US" b="1" i="1">
                            <a:latin typeface="Cambria Math" panose="02040503050406030204" pitchFamily="18" charset="0"/>
                          </a:rPr>
                          <m:t>𝟐</m:t>
                        </m:r>
                      </m:sub>
                    </m:sSub>
                  </m:oMath>
                </a14:m>
                <a:endParaRPr lang="en-US" dirty="0"/>
              </a:p>
            </p:txBody>
          </p:sp>
        </mc:Choice>
        <mc:Fallback xmlns="">
          <p:sp>
            <p:nvSpPr>
              <p:cNvPr id="2" name="Title 1">
                <a:extLst>
                  <a:ext uri="{FF2B5EF4-FFF2-40B4-BE49-F238E27FC236}">
                    <a16:creationId xmlns:a16="http://schemas.microsoft.com/office/drawing/2014/main" id="{D53A2DD1-FE1E-F138-7908-7831A6C81511}"/>
                  </a:ext>
                </a:extLst>
              </p:cNvPr>
              <p:cNvSpPr>
                <a:spLocks noGrp="1" noRot="1" noChangeAspect="1" noMove="1" noResize="1" noEditPoints="1" noAdjustHandles="1" noChangeArrowheads="1" noChangeShapeType="1" noTextEdit="1"/>
              </p:cNvSpPr>
              <p:nvPr>
                <p:ph type="title"/>
              </p:nvPr>
            </p:nvSpPr>
            <p:spPr>
              <a:xfrm>
                <a:off x="394140" y="365125"/>
                <a:ext cx="11353800" cy="672105"/>
              </a:xfrm>
              <a:blipFill>
                <a:blip r:embed="rId3"/>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3B19AC0-1583-E5FA-3D0F-A97E7D529C75}"/>
                  </a:ext>
                </a:extLst>
              </p:cNvPr>
              <p:cNvSpPr>
                <a:spLocks noGrp="1"/>
              </p:cNvSpPr>
              <p:nvPr>
                <p:ph type="body" sz="quarter" idx="15"/>
              </p:nvPr>
            </p:nvSpPr>
            <p:spPr>
              <a:xfrm>
                <a:off x="743575" y="1430718"/>
                <a:ext cx="10610223" cy="4319752"/>
              </a:xfrm>
            </p:spPr>
            <p:txBody>
              <a:bodyPr/>
              <a:lstStyle/>
              <a:p>
                <a:pPr>
                  <a:lnSpc>
                    <a:spcPct val="100000"/>
                  </a:lnSpc>
                </a:pPr>
                <a:r>
                  <a:rPr lang="en-US" sz="2000" dirty="0"/>
                  <a:t>In general, a hypothesis test about the difference </a:t>
                </a:r>
                <a:r>
                  <a:rPr lang="en-US" sz="2000" dirty="0">
                    <a:cs typeface="Arial" panose="020B0604020202020204" pitchFamily="34" charset="0"/>
                  </a:rPr>
                  <a:t>between two population means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a:t>
                </a:r>
                <a:r>
                  <a:rPr lang="en-US" sz="2000" dirty="0"/>
                  <a:t>must take one of the following three forms.</a:t>
                </a:r>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r>
                  <a:rPr lang="en-US" sz="2000" dirty="0"/>
                  <a:t>Where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𝐷</m:t>
                        </m:r>
                      </m:e>
                      <m:sub>
                        <m:r>
                          <a:rPr lang="en-US" sz="2000" b="0" i="1" dirty="0" smtClean="0">
                            <a:latin typeface="Cambria Math" panose="02040503050406030204" pitchFamily="18" charset="0"/>
                          </a:rPr>
                          <m:t>0</m:t>
                        </m:r>
                      </m:sub>
                    </m:sSub>
                  </m:oMath>
                </a14:m>
                <a:r>
                  <a:rPr lang="en-US" sz="2000" dirty="0"/>
                  <a:t> denotes the hypothesized difference between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2</m:t>
                        </m:r>
                      </m:sub>
                    </m:sSub>
                  </m:oMath>
                </a14:m>
                <a:r>
                  <a:rPr lang="en-US" sz="2000" dirty="0"/>
                  <a:t>.</a:t>
                </a:r>
              </a:p>
              <a:p>
                <a:pPr>
                  <a:lnSpc>
                    <a:spcPct val="100000"/>
                  </a:lnSpc>
                </a:pPr>
                <a:r>
                  <a:rPr lang="en-US" sz="2000" dirty="0"/>
                  <a:t>Using the two-tailed test as an example, when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0</m:t>
                        </m:r>
                      </m:sub>
                    </m:sSub>
                    <m:r>
                      <a:rPr lang="en-US" sz="2000" dirty="0">
                        <a:latin typeface="Cambria Math" panose="02040503050406030204" pitchFamily="18" charset="0"/>
                      </a:rPr>
                      <m:t>=0</m:t>
                    </m:r>
                  </m:oMath>
                </a14:m>
                <a:r>
                  <a:rPr lang="en-US" sz="2000" dirty="0"/>
                  <a:t>, as it is in most cases, the null hypothesis is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=0</m:t>
                    </m:r>
                  </m:oMath>
                </a14:m>
                <a:r>
                  <a:rPr lang="en-US" sz="2000" dirty="0"/>
                  <a:t>. In this case, the null hypothesis is that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2</m:t>
                        </m:r>
                      </m:sub>
                    </m:sSub>
                  </m:oMath>
                </a14:m>
                <a:r>
                  <a:rPr lang="en-US" sz="2000" dirty="0"/>
                  <a:t> are equal.</a:t>
                </a:r>
              </a:p>
              <a:p>
                <a:pPr>
                  <a:lnSpc>
                    <a:spcPct val="100000"/>
                  </a:lnSpc>
                </a:pPr>
                <a:r>
                  <a:rPr lang="en-US" sz="2000" dirty="0"/>
                  <a:t>The rejection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leads to the conclusion that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𝑎</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0</m:t>
                    </m:r>
                  </m:oMath>
                </a14:m>
                <a:r>
                  <a:rPr lang="en-US" sz="2000" dirty="0"/>
                  <a:t> is true; that is,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 </m:t>
                    </m:r>
                  </m:oMath>
                </a14:m>
                <a:r>
                  <a:rPr lang="en-US" sz="2000" dirty="0"/>
                  <a:t>are not equal.</a:t>
                </a:r>
              </a:p>
              <a:p>
                <a:pPr>
                  <a:lnSpc>
                    <a:spcPct val="100000"/>
                  </a:lnSpc>
                </a:pPr>
                <a:endParaRPr lang="en-US" sz="2000" dirty="0"/>
              </a:p>
              <a:p>
                <a:pPr>
                  <a:lnSpc>
                    <a:spcPct val="100000"/>
                  </a:lnSpc>
                </a:pPr>
                <a:endParaRPr lang="en-US" sz="2000" dirty="0"/>
              </a:p>
            </p:txBody>
          </p:sp>
        </mc:Choice>
        <mc:Fallback xmlns="">
          <p:sp>
            <p:nvSpPr>
              <p:cNvPr id="3" name="Text Placeholder 2">
                <a:extLst>
                  <a:ext uri="{FF2B5EF4-FFF2-40B4-BE49-F238E27FC236}">
                    <a16:creationId xmlns:a16="http://schemas.microsoft.com/office/drawing/2014/main" id="{83B19AC0-1583-E5FA-3D0F-A97E7D529C75}"/>
                  </a:ext>
                </a:extLst>
              </p:cNvPr>
              <p:cNvSpPr>
                <a:spLocks noGrp="1" noRot="1" noChangeAspect="1" noMove="1" noResize="1" noEditPoints="1" noAdjustHandles="1" noChangeArrowheads="1" noChangeShapeType="1" noTextEdit="1"/>
              </p:cNvSpPr>
              <p:nvPr>
                <p:ph type="body" sz="quarter" idx="15"/>
              </p:nvPr>
            </p:nvSpPr>
            <p:spPr>
              <a:xfrm>
                <a:off x="743575" y="1430718"/>
                <a:ext cx="10610223" cy="4319752"/>
              </a:xfrm>
              <a:blipFill>
                <a:blip r:embed="rId4"/>
                <a:stretch>
                  <a:fillRect l="-1494" t="-1695" b="-1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949D3E33-8804-E853-E582-29FEBCCEEA7C}"/>
                  </a:ext>
                </a:extLst>
              </p:cNvPr>
              <p:cNvGraphicFramePr>
                <a:graphicFrameLocks noGrp="1"/>
              </p:cNvGraphicFramePr>
              <p:nvPr>
                <p:ph type="tbl" sz="quarter" idx="16"/>
              </p:nvPr>
            </p:nvGraphicFramePr>
            <p:xfrm>
              <a:off x="2057400" y="2071323"/>
              <a:ext cx="7179216" cy="1637512"/>
            </p:xfrm>
            <a:graphic>
              <a:graphicData uri="http://schemas.openxmlformats.org/drawingml/2006/table">
                <a:tbl>
                  <a:tblPr firstRow="1" bandRow="1">
                    <a:tableStyleId>{5C22544A-7EE6-4342-B048-85BDC9FD1C3A}</a:tableStyleId>
                  </a:tblPr>
                  <a:tblGrid>
                    <a:gridCol w="2393072">
                      <a:extLst>
                        <a:ext uri="{9D8B030D-6E8A-4147-A177-3AD203B41FA5}">
                          <a16:colId xmlns:a16="http://schemas.microsoft.com/office/drawing/2014/main" val="62038558"/>
                        </a:ext>
                      </a:extLst>
                    </a:gridCol>
                    <a:gridCol w="2393072">
                      <a:extLst>
                        <a:ext uri="{9D8B030D-6E8A-4147-A177-3AD203B41FA5}">
                          <a16:colId xmlns:a16="http://schemas.microsoft.com/office/drawing/2014/main" val="949252079"/>
                        </a:ext>
                      </a:extLst>
                    </a:gridCol>
                    <a:gridCol w="2393072">
                      <a:extLst>
                        <a:ext uri="{9D8B030D-6E8A-4147-A177-3AD203B41FA5}">
                          <a16:colId xmlns:a16="http://schemas.microsoft.com/office/drawing/2014/main" val="2132953150"/>
                        </a:ext>
                      </a:extLst>
                    </a:gridCol>
                  </a:tblGrid>
                  <a:tr h="768628">
                    <a:tc>
                      <a:txBody>
                        <a:bodyPr/>
                        <a:lstStyle/>
                        <a:p>
                          <a:pPr algn="ctr"/>
                          <a:r>
                            <a:rPr lang="en-US" sz="2000" dirty="0">
                              <a:solidFill>
                                <a:srgbClr val="000000"/>
                              </a:solidFill>
                              <a:latin typeface="Arial" panose="020B0604020202020204" pitchFamily="34" charset="0"/>
                              <a:cs typeface="Arial" panose="020B0604020202020204" pitchFamily="34" charset="0"/>
                            </a:rPr>
                            <a:t>One-tailed (Lower-tail)</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One-tailed (Upper-tail)</a:t>
                          </a:r>
                        </a:p>
                      </a:txBody>
                      <a:tcPr anchor="b">
                        <a:noFill/>
                      </a:tcPr>
                    </a:tc>
                    <a:tc>
                      <a:txBody>
                        <a:bodyPr/>
                        <a:lstStyle/>
                        <a:p>
                          <a:pPr algn="ctr"/>
                          <a:r>
                            <a:rPr lang="en-US" sz="2000" dirty="0">
                              <a:solidFill>
                                <a:srgbClr val="000000"/>
                              </a:solidFill>
                              <a:latin typeface="Arial" panose="020B0604020202020204" pitchFamily="34" charset="0"/>
                              <a:cs typeface="Arial" panose="020B0604020202020204" pitchFamily="34" charset="0"/>
                            </a:rPr>
                            <a:t>Two-tailed</a:t>
                          </a:r>
                        </a:p>
                        <a:p>
                          <a:pPr algn="ctr"/>
                          <a:endParaRPr lang="en-US" sz="2000" dirty="0">
                            <a:solidFill>
                              <a:srgbClr val="000000"/>
                            </a:solidFill>
                            <a:latin typeface="Arial" panose="020B0604020202020204" pitchFamily="34" charset="0"/>
                            <a:cs typeface="Arial" panose="020B0604020202020204" pitchFamily="34" charset="0"/>
                          </a:endParaRPr>
                        </a:p>
                      </a:txBody>
                      <a:tcPr anchor="b">
                        <a:noFill/>
                      </a:tcPr>
                    </a:tc>
                    <a:extLst>
                      <a:ext uri="{0D108BD9-81ED-4DB2-BD59-A6C34878D82A}">
                        <a16:rowId xmlns:a16="http://schemas.microsoft.com/office/drawing/2014/main" val="3040413604"/>
                      </a:ext>
                    </a:extLst>
                  </a:tr>
                  <a:tr h="434442">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2735330957"/>
                      </a:ext>
                    </a:extLst>
                  </a:tr>
                  <a:tr h="434442">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&lt;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4015236200"/>
                      </a:ext>
                    </a:extLst>
                  </a:tr>
                </a:tbl>
              </a:graphicData>
            </a:graphic>
          </p:graphicFrame>
        </mc:Choice>
        <mc:Fallback xmlns="">
          <p:graphicFrame>
            <p:nvGraphicFramePr>
              <p:cNvPr id="5" name="Table 5">
                <a:extLst>
                  <a:ext uri="{FF2B5EF4-FFF2-40B4-BE49-F238E27FC236}">
                    <a16:creationId xmlns:a16="http://schemas.microsoft.com/office/drawing/2014/main" id="{949D3E33-8804-E853-E582-29FEBCCEEA7C}"/>
                  </a:ext>
                </a:extLst>
              </p:cNvPr>
              <p:cNvGraphicFramePr>
                <a:graphicFrameLocks noGrp="1"/>
              </p:cNvGraphicFramePr>
              <p:nvPr>
                <p:ph type="tbl" sz="quarter" idx="16"/>
                <p:extLst>
                  <p:ext uri="{D42A27DB-BD31-4B8C-83A1-F6EECF244321}">
                    <p14:modId xmlns:p14="http://schemas.microsoft.com/office/powerpoint/2010/main" val="3773036849"/>
                  </p:ext>
                </p:extLst>
              </p:nvPr>
            </p:nvGraphicFramePr>
            <p:xfrm>
              <a:off x="2057400" y="2071323"/>
              <a:ext cx="7179216" cy="1637512"/>
            </p:xfrm>
            <a:graphic>
              <a:graphicData uri="http://schemas.openxmlformats.org/drawingml/2006/table">
                <a:tbl>
                  <a:tblPr firstRow="1" bandRow="1">
                    <a:tableStyleId>{5C22544A-7EE6-4342-B048-85BDC9FD1C3A}</a:tableStyleId>
                  </a:tblPr>
                  <a:tblGrid>
                    <a:gridCol w="2393072">
                      <a:extLst>
                        <a:ext uri="{9D8B030D-6E8A-4147-A177-3AD203B41FA5}">
                          <a16:colId xmlns:a16="http://schemas.microsoft.com/office/drawing/2014/main" val="62038558"/>
                        </a:ext>
                      </a:extLst>
                    </a:gridCol>
                    <a:gridCol w="2393072">
                      <a:extLst>
                        <a:ext uri="{9D8B030D-6E8A-4147-A177-3AD203B41FA5}">
                          <a16:colId xmlns:a16="http://schemas.microsoft.com/office/drawing/2014/main" val="949252079"/>
                        </a:ext>
                      </a:extLst>
                    </a:gridCol>
                    <a:gridCol w="2393072">
                      <a:extLst>
                        <a:ext uri="{9D8B030D-6E8A-4147-A177-3AD203B41FA5}">
                          <a16:colId xmlns:a16="http://schemas.microsoft.com/office/drawing/2014/main" val="2132953150"/>
                        </a:ext>
                      </a:extLst>
                    </a:gridCol>
                  </a:tblGrid>
                  <a:tr h="768628">
                    <a:tc>
                      <a:txBody>
                        <a:bodyPr/>
                        <a:lstStyle/>
                        <a:p>
                          <a:pPr algn="ctr"/>
                          <a:r>
                            <a:rPr lang="en-US" sz="2000" dirty="0">
                              <a:solidFill>
                                <a:srgbClr val="000000"/>
                              </a:solidFill>
                              <a:latin typeface="Arial" panose="020B0604020202020204" pitchFamily="34" charset="0"/>
                              <a:cs typeface="Arial" panose="020B0604020202020204" pitchFamily="34" charset="0"/>
                            </a:rPr>
                            <a:t>One-tailed (Lower-tail)</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One-tailed (Upper-tail)</a:t>
                          </a:r>
                        </a:p>
                      </a:txBody>
                      <a:tcPr anchor="b">
                        <a:noFill/>
                      </a:tcPr>
                    </a:tc>
                    <a:tc>
                      <a:txBody>
                        <a:bodyPr/>
                        <a:lstStyle/>
                        <a:p>
                          <a:pPr algn="ctr"/>
                          <a:r>
                            <a:rPr lang="en-US" sz="2000" dirty="0">
                              <a:solidFill>
                                <a:srgbClr val="000000"/>
                              </a:solidFill>
                              <a:latin typeface="Arial" panose="020B0604020202020204" pitchFamily="34" charset="0"/>
                              <a:cs typeface="Arial" panose="020B0604020202020204" pitchFamily="34" charset="0"/>
                            </a:rPr>
                            <a:t>Two-tailed</a:t>
                          </a:r>
                        </a:p>
                        <a:p>
                          <a:pPr algn="ctr"/>
                          <a:endParaRPr lang="en-US" sz="2000" dirty="0">
                            <a:solidFill>
                              <a:srgbClr val="000000"/>
                            </a:solidFill>
                            <a:latin typeface="Arial" panose="020B0604020202020204" pitchFamily="34" charset="0"/>
                            <a:cs typeface="Arial" panose="020B0604020202020204" pitchFamily="34" charset="0"/>
                          </a:endParaRPr>
                        </a:p>
                      </a:txBody>
                      <a:tcPr anchor="b">
                        <a:noFill/>
                      </a:tcPr>
                    </a:tc>
                    <a:extLst>
                      <a:ext uri="{0D108BD9-81ED-4DB2-BD59-A6C34878D82A}">
                        <a16:rowId xmlns:a16="http://schemas.microsoft.com/office/drawing/2014/main" val="3040413604"/>
                      </a:ext>
                    </a:extLst>
                  </a:tr>
                  <a:tr h="434442">
                    <a:tc>
                      <a:txBody>
                        <a:bodyPr/>
                        <a:lstStyle/>
                        <a:p>
                          <a:endParaRPr lang="en-US"/>
                        </a:p>
                      </a:txBody>
                      <a:tcPr anchor="ctr">
                        <a:blipFill>
                          <a:blip r:embed="rId5"/>
                          <a:stretch>
                            <a:fillRect l="-254" t="-180282" r="-201018" b="-104225"/>
                          </a:stretch>
                        </a:blipFill>
                      </a:tcPr>
                    </a:tc>
                    <a:tc>
                      <a:txBody>
                        <a:bodyPr/>
                        <a:lstStyle/>
                        <a:p>
                          <a:endParaRPr lang="en-US"/>
                        </a:p>
                      </a:txBody>
                      <a:tcPr anchor="ctr">
                        <a:blipFill>
                          <a:blip r:embed="rId5"/>
                          <a:stretch>
                            <a:fillRect l="-100254" t="-180282" r="-101018" b="-104225"/>
                          </a:stretch>
                        </a:blipFill>
                      </a:tcPr>
                    </a:tc>
                    <a:tc>
                      <a:txBody>
                        <a:bodyPr/>
                        <a:lstStyle/>
                        <a:p>
                          <a:endParaRPr lang="en-US"/>
                        </a:p>
                      </a:txBody>
                      <a:tcPr anchor="ctr">
                        <a:blipFill>
                          <a:blip r:embed="rId5"/>
                          <a:stretch>
                            <a:fillRect l="-200254" t="-180282" r="-1018" b="-104225"/>
                          </a:stretch>
                        </a:blipFill>
                      </a:tcPr>
                    </a:tc>
                    <a:extLst>
                      <a:ext uri="{0D108BD9-81ED-4DB2-BD59-A6C34878D82A}">
                        <a16:rowId xmlns:a16="http://schemas.microsoft.com/office/drawing/2014/main" val="2735330957"/>
                      </a:ext>
                    </a:extLst>
                  </a:tr>
                  <a:tr h="434442">
                    <a:tc>
                      <a:txBody>
                        <a:bodyPr/>
                        <a:lstStyle/>
                        <a:p>
                          <a:endParaRPr lang="en-US"/>
                        </a:p>
                      </a:txBody>
                      <a:tcPr anchor="ctr">
                        <a:blipFill>
                          <a:blip r:embed="rId5"/>
                          <a:stretch>
                            <a:fillRect l="-254" t="-276389" r="-201018" b="-2778"/>
                          </a:stretch>
                        </a:blipFill>
                      </a:tcPr>
                    </a:tc>
                    <a:tc>
                      <a:txBody>
                        <a:bodyPr/>
                        <a:lstStyle/>
                        <a:p>
                          <a:endParaRPr lang="en-US"/>
                        </a:p>
                      </a:txBody>
                      <a:tcPr anchor="ctr">
                        <a:blipFill>
                          <a:blip r:embed="rId5"/>
                          <a:stretch>
                            <a:fillRect l="-100254" t="-276389" r="-101018" b="-2778"/>
                          </a:stretch>
                        </a:blipFill>
                      </a:tcPr>
                    </a:tc>
                    <a:tc>
                      <a:txBody>
                        <a:bodyPr/>
                        <a:lstStyle/>
                        <a:p>
                          <a:endParaRPr lang="en-US"/>
                        </a:p>
                      </a:txBody>
                      <a:tcPr anchor="ctr">
                        <a:blipFill>
                          <a:blip r:embed="rId5"/>
                          <a:stretch>
                            <a:fillRect l="-200254" t="-276389" r="-1018" b="-2778"/>
                          </a:stretch>
                        </a:blipFill>
                      </a:tcPr>
                    </a:tc>
                    <a:extLst>
                      <a:ext uri="{0D108BD9-81ED-4DB2-BD59-A6C34878D82A}">
                        <a16:rowId xmlns:a16="http://schemas.microsoft.com/office/drawing/2014/main" val="4015236200"/>
                      </a:ext>
                    </a:extLst>
                  </a:tr>
                </a:tbl>
              </a:graphicData>
            </a:graphic>
          </p:graphicFrame>
        </mc:Fallback>
      </mc:AlternateContent>
    </p:spTree>
    <p:extLst>
      <p:ext uri="{BB962C8B-B14F-4D97-AF65-F5344CB8AC3E}">
        <p14:creationId xmlns:p14="http://schemas.microsoft.com/office/powerpoint/2010/main" val="2250610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10.1 Test Statistic for Hypothesis Tests About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𝟏</m:t>
                        </m:r>
                      </m:sub>
                    </m:sSub>
                    <m:r>
                      <a:rPr lang="en-US" sz="320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𝟐</m:t>
                        </m:r>
                      </m:sub>
                    </m:sSub>
                  </m:oMath>
                </a14:m>
                <a:r>
                  <a:rPr lang="en-US" sz="3200" dirty="0"/>
                  <a:t>: </a:t>
                </a:r>
                <a14:m>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rPr>
                          <m:t>𝟏</m:t>
                        </m:r>
                      </m:sub>
                    </m:sSub>
                  </m:oMath>
                </a14:m>
                <a:r>
                  <a:rPr lang="en-US" sz="3200" b="0" dirty="0"/>
                  <a:t> </a:t>
                </a:r>
                <a:r>
                  <a:rPr lang="en-US" sz="3200" dirty="0"/>
                  <a:t>and </a:t>
                </a:r>
                <a14:m>
                  <m:oMath xmlns:m="http://schemas.openxmlformats.org/officeDocument/2006/math">
                    <m:sSub>
                      <m:sSubPr>
                        <m:ctrlPr>
                          <a:rPr lang="en-US" sz="3200" i="1">
                            <a:latin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ea typeface="Cambria Math" panose="02040503050406030204" pitchFamily="18" charset="0"/>
                          </a:rPr>
                          <m:t>𝟐</m:t>
                        </m:r>
                      </m:sub>
                    </m:sSub>
                  </m:oMath>
                </a14:m>
                <a:r>
                  <a:rPr lang="en-US" sz="3200" dirty="0"/>
                  <a:t> Known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blipFill>
                <a:blip r:embed="rId3"/>
                <a:stretch>
                  <a:fillRect l="-1855" t="-26364" r="-2783"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08084"/>
                <a:ext cx="10711543" cy="4414344"/>
              </a:xfrm>
            </p:spPr>
            <p:txBody>
              <a:bodyPr/>
              <a:lstStyle/>
              <a:p>
                <a:pPr>
                  <a:spcBef>
                    <a:spcPts val="600"/>
                  </a:spcBef>
                  <a:spcAft>
                    <a:spcPts val="0"/>
                  </a:spcAft>
                </a:pPr>
                <a:r>
                  <a:rPr lang="en-US" sz="2000" dirty="0">
                    <a:cs typeface="Arial" panose="020B0604020202020204" pitchFamily="34" charset="0"/>
                  </a:rPr>
                  <a:t>When the sample sizes are large enough, the distribution of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can be described by a  normal distribution (*see notes.)</a:t>
                </a:r>
              </a:p>
              <a:p>
                <a:pPr>
                  <a:spcBef>
                    <a:spcPts val="600"/>
                  </a:spcBef>
                  <a:spcAft>
                    <a:spcPts val="1200"/>
                  </a:spcAft>
                </a:pPr>
                <a:r>
                  <a:rPr lang="en-US" sz="2000" dirty="0">
                    <a:cs typeface="Arial" panose="020B0604020202020204" pitchFamily="34" charset="0"/>
                  </a:rPr>
                  <a:t>In this case, the test statistic for the difference between two population means</a:t>
                </a:r>
                <a:r>
                  <a:rPr lang="en-US" sz="2000" dirty="0">
                    <a:solidFill>
                      <a:srgbClr val="000000"/>
                    </a:solidFill>
                    <a:cs typeface="Arial" panose="020B0604020202020204" pitchFamily="34" charset="0"/>
                  </a:rPr>
                  <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when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ea typeface="Cambria Math" panose="02040503050406030204" pitchFamily="18" charset="0"/>
                          </a:rPr>
                          <m:t>2</m:t>
                        </m:r>
                      </m:sub>
                    </m:sSub>
                  </m:oMath>
                </a14:m>
                <a:r>
                  <a:rPr lang="en-US" sz="2000" dirty="0"/>
                  <a:t> are known,</a:t>
                </a:r>
                <a:r>
                  <a:rPr lang="en-US" sz="2000" dirty="0">
                    <a:solidFill>
                      <a:srgbClr val="000000"/>
                    </a:solidFill>
                    <a:cs typeface="Arial" panose="020B0604020202020204" pitchFamily="34" charset="0"/>
                  </a:rPr>
                  <a:t> can be written as</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𝒛</m:t>
                      </m:r>
                      <m:r>
                        <a:rPr lang="en-US" sz="2000" b="1" i="1" smtClean="0">
                          <a:latin typeface="Cambria Math" panose="02040503050406030204" pitchFamily="18" charset="0"/>
                          <a:cs typeface="Arial" panose="020B0604020202020204" pitchFamily="34" charset="0"/>
                        </a:rPr>
                        <m:t>=</m:t>
                      </m:r>
                      <m:f>
                        <m:fPr>
                          <m:ctrlPr>
                            <a:rPr lang="en-US" sz="2000" b="1" i="1">
                              <a:latin typeface="Cambria Math" panose="02040503050406030204" pitchFamily="18" charset="0"/>
                              <a:cs typeface="Arial" panose="020B0604020202020204" pitchFamily="34" charset="0"/>
                            </a:rPr>
                          </m:ctrlPr>
                        </m:fPr>
                        <m:num>
                          <m:d>
                            <m:dPr>
                              <m:ctrlPr>
                                <a:rPr lang="en-US" sz="2000" b="1" i="1">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e>
                                <m:sub>
                                  <m:r>
                                    <a:rPr lang="en-US" sz="2000" b="1" i="1">
                                      <a:latin typeface="Cambria Math" panose="02040503050406030204" pitchFamily="18" charset="0"/>
                                      <a:cs typeface="Arial" panose="020B0604020202020204" pitchFamily="34" charset="0"/>
                                    </a:rPr>
                                    <m:t>𝟏</m:t>
                                  </m:r>
                                </m:sub>
                              </m:sSub>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e>
                                <m:sub>
                                  <m:r>
                                    <a:rPr lang="en-US" sz="2000" b="1" i="1">
                                      <a:latin typeface="Cambria Math" panose="02040503050406030204" pitchFamily="18" charset="0"/>
                                      <a:cs typeface="Arial" panose="020B0604020202020204" pitchFamily="34" charset="0"/>
                                    </a:rPr>
                                    <m:t>𝟐</m:t>
                                  </m:r>
                                </m:sub>
                              </m:sSub>
                            </m:e>
                          </m:d>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𝑫</m:t>
                              </m:r>
                            </m:e>
                            <m:sub>
                              <m:r>
                                <a:rPr lang="en-US" sz="2000" b="1" i="1">
                                  <a:latin typeface="Cambria Math" panose="02040503050406030204" pitchFamily="18" charset="0"/>
                                  <a:ea typeface="Cambria Math" panose="02040503050406030204" pitchFamily="18" charset="0"/>
                                  <a:cs typeface="Arial" panose="020B0604020202020204" pitchFamily="34" charset="0"/>
                                </a:rPr>
                                <m:t>𝟎</m:t>
                              </m:r>
                            </m:sub>
                          </m:sSub>
                        </m:num>
                        <m:den>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𝝈</m:t>
                              </m:r>
                            </m:e>
                            <m:sub>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ea typeface="Cambria Math" panose="02040503050406030204" pitchFamily="18" charset="0"/>
                                          <a:cs typeface="Arial" panose="020B0604020202020204" pitchFamily="34" charset="0"/>
                                        </a:rPr>
                                      </m:ctrlPr>
                                    </m:accPr>
                                    <m:e>
                                      <m:r>
                                        <a:rPr lang="en-US" sz="2000" b="1" i="1">
                                          <a:latin typeface="Cambria Math" panose="02040503050406030204" pitchFamily="18" charset="0"/>
                                          <a:ea typeface="Cambria Math" panose="02040503050406030204" pitchFamily="18" charset="0"/>
                                          <a:cs typeface="Arial" panose="020B0604020202020204" pitchFamily="34" charset="0"/>
                                        </a:rPr>
                                        <m:t>𝒙</m:t>
                                      </m:r>
                                    </m:e>
                                  </m:acc>
                                </m:e>
                                <m:sub>
                                  <m:r>
                                    <a:rPr lang="en-US" sz="2000" b="1" i="1">
                                      <a:latin typeface="Cambria Math" panose="02040503050406030204" pitchFamily="18" charset="0"/>
                                      <a:ea typeface="Cambria Math" panose="02040503050406030204" pitchFamily="18" charset="0"/>
                                      <a:cs typeface="Arial" panose="020B0604020202020204" pitchFamily="34" charset="0"/>
                                    </a:rPr>
                                    <m:t>𝟏</m:t>
                                  </m:r>
                                </m:sub>
                              </m:sSub>
                              <m:r>
                                <a:rPr lang="en-US" sz="2000" b="1"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ea typeface="Cambria Math" panose="02040503050406030204" pitchFamily="18" charset="0"/>
                                          <a:cs typeface="Arial" panose="020B0604020202020204" pitchFamily="34" charset="0"/>
                                        </a:rPr>
                                      </m:ctrlPr>
                                    </m:accPr>
                                    <m:e>
                                      <m:r>
                                        <a:rPr lang="en-US" sz="2000" b="1" i="1">
                                          <a:latin typeface="Cambria Math" panose="02040503050406030204" pitchFamily="18" charset="0"/>
                                          <a:ea typeface="Cambria Math" panose="02040503050406030204" pitchFamily="18" charset="0"/>
                                          <a:cs typeface="Arial" panose="020B0604020202020204" pitchFamily="34" charset="0"/>
                                        </a:rPr>
                                        <m:t>𝒙</m:t>
                                      </m:r>
                                    </m:e>
                                  </m:acc>
                                </m:e>
                                <m:sub>
                                  <m:r>
                                    <a:rPr lang="en-US" sz="2000" b="1" i="1">
                                      <a:latin typeface="Cambria Math" panose="02040503050406030204" pitchFamily="18" charset="0"/>
                                      <a:ea typeface="Cambria Math" panose="02040503050406030204" pitchFamily="18" charset="0"/>
                                      <a:cs typeface="Arial" panose="020B0604020202020204" pitchFamily="34" charset="0"/>
                                    </a:rPr>
                                    <m:t>𝟐</m:t>
                                  </m:r>
                                </m:sub>
                              </m:sSub>
                            </m:sub>
                          </m:sSub>
                        </m:den>
                      </m:f>
                    </m:oMath>
                  </m:oMathPara>
                </a14:m>
                <a:endParaRPr lang="en-US" sz="2000" b="1" dirty="0">
                  <a:cs typeface="Arial" panose="020B0604020202020204" pitchFamily="34" charset="0"/>
                </a:endParaRPr>
              </a:p>
              <a:p>
                <a:pPr>
                  <a:spcBef>
                    <a:spcPts val="600"/>
                  </a:spcBef>
                  <a:spcAft>
                    <a:spcPts val="600"/>
                  </a:spcAft>
                </a:pPr>
                <a:r>
                  <a:rPr lang="en-US" sz="2000" dirty="0">
                    <a:cs typeface="Arial" panose="020B0604020202020204" pitchFamily="34" charset="0"/>
                  </a:rPr>
                  <a:t>Where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m:rPr>
                          <m:nor/>
                        </m:rPr>
                        <a:rPr lang="en-US" sz="2000" b="0" i="0" smtClean="0">
                          <a:latin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point</m:t>
                      </m:r>
                      <m:r>
                        <m:rPr>
                          <m:nor/>
                        </m:rPr>
                        <a:rPr lang="en-US" sz="2000" dirty="0">
                          <a:cs typeface="Arial" panose="020B0604020202020204" pitchFamily="34" charset="0"/>
                        </a:rPr>
                        <m:t> </m:t>
                      </m:r>
                      <m:r>
                        <m:rPr>
                          <m:nor/>
                        </m:rPr>
                        <a:rPr lang="en-US" sz="2000" dirty="0">
                          <a:cs typeface="Arial" panose="020B0604020202020204" pitchFamily="34" charset="0"/>
                        </a:rPr>
                        <m:t>estimator</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dirty="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a:p>
                <a:pPr marL="914400">
                  <a:spcBef>
                    <a:spcPts val="600"/>
                  </a:spcBef>
                  <a:spcAft>
                    <a:spcPts val="600"/>
                  </a:spcAft>
                </a:pP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0</m:t>
                        </m:r>
                      </m:sub>
                    </m:sSub>
                  </m:oMath>
                </a14:m>
                <a:r>
                  <a:rPr lang="en-US" sz="2000" dirty="0"/>
                  <a:t> is the hypothesized difference between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 </m:t>
                    </m:r>
                  </m:oMath>
                </a14:m>
                <a:endParaRPr lang="en-US" sz="2000" i="1" dirty="0">
                  <a:latin typeface="Cambria Math" panose="02040503050406030204" pitchFamily="18"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b="0" i="0" dirty="0" smtClean="0">
                          <a:cs typeface="Arial" panose="020B0604020202020204" pitchFamily="34" charset="0"/>
                        </a:rPr>
                        <m:t>standard</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error</m:t>
                      </m:r>
                      <m:r>
                        <m:rPr>
                          <m:nor/>
                        </m:rPr>
                        <a:rPr lang="en-US" sz="2000" b="0" i="0" dirty="0" smtClean="0">
                          <a:cs typeface="Arial" panose="020B0604020202020204" pitchFamily="34" charset="0"/>
                        </a:rPr>
                        <m:t> </m:t>
                      </m:r>
                      <m:r>
                        <m:rPr>
                          <m:nor/>
                        </m:rPr>
                        <a:rPr lang="en-US" sz="2000" dirty="0">
                          <a:cs typeface="Arial" panose="020B0604020202020204" pitchFamily="34" charset="0"/>
                        </a:rPr>
                        <m:t>of</m:t>
                      </m:r>
                      <m:r>
                        <a:rPr lang="en-US" sz="2000" b="0" i="1" dirty="0"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608084"/>
                <a:ext cx="10711543" cy="4414344"/>
              </a:xfrm>
              <a:blipFill>
                <a:blip r:embed="rId4"/>
                <a:stretch>
                  <a:fillRect l="-1422" t="-1657" r="-171"/>
                </a:stretch>
              </a:blipFill>
            </p:spPr>
            <p:txBody>
              <a:bodyPr/>
              <a:lstStyle/>
              <a:p>
                <a:r>
                  <a:rPr lang="en-US">
                    <a:noFill/>
                  </a:rPr>
                  <a:t> </a:t>
                </a:r>
              </a:p>
            </p:txBody>
          </p:sp>
        </mc:Fallback>
      </mc:AlternateContent>
    </p:spTree>
    <p:extLst>
      <p:ext uri="{BB962C8B-B14F-4D97-AF65-F5344CB8AC3E}">
        <p14:creationId xmlns:p14="http://schemas.microsoft.com/office/powerpoint/2010/main" val="4118425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10.1 A Quality Assessment of Two Training Centers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174526"/>
                <a:ext cx="10711543" cy="4694185"/>
              </a:xfrm>
            </p:spPr>
            <p:txBody>
              <a:bodyPr/>
              <a:lstStyle/>
              <a:p>
                <a:pPr>
                  <a:lnSpc>
                    <a:spcPct val="100000"/>
                  </a:lnSpc>
                  <a:spcBef>
                    <a:spcPts val="600"/>
                  </a:spcBef>
                </a:pPr>
                <a:r>
                  <a:rPr lang="en-US" sz="2000" dirty="0">
                    <a:solidFill>
                      <a:srgbClr val="000000"/>
                    </a:solidFill>
                    <a:cs typeface="Arial" panose="020B0604020202020204" pitchFamily="34" charset="0"/>
                  </a:rPr>
                  <a:t>As part of a study to evaluate differences in education quality, a standardized examination is given to individuals who are trained at two training centers.</a:t>
                </a:r>
              </a:p>
              <a:p>
                <a:pPr>
                  <a:lnSpc>
                    <a:spcPct val="100000"/>
                  </a:lnSpc>
                  <a:spcBef>
                    <a:spcPts val="600"/>
                  </a:spcBef>
                </a:pPr>
                <a:r>
                  <a:rPr lang="en-US" sz="2000" dirty="0">
                    <a:solidFill>
                      <a:srgbClr val="000000"/>
                    </a:solidFill>
                    <a:cs typeface="Arial" panose="020B0604020202020204" pitchFamily="34" charset="0"/>
                  </a:rPr>
                  <a:t>The difference between the mean examination scores is used to assess quality differences between training center A (index 1) and training center B (index 2.)</a:t>
                </a:r>
              </a:p>
              <a:p>
                <a:pPr>
                  <a:spcBef>
                    <a:spcPts val="600"/>
                  </a:spcBef>
                </a:pPr>
                <a:r>
                  <a:rPr lang="en-US" sz="2000" dirty="0">
                    <a:cs typeface="Arial" panose="020B0604020202020204" pitchFamily="34" charset="0"/>
                  </a:rPr>
                  <a:t>H</a:t>
                </a:r>
                <a:r>
                  <a:rPr lang="en-US" sz="2000" dirty="0">
                    <a:solidFill>
                      <a:srgbClr val="000000"/>
                    </a:solidFill>
                    <a:cs typeface="Arial" panose="020B0604020202020204" pitchFamily="34" charset="0"/>
                  </a:rPr>
                  <a:t>istorical standardized examinations always resulted in an examination score standard deviation near 10 points. Thus, we will assume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1</m:t>
                        </m:r>
                      </m:sub>
                    </m:sSub>
                    <m:r>
                      <a:rPr lang="en-US" sz="2000" i="1">
                        <a:latin typeface="Cambria Math" panose="02040503050406030204" pitchFamily="18" charset="0"/>
                      </a:rPr>
                      <m:t>=</m:t>
                    </m:r>
                    <m:r>
                      <a:rPr lang="en-US" sz="2000" b="0" i="1" smtClean="0">
                        <a:latin typeface="Cambria Math" panose="02040503050406030204" pitchFamily="18" charset="0"/>
                      </a:rPr>
                      <m:t>10</m:t>
                    </m:r>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2</m:t>
                        </m:r>
                      </m:sub>
                    </m:sSub>
                    <m:r>
                      <a:rPr lang="en-US" sz="2000" i="1">
                        <a:latin typeface="Cambria Math" panose="02040503050406030204" pitchFamily="18" charset="0"/>
                      </a:rPr>
                      <m:t>=10</m:t>
                    </m:r>
                  </m:oMath>
                </a14:m>
                <a:r>
                  <a:rPr lang="en-US" sz="2000" dirty="0">
                    <a:solidFill>
                      <a:srgbClr val="000000"/>
                    </a:solidFill>
                    <a:cs typeface="Arial" panose="020B0604020202020204" pitchFamily="34" charset="0"/>
                  </a:rPr>
                  <a:t>.</a:t>
                </a:r>
              </a:p>
              <a:p>
                <a:pPr>
                  <a:spcBef>
                    <a:spcPts val="600"/>
                  </a:spcBef>
                </a:pPr>
                <a:r>
                  <a:rPr lang="en-US" sz="2000" dirty="0" err="1">
                    <a:cs typeface="Arial" panose="020B0604020202020204" pitchFamily="34" charset="0"/>
                  </a:rPr>
                  <a:t>DATAfile</a:t>
                </a:r>
                <a:r>
                  <a:rPr lang="en-US" sz="2000" dirty="0">
                    <a:cs typeface="Arial" panose="020B0604020202020204" pitchFamily="34" charset="0"/>
                  </a:rPr>
                  <a:t>: </a:t>
                </a:r>
                <a:r>
                  <a:rPr lang="en-US" sz="2000" i="1" dirty="0" err="1">
                    <a:cs typeface="Arial" panose="020B0604020202020204" pitchFamily="34" charset="0"/>
                  </a:rPr>
                  <a:t>examscores</a:t>
                </a:r>
                <a:endParaRPr lang="en-US" sz="2000" dirty="0">
                  <a:solidFill>
                    <a:srgbClr val="000000"/>
                  </a:solidFill>
                  <a:cs typeface="Arial" panose="020B0604020202020204" pitchFamily="34" charset="0"/>
                </a:endParaRPr>
              </a:p>
              <a:p>
                <a:pPr>
                  <a:spcBef>
                    <a:spcPts val="600"/>
                  </a:spcBef>
                  <a:spcAft>
                    <a:spcPts val="600"/>
                  </a:spcAft>
                </a:pPr>
                <a:r>
                  <a:rPr lang="en-US" sz="2000" dirty="0"/>
                  <a:t>Independent random samples of individuals from training centers A and B provided the following information.</a:t>
                </a:r>
              </a:p>
              <a:p>
                <a:pPr marL="914400">
                  <a:spcBef>
                    <a:spcPts val="0"/>
                  </a:spcBef>
                  <a:tabLst>
                    <a:tab pos="2971800" algn="l"/>
                  </a:tabLst>
                </a:pPr>
                <a:r>
                  <a:rPr lang="en-US" sz="2000" dirty="0"/>
                  <a:t>	</a:t>
                </a:r>
                <a:r>
                  <a:rPr lang="en-US" sz="2000" b="1" dirty="0"/>
                  <a:t>Center A	Center B</a:t>
                </a:r>
              </a:p>
              <a:p>
                <a:pPr marL="914400">
                  <a:spcBef>
                    <a:spcPts val="600"/>
                  </a:spcBef>
                  <a:tabLst>
                    <a:tab pos="2971800" algn="l"/>
                  </a:tabLst>
                </a:pPr>
                <a:r>
                  <a:rPr lang="en-US" sz="2000" dirty="0"/>
                  <a:t>Sample size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=30</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40</m:t>
                    </m:r>
                  </m:oMath>
                </a14:m>
                <a:endParaRPr lang="en-US" sz="2000" dirty="0"/>
              </a:p>
              <a:p>
                <a:pPr marL="914400">
                  <a:spcBef>
                    <a:spcPts val="600"/>
                  </a:spcBef>
                  <a:spcAft>
                    <a:spcPts val="600"/>
                  </a:spcAft>
                  <a:tabLst>
                    <a:tab pos="2971800" algn="l"/>
                  </a:tabLst>
                </a:pPr>
                <a:r>
                  <a:rPr lang="en-US" sz="2000" dirty="0"/>
                  <a:t>Sample mean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=82 </m:t>
                    </m:r>
                  </m:oMath>
                </a14:m>
                <a:r>
                  <a:rPr lang="en-US" sz="2000" dirty="0"/>
                  <a:t>	</a:t>
                </a:r>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78</m:t>
                    </m:r>
                  </m:oMath>
                </a14:m>
                <a:endParaRPr lang="en-US" sz="2000" dirty="0">
                  <a:latin typeface="Arial" panose="020B0604020202020204" pitchFamily="34" charset="0"/>
                  <a:cs typeface="Arial" panose="020B0604020202020204" pitchFamily="34" charset="0"/>
                </a:endParaRPr>
              </a:p>
              <a:p>
                <a:r>
                  <a:rPr lang="en-US" sz="2000" dirty="0">
                    <a:solidFill>
                      <a:srgbClr val="000000"/>
                    </a:solidFill>
                    <a:cs typeface="Arial" panose="020B0604020202020204" pitchFamily="34" charset="0"/>
                  </a:rPr>
                  <a:t>An </a:t>
                </a:r>
                <a14:m>
                  <m:oMath xmlns:m="http://schemas.openxmlformats.org/officeDocument/2006/math">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level of significance is specified for the study.</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174526"/>
                <a:ext cx="10711543" cy="4694185"/>
              </a:xfrm>
              <a:blipFill>
                <a:blip r:embed="rId3"/>
                <a:stretch>
                  <a:fillRect l="-1422" t="-1558" b="-3377"/>
                </a:stretch>
              </a:blipFill>
            </p:spPr>
            <p:txBody>
              <a:bodyPr/>
              <a:lstStyle/>
              <a:p>
                <a:r>
                  <a:rPr lang="en-US">
                    <a:noFill/>
                  </a:rPr>
                  <a:t> </a:t>
                </a:r>
              </a:p>
            </p:txBody>
          </p:sp>
        </mc:Fallback>
      </mc:AlternateContent>
    </p:spTree>
    <p:extLst>
      <p:ext uri="{BB962C8B-B14F-4D97-AF65-F5344CB8AC3E}">
        <p14:creationId xmlns:p14="http://schemas.microsoft.com/office/powerpoint/2010/main" val="3020115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8023" y="365125"/>
                <a:ext cx="10809514" cy="672105"/>
              </a:xfrm>
            </p:spPr>
            <p:txBody>
              <a:bodyPr/>
              <a:lstStyle/>
              <a:p>
                <a:r>
                  <a:rPr lang="en-US" sz="3200" dirty="0"/>
                  <a:t>10.1 A Two-Tailed Test About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𝟏</m:t>
                        </m:r>
                      </m:sub>
                    </m:sSub>
                    <m:r>
                      <a:rPr lang="en-US" sz="320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𝟐</m:t>
                        </m:r>
                      </m:sub>
                    </m:sSub>
                  </m:oMath>
                </a14:m>
                <a:r>
                  <a:rPr lang="en-US" sz="3200" dirty="0"/>
                  <a:t>: </a:t>
                </a:r>
                <a14:m>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rPr>
                          <m:t>𝟏</m:t>
                        </m:r>
                      </m:sub>
                    </m:sSub>
                  </m:oMath>
                </a14:m>
                <a:r>
                  <a:rPr lang="en-US" sz="3200" b="0" dirty="0"/>
                  <a:t> </a:t>
                </a:r>
                <a:r>
                  <a:rPr lang="en-US" sz="3200" dirty="0"/>
                  <a:t>and </a:t>
                </a:r>
                <a14:m>
                  <m:oMath xmlns:m="http://schemas.openxmlformats.org/officeDocument/2006/math">
                    <m:sSub>
                      <m:sSubPr>
                        <m:ctrlPr>
                          <a:rPr lang="en-US" sz="3200" i="1">
                            <a:latin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ea typeface="Cambria Math" panose="02040503050406030204" pitchFamily="18" charset="0"/>
                          </a:rPr>
                          <m:t>𝟐</m:t>
                        </m:r>
                      </m:sub>
                    </m:sSub>
                  </m:oMath>
                </a14:m>
                <a:r>
                  <a:rPr lang="en-US" sz="3200" dirty="0"/>
                  <a:t> Known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658023" y="365125"/>
                <a:ext cx="10809514" cy="672105"/>
              </a:xfrm>
              <a:blipFill>
                <a:blip r:embed="rId3"/>
                <a:stretch>
                  <a:fillRect l="-1354" t="-26364" r="-1297" b="-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50429"/>
                <a:ext cx="10711543" cy="4185741"/>
              </a:xfrm>
            </p:spPr>
            <p:txBody>
              <a:bodyPr/>
              <a:lstStyle/>
              <a:p>
                <a:pPr>
                  <a:spcBef>
                    <a:spcPts val="600"/>
                  </a:spcBef>
                  <a:spcAft>
                    <a:spcPts val="600"/>
                  </a:spcAft>
                </a:pPr>
                <a:r>
                  <a:rPr lang="en-US" sz="2000" dirty="0">
                    <a:cs typeface="Arial" panose="020B0604020202020204" pitchFamily="34" charset="0"/>
                  </a:rPr>
                  <a:t>We begin with the tentative assumption that no difference exists between the training quality provided at the two centers. Hence, the null hypothesis is that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cs typeface="Arial" panose="020B0604020202020204" pitchFamily="34" charset="0"/>
                      </a:rPr>
                      <m:t>=0</m:t>
                    </m:r>
                  </m:oMath>
                </a14:m>
                <a:r>
                  <a:rPr lang="en-US" sz="2000" dirty="0">
                    <a:cs typeface="Arial" panose="020B0604020202020204" pitchFamily="34" charset="0"/>
                  </a:rPr>
                  <a:t>, and its rejection leads to the conclusion that a quality differential exists between center A and center B.</a:t>
                </a:r>
              </a:p>
              <a:p>
                <a:pPr marL="914400" algn="l" rtl="0" eaLnBrk="1" fontAlgn="ctr" latinLnBrk="0" hangingPunct="1">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0</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m:oMathPara>
                </a14:m>
                <a:endParaRPr lang="en-US" sz="2000" b="0" i="0" u="none" strike="noStrike" dirty="0">
                  <a:effectLst/>
                  <a:latin typeface="Arial" panose="020B0604020202020204" pitchFamily="34" charset="0"/>
                </a:endParaRPr>
              </a:p>
              <a:p>
                <a:pPr marL="914400" algn="l" rtl="0" eaLnBrk="1" fontAlgn="ctr" latinLnBrk="0" hangingPunct="1">
                  <a:spcBef>
                    <a:spcPts val="600"/>
                  </a:spcBef>
                  <a:spcAft>
                    <a:spcPts val="600"/>
                  </a:spcAft>
                </a:pPr>
                <a14:m>
                  <m:oMath xmlns:m="http://schemas.openxmlformats.org/officeDocument/2006/math">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𝑎</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a14:m>
                <a:r>
                  <a:rPr lang="en-US" sz="1800" b="0" i="0" u="none" strike="noStrike" dirty="0">
                    <a:effectLst/>
                    <a:latin typeface="Arial" panose="020B0604020202020204" pitchFamily="34" charset="0"/>
                  </a:rPr>
                  <a:t> </a:t>
                </a:r>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Calculations of the test statistic follow.</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cs typeface="Arial" panose="020B0604020202020204" pitchFamily="34" charset="0"/>
                                    </a:rPr>
                                    <m:t>1</m:t>
                                  </m:r>
                                </m:sub>
                              </m:sSub>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cs typeface="Arial" panose="020B0604020202020204" pitchFamily="34" charset="0"/>
                                    </a:rPr>
                                    <m:t>2</m:t>
                                  </m:r>
                                </m:sub>
                              </m:sSub>
                            </m:e>
                          </m:d>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𝐷</m:t>
                              </m:r>
                            </m:e>
                            <m:sub>
                              <m:r>
                                <a:rPr lang="en-US" sz="2000" b="0" i="1">
                                  <a:latin typeface="Cambria Math" panose="02040503050406030204" pitchFamily="18" charset="0"/>
                                  <a:ea typeface="Cambria Math" panose="02040503050406030204" pitchFamily="18" charset="0"/>
                                  <a:cs typeface="Arial" panose="020B0604020202020204" pitchFamily="34" charset="0"/>
                                </a:rPr>
                                <m:t>0</m:t>
                              </m:r>
                            </m:sub>
                          </m:sSub>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82−78</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−0</m:t>
                          </m:r>
                        </m:num>
                        <m:den>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30</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10</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0</m:t>
                                  </m:r>
                                </m:den>
                              </m:f>
                            </m:e>
                          </m:rad>
                        </m:den>
                      </m:f>
                      <m:r>
                        <a:rPr lang="en-US" sz="2000" b="0" i="1" smtClean="0">
                          <a:latin typeface="Cambria Math" panose="02040503050406030204" pitchFamily="18" charset="0"/>
                          <a:ea typeface="Cambria Math" panose="02040503050406030204" pitchFamily="18" charset="0"/>
                          <a:cs typeface="Arial" panose="020B0604020202020204" pitchFamily="34" charset="0"/>
                        </a:rPr>
                        <m:t>=1.66</m:t>
                      </m:r>
                    </m:oMath>
                  </m:oMathPara>
                </a14:m>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The </a:t>
                </a:r>
                <a:r>
                  <a:rPr lang="en-US" sz="2000" i="1" dirty="0">
                    <a:cs typeface="Arial" panose="020B0604020202020204" pitchFamily="34" charset="0"/>
                  </a:rPr>
                  <a:t>p</a:t>
                </a:r>
                <a:r>
                  <a:rPr lang="en-US" sz="2000" dirty="0">
                    <a:cs typeface="Arial" panose="020B0604020202020204" pitchFamily="34" charset="0"/>
                  </a:rPr>
                  <a:t>-value for a two-tailed test is: </a:t>
                </a:r>
                <a14:m>
                  <m:oMath xmlns:m="http://schemas.openxmlformats.org/officeDocument/2006/math">
                    <m:r>
                      <a:rPr lang="en-US" sz="2000" b="0" i="1" smtClean="0">
                        <a:latin typeface="Cambria Math" panose="02040503050406030204" pitchFamily="18" charset="0"/>
                        <a:cs typeface="Arial" panose="020B0604020202020204" pitchFamily="34" charset="0"/>
                      </a:rPr>
                      <m:t>𝑝</m:t>
                    </m:r>
                    <m:r>
                      <m:rPr>
                        <m:nor/>
                      </m:rPr>
                      <a:rPr lang="en-US" sz="2000" b="0" i="0" smtClean="0">
                        <a:latin typeface="Cambria Math" panose="02040503050406030204" pitchFamily="18" charset="0"/>
                        <a:cs typeface="Arial" panose="020B0604020202020204" pitchFamily="34" charset="0"/>
                      </a:rPr>
                      <m:t>−</m:t>
                    </m:r>
                    <m:r>
                      <m:rPr>
                        <m:nor/>
                      </m:rPr>
                      <a:rPr lang="en-US" sz="2000" b="0" i="0" smtClean="0">
                        <a:latin typeface="Cambria Math" panose="02040503050406030204" pitchFamily="18" charset="0"/>
                        <a:cs typeface="Arial" panose="020B0604020202020204" pitchFamily="34" charset="0"/>
                      </a:rPr>
                      <m:t>value</m:t>
                    </m:r>
                    <m:r>
                      <a:rPr lang="en-US" sz="2000" b="0" i="1" smtClean="0">
                        <a:latin typeface="Cambria Math" panose="02040503050406030204" pitchFamily="18" charset="0"/>
                        <a:cs typeface="Arial" panose="020B0604020202020204" pitchFamily="34" charset="0"/>
                      </a:rPr>
                      <m:t>=2</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≥1.66</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=2[1−</m:t>
                    </m:r>
                    <m:r>
                      <a:rPr lang="en-US" sz="2000" b="0" i="1" smtClean="0">
                        <a:latin typeface="Cambria Math" panose="02040503050406030204" pitchFamily="18" charset="0"/>
                        <a:ea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&lt;1.66</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]=0.0970</m:t>
                    </m:r>
                  </m:oMath>
                </a14:m>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Thus, because </a:t>
                </a:r>
                <a14:m>
                  <m:oMath xmlns:m="http://schemas.openxmlformats.org/officeDocument/2006/math">
                    <m:r>
                      <a:rPr lang="en-US" sz="2000" b="0" i="1" smtClean="0">
                        <a:latin typeface="Cambria Math" panose="02040503050406030204" pitchFamily="18" charset="0"/>
                        <a:cs typeface="Arial" panose="020B0604020202020204" pitchFamily="34" charset="0"/>
                      </a:rPr>
                      <m:t>𝑝</m:t>
                    </m:r>
                    <m:r>
                      <m:rPr>
                        <m:nor/>
                      </m:rPr>
                      <a:rPr lang="en-US" sz="2000" b="0" i="0" smtClean="0">
                        <a:latin typeface="Cambria Math" panose="02040503050406030204" pitchFamily="18" charset="0"/>
                        <a:cs typeface="Arial" panose="020B0604020202020204" pitchFamily="34" charset="0"/>
                      </a:rPr>
                      <m:t>−</m:t>
                    </m:r>
                    <m:r>
                      <m:rPr>
                        <m:nor/>
                      </m:rPr>
                      <a:rPr lang="en-US" sz="2000" b="0" i="0" smtClean="0">
                        <a:latin typeface="Cambria Math" panose="02040503050406030204" pitchFamily="18" charset="0"/>
                        <a:cs typeface="Arial" panose="020B0604020202020204" pitchFamily="34" charset="0"/>
                      </a:rPr>
                      <m:t>value</m:t>
                    </m:r>
                    <m:r>
                      <a:rPr lang="en-US" sz="2000" b="0" i="1" smtClean="0">
                        <a:latin typeface="Cambria Math" panose="02040503050406030204" pitchFamily="18" charset="0"/>
                        <a:cs typeface="Arial" panose="020B0604020202020204" pitchFamily="34" charset="0"/>
                      </a:rPr>
                      <m:t>&gt;</m:t>
                    </m:r>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cs typeface="Arial" panose="020B0604020202020204" pitchFamily="34" charset="0"/>
                  </a:rPr>
                  <a:t>, we cannot reject </a:t>
                </a:r>
                <a14:m>
                  <m:oMath xmlns:m="http://schemas.openxmlformats.org/officeDocument/2006/math">
                    <m:sSub>
                      <m:sSubPr>
                        <m:ctrlPr>
                          <a:rPr lang="en-US" sz="2000" b="1"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cs typeface="Arial" panose="020B0604020202020204" pitchFamily="34" charset="0"/>
                  </a:rPr>
                  <a:t>. The sample results do not provide sufficient evidence to conclude that the training centers differ in quality.</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50429"/>
                <a:ext cx="10711543" cy="4185741"/>
              </a:xfrm>
              <a:blipFill>
                <a:blip r:embed="rId4"/>
                <a:stretch>
                  <a:fillRect l="-1422" t="-1747" b="-2620"/>
                </a:stretch>
              </a:blipFill>
            </p:spPr>
            <p:txBody>
              <a:bodyPr/>
              <a:lstStyle/>
              <a:p>
                <a:r>
                  <a:rPr lang="en-US">
                    <a:noFill/>
                  </a:rPr>
                  <a:t> </a:t>
                </a:r>
              </a:p>
            </p:txBody>
          </p:sp>
        </mc:Fallback>
      </mc:AlternateContent>
    </p:spTree>
    <p:extLst>
      <p:ext uri="{BB962C8B-B14F-4D97-AF65-F5344CB8AC3E}">
        <p14:creationId xmlns:p14="http://schemas.microsoft.com/office/powerpoint/2010/main" val="1312390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sz="3200" dirty="0">
                <a:solidFill>
                  <a:srgbClr val="25894E"/>
                </a:solidFill>
              </a:rPr>
              <a:t>10.1 Excel: Dialog Box for </a:t>
            </a:r>
            <a:r>
              <a:rPr lang="en-US" sz="3200" i="1" dirty="0">
                <a:solidFill>
                  <a:srgbClr val="25894E"/>
                </a:solidFill>
              </a:rPr>
              <a:t>z</a:t>
            </a:r>
            <a:r>
              <a:rPr lang="en-US" sz="3200" dirty="0">
                <a:solidFill>
                  <a:srgbClr val="25894E"/>
                </a:solidFill>
              </a:rPr>
              <a:t>-Test: Two Sample for Means Tool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7" y="1403353"/>
            <a:ext cx="10704846" cy="717635"/>
          </a:xfrm>
        </p:spPr>
        <p:txBody>
          <a:bodyPr/>
          <a:lstStyle/>
          <a:p>
            <a:r>
              <a:rPr lang="en-US" sz="2000" b="1" dirty="0"/>
              <a:t>Enter/Access Data</a:t>
            </a:r>
            <a:r>
              <a:rPr lang="en-US" sz="2000" dirty="0"/>
              <a:t>: Open the file </a:t>
            </a:r>
            <a:r>
              <a:rPr lang="en-US" sz="2000" i="1" dirty="0" err="1"/>
              <a:t>examscores</a:t>
            </a:r>
            <a:r>
              <a:rPr lang="en-US" sz="2000" dirty="0"/>
              <a:t>.</a:t>
            </a:r>
          </a:p>
          <a:p>
            <a:r>
              <a:rPr lang="en-US" sz="2000" b="1" dirty="0"/>
              <a:t>Apply Tools</a:t>
            </a:r>
            <a:r>
              <a:rPr lang="en-US" sz="2000" dirty="0"/>
              <a:t>: Follow these steps in the z-Test: Two Sample for Means dialog box.</a:t>
            </a:r>
          </a:p>
        </p:txBody>
      </p:sp>
      <p:sp>
        <p:nvSpPr>
          <p:cNvPr id="4" name="Text Placeholder 3">
            <a:extLst>
              <a:ext uri="{FF2B5EF4-FFF2-40B4-BE49-F238E27FC236}">
                <a16:creationId xmlns:a16="http://schemas.microsoft.com/office/drawing/2014/main" id="{4792A5DD-B984-0EC7-2899-6D8CF34B94C3}"/>
              </a:ext>
            </a:extLst>
          </p:cNvPr>
          <p:cNvSpPr>
            <a:spLocks noGrp="1"/>
          </p:cNvSpPr>
          <p:nvPr>
            <p:ph type="body" sz="quarter" idx="17"/>
          </p:nvPr>
        </p:nvSpPr>
        <p:spPr>
          <a:xfrm>
            <a:off x="743576" y="2166934"/>
            <a:ext cx="6007267" cy="3926687"/>
          </a:xfrm>
        </p:spPr>
        <p:txBody>
          <a:bodyPr/>
          <a:lstStyle/>
          <a:p>
            <a:pPr marL="914400" indent="-800100"/>
            <a:r>
              <a:rPr lang="en-US" sz="1800" b="1" dirty="0"/>
              <a:t>Step 1</a:t>
            </a:r>
            <a:r>
              <a:rPr lang="en-US" sz="1800" dirty="0"/>
              <a:t>. Click the </a:t>
            </a:r>
            <a:r>
              <a:rPr lang="en-US" sz="1800" b="1" dirty="0"/>
              <a:t>Data</a:t>
            </a:r>
            <a:r>
              <a:rPr lang="en-US" sz="1800" dirty="0"/>
              <a:t> tab on the Ribbon</a:t>
            </a:r>
          </a:p>
          <a:p>
            <a:pPr marL="914400" indent="-800100">
              <a:spcBef>
                <a:spcPts val="300"/>
              </a:spcBef>
            </a:pPr>
            <a:r>
              <a:rPr lang="en-US" sz="1800" b="1" dirty="0"/>
              <a:t>Step 2</a:t>
            </a:r>
            <a:r>
              <a:rPr lang="en-US" sz="1800" dirty="0"/>
              <a:t>. In the </a:t>
            </a:r>
            <a:r>
              <a:rPr lang="en-US" sz="1800" b="1" dirty="0"/>
              <a:t>Analyze</a:t>
            </a:r>
            <a:r>
              <a:rPr lang="en-US" sz="1800" dirty="0"/>
              <a:t> group, click </a:t>
            </a:r>
            <a:r>
              <a:rPr lang="en-US" sz="1800" b="1" dirty="0"/>
              <a:t>Data Analysis</a:t>
            </a:r>
          </a:p>
          <a:p>
            <a:pPr marL="914400" indent="-800100">
              <a:spcBef>
                <a:spcPts val="300"/>
              </a:spcBef>
            </a:pPr>
            <a:r>
              <a:rPr lang="en-US" sz="1800" b="1" dirty="0"/>
              <a:t>Step 3</a:t>
            </a:r>
            <a:r>
              <a:rPr lang="en-US" sz="1800" dirty="0"/>
              <a:t>. Choose </a:t>
            </a:r>
            <a:r>
              <a:rPr lang="en-US" sz="1800" b="1" dirty="0"/>
              <a:t>z-Test: Two Sample for Means </a:t>
            </a:r>
            <a:r>
              <a:rPr lang="en-US" sz="1800" dirty="0"/>
              <a:t>from the list of Analysis Tools</a:t>
            </a:r>
          </a:p>
          <a:p>
            <a:pPr marL="914400" indent="-800100">
              <a:spcBef>
                <a:spcPts val="300"/>
              </a:spcBef>
            </a:pPr>
            <a:r>
              <a:rPr lang="en-US" sz="1800" b="1" dirty="0"/>
              <a:t>Step 4</a:t>
            </a:r>
            <a:r>
              <a:rPr lang="en-US" sz="1800" dirty="0"/>
              <a:t>.	In the dialog box:</a:t>
            </a:r>
          </a:p>
          <a:p>
            <a:pPr marL="1143000">
              <a:spcBef>
                <a:spcPts val="300"/>
              </a:spcBef>
            </a:pPr>
            <a:r>
              <a:rPr lang="en-US" sz="1800" dirty="0"/>
              <a:t>Enter </a:t>
            </a:r>
            <a:r>
              <a:rPr lang="en-US" sz="1800" i="1" dirty="0"/>
              <a:t>A1:A31 </a:t>
            </a:r>
            <a:r>
              <a:rPr lang="en-US" sz="1800" dirty="0"/>
              <a:t>in the </a:t>
            </a:r>
            <a:r>
              <a:rPr lang="en-US" sz="1800" b="1" dirty="0"/>
              <a:t>Variable 1 Range: </a:t>
            </a:r>
            <a:r>
              <a:rPr lang="en-US" sz="1800" dirty="0"/>
              <a:t>box</a:t>
            </a:r>
          </a:p>
          <a:p>
            <a:pPr marL="1143000">
              <a:spcBef>
                <a:spcPts val="300"/>
              </a:spcBef>
            </a:pPr>
            <a:r>
              <a:rPr lang="en-US" sz="1800" dirty="0"/>
              <a:t>Enter </a:t>
            </a:r>
            <a:r>
              <a:rPr lang="en-US" sz="1800" i="1" dirty="0"/>
              <a:t>B1:B41 </a:t>
            </a:r>
            <a:r>
              <a:rPr lang="en-US" sz="1800" dirty="0"/>
              <a:t>in the </a:t>
            </a:r>
            <a:r>
              <a:rPr lang="en-US" sz="1800" b="1" dirty="0"/>
              <a:t>Variable 2 Range: </a:t>
            </a:r>
            <a:r>
              <a:rPr lang="en-US" sz="1800" dirty="0"/>
              <a:t>box</a:t>
            </a:r>
          </a:p>
          <a:p>
            <a:pPr marL="1143000">
              <a:spcBef>
                <a:spcPts val="300"/>
              </a:spcBef>
            </a:pPr>
            <a:r>
              <a:rPr lang="en-US" sz="1800" dirty="0"/>
              <a:t>Enter </a:t>
            </a:r>
            <a:r>
              <a:rPr lang="en-US" sz="1800" i="1" dirty="0"/>
              <a:t>0</a:t>
            </a:r>
            <a:r>
              <a:rPr lang="en-US" sz="1800" dirty="0"/>
              <a:t> in the </a:t>
            </a:r>
            <a:r>
              <a:rPr lang="en-US" sz="1800" b="1" dirty="0"/>
              <a:t>Hypothesized Mean Diff.</a:t>
            </a:r>
            <a:r>
              <a:rPr lang="en-US" sz="1800" dirty="0"/>
              <a:t>: box</a:t>
            </a:r>
          </a:p>
          <a:p>
            <a:pPr marL="1371600" indent="-228600">
              <a:spcBef>
                <a:spcPts val="300"/>
              </a:spcBef>
            </a:pPr>
            <a:r>
              <a:rPr lang="en-US" sz="1800" dirty="0"/>
              <a:t>Enter </a:t>
            </a:r>
            <a:r>
              <a:rPr lang="en-US" sz="1800" i="1" dirty="0"/>
              <a:t>100</a:t>
            </a:r>
            <a:r>
              <a:rPr lang="en-US" sz="1800" dirty="0"/>
              <a:t> in the </a:t>
            </a:r>
            <a:r>
              <a:rPr lang="en-US" sz="1800" b="1" dirty="0"/>
              <a:t>Variable 1 Variance (known):</a:t>
            </a:r>
            <a:r>
              <a:rPr lang="en-US" sz="1800" dirty="0"/>
              <a:t> and </a:t>
            </a:r>
            <a:r>
              <a:rPr lang="en-US" sz="1800" b="1" dirty="0"/>
              <a:t>Variable 2 Variance (known): </a:t>
            </a:r>
            <a:r>
              <a:rPr lang="en-US" sz="1800" dirty="0"/>
              <a:t>boxes</a:t>
            </a:r>
          </a:p>
          <a:p>
            <a:pPr marL="1371600" indent="-228600">
              <a:spcBef>
                <a:spcPts val="300"/>
              </a:spcBef>
            </a:pPr>
            <a:r>
              <a:rPr lang="en-US" sz="1800" dirty="0"/>
              <a:t>Select the check box for </a:t>
            </a:r>
            <a:r>
              <a:rPr lang="en-US" sz="1800" b="1" dirty="0"/>
              <a:t>Labels</a:t>
            </a:r>
            <a:endParaRPr lang="en-US" sz="1800" dirty="0"/>
          </a:p>
          <a:p>
            <a:pPr marL="1371600" indent="-228600">
              <a:spcBef>
                <a:spcPts val="300"/>
              </a:spcBef>
            </a:pPr>
            <a:r>
              <a:rPr lang="en-US" sz="1800" dirty="0"/>
              <a:t>Select </a:t>
            </a:r>
            <a:r>
              <a:rPr lang="en-US" sz="1800" b="1" dirty="0"/>
              <a:t>Output Range: </a:t>
            </a:r>
            <a:r>
              <a:rPr lang="en-US" sz="1800" dirty="0"/>
              <a:t>and enter </a:t>
            </a:r>
            <a:r>
              <a:rPr lang="en-US" sz="1800" i="1" dirty="0"/>
              <a:t>D4</a:t>
            </a:r>
            <a:r>
              <a:rPr lang="en-US" sz="1800" dirty="0"/>
              <a:t> in the box</a:t>
            </a:r>
          </a:p>
          <a:p>
            <a:pPr marL="1371600" indent="-228600">
              <a:spcBef>
                <a:spcPts val="300"/>
              </a:spcBef>
            </a:pPr>
            <a:r>
              <a:rPr lang="en-US" sz="1800" dirty="0"/>
              <a:t>Click </a:t>
            </a:r>
            <a:r>
              <a:rPr lang="en-US" sz="1800" b="1" dirty="0"/>
              <a:t>OK</a:t>
            </a:r>
          </a:p>
        </p:txBody>
      </p:sp>
      <p:pic>
        <p:nvPicPr>
          <p:cNvPr id="9" name="Picture Placeholder 8" descr="A screenshot shows an Excel spreadsheet with a dialog box titled z-Test: Two Sample for Means. Column A is labeled center A and column B is labeled center B. The entries under column A are as follows. Row 2: 97. Row 3: 95. Row 4: 89. Row 5: 79. Row 6: 78. Row 7: 87. Row 8: 83. Row 9: 94. Row 10: 76. Row 11: 79. Row 12: 83. Row 13: 84. Row 14: 76. Row 15: 82. Row 16: 85. Row 17: 85. Row 29: 88. Row 30: 60. Row 31: 73. The entries under column B are as follows. Row 2: 64. Row 3: 85. Row 4: 72. Row 5: 64. Row 6: 74. Row 7: 93. Row 8: 70. Row 9: 79. Row 10: 79. Row 11: 75. Row 12: 66. Row 13: 83. Row 14: 74. Row 15: 70. Row 16: 82. Row 17: 82. Row 29: 63. Row 30: 78. Row 31: 66. Row 32: 84. Row 40: 80. Row 41: 76. The z-test dialog box consists of two sections. The first section is titled input and consists of the following elements. Entry field labeled Variable 1 range with entry dollar sign A dollar sign 1 colon dollar sign A dollar sign 31. Entry field labeled Variable 2 range with entry dollar sign B dollar sign 1 colon dollar sign B dollar sign 41. Entry field labeled hypothesized mean difference with entry 0. Entry field labeled variable 1 variance (known) with entry 100. Entry field labeled variable 2 variance (known) with entry 100. Checked checkbox labeled Labels. Entry field labeled alpha with entry 0.05. The second section is titled output options and consists of the following elements. Selected radio button labeled output range with an entry field with entry D 4. A radio button labeled new worksheet ply with a grayed-out entry field. A radio button labeled new workbook. There are three buttons labeled O K, Cancel, and Help on the right.">
            <a:extLst>
              <a:ext uri="{FF2B5EF4-FFF2-40B4-BE49-F238E27FC236}">
                <a16:creationId xmlns:a16="http://schemas.microsoft.com/office/drawing/2014/main" id="{6BBF8F76-F319-2780-19C1-048514745182}"/>
              </a:ext>
            </a:extLst>
          </p:cNvPr>
          <p:cNvPicPr>
            <a:picLocks noGrp="1" noChangeAspect="1"/>
          </p:cNvPicPr>
          <p:nvPr>
            <p:ph type="pic" sz="quarter" idx="16"/>
          </p:nvPr>
        </p:nvPicPr>
        <p:blipFill>
          <a:blip r:embed="rId2"/>
          <a:srcRect t="8" b="8"/>
          <a:stretch/>
        </p:blipFill>
        <p:spPr>
          <a:xfrm>
            <a:off x="6806569" y="2506662"/>
            <a:ext cx="4641854" cy="3576643"/>
          </a:xfrm>
        </p:spPr>
      </p:pic>
    </p:spTree>
    <p:extLst>
      <p:ext uri="{BB962C8B-B14F-4D97-AF65-F5344CB8AC3E}">
        <p14:creationId xmlns:p14="http://schemas.microsoft.com/office/powerpoint/2010/main" val="1852785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10.1 Excel: Conduct a Hypothesis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50721" y="1171575"/>
                <a:ext cx="5507203" cy="4763292"/>
              </a:xfrm>
            </p:spPr>
            <p:txBody>
              <a:bodyPr/>
              <a:lstStyle/>
              <a:p>
                <a:r>
                  <a:rPr lang="en-US" sz="2000" dirty="0"/>
                  <a:t>The test results are shown to the right.</a:t>
                </a:r>
              </a:p>
              <a:p>
                <a:pPr marL="457200" indent="-342900">
                  <a:buFont typeface="Arial" panose="020B0604020202020204" pitchFamily="34" charset="0"/>
                  <a:buChar char="•"/>
                </a:pPr>
                <a:r>
                  <a:rPr lang="en-US" sz="2000" dirty="0"/>
                  <a:t>Descriptive statistics for the two samples are shown in cells E7:F9. </a:t>
                </a:r>
              </a:p>
              <a:p>
                <a:pPr marL="457200" indent="-342900">
                  <a:buFont typeface="Arial" panose="020B0604020202020204" pitchFamily="34" charset="0"/>
                  <a:buChar char="•"/>
                </a:pPr>
                <a:r>
                  <a:rPr lang="en-US" sz="2000" dirty="0"/>
                  <a:t>The value of the test statistic, 1.6562, is shown in cell E11. </a:t>
                </a:r>
              </a:p>
              <a:p>
                <a:pPr marL="457200" indent="-342900">
                  <a:buFont typeface="Arial" panose="020B0604020202020204" pitchFamily="34" charset="0"/>
                  <a:buChar char="•"/>
                </a:pPr>
                <a:r>
                  <a:rPr lang="en-US" sz="2000" dirty="0"/>
                  <a:t>The </a:t>
                </a:r>
                <a14:m>
                  <m:oMath xmlns:m="http://schemas.openxmlformats.org/officeDocument/2006/math">
                    <m:r>
                      <a:rPr lang="en-US" sz="2000" i="1" dirty="0" smtClean="0">
                        <a:latin typeface="Cambria Math" panose="02040503050406030204" pitchFamily="18" charset="0"/>
                      </a:rPr>
                      <m:t>𝑝</m:t>
                    </m:r>
                  </m:oMath>
                </a14:m>
                <a:r>
                  <a:rPr lang="en-US" sz="2000" dirty="0"/>
                  <a:t>-value for the test, labeled “</a:t>
                </a:r>
                <a:r>
                  <a:rPr lang="en-US" sz="2000" dirty="0">
                    <a:latin typeface="+mn-lt"/>
                  </a:rPr>
                  <a:t>P(Z</a:t>
                </a:r>
                <a:r>
                  <a:rPr lang="en-US" sz="2000" dirty="0">
                    <a:latin typeface="+mn-lt"/>
                    <a:cs typeface="Arial" panose="020B0604020202020204" pitchFamily="34" charset="0"/>
                  </a:rPr>
                  <a:t>&lt;=</a:t>
                </a:r>
                <a:r>
                  <a:rPr lang="en-US" sz="2000" dirty="0">
                    <a:latin typeface="+mn-lt"/>
                  </a:rPr>
                  <a:t>z) two-tail</a:t>
                </a:r>
                <a:r>
                  <a:rPr lang="en-US" sz="2000" dirty="0"/>
                  <a:t>,” is shown in cell E14. </a:t>
                </a:r>
              </a:p>
              <a:p>
                <a:pPr marL="457200" indent="-342900">
                  <a:buFont typeface="Arial" panose="020B0604020202020204" pitchFamily="34" charset="0"/>
                  <a:buChar char="•"/>
                </a:pPr>
                <a:r>
                  <a:rPr lang="en-US" sz="2000" dirty="0"/>
                  <a:t>Because the </a:t>
                </a:r>
                <a14:m>
                  <m:oMath xmlns:m="http://schemas.openxmlformats.org/officeDocument/2006/math">
                    <m:r>
                      <a:rPr lang="en-US" sz="2000" i="1" dirty="0" smtClean="0">
                        <a:latin typeface="Cambria Math" panose="02040503050406030204" pitchFamily="18" charset="0"/>
                      </a:rPr>
                      <m:t>𝑝</m:t>
                    </m:r>
                  </m:oMath>
                </a14:m>
                <a:r>
                  <a:rPr lang="en-US" sz="2000" dirty="0"/>
                  <a:t>-value, 0.0977, is greater than the level of significance, </a:t>
                </a:r>
                <a14:m>
                  <m:oMath xmlns:m="http://schemas.openxmlformats.org/officeDocument/2006/math">
                    <m:r>
                      <a:rPr lang="el-GR" sz="2000" i="1" dirty="0" smtClean="0">
                        <a:latin typeface="Cambria Math" panose="02040503050406030204" pitchFamily="18" charset="0"/>
                      </a:rPr>
                      <m:t>𝛼</m:t>
                    </m:r>
                    <m:r>
                      <a:rPr lang="en-US" sz="2000" i="1" dirty="0" smtClean="0">
                        <a:latin typeface="Cambria Math" panose="02040503050406030204" pitchFamily="18" charset="0"/>
                      </a:rPr>
                      <m:t>=0.05</m:t>
                    </m:r>
                  </m:oMath>
                </a14:m>
                <a:r>
                  <a:rPr lang="en-US" sz="2000" dirty="0"/>
                  <a:t>, we cannot conclude that the means for the two populations are different.</a:t>
                </a:r>
              </a:p>
              <a:p>
                <a:pPr marL="457200" indent="-342900">
                  <a:buFont typeface="Arial" panose="020B0604020202020204" pitchFamily="34" charset="0"/>
                  <a:buChar char="•"/>
                </a:pPr>
                <a:r>
                  <a:rPr lang="en-US" sz="2000" dirty="0"/>
                  <a:t>The z-Test: Two Sample for Means tool can also be used to conduct one-tailed hypothesis tests “</a:t>
                </a:r>
                <a:r>
                  <a:rPr lang="en-US" sz="2000" dirty="0">
                    <a:latin typeface="+mn-lt"/>
                  </a:rPr>
                  <a:t>P(Z</a:t>
                </a:r>
                <a:r>
                  <a:rPr lang="en-US" sz="2000" dirty="0">
                    <a:latin typeface="+mn-lt"/>
                    <a:cs typeface="Arial" panose="020B0604020202020204" pitchFamily="34" charset="0"/>
                  </a:rPr>
                  <a:t>&lt;=</a:t>
                </a:r>
                <a:r>
                  <a:rPr lang="en-US" sz="2000" dirty="0">
                    <a:latin typeface="+mn-lt"/>
                  </a:rPr>
                  <a:t>z) one-tail</a:t>
                </a:r>
                <a:r>
                  <a:rPr lang="en-US" sz="2000" dirty="0"/>
                  <a:t>” in cell E12.</a:t>
                </a:r>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50721" y="1171575"/>
                <a:ext cx="5507203" cy="4763292"/>
              </a:xfrm>
              <a:blipFill>
                <a:blip r:embed="rId2"/>
                <a:stretch>
                  <a:fillRect l="-2765" t="-1535" r="-3761" b="-895"/>
                </a:stretch>
              </a:blipFill>
            </p:spPr>
            <p:txBody>
              <a:bodyPr/>
              <a:lstStyle/>
              <a:p>
                <a:r>
                  <a:rPr lang="en-US">
                    <a:noFill/>
                  </a:rPr>
                  <a:t> </a:t>
                </a:r>
              </a:p>
            </p:txBody>
          </p:sp>
        </mc:Fallback>
      </mc:AlternateContent>
      <p:pic>
        <p:nvPicPr>
          <p:cNvPr id="7" name="Picture Placeholder 6" descr="A screenshot of an Excel spreadsheet shows the results of the z-test of two samples for means. Column A is labeled center A and column B is labeled center B. The entries under column A are as follows. Row 2: 97. Row 3: 95. Row 4: 89. Row 5: 79. Row 6: 78. Row 7: 87. Row 8: 83. Row 9: 94. Row 10: 76. Row 11: 79. Row 12: 83. Row 13: 84. Row 14: 76. Row 15: 82. Row 16: 85. Row 17: 85. Row 29: 88. Row 30: 60. Row 31: 73. The entries under column B are as follows. Row 2: 64. Row 3: 85. Row 4: 72. Row 5: 64. Row 6: 74. Row 7: 93. Row 8: 70. Row 9: 79. Row 10: 79. Row 11: 75. Row 12: 66. Row 13: 83. Row 14: 74. Row 15: 70. Row 16: 82. Row 17: 82. Row 29: 63. Row 30: 78. Row 31: 66. Row 32: 84. Row 40: 80. Row 41: 76. The data from the results of the z-test, presented in the format, Test: Center A, center B, are as follows. Mean: 82, 78. Known variance: 100, 100. Observations: 30, 40. Hypothesized mean difference: 0, no data. z: 1.6562, no data. P(Z&lt;=z) one-tail: 0.0488, no data. z critical one-tail: 1.6449, no data. P(Z&lt;=z) two tail: 0.0977, no data. z critical two-tail: 1.9600, no data.">
            <a:extLst>
              <a:ext uri="{FF2B5EF4-FFF2-40B4-BE49-F238E27FC236}">
                <a16:creationId xmlns:a16="http://schemas.microsoft.com/office/drawing/2014/main" id="{1F975D4C-FC78-B3F2-15AC-90EFE9684E62}"/>
              </a:ext>
            </a:extLst>
          </p:cNvPr>
          <p:cNvPicPr>
            <a:picLocks noGrp="1" noChangeAspect="1"/>
          </p:cNvPicPr>
          <p:nvPr>
            <p:ph type="pic" sz="quarter" idx="16"/>
          </p:nvPr>
        </p:nvPicPr>
        <p:blipFill>
          <a:blip r:embed="rId3"/>
          <a:srcRect l="17" r="17"/>
          <a:stretch/>
        </p:blipFill>
        <p:spPr>
          <a:xfrm>
            <a:off x="6366040" y="1129902"/>
            <a:ext cx="5075238" cy="4846638"/>
          </a:xfrm>
          <a:ln>
            <a:solidFill>
              <a:srgbClr val="000000"/>
            </a:solidFill>
          </a:ln>
        </p:spPr>
      </p:pic>
    </p:spTree>
    <p:extLst>
      <p:ext uri="{BB962C8B-B14F-4D97-AF65-F5344CB8AC3E}">
        <p14:creationId xmlns:p14="http://schemas.microsoft.com/office/powerpoint/2010/main" val="2609169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solidFill>
                      <a:srgbClr val="D14B1E"/>
                    </a:solidFill>
                  </a:rPr>
                  <a:t>10.2 Inferences about the Difference Between Two Population Means: </a:t>
                </a:r>
                <a14:m>
                  <m:oMath xmlns:m="http://schemas.openxmlformats.org/officeDocument/2006/math">
                    <m:sSub>
                      <m:sSubPr>
                        <m:ctrlPr>
                          <a:rPr lang="en-US" sz="3200" i="1" smtClean="0">
                            <a:solidFill>
                              <a:srgbClr val="D14B1E"/>
                            </a:solidFill>
                            <a:latin typeface="Cambria Math" panose="02040503050406030204" pitchFamily="18" charset="0"/>
                          </a:rPr>
                        </m:ctrlPr>
                      </m:sSubPr>
                      <m:e>
                        <m:r>
                          <a:rPr lang="en-US" sz="3200" i="1" smtClean="0">
                            <a:solidFill>
                              <a:srgbClr val="D14B1E"/>
                            </a:solidFill>
                            <a:latin typeface="Cambria Math" panose="02040503050406030204" pitchFamily="18" charset="0"/>
                            <a:ea typeface="Cambria Math" panose="02040503050406030204" pitchFamily="18" charset="0"/>
                          </a:rPr>
                          <m:t>𝝈</m:t>
                        </m:r>
                      </m:e>
                      <m:sub>
                        <m:r>
                          <a:rPr lang="en-US" sz="3200" b="1" i="1" smtClean="0">
                            <a:solidFill>
                              <a:srgbClr val="D14B1E"/>
                            </a:solidFill>
                            <a:latin typeface="Cambria Math" panose="02040503050406030204" pitchFamily="18" charset="0"/>
                          </a:rPr>
                          <m:t>𝟏</m:t>
                        </m:r>
                      </m:sub>
                    </m:sSub>
                  </m:oMath>
                </a14:m>
                <a:r>
                  <a:rPr lang="en-US" sz="3200" dirty="0">
                    <a:solidFill>
                      <a:srgbClr val="D14B1E"/>
                    </a:solidFill>
                  </a:rPr>
                  <a:t> and </a:t>
                </a:r>
                <a14:m>
                  <m:oMath xmlns:m="http://schemas.openxmlformats.org/officeDocument/2006/math">
                    <m:sSub>
                      <m:sSubPr>
                        <m:ctrlPr>
                          <a:rPr lang="en-US" sz="3200" i="1">
                            <a:solidFill>
                              <a:srgbClr val="D14B1E"/>
                            </a:solidFill>
                            <a:latin typeface="Cambria Math" panose="02040503050406030204" pitchFamily="18" charset="0"/>
                          </a:rPr>
                        </m:ctrlPr>
                      </m:sSubPr>
                      <m:e>
                        <m:r>
                          <a:rPr lang="en-US" sz="3200" i="1">
                            <a:solidFill>
                              <a:srgbClr val="D14B1E"/>
                            </a:solidFill>
                            <a:latin typeface="Cambria Math" panose="02040503050406030204" pitchFamily="18" charset="0"/>
                            <a:ea typeface="Cambria Math" panose="02040503050406030204" pitchFamily="18" charset="0"/>
                          </a:rPr>
                          <m:t>𝝈</m:t>
                        </m:r>
                      </m:e>
                      <m:sub>
                        <m:r>
                          <a:rPr lang="en-US" sz="3200" b="1" i="1" smtClean="0">
                            <a:solidFill>
                              <a:srgbClr val="D14B1E"/>
                            </a:solidFill>
                            <a:latin typeface="Cambria Math" panose="02040503050406030204" pitchFamily="18" charset="0"/>
                          </a:rPr>
                          <m:t>𝟐</m:t>
                        </m:r>
                      </m:sub>
                    </m:sSub>
                  </m:oMath>
                </a14:m>
                <a:r>
                  <a:rPr lang="en-US" sz="3200" dirty="0">
                    <a:solidFill>
                      <a:srgbClr val="D14B1E"/>
                    </a:solidFill>
                  </a:rPr>
                  <a:t> Unknown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blipFill>
                <a:blip r:embed="rId2"/>
                <a:stretch>
                  <a:fillRect t="-263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2000250"/>
                <a:ext cx="10711543" cy="3514727"/>
              </a:xfrm>
            </p:spPr>
            <p:txBody>
              <a:bodyPr/>
              <a:lstStyle/>
              <a:p>
                <a:pPr>
                  <a:spcBef>
                    <a:spcPts val="600"/>
                  </a:spcBef>
                </a:pPr>
                <a:r>
                  <a:rPr lang="en-US" sz="2000" dirty="0">
                    <a:solidFill>
                      <a:srgbClr val="000000"/>
                    </a:solidFill>
                    <a:cs typeface="Arial" panose="020B0604020202020204" pitchFamily="34" charset="0"/>
                  </a:rPr>
                  <a:t>In this section, we extend the discussion of inferences about the difference between two population means to the case when the two population standard deviations, </a:t>
                </a:r>
                <a14:m>
                  <m:oMath xmlns:m="http://schemas.openxmlformats.org/officeDocument/2006/math">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are unknown. </a:t>
                </a:r>
              </a:p>
              <a:p>
                <a:pPr>
                  <a:spcBef>
                    <a:spcPts val="600"/>
                  </a:spcBef>
                </a:pPr>
                <a:r>
                  <a:rPr lang="en-US" sz="2000" dirty="0">
                    <a:solidFill>
                      <a:srgbClr val="000000"/>
                    </a:solidFill>
                    <a:cs typeface="Arial" panose="020B0604020202020204" pitchFamily="34" charset="0"/>
                  </a:rPr>
                  <a:t>In this case, we will use the sample standard deviations, </a:t>
                </a:r>
                <a14:m>
                  <m:oMath xmlns:m="http://schemas.openxmlformats.org/officeDocument/2006/math">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cs typeface="Arial" panose="020B0604020202020204" pitchFamily="34" charset="0"/>
                  </a:rPr>
                  <a:t>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to estimate the unknown population standard deviations.</a:t>
                </a:r>
              </a:p>
              <a:p>
                <a:pPr>
                  <a:spcBef>
                    <a:spcPts val="600"/>
                  </a:spcBef>
                </a:pPr>
                <a:r>
                  <a:rPr lang="en-US" sz="2000" dirty="0">
                    <a:solidFill>
                      <a:srgbClr val="000000"/>
                    </a:solidFill>
                    <a:cs typeface="Arial" panose="020B0604020202020204" pitchFamily="34" charset="0"/>
                  </a:rPr>
                  <a:t>When we use the sample standard deviations, the interval estimation and hypothesis testing procedures will be based on the t distribution rather than the standard normal distribution</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2000250"/>
                <a:ext cx="10711543" cy="3514727"/>
              </a:xfrm>
              <a:blipFill>
                <a:blip r:embed="rId3"/>
                <a:stretch>
                  <a:fillRect l="-1422" t="-2080"/>
                </a:stretch>
              </a:blipFill>
            </p:spPr>
            <p:txBody>
              <a:bodyPr/>
              <a:lstStyle/>
              <a:p>
                <a:r>
                  <a:rPr lang="en-US">
                    <a:noFill/>
                  </a:rPr>
                  <a:t> </a:t>
                </a:r>
              </a:p>
            </p:txBody>
          </p:sp>
        </mc:Fallback>
      </mc:AlternateContent>
    </p:spTree>
    <p:extLst>
      <p:ext uri="{BB962C8B-B14F-4D97-AF65-F5344CB8AC3E}">
        <p14:creationId xmlns:p14="http://schemas.microsoft.com/office/powerpoint/2010/main" val="3151850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465086" y="365125"/>
                <a:ext cx="11259206" cy="672105"/>
              </a:xfrm>
            </p:spPr>
            <p:txBody>
              <a:bodyPr/>
              <a:lstStyle/>
              <a:p>
                <a:r>
                  <a:rPr lang="en-US" sz="3200" dirty="0"/>
                  <a:t>10.2 Interval Estimation of </a:t>
                </a:r>
                <a14:m>
                  <m:oMath xmlns:m="http://schemas.openxmlformats.org/officeDocument/2006/math">
                    <m:sSub>
                      <m:sSubPr>
                        <m:ctrlPr>
                          <a:rPr lang="en-US" sz="3200" i="1">
                            <a:latin typeface="Cambria Math" panose="02040503050406030204" pitchFamily="18" charset="0"/>
                            <a:cs typeface="Arial" panose="020B0604020202020204" pitchFamily="34" charset="0"/>
                          </a:rPr>
                        </m:ctrlPr>
                      </m:sSubPr>
                      <m:e>
                        <m:r>
                          <a:rPr lang="en-US" sz="3200" i="1">
                            <a:latin typeface="Cambria Math" panose="02040503050406030204" pitchFamily="18" charset="0"/>
                            <a:ea typeface="Cambria Math" panose="02040503050406030204" pitchFamily="18" charset="0"/>
                            <a:cs typeface="Arial" panose="020B0604020202020204" pitchFamily="34" charset="0"/>
                          </a:rPr>
                          <m:t>𝝁</m:t>
                        </m:r>
                      </m:e>
                      <m:sub>
                        <m:r>
                          <a:rPr lang="en-US" sz="3200" i="1">
                            <a:latin typeface="Cambria Math" panose="02040503050406030204" pitchFamily="18" charset="0"/>
                            <a:cs typeface="Arial" panose="020B0604020202020204" pitchFamily="34" charset="0"/>
                          </a:rPr>
                          <m:t>𝟏</m:t>
                        </m:r>
                      </m:sub>
                    </m:sSub>
                    <m:r>
                      <a:rPr lang="en-US" sz="3200" i="1">
                        <a:latin typeface="Cambria Math" panose="02040503050406030204" pitchFamily="18" charset="0"/>
                        <a:cs typeface="Arial" panose="020B0604020202020204" pitchFamily="34" charset="0"/>
                      </a:rPr>
                      <m:t>−</m:t>
                    </m:r>
                    <m:sSub>
                      <m:sSubPr>
                        <m:ctrlPr>
                          <a:rPr lang="en-US" sz="3200" i="1">
                            <a:latin typeface="Cambria Math" panose="02040503050406030204" pitchFamily="18" charset="0"/>
                            <a:cs typeface="Arial" panose="020B0604020202020204" pitchFamily="34" charset="0"/>
                          </a:rPr>
                        </m:ctrlPr>
                      </m:sSubPr>
                      <m:e>
                        <m:r>
                          <a:rPr lang="en-US" sz="3200" i="1">
                            <a:latin typeface="Cambria Math" panose="02040503050406030204" pitchFamily="18" charset="0"/>
                            <a:ea typeface="Cambria Math" panose="02040503050406030204" pitchFamily="18" charset="0"/>
                            <a:cs typeface="Arial" panose="020B0604020202020204" pitchFamily="34" charset="0"/>
                          </a:rPr>
                          <m:t>𝝁</m:t>
                        </m:r>
                      </m:e>
                      <m:sub>
                        <m:r>
                          <a:rPr lang="en-US" sz="3200" i="1">
                            <a:latin typeface="Cambria Math" panose="02040503050406030204" pitchFamily="18" charset="0"/>
                            <a:cs typeface="Arial" panose="020B0604020202020204" pitchFamily="34" charset="0"/>
                          </a:rPr>
                          <m:t>𝟐</m:t>
                        </m:r>
                      </m:sub>
                    </m:sSub>
                  </m:oMath>
                </a14:m>
                <a:r>
                  <a:rPr lang="en-US" sz="3200" dirty="0"/>
                  <a:t>: </a:t>
                </a:r>
                <a14:m>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rPr>
                          <m:t>𝟏</m:t>
                        </m:r>
                      </m:sub>
                    </m:sSub>
                  </m:oMath>
                </a14:m>
                <a:r>
                  <a:rPr lang="en-US" sz="3200" b="0" dirty="0"/>
                  <a:t> </a:t>
                </a:r>
                <a:r>
                  <a:rPr lang="en-US" sz="3200" dirty="0"/>
                  <a:t>and </a:t>
                </a:r>
                <a14:m>
                  <m:oMath xmlns:m="http://schemas.openxmlformats.org/officeDocument/2006/math">
                    <m:sSub>
                      <m:sSubPr>
                        <m:ctrlPr>
                          <a:rPr lang="en-US" sz="3200" i="1">
                            <a:latin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ea typeface="Cambria Math" panose="02040503050406030204" pitchFamily="18" charset="0"/>
                          </a:rPr>
                          <m:t>𝟐</m:t>
                        </m:r>
                      </m:sub>
                    </m:sSub>
                  </m:oMath>
                </a14:m>
                <a:r>
                  <a:rPr lang="en-US" sz="3200" dirty="0"/>
                  <a:t> Unknown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465086" y="365125"/>
                <a:ext cx="11259206" cy="672105"/>
              </a:xfrm>
              <a:blipFill>
                <a:blip r:embed="rId3"/>
                <a:stretch>
                  <a:fillRect t="-26364" b="-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091757"/>
                <a:ext cx="10711543" cy="4879427"/>
              </a:xfrm>
            </p:spPr>
            <p:txBody>
              <a:bodyPr/>
              <a:lstStyle/>
              <a:p>
                <a:pPr>
                  <a:spcBef>
                    <a:spcPts val="600"/>
                  </a:spcBef>
                  <a:spcAft>
                    <a:spcPts val="600"/>
                  </a:spcAft>
                </a:pPr>
                <a:r>
                  <a:rPr lang="en-US" sz="2000" dirty="0">
                    <a:cs typeface="Arial" panose="020B0604020202020204" pitchFamily="34" charset="0"/>
                  </a:rPr>
                  <a:t>T</a:t>
                </a:r>
                <a:r>
                  <a:rPr lang="en-US" sz="2000" dirty="0">
                    <a:solidFill>
                      <a:srgbClr val="000000"/>
                    </a:solidFill>
                    <a:cs typeface="Arial" panose="020B0604020202020204" pitchFamily="34" charset="0"/>
                  </a:rPr>
                  <a:t>he interval estimate of the difference between two population means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when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ea typeface="Cambria Math" panose="02040503050406030204" pitchFamily="18" charset="0"/>
                          </a:rPr>
                          <m:t>2</m:t>
                        </m:r>
                      </m:sub>
                    </m:sSub>
                  </m:oMath>
                </a14:m>
                <a:r>
                  <a:rPr lang="en-US" sz="2000" dirty="0"/>
                  <a:t> are unknown,</a:t>
                </a:r>
                <a:r>
                  <a:rPr lang="en-US" sz="2000" dirty="0">
                    <a:solidFill>
                      <a:srgbClr val="000000"/>
                    </a:solidFill>
                    <a:cs typeface="Arial" panose="020B0604020202020204" pitchFamily="34" charset="0"/>
                  </a:rPr>
                  <a:t> can be written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cs typeface="Arial" panose="020B0604020202020204" pitchFamily="34" charset="0"/>
                            </a:rPr>
                            <m:t>𝟐</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𝒕</m:t>
                          </m:r>
                        </m:e>
                        <m:sub>
                          <m:f>
                            <m:fPr>
                              <m:type m:val="lin"/>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cs typeface="Arial" panose="020B0604020202020204" pitchFamily="34" charset="0"/>
                                </a:rPr>
                                <m:t>𝜶</m:t>
                              </m:r>
                            </m:num>
                            <m:den>
                              <m:r>
                                <a:rPr lang="en-US" sz="2000" b="1" i="1" smtClean="0">
                                  <a:latin typeface="Cambria Math" panose="02040503050406030204" pitchFamily="18" charset="0"/>
                                  <a:ea typeface="Cambria Math" panose="02040503050406030204" pitchFamily="18" charset="0"/>
                                  <a:cs typeface="Arial" panose="020B0604020202020204" pitchFamily="34" charset="0"/>
                                </a:rPr>
                                <m:t>𝟐</m:t>
                              </m:r>
                            </m:den>
                          </m:f>
                        </m:sub>
                      </m:sSub>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𝝈</m:t>
                          </m:r>
                        </m:e>
                        <m:sub>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ea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ea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ea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ea typeface="Cambria Math" panose="02040503050406030204" pitchFamily="18" charset="0"/>
                                  <a:cs typeface="Arial" panose="020B0604020202020204" pitchFamily="34" charset="0"/>
                                </a:rPr>
                                <m:t>𝟐</m:t>
                              </m:r>
                            </m:sub>
                          </m:sSub>
                        </m:sub>
                      </m:sSub>
                    </m:oMath>
                  </m:oMathPara>
                </a14:m>
                <a:endParaRPr lang="en-US" sz="2000" b="1" dirty="0">
                  <a:cs typeface="Arial" panose="020B0604020202020204" pitchFamily="34" charset="0"/>
                </a:endParaRPr>
              </a:p>
              <a:p>
                <a:pPr>
                  <a:spcBef>
                    <a:spcPts val="600"/>
                  </a:spcBef>
                </a:pPr>
                <a:r>
                  <a:rPr lang="en-US" sz="2000" dirty="0">
                    <a:cs typeface="Arial" panose="020B0604020202020204" pitchFamily="34" charset="0"/>
                  </a:rPr>
                  <a:t>Where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m:rPr>
                          <m:nor/>
                        </m:rPr>
                        <a:rPr lang="en-US" sz="2000" b="0" i="0" smtClean="0">
                          <a:latin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point</m:t>
                      </m:r>
                      <m:r>
                        <m:rPr>
                          <m:nor/>
                        </m:rPr>
                        <a:rPr lang="en-US" sz="2000" dirty="0">
                          <a:cs typeface="Arial" panose="020B0604020202020204" pitchFamily="34" charset="0"/>
                        </a:rPr>
                        <m:t> </m:t>
                      </m:r>
                      <m:r>
                        <m:rPr>
                          <m:nor/>
                        </m:rPr>
                        <a:rPr lang="en-US" sz="2000" dirty="0">
                          <a:cs typeface="Arial" panose="020B0604020202020204" pitchFamily="34" charset="0"/>
                        </a:rPr>
                        <m:t>estimator</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dirty="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a:p>
                <a:pPr marL="914400">
                  <a:spcBef>
                    <a:spcPts val="600"/>
                  </a:spcBef>
                  <a:spcAft>
                    <a:spcPts val="600"/>
                  </a:spcAft>
                </a:pPr>
                <a14:m>
                  <m:oMath xmlns:m="http://schemas.openxmlformats.org/officeDocument/2006/math">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ea typeface="Cambria Math" panose="02040503050406030204" pitchFamily="18" charset="0"/>
                        <a:cs typeface="Arial" panose="020B0604020202020204" pitchFamily="34" charset="0"/>
                      </a:rPr>
                      <m:t>𝛼</m:t>
                    </m:r>
                    <m:r>
                      <m:rPr>
                        <m:nor/>
                      </m:rPr>
                      <a:rPr lang="en-US" sz="200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confidence</m:t>
                    </m:r>
                    <m:r>
                      <m:rPr>
                        <m:nor/>
                      </m:rPr>
                      <a:rPr lang="en-US" sz="2000" dirty="0">
                        <a:cs typeface="Arial" panose="020B0604020202020204" pitchFamily="34" charset="0"/>
                      </a:rPr>
                      <m:t> </m:t>
                    </m:r>
                    <m:r>
                      <m:rPr>
                        <m:nor/>
                      </m:rPr>
                      <a:rPr lang="en-US" sz="2000" dirty="0">
                        <a:cs typeface="Arial" panose="020B0604020202020204" pitchFamily="34" charset="0"/>
                      </a:rPr>
                      <m:t>coefficient</m:t>
                    </m:r>
                  </m:oMath>
                </a14:m>
                <a:r>
                  <a:rPr lang="en-US" sz="2000" dirty="0">
                    <a:cs typeface="Arial" panose="020B0604020202020204" pitchFamily="34" charset="0"/>
                  </a:rPr>
                  <a:t> </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𝑑𝑓</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den>
                                      </m:f>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e>
                              </m:d>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r>
                                    <a:rPr lang="en-US" sz="2000" i="1">
                                      <a:latin typeface="Cambria Math" panose="02040503050406030204" pitchFamily="18" charset="0"/>
                                      <a:ea typeface="Cambria Math" panose="02040503050406030204" pitchFamily="18" charset="0"/>
                                      <a:cs typeface="Arial" panose="020B0604020202020204" pitchFamily="34" charset="0"/>
                                    </a:rPr>
                                    <m:t>−1</m:t>
                                  </m:r>
                                </m:e>
                              </m:d>
                            </m:den>
                          </m:f>
                        </m:den>
                      </m:f>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rounded</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down</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to</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an</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integer</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m:t>
                      </m:r>
                    </m:oMath>
                  </m:oMathPara>
                </a14:m>
                <a:endParaRPr lang="en-US" sz="2000" dirty="0">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critical</m:t>
                      </m:r>
                      <m:r>
                        <m:rPr>
                          <m:nor/>
                        </m:rPr>
                        <a:rPr lang="en-US" sz="2000" dirty="0">
                          <a:cs typeface="Arial" panose="020B0604020202020204" pitchFamily="34" charset="0"/>
                        </a:rPr>
                        <m:t> </m:t>
                      </m:r>
                      <m:r>
                        <m:rPr>
                          <m:nor/>
                        </m:rPr>
                        <a:rPr lang="en-US" sz="2000" dirty="0">
                          <a:cs typeface="Arial" panose="020B0604020202020204" pitchFamily="34" charset="0"/>
                        </a:rPr>
                        <m:t>value</m:t>
                      </m:r>
                      <m:r>
                        <m:rPr>
                          <m:nor/>
                        </m:rPr>
                        <a:rPr lang="en-US" sz="2000" dirty="0">
                          <a:cs typeface="Arial" panose="020B0604020202020204" pitchFamily="34" charset="0"/>
                        </a:rPr>
                        <m:t> </m:t>
                      </m:r>
                      <m:r>
                        <m:rPr>
                          <m:nor/>
                        </m:rPr>
                        <a:rPr lang="en-US" sz="2000" dirty="0">
                          <a:cs typeface="Arial" panose="020B0604020202020204" pitchFamily="34" charset="0"/>
                        </a:rPr>
                        <m:t>such</m:t>
                      </m:r>
                      <m:r>
                        <m:rPr>
                          <m:nor/>
                        </m:rPr>
                        <a:rPr lang="en-US" sz="2000" dirty="0">
                          <a:cs typeface="Arial" panose="020B0604020202020204" pitchFamily="34" charset="0"/>
                        </a:rPr>
                        <m:t> </m:t>
                      </m:r>
                      <m:r>
                        <m:rPr>
                          <m:nor/>
                        </m:rPr>
                        <a:rPr lang="en-US" sz="2000" dirty="0">
                          <a:cs typeface="Arial" panose="020B0604020202020204" pitchFamily="34" charset="0"/>
                        </a:rPr>
                        <m:t>that</m:t>
                      </m:r>
                      <m:r>
                        <a:rPr lang="en-US" sz="2000" b="0" i="1" dirty="0"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𝑡</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𝛼</m:t>
                                  </m:r>
                                </m:num>
                                <m:den>
                                  <m:r>
                                    <a:rPr lang="en-US" sz="2000" i="1">
                                      <a:latin typeface="Cambria Math" panose="02040503050406030204" pitchFamily="18" charset="0"/>
                                      <a:ea typeface="Cambria Math" panose="02040503050406030204" pitchFamily="18" charset="0"/>
                                      <a:cs typeface="Arial" panose="020B0604020202020204" pitchFamily="34" charset="0"/>
                                    </a:rPr>
                                    <m:t>2</m:t>
                                  </m:r>
                                </m:den>
                              </m:f>
                            </m:sub>
                          </m:sSub>
                        </m:e>
                      </m:d>
                      <m:r>
                        <a:rPr lang="en-US" sz="2000" b="0" i="1" smtClean="0">
                          <a:latin typeface="Cambria Math" panose="02040503050406030204" pitchFamily="18" charset="0"/>
                          <a:ea typeface="Cambria Math" panose="02040503050406030204" pitchFamily="18" charset="0"/>
                          <a:cs typeface="Arial" panose="020B0604020202020204" pitchFamily="34" charset="0"/>
                        </a:rPr>
                        <m:t>=1−</m:t>
                      </m:r>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with</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𝑑𝑓</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degrees</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of</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freedom</m:t>
                      </m:r>
                    </m:oMath>
                  </m:oMathPara>
                </a14:m>
                <a:endParaRPr lang="en-US" sz="2000" i="1" dirty="0">
                  <a:latin typeface="Cambria Math" panose="02040503050406030204" pitchFamily="18" charset="0"/>
                  <a:ea typeface="Cambria Math" panose="02040503050406030204" pitchFamily="18"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b="0" i="0" dirty="0" smtClean="0">
                          <a:cs typeface="Arial" panose="020B0604020202020204" pitchFamily="34" charset="0"/>
                        </a:rPr>
                        <m:t>standard</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error</m:t>
                      </m:r>
                      <m:r>
                        <m:rPr>
                          <m:nor/>
                        </m:rPr>
                        <a:rPr lang="en-US" sz="2000" b="0" i="0" dirty="0" smtClean="0">
                          <a:cs typeface="Arial" panose="020B0604020202020204" pitchFamily="34" charset="0"/>
                        </a:rPr>
                        <m:t> </m:t>
                      </m:r>
                      <m:r>
                        <m:rPr>
                          <m:nor/>
                        </m:rPr>
                        <a:rPr lang="en-US" sz="2000" dirty="0">
                          <a:cs typeface="Arial" panose="020B0604020202020204" pitchFamily="34" charset="0"/>
                        </a:rPr>
                        <m:t>of</m:t>
                      </m:r>
                      <m:r>
                        <a:rPr lang="en-US" sz="2000" b="0" i="1" dirty="0"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sub>
                      </m:sSub>
                      <m:r>
                        <m:rPr>
                          <m:nor/>
                        </m:rPr>
                        <a:rPr lang="en-US" sz="200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margin</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dirty="0">
                          <a:cs typeface="Arial" panose="020B0604020202020204" pitchFamily="34" charset="0"/>
                        </a:rPr>
                        <m:t> </m:t>
                      </m:r>
                      <m:r>
                        <m:rPr>
                          <m:nor/>
                        </m:rPr>
                        <a:rPr lang="en-US" sz="2000" dirty="0">
                          <a:cs typeface="Arial" panose="020B0604020202020204" pitchFamily="34" charset="0"/>
                        </a:rPr>
                        <m:t>error</m:t>
                      </m:r>
                    </m:oMath>
                  </m:oMathPara>
                </a14:m>
                <a:endParaRPr lang="en-US" sz="2000" dirty="0">
                  <a:cs typeface="Arial" panose="020B0604020202020204" pitchFamily="34" charset="0"/>
                </a:endParaRPr>
              </a:p>
              <a:p>
                <a:pPr>
                  <a:lnSpc>
                    <a:spcPct val="100000"/>
                  </a:lnSpc>
                  <a:spcBef>
                    <a:spcPts val="600"/>
                  </a:spcBef>
                </a:pPr>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091757"/>
                <a:ext cx="10711543" cy="4879427"/>
              </a:xfrm>
              <a:blipFill>
                <a:blip r:embed="rId4"/>
                <a:stretch>
                  <a:fillRect l="-1422" t="-1498"/>
                </a:stretch>
              </a:blipFill>
            </p:spPr>
            <p:txBody>
              <a:bodyPr/>
              <a:lstStyle/>
              <a:p>
                <a:r>
                  <a:rPr lang="en-US">
                    <a:noFill/>
                  </a:rPr>
                  <a:t> </a:t>
                </a:r>
              </a:p>
            </p:txBody>
          </p:sp>
        </mc:Fallback>
      </mc:AlternateContent>
    </p:spTree>
    <p:extLst>
      <p:ext uri="{BB962C8B-B14F-4D97-AF65-F5344CB8AC3E}">
        <p14:creationId xmlns:p14="http://schemas.microsoft.com/office/powerpoint/2010/main" val="2624951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917030" y="365125"/>
            <a:ext cx="10308021" cy="672105"/>
          </a:xfrm>
        </p:spPr>
        <p:txBody>
          <a:bodyPr/>
          <a:lstStyle/>
          <a:p>
            <a:r>
              <a:rPr lang="en-US" sz="3200" dirty="0"/>
              <a:t>10.2 A Checking Account Balance Study at Clearwater National Bank</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15967"/>
                <a:ext cx="10711543" cy="4406461"/>
              </a:xfrm>
            </p:spPr>
            <p:txBody>
              <a:bodyPr/>
              <a:lstStyle/>
              <a:p>
                <a:pPr>
                  <a:spcBef>
                    <a:spcPts val="600"/>
                  </a:spcBef>
                </a:pPr>
                <a:r>
                  <a:rPr lang="en-US" sz="2000" dirty="0" err="1">
                    <a:cs typeface="Arial" panose="020B0604020202020204" pitchFamily="34" charset="0"/>
                  </a:rPr>
                  <a:t>DATAfile</a:t>
                </a:r>
                <a:r>
                  <a:rPr lang="en-US" sz="2000" dirty="0">
                    <a:cs typeface="Arial" panose="020B0604020202020204" pitchFamily="34" charset="0"/>
                  </a:rPr>
                  <a:t>: </a:t>
                </a:r>
                <a:r>
                  <a:rPr lang="en-US" sz="2000" i="1" dirty="0" err="1">
                    <a:cs typeface="Arial" panose="020B0604020202020204" pitchFamily="34" charset="0"/>
                  </a:rPr>
                  <a:t>checkacct_mod</a:t>
                </a:r>
                <a:endParaRPr lang="en-US" sz="2000" dirty="0">
                  <a:solidFill>
                    <a:srgbClr val="000000"/>
                  </a:solidFill>
                  <a:cs typeface="Arial" panose="020B0604020202020204" pitchFamily="34" charset="0"/>
                </a:endParaRPr>
              </a:p>
              <a:p>
                <a:pPr>
                  <a:lnSpc>
                    <a:spcPct val="100000"/>
                  </a:lnSpc>
                  <a:spcBef>
                    <a:spcPts val="600"/>
                  </a:spcBef>
                </a:pPr>
                <a:r>
                  <a:rPr lang="en-US" sz="2000" dirty="0">
                    <a:solidFill>
                      <a:srgbClr val="000000"/>
                    </a:solidFill>
                    <a:cs typeface="Arial" panose="020B0604020202020204" pitchFamily="34" charset="0"/>
                  </a:rPr>
                  <a:t>Clearwater National Bank would like to estimate the difference between the mean checking account balance maintained by the population of customers at two of its branches: Cherry Grove (index 1) and </a:t>
                </a:r>
                <a:r>
                  <a:rPr lang="en-US" sz="2000" dirty="0" err="1">
                    <a:solidFill>
                      <a:srgbClr val="000000"/>
                    </a:solidFill>
                    <a:cs typeface="Arial" panose="020B0604020202020204" pitchFamily="34" charset="0"/>
                  </a:rPr>
                  <a:t>Beechmont</a:t>
                </a:r>
                <a:r>
                  <a:rPr lang="en-US" sz="2000" dirty="0">
                    <a:solidFill>
                      <a:srgbClr val="000000"/>
                    </a:solidFill>
                    <a:cs typeface="Arial" panose="020B0604020202020204" pitchFamily="34" charset="0"/>
                  </a:rPr>
                  <a:t> (index 2.)</a:t>
                </a:r>
              </a:p>
              <a:p>
                <a:pPr>
                  <a:spcBef>
                    <a:spcPts val="600"/>
                  </a:spcBef>
                  <a:spcAft>
                    <a:spcPts val="0"/>
                  </a:spcAft>
                </a:pPr>
                <a:r>
                  <a:rPr lang="en-US" sz="2000" dirty="0"/>
                  <a:t>Information on the checking account balance for two independent random samples of checking accounts from the Cherry Grove and </a:t>
                </a:r>
                <a:r>
                  <a:rPr lang="en-US" sz="2000" dirty="0" err="1"/>
                  <a:t>Beechmont</a:t>
                </a:r>
                <a:r>
                  <a:rPr lang="en-US" sz="2000" dirty="0"/>
                  <a:t> branches was recorded (*see notes.)</a:t>
                </a:r>
              </a:p>
              <a:p>
                <a:pPr>
                  <a:spcBef>
                    <a:spcPts val="600"/>
                  </a:spcBef>
                  <a:spcAft>
                    <a:spcPts val="600"/>
                  </a:spcAft>
                </a:pPr>
                <a:r>
                  <a:rPr lang="en-US" sz="2000" dirty="0"/>
                  <a:t>Samples statistics were calculated as follows.</a:t>
                </a:r>
              </a:p>
              <a:p>
                <a:pPr marL="914400">
                  <a:spcBef>
                    <a:spcPts val="0"/>
                  </a:spcBef>
                  <a:spcAft>
                    <a:spcPts val="0"/>
                  </a:spcAft>
                  <a:tabLst>
                    <a:tab pos="4114800" algn="l"/>
                    <a:tab pos="6289675" algn="l"/>
                  </a:tabLst>
                </a:pPr>
                <a:r>
                  <a:rPr lang="en-US" sz="2000" dirty="0"/>
                  <a:t>	</a:t>
                </a:r>
                <a:r>
                  <a:rPr lang="en-US" sz="2000" b="1" dirty="0"/>
                  <a:t>Cherry Grove	</a:t>
                </a:r>
                <a:r>
                  <a:rPr lang="en-US" sz="2000" b="1" dirty="0" err="1"/>
                  <a:t>Beechmont</a:t>
                </a:r>
                <a:endParaRPr lang="en-US" sz="2000" b="1" dirty="0"/>
              </a:p>
              <a:p>
                <a:pPr marL="914400">
                  <a:spcBef>
                    <a:spcPts val="0"/>
                  </a:spcBef>
                  <a:spcAft>
                    <a:spcPts val="0"/>
                  </a:spcAft>
                  <a:tabLst>
                    <a:tab pos="4287838" algn="l"/>
                    <a:tab pos="6400800" algn="l"/>
                  </a:tabLst>
                </a:pPr>
                <a:r>
                  <a:rPr lang="en-US" sz="2000" dirty="0"/>
                  <a:t>Sample size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=28</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22</m:t>
                    </m:r>
                  </m:oMath>
                </a14:m>
                <a:endParaRPr lang="en-US" sz="2000" dirty="0"/>
              </a:p>
              <a:p>
                <a:pPr marL="914400">
                  <a:spcBef>
                    <a:spcPts val="0"/>
                  </a:spcBef>
                  <a:spcAft>
                    <a:spcPts val="0"/>
                  </a:spcAft>
                  <a:tabLst>
                    <a:tab pos="4287838" algn="l"/>
                    <a:tab pos="6400800" algn="l"/>
                  </a:tabLst>
                </a:pPr>
                <a:r>
                  <a:rPr lang="en-US" sz="2000" dirty="0"/>
                  <a:t>Sample mean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=$1,025 </m:t>
                    </m:r>
                  </m:oMath>
                </a14:m>
                <a:r>
                  <a:rPr lang="en-US" sz="2000" dirty="0"/>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$910</m:t>
                    </m:r>
                  </m:oMath>
                </a14:m>
                <a:endParaRPr lang="en-US" sz="2000" dirty="0">
                  <a:latin typeface="Arial" panose="020B0604020202020204" pitchFamily="34" charset="0"/>
                  <a:cs typeface="Arial" panose="020B0604020202020204" pitchFamily="34" charset="0"/>
                </a:endParaRPr>
              </a:p>
              <a:p>
                <a:pPr marL="914400">
                  <a:spcBef>
                    <a:spcPts val="0"/>
                  </a:spcBef>
                  <a:spcAft>
                    <a:spcPts val="0"/>
                  </a:spcAft>
                  <a:tabLst>
                    <a:tab pos="4287838" algn="l"/>
                    <a:tab pos="6400800" algn="l"/>
                  </a:tabLst>
                </a:pPr>
                <a:r>
                  <a:rPr lang="en-US" sz="2000" dirty="0"/>
                  <a:t>Sample standard deviation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=$150 </m:t>
                    </m:r>
                  </m:oMath>
                </a14:m>
                <a:r>
                  <a:rPr lang="en-US" sz="2000" dirty="0"/>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$125</m:t>
                    </m:r>
                  </m:oMath>
                </a14:m>
                <a:endParaRPr lang="en-US" sz="2000" dirty="0">
                  <a:latin typeface="Arial" panose="020B0604020202020204" pitchFamily="34" charset="0"/>
                  <a:cs typeface="Arial" panose="020B0604020202020204" pitchFamily="34" charset="0"/>
                </a:endParaRPr>
              </a:p>
              <a:p>
                <a:pPr>
                  <a:spcBef>
                    <a:spcPts val="600"/>
                  </a:spcBef>
                  <a:spcAft>
                    <a:spcPts val="600"/>
                  </a:spcAft>
                  <a:tabLst>
                    <a:tab pos="4287838" algn="l"/>
                    <a:tab pos="6400800" algn="l"/>
                  </a:tabLst>
                </a:pPr>
                <a:r>
                  <a:rPr lang="en-US" sz="2000" dirty="0">
                    <a:latin typeface="Arial" panose="020B0604020202020204" pitchFamily="34" charset="0"/>
                    <a:cs typeface="Arial" panose="020B0604020202020204" pitchFamily="34" charset="0"/>
                  </a:rPr>
                  <a:t>Develop an interval estimate of the difference in mean checking account balance between the two branches at a 95% confidence level.</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615967"/>
                <a:ext cx="10711543" cy="4406461"/>
              </a:xfrm>
              <a:blipFill>
                <a:blip r:embed="rId3"/>
                <a:stretch>
                  <a:fillRect l="-1422" t="-1660" r="-1365" b="-2213"/>
                </a:stretch>
              </a:blipFill>
            </p:spPr>
            <p:txBody>
              <a:bodyPr/>
              <a:lstStyle/>
              <a:p>
                <a:r>
                  <a:rPr lang="en-US">
                    <a:noFill/>
                  </a:rPr>
                  <a:t> </a:t>
                </a:r>
              </a:p>
            </p:txBody>
          </p:sp>
        </mc:Fallback>
      </mc:AlternateContent>
    </p:spTree>
    <p:extLst>
      <p:ext uri="{BB962C8B-B14F-4D97-AF65-F5344CB8AC3E}">
        <p14:creationId xmlns:p14="http://schemas.microsoft.com/office/powerpoint/2010/main" val="2285793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28970" y="365125"/>
            <a:ext cx="10711543" cy="672105"/>
          </a:xfrm>
        </p:spPr>
        <p:txBody>
          <a:bodyPr/>
          <a:lstStyle/>
          <a:p>
            <a:r>
              <a:rPr lang="en-US" sz="3200" dirty="0"/>
              <a:t>10.2 Interval Estimate of the Mean Checking Account Balance Difference at Clearwater National Bank</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39613"/>
                <a:ext cx="10711543" cy="4233041"/>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standard error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oMath>
                </a14:m>
                <a:r>
                  <a:rPr lang="en-US" sz="2000" dirty="0">
                    <a:latin typeface="Arial" panose="020B0604020202020204" pitchFamily="34" charset="0"/>
                    <a:cs typeface="Arial" panose="020B0604020202020204" pitchFamily="34" charset="0"/>
                  </a:rPr>
                  <a:t> is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150</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28</m:t>
                              </m:r>
                            </m:den>
                          </m:f>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125</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22</m:t>
                              </m:r>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=38.9</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ea typeface="Cambria Math" panose="02040503050406030204" pitchFamily="18" charset="0"/>
                    <a:cs typeface="Arial" panose="020B0604020202020204" pitchFamily="34" charset="0"/>
                  </a:rPr>
                  <a:t>The degrees of freedom (*see notes) for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oMath>
                </a14:m>
                <a:r>
                  <a:rPr lang="en-US" sz="2000" dirty="0">
                    <a:latin typeface="Arial" panose="020B0604020202020204" pitchFamily="34" charset="0"/>
                    <a:ea typeface="Cambria Math" panose="02040503050406030204" pitchFamily="18" charset="0"/>
                    <a:cs typeface="Arial" panose="020B0604020202020204" pitchFamily="34" charset="0"/>
                  </a:rPr>
                  <a:t> are</a:t>
                </a:r>
              </a:p>
              <a:p>
                <a:pPr marL="4572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𝑑𝑓</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den>
                                      </m:f>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e>
                              </m:d>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r>
                                    <a:rPr lang="en-US" sz="2000" i="1">
                                      <a:latin typeface="Cambria Math" panose="02040503050406030204" pitchFamily="18" charset="0"/>
                                      <a:ea typeface="Cambria Math" panose="02040503050406030204" pitchFamily="18" charset="0"/>
                                      <a:cs typeface="Arial" panose="020B0604020202020204" pitchFamily="34" charset="0"/>
                                    </a:rPr>
                                    <m:t>−1</m:t>
                                  </m:r>
                                </m:e>
                              </m:d>
                            </m:den>
                          </m:f>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150</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28</m:t>
                                      </m:r>
                                    </m:den>
                                  </m:f>
                                  <m:r>
                                    <a:rPr lang="en-US" sz="2000" i="1">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1</m:t>
                                          </m:r>
                                          <m:r>
                                            <a:rPr lang="en-US" sz="2000" b="0" i="1" smtClean="0">
                                              <a:latin typeface="Cambria Math" panose="02040503050406030204" pitchFamily="18" charset="0"/>
                                              <a:ea typeface="Cambria Math" panose="02040503050406030204" pitchFamily="18" charset="0"/>
                                              <a:cs typeface="Arial" panose="020B0604020202020204" pitchFamily="34" charset="0"/>
                                            </a:rPr>
                                            <m:t>25</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ea typeface="Cambria Math" panose="02040503050406030204" pitchFamily="18" charset="0"/>
                                          <a:cs typeface="Arial" panose="020B0604020202020204" pitchFamily="34" charset="0"/>
                                        </a:rPr>
                                        <m:t>2</m:t>
                                      </m:r>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150</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ea typeface="Cambria Math" panose="02040503050406030204" pitchFamily="18" charset="0"/>
                                              <a:cs typeface="Arial" panose="020B0604020202020204" pitchFamily="34" charset="0"/>
                                            </a:rPr>
                                            <m:t>28</m:t>
                                          </m:r>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27</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1</m:t>
                                              </m:r>
                                              <m:r>
                                                <a:rPr lang="en-US" sz="2000" b="0" i="1" smtClean="0">
                                                  <a:latin typeface="Cambria Math" panose="02040503050406030204" pitchFamily="18" charset="0"/>
                                                  <a:ea typeface="Cambria Math" panose="02040503050406030204" pitchFamily="18" charset="0"/>
                                                  <a:cs typeface="Arial" panose="020B0604020202020204" pitchFamily="34" charset="0"/>
                                                </a:rPr>
                                                <m:t>25</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ea typeface="Cambria Math" panose="02040503050406030204" pitchFamily="18" charset="0"/>
                                              <a:cs typeface="Arial" panose="020B0604020202020204" pitchFamily="34" charset="0"/>
                                            </a:rPr>
                                            <m:t>2</m:t>
                                          </m:r>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21</m:t>
                              </m:r>
                            </m:den>
                          </m:f>
                        </m:den>
                      </m:f>
                      <m:r>
                        <a:rPr lang="en-US" sz="2000" b="0" i="1" smtClean="0">
                          <a:latin typeface="Cambria Math" panose="02040503050406030204" pitchFamily="18" charset="0"/>
                          <a:ea typeface="Cambria Math" panose="02040503050406030204" pitchFamily="18" charset="0"/>
                          <a:cs typeface="Arial" panose="020B0604020202020204" pitchFamily="34" charset="0"/>
                        </a:rPr>
                        <m:t>=47.8</m:t>
                      </m:r>
                    </m:oMath>
                  </m:oMathPara>
                </a14:m>
                <a:endParaRPr lang="en-US" sz="2000" dirty="0">
                  <a:latin typeface="Arial" panose="020B0604020202020204" pitchFamily="34" charset="0"/>
                  <a:ea typeface="Cambria Math" panose="02040503050406030204" pitchFamily="18" charset="0"/>
                  <a:cs typeface="Arial" panose="020B0604020202020204" pitchFamily="34" charset="0"/>
                </a:endParaRPr>
              </a:p>
              <a:p>
                <a:pPr>
                  <a:spcBef>
                    <a:spcPts val="600"/>
                  </a:spcBef>
                  <a:spcAft>
                    <a:spcPts val="600"/>
                  </a:spcAft>
                </a:pPr>
                <a:r>
                  <a:rPr lang="en-US" sz="2000" dirty="0">
                    <a:latin typeface="Arial" panose="020B0604020202020204" pitchFamily="34" charset="0"/>
                    <a:ea typeface="Cambria Math" panose="02040503050406030204" pitchFamily="18" charset="0"/>
                    <a:cs typeface="Arial" panose="020B0604020202020204" pitchFamily="34" charset="0"/>
                  </a:rPr>
                  <a:t>Using 95% confidence and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𝑑𝑓</m:t>
                    </m:r>
                    <m:r>
                      <a:rPr lang="en-US" sz="2000" b="0" i="1" smtClean="0">
                        <a:latin typeface="Cambria Math" panose="02040503050406030204" pitchFamily="18" charset="0"/>
                        <a:ea typeface="Cambria Math" panose="02040503050406030204" pitchFamily="18" charset="0"/>
                        <a:cs typeface="Arial" panose="020B0604020202020204" pitchFamily="34" charset="0"/>
                      </a:rPr>
                      <m:t>=47</m:t>
                    </m:r>
                  </m:oMath>
                </a14:m>
                <a:r>
                  <a:rPr lang="en-US" sz="2000" dirty="0">
                    <a:latin typeface="Arial" panose="020B0604020202020204" pitchFamily="34" charset="0"/>
                    <a:ea typeface="Cambria Math" panose="02040503050406030204" pitchFamily="18" charset="0"/>
                    <a:cs typeface="Arial" panose="020B0604020202020204" pitchFamily="34" charset="0"/>
                  </a:rPr>
                  <a:t>, it follows that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.025</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=2.012</m:t>
                    </m:r>
                  </m:oMath>
                </a14:m>
                <a:r>
                  <a:rPr lang="en-US" sz="2000" dirty="0">
                    <a:latin typeface="Arial" panose="020B0604020202020204" pitchFamily="34" charset="0"/>
                    <a:ea typeface="Cambria Math" panose="02040503050406030204" pitchFamily="18" charset="0"/>
                    <a:cs typeface="Arial" panose="020B0604020202020204" pitchFamily="34" charset="0"/>
                  </a:rPr>
                  <a:t>, and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=(1025−910)±2.012</m:t>
                      </m:r>
                      <m:d>
                        <m:d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38.9</m:t>
                          </m:r>
                        </m:e>
                      </m:d>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115</m:t>
                      </m:r>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78</m:t>
                      </m:r>
                    </m:oMath>
                  </m:oMathPara>
                </a14:m>
                <a:endParaRPr lang="en-US" sz="2000" dirty="0">
                  <a:solidFill>
                    <a:srgbClr val="000000"/>
                  </a:solidFill>
                  <a:latin typeface="Arial" panose="020B0604020202020204" pitchFamily="34" charset="0"/>
                  <a:cs typeface="Arial" panose="020B0604020202020204" pitchFamily="34" charset="0"/>
                </a:endParaRPr>
              </a:p>
              <a:p>
                <a:pPr>
                  <a:spcBef>
                    <a:spcPts val="600"/>
                  </a:spcBef>
                  <a:spcAft>
                    <a:spcPts val="600"/>
                  </a:spcAft>
                </a:pPr>
                <a:r>
                  <a:rPr lang="en-US" sz="2000" dirty="0">
                    <a:solidFill>
                      <a:srgbClr val="000000"/>
                    </a:solidFill>
                    <a:cs typeface="Arial" panose="020B0604020202020204" pitchFamily="34" charset="0"/>
                  </a:rPr>
                  <a:t>Thus, the margin of error is $78, and the 95% confidence interval estimate of the difference between the two population means is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115−78=$37</m:t>
                    </m:r>
                  </m:oMath>
                </a14:m>
                <a:r>
                  <a:rPr lang="en-US" sz="2000" dirty="0">
                    <a:solidFill>
                      <a:srgbClr val="000000"/>
                    </a:solidFill>
                    <a:cs typeface="Arial" panose="020B0604020202020204" pitchFamily="34" charset="0"/>
                  </a:rPr>
                  <a:t> to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115+78</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$193</m:t>
                    </m:r>
                  </m:oMath>
                </a14:m>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639613"/>
                <a:ext cx="10711543" cy="4233041"/>
              </a:xfrm>
              <a:blipFill>
                <a:blip r:embed="rId3"/>
                <a:stretch>
                  <a:fillRect l="-1422" t="-1729" b="-2594"/>
                </a:stretch>
              </a:blipFill>
            </p:spPr>
            <p:txBody>
              <a:bodyPr/>
              <a:lstStyle/>
              <a:p>
                <a:r>
                  <a:rPr lang="en-US">
                    <a:noFill/>
                  </a:rPr>
                  <a:t> </a:t>
                </a:r>
              </a:p>
            </p:txBody>
          </p:sp>
        </mc:Fallback>
      </mc:AlternateContent>
    </p:spTree>
    <p:extLst>
      <p:ext uri="{BB962C8B-B14F-4D97-AF65-F5344CB8AC3E}">
        <p14:creationId xmlns:p14="http://schemas.microsoft.com/office/powerpoint/2010/main" val="3117876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10.2 Excel: Construct a 95% Confidence Interval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142999"/>
                <a:ext cx="10711543" cy="4800600"/>
              </a:xfrm>
            </p:spPr>
            <p:txBody>
              <a:bodyPr/>
              <a:lstStyle/>
              <a:p>
                <a:r>
                  <a:rPr lang="en-US" sz="2000" b="1" dirty="0"/>
                  <a:t>Enter/Access Data</a:t>
                </a:r>
                <a:r>
                  <a:rPr lang="en-US" sz="2000" dirty="0"/>
                  <a:t>: Open the file </a:t>
                </a:r>
                <a:r>
                  <a:rPr lang="en-US" sz="2000" i="1" dirty="0" err="1"/>
                  <a:t>checkacct_mod</a:t>
                </a:r>
                <a:r>
                  <a:rPr lang="en-US" sz="2000" dirty="0"/>
                  <a:t>. </a:t>
                </a:r>
              </a:p>
              <a:p>
                <a:pPr marL="914400" indent="-342900">
                  <a:spcBef>
                    <a:spcPts val="600"/>
                  </a:spcBef>
                  <a:buFont typeface="Arial" panose="020B0604020202020204" pitchFamily="34" charset="0"/>
                  <a:buChar char="•"/>
                </a:pPr>
                <a:r>
                  <a:rPr lang="en-US" sz="2000" dirty="0"/>
                  <a:t>Column A contains the account balances and a label for the random sample of 28 customers at the Cherry Grove Branch.</a:t>
                </a:r>
              </a:p>
              <a:p>
                <a:pPr marL="914400" indent="-342900">
                  <a:spcBef>
                    <a:spcPts val="600"/>
                  </a:spcBef>
                  <a:buFont typeface="Arial" panose="020B0604020202020204" pitchFamily="34" charset="0"/>
                  <a:buChar char="•"/>
                </a:pPr>
                <a:r>
                  <a:rPr lang="en-US" sz="2000" dirty="0"/>
                  <a:t>Column B contains the account balances and a label for the random sample of 22 customers at the </a:t>
                </a:r>
                <a:r>
                  <a:rPr lang="en-US" sz="2000" dirty="0" err="1"/>
                  <a:t>Beechmont</a:t>
                </a:r>
                <a:r>
                  <a:rPr lang="en-US" sz="2000" dirty="0"/>
                  <a:t> Branch.</a:t>
                </a:r>
              </a:p>
              <a:p>
                <a:r>
                  <a:rPr lang="en-US" sz="2000" b="1" dirty="0"/>
                  <a:t>Enter Functions and Formulas</a:t>
                </a:r>
                <a:r>
                  <a:rPr lang="en-US" sz="2000" dirty="0"/>
                  <a:t>: The descriptive statistics needed are provided in cells E5:F7.</a:t>
                </a:r>
              </a:p>
              <a:p>
                <a:pPr>
                  <a:spcBef>
                    <a:spcPts val="600"/>
                  </a:spcBef>
                </a:pPr>
                <a:r>
                  <a:rPr lang="en-US" sz="2000" dirty="0"/>
                  <a:t>An estimate of the variance of the point estimator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 </m:t>
                    </m:r>
                  </m:oMath>
                </a14:m>
                <a:r>
                  <a:rPr lang="en-US" sz="2000" dirty="0"/>
                  <a:t>is computed in cell D8 as:</a:t>
                </a:r>
              </a:p>
              <a:p>
                <a:pPr algn="ctr">
                  <a:spcBef>
                    <a:spcPts val="600"/>
                  </a:spcBef>
                </a:pPr>
                <a:r>
                  <a:rPr lang="en-US" sz="2000" i="1" dirty="0"/>
                  <a:t>=E7^2/E5+F7^2/F5</a:t>
                </a:r>
              </a:p>
              <a:p>
                <a:pPr>
                  <a:spcBef>
                    <a:spcPts val="600"/>
                  </a:spcBef>
                </a:pPr>
                <a:r>
                  <a:rPr lang="en-US" sz="2000" dirty="0"/>
                  <a:t>In cell E10, the square root of the variance provides an estimate of the standard error.</a:t>
                </a:r>
              </a:p>
              <a:p>
                <a:pPr>
                  <a:spcBef>
                    <a:spcPts val="600"/>
                  </a:spcBef>
                </a:pPr>
                <a:r>
                  <a:rPr lang="en-US" sz="2000" dirty="0"/>
                  <a:t>In cell E14, we used the formula from the previous slide to compute the degrees of freedom.</a:t>
                </a:r>
              </a:p>
              <a:p>
                <a:pPr>
                  <a:spcBef>
                    <a:spcPts val="600"/>
                  </a:spcBef>
                </a:pPr>
                <a:r>
                  <a:rPr lang="en-US" sz="2000" dirty="0"/>
                  <a:t>Then, we compute the </a:t>
                </a:r>
                <a14:m>
                  <m:oMath xmlns:m="http://schemas.openxmlformats.org/officeDocument/2006/math">
                    <m:r>
                      <a:rPr lang="en-US" sz="2000" i="1" dirty="0" smtClean="0">
                        <a:latin typeface="Cambria Math" panose="02040503050406030204" pitchFamily="18" charset="0"/>
                      </a:rPr>
                      <m:t>𝑡</m:t>
                    </m:r>
                  </m:oMath>
                </a14:m>
                <a:r>
                  <a:rPr lang="en-US" sz="2000" dirty="0"/>
                  <a:t> value in cell E15 using the formula =T.INV.2T(</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𝛼</m:t>
                    </m:r>
                  </m:oMath>
                </a14:m>
                <a:r>
                  <a:rPr lang="en-US" sz="2000" dirty="0" err="1"/>
                  <a:t>,</a:t>
                </a:r>
                <a14:m>
                  <m:oMath xmlns:m="http://schemas.openxmlformats.org/officeDocument/2006/math">
                    <m:r>
                      <a:rPr lang="en-US" sz="2000" i="1" dirty="0" smtClean="0">
                        <a:latin typeface="Cambria Math" panose="02040503050406030204" pitchFamily="18" charset="0"/>
                      </a:rPr>
                      <m:t>𝑑𝑓</m:t>
                    </m:r>
                  </m:oMath>
                </a14:m>
                <a:r>
                  <a:rPr lang="en-US" sz="2000" dirty="0"/>
                  <a:t>), with </a:t>
                </a:r>
                <a14:m>
                  <m:oMath xmlns:m="http://schemas.openxmlformats.org/officeDocument/2006/math">
                    <m:r>
                      <a:rPr lang="en-US" sz="2000" i="1" dirty="0">
                        <a:latin typeface="Cambria Math" panose="02040503050406030204" pitchFamily="18" charset="0"/>
                        <a:ea typeface="Cambria Math" panose="02040503050406030204" pitchFamily="18" charset="0"/>
                      </a:rPr>
                      <m:t>𝛼</m:t>
                    </m:r>
                  </m:oMath>
                </a14:m>
                <a:r>
                  <a:rPr lang="en-US" sz="2000" dirty="0"/>
                  <a:t> in cell E13 and </a:t>
                </a:r>
                <a14:m>
                  <m:oMath xmlns:m="http://schemas.openxmlformats.org/officeDocument/2006/math">
                    <m:r>
                      <a:rPr lang="en-US" sz="2000" i="1" dirty="0" smtClean="0">
                        <a:latin typeface="Cambria Math" panose="02040503050406030204" pitchFamily="18" charset="0"/>
                      </a:rPr>
                      <m:t>𝑑𝑓</m:t>
                    </m:r>
                  </m:oMath>
                </a14:m>
                <a:r>
                  <a:rPr lang="en-US" sz="2000" dirty="0"/>
                  <a:t> in cell E14.</a:t>
                </a:r>
              </a:p>
              <a:p>
                <a:pPr>
                  <a:spcBef>
                    <a:spcPts val="600"/>
                  </a:spcBef>
                </a:pPr>
                <a:r>
                  <a:rPr lang="en-US" sz="2000" dirty="0"/>
                  <a:t>Finally, the rest of the construction of the confidence interval follows as usual, as shown next.</a:t>
                </a:r>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43576" y="1142999"/>
                <a:ext cx="10711543" cy="4800600"/>
              </a:xfrm>
              <a:blipFill>
                <a:blip r:embed="rId2"/>
                <a:stretch>
                  <a:fillRect l="-1480" t="-1396" r="-797" b="-1142"/>
                </a:stretch>
              </a:blipFill>
            </p:spPr>
            <p:txBody>
              <a:bodyPr/>
              <a:lstStyle/>
              <a:p>
                <a:r>
                  <a:rPr lang="en-US">
                    <a:noFill/>
                  </a:rPr>
                  <a:t> </a:t>
                </a:r>
              </a:p>
            </p:txBody>
          </p:sp>
        </mc:Fallback>
      </mc:AlternateContent>
    </p:spTree>
    <p:extLst>
      <p:ext uri="{BB962C8B-B14F-4D97-AF65-F5344CB8AC3E}">
        <p14:creationId xmlns:p14="http://schemas.microsoft.com/office/powerpoint/2010/main" val="2206087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7902D-CDA7-E7FB-57A3-4C88283D23F7}"/>
              </a:ext>
            </a:extLst>
          </p:cNvPr>
          <p:cNvSpPr>
            <a:spLocks noGrp="1"/>
          </p:cNvSpPr>
          <p:nvPr>
            <p:ph type="title"/>
          </p:nvPr>
        </p:nvSpPr>
        <p:spPr>
          <a:xfrm>
            <a:off x="842955" y="365125"/>
            <a:ext cx="10508459" cy="672105"/>
          </a:xfrm>
        </p:spPr>
        <p:txBody>
          <a:bodyPr/>
          <a:lstStyle/>
          <a:p>
            <a:r>
              <a:rPr lang="en-US" sz="3200" dirty="0">
                <a:solidFill>
                  <a:srgbClr val="25894E"/>
                </a:solidFill>
              </a:rPr>
              <a:t>10.2 Excel: Confidence Interval for Clearwater National Bank</a:t>
            </a:r>
            <a:endParaRPr lang="en-US" sz="3200" dirty="0"/>
          </a:p>
        </p:txBody>
      </p:sp>
      <p:pic>
        <p:nvPicPr>
          <p:cNvPr id="6" name="Picture Placeholder 5" descr="Two screenshots of Excel spreadsheets for computing the interval estimate of the difference in population means with sigma_1 and sigma_2 unknown cases. In the first spreadsheet, column A is labeled Cherry Grove and column B is labeled Beechmont. The entries under column A are as follows. Row 2: 1263. Row 3: 897. Row 4: 849. Row 5: 891. Row 6: 964. Row 7: 810. Row 8: 877. Row 9: 899. Row 10: 847. Row 11: 1070. Row 12: 1252. Row 13: 920. Row 14: 1256. Row 15: 1196. Row 16: 1150. Row 17: 1024. Row 18: 1016. Row 19: 1126. Row 20: 1289. Row 21: 1220. Row 22: 912. Row 23: 1026. Row 24: 786. Row 25: 989. Row 26: 1133. Row 27: 990. Row 28: 999. Row 29: 1049. The entries under column B are as follows. Row 2: 996.7. Row 3: 897. Row 4: 912. Row 5: 894.9. Row 6: 785. Row 7: 750.7. Row 8: 882.2. Row 9: 1110. Row 10: 907.2. Row 11: 1226.1. Row 12: 762.1. Row 13: 835.5. Row 14: 1048. Row 15: 773.8. Row 16: 807. Row 17: 972. Row 18: 980. Row 19: 876.6. Row 20: 943. Row 21: 992.7. Row 22: 704.3. Row 23: 962.9. The entries under columns D, E, and F are as follows. E 4: Cherry Grove. F 4: Beechmont. D 5: Sample size. E 5: =COUNT(A 2:A 29). F 5: =COUNT(B 2:B 23). D 6: Sample mean. E 6: =AVERAGE(A 2:A 29). F 6: =AVERAGE(B 2:B 23). D 7: Sample standard deviation. E 7: =STDEV.S(A 2:A 29). F 7: =STDEV.S(B 2:B 23). D 9: Estimate of variance. E 9: =E 7^2/E 5 + F 7^2/F 5. D 10: Standard error. E 10: SQRT(E 9). D 12: Confidence coefficient. E 12: 0.95. D 13: Level of significance. E 13: =1 minus E 12. D 14: Degrees of freedom. E 14: =E 9^2/((1/(E 5 minus 1))*(E 7^2/E 5)^2 + (1 over (F 5 minus 1)*(F 7^2/F 5)^2)). D 15: t Value. E 15: =T.INV.2T(E 13, E 14). D 16: Margin of error. E 16: =E 15*E 10. D 18: Point estimate of difference. E 18: =E 6 minus F 6. D 19: Lower limit. E 19: E 18 minus E 16. D 20: Upper limit. E 20: E 18 + E 16. In the second spreadsheet, column A is labeled Cherry Grove and column B is labeled Beechmont. The entries under column A are as follows. Row 2: 1263. Row 3: 897. Row 4: 849. Row 5: 891. Row 6: 964. Row 7: 810. Row 8: 877. Row 9: 899. Row 10: 847. Row 11: 1070. Row 12: 1252. Row 13: 920. Row 14: 1256. Row 15: 1196. Row 16: 1150. Row 17: 1024. Row 18: 1016. Row 19: 1126. Row 20: 1289. Row 21: 1220. Row 22: 912. Row 23: 1026. Row 24: 786. Row 25: 989. Row 26: 1133. Row 27: 990. Row 28: 999. Row 29: 1049. The entries under column B are as follows. Row 2: 997. Row 3: 897. Row 4: 912. Row 5: 895. Row 6: 785. Row 7: 751. Row 8: 882. Row 9: 1110. Row 10: 907. Row 11: 1226. Row 12: 762. Row 13: 836. Row 14: 1048. Row 15: 774. Row 16: 807. Row 17: 972. Row 18: 980. Row 19: 877. Row 20: 943. Row 21: 993. Row 22: 704. Row 23: 963. The entries under columns D, E, and F are as follows. E 4: Cherry Grove. F 4: Beechmont. D 5: Sample size. E 5: 28. F 5: 22. D 6: Sample mean. E 6: 1025. F 6: 910. D 7: Sample standard deviation. E 7: 150. F 7: 125. D 9: Estimate of variance. E 9: 1513.8550. D 10: Standard error. E 10: 38.9083. D 12: Confidence coefficient. E 12: 0.95. D 13: Level of significance. E 13: 0.05. D 14: Degrees of freedom. E 14: 47.8. D 15: t Value. E 15: 2.012. D 16: Margin of error. E 16: 78. D 18: Point estimate of difference. E 18: 115. D 19: Lower limit. E 19: 37. D 20: Upper limit. E 20: 193.">
            <a:extLst>
              <a:ext uri="{FF2B5EF4-FFF2-40B4-BE49-F238E27FC236}">
                <a16:creationId xmlns:a16="http://schemas.microsoft.com/office/drawing/2014/main" id="{191CE458-E323-AC3F-79E0-C139AD20F2DD}"/>
              </a:ext>
            </a:extLst>
          </p:cNvPr>
          <p:cNvPicPr>
            <a:picLocks noGrp="1" noChangeAspect="1"/>
          </p:cNvPicPr>
          <p:nvPr>
            <p:ph type="pic" sz="quarter" idx="10"/>
          </p:nvPr>
        </p:nvPicPr>
        <p:blipFill>
          <a:blip r:embed="rId2"/>
          <a:srcRect l="1" r="1"/>
          <a:stretch/>
        </p:blipFill>
        <p:spPr>
          <a:xfrm>
            <a:off x="1542256" y="1468423"/>
            <a:ext cx="9107488" cy="4572000"/>
          </a:xfrm>
          <a:ln>
            <a:solidFill>
              <a:srgbClr val="000000"/>
            </a:solidFill>
          </a:ln>
        </p:spPr>
      </p:pic>
    </p:spTree>
    <p:extLst>
      <p:ext uri="{BB962C8B-B14F-4D97-AF65-F5344CB8AC3E}">
        <p14:creationId xmlns:p14="http://schemas.microsoft.com/office/powerpoint/2010/main" val="2246449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10.2 Test Statistic for Hypothesis Tests About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𝟏</m:t>
                        </m:r>
                      </m:sub>
                    </m:sSub>
                    <m:r>
                      <a:rPr lang="en-US" sz="320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𝟐</m:t>
                        </m:r>
                      </m:sub>
                    </m:sSub>
                  </m:oMath>
                </a14:m>
                <a:r>
                  <a:rPr lang="en-US" sz="3200" dirty="0"/>
                  <a:t>: </a:t>
                </a:r>
                <a14:m>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rPr>
                          <m:t>𝟏</m:t>
                        </m:r>
                      </m:sub>
                    </m:sSub>
                  </m:oMath>
                </a14:m>
                <a:r>
                  <a:rPr lang="en-US" sz="3200" b="0" dirty="0"/>
                  <a:t> </a:t>
                </a:r>
                <a:r>
                  <a:rPr lang="en-US" sz="3200" dirty="0"/>
                  <a:t>and </a:t>
                </a:r>
                <a14:m>
                  <m:oMath xmlns:m="http://schemas.openxmlformats.org/officeDocument/2006/math">
                    <m:sSub>
                      <m:sSubPr>
                        <m:ctrlPr>
                          <a:rPr lang="en-US" sz="3200" i="1">
                            <a:latin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ea typeface="Cambria Math" panose="02040503050406030204" pitchFamily="18" charset="0"/>
                          </a:rPr>
                          <m:t>𝟐</m:t>
                        </m:r>
                      </m:sub>
                    </m:sSub>
                  </m:oMath>
                </a14:m>
                <a:r>
                  <a:rPr lang="en-US" sz="3200" dirty="0"/>
                  <a:t> Unknown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blipFill>
                <a:blip r:embed="rId4"/>
                <a:stretch>
                  <a:fillRect l="-1855" t="-26364" r="-2783"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576552"/>
                <a:ext cx="10711543" cy="4430111"/>
              </a:xfrm>
            </p:spPr>
            <p:txBody>
              <a:bodyPr/>
              <a:lstStyle/>
              <a:p>
                <a:pPr>
                  <a:spcBef>
                    <a:spcPts val="600"/>
                  </a:spcBef>
                  <a:spcAft>
                    <a:spcPts val="0"/>
                  </a:spcAft>
                </a:pPr>
                <a:r>
                  <a:rPr lang="en-US" sz="2000" dirty="0">
                    <a:cs typeface="Arial" panose="020B0604020202020204" pitchFamily="34" charset="0"/>
                  </a:rPr>
                  <a:t>When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2</m:t>
                        </m:r>
                      </m:sub>
                    </m:sSub>
                  </m:oMath>
                </a14:m>
                <a:r>
                  <a:rPr lang="en-US" sz="2000" dirty="0"/>
                  <a:t> are unknown, we use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𝑠</m:t>
                        </m:r>
                      </m:e>
                      <m:sub>
                        <m:r>
                          <a:rPr lang="en-US" sz="2000" i="1">
                            <a:latin typeface="Cambria Math" panose="02040503050406030204" pitchFamily="18" charset="0"/>
                          </a:rPr>
                          <m:t>1</m:t>
                        </m:r>
                      </m:sub>
                    </m:sSub>
                  </m:oMath>
                </a14:m>
                <a:r>
                  <a:rPr lang="en-US" sz="2000" dirty="0">
                    <a:cs typeface="Arial" panose="020B0604020202020204" pitchFamily="34" charset="0"/>
                  </a:rPr>
                  <a:t> as an estimator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m:t>
                        </m:r>
                      </m:sub>
                    </m:sSub>
                  </m:oMath>
                </a14:m>
                <a:r>
                  <a:rPr lang="en-US" sz="2000" dirty="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𝑠</m:t>
                        </m:r>
                      </m:e>
                      <m:sub>
                        <m:r>
                          <a:rPr lang="en-US" sz="2000" b="0" i="1" smtClean="0">
                            <a:latin typeface="Cambria Math" panose="02040503050406030204" pitchFamily="18" charset="0"/>
                          </a:rPr>
                          <m:t>2</m:t>
                        </m:r>
                      </m:sub>
                    </m:sSub>
                  </m:oMath>
                </a14:m>
                <a:r>
                  <a:rPr lang="en-US" sz="2000" dirty="0">
                    <a:cs typeface="Arial" panose="020B0604020202020204" pitchFamily="34" charset="0"/>
                  </a:rPr>
                  <a:t> as an estimator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2</m:t>
                        </m:r>
                      </m:sub>
                    </m:sSub>
                  </m:oMath>
                </a14:m>
                <a:r>
                  <a:rPr lang="en-US" sz="2000" dirty="0">
                    <a:cs typeface="Arial" panose="020B0604020202020204" pitchFamily="34" charset="0"/>
                  </a:rPr>
                  <a:t>.</a:t>
                </a:r>
              </a:p>
              <a:p>
                <a:pPr>
                  <a:spcBef>
                    <a:spcPts val="600"/>
                  </a:spcBef>
                  <a:spcAft>
                    <a:spcPts val="1200"/>
                  </a:spcAft>
                </a:pPr>
                <a:r>
                  <a:rPr lang="en-US" sz="2000" dirty="0">
                    <a:cs typeface="Arial" panose="020B0604020202020204" pitchFamily="34" charset="0"/>
                  </a:rPr>
                  <a:t>The test statistic for the difference between two population means</a:t>
                </a:r>
                <a:r>
                  <a:rPr lang="en-US" sz="2000" dirty="0">
                    <a:solidFill>
                      <a:srgbClr val="000000"/>
                    </a:solidFill>
                    <a:cs typeface="Arial" panose="020B0604020202020204" pitchFamily="34" charset="0"/>
                  </a:rPr>
                  <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when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ea typeface="Cambria Math" panose="02040503050406030204" pitchFamily="18" charset="0"/>
                          </a:rPr>
                          <m:t>2</m:t>
                        </m:r>
                      </m:sub>
                    </m:sSub>
                  </m:oMath>
                </a14:m>
                <a:r>
                  <a:rPr lang="en-US" sz="2000" dirty="0"/>
                  <a:t> are unknown,</a:t>
                </a:r>
                <a:r>
                  <a:rPr lang="en-US" sz="2000" dirty="0">
                    <a:solidFill>
                      <a:srgbClr val="000000"/>
                    </a:solidFill>
                    <a:cs typeface="Arial" panose="020B0604020202020204" pitchFamily="34" charset="0"/>
                  </a:rPr>
                  <a:t> can be described by a </a:t>
                </a:r>
                <a:r>
                  <a:rPr lang="en-US" sz="2000" i="1" dirty="0">
                    <a:solidFill>
                      <a:srgbClr val="000000"/>
                    </a:solidFill>
                    <a:cs typeface="Arial" panose="020B0604020202020204" pitchFamily="34" charset="0"/>
                  </a:rPr>
                  <a:t>t</a:t>
                </a:r>
                <a:r>
                  <a:rPr lang="en-US" sz="2000" dirty="0">
                    <a:solidFill>
                      <a:srgbClr val="000000"/>
                    </a:solidFill>
                    <a:cs typeface="Arial" panose="020B0604020202020204" pitchFamily="34" charset="0"/>
                  </a:rPr>
                  <a:t> distribution with </a:t>
                </a:r>
                <a:r>
                  <a:rPr lang="en-US" sz="2000" i="1" dirty="0" err="1">
                    <a:solidFill>
                      <a:srgbClr val="000000"/>
                    </a:solidFill>
                    <a:cs typeface="Arial" panose="020B0604020202020204" pitchFamily="34" charset="0"/>
                  </a:rPr>
                  <a:t>df</a:t>
                </a:r>
                <a:r>
                  <a:rPr lang="en-US" sz="2000" dirty="0">
                    <a:solidFill>
                      <a:srgbClr val="000000"/>
                    </a:solidFill>
                    <a:cs typeface="Arial" panose="020B0604020202020204" pitchFamily="34" charset="0"/>
                  </a:rPr>
                  <a:t> degrees of freedom.</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𝒕</m:t>
                      </m:r>
                      <m:r>
                        <a:rPr lang="en-US" sz="2000" b="1" i="1" smtClean="0">
                          <a:latin typeface="Cambria Math" panose="02040503050406030204" pitchFamily="18" charset="0"/>
                          <a:cs typeface="Arial" panose="020B0604020202020204" pitchFamily="34" charset="0"/>
                        </a:rPr>
                        <m:t>=</m:t>
                      </m:r>
                      <m:f>
                        <m:fPr>
                          <m:ctrlPr>
                            <a:rPr lang="en-US" sz="2000" b="1" i="1">
                              <a:latin typeface="Cambria Math" panose="02040503050406030204" pitchFamily="18" charset="0"/>
                              <a:cs typeface="Arial" panose="020B0604020202020204" pitchFamily="34" charset="0"/>
                            </a:rPr>
                          </m:ctrlPr>
                        </m:fPr>
                        <m:num>
                          <m:d>
                            <m:dPr>
                              <m:ctrlPr>
                                <a:rPr lang="en-US" sz="2000" b="1" i="1">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e>
                                <m:sub>
                                  <m:r>
                                    <a:rPr lang="en-US" sz="2000" b="1" i="1">
                                      <a:latin typeface="Cambria Math" panose="02040503050406030204" pitchFamily="18" charset="0"/>
                                      <a:cs typeface="Arial" panose="020B0604020202020204" pitchFamily="34" charset="0"/>
                                    </a:rPr>
                                    <m:t>𝟏</m:t>
                                  </m:r>
                                </m:sub>
                              </m:sSub>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e>
                                <m:sub>
                                  <m:r>
                                    <a:rPr lang="en-US" sz="2000" b="1" i="1">
                                      <a:latin typeface="Cambria Math" panose="02040503050406030204" pitchFamily="18" charset="0"/>
                                      <a:cs typeface="Arial" panose="020B0604020202020204" pitchFamily="34" charset="0"/>
                                    </a:rPr>
                                    <m:t>𝟐</m:t>
                                  </m:r>
                                </m:sub>
                              </m:sSub>
                            </m:e>
                          </m:d>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𝑫</m:t>
                              </m:r>
                            </m:e>
                            <m:sub>
                              <m:r>
                                <a:rPr lang="en-US" sz="2000" b="1" i="1">
                                  <a:latin typeface="Cambria Math" panose="02040503050406030204" pitchFamily="18" charset="0"/>
                                  <a:ea typeface="Cambria Math" panose="02040503050406030204" pitchFamily="18" charset="0"/>
                                  <a:cs typeface="Arial" panose="020B0604020202020204" pitchFamily="34" charset="0"/>
                                </a:rPr>
                                <m:t>𝟎</m:t>
                              </m:r>
                            </m:sub>
                          </m:sSub>
                        </m:num>
                        <m:den>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𝒔</m:t>
                              </m:r>
                            </m:e>
                            <m:sub>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ea typeface="Cambria Math" panose="02040503050406030204" pitchFamily="18" charset="0"/>
                                          <a:cs typeface="Arial" panose="020B0604020202020204" pitchFamily="34" charset="0"/>
                                        </a:rPr>
                                      </m:ctrlPr>
                                    </m:accPr>
                                    <m:e>
                                      <m:r>
                                        <a:rPr lang="en-US" sz="2000" b="1" i="1">
                                          <a:latin typeface="Cambria Math" panose="02040503050406030204" pitchFamily="18" charset="0"/>
                                          <a:ea typeface="Cambria Math" panose="02040503050406030204" pitchFamily="18" charset="0"/>
                                          <a:cs typeface="Arial" panose="020B0604020202020204" pitchFamily="34" charset="0"/>
                                        </a:rPr>
                                        <m:t>𝒙</m:t>
                                      </m:r>
                                    </m:e>
                                  </m:acc>
                                </m:e>
                                <m:sub>
                                  <m:r>
                                    <a:rPr lang="en-US" sz="2000" b="1" i="1">
                                      <a:latin typeface="Cambria Math" panose="02040503050406030204" pitchFamily="18" charset="0"/>
                                      <a:ea typeface="Cambria Math" panose="02040503050406030204" pitchFamily="18" charset="0"/>
                                      <a:cs typeface="Arial" panose="020B0604020202020204" pitchFamily="34" charset="0"/>
                                    </a:rPr>
                                    <m:t>𝟏</m:t>
                                  </m:r>
                                </m:sub>
                              </m:sSub>
                              <m:r>
                                <a:rPr lang="en-US" sz="2000" b="1"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ea typeface="Cambria Math" panose="02040503050406030204" pitchFamily="18" charset="0"/>
                                          <a:cs typeface="Arial" panose="020B0604020202020204" pitchFamily="34" charset="0"/>
                                        </a:rPr>
                                      </m:ctrlPr>
                                    </m:accPr>
                                    <m:e>
                                      <m:r>
                                        <a:rPr lang="en-US" sz="2000" b="1" i="1">
                                          <a:latin typeface="Cambria Math" panose="02040503050406030204" pitchFamily="18" charset="0"/>
                                          <a:ea typeface="Cambria Math" panose="02040503050406030204" pitchFamily="18" charset="0"/>
                                          <a:cs typeface="Arial" panose="020B0604020202020204" pitchFamily="34" charset="0"/>
                                        </a:rPr>
                                        <m:t>𝒙</m:t>
                                      </m:r>
                                    </m:e>
                                  </m:acc>
                                </m:e>
                                <m:sub>
                                  <m:r>
                                    <a:rPr lang="en-US" sz="2000" b="1" i="1">
                                      <a:latin typeface="Cambria Math" panose="02040503050406030204" pitchFamily="18" charset="0"/>
                                      <a:ea typeface="Cambria Math" panose="02040503050406030204" pitchFamily="18" charset="0"/>
                                      <a:cs typeface="Arial" panose="020B0604020202020204" pitchFamily="34" charset="0"/>
                                    </a:rPr>
                                    <m:t>𝟐</m:t>
                                  </m:r>
                                </m:sub>
                              </m:sSub>
                            </m:sub>
                          </m:sSub>
                        </m:den>
                      </m:f>
                    </m:oMath>
                  </m:oMathPara>
                </a14:m>
                <a:endParaRPr lang="en-US" sz="2000" b="1" dirty="0">
                  <a:cs typeface="Arial" panose="020B0604020202020204" pitchFamily="34" charset="0"/>
                </a:endParaRPr>
              </a:p>
              <a:p>
                <a:pPr>
                  <a:spcBef>
                    <a:spcPts val="600"/>
                  </a:spcBef>
                  <a:spcAft>
                    <a:spcPts val="0"/>
                  </a:spcAft>
                </a:pPr>
                <a:r>
                  <a:rPr lang="en-US" sz="2000" dirty="0">
                    <a:cs typeface="Arial" panose="020B0604020202020204" pitchFamily="34" charset="0"/>
                  </a:rPr>
                  <a:t>Where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m:rPr>
                          <m:nor/>
                        </m:rPr>
                        <a:rPr lang="en-US" sz="2000" b="0" i="0" smtClean="0">
                          <a:latin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point</m:t>
                      </m:r>
                      <m:r>
                        <m:rPr>
                          <m:nor/>
                        </m:rPr>
                        <a:rPr lang="en-US" sz="2000" dirty="0">
                          <a:cs typeface="Arial" panose="020B0604020202020204" pitchFamily="34" charset="0"/>
                        </a:rPr>
                        <m:t> </m:t>
                      </m:r>
                      <m:r>
                        <m:rPr>
                          <m:nor/>
                        </m:rPr>
                        <a:rPr lang="en-US" sz="2000" dirty="0">
                          <a:cs typeface="Arial" panose="020B0604020202020204" pitchFamily="34" charset="0"/>
                        </a:rPr>
                        <m:t>estimator</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dirty="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and</m:t>
                      </m:r>
                      <m:r>
                        <a:rPr lang="en-US" sz="2000" b="0" i="1" smtClean="0">
                          <a:latin typeface="Cambria Math" panose="02040503050406030204" pitchFamily="18" charset="0"/>
                          <a:cs typeface="Arial" panose="020B0604020202020204" pitchFamily="34" charset="0"/>
                        </a:rPr>
                        <m:t>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0</m:t>
                          </m:r>
                        </m:sub>
                      </m:sSub>
                      <m:r>
                        <m:rPr>
                          <m:nor/>
                        </m:rPr>
                        <a:rPr lang="en-US" sz="2000" dirty="0"/>
                        <m:t> </m:t>
                      </m:r>
                      <m:r>
                        <m:rPr>
                          <m:nor/>
                        </m:rPr>
                        <a:rPr lang="en-US" sz="2000" dirty="0"/>
                        <m:t>the</m:t>
                      </m:r>
                      <m:r>
                        <m:rPr>
                          <m:nor/>
                        </m:rPr>
                        <a:rPr lang="en-US" sz="2000" dirty="0"/>
                        <m:t> </m:t>
                      </m:r>
                      <m:r>
                        <m:rPr>
                          <m:nor/>
                        </m:rPr>
                        <a:rPr lang="en-US" sz="2000" dirty="0"/>
                        <m:t>hypothesized</m:t>
                      </m:r>
                      <m:r>
                        <m:rPr>
                          <m:nor/>
                        </m:rPr>
                        <a:rPr lang="en-US" sz="2000" dirty="0"/>
                        <m:t> </m:t>
                      </m:r>
                      <m:r>
                        <m:rPr>
                          <m:nor/>
                        </m:rPr>
                        <a:rPr lang="en-US" sz="2000" dirty="0"/>
                        <m:t>difference</m:t>
                      </m:r>
                      <m:r>
                        <m:rPr>
                          <m:nor/>
                        </m:rPr>
                        <a:rPr lang="en-US" sz="2000" dirty="0"/>
                        <m:t> </m:t>
                      </m:r>
                      <m:r>
                        <m:rPr>
                          <m:nor/>
                        </m:rPr>
                        <a:rPr lang="en-US" sz="2000" dirty="0"/>
                        <m:t>between</m:t>
                      </m:r>
                      <m:r>
                        <m:rPr>
                          <m:nor/>
                        </m:rPr>
                        <a:rPr lang="en-US" sz="2000" dirty="0"/>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1</m:t>
                          </m:r>
                        </m:sub>
                      </m:sSub>
                      <m:r>
                        <m:rPr>
                          <m:nor/>
                        </m:rPr>
                        <a:rPr lang="en-US" sz="2000" dirty="0"/>
                        <m:t> </m:t>
                      </m:r>
                      <m:r>
                        <m:rPr>
                          <m:nor/>
                        </m:rPr>
                        <a:rPr lang="en-US" sz="2000" dirty="0"/>
                        <m:t>and</m:t>
                      </m:r>
                      <m:r>
                        <m:rPr>
                          <m:nor/>
                        </m:rPr>
                        <a:rPr lang="en-US" sz="2000" dirty="0"/>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 </m:t>
                      </m:r>
                    </m:oMath>
                  </m:oMathPara>
                </a14:m>
                <a:endParaRPr lang="en-US" sz="2000" dirty="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𝑠</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b="0" i="0" dirty="0" smtClean="0">
                          <a:cs typeface="Arial" panose="020B0604020202020204" pitchFamily="34" charset="0"/>
                        </a:rPr>
                        <m:t>standard</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error</m:t>
                      </m:r>
                      <m:r>
                        <m:rPr>
                          <m:nor/>
                        </m:rPr>
                        <a:rPr lang="en-US" sz="2000" b="0" i="0" dirty="0" smtClean="0">
                          <a:cs typeface="Arial" panose="020B0604020202020204" pitchFamily="34" charset="0"/>
                        </a:rPr>
                        <m:t> </m:t>
                      </m:r>
                      <m:r>
                        <m:rPr>
                          <m:nor/>
                        </m:rPr>
                        <a:rPr lang="en-US" sz="2000" dirty="0">
                          <a:cs typeface="Arial" panose="020B0604020202020204" pitchFamily="34" charset="0"/>
                        </a:rPr>
                        <m:t>of</m:t>
                      </m:r>
                      <m:r>
                        <a:rPr lang="en-US" sz="2000" b="0" i="1" dirty="0"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𝑑𝑓</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den>
                                      </m:f>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e>
                              </m:d>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r>
                                    <a:rPr lang="en-US" sz="2000" i="1">
                                      <a:latin typeface="Cambria Math" panose="02040503050406030204" pitchFamily="18" charset="0"/>
                                      <a:ea typeface="Cambria Math" panose="02040503050406030204" pitchFamily="18" charset="0"/>
                                      <a:cs typeface="Arial" panose="020B0604020202020204" pitchFamily="34" charset="0"/>
                                    </a:rPr>
                                    <m:t>−1</m:t>
                                  </m:r>
                                </m:e>
                              </m:d>
                            </m:den>
                          </m:f>
                        </m:den>
                      </m:f>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rounded</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down</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to</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an</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integer</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m:t>
                      </m:r>
                    </m:oMath>
                  </m:oMathPara>
                </a14:m>
                <a:endParaRPr lang="en-US" sz="2000" dirty="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576552"/>
                <a:ext cx="10711543" cy="4430111"/>
              </a:xfrm>
              <a:blipFill>
                <a:blip r:embed="rId5"/>
                <a:stretch>
                  <a:fillRect l="-1422" t="-1653"/>
                </a:stretch>
              </a:blipFill>
            </p:spPr>
            <p:txBody>
              <a:bodyPr/>
              <a:lstStyle/>
              <a:p>
                <a:r>
                  <a:rPr lang="en-US">
                    <a:noFill/>
                  </a:rPr>
                  <a:t> </a:t>
                </a:r>
              </a:p>
            </p:txBody>
          </p:sp>
        </mc:Fallback>
      </mc:AlternateContent>
    </p:spTree>
    <p:extLst>
      <p:ext uri="{BB962C8B-B14F-4D97-AF65-F5344CB8AC3E}">
        <p14:creationId xmlns:p14="http://schemas.microsoft.com/office/powerpoint/2010/main" val="3081182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89555" y="365125"/>
            <a:ext cx="10809514" cy="672105"/>
          </a:xfrm>
        </p:spPr>
        <p:txBody>
          <a:bodyPr/>
          <a:lstStyle/>
          <a:p>
            <a:r>
              <a:rPr lang="en-US" dirty="0"/>
              <a:t>10.2 A New Software Project Completion Time Study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89555" y="1363718"/>
                <a:ext cx="10711543" cy="4453759"/>
              </a:xfrm>
            </p:spPr>
            <p:txBody>
              <a:bodyPr/>
              <a:lstStyle/>
              <a:p>
                <a:pPr>
                  <a:spcBef>
                    <a:spcPts val="600"/>
                  </a:spcBef>
                </a:pPr>
                <a:r>
                  <a:rPr lang="en-US" sz="2000" dirty="0" err="1">
                    <a:cs typeface="Arial" panose="020B0604020202020204" pitchFamily="34" charset="0"/>
                  </a:rPr>
                  <a:t>DATAfile</a:t>
                </a:r>
                <a:r>
                  <a:rPr lang="en-US" sz="2000" dirty="0">
                    <a:cs typeface="Arial" panose="020B0604020202020204" pitchFamily="34" charset="0"/>
                  </a:rPr>
                  <a:t>: </a:t>
                </a:r>
                <a:r>
                  <a:rPr lang="en-US" sz="2000" i="1" dirty="0" err="1">
                    <a:cs typeface="Arial" panose="020B0604020202020204" pitchFamily="34" charset="0"/>
                  </a:rPr>
                  <a:t>softwaretest</a:t>
                </a:r>
                <a:endParaRPr lang="en-US" sz="2000" dirty="0">
                  <a:solidFill>
                    <a:srgbClr val="000000"/>
                  </a:solidFill>
                  <a:cs typeface="Arial" panose="020B0604020202020204" pitchFamily="34" charset="0"/>
                </a:endParaRPr>
              </a:p>
              <a:p>
                <a:pPr>
                  <a:lnSpc>
                    <a:spcPct val="100000"/>
                  </a:lnSpc>
                  <a:spcBef>
                    <a:spcPts val="600"/>
                  </a:spcBef>
                </a:pPr>
                <a:r>
                  <a:rPr lang="en-US" sz="2000" dirty="0">
                    <a:solidFill>
                      <a:srgbClr val="000000"/>
                    </a:solidFill>
                    <a:cs typeface="Arial" panose="020B0604020202020204" pitchFamily="34" charset="0"/>
                  </a:rPr>
                  <a:t>A new software package was developed to help system analysts reduce the completion time of a project consisting of the design, development, and implementation of an information system.</a:t>
                </a:r>
              </a:p>
              <a:p>
                <a:pPr>
                  <a:spcBef>
                    <a:spcPts val="600"/>
                  </a:spcBef>
                  <a:spcAft>
                    <a:spcPts val="0"/>
                  </a:spcAft>
                </a:pPr>
                <a:r>
                  <a:rPr lang="en-US" sz="2000" dirty="0"/>
                  <a:t>To assess the new software, information on the project completion time using the current technology (index 1) and the new software (index 2) was recorded for two independent random samples of 12 system analysts each. </a:t>
                </a:r>
              </a:p>
              <a:p>
                <a:pPr>
                  <a:spcBef>
                    <a:spcPts val="600"/>
                  </a:spcBef>
                  <a:spcAft>
                    <a:spcPts val="600"/>
                  </a:spcAft>
                </a:pPr>
                <a:r>
                  <a:rPr lang="en-US" sz="2000" dirty="0"/>
                  <a:t>Samples statistics were calculated as follows.</a:t>
                </a:r>
              </a:p>
              <a:p>
                <a:pPr marL="914400">
                  <a:spcBef>
                    <a:spcPts val="0"/>
                  </a:spcBef>
                  <a:spcAft>
                    <a:spcPts val="0"/>
                  </a:spcAft>
                  <a:tabLst>
                    <a:tab pos="4460875" algn="l"/>
                    <a:tab pos="7259638" algn="l"/>
                  </a:tabLst>
                </a:pPr>
                <a:r>
                  <a:rPr lang="en-US" sz="2000" dirty="0"/>
                  <a:t>	</a:t>
                </a:r>
                <a:r>
                  <a:rPr lang="en-US" sz="2000" b="1" dirty="0"/>
                  <a:t>Current Technology	New Software</a:t>
                </a:r>
              </a:p>
              <a:p>
                <a:pPr marL="914400">
                  <a:spcBef>
                    <a:spcPts val="0"/>
                  </a:spcBef>
                  <a:spcAft>
                    <a:spcPts val="0"/>
                  </a:spcAft>
                  <a:tabLst>
                    <a:tab pos="4800600" algn="l"/>
                    <a:tab pos="7259638" algn="l"/>
                  </a:tabLst>
                </a:pPr>
                <a:r>
                  <a:rPr lang="en-US" sz="2000" dirty="0"/>
                  <a:t>Sample size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=12</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12</m:t>
                    </m:r>
                  </m:oMath>
                </a14:m>
                <a:endParaRPr lang="en-US" sz="2000" dirty="0"/>
              </a:p>
              <a:p>
                <a:pPr marL="914400">
                  <a:spcBef>
                    <a:spcPts val="0"/>
                  </a:spcBef>
                  <a:spcAft>
                    <a:spcPts val="0"/>
                  </a:spcAft>
                  <a:tabLst>
                    <a:tab pos="4800600" algn="l"/>
                    <a:tab pos="7259638" algn="l"/>
                  </a:tabLst>
                </a:pPr>
                <a:r>
                  <a:rPr lang="en-US" sz="2000" dirty="0"/>
                  <a:t>Sample mean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=325 </m:t>
                    </m:r>
                    <m:r>
                      <m:rPr>
                        <m:nor/>
                      </m:rPr>
                      <a:rPr lang="en-US" sz="2000" b="0" i="0" smtClean="0">
                        <a:latin typeface="Arial" panose="020B0604020202020204" pitchFamily="34" charset="0"/>
                        <a:cs typeface="Arial" panose="020B0604020202020204" pitchFamily="34" charset="0"/>
                      </a:rPr>
                      <m:t>hours</m:t>
                    </m:r>
                    <m:r>
                      <a:rPr lang="en-US" sz="2000" b="0" i="1" smtClean="0">
                        <a:latin typeface="Cambria Math" panose="02040503050406030204" pitchFamily="18" charset="0"/>
                        <a:cs typeface="Arial" panose="020B0604020202020204" pitchFamily="34" charset="0"/>
                      </a:rPr>
                      <m:t> </m:t>
                    </m:r>
                  </m:oMath>
                </a14:m>
                <a:r>
                  <a:rPr lang="en-US" sz="2000" dirty="0"/>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286</m:t>
                    </m:r>
                    <m:r>
                      <a:rPr lang="en-US" sz="2000" i="1">
                        <a:latin typeface="Cambria Math" panose="02040503050406030204" pitchFamily="18" charset="0"/>
                        <a:cs typeface="Arial" panose="020B0604020202020204" pitchFamily="34" charset="0"/>
                      </a:rPr>
                      <m:t> </m:t>
                    </m:r>
                    <m:r>
                      <m:rPr>
                        <m:nor/>
                      </m:rPr>
                      <a:rPr lang="en-US" sz="2000">
                        <a:latin typeface="Arial" panose="020B0604020202020204" pitchFamily="34" charset="0"/>
                        <a:cs typeface="Arial" panose="020B0604020202020204" pitchFamily="34" charset="0"/>
                      </a:rPr>
                      <m:t>hours</m:t>
                    </m:r>
                  </m:oMath>
                </a14:m>
                <a:endParaRPr lang="en-US" sz="2000" dirty="0">
                  <a:latin typeface="Arial" panose="020B0604020202020204" pitchFamily="34" charset="0"/>
                  <a:cs typeface="Arial" panose="020B0604020202020204" pitchFamily="34" charset="0"/>
                </a:endParaRPr>
              </a:p>
              <a:p>
                <a:pPr marL="914400">
                  <a:spcBef>
                    <a:spcPts val="0"/>
                  </a:spcBef>
                  <a:spcAft>
                    <a:spcPts val="600"/>
                  </a:spcAft>
                  <a:tabLst>
                    <a:tab pos="4800600" algn="l"/>
                    <a:tab pos="7259638" algn="l"/>
                  </a:tabLst>
                </a:pPr>
                <a:r>
                  <a:rPr lang="en-US" sz="2000" dirty="0"/>
                  <a:t>Sample standard deviation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=40</m:t>
                    </m:r>
                    <m:r>
                      <a:rPr lang="en-US" sz="2000" i="1">
                        <a:latin typeface="Cambria Math" panose="02040503050406030204" pitchFamily="18" charset="0"/>
                        <a:cs typeface="Arial" panose="020B0604020202020204" pitchFamily="34" charset="0"/>
                      </a:rPr>
                      <m:t> </m:t>
                    </m:r>
                    <m:r>
                      <m:rPr>
                        <m:nor/>
                      </m:rPr>
                      <a:rPr lang="en-US" sz="2000">
                        <a:latin typeface="Arial" panose="020B0604020202020204" pitchFamily="34" charset="0"/>
                        <a:cs typeface="Arial" panose="020B0604020202020204" pitchFamily="34" charset="0"/>
                      </a:rPr>
                      <m:t>hours</m:t>
                    </m:r>
                  </m:oMath>
                </a14:m>
                <a:r>
                  <a:rPr lang="en-US" sz="2000" dirty="0"/>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44</m:t>
                    </m:r>
                    <m:r>
                      <a:rPr lang="en-US" sz="2000" i="1">
                        <a:latin typeface="Cambria Math" panose="02040503050406030204" pitchFamily="18" charset="0"/>
                        <a:cs typeface="Arial" panose="020B0604020202020204" pitchFamily="34" charset="0"/>
                      </a:rPr>
                      <m:t> </m:t>
                    </m:r>
                    <m:r>
                      <m:rPr>
                        <m:nor/>
                      </m:rPr>
                      <a:rPr lang="en-US" sz="2000">
                        <a:latin typeface="Arial" panose="020B0604020202020204" pitchFamily="34" charset="0"/>
                        <a:cs typeface="Arial" panose="020B0604020202020204" pitchFamily="34" charset="0"/>
                      </a:rPr>
                      <m:t>hours</m:t>
                    </m:r>
                  </m:oMath>
                </a14:m>
                <a:endParaRPr lang="en-US" sz="2000" dirty="0">
                  <a:latin typeface="Arial" panose="020B0604020202020204" pitchFamily="34" charset="0"/>
                  <a:cs typeface="Arial" panose="020B0604020202020204" pitchFamily="34" charset="0"/>
                </a:endParaRPr>
              </a:p>
              <a:p>
                <a:pPr>
                  <a:spcBef>
                    <a:spcPts val="0"/>
                  </a:spcBef>
                  <a:spcAft>
                    <a:spcPts val="0"/>
                  </a:spcAft>
                  <a:tabLst>
                    <a:tab pos="4800600" algn="l"/>
                    <a:tab pos="7259638" algn="l"/>
                  </a:tabLst>
                </a:pPr>
                <a:r>
                  <a:rPr lang="en-US" sz="2000" dirty="0">
                    <a:latin typeface="Arial" panose="020B0604020202020204" pitchFamily="34" charset="0"/>
                    <a:cs typeface="Arial" panose="020B0604020202020204" pitchFamily="34" charset="0"/>
                  </a:rPr>
                  <a:t>Conduct a hypothesis test to assess whether the new software decreases mean project completion time at a significance level,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=0.05</m:t>
                    </m:r>
                  </m:oMath>
                </a14:m>
                <a:r>
                  <a:rPr lang="en-US" sz="2000" dirty="0">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89555" y="1363718"/>
                <a:ext cx="10711543" cy="4453759"/>
              </a:xfrm>
              <a:blipFill>
                <a:blip r:embed="rId3"/>
                <a:stretch>
                  <a:fillRect l="-1423" t="-1644" r="-1537" b="-1096"/>
                </a:stretch>
              </a:blipFill>
            </p:spPr>
            <p:txBody>
              <a:bodyPr/>
              <a:lstStyle/>
              <a:p>
                <a:r>
                  <a:rPr lang="en-US">
                    <a:noFill/>
                  </a:rPr>
                  <a:t> </a:t>
                </a:r>
              </a:p>
            </p:txBody>
          </p:sp>
        </mc:Fallback>
      </mc:AlternateContent>
    </p:spTree>
    <p:extLst>
      <p:ext uri="{BB962C8B-B14F-4D97-AF65-F5344CB8AC3E}">
        <p14:creationId xmlns:p14="http://schemas.microsoft.com/office/powerpoint/2010/main" val="190174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10.2 An Upper Tail Test About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𝟏</m:t>
                        </m:r>
                      </m:sub>
                    </m:sSub>
                    <m:r>
                      <a:rPr lang="en-US" sz="320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𝟐</m:t>
                        </m:r>
                      </m:sub>
                    </m:sSub>
                  </m:oMath>
                </a14:m>
                <a:r>
                  <a:rPr lang="en-US" sz="3200" dirty="0"/>
                  <a:t>:</a:t>
                </a:r>
                <a:br>
                  <a:rPr lang="en-US" sz="3200" dirty="0"/>
                </a:br>
                <a14:m>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rPr>
                          <m:t>𝟏</m:t>
                        </m:r>
                      </m:sub>
                    </m:sSub>
                  </m:oMath>
                </a14:m>
                <a:r>
                  <a:rPr lang="en-US" sz="3200" b="0" dirty="0"/>
                  <a:t> </a:t>
                </a:r>
                <a:r>
                  <a:rPr lang="en-US" sz="3200" dirty="0"/>
                  <a:t>and </a:t>
                </a:r>
                <a14:m>
                  <m:oMath xmlns:m="http://schemas.openxmlformats.org/officeDocument/2006/math">
                    <m:sSub>
                      <m:sSubPr>
                        <m:ctrlPr>
                          <a:rPr lang="en-US" sz="3200" i="1">
                            <a:latin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ea typeface="Cambria Math" panose="02040503050406030204" pitchFamily="18" charset="0"/>
                          </a:rPr>
                          <m:t>𝟐</m:t>
                        </m:r>
                      </m:sub>
                    </m:sSub>
                  </m:oMath>
                </a14:m>
                <a:r>
                  <a:rPr lang="en-US" sz="3200" dirty="0"/>
                  <a:t> Unknown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blipFill>
                <a:blip r:embed="rId4"/>
                <a:stretch>
                  <a:fillRect t="-263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08084"/>
                <a:ext cx="10711543" cy="4367047"/>
              </a:xfrm>
            </p:spPr>
            <p:txBody>
              <a:bodyPr/>
              <a:lstStyle/>
              <a:p>
                <a:pPr>
                  <a:spcBef>
                    <a:spcPts val="600"/>
                  </a:spcBef>
                  <a:spcAft>
                    <a:spcPts val="600"/>
                  </a:spcAft>
                </a:pPr>
                <a:r>
                  <a:rPr lang="en-US" sz="2000" dirty="0">
                    <a:cs typeface="Arial" panose="020B0604020202020204" pitchFamily="34" charset="0"/>
                  </a:rPr>
                  <a:t>Because we are testing for a decrease in mean project completion time for the new software (index 2) with respect to the current technology (index 1), we write </a:t>
                </a:r>
                <a14:m>
                  <m:oMath xmlns:m="http://schemas.openxmlformats.org/officeDocument/2006/math">
                    <m:sSub>
                      <m:sSubPr>
                        <m:ctrlPr>
                          <a:rPr lang="en-US" sz="2000" b="0" i="1" u="none" strike="noStrike" kern="1200" smtClean="0">
                            <a:solidFill>
                              <a:srgbClr val="000000"/>
                            </a:solidFill>
                            <a:effectLst/>
                            <a:latin typeface="Cambria Math" panose="02040503050406030204" pitchFamily="18" charset="0"/>
                            <a:cs typeface="Arial" panose="020B0604020202020204" pitchFamily="34" charset="0"/>
                          </a:rPr>
                        </m:ctrlPr>
                      </m:sSub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𝑎</m:t>
                            </m:r>
                          </m:sub>
                        </m:sSub>
                        <m:r>
                          <a:rPr lang="en-US" sz="2000" i="1">
                            <a:latin typeface="Cambria Math" panose="02040503050406030204" pitchFamily="18" charset="0"/>
                            <a:cs typeface="Arial" panose="020B0604020202020204" pitchFamily="34" charset="0"/>
                          </a:rPr>
                          <m:t>:</m:t>
                        </m:r>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b="0" i="1" u="none" strike="noStrike" kern="1200" smtClean="0">
                        <a:solidFill>
                          <a:srgbClr val="000000"/>
                        </a:solidFill>
                        <a:effectLst/>
                        <a:latin typeface="Cambria Math" panose="02040503050406030204" pitchFamily="18" charset="0"/>
                        <a:cs typeface="Arial" panose="020B0604020202020204" pitchFamily="34" charset="0"/>
                      </a:rPr>
                      <m:t>&gt;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a14:m>
                <a:r>
                  <a:rPr lang="en-US" sz="2000" dirty="0">
                    <a:cs typeface="Arial" panose="020B0604020202020204" pitchFamily="34" charset="0"/>
                  </a:rPr>
                  <a:t>. </a:t>
                </a:r>
              </a:p>
              <a:p>
                <a:pPr>
                  <a:spcBef>
                    <a:spcPts val="600"/>
                  </a:spcBef>
                  <a:spcAft>
                    <a:spcPts val="600"/>
                  </a:spcAft>
                </a:pPr>
                <a:r>
                  <a:rPr lang="en-US" sz="2000" dirty="0">
                    <a:cs typeface="Arial" panose="020B0604020202020204" pitchFamily="34" charset="0"/>
                  </a:rPr>
                  <a:t>We set the hypotheses for an upper tail test with the hypothesized mean difference,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0</m:t>
                        </m:r>
                      </m:sub>
                    </m:sSub>
                    <m:r>
                      <a:rPr lang="en-US" sz="2000" b="0" i="1" dirty="0" smtClean="0">
                        <a:latin typeface="Cambria Math" panose="02040503050406030204" pitchFamily="18" charset="0"/>
                      </a:rPr>
                      <m:t>=0,</m:t>
                    </m:r>
                  </m:oMath>
                </a14:m>
                <a:r>
                  <a:rPr lang="en-US" sz="2000" dirty="0">
                    <a:cs typeface="Arial" panose="020B0604020202020204" pitchFamily="34" charset="0"/>
                  </a:rPr>
                  <a:t> as</a:t>
                </a:r>
              </a:p>
              <a:p>
                <a:pPr marL="914400" algn="l" rtl="0" eaLnBrk="1" fontAlgn="ctr" latinLnBrk="0" hangingPunct="1">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0</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m:oMathPara>
                </a14:m>
                <a:endParaRPr lang="en-US" sz="2000" b="0" i="0" u="none" strike="noStrike" dirty="0">
                  <a:effectLst/>
                  <a:latin typeface="Arial" panose="020B0604020202020204" pitchFamily="34" charset="0"/>
                </a:endParaRPr>
              </a:p>
              <a:p>
                <a:pPr marL="914400" algn="l" rtl="0" eaLnBrk="1" fontAlgn="ctr" latinLnBrk="0" hangingPunct="1">
                  <a:spcBef>
                    <a:spcPts val="600"/>
                  </a:spcBef>
                  <a:spcAft>
                    <a:spcPts val="600"/>
                  </a:spcAft>
                </a:pPr>
                <a14:m>
                  <m:oMath xmlns:m="http://schemas.openxmlformats.org/officeDocument/2006/math">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𝑎</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b="0" i="1" u="none" strike="noStrike" kern="1200" smtClean="0">
                        <a:solidFill>
                          <a:srgbClr val="000000"/>
                        </a:solidFill>
                        <a:effectLst/>
                        <a:latin typeface="Cambria Math" panose="02040503050406030204" pitchFamily="18" charset="0"/>
                        <a:cs typeface="Arial" panose="020B0604020202020204" pitchFamily="34" charset="0"/>
                      </a:rPr>
                      <m:t>&gt;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a14:m>
                <a:r>
                  <a:rPr lang="en-US" sz="1800" b="0" i="0" u="none" strike="noStrike" dirty="0">
                    <a:effectLst/>
                    <a:latin typeface="Arial" panose="020B0604020202020204" pitchFamily="34" charset="0"/>
                  </a:rPr>
                  <a:t> </a:t>
                </a:r>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Calculations of the test statistic follow.</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𝑡</m:t>
                      </m:r>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cs typeface="Arial" panose="020B0604020202020204" pitchFamily="34" charset="0"/>
                                    </a:rPr>
                                    <m:t>1</m:t>
                                  </m:r>
                                </m:sub>
                              </m:sSub>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cs typeface="Arial" panose="020B0604020202020204" pitchFamily="34" charset="0"/>
                                    </a:rPr>
                                    <m:t>2</m:t>
                                  </m:r>
                                </m:sub>
                              </m:sSub>
                            </m:e>
                          </m:d>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𝐷</m:t>
                              </m:r>
                            </m:e>
                            <m:sub>
                              <m:r>
                                <a:rPr lang="en-US" sz="2000" b="0" i="1">
                                  <a:latin typeface="Cambria Math" panose="02040503050406030204" pitchFamily="18" charset="0"/>
                                  <a:ea typeface="Cambria Math" panose="02040503050406030204" pitchFamily="18" charset="0"/>
                                  <a:cs typeface="Arial" panose="020B0604020202020204" pitchFamily="34" charset="0"/>
                                </a:rPr>
                                <m:t>0</m:t>
                              </m:r>
                            </m:sub>
                          </m:sSub>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000" b="0" i="0"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s</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𝑥</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325−286</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−0</m:t>
                          </m:r>
                        </m:num>
                        <m:den>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40</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12</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44</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12</m:t>
                                  </m:r>
                                </m:den>
                              </m:f>
                            </m:e>
                          </m:rad>
                        </m:den>
                      </m:f>
                      <m:r>
                        <a:rPr lang="en-US" sz="2000" b="0" i="1" smtClean="0">
                          <a:latin typeface="Cambria Math" panose="02040503050406030204" pitchFamily="18" charset="0"/>
                          <a:ea typeface="Cambria Math" panose="02040503050406030204" pitchFamily="18" charset="0"/>
                          <a:cs typeface="Arial" panose="020B0604020202020204" pitchFamily="34" charset="0"/>
                        </a:rPr>
                        <m:t>=2.27</m:t>
                      </m:r>
                    </m:oMath>
                  </m:oMathPara>
                </a14:m>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The test statistic is described by a </a:t>
                </a:r>
                <a:r>
                  <a:rPr lang="en-US" sz="2000" i="1" dirty="0">
                    <a:cs typeface="Arial" panose="020B0604020202020204" pitchFamily="34" charset="0"/>
                  </a:rPr>
                  <a:t>t</a:t>
                </a:r>
                <a:r>
                  <a:rPr lang="en-US" sz="2000" dirty="0">
                    <a:cs typeface="Arial" panose="020B0604020202020204" pitchFamily="34" charset="0"/>
                  </a:rPr>
                  <a:t> distribution with 21 degrees of freedom.</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𝑑𝑓</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den>
                                      </m:f>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e>
                              </m:d>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up>
                                              <m:r>
                                                <a:rPr lang="en-US" sz="2000" i="1">
                                                  <a:latin typeface="Cambria Math" panose="02040503050406030204" pitchFamily="18" charset="0"/>
                                                  <a:ea typeface="Cambria Math" panose="02040503050406030204" pitchFamily="18" charset="0"/>
                                                  <a:cs typeface="Arial" panose="020B0604020202020204" pitchFamily="34" charset="0"/>
                                                </a:rPr>
                                                <m:t>2</m:t>
                                              </m:r>
                                            </m:sup>
                                          </m:sSubSup>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r>
                                    <a:rPr lang="en-US" sz="2000" i="1">
                                      <a:latin typeface="Cambria Math" panose="02040503050406030204" pitchFamily="18" charset="0"/>
                                      <a:ea typeface="Cambria Math" panose="02040503050406030204" pitchFamily="18" charset="0"/>
                                      <a:cs typeface="Arial" panose="020B0604020202020204" pitchFamily="34" charset="0"/>
                                    </a:rPr>
                                    <m:t>−1</m:t>
                                  </m:r>
                                </m:e>
                              </m:d>
                            </m:den>
                          </m:f>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40</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12</m:t>
                                      </m:r>
                                    </m:den>
                                  </m:f>
                                  <m:r>
                                    <a:rPr lang="en-US" sz="2000" i="1">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44</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12</m:t>
                                      </m:r>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40</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ea typeface="Cambria Math" panose="02040503050406030204" pitchFamily="18" charset="0"/>
                                              <a:cs typeface="Arial" panose="020B0604020202020204" pitchFamily="34" charset="0"/>
                                            </a:rPr>
                                            <m:t>12</m:t>
                                          </m:r>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11</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ea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4</m:t>
                                              </m:r>
                                              <m:r>
                                                <a:rPr lang="en-US" sz="2000" b="0" i="1" smtClean="0">
                                                  <a:latin typeface="Cambria Math" panose="02040503050406030204" pitchFamily="18" charset="0"/>
                                                  <a:ea typeface="Cambria Math" panose="02040503050406030204" pitchFamily="18" charset="0"/>
                                                  <a:cs typeface="Arial" panose="020B0604020202020204" pitchFamily="34" charset="0"/>
                                                </a:rPr>
                                                <m:t>4</m:t>
                                              </m:r>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ea typeface="Cambria Math" panose="02040503050406030204" pitchFamily="18" charset="0"/>
                                              <a:cs typeface="Arial" panose="020B0604020202020204" pitchFamily="34" charset="0"/>
                                            </a:rPr>
                                            <m:t>12</m:t>
                                          </m:r>
                                        </m:den>
                                      </m:f>
                                    </m:e>
                                  </m:d>
                                </m:e>
                                <m:sup>
                                  <m:r>
                                    <a:rPr lang="en-US" sz="2000" i="1">
                                      <a:latin typeface="Cambria Math" panose="02040503050406030204" pitchFamily="18" charset="0"/>
                                      <a:ea typeface="Cambria Math" panose="02040503050406030204" pitchFamily="18" charset="0"/>
                                      <a:cs typeface="Arial" panose="020B0604020202020204" pitchFamily="34" charset="0"/>
                                    </a:rPr>
                                    <m:t>2</m:t>
                                  </m:r>
                                </m:sup>
                              </m:sSup>
                            </m:num>
                            <m:den>
                              <m:r>
                                <a:rPr lang="en-US" sz="2000" i="1">
                                  <a:latin typeface="Cambria Math" panose="02040503050406030204" pitchFamily="18" charset="0"/>
                                  <a:ea typeface="Cambria Math" panose="02040503050406030204" pitchFamily="18" charset="0"/>
                                  <a:cs typeface="Arial" panose="020B0604020202020204" pitchFamily="34" charset="0"/>
                                </a:rPr>
                                <m:t>11</m:t>
                              </m:r>
                            </m:den>
                          </m:f>
                        </m:den>
                      </m:f>
                      <m:r>
                        <a:rPr lang="en-US" sz="2000" b="0" i="1" smtClean="0">
                          <a:latin typeface="Cambria Math" panose="02040503050406030204" pitchFamily="18" charset="0"/>
                          <a:ea typeface="Cambria Math" panose="02040503050406030204" pitchFamily="18" charset="0"/>
                          <a:cs typeface="Arial" panose="020B0604020202020204" pitchFamily="34" charset="0"/>
                        </a:rPr>
                        <m:t>=21.8</m:t>
                      </m:r>
                    </m:oMath>
                  </m:oMathPara>
                </a14:m>
                <a:endParaRPr lang="en-US" sz="2000" dirty="0"/>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608084"/>
                <a:ext cx="10711543" cy="4367047"/>
              </a:xfrm>
              <a:blipFill>
                <a:blip r:embed="rId5"/>
                <a:stretch>
                  <a:fillRect l="-1422" t="-1676"/>
                </a:stretch>
              </a:blipFill>
            </p:spPr>
            <p:txBody>
              <a:bodyPr/>
              <a:lstStyle/>
              <a:p>
                <a:r>
                  <a:rPr lang="en-US">
                    <a:noFill/>
                  </a:rPr>
                  <a:t> </a:t>
                </a:r>
              </a:p>
            </p:txBody>
          </p:sp>
        </mc:Fallback>
      </mc:AlternateContent>
    </p:spTree>
    <p:extLst>
      <p:ext uri="{BB962C8B-B14F-4D97-AF65-F5344CB8AC3E}">
        <p14:creationId xmlns:p14="http://schemas.microsoft.com/office/powerpoint/2010/main" val="115067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10.2 </a:t>
                </a:r>
                <a:r>
                  <a:rPr lang="en-US" sz="3200" i="1" dirty="0"/>
                  <a:t>p</a:t>
                </a:r>
                <a:r>
                  <a:rPr lang="en-US" sz="3200" dirty="0"/>
                  <a:t>-Value Approach to a One-Tailed Test About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𝟏</m:t>
                        </m:r>
                      </m:sub>
                    </m:sSub>
                    <m:r>
                      <a:rPr lang="en-US" sz="320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𝝁</m:t>
                        </m:r>
                      </m:e>
                      <m:sub>
                        <m:r>
                          <a:rPr lang="en-US" sz="3200" i="1">
                            <a:latin typeface="Cambria Math" panose="02040503050406030204" pitchFamily="18" charset="0"/>
                          </a:rPr>
                          <m:t>𝟐</m:t>
                        </m:r>
                      </m:sub>
                    </m:sSub>
                  </m:oMath>
                </a14:m>
                <a:r>
                  <a:rPr lang="en-US" sz="3200" dirty="0"/>
                  <a:t>: </a:t>
                </a:r>
                <a14:m>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rPr>
                          <m:t>𝟏</m:t>
                        </m:r>
                      </m:sub>
                    </m:sSub>
                  </m:oMath>
                </a14:m>
                <a:r>
                  <a:rPr lang="en-US" sz="3200" b="0" dirty="0"/>
                  <a:t> </a:t>
                </a:r>
                <a:r>
                  <a:rPr lang="en-US" sz="3200" dirty="0"/>
                  <a:t>and </a:t>
                </a:r>
                <a14:m>
                  <m:oMath xmlns:m="http://schemas.openxmlformats.org/officeDocument/2006/math">
                    <m:sSub>
                      <m:sSubPr>
                        <m:ctrlPr>
                          <a:rPr lang="en-US" sz="3200" i="1">
                            <a:latin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𝝈</m:t>
                        </m:r>
                      </m:e>
                      <m:sub>
                        <m:r>
                          <a:rPr lang="en-US" sz="3200" b="1" i="1" smtClean="0">
                            <a:latin typeface="Cambria Math" panose="02040503050406030204" pitchFamily="18" charset="0"/>
                            <a:ea typeface="Cambria Math" panose="02040503050406030204" pitchFamily="18" charset="0"/>
                          </a:rPr>
                          <m:t>𝟐</m:t>
                        </m:r>
                      </m:sub>
                    </m:sSub>
                  </m:oMath>
                </a14:m>
                <a:r>
                  <a:rPr lang="en-US" sz="3200" dirty="0"/>
                  <a:t> Unknown</a:t>
                </a:r>
              </a:p>
            </p:txBody>
          </p:sp>
        </mc:Choice>
        <mc:Fallback xmlns="">
          <p:sp>
            <p:nvSpPr>
              <p:cNvPr id="2" name="Title 1">
                <a:extLst>
                  <a:ext uri="{FF2B5EF4-FFF2-40B4-BE49-F238E27FC236}">
                    <a16:creationId xmlns:a16="http://schemas.microsoft.com/office/drawing/2014/main" id="{802D7675-663E-422F-3C10-82DDE8432F48}"/>
                  </a:ext>
                </a:extLst>
              </p:cNvPr>
              <p:cNvSpPr>
                <a:spLocks noGrp="1" noRot="1" noChangeAspect="1" noMove="1" noResize="1" noEditPoints="1" noAdjustHandles="1" noChangeArrowheads="1" noChangeShapeType="1" noTextEdit="1"/>
              </p:cNvSpPr>
              <p:nvPr>
                <p:ph type="title"/>
              </p:nvPr>
            </p:nvSpPr>
            <p:spPr>
              <a:xfrm>
                <a:off x="472968" y="365125"/>
                <a:ext cx="11201400" cy="672105"/>
              </a:xfrm>
              <a:blipFill>
                <a:blip r:embed="rId4"/>
                <a:stretch>
                  <a:fillRect l="-2123" t="-26364" r="-3048"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655375"/>
                <a:ext cx="10515599" cy="1623852"/>
              </a:xfrm>
            </p:spPr>
            <p:txBody>
              <a:bodyPr>
                <a:normAutofit/>
              </a:bodyPr>
              <a:lstStyle/>
              <a:p>
                <a:pPr>
                  <a:lnSpc>
                    <a:spcPct val="100000"/>
                  </a:lnSpc>
                  <a:spcBef>
                    <a:spcPts val="600"/>
                  </a:spcBef>
                  <a:spcAft>
                    <a:spcPts val="600"/>
                  </a:spcAft>
                </a:pPr>
                <a:r>
                  <a:rPr lang="en-US" sz="2000" dirty="0"/>
                  <a:t>The </a:t>
                </a:r>
                <a:r>
                  <a:rPr lang="en-US" sz="2000" i="1" dirty="0"/>
                  <a:t>p</a:t>
                </a:r>
                <a:r>
                  <a:rPr lang="en-US" sz="2000" dirty="0"/>
                  <a:t>-value is the upper tail of a </a:t>
                </a:r>
                <a:r>
                  <a:rPr lang="en-US" sz="2000" i="1" dirty="0"/>
                  <a:t>t</a:t>
                </a:r>
                <a:r>
                  <a:rPr lang="en-US" sz="2000" dirty="0"/>
                  <a:t> distribution with 21 degrees of freedom.</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𝑝</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value</m:t>
                      </m:r>
                      <m:r>
                        <a:rPr lang="en-US" sz="2000" i="1" dirty="0" smtClean="0">
                          <a:latin typeface="Cambria Math" panose="02040503050406030204" pitchFamily="18" charset="0"/>
                        </a:rPr>
                        <m:t>=</m:t>
                      </m:r>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smtClean="0">
                          <a:latin typeface="Cambria Math" panose="02040503050406030204" pitchFamily="18" charset="0"/>
                        </a:rPr>
                        <m:t>𝑡</m:t>
                      </m:r>
                      <m:r>
                        <a:rPr lang="en-US" sz="2000" i="1" dirty="0" smtClean="0">
                          <a:latin typeface="Cambria Math" panose="02040503050406030204" pitchFamily="18" charset="0"/>
                        </a:rPr>
                        <m:t>≥2.27)</m:t>
                      </m:r>
                    </m:oMath>
                  </m:oMathPara>
                </a14:m>
                <a:endParaRPr lang="en-US" sz="2000" dirty="0"/>
              </a:p>
              <a:p>
                <a:pPr>
                  <a:lnSpc>
                    <a:spcPct val="100000"/>
                  </a:lnSpc>
                  <a:spcBef>
                    <a:spcPts val="600"/>
                  </a:spcBef>
                </a:pPr>
                <a:r>
                  <a:rPr lang="en-US" sz="2000" dirty="0"/>
                  <a:t>Using Table 2 in Appendix B, the </a:t>
                </a:r>
                <a:r>
                  <a:rPr lang="en-US" sz="2000" i="1" dirty="0"/>
                  <a:t>t</a:t>
                </a:r>
                <a:r>
                  <a:rPr lang="en-US" sz="2000" dirty="0"/>
                  <a:t> distribution with 21 degrees of freedom provides the following information.</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655375"/>
                <a:ext cx="10515599" cy="1623852"/>
              </a:xfrm>
              <a:blipFill>
                <a:blip r:embed="rId5"/>
                <a:stretch>
                  <a:fillRect l="-1508" t="-4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2073164" y="3176402"/>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𝟐𝟏</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0.859</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1.323</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1.721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2.080</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2.518</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2.831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2218308015"/>
                  </p:ext>
                </p:extLst>
              </p:nvPr>
            </p:nvGraphicFramePr>
            <p:xfrm>
              <a:off x="2073164" y="3176402"/>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6"/>
                          <a:stretch>
                            <a:fillRect t="-100000" r="-217507" b="-16393"/>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0.859</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1.323</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1.721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2.080</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2.518</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2.831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4035972"/>
                <a:ext cx="10484504" cy="1883982"/>
              </a:xfrm>
            </p:spPr>
            <p:txBody>
              <a:bodyPr>
                <a:noAutofit/>
              </a:bodyPr>
              <a:lstStyle/>
              <a:p>
                <a:pPr>
                  <a:lnSpc>
                    <a:spcPct val="110000"/>
                  </a:lnSpc>
                  <a:spcBef>
                    <a:spcPts val="600"/>
                  </a:spcBef>
                </a:pPr>
                <a:r>
                  <a:rPr lang="en-US" sz="2000" dirty="0">
                    <a:cs typeface="Arial" panose="020B0604020202020204" pitchFamily="34" charset="0"/>
                  </a:rPr>
                  <a:t>B</a:t>
                </a:r>
                <a:r>
                  <a:rPr lang="en-US" sz="2000" dirty="0">
                    <a:solidFill>
                      <a:srgbClr val="000000"/>
                    </a:solidFill>
                    <a:cs typeface="Arial" panose="020B0604020202020204" pitchFamily="34" charset="0"/>
                  </a:rPr>
                  <a:t>ecause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𝑡</m:t>
                    </m:r>
                    <m:r>
                      <a:rPr lang="en-US" sz="2000" i="1" dirty="0" smtClean="0">
                        <a:solidFill>
                          <a:srgbClr val="000000"/>
                        </a:solidFill>
                        <a:latin typeface="Cambria Math" panose="02040503050406030204" pitchFamily="18" charset="0"/>
                        <a:cs typeface="Arial" panose="020B0604020202020204" pitchFamily="34" charset="0"/>
                      </a:rPr>
                      <m:t>=2.27</m:t>
                    </m:r>
                  </m:oMath>
                </a14:m>
                <a:r>
                  <a:rPr lang="en-US" sz="2000" dirty="0">
                    <a:solidFill>
                      <a:srgbClr val="000000"/>
                    </a:solidFill>
                    <a:cs typeface="Arial" panose="020B0604020202020204" pitchFamily="34" charset="0"/>
                  </a:rPr>
                  <a:t> is between </a:t>
                </a:r>
                <a:r>
                  <a:rPr lang="en-US" sz="2000" dirty="0">
                    <a:cs typeface="Arial" panose="020B0604020202020204" pitchFamily="34" charset="0"/>
                  </a:rPr>
                  <a:t>2.080</a:t>
                </a:r>
                <a:r>
                  <a:rPr lang="en-US" sz="2000" dirty="0">
                    <a:solidFill>
                      <a:srgbClr val="000000"/>
                    </a:solidFill>
                    <a:cs typeface="Arial" panose="020B0604020202020204" pitchFamily="34" charset="0"/>
                  </a:rPr>
                  <a:t> and 2.518, the values in the “Area in Upper Tail” row show that the </a:t>
                </a:r>
                <a:r>
                  <a:rPr lang="en-US" sz="2000" i="1" dirty="0">
                    <a:solidFill>
                      <a:srgbClr val="000000"/>
                    </a:solidFill>
                    <a:cs typeface="Arial" panose="020B0604020202020204" pitchFamily="34" charset="0"/>
                  </a:rPr>
                  <a:t>p</a:t>
                </a:r>
                <a:r>
                  <a:rPr lang="en-US" sz="2000" dirty="0">
                    <a:solidFill>
                      <a:srgbClr val="000000"/>
                    </a:solidFill>
                    <a:cs typeface="Arial" panose="020B0604020202020204" pitchFamily="34" charset="0"/>
                  </a:rPr>
                  <a:t>-value range must be: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0.0</m:t>
                    </m:r>
                    <m:r>
                      <a:rPr lang="en-US" sz="2000" b="0" i="1" dirty="0" smtClean="0">
                        <a:solidFill>
                          <a:srgbClr val="000000"/>
                        </a:solidFill>
                        <a:latin typeface="Cambria Math" panose="02040503050406030204" pitchFamily="18" charset="0"/>
                        <a:cs typeface="Arial" panose="020B0604020202020204" pitchFamily="34" charset="0"/>
                      </a:rPr>
                      <m:t>1</m:t>
                    </m:r>
                    <m:r>
                      <a:rPr lang="en-US" sz="2000" i="1" dirty="0" smtClean="0">
                        <a:solidFill>
                          <a:srgbClr val="000000"/>
                        </a:solidFill>
                        <a:latin typeface="Cambria Math" panose="02040503050406030204" pitchFamily="18" charset="0"/>
                        <a:cs typeface="Arial" panose="020B0604020202020204" pitchFamily="34" charset="0"/>
                      </a:rPr>
                      <m:t>≤</m:t>
                    </m:r>
                    <m:r>
                      <a:rPr lang="en-US" sz="2000" i="1" dirty="0" smtClean="0">
                        <a:solidFill>
                          <a:srgbClr val="000000"/>
                        </a:solidFill>
                        <a:latin typeface="Cambria Math" panose="02040503050406030204" pitchFamily="18" charset="0"/>
                        <a:cs typeface="Arial" panose="020B0604020202020204" pitchFamily="34" charset="0"/>
                      </a:rPr>
                      <m:t>𝑝</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0.0</m:t>
                    </m:r>
                    <m:r>
                      <a:rPr lang="en-US" sz="2000" b="0" i="1" dirty="0" smtClean="0">
                        <a:solidFill>
                          <a:srgbClr val="000000"/>
                        </a:solidFill>
                        <a:latin typeface="Cambria Math" panose="02040503050406030204" pitchFamily="18" charset="0"/>
                        <a:cs typeface="Arial" panose="020B0604020202020204" pitchFamily="34" charset="0"/>
                      </a:rPr>
                      <m:t>2</m:t>
                    </m:r>
                    <m:r>
                      <a:rPr lang="en-US" sz="2000" i="1" dirty="0" smtClean="0">
                        <a:solidFill>
                          <a:srgbClr val="000000"/>
                        </a:solidFill>
                        <a:latin typeface="Cambria Math" panose="02040503050406030204" pitchFamily="18" charset="0"/>
                        <a:cs typeface="Arial" panose="020B0604020202020204" pitchFamily="34" charset="0"/>
                      </a:rPr>
                      <m:t>5</m:t>
                    </m:r>
                  </m:oMath>
                </a14:m>
                <a:r>
                  <a:rPr lang="en-US" sz="2000" dirty="0">
                    <a:solidFill>
                      <a:srgbClr val="000000"/>
                    </a:solidFill>
                    <a:cs typeface="Arial" panose="020B0604020202020204" pitchFamily="34" charset="0"/>
                  </a:rPr>
                  <a:t>.</a:t>
                </a:r>
              </a:p>
              <a:p>
                <a:pPr>
                  <a:lnSpc>
                    <a:spcPct val="110000"/>
                  </a:lnSpc>
                  <a:spcBef>
                    <a:spcPts val="600"/>
                  </a:spcBef>
                </a:pPr>
                <a:r>
                  <a:rPr lang="en-US" sz="2000" dirty="0">
                    <a:cs typeface="Arial" panose="020B0604020202020204" pitchFamily="34" charset="0"/>
                  </a:rPr>
                  <a:t>We can also use Excel to compute the exact </a:t>
                </a:r>
                <a:r>
                  <a:rPr lang="en-US" sz="2000" i="1" dirty="0">
                    <a:cs typeface="Arial" panose="020B0604020202020204" pitchFamily="34" charset="0"/>
                  </a:rPr>
                  <a:t>p</a:t>
                </a:r>
                <a:r>
                  <a:rPr lang="en-US" sz="2000" dirty="0">
                    <a:cs typeface="Arial" panose="020B0604020202020204" pitchFamily="34" charset="0"/>
                  </a:rPr>
                  <a:t>-value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DIST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(2.27,21)</m:t>
                    </m:r>
                    <m:r>
                      <a:rPr lang="en-US" sz="2000" i="1" dirty="0" smtClean="0">
                        <a:latin typeface="Cambria Math" panose="02040503050406030204" pitchFamily="18" charset="0"/>
                        <a:cs typeface="Arial" panose="020B0604020202020204" pitchFamily="34" charset="0"/>
                      </a:rPr>
                      <m:t>=0.</m:t>
                    </m:r>
                    <m:r>
                      <a:rPr lang="en-US" sz="2000" b="0" i="1" dirty="0" smtClean="0">
                        <a:latin typeface="Cambria Math" panose="02040503050406030204" pitchFamily="18" charset="0"/>
                        <a:cs typeface="Arial" panose="020B0604020202020204" pitchFamily="34" charset="0"/>
                      </a:rPr>
                      <m:t>0169</m:t>
                    </m:r>
                  </m:oMath>
                </a14:m>
                <a:endParaRPr lang="en-US" sz="2000" dirty="0">
                  <a:cs typeface="Arial" panose="020B0604020202020204" pitchFamily="34" charset="0"/>
                </a:endParaRPr>
              </a:p>
              <a:p>
                <a:pPr>
                  <a:lnSpc>
                    <a:spcPct val="110000"/>
                  </a:lnSpc>
                  <a:spcBef>
                    <a:spcPts val="600"/>
                  </a:spcBef>
                </a:pPr>
                <a:r>
                  <a:rPr lang="en-US" sz="2000" dirty="0">
                    <a:cs typeface="Arial" panose="020B0604020202020204" pitchFamily="34" charset="0"/>
                  </a:rPr>
                  <a:t>Because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r>
                      <m:rPr>
                        <m:nor/>
                      </m:rPr>
                      <a:rPr lang="en-US" sz="2000" i="0" dirty="0" smtClean="0">
                        <a:latin typeface="Arial" panose="020B0604020202020204" pitchFamily="34" charset="0"/>
                        <a:cs typeface="Arial" panose="020B0604020202020204" pitchFamily="34" charset="0"/>
                      </a:rPr>
                      <m:t>−</m:t>
                    </m:r>
                    <m:r>
                      <m:rPr>
                        <m:nor/>
                      </m:rPr>
                      <a:rPr lang="en-US" sz="2000" i="0" dirty="0" smtClean="0">
                        <a:latin typeface="Arial" panose="020B0604020202020204" pitchFamily="34" charset="0"/>
                        <a:cs typeface="Arial" panose="020B0604020202020204" pitchFamily="34" charset="0"/>
                      </a:rPr>
                      <m:t>value</m:t>
                    </m:r>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cs typeface="Arial" panose="020B0604020202020204" pitchFamily="34" charset="0"/>
                  </a:rPr>
                  <a:t>, we can reject the null hypothesis and conclude that the new software decreases mean project completion time.</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4035972"/>
                <a:ext cx="10484504" cy="1883982"/>
              </a:xfrm>
              <a:blipFill>
                <a:blip r:embed="rId7"/>
                <a:stretch>
                  <a:fillRect l="-1513" t="-3883" r="-582" b="-4207"/>
                </a:stretch>
              </a:blipFill>
            </p:spPr>
            <p:txBody>
              <a:bodyPr/>
              <a:lstStyle/>
              <a:p>
                <a:r>
                  <a:rPr lang="en-US">
                    <a:noFill/>
                  </a:rPr>
                  <a:t> </a:t>
                </a:r>
              </a:p>
            </p:txBody>
          </p:sp>
        </mc:Fallback>
      </mc:AlternateContent>
    </p:spTree>
    <p:extLst>
      <p:ext uri="{BB962C8B-B14F-4D97-AF65-F5344CB8AC3E}">
        <p14:creationId xmlns:p14="http://schemas.microsoft.com/office/powerpoint/2010/main" val="611856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sz="3200" dirty="0">
                <a:solidFill>
                  <a:srgbClr val="25894E"/>
                </a:solidFill>
              </a:rPr>
              <a:t>10.2 Excel: Dialog Box for </a:t>
            </a:r>
            <a:r>
              <a:rPr lang="en-US" sz="3200" i="1" dirty="0">
                <a:solidFill>
                  <a:srgbClr val="25894E"/>
                </a:solidFill>
              </a:rPr>
              <a:t>t</a:t>
            </a:r>
            <a:r>
              <a:rPr lang="en-US" sz="3200" dirty="0">
                <a:solidFill>
                  <a:srgbClr val="25894E"/>
                </a:solidFill>
              </a:rPr>
              <a:t>-Test: Two-Sample Assuming Unequal Variances Tool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7" y="1517654"/>
            <a:ext cx="10704846" cy="717635"/>
          </a:xfrm>
        </p:spPr>
        <p:txBody>
          <a:bodyPr/>
          <a:lstStyle/>
          <a:p>
            <a:r>
              <a:rPr lang="en-US" sz="2000" b="1" dirty="0"/>
              <a:t>Enter/Access Data</a:t>
            </a:r>
            <a:r>
              <a:rPr lang="en-US" sz="2000" dirty="0"/>
              <a:t>: Open the file </a:t>
            </a:r>
            <a:r>
              <a:rPr lang="en-US" sz="2000" i="1" dirty="0" err="1"/>
              <a:t>softwaretest</a:t>
            </a:r>
            <a:r>
              <a:rPr lang="en-US" sz="2000" dirty="0"/>
              <a:t>.</a:t>
            </a:r>
          </a:p>
          <a:p>
            <a:r>
              <a:rPr lang="en-US" sz="2000" b="1" dirty="0"/>
              <a:t>Apply Tools</a:t>
            </a:r>
            <a:r>
              <a:rPr lang="en-US" sz="2000" dirty="0"/>
              <a:t>: In the t-Test: Two Sample Assuming Unequal Variances dialog box, enter</a:t>
            </a:r>
          </a:p>
        </p:txBody>
      </p:sp>
      <p:sp>
        <p:nvSpPr>
          <p:cNvPr id="4" name="Text Placeholder 3">
            <a:extLst>
              <a:ext uri="{FF2B5EF4-FFF2-40B4-BE49-F238E27FC236}">
                <a16:creationId xmlns:a16="http://schemas.microsoft.com/office/drawing/2014/main" id="{4792A5DD-B984-0EC7-2899-6D8CF34B94C3}"/>
              </a:ext>
            </a:extLst>
          </p:cNvPr>
          <p:cNvSpPr>
            <a:spLocks noGrp="1"/>
          </p:cNvSpPr>
          <p:nvPr>
            <p:ph type="body" sz="quarter" idx="17"/>
          </p:nvPr>
        </p:nvSpPr>
        <p:spPr>
          <a:xfrm>
            <a:off x="743577" y="2293147"/>
            <a:ext cx="5892968" cy="3714750"/>
          </a:xfrm>
        </p:spPr>
        <p:txBody>
          <a:bodyPr/>
          <a:lstStyle/>
          <a:p>
            <a:pPr marL="914400" indent="-800100"/>
            <a:r>
              <a:rPr lang="en-US" sz="1800" b="1" dirty="0"/>
              <a:t>Step 1</a:t>
            </a:r>
            <a:r>
              <a:rPr lang="en-US" sz="1800" dirty="0"/>
              <a:t>. Click the </a:t>
            </a:r>
            <a:r>
              <a:rPr lang="en-US" sz="1800" b="1" dirty="0"/>
              <a:t>Data</a:t>
            </a:r>
            <a:r>
              <a:rPr lang="en-US" sz="1800" dirty="0"/>
              <a:t> tab on the Ribbon</a:t>
            </a:r>
          </a:p>
          <a:p>
            <a:pPr marL="914400" indent="-800100">
              <a:spcBef>
                <a:spcPts val="300"/>
              </a:spcBef>
            </a:pPr>
            <a:r>
              <a:rPr lang="en-US" sz="1800" b="1" dirty="0"/>
              <a:t>Step 2</a:t>
            </a:r>
            <a:r>
              <a:rPr lang="en-US" sz="1800" dirty="0"/>
              <a:t>. In the </a:t>
            </a:r>
            <a:r>
              <a:rPr lang="en-US" sz="1800" b="1" dirty="0"/>
              <a:t>Analyze</a:t>
            </a:r>
            <a:r>
              <a:rPr lang="en-US" sz="1800" dirty="0"/>
              <a:t> group, click </a:t>
            </a:r>
            <a:r>
              <a:rPr lang="en-US" sz="1800" b="1" dirty="0"/>
              <a:t>Data Analysis</a:t>
            </a:r>
          </a:p>
          <a:p>
            <a:pPr marL="914400" indent="-800100">
              <a:spcBef>
                <a:spcPts val="300"/>
              </a:spcBef>
            </a:pPr>
            <a:r>
              <a:rPr lang="en-US" sz="1800" b="1" dirty="0"/>
              <a:t>Step 3</a:t>
            </a:r>
            <a:r>
              <a:rPr lang="en-US" sz="1800" dirty="0"/>
              <a:t>. Choose </a:t>
            </a:r>
            <a:r>
              <a:rPr lang="en-US" sz="1800" b="1" dirty="0"/>
              <a:t>t-Test: Two-Sample Assuming Unequal Variances </a:t>
            </a:r>
            <a:r>
              <a:rPr lang="en-US" sz="1800" dirty="0"/>
              <a:t>from the list of Analysis Tools</a:t>
            </a:r>
          </a:p>
          <a:p>
            <a:pPr marL="914400" indent="-800100">
              <a:spcBef>
                <a:spcPts val="300"/>
              </a:spcBef>
            </a:pPr>
            <a:r>
              <a:rPr lang="en-US" sz="1800" b="1" dirty="0"/>
              <a:t>Step 4</a:t>
            </a:r>
            <a:r>
              <a:rPr lang="en-US" sz="1800" dirty="0"/>
              <a:t>.	When the dialog box appears:</a:t>
            </a:r>
          </a:p>
          <a:p>
            <a:pPr marL="1143000">
              <a:spcBef>
                <a:spcPts val="300"/>
              </a:spcBef>
            </a:pPr>
            <a:r>
              <a:rPr lang="en-US" sz="1800" dirty="0"/>
              <a:t>Enter </a:t>
            </a:r>
            <a:r>
              <a:rPr lang="en-US" sz="1800" i="1" dirty="0"/>
              <a:t>A1:A13 </a:t>
            </a:r>
            <a:r>
              <a:rPr lang="en-US" sz="1800" dirty="0"/>
              <a:t>in the </a:t>
            </a:r>
            <a:r>
              <a:rPr lang="en-US" sz="1800" b="1" dirty="0"/>
              <a:t>Variable 1 Range: </a:t>
            </a:r>
            <a:r>
              <a:rPr lang="en-US" sz="1800" dirty="0"/>
              <a:t>box</a:t>
            </a:r>
          </a:p>
          <a:p>
            <a:pPr marL="1143000">
              <a:spcBef>
                <a:spcPts val="300"/>
              </a:spcBef>
            </a:pPr>
            <a:r>
              <a:rPr lang="en-US" sz="1800" dirty="0"/>
              <a:t>Enter </a:t>
            </a:r>
            <a:r>
              <a:rPr lang="en-US" sz="1800" i="1" dirty="0"/>
              <a:t>B1:B13 </a:t>
            </a:r>
            <a:r>
              <a:rPr lang="en-US" sz="1800" dirty="0"/>
              <a:t>in the </a:t>
            </a:r>
            <a:r>
              <a:rPr lang="en-US" sz="1800" b="1" dirty="0"/>
              <a:t>Variable 2 Range: </a:t>
            </a:r>
            <a:r>
              <a:rPr lang="en-US" sz="1800" dirty="0"/>
              <a:t>box</a:t>
            </a:r>
          </a:p>
          <a:p>
            <a:pPr marL="1143000">
              <a:spcBef>
                <a:spcPts val="300"/>
              </a:spcBef>
            </a:pPr>
            <a:r>
              <a:rPr lang="en-US" sz="1800" dirty="0"/>
              <a:t>Enter </a:t>
            </a:r>
            <a:r>
              <a:rPr lang="en-US" sz="1800" i="1" dirty="0"/>
              <a:t>0</a:t>
            </a:r>
            <a:r>
              <a:rPr lang="en-US" sz="1800" dirty="0"/>
              <a:t> in the </a:t>
            </a:r>
            <a:r>
              <a:rPr lang="en-US" sz="1800" b="1" dirty="0"/>
              <a:t>Hypothesized Mean Diff.</a:t>
            </a:r>
            <a:r>
              <a:rPr lang="en-US" sz="1800" dirty="0"/>
              <a:t>: box</a:t>
            </a:r>
          </a:p>
          <a:p>
            <a:pPr marL="1371600" indent="-228600">
              <a:spcBef>
                <a:spcPts val="300"/>
              </a:spcBef>
            </a:pPr>
            <a:r>
              <a:rPr lang="en-US" sz="1800" dirty="0"/>
              <a:t>Select the check box for </a:t>
            </a:r>
            <a:r>
              <a:rPr lang="en-US" sz="1800" b="1" dirty="0"/>
              <a:t>Labels</a:t>
            </a:r>
            <a:endParaRPr lang="en-US" sz="1800" dirty="0"/>
          </a:p>
          <a:p>
            <a:pPr marL="1371600" indent="-228600">
              <a:spcBef>
                <a:spcPts val="300"/>
              </a:spcBef>
            </a:pPr>
            <a:r>
              <a:rPr lang="en-US" sz="1800" dirty="0"/>
              <a:t>Select </a:t>
            </a:r>
            <a:r>
              <a:rPr lang="en-US" sz="1800" b="1" dirty="0"/>
              <a:t>Output Range: </a:t>
            </a:r>
            <a:r>
              <a:rPr lang="en-US" sz="1800" dirty="0"/>
              <a:t>and enter </a:t>
            </a:r>
            <a:r>
              <a:rPr lang="en-US" sz="1800" i="1" dirty="0"/>
              <a:t>D1</a:t>
            </a:r>
            <a:r>
              <a:rPr lang="en-US" sz="1800" dirty="0"/>
              <a:t> in the box</a:t>
            </a:r>
          </a:p>
          <a:p>
            <a:pPr marL="1371600" indent="-228600">
              <a:spcBef>
                <a:spcPts val="300"/>
              </a:spcBef>
            </a:pPr>
            <a:r>
              <a:rPr lang="en-US" sz="1800" dirty="0"/>
              <a:t>Click </a:t>
            </a:r>
            <a:r>
              <a:rPr lang="en-US" sz="1800" b="1" dirty="0"/>
              <a:t>OK</a:t>
            </a:r>
          </a:p>
        </p:txBody>
      </p:sp>
      <p:pic>
        <p:nvPicPr>
          <p:cNvPr id="7" name="Picture Placeholder 6" descr="A screenshot shows an Excel spreadsheet with the t-test of two-sample assuming unequal variances dialog box. Column A is labeled current and column B is labeled new. The entries under column A are as follows. Row 2: 300. Row 3: 280. Row 4: 344. Row 5: 385. Row 6: 373. Row 7: 360. Row 8: 288. Row 9: 321. Row 10: 376. Row 11: 290. Row 12: 301. Row 13: 283. The entries under column B are as follows. Row 2: 274. Row 3: 220. Row 4: 308. Row 5: 336. Row 6: 198. Row 7: 300. Row 8: 315. Row 9: 258. Row 10: 318. Row 11: 310. Row 12: 332. Row 13: 263. The t-test dialog box consists of two sections. The first section is titled input and consists of the following elements. Entry field labeled Variable 1 range with entry dollar sign A dollar sign 1 colon dollar sign A dollar sign 13. Entry field labeled Variable 2 range with entry dollar sign B dollar sign 1 colon dollar sign B dollar sign 13. Entry field labeled hypothesized mean difference with entry 0. Checked checkbox labeled Labels. Entry field labeled alpha with entry 0.05. The second section is titled output options and consists of the following elements. Selected radio button labeled output range with an entry field with entry D 1. A radio button labeled new worksheet ply with a grayed-out entry field. A radio button labeled new workbook. There are three buttons labeled O K, Cancel, and Help on the right.">
            <a:extLst>
              <a:ext uri="{FF2B5EF4-FFF2-40B4-BE49-F238E27FC236}">
                <a16:creationId xmlns:a16="http://schemas.microsoft.com/office/drawing/2014/main" id="{3DB50BD2-6DAB-9045-6A9C-2A52535458A0}"/>
              </a:ext>
            </a:extLst>
          </p:cNvPr>
          <p:cNvPicPr>
            <a:picLocks noGrp="1" noChangeAspect="1"/>
          </p:cNvPicPr>
          <p:nvPr>
            <p:ph type="pic" sz="quarter" idx="16"/>
          </p:nvPr>
        </p:nvPicPr>
        <p:blipFill>
          <a:blip r:embed="rId2"/>
          <a:srcRect t="65" b="65"/>
          <a:stretch/>
        </p:blipFill>
        <p:spPr>
          <a:xfrm>
            <a:off x="6736556" y="2715713"/>
            <a:ext cx="4772300" cy="3146793"/>
          </a:xfrm>
        </p:spPr>
      </p:pic>
    </p:spTree>
    <p:extLst>
      <p:ext uri="{BB962C8B-B14F-4D97-AF65-F5344CB8AC3E}">
        <p14:creationId xmlns:p14="http://schemas.microsoft.com/office/powerpoint/2010/main" val="1881229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10.2 Excel: Conduct a Hypothesis Test</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171575"/>
            <a:ext cx="10610223" cy="785813"/>
          </a:xfrm>
        </p:spPr>
        <p:txBody>
          <a:bodyPr/>
          <a:lstStyle/>
          <a:p>
            <a:r>
              <a:rPr lang="en-US" sz="2000" dirty="0"/>
              <a:t>The test results are shown below.</a:t>
            </a:r>
          </a:p>
          <a:p>
            <a:pPr marL="457200" indent="-342900">
              <a:buFont typeface="Arial" panose="020B0604020202020204" pitchFamily="34" charset="0"/>
              <a:buChar char="•"/>
            </a:pPr>
            <a:r>
              <a:rPr lang="en-US" sz="2000" dirty="0"/>
              <a:t>Descriptive statistics for the two samples are shown in cells E4:F6. </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E12EEE5-F80B-10B7-8B58-BD0B567449FD}"/>
                  </a:ext>
                </a:extLst>
              </p:cNvPr>
              <p:cNvSpPr>
                <a:spLocks noGrp="1"/>
              </p:cNvSpPr>
              <p:nvPr>
                <p:ph type="body" sz="quarter" idx="17"/>
              </p:nvPr>
            </p:nvSpPr>
            <p:spPr>
              <a:xfrm>
                <a:off x="743577" y="1957388"/>
                <a:ext cx="4242762" cy="3529013"/>
              </a:xfrm>
            </p:spPr>
            <p:txBody>
              <a:bodyPr/>
              <a:lstStyle/>
              <a:p>
                <a:pPr marL="457200" indent="-342900">
                  <a:buFont typeface="Arial" panose="020B0604020202020204" pitchFamily="34" charset="0"/>
                  <a:buChar char="•"/>
                </a:pPr>
                <a:r>
                  <a:rPr lang="en-US" sz="2000" dirty="0"/>
                  <a:t>The value of the test statistic, 2.2721, is shown in cell E9. </a:t>
                </a:r>
              </a:p>
              <a:p>
                <a:pPr marL="457200" indent="-342900">
                  <a:buFont typeface="Arial" panose="020B0604020202020204" pitchFamily="34" charset="0"/>
                  <a:buChar char="•"/>
                </a:pPr>
                <a:r>
                  <a:rPr lang="en-US" sz="2000" dirty="0"/>
                  <a:t>The </a:t>
                </a:r>
                <a14:m>
                  <m:oMath xmlns:m="http://schemas.openxmlformats.org/officeDocument/2006/math">
                    <m:r>
                      <a:rPr lang="en-US" sz="2000" i="1" dirty="0" smtClean="0">
                        <a:latin typeface="Cambria Math" panose="02040503050406030204" pitchFamily="18" charset="0"/>
                      </a:rPr>
                      <m:t>𝑝</m:t>
                    </m:r>
                  </m:oMath>
                </a14:m>
                <a:r>
                  <a:rPr lang="en-US" sz="2000" dirty="0"/>
                  <a:t>-value for the test, labeled “</a:t>
                </a:r>
                <a:r>
                  <a:rPr lang="en-US" sz="2000" dirty="0">
                    <a:latin typeface="+mn-lt"/>
                  </a:rPr>
                  <a:t>P(Z</a:t>
                </a:r>
                <a:r>
                  <a:rPr lang="en-US" sz="2000" dirty="0">
                    <a:latin typeface="+mn-lt"/>
                    <a:cs typeface="Arial" panose="020B0604020202020204" pitchFamily="34" charset="0"/>
                  </a:rPr>
                  <a:t>&lt;=</a:t>
                </a:r>
                <a:r>
                  <a:rPr lang="en-US" sz="2000" dirty="0">
                    <a:latin typeface="+mn-lt"/>
                  </a:rPr>
                  <a:t>z) one-tail</a:t>
                </a:r>
                <a:r>
                  <a:rPr lang="en-US" sz="2000" dirty="0"/>
                  <a:t>,” is shown in cell E10. </a:t>
                </a:r>
              </a:p>
              <a:p>
                <a:pPr marL="457200" indent="-342900">
                  <a:buFont typeface="Arial" panose="020B0604020202020204" pitchFamily="34" charset="0"/>
                  <a:buChar char="•"/>
                </a:pPr>
                <a:r>
                  <a:rPr lang="en-US" sz="2000" dirty="0"/>
                  <a:t>Because the </a:t>
                </a:r>
                <a14:m>
                  <m:oMath xmlns:m="http://schemas.openxmlformats.org/officeDocument/2006/math">
                    <m:r>
                      <a:rPr lang="en-US" sz="2000" i="1" dirty="0" smtClean="0">
                        <a:latin typeface="Cambria Math" panose="02040503050406030204" pitchFamily="18" charset="0"/>
                      </a:rPr>
                      <m:t>𝑝</m:t>
                    </m:r>
                  </m:oMath>
                </a14:m>
                <a:r>
                  <a:rPr lang="en-US" sz="2000" dirty="0"/>
                  <a:t>-value, 0.0166, is less than the level of significance, </a:t>
                </a:r>
                <a14:m>
                  <m:oMath xmlns:m="http://schemas.openxmlformats.org/officeDocument/2006/math">
                    <m:r>
                      <a:rPr lang="el-GR" sz="2000" i="1" dirty="0" smtClean="0">
                        <a:latin typeface="Cambria Math" panose="02040503050406030204" pitchFamily="18" charset="0"/>
                      </a:rPr>
                      <m:t>𝛼</m:t>
                    </m:r>
                    <m:r>
                      <a:rPr lang="en-US" sz="2000" i="1" dirty="0" smtClean="0">
                        <a:latin typeface="Cambria Math" panose="02040503050406030204" pitchFamily="18" charset="0"/>
                      </a:rPr>
                      <m:t>=0.05</m:t>
                    </m:r>
                  </m:oMath>
                </a14:m>
                <a:r>
                  <a:rPr lang="en-US" sz="2000" dirty="0"/>
                  <a:t>, we conclude that the mean completion time for the population using the new software package is smaller.</a:t>
                </a:r>
              </a:p>
            </p:txBody>
          </p:sp>
        </mc:Choice>
        <mc:Fallback xmlns="">
          <p:sp>
            <p:nvSpPr>
              <p:cNvPr id="6" name="Text Placeholder 5">
                <a:extLst>
                  <a:ext uri="{FF2B5EF4-FFF2-40B4-BE49-F238E27FC236}">
                    <a16:creationId xmlns:a16="http://schemas.microsoft.com/office/drawing/2014/main" id="{CE12EEE5-F80B-10B7-8B58-BD0B567449FD}"/>
                  </a:ext>
                </a:extLst>
              </p:cNvPr>
              <p:cNvSpPr>
                <a:spLocks noGrp="1" noRot="1" noChangeAspect="1" noMove="1" noResize="1" noEditPoints="1" noAdjustHandles="1" noChangeArrowheads="1" noChangeShapeType="1" noTextEdit="1"/>
              </p:cNvSpPr>
              <p:nvPr>
                <p:ph type="body" sz="quarter" idx="17"/>
              </p:nvPr>
            </p:nvSpPr>
            <p:spPr>
              <a:xfrm>
                <a:off x="743577" y="1957388"/>
                <a:ext cx="4242762" cy="3529013"/>
              </a:xfrm>
              <a:blipFill>
                <a:blip r:embed="rId3"/>
                <a:stretch>
                  <a:fillRect l="-718" t="-2073" r="-4885" b="-3972"/>
                </a:stretch>
              </a:blipFill>
            </p:spPr>
            <p:txBody>
              <a:bodyPr/>
              <a:lstStyle/>
              <a:p>
                <a:r>
                  <a:rPr lang="en-US">
                    <a:noFill/>
                  </a:rPr>
                  <a:t> </a:t>
                </a:r>
              </a:p>
            </p:txBody>
          </p:sp>
        </mc:Fallback>
      </mc:AlternateContent>
      <p:pic>
        <p:nvPicPr>
          <p:cNvPr id="9" name="Picture Placeholder 8" descr="A screenshot shows an Excel spreadsheet with the results of the t-test. Column A is labeled current and column B is labeled new. The entries under column A are as follows. Row 2: 300. Row 3: 280. Row 4: 344. Row 5: 385. Row 6: 373. Row 7: 360. Row 8: 288. Row 9: 321. Row 10: 376. Row 11: 290. Row 12: 301. Row 13: 283. The entries under column B are as follows. Row 2: 274. Row 3: 220. Row 4: 308. Row 5: 336. Row 6: 198. Row 7: 300. Row 8: 315. Row 9: 258. Row 10: 318. Row 11: 310. Row 12: 332. Row 13: 263. The data from the results of the t-test, presented in the format, Test: Current, New, are as follows. Mean: 325, 286. Variance: 1599.6364, 1935.8182. Observations: 12, 12. Hypothesized mean difference: 0, no data. d f: 22, no data. t Stat: 2.2721, no data. P(T&lt;=t) one-tail: 0.0166, no data. t critical one-tail: 1.7171, no data. P(T&lt;=t) two tail: 0.0332, no data. t critical two-tail: 2.0739, no data.">
            <a:extLst>
              <a:ext uri="{FF2B5EF4-FFF2-40B4-BE49-F238E27FC236}">
                <a16:creationId xmlns:a16="http://schemas.microsoft.com/office/drawing/2014/main" id="{812E63B3-AE53-190F-B3AF-8CC71225BC23}"/>
              </a:ext>
            </a:extLst>
          </p:cNvPr>
          <p:cNvPicPr>
            <a:picLocks noGrp="1" noChangeAspect="1"/>
          </p:cNvPicPr>
          <p:nvPr>
            <p:ph type="pic" sz="quarter" idx="16"/>
          </p:nvPr>
        </p:nvPicPr>
        <p:blipFill>
          <a:blip r:embed="rId4"/>
          <a:srcRect l="15" r="15"/>
          <a:stretch/>
        </p:blipFill>
        <p:spPr>
          <a:xfrm>
            <a:off x="5043487" y="2047876"/>
            <a:ext cx="6296025" cy="3438525"/>
          </a:xfrm>
          <a:ln>
            <a:solidFill>
              <a:srgbClr val="000000"/>
            </a:solidFill>
          </a:ln>
        </p:spPr>
      </p:pic>
    </p:spTree>
    <p:extLst>
      <p:ext uri="{BB962C8B-B14F-4D97-AF65-F5344CB8AC3E}">
        <p14:creationId xmlns:p14="http://schemas.microsoft.com/office/powerpoint/2010/main" val="1967146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solidFill>
                  <a:srgbClr val="D14B1E"/>
                </a:solidFill>
              </a:rPr>
              <a:t>10.3 Inferences about the Difference Between Two Population Means: Matched Samples</a:t>
            </a:r>
            <a:endParaRPr lang="en-US" sz="320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81623"/>
                <a:ext cx="10711543" cy="4520114"/>
              </a:xfrm>
            </p:spPr>
            <p:txBody>
              <a:bodyPr/>
              <a:lstStyle/>
              <a:p>
                <a:pPr>
                  <a:spcBef>
                    <a:spcPts val="600"/>
                  </a:spcBef>
                  <a:spcAft>
                    <a:spcPts val="0"/>
                  </a:spcAft>
                </a:pPr>
                <a:r>
                  <a:rPr lang="en-US" sz="2000" dirty="0">
                    <a:cs typeface="Arial" panose="020B0604020202020204" pitchFamily="34" charset="0"/>
                  </a:rPr>
                  <a:t>A manufacturing company wants to determine whether two different methods to perform a production task have the same population mean completion time.</a:t>
                </a:r>
              </a:p>
              <a:p>
                <a:pPr>
                  <a:spcBef>
                    <a:spcPts val="600"/>
                  </a:spcBef>
                  <a:spcAft>
                    <a:spcPts val="0"/>
                  </a:spcAft>
                </a:pPr>
                <a:r>
                  <a:rPr lang="en-US" sz="2000" dirty="0">
                    <a:cs typeface="Arial" panose="020B0604020202020204" pitchFamily="34" charset="0"/>
                  </a:rPr>
                  <a:t>We set the null hypothesis based on the assumption that method 1 and method 2 have the same population mean completion time and challenge it in the alternative hypothesis.</a:t>
                </a:r>
              </a:p>
              <a:p>
                <a:pPr marL="914400" algn="l" rtl="0" eaLnBrk="1" fontAlgn="ctr" latinLnBrk="0" hangingPunct="1">
                  <a:spcBef>
                    <a:spcPts val="600"/>
                  </a:spcBef>
                  <a:spcAft>
                    <a:spcPts val="0"/>
                  </a:spcAft>
                </a:pPr>
                <a14:m>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0</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b="0" i="1" u="none" strike="noStrike" kern="1200" smtClean="0">
                        <a:solidFill>
                          <a:srgbClr val="000000"/>
                        </a:solidFill>
                        <a:effectLst/>
                        <a:latin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a14:m>
                <a:r>
                  <a:rPr lang="en-US" sz="2000" b="0" i="0" u="none" strike="noStrike" dirty="0">
                    <a:effectLst/>
                    <a:latin typeface="Arial" panose="020B0604020202020204" pitchFamily="34" charset="0"/>
                  </a:rPr>
                  <a:t> </a:t>
                </a:r>
              </a:p>
              <a:p>
                <a:pPr marL="914400" algn="l" rtl="0" eaLnBrk="1" fontAlgn="ctr" latinLnBrk="0" hangingPunct="1">
                  <a:spcBef>
                    <a:spcPts val="600"/>
                  </a:spcBef>
                  <a:spcAft>
                    <a:spcPts val="0"/>
                  </a:spcAft>
                </a:pPr>
                <a14:m>
                  <m:oMath xmlns:m="http://schemas.openxmlformats.org/officeDocument/2006/math">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𝑎</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a14:m>
                <a:r>
                  <a:rPr lang="en-US" sz="2000" dirty="0">
                    <a:cs typeface="Arial" panose="020B0604020202020204" pitchFamily="34" charset="0"/>
                  </a:rPr>
                  <a:t> </a:t>
                </a:r>
              </a:p>
              <a:p>
                <a:pPr>
                  <a:spcBef>
                    <a:spcPts val="600"/>
                  </a:spcBef>
                  <a:spcAft>
                    <a:spcPts val="0"/>
                  </a:spcAft>
                </a:pPr>
                <a:r>
                  <a:rPr lang="en-US" sz="2000" dirty="0">
                    <a:cs typeface="Arial" panose="020B0604020202020204" pitchFamily="34" charset="0"/>
                  </a:rPr>
                  <a:t>We have two choices of sampling procedure:</a:t>
                </a:r>
              </a:p>
              <a:p>
                <a:pPr marL="630238" indent="-342900">
                  <a:spcBef>
                    <a:spcPts val="600"/>
                  </a:spcBef>
                  <a:spcAft>
                    <a:spcPts val="0"/>
                  </a:spcAft>
                  <a:buFont typeface="Arial" panose="020B0604020202020204" pitchFamily="34" charset="0"/>
                  <a:buChar char="•"/>
                </a:pPr>
                <a:r>
                  <a:rPr lang="en-US" sz="2000" i="1" dirty="0">
                    <a:cs typeface="Arial" panose="020B0604020202020204" pitchFamily="34" charset="0"/>
                  </a:rPr>
                  <a:t>Independent sample design</a:t>
                </a:r>
                <a:r>
                  <a:rPr lang="en-US" sz="2000" dirty="0">
                    <a:cs typeface="Arial" panose="020B0604020202020204" pitchFamily="34" charset="0"/>
                  </a:rPr>
                  <a:t>: two simple random samples of workers are selected. One sample of workers is assigned to use method 1, and the other one to use method 2.</a:t>
                </a:r>
              </a:p>
              <a:p>
                <a:pPr marL="630238" indent="-342900">
                  <a:spcBef>
                    <a:spcPts val="600"/>
                  </a:spcBef>
                  <a:spcAft>
                    <a:spcPts val="0"/>
                  </a:spcAft>
                  <a:buFont typeface="Arial" panose="020B0604020202020204" pitchFamily="34" charset="0"/>
                  <a:buChar char="•"/>
                </a:pPr>
                <a:r>
                  <a:rPr lang="en-US" sz="2000" i="1" dirty="0">
                    <a:cs typeface="Arial" panose="020B0604020202020204" pitchFamily="34" charset="0"/>
                  </a:rPr>
                  <a:t>Matched sample design</a:t>
                </a:r>
                <a:r>
                  <a:rPr lang="en-US" sz="2000" dirty="0">
                    <a:cs typeface="Arial" panose="020B0604020202020204" pitchFamily="34" charset="0"/>
                  </a:rPr>
                  <a:t>: one simple random sample of workers using both methods, one at a time, is selected. The order of the methods is assigned randomly to the workers.</a:t>
                </a:r>
              </a:p>
              <a:p>
                <a:pPr>
                  <a:spcBef>
                    <a:spcPts val="600"/>
                  </a:spcBef>
                  <a:spcAft>
                    <a:spcPts val="0"/>
                  </a:spcAft>
                </a:pPr>
                <a:r>
                  <a:rPr lang="en-US" sz="2000" dirty="0">
                    <a:cs typeface="Arial" panose="020B0604020202020204" pitchFamily="34" charset="0"/>
                  </a:rPr>
                  <a:t>The </a:t>
                </a:r>
                <a:r>
                  <a:rPr lang="en-US" sz="2000" b="1" dirty="0">
                    <a:cs typeface="Arial" panose="020B0604020202020204" pitchFamily="34" charset="0"/>
                  </a:rPr>
                  <a:t>matched sample </a:t>
                </a:r>
                <a:r>
                  <a:rPr lang="en-US" sz="2000" dirty="0">
                    <a:cs typeface="Arial" panose="020B0604020202020204" pitchFamily="34" charset="0"/>
                  </a:rPr>
                  <a:t>design</a:t>
                </a:r>
                <a:r>
                  <a:rPr lang="en-US" sz="2000" b="1" dirty="0">
                    <a:cs typeface="Arial" panose="020B0604020202020204" pitchFamily="34" charset="0"/>
                  </a:rPr>
                  <a:t> </a:t>
                </a:r>
                <a:r>
                  <a:rPr lang="en-US" sz="2000" dirty="0">
                    <a:cs typeface="Arial" panose="020B0604020202020204" pitchFamily="34" charset="0"/>
                  </a:rPr>
                  <a:t>leads to a smaller sampling error because by testing the two methods using the same workers, the variation in worker’s efficiency is eliminated (*see notes.)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81623"/>
                <a:ext cx="10711543" cy="4520114"/>
              </a:xfrm>
              <a:blipFill>
                <a:blip r:embed="rId3"/>
                <a:stretch>
                  <a:fillRect l="-1422" t="-1617" r="-910" b="-2965"/>
                </a:stretch>
              </a:blipFill>
            </p:spPr>
            <p:txBody>
              <a:bodyPr/>
              <a:lstStyle/>
              <a:p>
                <a:r>
                  <a:rPr lang="en-US">
                    <a:noFill/>
                  </a:rPr>
                  <a:t> </a:t>
                </a:r>
              </a:p>
            </p:txBody>
          </p:sp>
        </mc:Fallback>
      </mc:AlternateContent>
    </p:spTree>
    <p:extLst>
      <p:ext uri="{BB962C8B-B14F-4D97-AF65-F5344CB8AC3E}">
        <p14:creationId xmlns:p14="http://schemas.microsoft.com/office/powerpoint/2010/main" val="3497389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10.3 Hypothesis Tests Involving Matched Samples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05247"/>
                <a:ext cx="10711543" cy="4622588"/>
              </a:xfrm>
            </p:spPr>
            <p:txBody>
              <a:bodyPr/>
              <a:lstStyle/>
              <a:p>
                <a:pPr>
                  <a:spcBef>
                    <a:spcPts val="600"/>
                  </a:spcBef>
                  <a:spcAft>
                    <a:spcPts val="0"/>
                  </a:spcAft>
                </a:pPr>
                <a:r>
                  <a:rPr lang="en-US" sz="2000" dirty="0">
                    <a:cs typeface="Arial" panose="020B0604020202020204" pitchFamily="34" charset="0"/>
                  </a:rPr>
                  <a:t>DATAfile: </a:t>
                </a:r>
                <a:r>
                  <a:rPr lang="en-US" sz="2000" i="1" dirty="0">
                    <a:cs typeface="Arial" panose="020B0604020202020204" pitchFamily="34" charset="0"/>
                  </a:rPr>
                  <a:t>matched</a:t>
                </a:r>
              </a:p>
              <a:p>
                <a:pPr>
                  <a:spcBef>
                    <a:spcPts val="600"/>
                  </a:spcBef>
                  <a:spcAft>
                    <a:spcPts val="0"/>
                  </a:spcAft>
                </a:pPr>
                <a:r>
                  <a:rPr lang="en-US" sz="2000" dirty="0">
                    <a:cs typeface="Arial" panose="020B0604020202020204" pitchFamily="34" charset="0"/>
                  </a:rPr>
                  <a:t>A simple random sample of six workers is selected, and the pair of data values (</a:t>
                </a:r>
                <a14:m>
                  <m:oMath xmlns:m="http://schemas.openxmlformats.org/officeDocument/2006/math">
                    <m:sSub>
                      <m:sSubPr>
                        <m:ctrlPr>
                          <a:rPr lang="en-US" sz="2000" i="1" dirty="0" smtClean="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𝑥</m:t>
                        </m:r>
                      </m:e>
                      <m:sub>
                        <m:r>
                          <a:rPr lang="en-US" sz="2000" b="0" i="1" dirty="0" smtClean="0">
                            <a:latin typeface="Cambria Math" panose="02040503050406030204" pitchFamily="18" charset="0"/>
                            <a:cs typeface="Arial" panose="020B0604020202020204" pitchFamily="34" charset="0"/>
                          </a:rPr>
                          <m:t>1</m:t>
                        </m:r>
                      </m:sub>
                    </m:sSub>
                  </m:oMath>
                </a14:m>
                <a:r>
                  <a:rPr lang="en-US" sz="2000" dirty="0">
                    <a:cs typeface="Arial" panose="020B0604020202020204" pitchFamily="34" charset="0"/>
                  </a:rPr>
                  <a:t> and </a:t>
                </a:r>
                <a14:m>
                  <m:oMath xmlns:m="http://schemas.openxmlformats.org/officeDocument/2006/math">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𝑥</m:t>
                        </m:r>
                      </m:e>
                      <m:sub>
                        <m:r>
                          <a:rPr lang="en-US" sz="2000" b="0" i="1" dirty="0" smtClean="0">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for the production task completion time in minutes using methods 1 and 2 are recorded.</a:t>
                </a:r>
              </a:p>
              <a:p>
                <a:pPr>
                  <a:spcBef>
                    <a:spcPts val="600"/>
                  </a:spcBef>
                  <a:spcAft>
                    <a:spcPts val="600"/>
                  </a:spcAft>
                </a:pPr>
                <a:r>
                  <a:rPr lang="en-US" sz="2000" dirty="0">
                    <a:cs typeface="Arial" panose="020B0604020202020204" pitchFamily="34" charset="0"/>
                  </a:rPr>
                  <a:t>We define a variable difference </a:t>
                </a:r>
                <a:r>
                  <a:rPr lang="en-US" sz="2000" i="1" dirty="0">
                    <a:cs typeface="Arial" panose="020B0604020202020204" pitchFamily="34" charset="0"/>
                  </a:rPr>
                  <a:t>d</a:t>
                </a:r>
                <a:r>
                  <a:rPr lang="en-US" sz="2000" dirty="0">
                    <a:cs typeface="Arial" panose="020B0604020202020204" pitchFamily="34" charset="0"/>
                  </a:rPr>
                  <a:t> as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dirty="0" smtClean="0">
                              <a:latin typeface="Cambria Math" panose="02040503050406030204" pitchFamily="18" charset="0"/>
                              <a:cs typeface="Arial" panose="020B0604020202020204" pitchFamily="34" charset="0"/>
                            </a:rPr>
                          </m:ctrlPr>
                        </m:sSubPr>
                        <m:e>
                          <m:r>
                            <a:rPr lang="en-US" sz="2000" b="0" i="1" dirty="0" smtClean="0">
                              <a:latin typeface="Cambria Math" panose="02040503050406030204" pitchFamily="18" charset="0"/>
                              <a:cs typeface="Arial" panose="020B0604020202020204" pitchFamily="34" charset="0"/>
                            </a:rPr>
                            <m:t>𝑑</m:t>
                          </m:r>
                          <m:r>
                            <a:rPr lang="en-US" sz="2000" b="0" i="1" dirty="0" smtClean="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𝑥</m:t>
                          </m:r>
                        </m:e>
                        <m:sub>
                          <m:r>
                            <a:rPr lang="en-US" sz="2000" b="0" i="1" dirty="0" smtClean="0">
                              <a:latin typeface="Cambria Math" panose="02040503050406030204" pitchFamily="18" charset="0"/>
                              <a:cs typeface="Arial" panose="020B0604020202020204" pitchFamily="34" charset="0"/>
                            </a:rPr>
                            <m:t>1</m:t>
                          </m:r>
                        </m:sub>
                      </m:sSub>
                      <m:r>
                        <a:rPr lang="en-US" sz="2000" b="0" i="1" dirty="0" smtClean="0">
                          <a:latin typeface="Cambria Math" panose="02040503050406030204" pitchFamily="18" charset="0"/>
                          <a:cs typeface="Arial" panose="020B0604020202020204" pitchFamily="34" charset="0"/>
                        </a:rPr>
                        <m:t>−</m:t>
                      </m:r>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𝑥</m:t>
                          </m:r>
                        </m:e>
                        <m:sub>
                          <m:r>
                            <a:rPr lang="en-US" sz="2000" b="0" i="1" dirty="0" smtClean="0">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The key to the analysis of the matched sample design is that we only consider the values of the difference </a:t>
                </a:r>
                <a:r>
                  <a:rPr lang="en-US" sz="2000" i="1" dirty="0">
                    <a:cs typeface="Arial" panose="020B0604020202020204" pitchFamily="34" charset="0"/>
                  </a:rPr>
                  <a:t>d</a:t>
                </a:r>
                <a:r>
                  <a:rPr lang="en-US" sz="2000" dirty="0">
                    <a:cs typeface="Arial" panose="020B0604020202020204" pitchFamily="34" charset="0"/>
                  </a:rPr>
                  <a:t> for the six workers: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cs typeface="Arial" panose="020B0604020202020204" pitchFamily="34" charset="0"/>
                        </a:rPr>
                        <m:t>0.6, −0.2, 0.5, 0.3, 0.0, </m:t>
                      </m:r>
                      <m:r>
                        <m:rPr>
                          <m:nor/>
                        </m:rPr>
                        <a:rPr lang="en-US" sz="2000" i="0" dirty="0" smtClean="0">
                          <a:latin typeface="Arial" panose="020B0604020202020204" pitchFamily="34" charset="0"/>
                          <a:cs typeface="Arial" panose="020B0604020202020204" pitchFamily="34" charset="0"/>
                        </a:rPr>
                        <m:t>and</m:t>
                      </m:r>
                      <m:r>
                        <a:rPr lang="en-US" sz="2000" i="1" dirty="0" smtClean="0">
                          <a:latin typeface="Cambria Math" panose="02040503050406030204" pitchFamily="18" charset="0"/>
                          <a:cs typeface="Arial" panose="020B0604020202020204" pitchFamily="34" charset="0"/>
                        </a:rPr>
                        <m:t> 0.6</m:t>
                      </m:r>
                    </m:oMath>
                  </m:oMathPara>
                </a14:m>
                <a:endParaRPr lang="en-US" sz="2000" dirty="0">
                  <a:cs typeface="Arial" panose="020B0604020202020204" pitchFamily="34" charset="0"/>
                </a:endParaRPr>
              </a:p>
              <a:p>
                <a:pPr>
                  <a:spcBef>
                    <a:spcPts val="600"/>
                  </a:spcBef>
                  <a:spcAft>
                    <a:spcPts val="0"/>
                  </a:spcAft>
                </a:pPr>
                <a:r>
                  <a:rPr lang="en-US" sz="2000" dirty="0">
                    <a:cs typeface="Arial" panose="020B0604020202020204" pitchFamily="34" charset="0"/>
                  </a:rPr>
                  <a:t>With </a:t>
                </a:r>
                <a14:m>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smtClean="0">
                            <a:solidFill>
                              <a:srgbClr val="000000"/>
                            </a:solidFill>
                            <a:effectLst/>
                            <a:latin typeface="Cambria Math" panose="02040503050406030204" pitchFamily="18" charset="0"/>
                            <a:cs typeface="Arial" panose="020B0604020202020204" pitchFamily="34" charset="0"/>
                          </a:rPr>
                          <m:t>𝑑</m:t>
                        </m:r>
                      </m:sub>
                    </m:sSub>
                  </m:oMath>
                </a14:m>
                <a:r>
                  <a:rPr lang="en-US" sz="2000" dirty="0">
                    <a:cs typeface="Arial" panose="020B0604020202020204" pitchFamily="34" charset="0"/>
                  </a:rPr>
                  <a:t> as the population mean difference, we can write the hypotheses to a two-tailed test as</a:t>
                </a:r>
              </a:p>
              <a:p>
                <a:pPr marL="914400" algn="l" rtl="0" eaLnBrk="1" fontAlgn="ctr" latinLnBrk="0" hangingPunct="1">
                  <a:spcBef>
                    <a:spcPts val="600"/>
                  </a:spcBef>
                  <a:spcAft>
                    <a:spcPts val="0"/>
                  </a:spcAft>
                </a:pPr>
                <a14:m>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0</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smtClean="0">
                            <a:solidFill>
                              <a:srgbClr val="000000"/>
                            </a:solidFill>
                            <a:effectLst/>
                            <a:latin typeface="Cambria Math" panose="02040503050406030204" pitchFamily="18" charset="0"/>
                            <a:cs typeface="Arial" panose="020B0604020202020204" pitchFamily="34" charset="0"/>
                          </a:rPr>
                          <m:t>𝑑</m:t>
                        </m:r>
                      </m:sub>
                    </m:sSub>
                    <m:r>
                      <a:rPr lang="en-US" sz="2000" b="0" i="1" u="none" strike="noStrike" kern="1200" smtClean="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smtClean="0">
                            <a:solidFill>
                              <a:srgbClr val="000000"/>
                            </a:solidFill>
                            <a:effectLst/>
                            <a:latin typeface="Cambria Math" panose="02040503050406030204" pitchFamily="18" charset="0"/>
                            <a:cs typeface="Arial" panose="020B0604020202020204" pitchFamily="34" charset="0"/>
                          </a:rPr>
                          <m:t>𝐷</m:t>
                        </m:r>
                      </m:e>
                      <m:sub>
                        <m:r>
                          <a:rPr lang="en-US" sz="2000" b="0" i="1" u="none" strike="noStrike" kern="1200" smtClean="0">
                            <a:solidFill>
                              <a:srgbClr val="000000"/>
                            </a:solidFill>
                            <a:effectLst/>
                            <a:latin typeface="Cambria Math" panose="02040503050406030204" pitchFamily="18" charset="0"/>
                            <a:cs typeface="Arial" panose="020B0604020202020204" pitchFamily="34" charset="0"/>
                          </a:rPr>
                          <m:t>0</m:t>
                        </m:r>
                      </m:sub>
                    </m:sSub>
                  </m:oMath>
                </a14:m>
                <a:r>
                  <a:rPr lang="en-US" sz="2000" b="0" i="0" u="none" strike="noStrike" dirty="0">
                    <a:effectLst/>
                    <a:latin typeface="Arial" panose="020B0604020202020204" pitchFamily="34" charset="0"/>
                  </a:rPr>
                  <a:t> </a:t>
                </a:r>
              </a:p>
              <a:p>
                <a:pPr marL="914400" fontAlgn="ctr">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𝑎</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𝜇</m:t>
                          </m:r>
                        </m:e>
                        <m:sub>
                          <m:r>
                            <a:rPr lang="en-US" sz="2000" b="0" i="1" u="none" strike="noStrike" kern="1200" smtClean="0">
                              <a:solidFill>
                                <a:srgbClr val="000000"/>
                              </a:solidFill>
                              <a:effectLst/>
                              <a:latin typeface="Cambria Math" panose="02040503050406030204" pitchFamily="18" charset="0"/>
                              <a:cs typeface="Arial" panose="020B0604020202020204" pitchFamily="34" charset="0"/>
                            </a:rPr>
                            <m:t>𝑑</m:t>
                          </m:r>
                        </m:sub>
                      </m:sSub>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𝐷</m:t>
                          </m:r>
                        </m:e>
                        <m:sub>
                          <m:r>
                            <a:rPr lang="en-US" sz="2000" i="1">
                              <a:latin typeface="Cambria Math" panose="02040503050406030204" pitchFamily="18" charset="0"/>
                              <a:cs typeface="Arial" panose="020B0604020202020204" pitchFamily="34" charset="0"/>
                            </a:rPr>
                            <m:t>0</m:t>
                          </m:r>
                        </m:sub>
                      </m:sSub>
                    </m:oMath>
                  </m:oMathPara>
                </a14:m>
                <a:endParaRPr lang="en-US" sz="2000" dirty="0">
                  <a:cs typeface="Arial" panose="020B0604020202020204" pitchFamily="34" charset="0"/>
                </a:endParaRPr>
              </a:p>
              <a:p>
                <a:pPr>
                  <a:spcBef>
                    <a:spcPts val="600"/>
                  </a:spcBef>
                  <a:spcAft>
                    <a:spcPts val="0"/>
                  </a:spcAft>
                </a:pPr>
                <a:r>
                  <a:rPr lang="en-US" sz="2000" dirty="0">
                    <a:cs typeface="Arial" panose="020B0604020202020204" pitchFamily="34" charset="0"/>
                  </a:rPr>
                  <a:t>In this example, because we are looking for a difference between the two methods,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𝐷</m:t>
                        </m:r>
                      </m:e>
                      <m:sub>
                        <m:r>
                          <a:rPr lang="en-US" sz="2000" i="1">
                            <a:latin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cs typeface="Arial" panose="020B0604020202020204" pitchFamily="34" charset="0"/>
                      </a:rPr>
                      <m:t>=0</m:t>
                    </m:r>
                  </m:oMath>
                </a14:m>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305247"/>
                <a:ext cx="10711543" cy="4622588"/>
              </a:xfrm>
              <a:blipFill>
                <a:blip r:embed="rId3"/>
                <a:stretch>
                  <a:fillRect l="-1422" t="-1583" r="-1877" b="-792"/>
                </a:stretch>
              </a:blipFill>
            </p:spPr>
            <p:txBody>
              <a:bodyPr/>
              <a:lstStyle/>
              <a:p>
                <a:r>
                  <a:rPr lang="en-US">
                    <a:noFill/>
                  </a:rPr>
                  <a:t> </a:t>
                </a:r>
              </a:p>
            </p:txBody>
          </p:sp>
        </mc:Fallback>
      </mc:AlternateContent>
    </p:spTree>
    <p:extLst>
      <p:ext uri="{BB962C8B-B14F-4D97-AF65-F5344CB8AC3E}">
        <p14:creationId xmlns:p14="http://schemas.microsoft.com/office/powerpoint/2010/main" val="3829372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10.3 Test Statistic for Hypothesis Tests Involving Matched Samples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820924"/>
                <a:ext cx="10711543" cy="4099032"/>
              </a:xfrm>
            </p:spPr>
            <p:txBody>
              <a:bodyPr/>
              <a:lstStyle/>
              <a:p>
                <a:pPr>
                  <a:spcBef>
                    <a:spcPts val="600"/>
                  </a:spcBef>
                  <a:spcAft>
                    <a:spcPts val="1200"/>
                  </a:spcAft>
                </a:pPr>
                <a:r>
                  <a:rPr lang="en-US" sz="2000" dirty="0">
                    <a:cs typeface="Arial" panose="020B0604020202020204" pitchFamily="34" charset="0"/>
                  </a:rPr>
                  <a:t>The test statistic for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𝑑</m:t>
                        </m:r>
                      </m:sub>
                    </m:sSub>
                  </m:oMath>
                </a14:m>
                <a:r>
                  <a:rPr lang="en-US" sz="2000" dirty="0"/>
                  <a:t>,</a:t>
                </a:r>
                <a:r>
                  <a:rPr lang="en-US" sz="2000" dirty="0">
                    <a:solidFill>
                      <a:srgbClr val="000000"/>
                    </a:solidFill>
                    <a:cs typeface="Arial" panose="020B0604020202020204" pitchFamily="34" charset="0"/>
                  </a:rPr>
                  <a:t> can be described by a </a:t>
                </a:r>
                <a:r>
                  <a:rPr lang="en-US" sz="2000" i="1" dirty="0">
                    <a:solidFill>
                      <a:srgbClr val="000000"/>
                    </a:solidFill>
                    <a:cs typeface="Arial" panose="020B0604020202020204" pitchFamily="34" charset="0"/>
                  </a:rPr>
                  <a:t>t</a:t>
                </a:r>
                <a:r>
                  <a:rPr lang="en-US" sz="2000" dirty="0">
                    <a:solidFill>
                      <a:srgbClr val="000000"/>
                    </a:solidFill>
                    <a:cs typeface="Arial" panose="020B0604020202020204" pitchFamily="34" charset="0"/>
                  </a:rPr>
                  <a:t> distribution with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−1</m:t>
                    </m:r>
                  </m:oMath>
                </a14:m>
                <a:r>
                  <a:rPr lang="en-US" sz="2000" dirty="0">
                    <a:solidFill>
                      <a:srgbClr val="000000"/>
                    </a:solidFill>
                    <a:cs typeface="Arial" panose="020B0604020202020204" pitchFamily="34" charset="0"/>
                  </a:rPr>
                  <a:t> degrees of freedom.</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𝒕</m:t>
                      </m:r>
                      <m:r>
                        <a:rPr lang="en-US" sz="2000" b="1" i="1" smtClean="0">
                          <a:latin typeface="Cambria Math" panose="02040503050406030204" pitchFamily="18" charset="0"/>
                          <a:cs typeface="Arial" panose="020B0604020202020204" pitchFamily="34" charset="0"/>
                        </a:rPr>
                        <m:t>=</m:t>
                      </m:r>
                      <m:f>
                        <m:fPr>
                          <m:ctrlPr>
                            <a:rPr lang="en-US" sz="2000" b="1" i="1">
                              <a:latin typeface="Cambria Math" panose="02040503050406030204" pitchFamily="18" charset="0"/>
                              <a:cs typeface="Arial" panose="020B0604020202020204" pitchFamily="34" charset="0"/>
                            </a:rPr>
                          </m:ctrlPr>
                        </m:fPr>
                        <m:num>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𝒅</m:t>
                              </m:r>
                            </m:e>
                          </m:acc>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𝑫</m:t>
                              </m:r>
                            </m:e>
                            <m:sub>
                              <m:r>
                                <a:rPr lang="en-US" sz="2000" b="1" i="1">
                                  <a:latin typeface="Cambria Math" panose="02040503050406030204" pitchFamily="18" charset="0"/>
                                  <a:ea typeface="Cambria Math" panose="02040503050406030204" pitchFamily="18" charset="0"/>
                                  <a:cs typeface="Arial" panose="020B0604020202020204" pitchFamily="34" charset="0"/>
                                </a:rPr>
                                <m:t>𝟎</m:t>
                              </m:r>
                            </m:sub>
                          </m:sSub>
                        </m:num>
                        <m:den>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𝒔</m:t>
                              </m:r>
                            </m:e>
                            <m:sub>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𝒅</m:t>
                                  </m:r>
                                </m:e>
                              </m:acc>
                            </m:sub>
                          </m:sSub>
                        </m:den>
                      </m:f>
                    </m:oMath>
                  </m:oMathPara>
                </a14:m>
                <a:endParaRPr lang="en-US" sz="2000" b="1" dirty="0">
                  <a:cs typeface="Arial" panose="020B0604020202020204" pitchFamily="34" charset="0"/>
                </a:endParaRPr>
              </a:p>
              <a:p>
                <a:pPr>
                  <a:spcBef>
                    <a:spcPts val="600"/>
                  </a:spcBef>
                  <a:spcAft>
                    <a:spcPts val="0"/>
                  </a:spcAft>
                </a:pPr>
                <a:r>
                  <a:rPr lang="en-US" sz="2000" dirty="0">
                    <a:cs typeface="Arial" panose="020B0604020202020204" pitchFamily="34" charset="0"/>
                  </a:rPr>
                  <a:t>Where</a:t>
                </a: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𝑑</m:t>
                          </m:r>
                        </m:e>
                      </m:acc>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nary>
                            <m:naryPr>
                              <m:chr m:val="∑"/>
                              <m:subHide m:val="on"/>
                              <m:supHide m:val="on"/>
                              <m:ctrlPr>
                                <a:rPr lang="en-US" sz="2000" b="0" i="1" smtClean="0">
                                  <a:latin typeface="Cambria Math" panose="02040503050406030204" pitchFamily="18" charset="0"/>
                                  <a:cs typeface="Arial" panose="020B0604020202020204" pitchFamily="34" charset="0"/>
                                </a:rPr>
                              </m:ctrlPr>
                            </m:naryPr>
                            <m:sub/>
                            <m:sup/>
                            <m:e>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𝑑</m:t>
                                  </m:r>
                                </m:e>
                                <m:sub>
                                  <m:r>
                                    <a:rPr lang="en-US" sz="2000" b="0" i="1" smtClean="0">
                                      <a:latin typeface="Cambria Math" panose="02040503050406030204" pitchFamily="18" charset="0"/>
                                      <a:cs typeface="Arial" panose="020B0604020202020204" pitchFamily="34" charset="0"/>
                                    </a:rPr>
                                    <m:t>𝑖</m:t>
                                  </m:r>
                                </m:sub>
                              </m:sSub>
                            </m:e>
                          </m:nary>
                        </m:num>
                        <m:den>
                          <m:r>
                            <a:rPr lang="en-US" sz="2000" b="0" i="1" smtClean="0">
                              <a:latin typeface="Cambria Math" panose="02040503050406030204" pitchFamily="18" charset="0"/>
                              <a:cs typeface="Arial" panose="020B0604020202020204" pitchFamily="34" charset="0"/>
                            </a:rPr>
                            <m:t>𝑛</m:t>
                          </m:r>
                        </m:den>
                      </m:f>
                      <m:r>
                        <m:rPr>
                          <m:nor/>
                        </m:rPr>
                        <a:rPr lang="en-US" sz="2000" b="0" i="0" smtClean="0">
                          <a:latin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point</m:t>
                      </m:r>
                      <m:r>
                        <m:rPr>
                          <m:nor/>
                        </m:rPr>
                        <a:rPr lang="en-US" sz="2000" dirty="0">
                          <a:cs typeface="Arial" panose="020B0604020202020204" pitchFamily="34" charset="0"/>
                        </a:rPr>
                        <m:t> </m:t>
                      </m:r>
                      <m:r>
                        <m:rPr>
                          <m:nor/>
                        </m:rPr>
                        <a:rPr lang="en-US" sz="2000" dirty="0">
                          <a:cs typeface="Arial" panose="020B0604020202020204" pitchFamily="34" charset="0"/>
                        </a:rPr>
                        <m:t>estimator</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b="0" i="0" dirty="0" smtClean="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cs typeface="Arial" panose="020B0604020202020204" pitchFamily="34" charset="0"/>
                            </a:rPr>
                            <m:t>𝑑</m:t>
                          </m:r>
                        </m:sub>
                      </m:sSub>
                    </m:oMath>
                  </m:oMathPara>
                </a14:m>
                <a:endParaRPr lang="en-US" sz="2000" i="1" dirty="0">
                  <a:latin typeface="Cambria Math" panose="02040503050406030204" pitchFamily="18" charset="0"/>
                  <a:cs typeface="Arial" panose="020B0604020202020204" pitchFamily="34" charset="0"/>
                </a:endParaRPr>
              </a:p>
              <a:p>
                <a:pPr marL="914400">
                  <a:spcBef>
                    <a:spcPts val="600"/>
                  </a:spcBef>
                  <a:spcAft>
                    <a:spcPts val="600"/>
                  </a:spcAft>
                </a:pP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0</m:t>
                        </m:r>
                      </m:sub>
                    </m:sSub>
                    <m:r>
                      <m:rPr>
                        <m:nor/>
                      </m:rPr>
                      <a:rPr lang="en-US" sz="2000" dirty="0"/>
                      <m:t> </m:t>
                    </m:r>
                    <m:r>
                      <m:rPr>
                        <m:nor/>
                      </m:rPr>
                      <a:rPr lang="en-US" sz="2000" b="0" i="0" dirty="0" smtClean="0"/>
                      <m:t>is</m:t>
                    </m:r>
                    <m:r>
                      <m:rPr>
                        <m:nor/>
                      </m:rPr>
                      <a:rPr lang="en-US" sz="2000" b="0" i="0" dirty="0" smtClean="0"/>
                      <m:t> </m:t>
                    </m:r>
                    <m:r>
                      <m:rPr>
                        <m:nor/>
                      </m:rPr>
                      <a:rPr lang="en-US" sz="2000" dirty="0"/>
                      <m:t>the</m:t>
                    </m:r>
                    <m:r>
                      <m:rPr>
                        <m:nor/>
                      </m:rPr>
                      <a:rPr lang="en-US" sz="2000" dirty="0"/>
                      <m:t> </m:t>
                    </m:r>
                    <m:r>
                      <m:rPr>
                        <m:nor/>
                      </m:rPr>
                      <a:rPr lang="en-US" sz="2000" dirty="0"/>
                      <m:t>hypothesized</m:t>
                    </m:r>
                    <m:r>
                      <m:rPr>
                        <m:nor/>
                      </m:rPr>
                      <a:rPr lang="en-US" sz="2000" dirty="0"/>
                      <m:t> </m:t>
                    </m:r>
                    <m:r>
                      <m:rPr>
                        <m:nor/>
                      </m:rPr>
                      <a:rPr lang="en-US" sz="2000" b="0" i="0" dirty="0" smtClean="0"/>
                      <m:t>mean</m:t>
                    </m:r>
                    <m:r>
                      <m:rPr>
                        <m:nor/>
                      </m:rPr>
                      <a:rPr lang="en-US" sz="2000" b="0" i="0" dirty="0" smtClean="0"/>
                      <m:t> </m:t>
                    </m:r>
                    <m:r>
                      <m:rPr>
                        <m:nor/>
                      </m:rPr>
                      <a:rPr lang="en-US" sz="2000" dirty="0"/>
                      <m:t>difference</m:t>
                    </m:r>
                  </m:oMath>
                </a14:m>
                <a:r>
                  <a:rPr lang="en-US" sz="2000" dirty="0">
                    <a:cs typeface="Arial" panose="020B0604020202020204" pitchFamily="34" charset="0"/>
                  </a:rPr>
                  <a:t> </a:t>
                </a:r>
              </a:p>
              <a:p>
                <a:pPr marL="914400">
                  <a:spcBef>
                    <a:spcPts val="600"/>
                  </a:spcBef>
                  <a:spcAft>
                    <a:spcPts val="600"/>
                  </a:spcAft>
                </a:pPr>
                <a14:m>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𝑠</m:t>
                        </m:r>
                      </m:e>
                      <m:sub>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𝑑</m:t>
                            </m:r>
                          </m:e>
                        </m:acc>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𝑑</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rad>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b="0" i="0" dirty="0" smtClean="0">
                        <a:cs typeface="Arial" panose="020B0604020202020204" pitchFamily="34" charset="0"/>
                      </a:rPr>
                      <m:t>standard</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error</m:t>
                    </m:r>
                    <m:r>
                      <m:rPr>
                        <m:nor/>
                      </m:rPr>
                      <a:rPr lang="en-US" sz="2000" b="0" i="0" dirty="0" smtClean="0">
                        <a:cs typeface="Arial" panose="020B0604020202020204" pitchFamily="34" charset="0"/>
                      </a:rPr>
                      <m:t> </m:t>
                    </m:r>
                    <m:r>
                      <m:rPr>
                        <m:nor/>
                      </m:rPr>
                      <a:rPr lang="en-US" sz="2000" dirty="0">
                        <a:cs typeface="Arial" panose="020B0604020202020204" pitchFamily="34" charset="0"/>
                      </a:rPr>
                      <m:t>of</m:t>
                    </m:r>
                    <m:r>
                      <m:rPr>
                        <m:nor/>
                      </m:rPr>
                      <a:rPr lang="en-US" sz="2000" b="0" i="0" dirty="0" smtClean="0">
                        <a:cs typeface="Arial" panose="020B0604020202020204" pitchFamily="34" charset="0"/>
                      </a:rPr>
                      <m:t> </m:t>
                    </m:r>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𝑑</m:t>
                        </m:r>
                      </m:e>
                    </m:acc>
                  </m:oMath>
                </a14:m>
                <a:r>
                  <a:rPr lang="en-US" sz="2000" dirty="0">
                    <a:cs typeface="Arial" panose="020B0604020202020204" pitchFamily="34" charset="0"/>
                  </a:rPr>
                  <a:t> </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𝑑</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nary>
                                <m:naryPr>
                                  <m:chr m:val="∑"/>
                                  <m:subHide m:val="on"/>
                                  <m:sup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naryPr>
                                <m:sub/>
                                <m:sup/>
                                <m:e>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𝑑</m:t>
                                              </m:r>
                                            </m:e>
                                            <m:sub>
                                              <m:r>
                                                <a:rPr lang="en-US" sz="2000" i="1">
                                                  <a:latin typeface="Cambria Math" panose="02040503050406030204" pitchFamily="18" charset="0"/>
                                                  <a:cs typeface="Arial" panose="020B0604020202020204" pitchFamily="34" charset="0"/>
                                                </a:rPr>
                                                <m:t>𝑖</m:t>
                                              </m:r>
                                            </m:sub>
                                          </m:sSub>
                                          <m:r>
                                            <a:rPr lang="en-US" sz="2000" b="0" i="1" smtClean="0">
                                              <a:latin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𝑑</m:t>
                                              </m:r>
                                            </m:e>
                                          </m:acc>
                                        </m:e>
                                      </m:d>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e>
                              </m:nary>
                            </m:num>
                            <m:den>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r>
                                    <a:rPr lang="en-US" sz="2000" b="0" i="1" smtClean="0">
                                      <a:latin typeface="Cambria Math" panose="02040503050406030204" pitchFamily="18" charset="0"/>
                                      <a:ea typeface="Cambria Math" panose="02040503050406030204" pitchFamily="18" charset="0"/>
                                      <a:cs typeface="Arial" panose="020B0604020202020204" pitchFamily="34" charset="0"/>
                                    </a:rPr>
                                    <m:t>−1</m:t>
                                  </m:r>
                                </m:e>
                              </m:d>
                            </m:den>
                          </m:f>
                        </m:e>
                      </m:rad>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is</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the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sample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standard</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deviation</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of</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the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difference</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endParaRPr lang="en-US" sz="2000" dirty="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820924"/>
                <a:ext cx="10711543" cy="4099032"/>
              </a:xfrm>
              <a:blipFill>
                <a:blip r:embed="rId4"/>
                <a:stretch>
                  <a:fillRect l="-1422" t="-1786"/>
                </a:stretch>
              </a:blipFill>
            </p:spPr>
            <p:txBody>
              <a:bodyPr/>
              <a:lstStyle/>
              <a:p>
                <a:r>
                  <a:rPr lang="en-US">
                    <a:noFill/>
                  </a:rPr>
                  <a:t> </a:t>
                </a:r>
              </a:p>
            </p:txBody>
          </p:sp>
        </mc:Fallback>
      </mc:AlternateContent>
    </p:spTree>
    <p:extLst>
      <p:ext uri="{BB962C8B-B14F-4D97-AF65-F5344CB8AC3E}">
        <p14:creationId xmlns:p14="http://schemas.microsoft.com/office/powerpoint/2010/main" val="3028427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10.3 </a:t>
            </a:r>
            <a:r>
              <a:rPr lang="en-US" sz="3200" i="1" dirty="0"/>
              <a:t>p</a:t>
            </a:r>
            <a:r>
              <a:rPr lang="en-US" sz="3200" dirty="0"/>
              <a:t>-Value Approach to a Test About Matched Samples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277600"/>
                <a:ext cx="10515599" cy="1934745"/>
              </a:xfrm>
            </p:spPr>
            <p:txBody>
              <a:bodyPr>
                <a:normAutofit/>
              </a:bodyPr>
              <a:lstStyle/>
              <a:p>
                <a:pPr>
                  <a:lnSpc>
                    <a:spcPct val="100000"/>
                  </a:lnSpc>
                  <a:spcBef>
                    <a:spcPts val="600"/>
                  </a:spcBef>
                  <a:spcAft>
                    <a:spcPts val="600"/>
                  </a:spcAft>
                </a:pPr>
                <a:r>
                  <a:rPr lang="en-US" sz="2000" dirty="0"/>
                  <a:t>Calculations lead to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=6</m:t>
                    </m:r>
                  </m:oMath>
                </a14:m>
                <a:r>
                  <a:rPr lang="en-US" sz="2000" dirty="0"/>
                  <a:t>, </a:t>
                </a:r>
                <a14:m>
                  <m:oMath xmlns:m="http://schemas.openxmlformats.org/officeDocument/2006/math">
                    <m:acc>
                      <m:accPr>
                        <m:chr m:val="̅"/>
                        <m:ctrlPr>
                          <a:rPr lang="en-US" sz="2000" i="1" smtClean="0">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𝑑</m:t>
                        </m:r>
                      </m:e>
                    </m:acc>
                    <m:r>
                      <a:rPr lang="en-US" sz="2000" b="0" i="1" smtClean="0">
                        <a:latin typeface="Cambria Math" panose="02040503050406030204" pitchFamily="18" charset="0"/>
                        <a:cs typeface="Arial" panose="020B0604020202020204" pitchFamily="34" charset="0"/>
                      </a:rPr>
                      <m:t>=0.30</m:t>
                    </m:r>
                  </m:oMath>
                </a14:m>
                <a:r>
                  <a:rPr lang="en-US" sz="2000" dirty="0"/>
                  <a: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𝑑</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=0.335</m:t>
                    </m:r>
                  </m:oMath>
                </a14:m>
                <a:r>
                  <a:rPr lang="en-US" sz="2000" dirty="0"/>
                  <a:t>. Thus, the test statistic is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𝑡</m:t>
                      </m:r>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𝑑</m:t>
                              </m:r>
                            </m:e>
                          </m:acc>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𝐷</m:t>
                              </m:r>
                            </m:e>
                            <m:sub>
                              <m:r>
                                <a:rPr lang="en-US" sz="2000" b="0" i="1">
                                  <a:latin typeface="Cambria Math" panose="02040503050406030204" pitchFamily="18" charset="0"/>
                                  <a:ea typeface="Cambria Math" panose="02040503050406030204" pitchFamily="18" charset="0"/>
                                  <a:cs typeface="Arial" panose="020B0604020202020204" pitchFamily="34" charset="0"/>
                                </a:rPr>
                                <m:t>0</m:t>
                              </m:r>
                            </m:sub>
                          </m:sSub>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𝑑</m:t>
                                  </m:r>
                                </m:e>
                              </m:acc>
                            </m:sub>
                          </m:sSub>
                        </m:den>
                      </m:f>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𝑑</m:t>
                              </m:r>
                            </m:e>
                          </m:acc>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𝐷</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𝑑</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ea typeface="Cambria Math" panose="02040503050406030204" pitchFamily="18" charset="0"/>
                                  <a:cs typeface="Arial" panose="020B0604020202020204" pitchFamily="34" charset="0"/>
                                </a:rPr>
                              </m:ctrlPr>
                            </m:radPr>
                            <m:deg/>
                            <m:e>
                              <m:r>
                                <a:rPr lang="en-US" sz="2000" i="1">
                                  <a:latin typeface="Cambria Math" panose="02040503050406030204" pitchFamily="18" charset="0"/>
                                  <a:ea typeface="Cambria Math" panose="02040503050406030204" pitchFamily="18" charset="0"/>
                                  <a:cs typeface="Arial" panose="020B0604020202020204" pitchFamily="34" charset="0"/>
                                </a:rPr>
                                <m:t>𝑛</m:t>
                              </m:r>
                            </m:e>
                          </m:rad>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0.30−0</m:t>
                          </m:r>
                        </m:num>
                        <m:den>
                          <m:r>
                            <a:rPr lang="en-US" sz="2000" b="0" i="1" smtClean="0">
                              <a:latin typeface="Cambria Math" panose="02040503050406030204" pitchFamily="18" charset="0"/>
                              <a:cs typeface="Arial" panose="020B0604020202020204" pitchFamily="34" charset="0"/>
                            </a:rPr>
                            <m:t>0.335/</m:t>
                          </m:r>
                          <m:rad>
                            <m:radPr>
                              <m:degHide m:val="on"/>
                              <m:ctrlPr>
                                <a:rPr lang="en-US" sz="2000" b="0" i="1" smtClean="0">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6</m:t>
                              </m:r>
                            </m:e>
                          </m:rad>
                        </m:den>
                      </m:f>
                      <m:r>
                        <a:rPr lang="en-US" sz="2000" b="0" i="1" smtClean="0">
                          <a:latin typeface="Cambria Math" panose="02040503050406030204" pitchFamily="18" charset="0"/>
                          <a:cs typeface="Arial" panose="020B0604020202020204" pitchFamily="34" charset="0"/>
                        </a:rPr>
                        <m:t>=2.20</m:t>
                      </m:r>
                    </m:oMath>
                  </m:oMathPara>
                </a14:m>
                <a:endParaRPr lang="en-US" sz="2000" dirty="0"/>
              </a:p>
              <a:p>
                <a:pPr>
                  <a:lnSpc>
                    <a:spcPct val="100000"/>
                  </a:lnSpc>
                  <a:spcBef>
                    <a:spcPts val="600"/>
                  </a:spcBef>
                  <a:spcAft>
                    <a:spcPts val="600"/>
                  </a:spcAft>
                </a:pPr>
                <a:r>
                  <a:rPr lang="en-US" sz="2000" dirty="0"/>
                  <a:t>The </a:t>
                </a:r>
                <a:r>
                  <a:rPr lang="en-US" sz="2000" i="1" dirty="0"/>
                  <a:t>p</a:t>
                </a:r>
                <a:r>
                  <a:rPr lang="en-US" sz="2000" dirty="0"/>
                  <a:t>-value for this two-tailed test is twice the upper tail of a </a:t>
                </a:r>
                <a:r>
                  <a:rPr lang="en-US" sz="2000" i="1" dirty="0"/>
                  <a:t>t</a:t>
                </a:r>
                <a:r>
                  <a:rPr lang="en-US" sz="2000" dirty="0"/>
                  <a:t> distribution with 5 degrees of freedom (*see notes.) Using Table 2 in Appendix B, we have</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277600"/>
                <a:ext cx="10515599" cy="1934745"/>
              </a:xfrm>
              <a:blipFill>
                <a:blip r:embed="rId4"/>
                <a:stretch>
                  <a:fillRect l="-1508" t="-3470" b="-41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655377" y="3191813"/>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𝟓</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0.920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1.476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2.015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2.571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3.365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4.032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3240602739"/>
                  </p:ext>
                </p:extLst>
              </p:nvPr>
            </p:nvGraphicFramePr>
            <p:xfrm>
              <a:off x="1655377" y="3191813"/>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5"/>
                          <a:stretch>
                            <a:fillRect t="-101639" r="-216864" b="-16393"/>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0.920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1.476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2.015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2.571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3.365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4.032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744706" y="3969441"/>
                <a:ext cx="10484504" cy="1813035"/>
              </a:xfrm>
            </p:spPr>
            <p:txBody>
              <a:bodyPr>
                <a:noAutofit/>
              </a:bodyPr>
              <a:lstStyle/>
              <a:p>
                <a:pPr>
                  <a:lnSpc>
                    <a:spcPct val="110000"/>
                  </a:lnSpc>
                  <a:spcBef>
                    <a:spcPts val="600"/>
                  </a:spcBef>
                </a:pPr>
                <a:r>
                  <a:rPr lang="en-US" sz="2000" dirty="0">
                    <a:cs typeface="Arial" panose="020B0604020202020204" pitchFamily="34" charset="0"/>
                  </a:rPr>
                  <a:t>For a two-tailed test, the </a:t>
                </a:r>
                <a:r>
                  <a:rPr lang="en-US" sz="2000" i="1" dirty="0">
                    <a:cs typeface="Arial" panose="020B0604020202020204" pitchFamily="34" charset="0"/>
                  </a:rPr>
                  <a:t>p</a:t>
                </a:r>
                <a:r>
                  <a:rPr lang="en-US" sz="2000" dirty="0">
                    <a:cs typeface="Arial" panose="020B0604020202020204" pitchFamily="34" charset="0"/>
                  </a:rPr>
                  <a:t>-value is twice</a:t>
                </a:r>
                <a:r>
                  <a:rPr lang="en-US" sz="2000" dirty="0">
                    <a:solidFill>
                      <a:srgbClr val="000000"/>
                    </a:solidFill>
                    <a:cs typeface="Arial" panose="020B0604020202020204" pitchFamily="34" charset="0"/>
                  </a:rPr>
                  <a:t> the 0.025 to 0.05 range identified in the “Area in Upper Tail” row for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𝑡</m:t>
                    </m:r>
                    <m:r>
                      <a:rPr lang="en-US" sz="2000" i="1" dirty="0" smtClean="0">
                        <a:solidFill>
                          <a:srgbClr val="000000"/>
                        </a:solidFill>
                        <a:latin typeface="Cambria Math" panose="02040503050406030204" pitchFamily="18" charset="0"/>
                        <a:cs typeface="Arial" panose="020B0604020202020204" pitchFamily="34" charset="0"/>
                      </a:rPr>
                      <m:t>=2.20</m:t>
                    </m:r>
                  </m:oMath>
                </a14:m>
                <a:r>
                  <a:rPr lang="en-US" sz="2000" dirty="0">
                    <a:solidFill>
                      <a:srgbClr val="000000"/>
                    </a:solidFill>
                    <a:cs typeface="Arial" panose="020B0604020202020204" pitchFamily="34" charset="0"/>
                  </a:rPr>
                  <a:t>. Thus, we have: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0.0</m:t>
                    </m:r>
                    <m:r>
                      <a:rPr lang="en-US" sz="2000" b="0" i="1" dirty="0" smtClean="0">
                        <a:solidFill>
                          <a:srgbClr val="000000"/>
                        </a:solidFill>
                        <a:latin typeface="Cambria Math" panose="02040503050406030204" pitchFamily="18" charset="0"/>
                        <a:cs typeface="Arial" panose="020B0604020202020204" pitchFamily="34" charset="0"/>
                      </a:rPr>
                      <m:t>5</m:t>
                    </m:r>
                    <m:r>
                      <a:rPr lang="en-US" sz="2000" i="1" dirty="0" smtClean="0">
                        <a:solidFill>
                          <a:srgbClr val="000000"/>
                        </a:solidFill>
                        <a:latin typeface="Cambria Math" panose="02040503050406030204" pitchFamily="18" charset="0"/>
                        <a:cs typeface="Arial" panose="020B0604020202020204" pitchFamily="34" charset="0"/>
                      </a:rPr>
                      <m:t>≤</m:t>
                    </m:r>
                    <m:r>
                      <a:rPr lang="en-US" sz="2000" i="1" dirty="0" smtClean="0">
                        <a:solidFill>
                          <a:srgbClr val="000000"/>
                        </a:solidFill>
                        <a:latin typeface="Cambria Math" panose="02040503050406030204" pitchFamily="18" charset="0"/>
                        <a:cs typeface="Arial" panose="020B0604020202020204" pitchFamily="34" charset="0"/>
                      </a:rPr>
                      <m:t>𝑝</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0.</m:t>
                    </m:r>
                    <m:r>
                      <a:rPr lang="en-US" sz="2000" b="0" i="1" dirty="0" smtClean="0">
                        <a:solidFill>
                          <a:srgbClr val="000000"/>
                        </a:solidFill>
                        <a:latin typeface="Cambria Math" panose="02040503050406030204" pitchFamily="18" charset="0"/>
                        <a:cs typeface="Arial" panose="020B0604020202020204" pitchFamily="34" charset="0"/>
                      </a:rPr>
                      <m:t>10</m:t>
                    </m:r>
                  </m:oMath>
                </a14:m>
                <a:r>
                  <a:rPr lang="en-US" sz="2000" dirty="0">
                    <a:solidFill>
                      <a:srgbClr val="000000"/>
                    </a:solidFill>
                    <a:cs typeface="Arial" panose="020B0604020202020204" pitchFamily="34" charset="0"/>
                  </a:rPr>
                  <a:t>.</a:t>
                </a:r>
              </a:p>
              <a:p>
                <a:pPr>
                  <a:lnSpc>
                    <a:spcPct val="110000"/>
                  </a:lnSpc>
                  <a:spcBef>
                    <a:spcPts val="600"/>
                  </a:spcBef>
                </a:pPr>
                <a:r>
                  <a:rPr lang="en-US" sz="2000" dirty="0">
                    <a:cs typeface="Arial" panose="020B0604020202020204" pitchFamily="34" charset="0"/>
                  </a:rPr>
                  <a:t>We can also use Excel to compute the exact </a:t>
                </a:r>
                <a:r>
                  <a:rPr lang="en-US" sz="2000" i="1" dirty="0">
                    <a:cs typeface="Arial" panose="020B0604020202020204" pitchFamily="34" charset="0"/>
                  </a:rPr>
                  <a:t>p</a:t>
                </a:r>
                <a:r>
                  <a:rPr lang="en-US" sz="2000" dirty="0">
                    <a:cs typeface="Arial" panose="020B0604020202020204" pitchFamily="34" charset="0"/>
                  </a:rPr>
                  <a:t>-value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DIST</m:t>
                    </m:r>
                    <m:r>
                      <m:rPr>
                        <m:nor/>
                      </m:rPr>
                      <a:rPr lang="en-US" sz="2000" i="0" dirty="0" smtClean="0">
                        <a:latin typeface="Cambria Math" panose="02040503050406030204" pitchFamily="18" charset="0"/>
                        <a:cs typeface="Arial" panose="020B0604020202020204" pitchFamily="34" charset="0"/>
                      </a:rPr>
                      <m:t>.2</m:t>
                    </m:r>
                    <m:r>
                      <m:rPr>
                        <m:nor/>
                      </m:rPr>
                      <a:rPr lang="en-US" sz="2000" i="0" dirty="0" smtClean="0">
                        <a:latin typeface="Cambria Math" panose="02040503050406030204" pitchFamily="18" charset="0"/>
                        <a:cs typeface="Arial" panose="020B0604020202020204" pitchFamily="34" charset="0"/>
                      </a:rPr>
                      <m:t>T</m:t>
                    </m:r>
                    <m:r>
                      <m:rPr>
                        <m:nor/>
                      </m:rPr>
                      <a:rPr lang="en-US" sz="2000" i="0" dirty="0" smtClean="0">
                        <a:latin typeface="Cambria Math" panose="02040503050406030204" pitchFamily="18" charset="0"/>
                        <a:cs typeface="Arial" panose="020B0604020202020204" pitchFamily="34" charset="0"/>
                      </a:rPr>
                      <m:t>(2.20,5)</m:t>
                    </m:r>
                    <m:r>
                      <a:rPr lang="en-US" sz="2000" i="1" dirty="0" smtClean="0">
                        <a:latin typeface="Cambria Math" panose="02040503050406030204" pitchFamily="18" charset="0"/>
                        <a:cs typeface="Arial" panose="020B0604020202020204" pitchFamily="34" charset="0"/>
                      </a:rPr>
                      <m:t>=0.</m:t>
                    </m:r>
                    <m:r>
                      <a:rPr lang="en-US" sz="2000" b="0" i="1" dirty="0" smtClean="0">
                        <a:latin typeface="Cambria Math" panose="02040503050406030204" pitchFamily="18" charset="0"/>
                        <a:cs typeface="Arial" panose="020B0604020202020204" pitchFamily="34" charset="0"/>
                      </a:rPr>
                      <m:t>0791</m:t>
                    </m:r>
                  </m:oMath>
                </a14:m>
                <a:endParaRPr lang="en-US" sz="2000" dirty="0">
                  <a:cs typeface="Arial" panose="020B0604020202020204" pitchFamily="34" charset="0"/>
                </a:endParaRPr>
              </a:p>
              <a:p>
                <a:pPr>
                  <a:lnSpc>
                    <a:spcPct val="110000"/>
                  </a:lnSpc>
                  <a:spcBef>
                    <a:spcPts val="600"/>
                  </a:spcBef>
                </a:pPr>
                <a:r>
                  <a:rPr lang="en-US" sz="2000" dirty="0">
                    <a:cs typeface="Arial" panose="020B0604020202020204" pitchFamily="34" charset="0"/>
                  </a:rPr>
                  <a:t>Because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r>
                      <m:rPr>
                        <m:nor/>
                      </m:rPr>
                      <a:rPr lang="en-US" sz="2000" i="0" dirty="0" smtClean="0">
                        <a:latin typeface="Arial" panose="020B0604020202020204" pitchFamily="34" charset="0"/>
                        <a:cs typeface="Arial" panose="020B0604020202020204" pitchFamily="34" charset="0"/>
                      </a:rPr>
                      <m:t>−</m:t>
                    </m:r>
                    <m:r>
                      <m:rPr>
                        <m:nor/>
                      </m:rPr>
                      <a:rPr lang="en-US" sz="2000" i="0" dirty="0" smtClean="0">
                        <a:latin typeface="Arial" panose="020B0604020202020204" pitchFamily="34" charset="0"/>
                        <a:cs typeface="Arial" panose="020B0604020202020204" pitchFamily="34" charset="0"/>
                      </a:rPr>
                      <m:t>value</m:t>
                    </m:r>
                    <m:r>
                      <a:rPr lang="en-US" sz="2000" b="0" i="1" dirty="0" smtClean="0">
                        <a:latin typeface="Cambria Math" panose="02040503050406030204" pitchFamily="18" charset="0"/>
                        <a:cs typeface="Arial" panose="020B0604020202020204" pitchFamily="34" charset="0"/>
                      </a:rPr>
                      <m:t>&gt;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cs typeface="Arial" panose="020B0604020202020204" pitchFamily="34" charset="0"/>
                  </a:rPr>
                  <a:t>, we do not reject the null hypothesis and cannot conclude that the two production methods have a different mean completion time.</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744706" y="3969441"/>
                <a:ext cx="10484504" cy="1813035"/>
              </a:xfrm>
              <a:blipFill>
                <a:blip r:embed="rId6"/>
                <a:stretch>
                  <a:fillRect l="-1453" t="-4027" r="-174" b="-8054"/>
                </a:stretch>
              </a:blipFill>
            </p:spPr>
            <p:txBody>
              <a:bodyPr/>
              <a:lstStyle/>
              <a:p>
                <a:r>
                  <a:rPr lang="en-US">
                    <a:noFill/>
                  </a:rPr>
                  <a:t> </a:t>
                </a:r>
              </a:p>
            </p:txBody>
          </p:sp>
        </mc:Fallback>
      </mc:AlternateContent>
    </p:spTree>
    <p:extLst>
      <p:ext uri="{BB962C8B-B14F-4D97-AF65-F5344CB8AC3E}">
        <p14:creationId xmlns:p14="http://schemas.microsoft.com/office/powerpoint/2010/main" val="452257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dirty="0"/>
              <a:t>10.3 Interval Estimation Involving Matched Samples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333309"/>
                <a:ext cx="10515599" cy="1788263"/>
              </a:xfrm>
            </p:spPr>
            <p:txBody>
              <a:bodyPr>
                <a:noAutofit/>
              </a:bodyPr>
              <a:lstStyle/>
              <a:p>
                <a:pPr>
                  <a:lnSpc>
                    <a:spcPct val="100000"/>
                  </a:lnSpc>
                  <a:spcBef>
                    <a:spcPts val="600"/>
                  </a:spcBef>
                  <a:spcAft>
                    <a:spcPts val="600"/>
                  </a:spcAft>
                </a:pPr>
                <a:r>
                  <a:rPr lang="en-US" sz="2000" dirty="0"/>
                  <a:t>We can obtain an interval estimate of the population mean completion time difference between the two methods using the single population methodology from Chapter 8.</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b="1" i="1">
                              <a:latin typeface="Cambria Math" panose="02040503050406030204" pitchFamily="18" charset="0"/>
                            </a:rPr>
                          </m:ctrlPr>
                        </m:accPr>
                        <m:e>
                          <m:r>
                            <a:rPr lang="en-US" sz="2000" b="1" i="1" smtClean="0">
                              <a:latin typeface="Cambria Math" panose="02040503050406030204" pitchFamily="18" charset="0"/>
                            </a:rPr>
                            <m:t>𝒅</m:t>
                          </m:r>
                        </m:e>
                      </m:acc>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𝒕</m:t>
                          </m:r>
                        </m:e>
                        <m:sub>
                          <m:f>
                            <m:fPr>
                              <m:type m:val="lin"/>
                              <m:ctrlPr>
                                <a:rPr lang="en-US" sz="2000" b="1" i="1">
                                  <a:latin typeface="Cambria Math" panose="02040503050406030204" pitchFamily="18" charset="0"/>
                                  <a:ea typeface="Cambria Math" panose="02040503050406030204" pitchFamily="18" charset="0"/>
                                </a:rPr>
                              </m:ctrlPr>
                            </m:fPr>
                            <m:num>
                              <m:r>
                                <a:rPr lang="en-US" sz="2000" b="1" i="1">
                                  <a:latin typeface="Cambria Math" panose="02040503050406030204" pitchFamily="18" charset="0"/>
                                  <a:ea typeface="Cambria Math" panose="02040503050406030204" pitchFamily="18" charset="0"/>
                                </a:rPr>
                                <m:t>𝜶</m:t>
                              </m:r>
                            </m:num>
                            <m:den>
                              <m:r>
                                <a:rPr lang="en-US" sz="2000" b="1" i="1">
                                  <a:latin typeface="Cambria Math" panose="02040503050406030204" pitchFamily="18" charset="0"/>
                                  <a:ea typeface="Cambria Math" panose="02040503050406030204" pitchFamily="18" charset="0"/>
                                </a:rPr>
                                <m:t>𝟐</m:t>
                              </m:r>
                            </m:den>
                          </m:f>
                        </m:sub>
                      </m:sSub>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𝒔</m:t>
                          </m:r>
                        </m:e>
                        <m:sub>
                          <m:r>
                            <a:rPr lang="en-US" sz="2000" b="1" i="1">
                              <a:latin typeface="Cambria Math" panose="02040503050406030204" pitchFamily="18" charset="0"/>
                              <a:ea typeface="Cambria Math" panose="02040503050406030204" pitchFamily="18" charset="0"/>
                              <a:cs typeface="Arial" panose="020B0604020202020204" pitchFamily="34" charset="0"/>
                            </a:rPr>
                            <m:t>𝒅</m:t>
                          </m:r>
                        </m:sub>
                      </m:sSub>
                      <m:r>
                        <a:rPr lang="en-US" sz="2000" b="1" i="1">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b="1" i="1">
                              <a:latin typeface="Cambria Math" panose="02040503050406030204" pitchFamily="18" charset="0"/>
                              <a:ea typeface="Cambria Math" panose="02040503050406030204" pitchFamily="18" charset="0"/>
                              <a:cs typeface="Arial" panose="020B0604020202020204" pitchFamily="34" charset="0"/>
                            </a:rPr>
                          </m:ctrlPr>
                        </m:radPr>
                        <m:deg/>
                        <m:e>
                          <m:r>
                            <a:rPr lang="en-US" sz="2000" b="1" i="1">
                              <a:latin typeface="Cambria Math" panose="02040503050406030204" pitchFamily="18" charset="0"/>
                              <a:ea typeface="Cambria Math" panose="02040503050406030204" pitchFamily="18" charset="0"/>
                              <a:cs typeface="Arial" panose="020B0604020202020204" pitchFamily="34" charset="0"/>
                            </a:rPr>
                            <m:t>𝒏</m:t>
                          </m:r>
                        </m:e>
                      </m:rad>
                    </m:oMath>
                  </m:oMathPara>
                </a14:m>
                <a:endParaRPr lang="en-US" sz="2000" b="1" dirty="0">
                  <a:cs typeface="Arial" panose="020B0604020202020204" pitchFamily="34" charset="0"/>
                </a:endParaRPr>
              </a:p>
              <a:p>
                <a:pPr>
                  <a:lnSpc>
                    <a:spcPct val="100000"/>
                  </a:lnSpc>
                  <a:spcBef>
                    <a:spcPts val="600"/>
                  </a:spcBef>
                  <a:spcAft>
                    <a:spcPts val="600"/>
                  </a:spcAft>
                </a:pPr>
                <a:r>
                  <a:rPr lang="en-US" sz="2000" dirty="0"/>
                  <a:t>With 95% confidence and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−1=5</m:t>
                    </m:r>
                  </m:oMath>
                </a14:m>
                <a:r>
                  <a:rPr lang="en-US" sz="2000" dirty="0"/>
                  <a:t> degrees of freedom, Table </a:t>
                </a:r>
                <a:r>
                  <a:rPr lang="en-US" sz="2000"/>
                  <a:t>2 in Appendix B </a:t>
                </a:r>
                <a:r>
                  <a:rPr lang="en-US" sz="2000" dirty="0"/>
                  <a:t>can be used to obtain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𝑡</m:t>
                        </m:r>
                      </m:e>
                      <m:sub>
                        <m:r>
                          <a:rPr lang="en-US" sz="2000" i="1">
                            <a:latin typeface="Cambria Math" panose="02040503050406030204" pitchFamily="18" charset="0"/>
                            <a:ea typeface="Cambria Math" panose="02040503050406030204" pitchFamily="18" charset="0"/>
                          </a:rPr>
                          <m:t>.025</m:t>
                        </m:r>
                      </m:sub>
                    </m:sSub>
                    <m:r>
                      <a:rPr lang="en-US" sz="2000" b="0" i="1" smtClean="0">
                        <a:latin typeface="Cambria Math" panose="02040503050406030204" pitchFamily="18" charset="0"/>
                        <a:ea typeface="Cambria Math" panose="02040503050406030204" pitchFamily="18" charset="0"/>
                      </a:rPr>
                      <m:t>=2.571</m:t>
                    </m:r>
                  </m:oMath>
                </a14:m>
                <a:r>
                  <a:rPr lang="en-US" sz="2000" dirty="0"/>
                  <a:t>.</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333309"/>
                <a:ext cx="10515599" cy="1788263"/>
              </a:xfrm>
              <a:blipFill>
                <a:blip r:embed="rId3"/>
                <a:stretch>
                  <a:fillRect l="-1508" t="-4096" r="-290" b="-88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655377" y="3160279"/>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𝟓</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0.920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1.476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2.015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2.571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3.365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4.032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1949935643"/>
                  </p:ext>
                </p:extLst>
              </p:nvPr>
            </p:nvGraphicFramePr>
            <p:xfrm>
              <a:off x="1655377" y="3160279"/>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1639" r="-216864" b="-16393"/>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0.920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1.476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2.015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2.571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3.365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4.032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744706" y="3953673"/>
                <a:ext cx="10484504" cy="1887451"/>
              </a:xfrm>
            </p:spPr>
            <p:txBody>
              <a:bodyPr>
                <a:noAutofit/>
              </a:bodyPr>
              <a:lstStyle/>
              <a:p>
                <a:pPr>
                  <a:lnSpc>
                    <a:spcPct val="100000"/>
                  </a:lnSpc>
                  <a:spcBef>
                    <a:spcPts val="600"/>
                  </a:spcBef>
                </a:pPr>
                <a:r>
                  <a:rPr lang="en-US" sz="2000" dirty="0"/>
                  <a:t>Alternatively, the Excel equation =T.INV(1−0.025,5) will also generate the value 2.571.</a:t>
                </a:r>
              </a:p>
              <a:p>
                <a:pPr>
                  <a:lnSpc>
                    <a:spcPct val="100000"/>
                  </a:lnSpc>
                  <a:spcBef>
                    <a:spcPts val="600"/>
                  </a:spcBef>
                  <a:spcAft>
                    <a:spcPts val="600"/>
                  </a:spcAft>
                </a:pPr>
                <a:r>
                  <a:rPr lang="en-US" sz="2000" dirty="0"/>
                  <a:t>We compute an interval estimate of the population mean completion time difference as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𝑑</m:t>
                          </m:r>
                        </m:e>
                      </m:acc>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𝑡</m:t>
                          </m:r>
                        </m:e>
                        <m:sub>
                          <m:r>
                            <a:rPr lang="en-US" sz="2000" b="0" i="1" smtClean="0">
                              <a:latin typeface="Cambria Math" panose="02040503050406030204" pitchFamily="18" charset="0"/>
                              <a:ea typeface="Cambria Math" panose="02040503050406030204" pitchFamily="18" charset="0"/>
                            </a:rPr>
                            <m:t>.025</m:t>
                          </m:r>
                        </m:sub>
                      </m:s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𝑠</m:t>
                          </m:r>
                        </m:e>
                        <m:sub>
                          <m:r>
                            <a:rPr lang="en-US" sz="2000" i="1">
                              <a:latin typeface="Cambria Math" panose="02040503050406030204" pitchFamily="18" charset="0"/>
                              <a:ea typeface="Cambria Math" panose="02040503050406030204" pitchFamily="18" charset="0"/>
                              <a:cs typeface="Arial" panose="020B0604020202020204" pitchFamily="34" charset="0"/>
                            </a:rPr>
                            <m:t>𝑑</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ea typeface="Cambria Math" panose="02040503050406030204" pitchFamily="18" charset="0"/>
                              <a:cs typeface="Arial" panose="020B0604020202020204" pitchFamily="34" charset="0"/>
                            </a:rPr>
                          </m:ctrlPr>
                        </m:radPr>
                        <m:deg/>
                        <m:e>
                          <m:r>
                            <a:rPr lang="en-US" sz="2000" i="1">
                              <a:latin typeface="Cambria Math" panose="02040503050406030204" pitchFamily="18" charset="0"/>
                              <a:ea typeface="Cambria Math" panose="02040503050406030204" pitchFamily="18" charset="0"/>
                              <a:cs typeface="Arial" panose="020B0604020202020204" pitchFamily="34" charset="0"/>
                            </a:rPr>
                            <m:t>𝑛</m:t>
                          </m:r>
                        </m:e>
                      </m:rad>
                      <m:r>
                        <a:rPr lang="en-US" sz="2000" b="0" i="1" smtClean="0">
                          <a:latin typeface="Cambria Math" panose="02040503050406030204" pitchFamily="18" charset="0"/>
                          <a:ea typeface="Cambria Math" panose="02040503050406030204" pitchFamily="18" charset="0"/>
                        </a:rPr>
                        <m:t>=0.3±2.571</m:t>
                      </m:r>
                      <m:d>
                        <m:dPr>
                          <m:ctrlPr>
                            <a:rPr lang="en-US" sz="2000" b="0" i="1" smtClean="0">
                              <a:latin typeface="Cambria Math" panose="02040503050406030204" pitchFamily="18" charset="0"/>
                              <a:ea typeface="Cambria Math" panose="02040503050406030204" pitchFamily="18" charset="0"/>
                            </a:rPr>
                          </m:ctrlPr>
                        </m:dPr>
                        <m:e>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0.335</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6</m:t>
                                  </m:r>
                                </m:e>
                              </m:rad>
                            </m:den>
                          </m:f>
                        </m:e>
                      </m:d>
                      <m:r>
                        <a:rPr lang="en-US" sz="2000" i="1">
                          <a:latin typeface="Cambria Math" panose="02040503050406030204" pitchFamily="18" charset="0"/>
                          <a:ea typeface="Cambria Math" panose="02040503050406030204" pitchFamily="18" charset="0"/>
                        </a:rPr>
                        <m:t>=0.3±</m:t>
                      </m:r>
                      <m:r>
                        <a:rPr lang="en-US" sz="2000" b="0" i="1" smtClean="0">
                          <a:latin typeface="Cambria Math" panose="02040503050406030204" pitchFamily="18" charset="0"/>
                          <a:ea typeface="Cambria Math" panose="02040503050406030204" pitchFamily="18" charset="0"/>
                        </a:rPr>
                        <m:t>0.35</m:t>
                      </m:r>
                    </m:oMath>
                  </m:oMathPara>
                </a14:m>
                <a:endParaRPr lang="en-US" sz="2000" dirty="0"/>
              </a:p>
              <a:p>
                <a:pPr>
                  <a:lnSpc>
                    <a:spcPct val="100000"/>
                  </a:lnSpc>
                  <a:spcBef>
                    <a:spcPts val="600"/>
                  </a:spcBef>
                </a:pPr>
                <a:r>
                  <a:rPr lang="en-US" sz="2000" dirty="0"/>
                  <a:t>We are 95% confident that the population mean completion time difference between the two production methods is between </a:t>
                </a:r>
                <a14:m>
                  <m:oMath xmlns:m="http://schemas.openxmlformats.org/officeDocument/2006/math">
                    <m:r>
                      <a:rPr lang="en-US" sz="2000" b="0" i="1" smtClean="0">
                        <a:latin typeface="Cambria Math" panose="02040503050406030204" pitchFamily="18" charset="0"/>
                        <a:ea typeface="Cambria Math" panose="02040503050406030204" pitchFamily="18" charset="0"/>
                      </a:rPr>
                      <m:t>0.3−0.35=−0.05</m:t>
                    </m:r>
                  </m:oMath>
                </a14:m>
                <a:r>
                  <a:rPr lang="en-US" sz="2000" dirty="0"/>
                  <a:t> minutes and </a:t>
                </a:r>
                <a14:m>
                  <m:oMath xmlns:m="http://schemas.openxmlformats.org/officeDocument/2006/math">
                    <m:r>
                      <a:rPr lang="en-US" sz="2000" i="1">
                        <a:latin typeface="Cambria Math" panose="02040503050406030204" pitchFamily="18" charset="0"/>
                        <a:ea typeface="Cambria Math" panose="02040503050406030204" pitchFamily="18" charset="0"/>
                      </a:rPr>
                      <m:t>0.3</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0.35=0.</m:t>
                    </m:r>
                    <m:r>
                      <a:rPr lang="en-US" sz="2000" b="0" i="1" smtClean="0">
                        <a:latin typeface="Cambria Math" panose="02040503050406030204" pitchFamily="18" charset="0"/>
                        <a:ea typeface="Cambria Math" panose="02040503050406030204" pitchFamily="18" charset="0"/>
                      </a:rPr>
                      <m:t>6</m:t>
                    </m:r>
                    <m:r>
                      <a:rPr lang="en-US" sz="2000" i="1">
                        <a:latin typeface="Cambria Math" panose="02040503050406030204" pitchFamily="18" charset="0"/>
                        <a:ea typeface="Cambria Math" panose="02040503050406030204" pitchFamily="18" charset="0"/>
                      </a:rPr>
                      <m:t>5</m:t>
                    </m:r>
                  </m:oMath>
                </a14:m>
                <a:r>
                  <a:rPr lang="en-US" sz="2000" dirty="0"/>
                  <a:t> minutes.</a:t>
                </a: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744706" y="3953673"/>
                <a:ext cx="10484504" cy="1887451"/>
              </a:xfrm>
              <a:blipFill>
                <a:blip r:embed="rId5"/>
                <a:stretch>
                  <a:fillRect l="-1453" t="-3883" r="-407" b="-8414"/>
                </a:stretch>
              </a:blipFill>
            </p:spPr>
            <p:txBody>
              <a:bodyPr/>
              <a:lstStyle/>
              <a:p>
                <a:r>
                  <a:rPr lang="en-US">
                    <a:noFill/>
                  </a:rPr>
                  <a:t> </a:t>
                </a:r>
              </a:p>
            </p:txBody>
          </p:sp>
        </mc:Fallback>
      </mc:AlternateContent>
    </p:spTree>
    <p:extLst>
      <p:ext uri="{BB962C8B-B14F-4D97-AF65-F5344CB8AC3E}">
        <p14:creationId xmlns:p14="http://schemas.microsoft.com/office/powerpoint/2010/main" val="3423568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sz="3200" dirty="0">
                <a:solidFill>
                  <a:srgbClr val="25894E"/>
                </a:solidFill>
              </a:rPr>
              <a:t>10.3 Excel: Dialog Box for </a:t>
            </a:r>
            <a:r>
              <a:rPr lang="en-US" sz="3200" i="1" dirty="0">
                <a:solidFill>
                  <a:srgbClr val="25894E"/>
                </a:solidFill>
              </a:rPr>
              <a:t>t</a:t>
            </a:r>
            <a:r>
              <a:rPr lang="en-US" sz="3200" dirty="0">
                <a:solidFill>
                  <a:srgbClr val="25894E"/>
                </a:solidFill>
              </a:rPr>
              <a:t>-Test: Paired Two Sample For Means Tool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7" y="1574804"/>
            <a:ext cx="10704846" cy="717635"/>
          </a:xfrm>
        </p:spPr>
        <p:txBody>
          <a:bodyPr/>
          <a:lstStyle/>
          <a:p>
            <a:r>
              <a:rPr lang="en-US" sz="2000" b="1" dirty="0"/>
              <a:t>Enter/Access Data</a:t>
            </a:r>
            <a:r>
              <a:rPr lang="en-US" sz="2000" dirty="0"/>
              <a:t>: Open the file </a:t>
            </a:r>
            <a:r>
              <a:rPr lang="en-US" sz="2000" i="1" dirty="0"/>
              <a:t>matched</a:t>
            </a:r>
            <a:r>
              <a:rPr lang="en-US" sz="2000" dirty="0"/>
              <a:t>.</a:t>
            </a:r>
          </a:p>
          <a:p>
            <a:r>
              <a:rPr lang="en-US" sz="2000" b="1" dirty="0"/>
              <a:t>Apply Tools</a:t>
            </a:r>
            <a:r>
              <a:rPr lang="en-US" sz="2000" dirty="0"/>
              <a:t>: In the t-Test: Paired Two Sample For Means dialog box, enter the following:</a:t>
            </a:r>
          </a:p>
        </p:txBody>
      </p:sp>
      <p:sp>
        <p:nvSpPr>
          <p:cNvPr id="4" name="Text Placeholder 3">
            <a:extLst>
              <a:ext uri="{FF2B5EF4-FFF2-40B4-BE49-F238E27FC236}">
                <a16:creationId xmlns:a16="http://schemas.microsoft.com/office/drawing/2014/main" id="{4792A5DD-B984-0EC7-2899-6D8CF34B94C3}"/>
              </a:ext>
            </a:extLst>
          </p:cNvPr>
          <p:cNvSpPr>
            <a:spLocks noGrp="1"/>
          </p:cNvSpPr>
          <p:nvPr>
            <p:ph type="body" sz="quarter" idx="17"/>
          </p:nvPr>
        </p:nvSpPr>
        <p:spPr>
          <a:xfrm>
            <a:off x="743577" y="2350297"/>
            <a:ext cx="5892968" cy="3492429"/>
          </a:xfrm>
        </p:spPr>
        <p:txBody>
          <a:bodyPr/>
          <a:lstStyle/>
          <a:p>
            <a:pPr marL="914400" indent="-800100"/>
            <a:r>
              <a:rPr lang="en-US" sz="1800" b="1" dirty="0"/>
              <a:t>Step 1</a:t>
            </a:r>
            <a:r>
              <a:rPr lang="en-US" sz="1800" dirty="0"/>
              <a:t>. Click the </a:t>
            </a:r>
            <a:r>
              <a:rPr lang="en-US" sz="1800" b="1" dirty="0"/>
              <a:t>Data</a:t>
            </a:r>
            <a:r>
              <a:rPr lang="en-US" sz="1800" dirty="0"/>
              <a:t> tab on the Ribbon</a:t>
            </a:r>
          </a:p>
          <a:p>
            <a:pPr marL="914400" indent="-800100">
              <a:spcBef>
                <a:spcPts val="300"/>
              </a:spcBef>
            </a:pPr>
            <a:r>
              <a:rPr lang="en-US" sz="1800" b="1" dirty="0"/>
              <a:t>Step 2</a:t>
            </a:r>
            <a:r>
              <a:rPr lang="en-US" sz="1800" dirty="0"/>
              <a:t>. In the </a:t>
            </a:r>
            <a:r>
              <a:rPr lang="en-US" sz="1800" b="1" dirty="0"/>
              <a:t>Analyze</a:t>
            </a:r>
            <a:r>
              <a:rPr lang="en-US" sz="1800" dirty="0"/>
              <a:t> group, click </a:t>
            </a:r>
            <a:r>
              <a:rPr lang="en-US" sz="1800" b="1" dirty="0"/>
              <a:t>Data Analysis</a:t>
            </a:r>
          </a:p>
          <a:p>
            <a:pPr marL="914400" indent="-800100">
              <a:spcBef>
                <a:spcPts val="300"/>
              </a:spcBef>
            </a:pPr>
            <a:r>
              <a:rPr lang="en-US" sz="1800" b="1" dirty="0"/>
              <a:t>Step 3</a:t>
            </a:r>
            <a:r>
              <a:rPr lang="en-US" sz="1800" dirty="0"/>
              <a:t>. Choose </a:t>
            </a:r>
            <a:r>
              <a:rPr lang="en-US" sz="1800" b="1" dirty="0"/>
              <a:t>t-Test: Paired Two-Sample For Means </a:t>
            </a:r>
            <a:r>
              <a:rPr lang="en-US" sz="1800" dirty="0"/>
              <a:t>from the list of Analysis Tools</a:t>
            </a:r>
          </a:p>
          <a:p>
            <a:pPr marL="914400" indent="-800100">
              <a:spcBef>
                <a:spcPts val="300"/>
              </a:spcBef>
            </a:pPr>
            <a:r>
              <a:rPr lang="en-US" sz="1800" b="1" dirty="0"/>
              <a:t>Step 4</a:t>
            </a:r>
            <a:r>
              <a:rPr lang="en-US" sz="1800" dirty="0"/>
              <a:t>.	When the dialog box appears:</a:t>
            </a:r>
          </a:p>
          <a:p>
            <a:pPr marL="1143000">
              <a:spcBef>
                <a:spcPts val="300"/>
              </a:spcBef>
            </a:pPr>
            <a:r>
              <a:rPr lang="en-US" sz="1800" dirty="0"/>
              <a:t>Enter </a:t>
            </a:r>
            <a:r>
              <a:rPr lang="en-US" sz="1800" i="1" dirty="0"/>
              <a:t>B1:B7 </a:t>
            </a:r>
            <a:r>
              <a:rPr lang="en-US" sz="1800" dirty="0"/>
              <a:t>in the </a:t>
            </a:r>
            <a:r>
              <a:rPr lang="en-US" sz="1800" b="1" dirty="0"/>
              <a:t>Variable 1 Range: </a:t>
            </a:r>
            <a:r>
              <a:rPr lang="en-US" sz="1800" dirty="0"/>
              <a:t>box</a:t>
            </a:r>
          </a:p>
          <a:p>
            <a:pPr marL="1143000">
              <a:spcBef>
                <a:spcPts val="300"/>
              </a:spcBef>
            </a:pPr>
            <a:r>
              <a:rPr lang="en-US" sz="1800" dirty="0"/>
              <a:t>Enter </a:t>
            </a:r>
            <a:r>
              <a:rPr lang="en-US" sz="1800" i="1" dirty="0"/>
              <a:t>C1:C7 </a:t>
            </a:r>
            <a:r>
              <a:rPr lang="en-US" sz="1800" dirty="0"/>
              <a:t>in the </a:t>
            </a:r>
            <a:r>
              <a:rPr lang="en-US" sz="1800" b="1" dirty="0"/>
              <a:t>Variable 2 Range: </a:t>
            </a:r>
            <a:r>
              <a:rPr lang="en-US" sz="1800" dirty="0"/>
              <a:t>box</a:t>
            </a:r>
          </a:p>
          <a:p>
            <a:pPr marL="1143000">
              <a:spcBef>
                <a:spcPts val="300"/>
              </a:spcBef>
            </a:pPr>
            <a:r>
              <a:rPr lang="en-US" sz="1800" dirty="0"/>
              <a:t>Enter </a:t>
            </a:r>
            <a:r>
              <a:rPr lang="en-US" sz="1800" i="1" dirty="0"/>
              <a:t>0</a:t>
            </a:r>
            <a:r>
              <a:rPr lang="en-US" sz="1800" dirty="0"/>
              <a:t> in the </a:t>
            </a:r>
            <a:r>
              <a:rPr lang="en-US" sz="1800" b="1" dirty="0"/>
              <a:t>Hypothesized Mean Diff.</a:t>
            </a:r>
            <a:r>
              <a:rPr lang="en-US" sz="1800" dirty="0"/>
              <a:t>: box</a:t>
            </a:r>
          </a:p>
          <a:p>
            <a:pPr marL="1371600" indent="-228600">
              <a:spcBef>
                <a:spcPts val="300"/>
              </a:spcBef>
            </a:pPr>
            <a:r>
              <a:rPr lang="en-US" sz="1800" dirty="0"/>
              <a:t>Select the check box for </a:t>
            </a:r>
            <a:r>
              <a:rPr lang="en-US" sz="1800" b="1" dirty="0"/>
              <a:t>Labels</a:t>
            </a:r>
            <a:endParaRPr lang="en-US" sz="1800" dirty="0"/>
          </a:p>
          <a:p>
            <a:pPr marL="1371600" indent="-228600">
              <a:spcBef>
                <a:spcPts val="300"/>
              </a:spcBef>
            </a:pPr>
            <a:r>
              <a:rPr lang="en-US" sz="1800" dirty="0"/>
              <a:t>Select </a:t>
            </a:r>
            <a:r>
              <a:rPr lang="en-US" sz="1800" b="1" dirty="0"/>
              <a:t>Output Range: </a:t>
            </a:r>
            <a:r>
              <a:rPr lang="en-US" sz="1800" dirty="0"/>
              <a:t>and enter </a:t>
            </a:r>
            <a:r>
              <a:rPr lang="en-US" sz="1800" i="1" dirty="0"/>
              <a:t>E1</a:t>
            </a:r>
            <a:r>
              <a:rPr lang="en-US" sz="1800" dirty="0"/>
              <a:t> in the box</a:t>
            </a:r>
          </a:p>
          <a:p>
            <a:pPr marL="1371600" indent="-228600">
              <a:spcBef>
                <a:spcPts val="300"/>
              </a:spcBef>
            </a:pPr>
            <a:r>
              <a:rPr lang="en-US" sz="1800" dirty="0"/>
              <a:t>Click </a:t>
            </a:r>
            <a:r>
              <a:rPr lang="en-US" sz="1800" b="1" dirty="0"/>
              <a:t>OK</a:t>
            </a:r>
          </a:p>
        </p:txBody>
      </p:sp>
      <p:pic>
        <p:nvPicPr>
          <p:cNvPr id="8" name="Picture Placeholder 7" descr="A screenshot shows an Excel spreadsheet with the t-test dialog box for paired two samples for means. In the spreadsheet, column A is labeled worker, column B is labeled method 1, and column C is labeled method 2. The entries in rows 2 through 7 are as follows. Row 2. Worker: 1. Method 1: 6.0. Method 2: 5.4. Row 3. Worker: 2. Method 1: 5.0. Method 2: 5.2. Row 4. Worker: 3. Method 1: 7.0. Method 2: 6.5. Row 5. Worker: 4. Method 1: 6.2. Method 2: 5.9. Row 6. Worker: 5. Method 1: 6.0. Method 2: 6.0. Row 7. Worker: 6. Method 1: 6.4. Method 2: 5.8. The t-test dialog box consists of two sections. The first section is titled input and consists of the following elements. Entry field labeled Variable 1 range with entry dollar sign B dollar sign 1 colon dollar sign B dollar sign 7. Entry field labeled Variable 2 range with entry dollar sign C dollar sign 1 colon dollar sign C dollar sign 13. Entry field labeled hypothesized mean difference with entry 0. Checked checkbox labeled Labels. Entry field labeled alpha with entry 0.05. The second section is titled output options and consists of the following elements. Selected radio button labeled output range with an entry field with entry E 1. A radio button labeled new worksheet ply with a grayed-out entry field. A radio button labeled new workbook. There are three buttons labeled O K, Cancel, and Help on the right.">
            <a:extLst>
              <a:ext uri="{FF2B5EF4-FFF2-40B4-BE49-F238E27FC236}">
                <a16:creationId xmlns:a16="http://schemas.microsoft.com/office/drawing/2014/main" id="{84DB63EE-5AEC-DFBB-B9C5-88915C6D32C4}"/>
              </a:ext>
            </a:extLst>
          </p:cNvPr>
          <p:cNvPicPr>
            <a:picLocks noGrp="1" noChangeAspect="1"/>
          </p:cNvPicPr>
          <p:nvPr>
            <p:ph type="pic" sz="quarter" idx="16"/>
          </p:nvPr>
        </p:nvPicPr>
        <p:blipFill>
          <a:blip r:embed="rId2"/>
          <a:srcRect t="112" b="112"/>
          <a:stretch/>
        </p:blipFill>
        <p:spPr>
          <a:xfrm>
            <a:off x="6674810" y="2608555"/>
            <a:ext cx="4773613" cy="3163888"/>
          </a:xfrm>
        </p:spPr>
      </p:pic>
    </p:spTree>
    <p:extLst>
      <p:ext uri="{BB962C8B-B14F-4D97-AF65-F5344CB8AC3E}">
        <p14:creationId xmlns:p14="http://schemas.microsoft.com/office/powerpoint/2010/main" val="1686824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10.3 Excel: Conduct a Hypothesis Test</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271590"/>
            <a:ext cx="10610223" cy="785813"/>
          </a:xfrm>
        </p:spPr>
        <p:txBody>
          <a:bodyPr/>
          <a:lstStyle/>
          <a:p>
            <a:r>
              <a:rPr lang="en-US" sz="2000" dirty="0"/>
              <a:t>The test results are shown below.</a:t>
            </a:r>
          </a:p>
          <a:p>
            <a:pPr marL="457200" indent="-342900">
              <a:buFont typeface="Arial" panose="020B0604020202020204" pitchFamily="34" charset="0"/>
              <a:buChar char="•"/>
            </a:pPr>
            <a:r>
              <a:rPr lang="en-US" sz="2000" dirty="0"/>
              <a:t>Descriptive statistics for the two samples are shown in cells F4:G6. </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E12EEE5-F80B-10B7-8B58-BD0B567449FD}"/>
                  </a:ext>
                </a:extLst>
              </p:cNvPr>
              <p:cNvSpPr>
                <a:spLocks noGrp="1"/>
              </p:cNvSpPr>
              <p:nvPr>
                <p:ph type="body" sz="quarter" idx="17"/>
              </p:nvPr>
            </p:nvSpPr>
            <p:spPr>
              <a:xfrm>
                <a:off x="743577" y="2057403"/>
                <a:ext cx="3828423" cy="3529013"/>
              </a:xfrm>
            </p:spPr>
            <p:txBody>
              <a:bodyPr/>
              <a:lstStyle/>
              <a:p>
                <a:pPr marL="457200" indent="-342900">
                  <a:buFont typeface="Arial" panose="020B0604020202020204" pitchFamily="34" charset="0"/>
                  <a:buChar char="•"/>
                </a:pPr>
                <a:r>
                  <a:rPr lang="en-US" sz="2000" dirty="0"/>
                  <a:t>The value of the test statistic, 2.1958, is shown in cell F10. </a:t>
                </a:r>
              </a:p>
              <a:p>
                <a:pPr marL="457200" indent="-342900">
                  <a:buFont typeface="Arial" panose="020B0604020202020204" pitchFamily="34" charset="0"/>
                  <a:buChar char="•"/>
                </a:pPr>
                <a:r>
                  <a:rPr lang="en-US" sz="2000" dirty="0"/>
                  <a:t>The </a:t>
                </a:r>
                <a14:m>
                  <m:oMath xmlns:m="http://schemas.openxmlformats.org/officeDocument/2006/math">
                    <m:r>
                      <a:rPr lang="en-US" sz="2000" i="1" dirty="0" smtClean="0">
                        <a:latin typeface="Cambria Math" panose="02040503050406030204" pitchFamily="18" charset="0"/>
                      </a:rPr>
                      <m:t>𝑝</m:t>
                    </m:r>
                  </m:oMath>
                </a14:m>
                <a:r>
                  <a:rPr lang="en-US" sz="2000" dirty="0"/>
                  <a:t>-value for the test, labeled “</a:t>
                </a:r>
                <a:r>
                  <a:rPr lang="en-US" sz="2000" dirty="0">
                    <a:latin typeface="+mn-lt"/>
                  </a:rPr>
                  <a:t>P(Z</a:t>
                </a:r>
                <a:r>
                  <a:rPr lang="en-US" sz="2000" dirty="0">
                    <a:latin typeface="+mn-lt"/>
                    <a:cs typeface="Arial" panose="020B0604020202020204" pitchFamily="34" charset="0"/>
                  </a:rPr>
                  <a:t>&lt;=</a:t>
                </a:r>
                <a:r>
                  <a:rPr lang="en-US" sz="2000" dirty="0">
                    <a:latin typeface="+mn-lt"/>
                  </a:rPr>
                  <a:t>z) two-tail</a:t>
                </a:r>
                <a:r>
                  <a:rPr lang="en-US" sz="2000" dirty="0"/>
                  <a:t>,” is shown in cell F13. </a:t>
                </a:r>
              </a:p>
              <a:p>
                <a:pPr marL="457200" indent="-342900">
                  <a:buFont typeface="Arial" panose="020B0604020202020204" pitchFamily="34" charset="0"/>
                  <a:buChar char="•"/>
                </a:pPr>
                <a:r>
                  <a:rPr lang="en-US" sz="2000" dirty="0"/>
                  <a:t>Because the </a:t>
                </a:r>
                <a14:m>
                  <m:oMath xmlns:m="http://schemas.openxmlformats.org/officeDocument/2006/math">
                    <m:r>
                      <a:rPr lang="en-US" sz="2000" i="1" dirty="0" smtClean="0">
                        <a:latin typeface="Cambria Math" panose="02040503050406030204" pitchFamily="18" charset="0"/>
                      </a:rPr>
                      <m:t>𝑝</m:t>
                    </m:r>
                  </m:oMath>
                </a14:m>
                <a:r>
                  <a:rPr lang="en-US" sz="2000" dirty="0"/>
                  <a:t>-value, 0.0795, is greater than the level of significance, </a:t>
                </a:r>
                <a14:m>
                  <m:oMath xmlns:m="http://schemas.openxmlformats.org/officeDocument/2006/math">
                    <m:r>
                      <a:rPr lang="el-GR" sz="2000" i="1" dirty="0" smtClean="0">
                        <a:latin typeface="Cambria Math" panose="02040503050406030204" pitchFamily="18" charset="0"/>
                      </a:rPr>
                      <m:t>𝛼</m:t>
                    </m:r>
                    <m:r>
                      <a:rPr lang="en-US" sz="2000" i="1" dirty="0" smtClean="0">
                        <a:latin typeface="Cambria Math" panose="02040503050406030204" pitchFamily="18" charset="0"/>
                      </a:rPr>
                      <m:t>=0.05</m:t>
                    </m:r>
                  </m:oMath>
                </a14:m>
                <a:r>
                  <a:rPr lang="en-US" sz="2000" dirty="0"/>
                  <a:t>, we cannot cannot reject the null hypothesis that the mean completion times are equal.</a:t>
                </a:r>
              </a:p>
            </p:txBody>
          </p:sp>
        </mc:Choice>
        <mc:Fallback xmlns="">
          <p:sp>
            <p:nvSpPr>
              <p:cNvPr id="6" name="Text Placeholder 5">
                <a:extLst>
                  <a:ext uri="{FF2B5EF4-FFF2-40B4-BE49-F238E27FC236}">
                    <a16:creationId xmlns:a16="http://schemas.microsoft.com/office/drawing/2014/main" id="{CE12EEE5-F80B-10B7-8B58-BD0B567449FD}"/>
                  </a:ext>
                </a:extLst>
              </p:cNvPr>
              <p:cNvSpPr>
                <a:spLocks noGrp="1" noRot="1" noChangeAspect="1" noMove="1" noResize="1" noEditPoints="1" noAdjustHandles="1" noChangeArrowheads="1" noChangeShapeType="1" noTextEdit="1"/>
              </p:cNvSpPr>
              <p:nvPr>
                <p:ph type="body" sz="quarter" idx="17"/>
              </p:nvPr>
            </p:nvSpPr>
            <p:spPr>
              <a:xfrm>
                <a:off x="743577" y="2057403"/>
                <a:ext cx="3828423" cy="3529013"/>
              </a:xfrm>
              <a:blipFill>
                <a:blip r:embed="rId2"/>
                <a:stretch>
                  <a:fillRect l="-796" t="-2076" r="-4140" b="-3979"/>
                </a:stretch>
              </a:blipFill>
            </p:spPr>
            <p:txBody>
              <a:bodyPr/>
              <a:lstStyle/>
              <a:p>
                <a:r>
                  <a:rPr lang="en-US">
                    <a:noFill/>
                  </a:rPr>
                  <a:t> </a:t>
                </a:r>
              </a:p>
            </p:txBody>
          </p:sp>
        </mc:Fallback>
      </mc:AlternateContent>
      <p:pic>
        <p:nvPicPr>
          <p:cNvPr id="8" name="Picture Placeholder 7" descr="A screenshot shows an Excel spreadsheet with the results of the t-test. Column A is labeled worker, column B is labeled method 1, and column C is labeled method 2. The entries in rows 2 through 7 are as follows. Row 2. Worker: 1. Method 1: 6.0. Method 2: 5.4. Row 3. Worker: 2. Method 1: 5.0. Method 2: 5.2. Row 4. Worker: 3. Method 1: 7.0. Method 2: 6.5. Row 5. Worker: 4. Method 1: 6.2. Method 2: 5.9. Row 6. Worker: 5. Method 1: 6.0. Method 2: 6.0. Row 7. Worker: 6. Method 1: 6.4. Method 2: 5.8. The data from the results of the t-test, presented in the format, Test: Method 1, Method 2, are as follows. Mean: 6.1, 5.8. Variance: 0.428, 0.212. Observations: 6, 6. Pearson correlation: 0.8764, no data. Hypothesized mean difference: 0, no data. d f: 5, no data. t Stat: 2.1958, no data. P(T&lt;=t) one-tail: 0.0398, no data. t critical one-tail: 2.0150, no data. P(T&lt;=t) two tail: 0.0795, no data. t critical two-tail: 2.5706, no data.">
            <a:extLst>
              <a:ext uri="{FF2B5EF4-FFF2-40B4-BE49-F238E27FC236}">
                <a16:creationId xmlns:a16="http://schemas.microsoft.com/office/drawing/2014/main" id="{4F7121EE-46EE-135F-C237-716731FCB7F3}"/>
              </a:ext>
            </a:extLst>
          </p:cNvPr>
          <p:cNvPicPr>
            <a:picLocks noGrp="1" noChangeAspect="1"/>
          </p:cNvPicPr>
          <p:nvPr>
            <p:ph type="pic" sz="quarter" idx="16"/>
          </p:nvPr>
        </p:nvPicPr>
        <p:blipFill>
          <a:blip r:embed="rId3"/>
          <a:srcRect t="39" b="39"/>
          <a:stretch/>
        </p:blipFill>
        <p:spPr>
          <a:xfrm>
            <a:off x="4636294" y="2057404"/>
            <a:ext cx="6717506" cy="3500076"/>
          </a:xfrm>
          <a:ln>
            <a:solidFill>
              <a:srgbClr val="000000"/>
            </a:solidFill>
          </a:ln>
        </p:spPr>
      </p:pic>
    </p:spTree>
    <p:extLst>
      <p:ext uri="{BB962C8B-B14F-4D97-AF65-F5344CB8AC3E}">
        <p14:creationId xmlns:p14="http://schemas.microsoft.com/office/powerpoint/2010/main" val="39324006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solidFill>
                  <a:srgbClr val="D14B1E"/>
                </a:solidFill>
              </a:rPr>
              <a:t>10.4 Inferences about the Difference Between Two Population Proportions</a:t>
            </a:r>
            <a:endParaRPr lang="en-US" sz="320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885949"/>
                <a:ext cx="10711543" cy="3650457"/>
              </a:xfrm>
            </p:spPr>
            <p:txBody>
              <a:bodyPr/>
              <a:lstStyle/>
              <a:p>
                <a:pPr>
                  <a:spcBef>
                    <a:spcPts val="600"/>
                  </a:spcBef>
                  <a:spcAft>
                    <a:spcPts val="0"/>
                  </a:spcAft>
                </a:pPr>
                <a:r>
                  <a:rPr lang="en-US" sz="2000" dirty="0">
                    <a:cs typeface="Arial" panose="020B0604020202020204" pitchFamily="34" charset="0"/>
                  </a:rPr>
                  <a:t>Letting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1</m:t>
                        </m:r>
                      </m:sub>
                    </m:sSub>
                  </m:oMath>
                </a14:m>
                <a:r>
                  <a:rPr lang="en-US" sz="2000" dirty="0">
                    <a:cs typeface="Arial" panose="020B0604020202020204" pitchFamily="34" charset="0"/>
                  </a:rPr>
                  <a:t> denote the proportion for population 1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the proportion for population 2, we next consider inferences about the difference between the two population proportions: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a:t>
                </a:r>
              </a:p>
              <a:p>
                <a:pPr>
                  <a:spcAft>
                    <a:spcPts val="0"/>
                  </a:spcAft>
                </a:pPr>
                <a:r>
                  <a:rPr lang="en-US" sz="2000" dirty="0">
                    <a:cs typeface="Arial" panose="020B0604020202020204" pitchFamily="34" charset="0"/>
                  </a:rPr>
                  <a:t>To make an inference about the difference between the two population proportions: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a:t>
                </a:r>
              </a:p>
              <a:p>
                <a:pPr marL="914400" indent="-342900">
                  <a:spcAft>
                    <a:spcPts val="0"/>
                  </a:spcAft>
                  <a:buFont typeface="Arial" panose="020B0604020202020204" pitchFamily="34" charset="0"/>
                  <a:buChar char="•"/>
                </a:pPr>
                <a:r>
                  <a:rPr lang="en-US" sz="2000" dirty="0">
                    <a:cs typeface="Arial" panose="020B0604020202020204" pitchFamily="34" charset="0"/>
                  </a:rPr>
                  <a:t>we will select two independent random samples consisting of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1</m:t>
                        </m:r>
                      </m:sub>
                    </m:sSub>
                  </m:oMath>
                </a14:m>
                <a:r>
                  <a:rPr lang="en-US" sz="2000" dirty="0">
                    <a:cs typeface="Arial" panose="020B0604020202020204" pitchFamily="34" charset="0"/>
                  </a:rPr>
                  <a:t> units from population 1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units from population 2.</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885949"/>
                <a:ext cx="10711543" cy="3650457"/>
              </a:xfrm>
              <a:blipFill>
                <a:blip r:embed="rId3"/>
                <a:stretch>
                  <a:fillRect l="-1422" t="-2003" r="-1593"/>
                </a:stretch>
              </a:blipFill>
            </p:spPr>
            <p:txBody>
              <a:bodyPr/>
              <a:lstStyle/>
              <a:p>
                <a:r>
                  <a:rPr lang="en-US">
                    <a:noFill/>
                  </a:rPr>
                  <a:t> </a:t>
                </a:r>
              </a:p>
            </p:txBody>
          </p:sp>
        </mc:Fallback>
      </mc:AlternateContent>
    </p:spTree>
    <p:extLst>
      <p:ext uri="{BB962C8B-B14F-4D97-AF65-F5344CB8AC3E}">
        <p14:creationId xmlns:p14="http://schemas.microsoft.com/office/powerpoint/2010/main" val="1426394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77919" y="365125"/>
                <a:ext cx="10841421" cy="672105"/>
              </a:xfrm>
            </p:spPr>
            <p:txBody>
              <a:bodyPr/>
              <a:lstStyle/>
              <a:p>
                <a:r>
                  <a:rPr lang="en-US" dirty="0"/>
                  <a:t>10.4 Interval Estimation of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b="1" i="1" smtClean="0">
                            <a:latin typeface="Cambria Math" panose="02040503050406030204" pitchFamily="18" charset="0"/>
                            <a:ea typeface="Cambria Math" panose="02040503050406030204" pitchFamily="18" charset="0"/>
                            <a:cs typeface="Arial" panose="020B0604020202020204" pitchFamily="34" charset="0"/>
                          </a:rPr>
                          <m:t>𝒑</m:t>
                        </m:r>
                      </m:e>
                      <m:sub>
                        <m:r>
                          <a:rPr lang="en-US" b="1" i="1">
                            <a:latin typeface="Cambria Math" panose="02040503050406030204" pitchFamily="18" charset="0"/>
                            <a:cs typeface="Arial" panose="020B0604020202020204" pitchFamily="34" charset="0"/>
                          </a:rPr>
                          <m:t>𝟏</m:t>
                        </m:r>
                      </m:sub>
                    </m:sSub>
                    <m:r>
                      <a:rPr lang="en-US" b="1"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b="1" i="1" smtClean="0">
                            <a:latin typeface="Cambria Math" panose="02040503050406030204" pitchFamily="18" charset="0"/>
                            <a:ea typeface="Cambria Math" panose="02040503050406030204" pitchFamily="18" charset="0"/>
                            <a:cs typeface="Arial" panose="020B0604020202020204" pitchFamily="34" charset="0"/>
                          </a:rPr>
                          <m:t>𝒑</m:t>
                        </m:r>
                      </m:e>
                      <m:sub>
                        <m:r>
                          <a:rPr lang="en-US" b="1" i="1">
                            <a:latin typeface="Cambria Math" panose="02040503050406030204" pitchFamily="18" charset="0"/>
                            <a:cs typeface="Arial" panose="020B0604020202020204" pitchFamily="34" charset="0"/>
                          </a:rPr>
                          <m:t>𝟐</m:t>
                        </m:r>
                      </m:sub>
                    </m:sSub>
                  </m:oMath>
                </a14:m>
                <a:endParaRPr lang="en-US" dirty="0"/>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677919" y="365125"/>
                <a:ext cx="10841421" cy="672105"/>
              </a:xfrm>
              <a:blipFill>
                <a:blip r:embed="rId3"/>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47955"/>
                <a:ext cx="10711543" cy="4516821"/>
              </a:xfrm>
            </p:spPr>
            <p:txBody>
              <a:bodyPr/>
              <a:lstStyle/>
              <a:p>
                <a:pPr>
                  <a:spcBef>
                    <a:spcPts val="600"/>
                  </a:spcBef>
                  <a:spcAft>
                    <a:spcPts val="0"/>
                  </a:spcAft>
                </a:pPr>
                <a:r>
                  <a:rPr lang="en-US" sz="2000" dirty="0">
                    <a:cs typeface="Arial" panose="020B0604020202020204" pitchFamily="34" charset="0"/>
                  </a:rPr>
                  <a:t>T</a:t>
                </a:r>
                <a:r>
                  <a:rPr lang="en-US" sz="2000" dirty="0">
                    <a:solidFill>
                      <a:srgbClr val="000000"/>
                    </a:solidFill>
                    <a:cs typeface="Arial" panose="020B0604020202020204" pitchFamily="34" charset="0"/>
                  </a:rPr>
                  <a:t>he interval estimate of the difference between two population proportions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is based on the sampling distribution of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which can be approximated by a normal distribution so </a:t>
                </a:r>
                <a:r>
                  <a:rPr lang="en-US" sz="2000" dirty="0">
                    <a:cs typeface="Arial" panose="020B0604020202020204" pitchFamily="34" charset="0"/>
                  </a:rPr>
                  <a:t>long as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2</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2</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are all greater than or equal to 5. </a:t>
                </a:r>
              </a:p>
              <a:p>
                <a:pPr>
                  <a:spcBef>
                    <a:spcPts val="600"/>
                  </a:spcBef>
                  <a:spcAft>
                    <a:spcPts val="600"/>
                  </a:spcAft>
                </a:pPr>
                <a:r>
                  <a:rPr lang="en-US" sz="2000" dirty="0">
                    <a:solidFill>
                      <a:srgbClr val="000000"/>
                    </a:solidFill>
                    <a:cs typeface="Arial" panose="020B0604020202020204" pitchFamily="34" charset="0"/>
                  </a:rPr>
                  <a:t>In such case, the confidence interval of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can be written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𝒑</m:t>
                              </m:r>
                            </m:e>
                          </m:acc>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𝒑</m:t>
                              </m:r>
                            </m:e>
                          </m:acc>
                        </m:e>
                        <m:sub>
                          <m:r>
                            <a:rPr lang="en-US" sz="2000" b="1" i="1" smtClean="0">
                              <a:latin typeface="Cambria Math" panose="02040503050406030204" pitchFamily="18" charset="0"/>
                              <a:cs typeface="Arial" panose="020B0604020202020204" pitchFamily="34" charset="0"/>
                            </a:rPr>
                            <m:t>𝟐</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𝒛</m:t>
                          </m:r>
                        </m:e>
                        <m:sub>
                          <m:f>
                            <m:fPr>
                              <m:type m:val="lin"/>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cs typeface="Arial" panose="020B0604020202020204" pitchFamily="34" charset="0"/>
                                </a:rPr>
                                <m:t>𝜶</m:t>
                              </m:r>
                            </m:num>
                            <m:den>
                              <m:r>
                                <a:rPr lang="en-US" sz="2000" b="1" i="1" smtClean="0">
                                  <a:latin typeface="Cambria Math" panose="02040503050406030204" pitchFamily="18" charset="0"/>
                                  <a:ea typeface="Cambria Math" panose="02040503050406030204" pitchFamily="18" charset="0"/>
                                  <a:cs typeface="Arial" panose="020B0604020202020204" pitchFamily="34" charset="0"/>
                                </a:rPr>
                                <m:t>𝟐</m:t>
                              </m:r>
                            </m:den>
                          </m:f>
                        </m:sub>
                      </m:sSub>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𝝈</m:t>
                          </m:r>
                        </m:e>
                        <m:sub>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ea typeface="Cambria Math" panose="02040503050406030204" pitchFamily="18" charset="0"/>
                                      <a:cs typeface="Arial" panose="020B0604020202020204" pitchFamily="34" charset="0"/>
                                    </a:rPr>
                                  </m:ctrlPr>
                                </m:accPr>
                                <m:e>
                                  <m:r>
                                    <a:rPr lang="en-US" sz="2000" b="1" i="1">
                                      <a:latin typeface="Cambria Math" panose="02040503050406030204" pitchFamily="18" charset="0"/>
                                      <a:ea typeface="Cambria Math" panose="02040503050406030204" pitchFamily="18" charset="0"/>
                                      <a:cs typeface="Arial" panose="020B0604020202020204" pitchFamily="34" charset="0"/>
                                    </a:rPr>
                                    <m:t>𝒑</m:t>
                                  </m:r>
                                </m:e>
                              </m:acc>
                            </m:e>
                            <m:sub>
                              <m:r>
                                <a:rPr lang="en-US" sz="2000" b="1" i="1" smtClean="0">
                                  <a:latin typeface="Cambria Math" panose="02040503050406030204" pitchFamily="18" charset="0"/>
                                  <a:ea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ea typeface="Cambria Math" panose="02040503050406030204" pitchFamily="18" charset="0"/>
                                      <a:cs typeface="Arial" panose="020B0604020202020204" pitchFamily="34" charset="0"/>
                                    </a:rPr>
                                    <m:t>𝒑</m:t>
                                  </m:r>
                                </m:e>
                              </m:acc>
                            </m:e>
                            <m:sub>
                              <m:r>
                                <a:rPr lang="en-US" sz="2000" b="1" i="1" smtClean="0">
                                  <a:latin typeface="Cambria Math" panose="02040503050406030204" pitchFamily="18" charset="0"/>
                                  <a:ea typeface="Cambria Math" panose="02040503050406030204" pitchFamily="18" charset="0"/>
                                  <a:cs typeface="Arial" panose="020B0604020202020204" pitchFamily="34" charset="0"/>
                                </a:rPr>
                                <m:t>𝟐</m:t>
                              </m:r>
                            </m:sub>
                          </m:sSub>
                        </m:sub>
                      </m:sSub>
                    </m:oMath>
                  </m:oMathPara>
                </a14:m>
                <a:endParaRPr lang="en-US" sz="2000" b="1" dirty="0">
                  <a:cs typeface="Arial" panose="020B0604020202020204" pitchFamily="34" charset="0"/>
                </a:endParaRPr>
              </a:p>
              <a:p>
                <a:pPr>
                  <a:spcBef>
                    <a:spcPts val="600"/>
                  </a:spcBef>
                </a:pPr>
                <a:r>
                  <a:rPr lang="en-US" sz="2000" dirty="0">
                    <a:cs typeface="Arial" panose="020B0604020202020204" pitchFamily="34" charset="0"/>
                  </a:rPr>
                  <a:t>Where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r>
                        <m:rPr>
                          <m:nor/>
                        </m:rPr>
                        <a:rPr lang="en-US" sz="2000" b="0" i="0" smtClean="0">
                          <a:latin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point</m:t>
                      </m:r>
                      <m:r>
                        <m:rPr>
                          <m:nor/>
                        </m:rPr>
                        <a:rPr lang="en-US" sz="2000" dirty="0">
                          <a:cs typeface="Arial" panose="020B0604020202020204" pitchFamily="34" charset="0"/>
                        </a:rPr>
                        <m:t> </m:t>
                      </m:r>
                      <m:r>
                        <m:rPr>
                          <m:nor/>
                        </m:rPr>
                        <a:rPr lang="en-US" sz="2000" dirty="0">
                          <a:cs typeface="Arial" panose="020B0604020202020204" pitchFamily="34" charset="0"/>
                        </a:rPr>
                        <m:t>estimator</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dirty="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a:p>
                <a:pPr marL="914400">
                  <a:spcBef>
                    <a:spcPts val="600"/>
                  </a:spcBef>
                  <a:spcAft>
                    <a:spcPts val="600"/>
                  </a:spcAft>
                </a:pP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r>
                      <m:rPr>
                        <m:nor/>
                      </m:rPr>
                      <a:rPr lang="en-US" sz="2000" b="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critical</m:t>
                    </m:r>
                    <m:r>
                      <m:rPr>
                        <m:nor/>
                      </m:rPr>
                      <a:rPr lang="en-US" sz="2000" dirty="0">
                        <a:cs typeface="Arial" panose="020B0604020202020204" pitchFamily="34" charset="0"/>
                      </a:rPr>
                      <m:t> </m:t>
                    </m:r>
                    <m:r>
                      <m:rPr>
                        <m:nor/>
                      </m:rPr>
                      <a:rPr lang="en-US" sz="2000" dirty="0">
                        <a:cs typeface="Arial" panose="020B0604020202020204" pitchFamily="34" charset="0"/>
                      </a:rPr>
                      <m:t>value</m:t>
                    </m:r>
                    <m:r>
                      <m:rPr>
                        <m:nor/>
                      </m:rPr>
                      <a:rPr lang="en-US" sz="2000" dirty="0">
                        <a:cs typeface="Arial" panose="020B0604020202020204" pitchFamily="34" charset="0"/>
                      </a:rPr>
                      <m:t> </m:t>
                    </m:r>
                    <m:r>
                      <m:rPr>
                        <m:nor/>
                      </m:rPr>
                      <a:rPr lang="en-US" sz="2000" dirty="0">
                        <a:cs typeface="Arial" panose="020B0604020202020204" pitchFamily="34" charset="0"/>
                      </a:rPr>
                      <m:t>such</m:t>
                    </m:r>
                    <m:r>
                      <m:rPr>
                        <m:nor/>
                      </m:rPr>
                      <a:rPr lang="en-US" sz="2000" dirty="0">
                        <a:cs typeface="Arial" panose="020B0604020202020204" pitchFamily="34" charset="0"/>
                      </a:rPr>
                      <m:t> </m:t>
                    </m:r>
                    <m:r>
                      <m:rPr>
                        <m:nor/>
                      </m:rPr>
                      <a:rPr lang="en-US" sz="2000" dirty="0">
                        <a:cs typeface="Arial" panose="020B0604020202020204" pitchFamily="34" charset="0"/>
                      </a:rPr>
                      <m:t>that</m:t>
                    </m:r>
                    <m:r>
                      <a:rPr lang="en-US" sz="2000" b="0" i="1" dirty="0"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𝛼</m:t>
                                </m:r>
                              </m:num>
                              <m:den>
                                <m:r>
                                  <a:rPr lang="en-US" sz="2000" i="1">
                                    <a:latin typeface="Cambria Math" panose="02040503050406030204" pitchFamily="18" charset="0"/>
                                    <a:ea typeface="Cambria Math" panose="02040503050406030204" pitchFamily="18" charset="0"/>
                                    <a:cs typeface="Arial" panose="020B0604020202020204" pitchFamily="34" charset="0"/>
                                  </a:rPr>
                                  <m:t>2</m:t>
                                </m:r>
                              </m:den>
                            </m:f>
                          </m:sub>
                        </m:sSub>
                      </m:e>
                    </m:d>
                    <m:r>
                      <a:rPr lang="en-US" sz="2000" b="0" i="1" smtClean="0">
                        <a:latin typeface="Cambria Math" panose="02040503050406030204" pitchFamily="18" charset="0"/>
                        <a:ea typeface="Cambria Math" panose="02040503050406030204" pitchFamily="18" charset="0"/>
                        <a:cs typeface="Arial" panose="020B0604020202020204" pitchFamily="34" charset="0"/>
                      </a:rPr>
                      <m:t>=1−</m:t>
                    </m:r>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oMath>
                </a14:m>
                <a:r>
                  <a:rPr lang="en-US" sz="2000" dirty="0">
                    <a:cs typeface="Arial" panose="020B0604020202020204" pitchFamily="34" charset="0"/>
                  </a:rPr>
                  <a:t> </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(1−</m:t>
                                  </m:r>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(1−</m:t>
                                  </m:r>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b="0" i="0" dirty="0" smtClean="0">
                          <a:cs typeface="Arial" panose="020B0604020202020204" pitchFamily="34" charset="0"/>
                        </a:rPr>
                        <m:t>standard</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error</m:t>
                      </m:r>
                      <m:r>
                        <m:rPr>
                          <m:nor/>
                        </m:rPr>
                        <a:rPr lang="en-US" sz="2000" b="0" i="0" dirty="0" smtClean="0">
                          <a:cs typeface="Arial" panose="020B0604020202020204" pitchFamily="34" charset="0"/>
                        </a:rPr>
                        <m:t> </m:t>
                      </m:r>
                      <m:r>
                        <m:rPr>
                          <m:nor/>
                        </m:rPr>
                        <a:rPr lang="en-US" sz="2000" dirty="0">
                          <a:cs typeface="Arial" panose="020B0604020202020204" pitchFamily="34" charset="0"/>
                        </a:rPr>
                        <m:t>of</m:t>
                      </m:r>
                      <m:r>
                        <m:rPr>
                          <m:nor/>
                        </m:rPr>
                        <a:rPr lang="en-US" sz="2000" b="0" i="0" dirty="0" smtClean="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e>
                            <m:sub>
                              <m:r>
                                <a:rPr lang="en-US" sz="2000" i="1">
                                  <a:latin typeface="Cambria Math" panose="02040503050406030204" pitchFamily="18" charset="0"/>
                                  <a:ea typeface="Cambria Math" panose="02040503050406030204" pitchFamily="18" charset="0"/>
                                  <a:cs typeface="Arial" panose="020B0604020202020204" pitchFamily="34" charset="0"/>
                                </a:rPr>
                                <m:t>2</m:t>
                              </m:r>
                            </m:sub>
                          </m:sSub>
                        </m:sub>
                      </m:sSub>
                      <m:r>
                        <m:rPr>
                          <m:nor/>
                        </m:rPr>
                        <a:rPr lang="en-US" sz="2000" i="0"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margin</m:t>
                      </m:r>
                      <m:r>
                        <m:rPr>
                          <m:nor/>
                        </m:rPr>
                        <a:rPr lang="en-US" sz="2000" dirty="0">
                          <a:cs typeface="Arial" panose="020B0604020202020204" pitchFamily="34" charset="0"/>
                        </a:rPr>
                        <m:t> </m:t>
                      </m:r>
                      <m:r>
                        <m:rPr>
                          <m:nor/>
                        </m:rPr>
                        <a:rPr lang="en-US" sz="2000" dirty="0">
                          <a:cs typeface="Arial" panose="020B0604020202020204" pitchFamily="34" charset="0"/>
                        </a:rPr>
                        <m:t>of</m:t>
                      </m:r>
                      <m:r>
                        <m:rPr>
                          <m:nor/>
                        </m:rPr>
                        <a:rPr lang="en-US" sz="2000" dirty="0">
                          <a:cs typeface="Arial" panose="020B0604020202020204" pitchFamily="34" charset="0"/>
                        </a:rPr>
                        <m:t> </m:t>
                      </m:r>
                      <m:r>
                        <m:rPr>
                          <m:nor/>
                        </m:rPr>
                        <a:rPr lang="en-US" sz="2000" dirty="0">
                          <a:cs typeface="Arial" panose="020B0604020202020204" pitchFamily="34" charset="0"/>
                        </a:rPr>
                        <m:t>error</m:t>
                      </m:r>
                    </m:oMath>
                  </m:oMathPara>
                </a14:m>
                <a:endParaRPr lang="en-US" sz="2000" dirty="0">
                  <a:cs typeface="Arial" panose="020B0604020202020204" pitchFamily="34" charset="0"/>
                </a:endParaRPr>
              </a:p>
              <a:p>
                <a:pPr>
                  <a:lnSpc>
                    <a:spcPct val="100000"/>
                  </a:lnSpc>
                  <a:spcBef>
                    <a:spcPts val="600"/>
                  </a:spcBef>
                </a:pPr>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347955"/>
                <a:ext cx="10711543" cy="4516821"/>
              </a:xfrm>
              <a:blipFill>
                <a:blip r:embed="rId4"/>
                <a:stretch>
                  <a:fillRect l="-1422" t="-1619" r="-114"/>
                </a:stretch>
              </a:blipFill>
            </p:spPr>
            <p:txBody>
              <a:bodyPr/>
              <a:lstStyle/>
              <a:p>
                <a:r>
                  <a:rPr lang="en-US">
                    <a:noFill/>
                  </a:rPr>
                  <a:t> </a:t>
                </a:r>
              </a:p>
            </p:txBody>
          </p:sp>
        </mc:Fallback>
      </mc:AlternateContent>
    </p:spTree>
    <p:extLst>
      <p:ext uri="{BB962C8B-B14F-4D97-AF65-F5344CB8AC3E}">
        <p14:creationId xmlns:p14="http://schemas.microsoft.com/office/powerpoint/2010/main" val="34497204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p:txBody>
          <a:bodyPr/>
          <a:lstStyle/>
          <a:p>
            <a:r>
              <a:rPr lang="en-US" dirty="0"/>
              <a:t>10.4 A Tax Preparation Example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6" y="1207295"/>
                <a:ext cx="10711543" cy="4686300"/>
              </a:xfrm>
            </p:spPr>
            <p:txBody>
              <a:bodyPr/>
              <a:lstStyle/>
              <a:p>
                <a:pPr>
                  <a:spcBef>
                    <a:spcPts val="600"/>
                  </a:spcBef>
                </a:pPr>
                <a:r>
                  <a:rPr lang="en-US" sz="2000" dirty="0" err="1"/>
                  <a:t>DATAfile</a:t>
                </a:r>
                <a:r>
                  <a:rPr lang="en-US" sz="2000" dirty="0"/>
                  <a:t>: </a:t>
                </a:r>
                <a:r>
                  <a:rPr lang="en-US" sz="2000" i="1" dirty="0" err="1"/>
                  <a:t>taxprep_mod</a:t>
                </a:r>
                <a:endParaRPr lang="en-US" sz="2000" i="1" dirty="0"/>
              </a:p>
              <a:p>
                <a:pPr>
                  <a:spcBef>
                    <a:spcPts val="600"/>
                  </a:spcBef>
                </a:pPr>
                <a:r>
                  <a:rPr lang="en-US" sz="2000" dirty="0"/>
                  <a:t>A tax preparation firm is interested in comparing the quality of work at two of its regional offices.</a:t>
                </a:r>
              </a:p>
              <a:p>
                <a:pPr>
                  <a:spcBef>
                    <a:spcPts val="600"/>
                  </a:spcBef>
                </a:pPr>
                <a:r>
                  <a:rPr lang="en-US" sz="2000" dirty="0"/>
                  <a:t>A random sample of tax returns prepared at each of the two offices is selected and every tax return in both samples is checked for accuracy.</a:t>
                </a:r>
              </a:p>
              <a:p>
                <a:pPr>
                  <a:spcBef>
                    <a:spcPts val="600"/>
                  </a:spcBef>
                </a:pPr>
                <a:r>
                  <a:rPr lang="en-US" sz="2000" dirty="0"/>
                  <a:t>The analysis of the sampled tax returns at the two regional offices provided the following information.</a:t>
                </a:r>
              </a:p>
              <a:p>
                <a:pPr marL="914400">
                  <a:spcBef>
                    <a:spcPts val="0"/>
                  </a:spcBef>
                  <a:tabLst>
                    <a:tab pos="2971800" algn="l"/>
                  </a:tabLst>
                </a:pPr>
                <a:r>
                  <a:rPr lang="en-US" sz="2000" dirty="0"/>
                  <a:t>			</a:t>
                </a:r>
                <a:r>
                  <a:rPr lang="en-US" sz="2000" b="1" dirty="0"/>
                  <a:t>Office 1		Office 2</a:t>
                </a:r>
              </a:p>
              <a:p>
                <a:pPr marL="914400">
                  <a:spcBef>
                    <a:spcPts val="600"/>
                  </a:spcBef>
                  <a:tabLst>
                    <a:tab pos="2971800" algn="l"/>
                  </a:tabLst>
                </a:pPr>
                <a:r>
                  <a:rPr lang="en-US" sz="2000" dirty="0"/>
                  <a:t>Sample size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=250</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300</m:t>
                    </m:r>
                  </m:oMath>
                </a14:m>
                <a:endParaRPr lang="en-US" sz="2000" dirty="0"/>
              </a:p>
              <a:p>
                <a:pPr marL="914400">
                  <a:spcBef>
                    <a:spcPts val="600"/>
                  </a:spcBef>
                  <a:spcAft>
                    <a:spcPts val="600"/>
                  </a:spcAft>
                  <a:tabLst>
                    <a:tab pos="2971800" algn="l"/>
                  </a:tabLst>
                </a:pPr>
                <a:r>
                  <a:rPr lang="en-US" sz="2000" dirty="0"/>
                  <a:t>Number of returns with errors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=35 </m:t>
                    </m:r>
                  </m:oMath>
                </a14:m>
                <a:r>
                  <a:rPr lang="en-US" sz="2000" dirty="0"/>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27</m:t>
                    </m:r>
                  </m:oMath>
                </a14:m>
                <a:endParaRPr lang="en-US" sz="2000" dirty="0">
                  <a:latin typeface="Arial" panose="020B0604020202020204" pitchFamily="34" charset="0"/>
                  <a:cs typeface="Arial" panose="020B0604020202020204" pitchFamily="34" charset="0"/>
                </a:endParaRPr>
              </a:p>
              <a:p>
                <a:pPr marL="914400">
                  <a:spcBef>
                    <a:spcPts val="0"/>
                  </a:spcBef>
                  <a:spcAft>
                    <a:spcPts val="600"/>
                  </a:spcAft>
                  <a:tabLst>
                    <a:tab pos="2971800" algn="l"/>
                  </a:tabLst>
                </a:pPr>
                <a:r>
                  <a:rPr lang="en-US" sz="2000" dirty="0">
                    <a:latin typeface="Arial" panose="020B0604020202020204" pitchFamily="34" charset="0"/>
                    <a:cs typeface="Arial" panose="020B0604020202020204" pitchFamily="34" charset="0"/>
                  </a:rPr>
                  <a:t>Sample proportion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35</m:t>
                        </m:r>
                      </m:num>
                      <m:den>
                        <m:r>
                          <a:rPr lang="en-US" sz="2000" b="0" i="1" smtClean="0">
                            <a:latin typeface="Cambria Math" panose="02040503050406030204" pitchFamily="18" charset="0"/>
                            <a:cs typeface="Arial" panose="020B0604020202020204" pitchFamily="34" charset="0"/>
                          </a:rPr>
                          <m:t>250</m:t>
                        </m:r>
                      </m:den>
                    </m:f>
                    <m:r>
                      <a:rPr lang="en-US" sz="2000" b="0" i="1" smtClean="0">
                        <a:latin typeface="Cambria Math" panose="02040503050406030204" pitchFamily="18" charset="0"/>
                        <a:cs typeface="Arial" panose="020B0604020202020204" pitchFamily="34" charset="0"/>
                      </a:rPr>
                      <m:t>=0.14</m:t>
                    </m:r>
                  </m:oMath>
                </a14:m>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r>
                      <a:rPr lang="en-US" sz="200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27</m:t>
                        </m:r>
                      </m:num>
                      <m:den>
                        <m:r>
                          <a:rPr lang="en-US" sz="2000" b="0" i="1" smtClean="0">
                            <a:latin typeface="Cambria Math" panose="02040503050406030204" pitchFamily="18" charset="0"/>
                            <a:cs typeface="Arial" panose="020B0604020202020204" pitchFamily="34" charset="0"/>
                          </a:rPr>
                          <m:t>30</m:t>
                        </m:r>
                        <m:r>
                          <a:rPr lang="en-US" sz="2000" i="1">
                            <a:latin typeface="Cambria Math" panose="02040503050406030204" pitchFamily="18" charset="0"/>
                            <a:cs typeface="Arial" panose="020B0604020202020204" pitchFamily="34" charset="0"/>
                          </a:rPr>
                          <m:t>0</m:t>
                        </m:r>
                      </m:den>
                    </m:f>
                    <m:r>
                      <a:rPr lang="en-US" sz="2000" i="1">
                        <a:latin typeface="Cambria Math" panose="02040503050406030204" pitchFamily="18" charset="0"/>
                        <a:cs typeface="Arial" panose="020B0604020202020204" pitchFamily="34" charset="0"/>
                      </a:rPr>
                      <m:t>=0.</m:t>
                    </m:r>
                    <m:r>
                      <a:rPr lang="en-US" sz="2000" b="0" i="1" smtClean="0">
                        <a:latin typeface="Cambria Math" panose="02040503050406030204" pitchFamily="18" charset="0"/>
                        <a:cs typeface="Arial" panose="020B0604020202020204" pitchFamily="34" charset="0"/>
                      </a:rPr>
                      <m:t>09</m:t>
                    </m:r>
                  </m:oMath>
                </a14:m>
                <a:endParaRPr lang="en-US" sz="2000" dirty="0">
                  <a:latin typeface="Arial" panose="020B0604020202020204" pitchFamily="34" charset="0"/>
                  <a:cs typeface="Arial" panose="020B0604020202020204" pitchFamily="34" charset="0"/>
                </a:endParaRPr>
              </a:p>
              <a:p>
                <a:pPr>
                  <a:spcBef>
                    <a:spcPts val="600"/>
                  </a:spcBef>
                </a:pPr>
                <a:r>
                  <a:rPr lang="en-US" sz="2000" dirty="0"/>
                  <a:t>The point estimate of the difference between the proportions of erroneous tax returns for the two populations is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2</m:t>
                        </m:r>
                      </m:sub>
                    </m:sSub>
                    <m:r>
                      <a:rPr lang="en-US" sz="2000" i="1" dirty="0" smtClean="0">
                        <a:latin typeface="Cambria Math" panose="02040503050406030204" pitchFamily="18" charset="0"/>
                      </a:rPr>
                      <m:t>=0.14−0.09=0.05</m:t>
                    </m:r>
                  </m:oMath>
                </a14:m>
                <a:r>
                  <a:rPr lang="en-US" sz="2000" dirty="0"/>
                  <a:t>. </a:t>
                </a:r>
              </a:p>
              <a:p>
                <a:pPr>
                  <a:spcBef>
                    <a:spcPts val="600"/>
                  </a:spcBef>
                </a:pPr>
                <a:r>
                  <a:rPr lang="en-US" sz="2000" dirty="0"/>
                  <a:t>Thus, we estimate that office 1 has a 0.05, or 5%, greater error rate than office 2 does.</a:t>
                </a:r>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43576" y="1207295"/>
                <a:ext cx="10711543" cy="4686300"/>
              </a:xfrm>
              <a:blipFill>
                <a:blip r:embed="rId3"/>
                <a:stretch>
                  <a:fillRect l="-1480" t="-1560" r="-1309" b="-2601"/>
                </a:stretch>
              </a:blipFill>
            </p:spPr>
            <p:txBody>
              <a:bodyPr/>
              <a:lstStyle/>
              <a:p>
                <a:r>
                  <a:rPr lang="en-US">
                    <a:noFill/>
                  </a:rPr>
                  <a:t> </a:t>
                </a:r>
              </a:p>
            </p:txBody>
          </p:sp>
        </mc:Fallback>
      </mc:AlternateContent>
    </p:spTree>
    <p:extLst>
      <p:ext uri="{BB962C8B-B14F-4D97-AF65-F5344CB8AC3E}">
        <p14:creationId xmlns:p14="http://schemas.microsoft.com/office/powerpoint/2010/main" val="2597807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t>10.4 Estimation of the Difference Between the Proportions of Tax Return Errors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784643"/>
                <a:ext cx="10711543" cy="3826046"/>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standard error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oMath>
                </a14:m>
                <a:r>
                  <a:rPr lang="en-US" sz="2000" dirty="0">
                    <a:latin typeface="Arial" panose="020B0604020202020204" pitchFamily="34" charset="0"/>
                    <a:cs typeface="Arial" panose="020B0604020202020204" pitchFamily="34" charset="0"/>
                  </a:rPr>
                  <a:t> is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i="1">
                                      <a:latin typeface="Cambria Math" panose="02040503050406030204" pitchFamily="18" charset="0"/>
                                      <a:ea typeface="Cambria Math" panose="02040503050406030204" pitchFamily="18" charset="0"/>
                                      <a:cs typeface="Arial" panose="020B0604020202020204" pitchFamily="34" charset="0"/>
                                    </a:rPr>
                                    <m:t>𝑝</m:t>
                                  </m:r>
                                </m:e>
                              </m:acc>
                            </m:e>
                            <m:sub>
                              <m:r>
                                <a:rPr lang="en-US" sz="200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i="1">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(1−</m:t>
                                  </m:r>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den>
                          </m:f>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2</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(1−</m:t>
                                  </m:r>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2</m:t>
                                  </m:r>
                                </m:sub>
                              </m:sSub>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0.14(1−0.14</m:t>
                              </m:r>
                              <m:r>
                                <a:rPr lang="en-US" sz="2000" i="1">
                                  <a:latin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cs typeface="Arial" panose="020B0604020202020204" pitchFamily="34" charset="0"/>
                                </a:rPr>
                                <m:t>25</m:t>
                              </m:r>
                              <m:r>
                                <a:rPr lang="en-US" sz="2000" b="0" i="1" smtClean="0">
                                  <a:latin typeface="Cambria Math" panose="02040503050406030204" pitchFamily="18" charset="0"/>
                                  <a:ea typeface="Cambria Math" panose="02040503050406030204" pitchFamily="18" charset="0"/>
                                  <a:cs typeface="Arial" panose="020B0604020202020204" pitchFamily="34" charset="0"/>
                                </a:rPr>
                                <m:t>0</m:t>
                              </m:r>
                            </m:den>
                          </m:f>
                          <m:r>
                            <a:rPr lang="en-US" sz="2000" i="1">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0.</m:t>
                              </m:r>
                              <m:r>
                                <a:rPr lang="en-US" sz="2000" b="0" i="1" smtClean="0">
                                  <a:latin typeface="Cambria Math" panose="02040503050406030204" pitchFamily="18" charset="0"/>
                                  <a:cs typeface="Arial" panose="020B0604020202020204" pitchFamily="34" charset="0"/>
                                </a:rPr>
                                <m:t>09</m:t>
                              </m:r>
                              <m:r>
                                <a:rPr lang="en-US" sz="2000" i="1">
                                  <a:latin typeface="Cambria Math" panose="02040503050406030204" pitchFamily="18" charset="0"/>
                                  <a:cs typeface="Arial" panose="020B0604020202020204" pitchFamily="34" charset="0"/>
                                </a:rPr>
                                <m:t>(1−0.</m:t>
                              </m:r>
                              <m:r>
                                <a:rPr lang="en-US" sz="2000" b="0" i="1" smtClean="0">
                                  <a:latin typeface="Cambria Math" panose="02040503050406030204" pitchFamily="18" charset="0"/>
                                  <a:cs typeface="Arial" panose="020B0604020202020204" pitchFamily="34" charset="0"/>
                                </a:rPr>
                                <m:t>09</m:t>
                              </m:r>
                              <m:r>
                                <a:rPr lang="en-US" sz="2000" i="1">
                                  <a:latin typeface="Cambria Math" panose="02040503050406030204" pitchFamily="18" charset="0"/>
                                  <a:cs typeface="Arial" panose="020B0604020202020204" pitchFamily="34" charset="0"/>
                                </a:rPr>
                                <m:t>)</m:t>
                              </m:r>
                            </m:num>
                            <m:den>
                              <m:r>
                                <a:rPr lang="en-US" sz="2000" b="0" i="1" smtClean="0">
                                  <a:latin typeface="Cambria Math" panose="02040503050406030204" pitchFamily="18" charset="0"/>
                                  <a:cs typeface="Arial" panose="020B0604020202020204" pitchFamily="34" charset="0"/>
                                </a:rPr>
                                <m:t>30</m:t>
                              </m:r>
                              <m:r>
                                <a:rPr lang="en-US" sz="2000" i="1">
                                  <a:latin typeface="Cambria Math" panose="02040503050406030204" pitchFamily="18" charset="0"/>
                                  <a:ea typeface="Cambria Math" panose="02040503050406030204" pitchFamily="18" charset="0"/>
                                  <a:cs typeface="Arial" panose="020B0604020202020204" pitchFamily="34" charset="0"/>
                                </a:rPr>
                                <m:t>0</m:t>
                              </m:r>
                            </m:den>
                          </m:f>
                        </m:e>
                      </m:rad>
                      <m:r>
                        <a:rPr lang="en-US" sz="2000" b="0" i="1" smtClean="0">
                          <a:latin typeface="Cambria Math" panose="02040503050406030204" pitchFamily="18" charset="0"/>
                          <a:ea typeface="Cambria Math" panose="02040503050406030204" pitchFamily="18" charset="0"/>
                          <a:cs typeface="Arial" panose="020B0604020202020204" pitchFamily="34" charset="0"/>
                        </a:rPr>
                        <m:t>=0.0275</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ea typeface="Cambria Math" panose="02040503050406030204" pitchFamily="18" charset="0"/>
                    <a:cs typeface="Arial" panose="020B0604020202020204" pitchFamily="34" charset="0"/>
                  </a:rPr>
                  <a:t>Using 90% confidence and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.05</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=1.645</m:t>
                    </m:r>
                  </m:oMath>
                </a14:m>
                <a:r>
                  <a:rPr lang="en-US" sz="2000" dirty="0">
                    <a:latin typeface="Arial" panose="020B0604020202020204" pitchFamily="34" charset="0"/>
                    <a:ea typeface="Cambria Math" panose="02040503050406030204" pitchFamily="18" charset="0"/>
                    <a:cs typeface="Arial" panose="020B0604020202020204" pitchFamily="34" charset="0"/>
                  </a:rPr>
                  <a:t>,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cs typeface="Arial" panose="020B0604020202020204" pitchFamily="34" charset="0"/>
                            </a:rPr>
                            <m:t>1</m:t>
                          </m:r>
                        </m:sub>
                      </m:sSub>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cs typeface="Arial" panose="020B0604020202020204" pitchFamily="34" charset="0"/>
                            </a:rPr>
                            <m:t>2</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𝑧</m:t>
                          </m:r>
                        </m:e>
                        <m:sub>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b="0" i="1">
                                  <a:latin typeface="Cambria Math" panose="02040503050406030204" pitchFamily="18" charset="0"/>
                                  <a:ea typeface="Cambria Math" panose="02040503050406030204" pitchFamily="18" charset="0"/>
                                  <a:cs typeface="Arial" panose="020B0604020202020204" pitchFamily="34" charset="0"/>
                                </a:rPr>
                                <m:t>𝛼</m:t>
                              </m:r>
                            </m:num>
                            <m:den>
                              <m:r>
                                <a:rPr lang="en-US" sz="2000" b="0" i="1">
                                  <a:latin typeface="Cambria Math" panose="02040503050406030204" pitchFamily="18" charset="0"/>
                                  <a:ea typeface="Cambria Math" panose="02040503050406030204" pitchFamily="18" charset="0"/>
                                  <a:cs typeface="Arial" panose="020B0604020202020204" pitchFamily="34" charset="0"/>
                                </a:rPr>
                                <m:t>2</m:t>
                              </m:r>
                            </m:den>
                          </m:f>
                        </m:sub>
                      </m:s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=0.05±1.645</m:t>
                      </m:r>
                      <m:d>
                        <m:d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0.0275</m:t>
                          </m:r>
                        </m:e>
                      </m:d>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0.0</m:t>
                      </m:r>
                      <m:r>
                        <a:rPr lang="en-US" sz="2000" b="0" i="1">
                          <a:latin typeface="Cambria Math" panose="02040503050406030204" pitchFamily="18" charset="0"/>
                          <a:ea typeface="Cambria Math" panose="02040503050406030204" pitchFamily="18" charset="0"/>
                          <a:cs typeface="Arial" panose="020B0604020202020204" pitchFamily="34" charset="0"/>
                        </a:rPr>
                        <m:t>5±</m:t>
                      </m:r>
                      <m:r>
                        <a:rPr lang="en-US" sz="2000" b="0" i="1" smtClean="0">
                          <a:latin typeface="Cambria Math" panose="02040503050406030204" pitchFamily="18" charset="0"/>
                          <a:ea typeface="Cambria Math" panose="02040503050406030204" pitchFamily="18" charset="0"/>
                          <a:cs typeface="Arial" panose="020B0604020202020204" pitchFamily="34" charset="0"/>
                        </a:rPr>
                        <m:t>0.045</m:t>
                      </m:r>
                    </m:oMath>
                  </m:oMathPara>
                </a14:m>
                <a:endParaRPr lang="en-US" sz="2000" dirty="0">
                  <a:solidFill>
                    <a:srgbClr val="000000"/>
                  </a:solidFill>
                  <a:latin typeface="Arial" panose="020B0604020202020204" pitchFamily="34" charset="0"/>
                  <a:cs typeface="Arial" panose="020B0604020202020204" pitchFamily="34" charset="0"/>
                </a:endParaRPr>
              </a:p>
              <a:p>
                <a:pPr>
                  <a:spcBef>
                    <a:spcPts val="600"/>
                  </a:spcBef>
                  <a:spcAft>
                    <a:spcPts val="600"/>
                  </a:spcAft>
                </a:pPr>
                <a:r>
                  <a:rPr lang="en-US" sz="2000" dirty="0">
                    <a:solidFill>
                      <a:srgbClr val="000000"/>
                    </a:solidFill>
                    <a:cs typeface="Arial" panose="020B0604020202020204" pitchFamily="34" charset="0"/>
                  </a:rPr>
                  <a:t>Thus, the margin of error is 0.045, and the 90% confidence interval estimate of the difference between the two population proportions is </a:t>
                </a:r>
                <a14:m>
                  <m:oMath xmlns:m="http://schemas.openxmlformats.org/officeDocument/2006/math">
                    <m:r>
                      <a:rPr lang="en-US" sz="2000" b="0" i="0" smtClean="0">
                        <a:latin typeface="Cambria Math" panose="02040503050406030204" pitchFamily="18" charset="0"/>
                        <a:ea typeface="Cambria Math" panose="02040503050406030204" pitchFamily="18" charset="0"/>
                        <a:cs typeface="Arial" panose="020B0604020202020204" pitchFamily="34" charset="0"/>
                      </a:rPr>
                      <m:t>0.0</m:t>
                    </m:r>
                    <m:r>
                      <a:rPr lang="en-US" sz="2000" b="0" i="1" smtClean="0">
                        <a:latin typeface="Cambria Math" panose="02040503050406030204" pitchFamily="18" charset="0"/>
                        <a:ea typeface="Cambria Math" panose="02040503050406030204" pitchFamily="18" charset="0"/>
                        <a:cs typeface="Arial" panose="020B0604020202020204" pitchFamily="34" charset="0"/>
                      </a:rPr>
                      <m:t>5−0.045=0.005</m:t>
                    </m:r>
                  </m:oMath>
                </a14:m>
                <a:r>
                  <a:rPr lang="en-US" sz="2000" dirty="0">
                    <a:solidFill>
                      <a:srgbClr val="000000"/>
                    </a:solidFill>
                    <a:cs typeface="Arial" panose="020B0604020202020204" pitchFamily="34" charset="0"/>
                  </a:rPr>
                  <a:t> to </a:t>
                </a:r>
                <a14:m>
                  <m:oMath xmlns:m="http://schemas.openxmlformats.org/officeDocument/2006/math">
                    <m:r>
                      <a:rPr lang="en-US" sz="2000">
                        <a:latin typeface="Cambria Math" panose="02040503050406030204" pitchFamily="18" charset="0"/>
                        <a:ea typeface="Cambria Math" panose="02040503050406030204" pitchFamily="18" charset="0"/>
                        <a:cs typeface="Arial" panose="020B0604020202020204" pitchFamily="34" charset="0"/>
                      </a:rPr>
                      <m:t>0.0</m:t>
                    </m:r>
                    <m:r>
                      <a:rPr lang="en-US" sz="2000" i="1">
                        <a:latin typeface="Cambria Math" panose="02040503050406030204" pitchFamily="18" charset="0"/>
                        <a:ea typeface="Cambria Math" panose="02040503050406030204" pitchFamily="18" charset="0"/>
                        <a:cs typeface="Arial" panose="020B0604020202020204" pitchFamily="34" charset="0"/>
                      </a:rPr>
                      <m:t>5</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0.045=0.0</m:t>
                    </m:r>
                    <m:r>
                      <a:rPr lang="en-US" sz="2000" b="0" i="1" smtClean="0">
                        <a:latin typeface="Cambria Math" panose="02040503050406030204" pitchFamily="18" charset="0"/>
                        <a:ea typeface="Cambria Math" panose="02040503050406030204" pitchFamily="18" charset="0"/>
                        <a:cs typeface="Arial" panose="020B0604020202020204" pitchFamily="34" charset="0"/>
                      </a:rPr>
                      <m:t>9</m:t>
                    </m:r>
                    <m:r>
                      <a:rPr lang="en-US" sz="2000" i="1">
                        <a:latin typeface="Cambria Math" panose="02040503050406030204" pitchFamily="18" charset="0"/>
                        <a:ea typeface="Cambria Math" panose="02040503050406030204" pitchFamily="18" charset="0"/>
                        <a:cs typeface="Arial" panose="020B0604020202020204" pitchFamily="34" charset="0"/>
                      </a:rPr>
                      <m:t>5</m:t>
                    </m:r>
                  </m:oMath>
                </a14:m>
                <a:r>
                  <a:rPr lang="en-US" sz="2000" dirty="0">
                    <a:cs typeface="Arial" panose="020B0604020202020204" pitchFamily="34" charset="0"/>
                  </a:rPr>
                  <a:t>.</a:t>
                </a:r>
              </a:p>
              <a:p>
                <a:pPr>
                  <a:spcBef>
                    <a:spcPts val="600"/>
                  </a:spcBef>
                  <a:spcAft>
                    <a:spcPts val="600"/>
                  </a:spcAft>
                </a:pPr>
                <a:r>
                  <a:rPr lang="en-US" sz="2000" dirty="0">
                    <a:cs typeface="Arial" panose="020B0604020202020204" pitchFamily="34" charset="0"/>
                  </a:rPr>
                  <a:t>We are 90% confident that the difference in error rates between office 1 and office 2 is between 0.5% and 9.5%.</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784643"/>
                <a:ext cx="10711543" cy="3826046"/>
              </a:xfrm>
              <a:blipFill>
                <a:blip r:embed="rId3"/>
                <a:stretch>
                  <a:fillRect l="-1422" t="-1914" r="-1650" b="-1276"/>
                </a:stretch>
              </a:blipFill>
            </p:spPr>
            <p:txBody>
              <a:bodyPr/>
              <a:lstStyle/>
              <a:p>
                <a:r>
                  <a:rPr lang="en-US">
                    <a:noFill/>
                  </a:rPr>
                  <a:t> </a:t>
                </a:r>
              </a:p>
            </p:txBody>
          </p:sp>
        </mc:Fallback>
      </mc:AlternateContent>
    </p:spTree>
    <p:extLst>
      <p:ext uri="{BB962C8B-B14F-4D97-AF65-F5344CB8AC3E}">
        <p14:creationId xmlns:p14="http://schemas.microsoft.com/office/powerpoint/2010/main" val="3306964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10.4 Excel: Construct a 90% Confidence Interval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164431"/>
            <a:ext cx="10610223" cy="672105"/>
          </a:xfrm>
        </p:spPr>
        <p:txBody>
          <a:bodyPr/>
          <a:lstStyle/>
          <a:p>
            <a:r>
              <a:rPr lang="en-US" sz="2000" b="1" dirty="0"/>
              <a:t>Enter/Access Data</a:t>
            </a:r>
            <a:r>
              <a:rPr lang="en-US" sz="2000" dirty="0"/>
              <a:t>: Open the file </a:t>
            </a:r>
            <a:r>
              <a:rPr lang="en-US" sz="2000" i="1" dirty="0" err="1"/>
              <a:t>taxprep_mod</a:t>
            </a:r>
            <a:r>
              <a:rPr lang="en-US" sz="2000" dirty="0"/>
              <a:t>. Columns A and B contain data and labels.</a:t>
            </a:r>
          </a:p>
          <a:p>
            <a:r>
              <a:rPr lang="en-US" sz="2000" b="1" dirty="0"/>
              <a:t>Enter Functions and Formulas</a:t>
            </a:r>
            <a:r>
              <a:rPr lang="en-US" sz="2000" dirty="0"/>
              <a:t>: The descriptive statistics needed are provided in cells D4:E4 and D6:E7.</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E12EEE5-F80B-10B7-8B58-BD0B567449FD}"/>
                  </a:ext>
                </a:extLst>
              </p:cNvPr>
              <p:cNvSpPr>
                <a:spLocks noGrp="1"/>
              </p:cNvSpPr>
              <p:nvPr>
                <p:ph type="body" sz="quarter" idx="17"/>
              </p:nvPr>
            </p:nvSpPr>
            <p:spPr>
              <a:xfrm>
                <a:off x="743577" y="2228851"/>
                <a:ext cx="3702588" cy="3612647"/>
              </a:xfrm>
            </p:spPr>
            <p:txBody>
              <a:bodyPr/>
              <a:lstStyle/>
              <a:p>
                <a:r>
                  <a:rPr lang="en-US" sz="2000" dirty="0"/>
                  <a:t>The standard error, 0.0275, is computed in cell E14.</a:t>
                </a:r>
              </a:p>
              <a:p>
                <a:r>
                  <a:rPr lang="en-US" sz="2000" dirty="0"/>
                  <a:t>The margin of error, 0.0452, is computed in cell E15, using the </a:t>
                </a:r>
                <a14:m>
                  <m:oMath xmlns:m="http://schemas.openxmlformats.org/officeDocument/2006/math">
                    <m:r>
                      <a:rPr lang="en-US" sz="2000" i="1" dirty="0" smtClean="0">
                        <a:latin typeface="Cambria Math" panose="02040503050406030204" pitchFamily="18" charset="0"/>
                      </a:rPr>
                      <m:t>𝑧</m:t>
                    </m:r>
                  </m:oMath>
                </a14:m>
                <a:r>
                  <a:rPr lang="en-US" sz="2000" dirty="0"/>
                  <a:t> value in cell E12.</a:t>
                </a:r>
              </a:p>
              <a:p>
                <a:r>
                  <a:rPr lang="en-US" sz="2000" dirty="0"/>
                  <a:t>In cell E17, we compute the point estimate of the difference, 0.05.</a:t>
                </a:r>
              </a:p>
              <a:p>
                <a:r>
                  <a:rPr lang="en-US" sz="2000" dirty="0"/>
                  <a:t>The lower and upper limits of the 90% confidence intervals are entered in cells E18:E19.</a:t>
                </a:r>
              </a:p>
            </p:txBody>
          </p:sp>
        </mc:Choice>
        <mc:Fallback xmlns="">
          <p:sp>
            <p:nvSpPr>
              <p:cNvPr id="6" name="Text Placeholder 5">
                <a:extLst>
                  <a:ext uri="{FF2B5EF4-FFF2-40B4-BE49-F238E27FC236}">
                    <a16:creationId xmlns:a16="http://schemas.microsoft.com/office/drawing/2014/main" id="{CE12EEE5-F80B-10B7-8B58-BD0B567449FD}"/>
                  </a:ext>
                </a:extLst>
              </p:cNvPr>
              <p:cNvSpPr>
                <a:spLocks noGrp="1" noRot="1" noChangeAspect="1" noMove="1" noResize="1" noEditPoints="1" noAdjustHandles="1" noChangeArrowheads="1" noChangeShapeType="1" noTextEdit="1"/>
              </p:cNvSpPr>
              <p:nvPr>
                <p:ph type="body" sz="quarter" idx="17"/>
              </p:nvPr>
            </p:nvSpPr>
            <p:spPr>
              <a:xfrm>
                <a:off x="743577" y="2228851"/>
                <a:ext cx="3702588" cy="3612647"/>
              </a:xfrm>
              <a:blipFill>
                <a:blip r:embed="rId2"/>
                <a:stretch>
                  <a:fillRect l="-4283" t="-2027" r="-5437" b="-3547"/>
                </a:stretch>
              </a:blipFill>
            </p:spPr>
            <p:txBody>
              <a:bodyPr/>
              <a:lstStyle/>
              <a:p>
                <a:r>
                  <a:rPr lang="en-US">
                    <a:noFill/>
                  </a:rPr>
                  <a:t> </a:t>
                </a:r>
              </a:p>
            </p:txBody>
          </p:sp>
        </mc:Fallback>
      </mc:AlternateContent>
      <p:pic>
        <p:nvPicPr>
          <p:cNvPr id="7" name="Picture Placeholder 6" descr="Two screenshots show Excel spreadsheets for determining the interval estimate of the difference in population proportions. In both the spreadsheets, column A is labeled office 1 and column B is labeled office 2. The entries under column A are as follows. Row 2: No. Row 3: No. Row 4: No. Row 5: No. Row 6: No. Row 7: Yes. Row 8: No. Row 9: No. Row 10: No. Row 11: No. Row 12: No. Row 13: No. Row 14: No. Row 15: No. Row 16: No. Row 17: No. Row 18: Yes. Row 19: No. Row 250: Yes. Row 251: No. The entries under column B are as follows. Row 2: No. Row 3: No. Row 4: No. Row 5: No. Row 6: No. Row 7: No. Row 8: No. Row 9: No. Row 10: No. Row 11: No. Row 12: No. Row 13: No. Row 14: No. Row 15: No. Row 16: No. Row 17: Yes. Row 18: No. Row 19: No. Row 250: No. Row 251: No. Row 300: No. Row 301: No. The entries under columns D, E, and F in the first spreadsheet are as follows. E 4: Office 1. F 4: Office 2. D 5: Sample size. E 5: =COUNT A(A 2:A 251). F 5: =COUNT A(B 2:B 301). D 6: Response of Interest. E 6: Yes. F 6: Yes. D 7: Count for response. E 7: =COUNT IF(A 2:A 251,E 6). F 7: =COUNT IF(B 2:B 301,F 6). D 8: Sample proportion. E 8: =E 7/E 5. F 8: =F 7/F 5. D 10: Confidence coefficient. E 10: 0.9. D 11: Level of significance. E 11: =1 minus E 10. D 12: z value. E 12: =NORM.S.INV(1 minus E 11/2). D 14: Standard error. E 14: =SQRT(E 8*(1 minus E 8)/E 5 + F 8*(1 minus F 8)/F 5). D 15: Margin of error. E 15: =E 12*E 14. D 17: Point estimate of difference. E 17: =E 8 minus F 8. D 18: Lower limit. E 18: =E 17 minus E 15. D 19: Upper limit. E 19: =E 17+E 15. The entries under columns D, E, and F in the second spreadsheet are as follows. E 4: Office 1. F 4: Office 2. D 5: Sample size. E 5: 250. F 5: 300. D 6: Response of Interest. E 6: Yes. F 6: Yes. D 7: Count for response. E 7: 35. F 7: 27. D 8: Sample proportion. E 8: 0.14. F 8: 0.09. D 10: Confidence coefficient. E 10: 0.9. D 11: Level of significance. E 11: 0.1. D 12: z value. E 12: 1.645. D 14: Standard error. E 14: 0.0275. D 15: Margin of error. E 15: 0.0452. D 17: Point estimate of difference. E 17: 0.05. D 18: Lower limit. E 18: 0.0048. D 19: Upper limit. E 19: 0.0952.">
            <a:extLst>
              <a:ext uri="{FF2B5EF4-FFF2-40B4-BE49-F238E27FC236}">
                <a16:creationId xmlns:a16="http://schemas.microsoft.com/office/drawing/2014/main" id="{A82B8B83-1661-82A3-F95D-755E90B81D1B}"/>
              </a:ext>
            </a:extLst>
          </p:cNvPr>
          <p:cNvPicPr>
            <a:picLocks noGrp="1" noChangeAspect="1"/>
          </p:cNvPicPr>
          <p:nvPr>
            <p:ph type="pic" sz="quarter" idx="16"/>
          </p:nvPr>
        </p:nvPicPr>
        <p:blipFill>
          <a:blip r:embed="rId3"/>
          <a:srcRect l="41" r="41"/>
          <a:stretch/>
        </p:blipFill>
        <p:spPr>
          <a:xfrm>
            <a:off x="4578350" y="1935030"/>
            <a:ext cx="6775450" cy="4041775"/>
          </a:xfrm>
          <a:ln>
            <a:solidFill>
              <a:srgbClr val="000000"/>
            </a:solidFill>
          </a:ln>
        </p:spPr>
      </p:pic>
    </p:spTree>
    <p:extLst>
      <p:ext uri="{BB962C8B-B14F-4D97-AF65-F5344CB8AC3E}">
        <p14:creationId xmlns:p14="http://schemas.microsoft.com/office/powerpoint/2010/main" val="19243911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53A2DD1-FE1E-F138-7908-7831A6C81511}"/>
                  </a:ext>
                </a:extLst>
              </p:cNvPr>
              <p:cNvSpPr>
                <a:spLocks noGrp="1"/>
              </p:cNvSpPr>
              <p:nvPr>
                <p:ph type="title"/>
              </p:nvPr>
            </p:nvSpPr>
            <p:spPr>
              <a:xfrm>
                <a:off x="394140" y="365125"/>
                <a:ext cx="11353800" cy="672105"/>
              </a:xfrm>
            </p:spPr>
            <p:txBody>
              <a:bodyPr/>
              <a:lstStyle/>
              <a:p>
                <a:r>
                  <a:rPr lang="en-US" dirty="0"/>
                  <a:t>10.4 Hypothesis Tests About </a:t>
                </a:r>
                <a14:m>
                  <m:oMath xmlns:m="http://schemas.openxmlformats.org/officeDocument/2006/math">
                    <m:sSub>
                      <m:sSubPr>
                        <m:ctrlPr>
                          <a:rPr lang="en-US" i="1">
                            <a:latin typeface="Cambria Math" panose="02040503050406030204" pitchFamily="18" charset="0"/>
                          </a:rPr>
                        </m:ctrlPr>
                      </m:sSubPr>
                      <m:e>
                        <m:r>
                          <a:rPr lang="en-US" b="1" i="1" smtClean="0">
                            <a:latin typeface="Cambria Math" panose="02040503050406030204" pitchFamily="18" charset="0"/>
                          </a:rPr>
                          <m:t>𝒑</m:t>
                        </m:r>
                      </m:e>
                      <m:sub>
                        <m:r>
                          <a:rPr lang="en-US" b="1" i="1">
                            <a:latin typeface="Cambria Math" panose="02040503050406030204" pitchFamily="18" charset="0"/>
                          </a:rPr>
                          <m:t>𝟏</m:t>
                        </m:r>
                      </m:sub>
                    </m:sSub>
                    <m:r>
                      <a:rPr lang="en-US" b="1">
                        <a:latin typeface="Cambria Math" panose="02040503050406030204" pitchFamily="18" charset="0"/>
                      </a:rPr>
                      <m:t>−</m:t>
                    </m:r>
                    <m:sSub>
                      <m:sSubPr>
                        <m:ctrlPr>
                          <a:rPr lang="en-US" i="1">
                            <a:latin typeface="Cambria Math" panose="02040503050406030204" pitchFamily="18" charset="0"/>
                          </a:rPr>
                        </m:ctrlPr>
                      </m:sSubPr>
                      <m:e>
                        <m:r>
                          <a:rPr lang="en-US" b="1" i="1" smtClean="0">
                            <a:latin typeface="Cambria Math" panose="02040503050406030204" pitchFamily="18" charset="0"/>
                          </a:rPr>
                          <m:t>𝒑</m:t>
                        </m:r>
                      </m:e>
                      <m:sub>
                        <m:r>
                          <a:rPr lang="en-US" b="1" i="1">
                            <a:latin typeface="Cambria Math" panose="02040503050406030204" pitchFamily="18" charset="0"/>
                          </a:rPr>
                          <m:t>𝟐</m:t>
                        </m:r>
                      </m:sub>
                    </m:sSub>
                  </m:oMath>
                </a14:m>
                <a:endParaRPr lang="en-US" dirty="0"/>
              </a:p>
            </p:txBody>
          </p:sp>
        </mc:Choice>
        <mc:Fallback xmlns="">
          <p:sp>
            <p:nvSpPr>
              <p:cNvPr id="2" name="Title 1">
                <a:extLst>
                  <a:ext uri="{FF2B5EF4-FFF2-40B4-BE49-F238E27FC236}">
                    <a16:creationId xmlns:a16="http://schemas.microsoft.com/office/drawing/2014/main" id="{D53A2DD1-FE1E-F138-7908-7831A6C81511}"/>
                  </a:ext>
                </a:extLst>
              </p:cNvPr>
              <p:cNvSpPr>
                <a:spLocks noGrp="1" noRot="1" noChangeAspect="1" noMove="1" noResize="1" noEditPoints="1" noAdjustHandles="1" noChangeArrowheads="1" noChangeShapeType="1" noTextEdit="1"/>
              </p:cNvSpPr>
              <p:nvPr>
                <p:ph type="title"/>
              </p:nvPr>
            </p:nvSpPr>
            <p:spPr>
              <a:xfrm>
                <a:off x="394140" y="365125"/>
                <a:ext cx="11353800" cy="672105"/>
              </a:xfrm>
              <a:blipFill>
                <a:blip r:embed="rId3"/>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3B19AC0-1583-E5FA-3D0F-A97E7D529C75}"/>
                  </a:ext>
                </a:extLst>
              </p:cNvPr>
              <p:cNvSpPr>
                <a:spLocks noGrp="1"/>
              </p:cNvSpPr>
              <p:nvPr>
                <p:ph type="body" sz="quarter" idx="15"/>
              </p:nvPr>
            </p:nvSpPr>
            <p:spPr>
              <a:xfrm>
                <a:off x="743575" y="1202110"/>
                <a:ext cx="10610223" cy="4770060"/>
              </a:xfrm>
            </p:spPr>
            <p:txBody>
              <a:bodyPr/>
              <a:lstStyle/>
              <a:p>
                <a:pPr>
                  <a:lnSpc>
                    <a:spcPct val="100000"/>
                  </a:lnSpc>
                </a:pPr>
                <a:r>
                  <a:rPr lang="en-US" sz="2000" dirty="0"/>
                  <a:t>In general, a hypothesis test about the difference </a:t>
                </a:r>
                <a:r>
                  <a:rPr lang="en-US" sz="2000" dirty="0">
                    <a:cs typeface="Arial" panose="020B0604020202020204" pitchFamily="34" charset="0"/>
                  </a:rPr>
                  <a:t>between two population proportions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a:t>
                </a:r>
                <a:r>
                  <a:rPr lang="en-US" sz="2000" dirty="0"/>
                  <a:t>must take one of the following three forms.</a:t>
                </a:r>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r>
                  <a:rPr lang="en-US" sz="2000" dirty="0"/>
                  <a:t>Where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𝐷</m:t>
                        </m:r>
                      </m:e>
                      <m:sub>
                        <m:r>
                          <a:rPr lang="en-US" sz="2000" b="0" i="1" dirty="0" smtClean="0">
                            <a:latin typeface="Cambria Math" panose="02040503050406030204" pitchFamily="18" charset="0"/>
                          </a:rPr>
                          <m:t>0</m:t>
                        </m:r>
                      </m:sub>
                    </m:sSub>
                  </m:oMath>
                </a14:m>
                <a:r>
                  <a:rPr lang="en-US" sz="2000" dirty="0"/>
                  <a:t> denotes the hypothesized difference between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latin typeface="Cambria Math" panose="02040503050406030204" pitchFamily="18" charset="0"/>
                            <a:cs typeface="Arial" panose="020B0604020202020204" pitchFamily="34" charset="0"/>
                          </a:rPr>
                          <m:t>2</m:t>
                        </m:r>
                      </m:sub>
                    </m:sSub>
                  </m:oMath>
                </a14:m>
                <a:r>
                  <a:rPr lang="en-US" sz="2000" dirty="0"/>
                  <a:t>.</a:t>
                </a:r>
              </a:p>
              <a:p>
                <a:pPr>
                  <a:lnSpc>
                    <a:spcPct val="100000"/>
                  </a:lnSpc>
                </a:pPr>
                <a:r>
                  <a:rPr lang="en-US" sz="2000" dirty="0"/>
                  <a:t>Using an upper-tail test as an example, when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0</m:t>
                        </m:r>
                      </m:sub>
                    </m:sSub>
                    <m:r>
                      <a:rPr lang="en-US" sz="2000" dirty="0">
                        <a:latin typeface="Cambria Math" panose="02040503050406030204" pitchFamily="18" charset="0"/>
                      </a:rPr>
                      <m:t>=0</m:t>
                    </m:r>
                  </m:oMath>
                </a14:m>
                <a:r>
                  <a:rPr lang="en-US" sz="2000" dirty="0"/>
                  <a:t>, as it is in most cases, we assume the null hypothesis to be true and that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m:t>
                    </m:r>
                  </m:oMath>
                </a14:m>
                <a:r>
                  <a:rPr lang="en-US" sz="2000" dirty="0"/>
                  <a:t>; that is,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oMath>
                </a14:m>
                <a:r>
                  <a:rPr lang="en-US" sz="2000" dirty="0"/>
                  <a:t> is less than or equal to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oMath>
                </a14:m>
                <a:r>
                  <a:rPr lang="en-US" sz="2000" dirty="0"/>
                  <a:t>.</a:t>
                </a:r>
              </a:p>
              <a:p>
                <a:pPr>
                  <a:lnSpc>
                    <a:spcPct val="100000"/>
                  </a:lnSpc>
                </a:pPr>
                <a:r>
                  <a:rPr lang="en-US" sz="2000" dirty="0"/>
                  <a:t>The rejection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leads to the conclusion that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𝑎</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&gt;0</m:t>
                    </m:r>
                  </m:oMath>
                </a14:m>
                <a:r>
                  <a:rPr lang="en-US" sz="2000" dirty="0"/>
                  <a:t> is true; that is,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oMath>
                </a14:m>
                <a:r>
                  <a:rPr lang="en-US" sz="2000" dirty="0"/>
                  <a:t> is greater than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oMath>
                </a14:m>
                <a:r>
                  <a:rPr lang="en-US" sz="2000" dirty="0"/>
                  <a:t>.</a:t>
                </a:r>
              </a:p>
              <a:p>
                <a:pPr>
                  <a:lnSpc>
                    <a:spcPct val="100000"/>
                  </a:lnSpc>
                </a:pPr>
                <a:r>
                  <a:rPr lang="en-US" sz="2000" dirty="0"/>
                  <a:t>For this example, we choose a significance level, </a:t>
                </a:r>
                <a14:m>
                  <m:oMath xmlns:m="http://schemas.openxmlformats.org/officeDocument/2006/math">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=0.10</m:t>
                    </m:r>
                  </m:oMath>
                </a14:m>
                <a:r>
                  <a:rPr lang="en-US" sz="2000" dirty="0"/>
                  <a:t>.</a:t>
                </a:r>
              </a:p>
              <a:p>
                <a:pPr>
                  <a:lnSpc>
                    <a:spcPct val="100000"/>
                  </a:lnSpc>
                </a:pPr>
                <a:endParaRPr lang="en-US" sz="2000" dirty="0"/>
              </a:p>
            </p:txBody>
          </p:sp>
        </mc:Choice>
        <mc:Fallback xmlns="">
          <p:sp>
            <p:nvSpPr>
              <p:cNvPr id="3" name="Text Placeholder 2">
                <a:extLst>
                  <a:ext uri="{FF2B5EF4-FFF2-40B4-BE49-F238E27FC236}">
                    <a16:creationId xmlns:a16="http://schemas.microsoft.com/office/drawing/2014/main" id="{83B19AC0-1583-E5FA-3D0F-A97E7D529C75}"/>
                  </a:ext>
                </a:extLst>
              </p:cNvPr>
              <p:cNvSpPr>
                <a:spLocks noGrp="1" noRot="1" noChangeAspect="1" noMove="1" noResize="1" noEditPoints="1" noAdjustHandles="1" noChangeArrowheads="1" noChangeShapeType="1" noTextEdit="1"/>
              </p:cNvSpPr>
              <p:nvPr>
                <p:ph type="body" sz="quarter" idx="15"/>
              </p:nvPr>
            </p:nvSpPr>
            <p:spPr>
              <a:xfrm>
                <a:off x="743575" y="1202110"/>
                <a:ext cx="10610223" cy="4770060"/>
              </a:xfrm>
              <a:blipFill>
                <a:blip r:embed="rId4"/>
                <a:stretch>
                  <a:fillRect l="-1494" t="-1533" r="-1954" b="-12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949D3E33-8804-E853-E582-29FEBCCEEA7C}"/>
                  </a:ext>
                </a:extLst>
              </p:cNvPr>
              <p:cNvGraphicFramePr>
                <a:graphicFrameLocks noGrp="1"/>
              </p:cNvGraphicFramePr>
              <p:nvPr>
                <p:ph type="tbl" sz="quarter" idx="16"/>
                <p:extLst>
                  <p:ext uri="{D42A27DB-BD31-4B8C-83A1-F6EECF244321}">
                    <p14:modId xmlns:p14="http://schemas.microsoft.com/office/powerpoint/2010/main" val="3130654300"/>
                  </p:ext>
                </p:extLst>
              </p:nvPr>
            </p:nvGraphicFramePr>
            <p:xfrm>
              <a:off x="2057400" y="1842715"/>
              <a:ext cx="7179216" cy="1637512"/>
            </p:xfrm>
            <a:graphic>
              <a:graphicData uri="http://schemas.openxmlformats.org/drawingml/2006/table">
                <a:tbl>
                  <a:tblPr firstRow="1" bandRow="1">
                    <a:tableStyleId>{5C22544A-7EE6-4342-B048-85BDC9FD1C3A}</a:tableStyleId>
                  </a:tblPr>
                  <a:tblGrid>
                    <a:gridCol w="2393072">
                      <a:extLst>
                        <a:ext uri="{9D8B030D-6E8A-4147-A177-3AD203B41FA5}">
                          <a16:colId xmlns:a16="http://schemas.microsoft.com/office/drawing/2014/main" val="62038558"/>
                        </a:ext>
                      </a:extLst>
                    </a:gridCol>
                    <a:gridCol w="2393072">
                      <a:extLst>
                        <a:ext uri="{9D8B030D-6E8A-4147-A177-3AD203B41FA5}">
                          <a16:colId xmlns:a16="http://schemas.microsoft.com/office/drawing/2014/main" val="949252079"/>
                        </a:ext>
                      </a:extLst>
                    </a:gridCol>
                    <a:gridCol w="2393072">
                      <a:extLst>
                        <a:ext uri="{9D8B030D-6E8A-4147-A177-3AD203B41FA5}">
                          <a16:colId xmlns:a16="http://schemas.microsoft.com/office/drawing/2014/main" val="2132953150"/>
                        </a:ext>
                      </a:extLst>
                    </a:gridCol>
                  </a:tblGrid>
                  <a:tr h="768628">
                    <a:tc>
                      <a:txBody>
                        <a:bodyPr/>
                        <a:lstStyle/>
                        <a:p>
                          <a:pPr algn="ctr"/>
                          <a:r>
                            <a:rPr lang="en-US" sz="2000" dirty="0">
                              <a:solidFill>
                                <a:srgbClr val="000000"/>
                              </a:solidFill>
                              <a:latin typeface="Arial" panose="020B0604020202020204" pitchFamily="34" charset="0"/>
                              <a:cs typeface="Arial" panose="020B0604020202020204" pitchFamily="34" charset="0"/>
                            </a:rPr>
                            <a:t>One-tailed (Lower-tail)</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One-tailed (Upper-tail)</a:t>
                          </a:r>
                        </a:p>
                      </a:txBody>
                      <a:tcPr anchor="b">
                        <a:noFill/>
                      </a:tcPr>
                    </a:tc>
                    <a:tc>
                      <a:txBody>
                        <a:bodyPr/>
                        <a:lstStyle/>
                        <a:p>
                          <a:pPr algn="ctr"/>
                          <a:r>
                            <a:rPr lang="en-US" sz="2000" dirty="0">
                              <a:solidFill>
                                <a:srgbClr val="000000"/>
                              </a:solidFill>
                              <a:latin typeface="Arial" panose="020B0604020202020204" pitchFamily="34" charset="0"/>
                              <a:cs typeface="Arial" panose="020B0604020202020204" pitchFamily="34" charset="0"/>
                            </a:rPr>
                            <a:t>Two-tailed</a:t>
                          </a:r>
                        </a:p>
                        <a:p>
                          <a:pPr algn="ctr"/>
                          <a:endParaRPr lang="en-US" sz="2000" dirty="0">
                            <a:solidFill>
                              <a:srgbClr val="000000"/>
                            </a:solidFill>
                            <a:latin typeface="Arial" panose="020B0604020202020204" pitchFamily="34" charset="0"/>
                            <a:cs typeface="Arial" panose="020B0604020202020204" pitchFamily="34" charset="0"/>
                          </a:endParaRPr>
                        </a:p>
                      </a:txBody>
                      <a:tcPr anchor="b">
                        <a:noFill/>
                      </a:tcPr>
                    </a:tc>
                    <a:extLst>
                      <a:ext uri="{0D108BD9-81ED-4DB2-BD59-A6C34878D82A}">
                        <a16:rowId xmlns:a16="http://schemas.microsoft.com/office/drawing/2014/main" val="3040413604"/>
                      </a:ext>
                    </a:extLst>
                  </a:tr>
                  <a:tr h="434442">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2735330957"/>
                      </a:ext>
                    </a:extLst>
                  </a:tr>
                  <a:tr h="434442">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&lt;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m:t>
                                </m:r>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𝐷</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4015236200"/>
                      </a:ext>
                    </a:extLst>
                  </a:tr>
                </a:tbl>
              </a:graphicData>
            </a:graphic>
          </p:graphicFrame>
        </mc:Choice>
        <mc:Fallback xmlns="">
          <p:graphicFrame>
            <p:nvGraphicFramePr>
              <p:cNvPr id="5" name="Table 5">
                <a:extLst>
                  <a:ext uri="{FF2B5EF4-FFF2-40B4-BE49-F238E27FC236}">
                    <a16:creationId xmlns:a16="http://schemas.microsoft.com/office/drawing/2014/main" id="{949D3E33-8804-E853-E582-29FEBCCEEA7C}"/>
                  </a:ext>
                </a:extLst>
              </p:cNvPr>
              <p:cNvGraphicFramePr>
                <a:graphicFrameLocks noGrp="1"/>
              </p:cNvGraphicFramePr>
              <p:nvPr>
                <p:ph type="tbl" sz="quarter" idx="16"/>
                <p:extLst>
                  <p:ext uri="{D42A27DB-BD31-4B8C-83A1-F6EECF244321}">
                    <p14:modId xmlns:p14="http://schemas.microsoft.com/office/powerpoint/2010/main" val="3130654300"/>
                  </p:ext>
                </p:extLst>
              </p:nvPr>
            </p:nvGraphicFramePr>
            <p:xfrm>
              <a:off x="2057400" y="1842715"/>
              <a:ext cx="7179216" cy="1637512"/>
            </p:xfrm>
            <a:graphic>
              <a:graphicData uri="http://schemas.openxmlformats.org/drawingml/2006/table">
                <a:tbl>
                  <a:tblPr firstRow="1" bandRow="1">
                    <a:tableStyleId>{5C22544A-7EE6-4342-B048-85BDC9FD1C3A}</a:tableStyleId>
                  </a:tblPr>
                  <a:tblGrid>
                    <a:gridCol w="2393072">
                      <a:extLst>
                        <a:ext uri="{9D8B030D-6E8A-4147-A177-3AD203B41FA5}">
                          <a16:colId xmlns:a16="http://schemas.microsoft.com/office/drawing/2014/main" val="62038558"/>
                        </a:ext>
                      </a:extLst>
                    </a:gridCol>
                    <a:gridCol w="2393072">
                      <a:extLst>
                        <a:ext uri="{9D8B030D-6E8A-4147-A177-3AD203B41FA5}">
                          <a16:colId xmlns:a16="http://schemas.microsoft.com/office/drawing/2014/main" val="949252079"/>
                        </a:ext>
                      </a:extLst>
                    </a:gridCol>
                    <a:gridCol w="2393072">
                      <a:extLst>
                        <a:ext uri="{9D8B030D-6E8A-4147-A177-3AD203B41FA5}">
                          <a16:colId xmlns:a16="http://schemas.microsoft.com/office/drawing/2014/main" val="2132953150"/>
                        </a:ext>
                      </a:extLst>
                    </a:gridCol>
                  </a:tblGrid>
                  <a:tr h="768628">
                    <a:tc>
                      <a:txBody>
                        <a:bodyPr/>
                        <a:lstStyle/>
                        <a:p>
                          <a:pPr algn="ctr"/>
                          <a:r>
                            <a:rPr lang="en-US" sz="2000" dirty="0">
                              <a:solidFill>
                                <a:srgbClr val="000000"/>
                              </a:solidFill>
                              <a:latin typeface="Arial" panose="020B0604020202020204" pitchFamily="34" charset="0"/>
                              <a:cs typeface="Arial" panose="020B0604020202020204" pitchFamily="34" charset="0"/>
                            </a:rPr>
                            <a:t>One-tailed (Lower-tail)</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One-tailed (Upper-tail)</a:t>
                          </a:r>
                        </a:p>
                      </a:txBody>
                      <a:tcPr anchor="b">
                        <a:noFill/>
                      </a:tcPr>
                    </a:tc>
                    <a:tc>
                      <a:txBody>
                        <a:bodyPr/>
                        <a:lstStyle/>
                        <a:p>
                          <a:pPr algn="ctr"/>
                          <a:r>
                            <a:rPr lang="en-US" sz="2000" dirty="0">
                              <a:solidFill>
                                <a:srgbClr val="000000"/>
                              </a:solidFill>
                              <a:latin typeface="Arial" panose="020B0604020202020204" pitchFamily="34" charset="0"/>
                              <a:cs typeface="Arial" panose="020B0604020202020204" pitchFamily="34" charset="0"/>
                            </a:rPr>
                            <a:t>Two-tailed</a:t>
                          </a:r>
                        </a:p>
                        <a:p>
                          <a:pPr algn="ctr"/>
                          <a:endParaRPr lang="en-US" sz="2000" dirty="0">
                            <a:solidFill>
                              <a:srgbClr val="000000"/>
                            </a:solidFill>
                            <a:latin typeface="Arial" panose="020B0604020202020204" pitchFamily="34" charset="0"/>
                            <a:cs typeface="Arial" panose="020B0604020202020204" pitchFamily="34" charset="0"/>
                          </a:endParaRPr>
                        </a:p>
                      </a:txBody>
                      <a:tcPr anchor="b">
                        <a:noFill/>
                      </a:tcPr>
                    </a:tc>
                    <a:extLst>
                      <a:ext uri="{0D108BD9-81ED-4DB2-BD59-A6C34878D82A}">
                        <a16:rowId xmlns:a16="http://schemas.microsoft.com/office/drawing/2014/main" val="3040413604"/>
                      </a:ext>
                    </a:extLst>
                  </a:tr>
                  <a:tr h="434442">
                    <a:tc>
                      <a:txBody>
                        <a:bodyPr/>
                        <a:lstStyle/>
                        <a:p>
                          <a:endParaRPr lang="en-US"/>
                        </a:p>
                      </a:txBody>
                      <a:tcPr anchor="ctr">
                        <a:blipFill>
                          <a:blip r:embed="rId5"/>
                          <a:stretch>
                            <a:fillRect l="-254" t="-176389" r="-201018" b="-104167"/>
                          </a:stretch>
                        </a:blipFill>
                      </a:tcPr>
                    </a:tc>
                    <a:tc>
                      <a:txBody>
                        <a:bodyPr/>
                        <a:lstStyle/>
                        <a:p>
                          <a:endParaRPr lang="en-US"/>
                        </a:p>
                      </a:txBody>
                      <a:tcPr anchor="ctr">
                        <a:blipFill>
                          <a:blip r:embed="rId5"/>
                          <a:stretch>
                            <a:fillRect l="-100254" t="-176389" r="-101018" b="-104167"/>
                          </a:stretch>
                        </a:blipFill>
                      </a:tcPr>
                    </a:tc>
                    <a:tc>
                      <a:txBody>
                        <a:bodyPr/>
                        <a:lstStyle/>
                        <a:p>
                          <a:endParaRPr lang="en-US"/>
                        </a:p>
                      </a:txBody>
                      <a:tcPr anchor="ctr">
                        <a:blipFill>
                          <a:blip r:embed="rId5"/>
                          <a:stretch>
                            <a:fillRect l="-200254" t="-176389" r="-1018" b="-104167"/>
                          </a:stretch>
                        </a:blipFill>
                      </a:tcPr>
                    </a:tc>
                    <a:extLst>
                      <a:ext uri="{0D108BD9-81ED-4DB2-BD59-A6C34878D82A}">
                        <a16:rowId xmlns:a16="http://schemas.microsoft.com/office/drawing/2014/main" val="2735330957"/>
                      </a:ext>
                    </a:extLst>
                  </a:tr>
                  <a:tr h="434442">
                    <a:tc>
                      <a:txBody>
                        <a:bodyPr/>
                        <a:lstStyle/>
                        <a:p>
                          <a:endParaRPr lang="en-US"/>
                        </a:p>
                      </a:txBody>
                      <a:tcPr anchor="ctr">
                        <a:blipFill>
                          <a:blip r:embed="rId5"/>
                          <a:stretch>
                            <a:fillRect l="-254" t="-280282" r="-201018" b="-5634"/>
                          </a:stretch>
                        </a:blipFill>
                      </a:tcPr>
                    </a:tc>
                    <a:tc>
                      <a:txBody>
                        <a:bodyPr/>
                        <a:lstStyle/>
                        <a:p>
                          <a:endParaRPr lang="en-US"/>
                        </a:p>
                      </a:txBody>
                      <a:tcPr anchor="ctr">
                        <a:blipFill>
                          <a:blip r:embed="rId5"/>
                          <a:stretch>
                            <a:fillRect l="-100254" t="-280282" r="-101018" b="-5634"/>
                          </a:stretch>
                        </a:blipFill>
                      </a:tcPr>
                    </a:tc>
                    <a:tc>
                      <a:txBody>
                        <a:bodyPr/>
                        <a:lstStyle/>
                        <a:p>
                          <a:endParaRPr lang="en-US"/>
                        </a:p>
                      </a:txBody>
                      <a:tcPr anchor="ctr">
                        <a:blipFill>
                          <a:blip r:embed="rId5"/>
                          <a:stretch>
                            <a:fillRect l="-200254" t="-280282" r="-1018" b="-5634"/>
                          </a:stretch>
                        </a:blipFill>
                      </a:tcPr>
                    </a:tc>
                    <a:extLst>
                      <a:ext uri="{0D108BD9-81ED-4DB2-BD59-A6C34878D82A}">
                        <a16:rowId xmlns:a16="http://schemas.microsoft.com/office/drawing/2014/main" val="4015236200"/>
                      </a:ext>
                    </a:extLst>
                  </a:tr>
                </a:tbl>
              </a:graphicData>
            </a:graphic>
          </p:graphicFrame>
        </mc:Fallback>
      </mc:AlternateContent>
    </p:spTree>
    <p:extLst>
      <p:ext uri="{BB962C8B-B14F-4D97-AF65-F5344CB8AC3E}">
        <p14:creationId xmlns:p14="http://schemas.microsoft.com/office/powerpoint/2010/main" val="4182378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30621" y="365125"/>
                <a:ext cx="10920248" cy="672105"/>
              </a:xfrm>
            </p:spPr>
            <p:txBody>
              <a:bodyPr/>
              <a:lstStyle/>
              <a:p>
                <a:r>
                  <a:rPr lang="en-US" dirty="0"/>
                  <a:t>10.4 Test Statistic for Hypothesis Tests About </a:t>
                </a:r>
                <a14:m>
                  <m:oMath xmlns:m="http://schemas.openxmlformats.org/officeDocument/2006/math">
                    <m:sSub>
                      <m:sSubPr>
                        <m:ctrlPr>
                          <a:rPr lang="en-US" i="1">
                            <a:latin typeface="Cambria Math" panose="02040503050406030204" pitchFamily="18" charset="0"/>
                          </a:rPr>
                        </m:ctrlPr>
                      </m:sSubPr>
                      <m:e>
                        <m:r>
                          <a:rPr lang="en-US" b="1" i="1" smtClean="0">
                            <a:latin typeface="Cambria Math" panose="02040503050406030204" pitchFamily="18" charset="0"/>
                          </a:rPr>
                          <m:t>𝒑</m:t>
                        </m:r>
                      </m:e>
                      <m:sub>
                        <m:r>
                          <a:rPr lang="en-US" i="1">
                            <a:latin typeface="Cambria Math" panose="02040503050406030204" pitchFamily="18" charset="0"/>
                          </a:rPr>
                          <m:t>𝟏</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b="1" i="1" smtClean="0">
                            <a:latin typeface="Cambria Math" panose="02040503050406030204" pitchFamily="18" charset="0"/>
                          </a:rPr>
                          <m:t>𝒑</m:t>
                        </m:r>
                      </m:e>
                      <m:sub>
                        <m:r>
                          <a:rPr lang="en-US" i="1">
                            <a:latin typeface="Cambria Math" panose="02040503050406030204" pitchFamily="18" charset="0"/>
                          </a:rPr>
                          <m:t>𝟐</m:t>
                        </m:r>
                      </m:sub>
                    </m:sSub>
                  </m:oMath>
                </a14:m>
                <a:endParaRPr lang="en-US" dirty="0"/>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630621" y="365125"/>
                <a:ext cx="10920248" cy="672105"/>
              </a:xfrm>
              <a:blipFill>
                <a:blip r:embed="rId3"/>
                <a:stretch>
                  <a:fillRect l="-2344"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8111" y="1253361"/>
                <a:ext cx="10711543" cy="4729654"/>
              </a:xfrm>
            </p:spPr>
            <p:txBody>
              <a:bodyPr/>
              <a:lstStyle/>
              <a:p>
                <a:pPr>
                  <a:spcBef>
                    <a:spcPts val="600"/>
                  </a:spcBef>
                  <a:spcAft>
                    <a:spcPts val="0"/>
                  </a:spcAft>
                </a:pPr>
                <a:r>
                  <a:rPr lang="en-US" sz="2000" dirty="0">
                    <a:cs typeface="Arial" panose="020B0604020202020204" pitchFamily="34" charset="0"/>
                  </a:rPr>
                  <a:t>The test statistic of the difference between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oMath>
                </a14:m>
                <a:r>
                  <a:rPr lang="en-US" sz="2000" dirty="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is based on the sampling distribution of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which can be approximated by a normal distribution so long as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1</m:t>
                        </m:r>
                      </m:sub>
                    </m:sSub>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(1−</m:t>
                        </m:r>
                        <m:r>
                          <a:rPr lang="en-US" sz="2000" b="0" i="1" smtClean="0">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2</m:t>
                        </m:r>
                      </m:sub>
                    </m:sSub>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oMath>
                </a14:m>
                <a:r>
                  <a:rPr lang="en-US" sz="2000" dirty="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2</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(1−</m:t>
                        </m:r>
                        <m:r>
                          <a:rPr lang="en-US" sz="2000" b="0" i="1" smtClean="0">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are all greater than or equal to 5.</a:t>
                </a:r>
              </a:p>
              <a:p>
                <a:pPr>
                  <a:spcBef>
                    <a:spcPts val="600"/>
                  </a:spcBef>
                  <a:spcAft>
                    <a:spcPts val="600"/>
                  </a:spcAft>
                </a:pPr>
                <a:r>
                  <a:rPr lang="en-US" sz="2000" dirty="0">
                    <a:cs typeface="Arial" panose="020B0604020202020204" pitchFamily="34" charset="0"/>
                  </a:rPr>
                  <a:t>In such case, the test statistic for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oMath>
                </a14:m>
                <a:r>
                  <a:rPr lang="en-US" sz="2000" dirty="0">
                    <a:solidFill>
                      <a:srgbClr val="000000"/>
                    </a:solidFill>
                    <a:cs typeface="Arial" panose="020B0604020202020204" pitchFamily="34" charset="0"/>
                  </a:rPr>
                  <a:t> can be written as</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𝒛</m:t>
                      </m:r>
                      <m:r>
                        <a:rPr lang="en-US" sz="2000" b="1" i="1" smtClean="0">
                          <a:latin typeface="Cambria Math" panose="02040503050406030204" pitchFamily="18" charset="0"/>
                          <a:cs typeface="Arial" panose="020B0604020202020204" pitchFamily="34" charset="0"/>
                        </a:rPr>
                        <m:t>=</m:t>
                      </m:r>
                      <m:f>
                        <m:fPr>
                          <m:ctrlPr>
                            <a:rPr lang="en-US" sz="2000" b="1" i="1">
                              <a:latin typeface="Cambria Math" panose="02040503050406030204" pitchFamily="18" charset="0"/>
                              <a:cs typeface="Arial" panose="020B0604020202020204" pitchFamily="34" charset="0"/>
                            </a:rPr>
                          </m:ctrlPr>
                        </m:fPr>
                        <m:num>
                          <m:d>
                            <m:dPr>
                              <m:ctrlPr>
                                <a:rPr lang="en-US" sz="2000" b="1" i="1">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𝒑</m:t>
                                      </m:r>
                                    </m:e>
                                  </m:acc>
                                </m:e>
                                <m:sub>
                                  <m:r>
                                    <a:rPr lang="en-US" sz="2000" b="1" i="1">
                                      <a:latin typeface="Cambria Math" panose="02040503050406030204" pitchFamily="18" charset="0"/>
                                      <a:cs typeface="Arial" panose="020B0604020202020204" pitchFamily="34" charset="0"/>
                                    </a:rPr>
                                    <m:t>𝟏</m:t>
                                  </m:r>
                                </m:sub>
                              </m:sSub>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𝒑</m:t>
                                      </m:r>
                                    </m:e>
                                  </m:acc>
                                </m:e>
                                <m:sub>
                                  <m:r>
                                    <a:rPr lang="en-US" sz="2000" b="1" i="1">
                                      <a:latin typeface="Cambria Math" panose="02040503050406030204" pitchFamily="18" charset="0"/>
                                      <a:cs typeface="Arial" panose="020B0604020202020204" pitchFamily="34" charset="0"/>
                                    </a:rPr>
                                    <m:t>𝟐</m:t>
                                  </m:r>
                                </m:sub>
                              </m:sSub>
                            </m:e>
                          </m:d>
                          <m:r>
                            <a:rPr lang="en-US" sz="2000" b="1" i="1">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𝑫</m:t>
                              </m:r>
                            </m:e>
                            <m:sub>
                              <m:r>
                                <a:rPr lang="en-US" sz="2000" b="1" i="1">
                                  <a:latin typeface="Cambria Math" panose="02040503050406030204" pitchFamily="18" charset="0"/>
                                  <a:ea typeface="Cambria Math" panose="02040503050406030204" pitchFamily="18" charset="0"/>
                                  <a:cs typeface="Arial" panose="020B0604020202020204" pitchFamily="34" charset="0"/>
                                </a:rPr>
                                <m:t>𝟎</m:t>
                              </m:r>
                            </m:sub>
                          </m:sSub>
                        </m:num>
                        <m:den>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𝝈</m:t>
                              </m:r>
                            </m:e>
                            <m:sub>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ea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ea typeface="Cambria Math" panose="02040503050406030204" pitchFamily="18" charset="0"/>
                                          <a:cs typeface="Arial" panose="020B0604020202020204" pitchFamily="34" charset="0"/>
                                        </a:rPr>
                                        <m:t>𝒑</m:t>
                                      </m:r>
                                    </m:e>
                                  </m:acc>
                                </m:e>
                                <m:sub>
                                  <m:r>
                                    <a:rPr lang="en-US" sz="2000" b="1" i="1">
                                      <a:latin typeface="Cambria Math" panose="02040503050406030204" pitchFamily="18" charset="0"/>
                                      <a:ea typeface="Cambria Math" panose="02040503050406030204" pitchFamily="18" charset="0"/>
                                      <a:cs typeface="Arial" panose="020B0604020202020204" pitchFamily="34" charset="0"/>
                                    </a:rPr>
                                    <m:t>𝟏</m:t>
                                  </m:r>
                                </m:sub>
                              </m:sSub>
                              <m:r>
                                <a:rPr lang="en-US" sz="2000" b="1"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ea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ea typeface="Cambria Math" panose="02040503050406030204" pitchFamily="18" charset="0"/>
                                          <a:cs typeface="Arial" panose="020B0604020202020204" pitchFamily="34" charset="0"/>
                                        </a:rPr>
                                        <m:t>𝒑</m:t>
                                      </m:r>
                                    </m:e>
                                  </m:acc>
                                </m:e>
                                <m:sub>
                                  <m:r>
                                    <a:rPr lang="en-US" sz="2000" b="1" i="1">
                                      <a:latin typeface="Cambria Math" panose="02040503050406030204" pitchFamily="18" charset="0"/>
                                      <a:ea typeface="Cambria Math" panose="02040503050406030204" pitchFamily="18" charset="0"/>
                                      <a:cs typeface="Arial" panose="020B0604020202020204" pitchFamily="34" charset="0"/>
                                    </a:rPr>
                                    <m:t>𝟐</m:t>
                                  </m:r>
                                </m:sub>
                              </m:sSub>
                            </m:sub>
                          </m:sSub>
                        </m:den>
                      </m:f>
                    </m:oMath>
                  </m:oMathPara>
                </a14:m>
                <a:endParaRPr lang="en-US" sz="2000" b="1" dirty="0">
                  <a:cs typeface="Arial" panose="020B0604020202020204" pitchFamily="34" charset="0"/>
                </a:endParaRPr>
              </a:p>
              <a:p>
                <a:pPr>
                  <a:spcBef>
                    <a:spcPts val="0"/>
                  </a:spcBef>
                  <a:spcAft>
                    <a:spcPts val="0"/>
                  </a:spcAft>
                </a:pPr>
                <a:r>
                  <a:rPr lang="en-US" sz="2000" dirty="0">
                    <a:cs typeface="Arial" panose="020B0604020202020204" pitchFamily="34" charset="0"/>
                  </a:rPr>
                  <a:t>Where</a:t>
                </a:r>
              </a:p>
              <a:p>
                <a:pPr marL="914400">
                  <a:spcBef>
                    <a:spcPts val="600"/>
                  </a:spcBef>
                  <a:spcAft>
                    <a:spcPts val="600"/>
                  </a:spcAft>
                </a:pP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0</m:t>
                        </m:r>
                      </m:sub>
                    </m:sSub>
                  </m:oMath>
                </a14:m>
                <a:r>
                  <a:rPr lang="en-US" sz="2000" dirty="0"/>
                  <a:t> is the hypothesized difference between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 </m:t>
                    </m:r>
                  </m:oMath>
                </a14:m>
                <a:endParaRPr lang="en-US" sz="2000" i="1" dirty="0">
                  <a:latin typeface="Cambria Math" panose="02040503050406030204" pitchFamily="18"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d>
                            <m:d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1−</m:t>
                              </m:r>
                              <m:acc>
                                <m:accPr>
                                  <m: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e>
                              </m:acc>
                            </m:e>
                          </m:d>
                          <m:d>
                            <m:d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e>
                          </m:d>
                        </m:e>
                      </m:rad>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b="0" i="0" dirty="0" smtClean="0">
                          <a:cs typeface="Arial" panose="020B0604020202020204" pitchFamily="34" charset="0"/>
                        </a:rPr>
                        <m:t>standard</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error</m:t>
                      </m:r>
                      <m:r>
                        <m:rPr>
                          <m:nor/>
                        </m:rPr>
                        <a:rPr lang="en-US" sz="2000" b="0" i="0" dirty="0" smtClean="0">
                          <a:cs typeface="Arial" panose="020B0604020202020204" pitchFamily="34" charset="0"/>
                        </a:rPr>
                        <m:t> </m:t>
                      </m:r>
                      <m:r>
                        <m:rPr>
                          <m:nor/>
                        </m:rPr>
                        <a:rPr lang="en-US" sz="2000" dirty="0">
                          <a:cs typeface="Arial" panose="020B0604020202020204" pitchFamily="34" charset="0"/>
                        </a:rPr>
                        <m:t>of</m:t>
                      </m:r>
                      <m:r>
                        <a:rPr lang="en-US" sz="2000" b="0" i="1" dirty="0"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2</m:t>
                          </m:r>
                        </m:sub>
                      </m:sSub>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see</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notes</m:t>
                      </m:r>
                      <m:r>
                        <m:rPr>
                          <m:nor/>
                        </m:rPr>
                        <a:rPr lang="en-US" sz="2000" b="0" i="0" smtClean="0">
                          <a:latin typeface="Arial" panose="020B0604020202020204" pitchFamily="34" charset="0"/>
                          <a:cs typeface="Arial" panose="020B0604020202020204" pitchFamily="34" charset="0"/>
                        </a:rPr>
                        <m:t>.)</m:t>
                      </m:r>
                    </m:oMath>
                  </m:oMathPara>
                </a14:m>
                <a:endParaRPr lang="en-US" sz="2000" dirty="0">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i="1" smtClean="0">
                              <a:latin typeface="Cambria Math" panose="02040503050406030204" pitchFamily="18" charset="0"/>
                              <a:ea typeface="Cambria Math" panose="02040503050406030204" pitchFamily="18" charset="0"/>
                              <a:cs typeface="Arial" panose="020B0604020202020204" pitchFamily="34" charset="0"/>
                            </a:rPr>
                            <m:t>𝑝</m:t>
                          </m:r>
                        </m:e>
                      </m:acc>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num>
                        <m:den>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is</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the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pooled</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estimator</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of</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a</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weighted</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average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of</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and</m:t>
                      </m:r>
                      <m:r>
                        <a:rPr lang="en-US" sz="2000" b="0" i="1"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b="0" i="1" smtClean="0">
                              <a:latin typeface="Cambria Math" panose="02040503050406030204" pitchFamily="18" charset="0"/>
                              <a:cs typeface="Arial" panose="020B0604020202020204" pitchFamily="34" charset="0"/>
                            </a:rPr>
                            <m:t>2</m:t>
                          </m:r>
                        </m:sub>
                      </m:sSub>
                    </m:oMath>
                  </m:oMathPara>
                </a14:m>
                <a:endParaRPr lang="en-US" sz="2000" dirty="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8111" y="1253361"/>
                <a:ext cx="10711543" cy="4729654"/>
              </a:xfrm>
              <a:blipFill>
                <a:blip r:embed="rId4"/>
                <a:stretch>
                  <a:fillRect l="-1480" t="-1548" r="-569"/>
                </a:stretch>
              </a:blipFill>
            </p:spPr>
            <p:txBody>
              <a:bodyPr/>
              <a:lstStyle/>
              <a:p>
                <a:r>
                  <a:rPr lang="en-US">
                    <a:noFill/>
                  </a:rPr>
                  <a:t> </a:t>
                </a:r>
              </a:p>
            </p:txBody>
          </p:sp>
        </mc:Fallback>
      </mc:AlternateContent>
    </p:spTree>
    <p:extLst>
      <p:ext uri="{BB962C8B-B14F-4D97-AF65-F5344CB8AC3E}">
        <p14:creationId xmlns:p14="http://schemas.microsoft.com/office/powerpoint/2010/main" val="2612850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1001111" y="365125"/>
                <a:ext cx="10058401" cy="672105"/>
              </a:xfrm>
            </p:spPr>
            <p:txBody>
              <a:bodyPr/>
              <a:lstStyle/>
              <a:p>
                <a:r>
                  <a:rPr lang="en-US" dirty="0"/>
                  <a:t>10.4 A Two-Tailed Test About </a:t>
                </a:r>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𝒑</m:t>
                        </m:r>
                      </m:e>
                      <m:sub>
                        <m:r>
                          <a:rPr lang="en-US" i="1">
                            <a:latin typeface="Cambria Math" panose="02040503050406030204" pitchFamily="18" charset="0"/>
                          </a:rPr>
                          <m:t>𝟏</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b="1" i="1" smtClean="0">
                            <a:latin typeface="Cambria Math" panose="02040503050406030204" pitchFamily="18" charset="0"/>
                          </a:rPr>
                          <m:t>𝒑</m:t>
                        </m:r>
                      </m:e>
                      <m:sub>
                        <m:r>
                          <a:rPr lang="en-US" i="1">
                            <a:latin typeface="Cambria Math" panose="02040503050406030204" pitchFamily="18" charset="0"/>
                          </a:rPr>
                          <m:t>𝟐</m:t>
                        </m:r>
                      </m:sub>
                    </m:sSub>
                  </m:oMath>
                </a14:m>
                <a:r>
                  <a:rPr lang="en-US" dirty="0"/>
                  <a:t> </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1001111" y="365125"/>
                <a:ext cx="10058401" cy="672105"/>
              </a:xfrm>
              <a:blipFill>
                <a:blip r:embed="rId4"/>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47955"/>
                <a:ext cx="10711543" cy="4437992"/>
              </a:xfrm>
            </p:spPr>
            <p:txBody>
              <a:bodyPr/>
              <a:lstStyle/>
              <a:p>
                <a:pPr>
                  <a:spcBef>
                    <a:spcPts val="600"/>
                  </a:spcBef>
                  <a:spcAft>
                    <a:spcPts val="600"/>
                  </a:spcAft>
                </a:pPr>
                <a:r>
                  <a:rPr lang="en-US" sz="2000" dirty="0">
                    <a:cs typeface="Arial" panose="020B0604020202020204" pitchFamily="34" charset="0"/>
                  </a:rPr>
                  <a:t>We assume that </a:t>
                </a:r>
                <a14:m>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sSub>
                          <m:sSubPr>
                            <m:ctrlPr>
                              <a:rPr lang="en-US" sz="2000" b="1"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𝑝</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𝑝</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a14:m>
                <a:r>
                  <a:rPr lang="en-US" sz="2000" dirty="0">
                    <a:cs typeface="Arial" panose="020B0604020202020204" pitchFamily="34" charset="0"/>
                  </a:rPr>
                  <a:t> and challenge the assumption in the alternative hypothesis.</a:t>
                </a:r>
              </a:p>
              <a:p>
                <a:pPr marL="914400" algn="l" rtl="0" eaLnBrk="1" fontAlgn="ctr" latinLnBrk="0" hangingPunct="1">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0</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𝑝</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1"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𝑝</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m:oMathPara>
                </a14:m>
                <a:endParaRPr lang="en-US" sz="2000" b="0" i="0" u="none" strike="noStrike" dirty="0">
                  <a:effectLst/>
                  <a:latin typeface="Arial" panose="020B0604020202020204" pitchFamily="34" charset="0"/>
                </a:endParaRPr>
              </a:p>
              <a:p>
                <a:pPr marL="914400" algn="l" rtl="0" eaLnBrk="1" fontAlgn="ctr" latinLnBrk="0" hangingPunct="1">
                  <a:spcBef>
                    <a:spcPts val="600"/>
                  </a:spcBef>
                  <a:spcAft>
                    <a:spcPts val="600"/>
                  </a:spcAft>
                </a:pPr>
                <a14:m>
                  <m:oMath xmlns:m="http://schemas.openxmlformats.org/officeDocument/2006/math">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𝑎</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𝑝</m:t>
                        </m:r>
                      </m:e>
                      <m:sub>
                        <m:r>
                          <a:rPr lang="en-US" sz="2000" b="0" i="1" u="none" strike="noStrike" kern="1200">
                            <a:solidFill>
                              <a:srgbClr val="000000"/>
                            </a:solidFill>
                            <a:effectLst/>
                            <a:latin typeface="Cambria Math" panose="02040503050406030204" pitchFamily="18" charset="0"/>
                            <a:cs typeface="Arial" panose="020B0604020202020204" pitchFamily="34" charset="0"/>
                          </a:rPr>
                          <m:t>1</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𝑝</m:t>
                        </m:r>
                      </m:e>
                      <m:sub>
                        <m:r>
                          <a:rPr lang="en-US" sz="2000" b="0" i="1" u="none" strike="noStrike" kern="1200">
                            <a:solidFill>
                              <a:srgbClr val="000000"/>
                            </a:solidFill>
                            <a:effectLst/>
                            <a:latin typeface="Cambria Math" panose="02040503050406030204" pitchFamily="18" charset="0"/>
                            <a:cs typeface="Arial" panose="020B0604020202020204" pitchFamily="34" charset="0"/>
                          </a:rPr>
                          <m:t>2</m:t>
                        </m:r>
                      </m:sub>
                    </m:sSub>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0</m:t>
                    </m:r>
                  </m:oMath>
                </a14:m>
                <a:r>
                  <a:rPr lang="en-US" sz="1800" b="0" i="0" u="none" strike="noStrike" dirty="0">
                    <a:effectLst/>
                    <a:latin typeface="Arial" panose="020B0604020202020204" pitchFamily="34" charset="0"/>
                  </a:rPr>
                  <a:t> </a:t>
                </a:r>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The pooled estimator of </a:t>
                </a:r>
                <a:r>
                  <a:rPr lang="en-US" sz="2000" i="1" dirty="0">
                    <a:cs typeface="Arial" panose="020B0604020202020204" pitchFamily="34" charset="0"/>
                  </a:rPr>
                  <a:t>p</a:t>
                </a:r>
                <a:r>
                  <a:rPr lang="en-US" sz="2000" dirty="0">
                    <a:cs typeface="Arial" panose="020B0604020202020204" pitchFamily="34" charset="0"/>
                  </a:rPr>
                  <a:t> is:</a:t>
                </a: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ea typeface="Cambria Math" panose="02040503050406030204" pitchFamily="18" charset="0"/>
                              <a:cs typeface="Arial" panose="020B0604020202020204" pitchFamily="34" charset="0"/>
                            </a:rPr>
                          </m:ctrlPr>
                        </m:accPr>
                        <m:e>
                          <m:r>
                            <a:rPr lang="en-US" sz="2000" i="1" smtClean="0">
                              <a:latin typeface="Cambria Math" panose="02040503050406030204" pitchFamily="18" charset="0"/>
                              <a:ea typeface="Cambria Math" panose="02040503050406030204" pitchFamily="18" charset="0"/>
                              <a:cs typeface="Arial" panose="020B0604020202020204" pitchFamily="34" charset="0"/>
                            </a:rPr>
                            <m:t>𝑝</m:t>
                          </m:r>
                        </m:e>
                      </m:acc>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d>
                            <m:dPr>
                              <m:ctrlPr>
                                <a:rPr lang="en-US" sz="2000" i="1" smtClean="0">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2</m:t>
                                  </m:r>
                                </m:sub>
                              </m:sSub>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𝑝</m:t>
                                      </m:r>
                                    </m:e>
                                  </m:acc>
                                </m:e>
                                <m:sub>
                                  <m:r>
                                    <a:rPr lang="en-US" sz="2000" i="1">
                                      <a:latin typeface="Cambria Math" panose="02040503050406030204" pitchFamily="18" charset="0"/>
                                      <a:cs typeface="Arial" panose="020B0604020202020204" pitchFamily="34" charset="0"/>
                                    </a:rPr>
                                    <m:t>2</m:t>
                                  </m:r>
                                </m:sub>
                              </m:sSub>
                            </m:e>
                          </m:d>
                        </m:num>
                        <m:den>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2</m:t>
                                  </m:r>
                                </m:sub>
                              </m:sSub>
                            </m:e>
                          </m:d>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250</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0.14</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+300</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0.09</m:t>
                              </m:r>
                            </m:e>
                          </m:d>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250+300</m:t>
                          </m:r>
                        </m:e>
                      </m:d>
                      <m:r>
                        <a:rPr lang="en-US" sz="2000" i="1" dirty="0" smtClean="0">
                          <a:latin typeface="Cambria Math" panose="02040503050406030204" pitchFamily="18" charset="0"/>
                          <a:cs typeface="Arial" panose="020B0604020202020204" pitchFamily="34" charset="0"/>
                        </a:rPr>
                        <m:t>=0.1127</m:t>
                      </m:r>
                    </m:oMath>
                  </m:oMathPara>
                </a14:m>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Calculations of the test statistic follow.</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a:latin typeface="Cambria Math" panose="02040503050406030204" pitchFamily="18" charset="0"/>
                          <a:cs typeface="Arial" panose="020B0604020202020204" pitchFamily="34" charset="0"/>
                        </a:rPr>
                        <m:t>𝑧</m:t>
                      </m:r>
                      <m:r>
                        <a:rPr lang="en-US" sz="2000" b="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cs typeface="Arial" panose="020B0604020202020204" pitchFamily="34" charset="0"/>
                                    </a:rPr>
                                    <m:t>1</m:t>
                                  </m:r>
                                </m:sub>
                              </m:sSub>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b="0" i="1">
                                          <a:latin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cs typeface="Arial" panose="020B0604020202020204" pitchFamily="34" charset="0"/>
                                    </a:rPr>
                                    <m:t>2</m:t>
                                  </m:r>
                                </m:sub>
                              </m:sSub>
                            </m:e>
                          </m:d>
                          <m:r>
                            <a:rPr lang="en-US" sz="2000" b="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𝐷</m:t>
                              </m:r>
                            </m:e>
                            <m:sub>
                              <m:r>
                                <a:rPr lang="en-US" sz="2000" b="0" i="1">
                                  <a:latin typeface="Cambria Math" panose="02040503050406030204" pitchFamily="18" charset="0"/>
                                  <a:ea typeface="Cambria Math" panose="02040503050406030204" pitchFamily="18" charset="0"/>
                                  <a:cs typeface="Arial" panose="020B0604020202020204" pitchFamily="34" charset="0"/>
                                </a:rPr>
                                <m:t>0</m:t>
                              </m:r>
                            </m:sub>
                          </m:sSub>
                        </m:num>
                        <m:den>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𝜎</m:t>
                              </m:r>
                            </m:e>
                            <m:sub>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1</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ea typeface="Cambria Math" panose="02040503050406030204" pitchFamily="18" charset="0"/>
                                          <a:cs typeface="Arial" panose="020B0604020202020204" pitchFamily="34" charset="0"/>
                                        </a:rPr>
                                      </m:ctrlPr>
                                    </m:accPr>
                                    <m:e>
                                      <m:r>
                                        <a:rPr lang="en-US" sz="2000" b="0" i="1">
                                          <a:latin typeface="Cambria Math" panose="02040503050406030204" pitchFamily="18" charset="0"/>
                                          <a:ea typeface="Cambria Math" panose="02040503050406030204" pitchFamily="18" charset="0"/>
                                          <a:cs typeface="Arial" panose="020B0604020202020204" pitchFamily="34" charset="0"/>
                                        </a:rPr>
                                        <m:t>𝑝</m:t>
                                      </m:r>
                                    </m:e>
                                  </m:acc>
                                </m:e>
                                <m:sub>
                                  <m:r>
                                    <a:rPr lang="en-US" sz="2000" b="0" i="1">
                                      <a:latin typeface="Cambria Math" panose="02040503050406030204" pitchFamily="18" charset="0"/>
                                      <a:ea typeface="Cambria Math" panose="02040503050406030204" pitchFamily="18" charset="0"/>
                                      <a:cs typeface="Arial" panose="020B0604020202020204" pitchFamily="34" charset="0"/>
                                    </a:rPr>
                                    <m:t>2</m:t>
                                  </m:r>
                                </m:sub>
                              </m:sSub>
                            </m:sub>
                          </m:sSub>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0.14−0.09</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−0</m:t>
                          </m:r>
                        </m:num>
                        <m:den>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ea typeface="Cambria Math" panose="02040503050406030204" pitchFamily="18" charset="0"/>
                                  <a:cs typeface="Arial" panose="020B0604020202020204" pitchFamily="34" charset="0"/>
                                </a:rPr>
                                <m:t>0.1127(1−0.1127)</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250</m:t>
                                      </m:r>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300</m:t>
                                      </m:r>
                                    </m:den>
                                  </m:f>
                                </m:e>
                              </m:d>
                            </m:e>
                          </m:rad>
                        </m:den>
                      </m:f>
                      <m:r>
                        <a:rPr lang="en-US" sz="2000" b="0" i="1" smtClean="0">
                          <a:latin typeface="Cambria Math" panose="02040503050406030204" pitchFamily="18" charset="0"/>
                          <a:ea typeface="Cambria Math" panose="02040503050406030204" pitchFamily="18" charset="0"/>
                          <a:cs typeface="Arial" panose="020B0604020202020204" pitchFamily="34" charset="0"/>
                        </a:rPr>
                        <m:t>=1.85</m:t>
                      </m:r>
                    </m:oMath>
                  </m:oMathPara>
                </a14:m>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The </a:t>
                </a:r>
                <a:r>
                  <a:rPr lang="en-US" sz="2000" i="1" dirty="0">
                    <a:cs typeface="Arial" panose="020B0604020202020204" pitchFamily="34" charset="0"/>
                  </a:rPr>
                  <a:t>p</a:t>
                </a:r>
                <a:r>
                  <a:rPr lang="en-US" sz="2000" dirty="0">
                    <a:cs typeface="Arial" panose="020B0604020202020204" pitchFamily="34" charset="0"/>
                  </a:rPr>
                  <a:t>-value for a two-tailed test is: </a:t>
                </a:r>
                <a14:m>
                  <m:oMath xmlns:m="http://schemas.openxmlformats.org/officeDocument/2006/math">
                    <m:r>
                      <a:rPr lang="en-US" sz="2000" b="0" i="1" smtClean="0">
                        <a:latin typeface="Cambria Math" panose="02040503050406030204" pitchFamily="18" charset="0"/>
                        <a:cs typeface="Arial" panose="020B0604020202020204" pitchFamily="34" charset="0"/>
                      </a:rPr>
                      <m:t>𝑝</m:t>
                    </m:r>
                    <m:r>
                      <m:rPr>
                        <m:nor/>
                      </m:rPr>
                      <a:rPr lang="en-US" sz="2000" b="0" i="0" smtClean="0">
                        <a:latin typeface="Cambria Math" panose="02040503050406030204" pitchFamily="18" charset="0"/>
                        <a:cs typeface="Arial" panose="020B0604020202020204" pitchFamily="34" charset="0"/>
                      </a:rPr>
                      <m:t>−</m:t>
                    </m:r>
                    <m:r>
                      <m:rPr>
                        <m:nor/>
                      </m:rPr>
                      <a:rPr lang="en-US" sz="2000" b="0" i="0" smtClean="0">
                        <a:latin typeface="Cambria Math" panose="02040503050406030204" pitchFamily="18" charset="0"/>
                        <a:cs typeface="Arial" panose="020B0604020202020204" pitchFamily="34" charset="0"/>
                      </a:rPr>
                      <m:t>value</m:t>
                    </m:r>
                    <m:r>
                      <a:rPr lang="en-US" sz="2000" b="0" i="1" smtClean="0">
                        <a:latin typeface="Cambria Math" panose="02040503050406030204" pitchFamily="18" charset="0"/>
                        <a:cs typeface="Arial" panose="020B0604020202020204" pitchFamily="34" charset="0"/>
                      </a:rPr>
                      <m:t>=2</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≥1.85</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=2[1−</m:t>
                    </m:r>
                    <m:r>
                      <a:rPr lang="en-US" sz="2000" b="0" i="1" smtClean="0">
                        <a:latin typeface="Cambria Math" panose="02040503050406030204" pitchFamily="18" charset="0"/>
                        <a:ea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&lt;1.85</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]=0.064</m:t>
                    </m:r>
                    <m:r>
                      <a:rPr lang="en-US" sz="20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4</m:t>
                    </m:r>
                  </m:oMath>
                </a14:m>
                <a:endParaRPr lang="en-US" sz="2000" dirty="0">
                  <a:cs typeface="Arial" panose="020B0604020202020204" pitchFamily="34" charset="0"/>
                </a:endParaRPr>
              </a:p>
              <a:p>
                <a:pPr>
                  <a:spcBef>
                    <a:spcPts val="600"/>
                  </a:spcBef>
                  <a:spcAft>
                    <a:spcPts val="600"/>
                  </a:spcAft>
                </a:pPr>
                <a:r>
                  <a:rPr lang="en-US" sz="2000" dirty="0">
                    <a:cs typeface="Arial" panose="020B0604020202020204" pitchFamily="34" charset="0"/>
                  </a:rPr>
                  <a:t>Thus, because </a:t>
                </a:r>
                <a14:m>
                  <m:oMath xmlns:m="http://schemas.openxmlformats.org/officeDocument/2006/math">
                    <m:r>
                      <a:rPr lang="en-US" sz="2000" b="0" i="1" smtClean="0">
                        <a:latin typeface="Cambria Math" panose="02040503050406030204" pitchFamily="18" charset="0"/>
                        <a:cs typeface="Arial" panose="020B0604020202020204" pitchFamily="34" charset="0"/>
                      </a:rPr>
                      <m:t>𝑝</m:t>
                    </m:r>
                    <m:r>
                      <m:rPr>
                        <m:nor/>
                      </m:rPr>
                      <a:rPr lang="en-US" sz="2000" b="0" i="0" smtClean="0">
                        <a:latin typeface="Cambria Math" panose="02040503050406030204" pitchFamily="18" charset="0"/>
                        <a:cs typeface="Arial" panose="020B0604020202020204" pitchFamily="34" charset="0"/>
                      </a:rPr>
                      <m:t>−</m:t>
                    </m:r>
                    <m:r>
                      <m:rPr>
                        <m:nor/>
                      </m:rPr>
                      <a:rPr lang="en-US" sz="2000" b="0" i="0" smtClean="0">
                        <a:latin typeface="Cambria Math" panose="02040503050406030204" pitchFamily="18" charset="0"/>
                        <a:cs typeface="Arial" panose="020B0604020202020204" pitchFamily="34" charset="0"/>
                      </a:rPr>
                      <m:t>value</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cs typeface="Arial" panose="020B0604020202020204" pitchFamily="34" charset="0"/>
                  </a:rPr>
                  <a:t>, we reject </a:t>
                </a:r>
                <a14:m>
                  <m:oMath xmlns:m="http://schemas.openxmlformats.org/officeDocument/2006/math">
                    <m:sSub>
                      <m:sSubPr>
                        <m:ctrlPr>
                          <a:rPr lang="en-US" sz="2000" b="1"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cs typeface="Arial" panose="020B0604020202020204" pitchFamily="34" charset="0"/>
                  </a:rPr>
                  <a:t>. The sample results provide sufficient evidence to conclude that a difference exists between the proportion of tax return errors at the two centers.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347955"/>
                <a:ext cx="10711543" cy="4437992"/>
              </a:xfrm>
              <a:blipFill>
                <a:blip r:embed="rId5"/>
                <a:stretch>
                  <a:fillRect l="-1422" t="-1648" r="-171" b="-2060"/>
                </a:stretch>
              </a:blipFill>
            </p:spPr>
            <p:txBody>
              <a:bodyPr/>
              <a:lstStyle/>
              <a:p>
                <a:r>
                  <a:rPr lang="en-US">
                    <a:noFill/>
                  </a:rPr>
                  <a:t> </a:t>
                </a:r>
              </a:p>
            </p:txBody>
          </p:sp>
        </mc:Fallback>
      </mc:AlternateContent>
    </p:spTree>
    <p:extLst>
      <p:ext uri="{BB962C8B-B14F-4D97-AF65-F5344CB8AC3E}">
        <p14:creationId xmlns:p14="http://schemas.microsoft.com/office/powerpoint/2010/main" val="2550157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10.4 Excel: Conduct a Hypothesis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50723" y="1189925"/>
                <a:ext cx="3754165" cy="4647435"/>
              </a:xfrm>
            </p:spPr>
            <p:txBody>
              <a:bodyPr/>
              <a:lstStyle/>
              <a:p>
                <a:r>
                  <a:rPr lang="en-US" sz="2000" dirty="0"/>
                  <a:t>The results are shown here.</a:t>
                </a:r>
              </a:p>
              <a:p>
                <a:pPr marL="457200" indent="-342900">
                  <a:spcBef>
                    <a:spcPts val="400"/>
                  </a:spcBef>
                  <a:buFont typeface="Arial" panose="020B0604020202020204" pitchFamily="34" charset="0"/>
                  <a:buChar char="•"/>
                </a:pPr>
                <a:r>
                  <a:rPr lang="en-US" sz="2000" dirty="0"/>
                  <a:t>Descriptive statistics for the two samples are the same as the confidence interval. </a:t>
                </a:r>
              </a:p>
              <a:p>
                <a:pPr marL="457200" indent="-342900">
                  <a:spcBef>
                    <a:spcPts val="400"/>
                  </a:spcBef>
                  <a:buFont typeface="Arial" panose="020B0604020202020204" pitchFamily="34" charset="0"/>
                  <a:buChar char="•"/>
                </a:pPr>
                <a:r>
                  <a:rPr lang="en-US" sz="2000" dirty="0"/>
                  <a:t>The pooled estimate of </a:t>
                </a:r>
                <a14:m>
                  <m:oMath xmlns:m="http://schemas.openxmlformats.org/officeDocument/2006/math">
                    <m:r>
                      <a:rPr lang="en-US" sz="2000" i="1" dirty="0" smtClean="0">
                        <a:latin typeface="Cambria Math" panose="02040503050406030204" pitchFamily="18" charset="0"/>
                      </a:rPr>
                      <m:t>𝑝</m:t>
                    </m:r>
                  </m:oMath>
                </a14:m>
                <a:r>
                  <a:rPr lang="en-US" sz="2000" dirty="0"/>
                  <a:t>, </a:t>
                </a:r>
                <a:r>
                  <a:rPr lang="en-US" sz="2000" dirty="0">
                    <a:solidFill>
                      <a:srgbClr val="FF0000"/>
                    </a:solidFill>
                  </a:rPr>
                  <a:t>0.1127</a:t>
                </a:r>
                <a:r>
                  <a:rPr lang="en-US" sz="2000" dirty="0"/>
                  <a:t>, is stated in cell E13.</a:t>
                </a:r>
              </a:p>
              <a:p>
                <a:pPr marL="457200" indent="-342900">
                  <a:spcBef>
                    <a:spcPts val="400"/>
                  </a:spcBef>
                  <a:buFont typeface="Arial" panose="020B0604020202020204" pitchFamily="34" charset="0"/>
                  <a:buChar char="•"/>
                </a:pPr>
                <a:r>
                  <a:rPr lang="en-US" sz="2000" dirty="0"/>
                  <a:t>The standard error, 0.0271, is entered in cell E14.</a:t>
                </a:r>
              </a:p>
              <a:p>
                <a:pPr marL="457200" indent="-342900">
                  <a:spcBef>
                    <a:spcPts val="400"/>
                  </a:spcBef>
                  <a:buFont typeface="Arial" panose="020B0604020202020204" pitchFamily="34" charset="0"/>
                  <a:buChar char="•"/>
                </a:pPr>
                <a:r>
                  <a:rPr lang="en-US" sz="2000" dirty="0"/>
                  <a:t>The value of the test statistic, 1.8462, is in cell E15. </a:t>
                </a:r>
              </a:p>
              <a:p>
                <a:pPr marL="457200" indent="-342900">
                  <a:spcBef>
                    <a:spcPts val="400"/>
                  </a:spcBef>
                  <a:buFont typeface="Arial" panose="020B0604020202020204" pitchFamily="34" charset="0"/>
                  <a:buChar char="•"/>
                </a:pPr>
                <a:r>
                  <a:rPr lang="en-US" sz="2000" dirty="0"/>
                  <a:t>The </a:t>
                </a:r>
                <a14:m>
                  <m:oMath xmlns:m="http://schemas.openxmlformats.org/officeDocument/2006/math">
                    <m:r>
                      <a:rPr lang="en-US" sz="2000" i="1" dirty="0" smtClean="0">
                        <a:latin typeface="Cambria Math" panose="02040503050406030204" pitchFamily="18" charset="0"/>
                      </a:rPr>
                      <m:t>𝑝</m:t>
                    </m:r>
                  </m:oMath>
                </a14:m>
                <a:r>
                  <a:rPr lang="en-US" sz="2000" dirty="0"/>
                  <a:t>-value of the test, 0.0649, labeled “</a:t>
                </a:r>
                <a:r>
                  <a:rPr lang="en-US" sz="2000" dirty="0">
                    <a:latin typeface="+mn-lt"/>
                  </a:rPr>
                  <a:t>P(Z</a:t>
                </a:r>
                <a:r>
                  <a:rPr lang="en-US" sz="2000" dirty="0">
                    <a:latin typeface="+mn-lt"/>
                    <a:cs typeface="Arial" panose="020B0604020202020204" pitchFamily="34" charset="0"/>
                  </a:rPr>
                  <a:t>&lt;=</a:t>
                </a:r>
                <a:r>
                  <a:rPr lang="en-US" sz="2000" dirty="0">
                    <a:latin typeface="+mn-lt"/>
                  </a:rPr>
                  <a:t>z) two-tail</a:t>
                </a:r>
                <a:r>
                  <a:rPr lang="en-US" sz="2000" dirty="0"/>
                  <a:t>,” is shown in cell E19.</a:t>
                </a:r>
              </a:p>
              <a:p>
                <a:pPr marL="457200" indent="-342900">
                  <a:spcBef>
                    <a:spcPts val="400"/>
                  </a:spcBef>
                  <a:buFont typeface="Arial" panose="020B0604020202020204" pitchFamily="34" charset="0"/>
                  <a:buChar char="•"/>
                </a:pPr>
                <a:r>
                  <a:rPr lang="en-US" sz="2000" dirty="0"/>
                  <a:t>With </a:t>
                </a:r>
                <a14:m>
                  <m:oMath xmlns:m="http://schemas.openxmlformats.org/officeDocument/2006/math">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=0.10</m:t>
                    </m:r>
                  </m:oMath>
                </a14:m>
                <a:r>
                  <a:rPr lang="en-US" sz="2000" dirty="0"/>
                  <a:t>, we reject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oMath>
                </a14:m>
                <a:r>
                  <a:rPr lang="en-US" sz="2000" dirty="0"/>
                  <a:t>.</a:t>
                </a:r>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50723" y="1189925"/>
                <a:ext cx="3754165" cy="4647435"/>
              </a:xfrm>
              <a:blipFill>
                <a:blip r:embed="rId3"/>
                <a:stretch>
                  <a:fillRect l="-4058" t="-1573" r="-5682" b="-1835"/>
                </a:stretch>
              </a:blipFill>
            </p:spPr>
            <p:txBody>
              <a:bodyPr/>
              <a:lstStyle/>
              <a:p>
                <a:r>
                  <a:rPr lang="en-US">
                    <a:noFill/>
                  </a:rPr>
                  <a:t> </a:t>
                </a:r>
              </a:p>
            </p:txBody>
          </p:sp>
        </mc:Fallback>
      </mc:AlternateContent>
      <p:pic>
        <p:nvPicPr>
          <p:cNvPr id="7" name="Picture Placeholder 6" descr="Two screenshots show Excel spreadsheets for hypothesis tests concerning the difference between population proportions. In both the spreadsheets, column A is labeled office 1 and column B is labeled office 2. The entries under column A are as follows. Row 2: No. Row 3: No. Row 4: No. Row 5: No. Row 6: No. Row 7: Yes. Row 8: No. Row 9: No. Row 10: No. Row 11: No. Row 12: No. Row 13: No. Row 14: No. Row 15: No. Row 16: No. Row 17: No. Row 18: Yes. Row 19: No. Row 250: Yes. Row 251: No. The entries under column B are as follows. Row 2: No. Row 3: No. Row 4: No. Row 5: No. Row 6: No. Row 7: No. Row 8: No. Row 9: No. Row 10: No. Row 11: No. Row 12: No. Row 13: No. Row 14: No. Row 15: No. Row 16: No. Row 17: Yes. Row 18: No. Row 19: No. Row 250: No. Row 251: No. Row 300: No. Row 301: No. The entries under columns D, E, and F in the first spreadsheet are as follows. E 4: Office 1. F 4: Office 2. D 5: Sample size. E 5: =COUNT A(A 2:A 251). F 5: =COUNT A(B 2:B 301). D 6: Response of Interest. E 6: Yes. F 6: Yes. D 7: Count for response. E 7: =COUNT IF(A 2:A 251,E 6). F 7: =COUNT IF(B 2:B 301,F 6). D 8: Sample proportion. E 8: =E 7/E 5. F 8: =F 7/F 5. D 10: Hypothesized value. E 10: 0. D 11: Point estimate of difference. E 11: E 8 minus F 8. D 13: Pooled estimate of p. E 13: =(E 5*E 8 + F 5*F 8)/(E 5 + F 5). D 14: Standard error. E 14: =SQRT(E 13*(1 minus E 13)*(1/E 5+1/F 5)). D 15: Test statistic. E 15: =(E 11 minus E 10)/E 14. D 17: p-value (Lower tail). E 17: =NORM.S.DIST(E 15,TRUE). D 18: p-value (Upper tail). E 18: =1 minus NORM.S.DIST(E 15,TRUE). D 19: p-value (Two Tail). E 19: =2*MIN(E 17,E 18). The entries under columns D, E, and F in the second spreadsheet are as follows. E 4: Office 1. F 4: Office 2. D 5: Sample size. E 5: 250. F 5: 300. D 6: Response of Interest. E 6: Yes. F 6: Yes. D 7: Count for response. E 7: 35. F 7: 27. D 8: Sample proportion. E 8: 0.14. F 8: 0.09. D 10: Hypothesized value. E 10: 0. D 11: Point estimate of difference. E 11: 0.05. D 13: Pooled estimate of p. E 13: 0.1127. D 14: Standard error. E 14: 0.0271. D 15: Test statistic. E 15: 1.8642. D 17: p-value (Lower tail). E 17: 0.9676. D 18: p-value (Upper tail). E 18: 0.0324. D 19: p-value (Two Tail). E 19: 0.0649.">
            <a:extLst>
              <a:ext uri="{FF2B5EF4-FFF2-40B4-BE49-F238E27FC236}">
                <a16:creationId xmlns:a16="http://schemas.microsoft.com/office/drawing/2014/main" id="{22E88DDF-F89A-9508-599E-1B7AF4E7962C}"/>
              </a:ext>
            </a:extLst>
          </p:cNvPr>
          <p:cNvPicPr>
            <a:picLocks noGrp="1" noChangeAspect="1"/>
          </p:cNvPicPr>
          <p:nvPr>
            <p:ph type="pic" sz="quarter" idx="16"/>
          </p:nvPr>
        </p:nvPicPr>
        <p:blipFill>
          <a:blip r:embed="rId4"/>
          <a:srcRect t="61" b="61"/>
          <a:stretch/>
        </p:blipFill>
        <p:spPr>
          <a:xfrm>
            <a:off x="4599387" y="1451295"/>
            <a:ext cx="6841890" cy="4260230"/>
          </a:xfrm>
          <a:ln>
            <a:solidFill>
              <a:srgbClr val="000000"/>
            </a:solidFill>
          </a:ln>
        </p:spPr>
      </p:pic>
    </p:spTree>
    <p:extLst>
      <p:ext uri="{BB962C8B-B14F-4D97-AF65-F5344CB8AC3E}">
        <p14:creationId xmlns:p14="http://schemas.microsoft.com/office/powerpoint/2010/main" val="37033442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466196"/>
            <a:ext cx="10657500" cy="4122680"/>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discussed procedures for developing interval estimates and conducting hypothesis tests involving two populations. </a:t>
            </a:r>
          </a:p>
          <a:p>
            <a:pPr>
              <a:lnSpc>
                <a:spcPct val="100000"/>
              </a:lnSpc>
              <a:spcBef>
                <a:spcPts val="600"/>
              </a:spcBef>
            </a:pPr>
            <a:r>
              <a:rPr lang="en-US" dirty="0">
                <a:latin typeface="Arial" panose="020B0604020202020204" pitchFamily="34" charset="0"/>
                <a:cs typeface="Arial" panose="020B0604020202020204" pitchFamily="34" charset="0"/>
              </a:rPr>
              <a:t>First, we showed how to make inferences about the difference between two population means when independent simple random samples are selected. </a:t>
            </a:r>
          </a:p>
          <a:p>
            <a:pPr lvl="1">
              <a:lnSpc>
                <a:spcPct val="100000"/>
              </a:lnSpc>
              <a:spcBef>
                <a:spcPts val="600"/>
              </a:spcBef>
            </a:pPr>
            <a:r>
              <a:rPr lang="en-US" dirty="0">
                <a:latin typeface="Arial" panose="020B0604020202020204" pitchFamily="34" charset="0"/>
                <a:cs typeface="Arial" panose="020B0604020202020204" pitchFamily="34" charset="0"/>
              </a:rPr>
              <a:t>When the population standard deviations, </a:t>
            </a:r>
            <a:r>
              <a:rPr lang="en-US" i="1" dirty="0">
                <a:latin typeface="Symbol" panose="05050102010706020507" pitchFamily="18" charset="2"/>
                <a:cs typeface="Arial" panose="020B0604020202020204" pitchFamily="34" charset="0"/>
              </a:rPr>
              <a:t>s</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and </a:t>
            </a:r>
            <a:r>
              <a:rPr lang="en-US" i="1" dirty="0">
                <a:latin typeface="Symbol" panose="05050102010706020507" pitchFamily="18" charset="2"/>
                <a:cs typeface="Arial" panose="020B0604020202020204" pitchFamily="34" charset="0"/>
              </a:rPr>
              <a:t>s</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can be assumed known, the standard normal distribution </a:t>
            </a:r>
            <a:r>
              <a:rPr lang="en-US" i="1" dirty="0">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 is used to make inferences. </a:t>
            </a:r>
          </a:p>
          <a:p>
            <a:pPr lvl="1">
              <a:lnSpc>
                <a:spcPct val="100000"/>
              </a:lnSpc>
              <a:spcBef>
                <a:spcPts val="600"/>
              </a:spcBef>
            </a:pPr>
            <a:r>
              <a:rPr lang="en-US" dirty="0">
                <a:latin typeface="Arial" panose="020B0604020202020204" pitchFamily="34" charset="0"/>
                <a:cs typeface="Arial" panose="020B0604020202020204" pitchFamily="34" charset="0"/>
              </a:rPr>
              <a:t>When the population standard deviations, </a:t>
            </a:r>
            <a:r>
              <a:rPr lang="en-US" i="1" dirty="0">
                <a:latin typeface="Symbol" panose="05050102010706020507" pitchFamily="18" charset="2"/>
                <a:cs typeface="Arial" panose="020B0604020202020204" pitchFamily="34" charset="0"/>
              </a:rPr>
              <a:t>s</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and </a:t>
            </a:r>
            <a:r>
              <a:rPr lang="en-US" i="1" dirty="0">
                <a:latin typeface="Symbol" panose="05050102010706020507" pitchFamily="18" charset="2"/>
                <a:cs typeface="Arial" panose="020B0604020202020204" pitchFamily="34" charset="0"/>
              </a:rPr>
              <a:t>s</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are unknown and estimated by the sample standard deviations, </a:t>
            </a:r>
            <a:r>
              <a:rPr lang="en-US" i="1" dirty="0">
                <a:latin typeface="Arial" panose="020B0604020202020204" pitchFamily="34" charset="0"/>
                <a:cs typeface="Arial" panose="020B0604020202020204" pitchFamily="34" charset="0"/>
              </a:rPr>
              <a:t>s</a:t>
            </a:r>
            <a:r>
              <a:rPr lang="en-US"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and </a:t>
            </a:r>
            <a:r>
              <a:rPr lang="en-US" i="1" dirty="0">
                <a:latin typeface="Arial" panose="020B0604020202020204" pitchFamily="34" charset="0"/>
                <a:cs typeface="Arial" panose="020B0604020202020204" pitchFamily="34" charset="0"/>
              </a:rPr>
              <a:t>s</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the </a:t>
            </a:r>
            <a:r>
              <a:rPr lang="en-US" i="1"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distribution is used instead.</a:t>
            </a:r>
          </a:p>
          <a:p>
            <a:pPr>
              <a:lnSpc>
                <a:spcPct val="100000"/>
              </a:lnSpc>
              <a:spcBef>
                <a:spcPts val="600"/>
              </a:spcBef>
            </a:pPr>
            <a:r>
              <a:rPr lang="en-US" dirty="0">
                <a:latin typeface="Arial" panose="020B0604020202020204" pitchFamily="34" charset="0"/>
                <a:cs typeface="Arial" panose="020B0604020202020204" pitchFamily="34" charset="0"/>
              </a:rPr>
              <a:t>We then discussed inferences about the difference between two population means for the matched sample design, in which the difference between the paired data values is used.</a:t>
            </a:r>
          </a:p>
          <a:p>
            <a:pPr>
              <a:lnSpc>
                <a:spcPct val="100000"/>
              </a:lnSpc>
              <a:spcBef>
                <a:spcPts val="600"/>
              </a:spcBef>
            </a:pPr>
            <a:r>
              <a:rPr lang="en-US" dirty="0">
                <a:latin typeface="Arial" panose="020B0604020202020204" pitchFamily="34" charset="0"/>
                <a:cs typeface="Arial" panose="020B0604020202020204" pitchFamily="34" charset="0"/>
              </a:rPr>
              <a:t>Finally, we presented how to make inferences about the difference between two population proportions using the standard normal distribution </a:t>
            </a:r>
            <a:r>
              <a:rPr lang="en-US" i="1" dirty="0">
                <a:latin typeface="Arial" panose="020B0604020202020204" pitchFamily="34" charset="0"/>
                <a:cs typeface="Arial" panose="020B0604020202020204" pitchFamily="34" charset="0"/>
              </a:rPr>
              <a:t>z</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100585</TotalTime>
  <Words>6409</Words>
  <Application>Microsoft Office PowerPoint</Application>
  <PresentationFormat>Widescreen</PresentationFormat>
  <Paragraphs>464</Paragraphs>
  <Slides>45</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Arial</vt:lpstr>
      <vt:lpstr>Calibri</vt:lpstr>
      <vt:lpstr>Cambria Math</vt:lpstr>
      <vt:lpstr>Helvetica</vt:lpstr>
      <vt:lpstr>Open Sans</vt:lpstr>
      <vt:lpstr>Summer Font</vt:lpstr>
      <vt:lpstr>Symbol</vt:lpstr>
      <vt:lpstr>Times New Roman</vt:lpstr>
      <vt:lpstr>Office Theme</vt:lpstr>
      <vt:lpstr>PowerPoint Presentation</vt:lpstr>
      <vt:lpstr>Chapter Contents</vt:lpstr>
      <vt:lpstr>Chapter Objectives (1 of 2)</vt:lpstr>
      <vt:lpstr>Chapter Objectives (2 of 2)</vt:lpstr>
      <vt:lpstr>Introduction</vt:lpstr>
      <vt:lpstr>10.1 Inferences about the Difference Between Two Population Means: σ_1 and σ_2 Known</vt:lpstr>
      <vt:lpstr>10.1 Interval Estimation of μ_1-μ_2: σ_1 and σ_2 Known</vt:lpstr>
      <vt:lpstr>10.1 The HomeStyle Furniture Stores Example </vt:lpstr>
      <vt:lpstr>10.1 Interval Estimate of the Difference Between the Mean Ages at HomeStyle Furniture Stores</vt:lpstr>
      <vt:lpstr>10.1 Excel: Construct a 95% Confidence Interval</vt:lpstr>
      <vt:lpstr>10.1 Hypothesis Tests About μ_1-μ_2</vt:lpstr>
      <vt:lpstr>10.1 Test Statistic for Hypothesis Tests About μ_1-μ_2: σ_1 and σ_2 Known</vt:lpstr>
      <vt:lpstr>10.1 A Quality Assessment of Two Training Centers</vt:lpstr>
      <vt:lpstr>10.1 A Two-Tailed Test About μ_1-μ_2: σ_1 and σ_2 Known</vt:lpstr>
      <vt:lpstr>10.1 Excel: Dialog Box for z-Test: Two Sample for Means Tool</vt:lpstr>
      <vt:lpstr>10.1 Excel: Conduct a Hypothesis Test</vt:lpstr>
      <vt:lpstr>10.2 Inferences about the Difference Between Two Population Means: σ_1 and σ_2 Unknown</vt:lpstr>
      <vt:lpstr>10.2 Interval Estimation of μ_1-μ_2: σ_1 and σ_2 Unknown</vt:lpstr>
      <vt:lpstr>10.2 A Checking Account Balance Study at Clearwater National Bank</vt:lpstr>
      <vt:lpstr>10.2 Interval Estimate of the Mean Checking Account Balance Difference at Clearwater National Bank</vt:lpstr>
      <vt:lpstr>10.2 Excel: Construct a 95% Confidence Interval</vt:lpstr>
      <vt:lpstr>10.2 Excel: Confidence Interval for Clearwater National Bank</vt:lpstr>
      <vt:lpstr>10.2 Test Statistic for Hypothesis Tests About μ_1-μ_2: σ_1 and σ_2 Unknown</vt:lpstr>
      <vt:lpstr>10.2 A New Software Project Completion Time Study</vt:lpstr>
      <vt:lpstr>10.2 An Upper Tail Test About μ_1-μ_2: σ_1 and σ_2 Unknown</vt:lpstr>
      <vt:lpstr>10.2 p-Value Approach to a One-Tailed Test About μ_1-μ_2: σ_1 and σ_2 Unknown</vt:lpstr>
      <vt:lpstr>10.2 Excel: Dialog Box for t-Test: Two-Sample Assuming Unequal Variances Tool</vt:lpstr>
      <vt:lpstr>10.2 Excel: Conduct a Hypothesis Test</vt:lpstr>
      <vt:lpstr>10.3 Inferences about the Difference Between Two Population Means: Matched Samples</vt:lpstr>
      <vt:lpstr>10.3 Hypothesis Tests Involving Matched Samples</vt:lpstr>
      <vt:lpstr>10.3 Test Statistic for Hypothesis Tests Involving Matched Samples</vt:lpstr>
      <vt:lpstr>10.3 p-Value Approach to a Test About Matched Samples</vt:lpstr>
      <vt:lpstr>10.3 Interval Estimation Involving Matched Samples</vt:lpstr>
      <vt:lpstr>10.3 Excel: Dialog Box for t-Test: Paired Two Sample For Means Tool</vt:lpstr>
      <vt:lpstr>10.3 Excel: Conduct a Hypothesis Test</vt:lpstr>
      <vt:lpstr>10.4 Inferences about the Difference Between Two Population Proportions</vt:lpstr>
      <vt:lpstr>10.4 Interval Estimation of p_1-p_2</vt:lpstr>
      <vt:lpstr>10.4 A Tax Preparation Example </vt:lpstr>
      <vt:lpstr>10.4 Estimation of the Difference Between the Proportions of Tax Return Errors </vt:lpstr>
      <vt:lpstr>10.4 Excel: Construct a 90% Confidence Interval</vt:lpstr>
      <vt:lpstr>10.4 Hypothesis Tests About p_1-p_2</vt:lpstr>
      <vt:lpstr>10.4 Test Statistic for Hypothesis Tests About p_1-p_2</vt:lpstr>
      <vt:lpstr>10.4 A Two-Tailed Test About p_1-p_2 </vt:lpstr>
      <vt:lpstr>10.4 Excel: Conduct a Hypothesis Test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2516</cp:revision>
  <cp:lastPrinted>2016-10-03T15:29:39Z</cp:lastPrinted>
  <dcterms:created xsi:type="dcterms:W3CDTF">2019-11-14T21:20:16Z</dcterms:created>
  <dcterms:modified xsi:type="dcterms:W3CDTF">2025-12-18T16:14:40Z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