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8"/>
  </p:notesMasterIdLst>
  <p:handoutMasterIdLst>
    <p:handoutMasterId r:id="rId49"/>
  </p:handoutMasterIdLst>
  <p:sldIdLst>
    <p:sldId id="784" r:id="rId5"/>
    <p:sldId id="524" r:id="rId6"/>
    <p:sldId id="548" r:id="rId7"/>
    <p:sldId id="684" r:id="rId8"/>
    <p:sldId id="596" r:id="rId9"/>
    <p:sldId id="774" r:id="rId10"/>
    <p:sldId id="685" r:id="rId11"/>
    <p:sldId id="688" r:id="rId12"/>
    <p:sldId id="689" r:id="rId13"/>
    <p:sldId id="690" r:id="rId14"/>
    <p:sldId id="700" r:id="rId15"/>
    <p:sldId id="745" r:id="rId16"/>
    <p:sldId id="776" r:id="rId17"/>
    <p:sldId id="702" r:id="rId18"/>
    <p:sldId id="697" r:id="rId19"/>
    <p:sldId id="703" r:id="rId20"/>
    <p:sldId id="775" r:id="rId21"/>
    <p:sldId id="704" r:id="rId22"/>
    <p:sldId id="699" r:id="rId23"/>
    <p:sldId id="705" r:id="rId24"/>
    <p:sldId id="706" r:id="rId25"/>
    <p:sldId id="707" r:id="rId26"/>
    <p:sldId id="737" r:id="rId27"/>
    <p:sldId id="709" r:id="rId28"/>
    <p:sldId id="738" r:id="rId29"/>
    <p:sldId id="739" r:id="rId30"/>
    <p:sldId id="777" r:id="rId31"/>
    <p:sldId id="741" r:id="rId32"/>
    <p:sldId id="711" r:id="rId33"/>
    <p:sldId id="742" r:id="rId34"/>
    <p:sldId id="743" r:id="rId35"/>
    <p:sldId id="778" r:id="rId36"/>
    <p:sldId id="779" r:id="rId37"/>
    <p:sldId id="746" r:id="rId38"/>
    <p:sldId id="747" r:id="rId39"/>
    <p:sldId id="748" r:id="rId40"/>
    <p:sldId id="749" r:id="rId41"/>
    <p:sldId id="782" r:id="rId42"/>
    <p:sldId id="781" r:id="rId43"/>
    <p:sldId id="753" r:id="rId44"/>
    <p:sldId id="783" r:id="rId45"/>
    <p:sldId id="736" r:id="rId46"/>
    <p:sldId id="523" r:id="rId47"/>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C76B0C9-7F17-146C-A919-1E9004EE7E10}" name="Lumina SME" initials="SME" userId="Lumina SME"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pcatasti@vcu.edu" initials="p" lastIdx="1" clrIdx="1">
    <p:extLst>
      <p:ext uri="{19B8F6BF-5375-455C-9EA6-DF929625EA0E}">
        <p15:presenceInfo xmlns:p15="http://schemas.microsoft.com/office/powerpoint/2012/main" userId="S::pcatasti@vcu.edu::5e6bb2ce-2eef-4c7a-b628-7542cf8731e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D14B1E"/>
    <a:srgbClr val="25894E"/>
    <a:srgbClr val="FF6300"/>
    <a:srgbClr val="FFF4DE"/>
    <a:srgbClr val="CDC800"/>
    <a:srgbClr val="006699"/>
    <a:srgbClr val="2A601F"/>
    <a:srgbClr val="01FFD5"/>
    <a:srgbClr val="E3E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autoAdjust="0"/>
    <p:restoredTop sz="94004" autoAdjust="0"/>
  </p:normalViewPr>
  <p:slideViewPr>
    <p:cSldViewPr snapToGrid="0" snapToObjects="1">
      <p:cViewPr varScale="1">
        <p:scale>
          <a:sx n="59" d="100"/>
          <a:sy n="59" d="100"/>
        </p:scale>
        <p:origin x="884" y="52"/>
      </p:cViewPr>
      <p:guideLst>
        <p:guide orient="horz" pos="2160"/>
        <p:guide pos="3840"/>
      </p:guideLst>
    </p:cSldViewPr>
  </p:slideViewPr>
  <p:outlineViewPr>
    <p:cViewPr>
      <p:scale>
        <a:sx n="33" d="100"/>
        <a:sy n="33" d="100"/>
      </p:scale>
      <p:origin x="0" y="-5210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77" d="100"/>
          <a:sy n="77" d="100"/>
        </p:scale>
        <p:origin x="274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commentAuthors" Target="commentAuthors.xml"/><Relationship Id="rId55"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12/18/2025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12/18/2025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2578678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a:t>
            </a:fld>
            <a:endParaRPr lang="en-US" dirty="0"/>
          </a:p>
        </p:txBody>
      </p:sp>
    </p:spTree>
    <p:extLst>
      <p:ext uri="{BB962C8B-B14F-4D97-AF65-F5344CB8AC3E}">
        <p14:creationId xmlns:p14="http://schemas.microsoft.com/office/powerpoint/2010/main" val="2428474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a:t>
            </a:fld>
            <a:endParaRPr lang="en-US" dirty="0"/>
          </a:p>
        </p:txBody>
      </p:sp>
    </p:spTree>
    <p:extLst>
      <p:ext uri="{BB962C8B-B14F-4D97-AF65-F5344CB8AC3E}">
        <p14:creationId xmlns:p14="http://schemas.microsoft.com/office/powerpoint/2010/main" val="2963516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a:t>
            </a:fld>
            <a:endParaRPr lang="en-US" dirty="0"/>
          </a:p>
        </p:txBody>
      </p:sp>
    </p:spTree>
    <p:extLst>
      <p:ext uri="{BB962C8B-B14F-4D97-AF65-F5344CB8AC3E}">
        <p14:creationId xmlns:p14="http://schemas.microsoft.com/office/powerpoint/2010/main" val="32431291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6</a:t>
            </a:fld>
            <a:endParaRPr lang="en-US" dirty="0"/>
          </a:p>
        </p:txBody>
      </p:sp>
    </p:spTree>
    <p:extLst>
      <p:ext uri="{BB962C8B-B14F-4D97-AF65-F5344CB8AC3E}">
        <p14:creationId xmlns:p14="http://schemas.microsoft.com/office/powerpoint/2010/main" val="28373405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7</a:t>
            </a:fld>
            <a:endParaRPr lang="en-US" dirty="0"/>
          </a:p>
        </p:txBody>
      </p:sp>
    </p:spTree>
    <p:extLst>
      <p:ext uri="{BB962C8B-B14F-4D97-AF65-F5344CB8AC3E}">
        <p14:creationId xmlns:p14="http://schemas.microsoft.com/office/powerpoint/2010/main" val="6064993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8</a:t>
            </a:fld>
            <a:endParaRPr lang="en-US" dirty="0"/>
          </a:p>
        </p:txBody>
      </p:sp>
    </p:spTree>
    <p:extLst>
      <p:ext uri="{BB962C8B-B14F-4D97-AF65-F5344CB8AC3E}">
        <p14:creationId xmlns:p14="http://schemas.microsoft.com/office/powerpoint/2010/main" val="2085722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9</a:t>
            </a:fld>
            <a:endParaRPr lang="en-US" dirty="0"/>
          </a:p>
        </p:txBody>
      </p:sp>
    </p:spTree>
    <p:extLst>
      <p:ext uri="{BB962C8B-B14F-4D97-AF65-F5344CB8AC3E}">
        <p14:creationId xmlns:p14="http://schemas.microsoft.com/office/powerpoint/2010/main" val="30389722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11</a:t>
            </a:fld>
            <a:endParaRPr lang="en-US" dirty="0"/>
          </a:p>
        </p:txBody>
      </p:sp>
    </p:spTree>
    <p:extLst>
      <p:ext uri="{BB962C8B-B14F-4D97-AF65-F5344CB8AC3E}">
        <p14:creationId xmlns:p14="http://schemas.microsoft.com/office/powerpoint/2010/main" val="21988594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procedure is the same as the one shown for simple linear regression in Section 14.7, with the only additional requirement that the independent variables must be located in contiguous columns.</a:t>
            </a:r>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12</a:t>
            </a:fld>
            <a:endParaRPr lang="en-US" dirty="0"/>
          </a:p>
        </p:txBody>
      </p:sp>
    </p:spTree>
    <p:extLst>
      <p:ext uri="{BB962C8B-B14F-4D97-AF65-F5344CB8AC3E}">
        <p14:creationId xmlns:p14="http://schemas.microsoft.com/office/powerpoint/2010/main" val="30962743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13</a:t>
            </a:fld>
            <a:endParaRPr lang="en-US" dirty="0"/>
          </a:p>
        </p:txBody>
      </p:sp>
    </p:spTree>
    <p:extLst>
      <p:ext uri="{BB962C8B-B14F-4D97-AF65-F5344CB8AC3E}">
        <p14:creationId xmlns:p14="http://schemas.microsoft.com/office/powerpoint/2010/main" val="38926212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14</a:t>
            </a:fld>
            <a:endParaRPr lang="en-US" dirty="0"/>
          </a:p>
        </p:txBody>
      </p:sp>
    </p:spTree>
    <p:extLst>
      <p:ext uri="{BB962C8B-B14F-4D97-AF65-F5344CB8AC3E}">
        <p14:creationId xmlns:p14="http://schemas.microsoft.com/office/powerpoint/2010/main" val="32107523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15</a:t>
            </a:fld>
            <a:endParaRPr lang="en-US" dirty="0"/>
          </a:p>
        </p:txBody>
      </p:sp>
    </p:spTree>
    <p:extLst>
      <p:ext uri="{BB962C8B-B14F-4D97-AF65-F5344CB8AC3E}">
        <p14:creationId xmlns:p14="http://schemas.microsoft.com/office/powerpoint/2010/main" val="478792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16</a:t>
            </a:fld>
            <a:endParaRPr lang="en-US" dirty="0"/>
          </a:p>
        </p:txBody>
      </p:sp>
    </p:spTree>
    <p:extLst>
      <p:ext uri="{BB962C8B-B14F-4D97-AF65-F5344CB8AC3E}">
        <p14:creationId xmlns:p14="http://schemas.microsoft.com/office/powerpoint/2010/main" val="35163027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17</a:t>
            </a:fld>
            <a:endParaRPr lang="en-US" dirty="0"/>
          </a:p>
        </p:txBody>
      </p:sp>
    </p:spTree>
    <p:extLst>
      <p:ext uri="{BB962C8B-B14F-4D97-AF65-F5344CB8AC3E}">
        <p14:creationId xmlns:p14="http://schemas.microsoft.com/office/powerpoint/2010/main" val="9873011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19</a:t>
            </a:fld>
            <a:endParaRPr lang="en-US" dirty="0"/>
          </a:p>
        </p:txBody>
      </p:sp>
    </p:spTree>
    <p:extLst>
      <p:ext uri="{BB962C8B-B14F-4D97-AF65-F5344CB8AC3E}">
        <p14:creationId xmlns:p14="http://schemas.microsoft.com/office/powerpoint/2010/main" val="16321261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20</a:t>
            </a:fld>
            <a:endParaRPr lang="en-US" dirty="0"/>
          </a:p>
        </p:txBody>
      </p:sp>
    </p:spTree>
    <p:extLst>
      <p:ext uri="{BB962C8B-B14F-4D97-AF65-F5344CB8AC3E}">
        <p14:creationId xmlns:p14="http://schemas.microsoft.com/office/powerpoint/2010/main" val="5489944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21</a:t>
            </a:fld>
            <a:endParaRPr lang="en-US" dirty="0"/>
          </a:p>
        </p:txBody>
      </p:sp>
    </p:spTree>
    <p:extLst>
      <p:ext uri="{BB962C8B-B14F-4D97-AF65-F5344CB8AC3E}">
        <p14:creationId xmlns:p14="http://schemas.microsoft.com/office/powerpoint/2010/main" val="18322952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sz="1200" dirty="0">
                    <a:latin typeface="Arial" panose="020B0604020202020204" pitchFamily="34" charset="0"/>
                    <a:cs typeface="Arial" panose="020B0604020202020204" pitchFamily="34" charset="0"/>
                  </a:rPr>
                  <a:t>the </a:t>
                </a:r>
                <a:r>
                  <a:rPr lang="en-US" sz="1200" i="1" dirty="0">
                    <a:latin typeface="Arial" panose="020B0604020202020204" pitchFamily="34" charset="0"/>
                    <a:cs typeface="Arial" panose="020B0604020202020204" pitchFamily="34" charset="0"/>
                  </a:rPr>
                  <a:t>p</a:t>
                </a:r>
                <a:r>
                  <a:rPr lang="en-US" sz="1200" dirty="0">
                    <a:latin typeface="Arial" panose="020B0604020202020204" pitchFamily="34" charset="0"/>
                    <a:cs typeface="Arial" panose="020B0604020202020204" pitchFamily="34" charset="0"/>
                  </a:rPr>
                  <a:t>-value in the analysis of variance computer output</a:t>
                </a:r>
                <a:r>
                  <a:rPr lang="en-US" sz="1200" baseline="0"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is 0.000. Table 4 in Appendix B provides </a:t>
                </a:r>
                <a14:m>
                  <m:oMath xmlns:m="http://schemas.openxmlformats.org/officeDocument/2006/math">
                    <m:sSub>
                      <m:sSubPr>
                        <m:ctrlPr>
                          <a:rPr lang="en-US" sz="1200" i="1" smtClean="0">
                            <a:latin typeface="Cambria Math" panose="02040503050406030204" pitchFamily="18" charset="0"/>
                            <a:cs typeface="Arial" panose="020B0604020202020204" pitchFamily="34" charset="0"/>
                          </a:rPr>
                        </m:ctrlPr>
                      </m:sSubPr>
                      <m:e>
                        <m:r>
                          <a:rPr lang="en-US" sz="1200" i="1">
                            <a:latin typeface="Cambria Math" panose="02040503050406030204" pitchFamily="18" charset="0"/>
                            <a:cs typeface="Arial" panose="020B0604020202020204" pitchFamily="34" charset="0"/>
                          </a:rPr>
                          <m:t>𝐹</m:t>
                        </m:r>
                      </m:e>
                      <m:sub>
                        <m:r>
                          <a:rPr lang="en-US" sz="1200" b="0" i="1" smtClean="0">
                            <a:latin typeface="Cambria Math" panose="02040503050406030204" pitchFamily="18" charset="0"/>
                            <a:ea typeface="Cambria Math" panose="02040503050406030204" pitchFamily="18" charset="0"/>
                            <a:cs typeface="Arial" panose="020B0604020202020204" pitchFamily="34" charset="0"/>
                          </a:rPr>
                          <m:t>.01</m:t>
                        </m:r>
                      </m:sub>
                    </m:sSub>
                    <m:r>
                      <a:rPr lang="en-US" sz="1200" b="0" i="1" smtClean="0">
                        <a:latin typeface="Cambria Math" panose="02040503050406030204" pitchFamily="18" charset="0"/>
                        <a:ea typeface="Cambria Math" panose="02040503050406030204" pitchFamily="18" charset="0"/>
                        <a:cs typeface="Arial" panose="020B0604020202020204" pitchFamily="34" charset="0"/>
                      </a:rPr>
                      <m:t>=9.55</m:t>
                    </m:r>
                  </m:oMath>
                </a14:m>
                <a:r>
                  <a:rPr lang="en-US" sz="1200" dirty="0">
                    <a:latin typeface="Arial" panose="020B0604020202020204" pitchFamily="34" charset="0"/>
                    <a:cs typeface="Arial" panose="020B0604020202020204" pitchFamily="34" charset="0"/>
                  </a:rPr>
                  <a:t> with two degrees of freedom in the numerator and seven degrees of freedom in the denominator.</a:t>
                </a:r>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sz="1200" dirty="0">
                    <a:latin typeface="Arial" panose="020B0604020202020204" pitchFamily="34" charset="0"/>
                    <a:cs typeface="Arial" panose="020B0604020202020204" pitchFamily="34" charset="0"/>
                  </a:rPr>
                  <a:t>the </a:t>
                </a:r>
                <a:r>
                  <a:rPr lang="en-US" sz="1200" i="1" dirty="0">
                    <a:latin typeface="Arial" panose="020B0604020202020204" pitchFamily="34" charset="0"/>
                    <a:cs typeface="Arial" panose="020B0604020202020204" pitchFamily="34" charset="0"/>
                  </a:rPr>
                  <a:t>p</a:t>
                </a:r>
                <a:r>
                  <a:rPr lang="en-US" sz="1200" dirty="0">
                    <a:latin typeface="Arial" panose="020B0604020202020204" pitchFamily="34" charset="0"/>
                    <a:cs typeface="Arial" panose="020B0604020202020204" pitchFamily="34" charset="0"/>
                  </a:rPr>
                  <a:t>-value in the analysis of variance computer output</a:t>
                </a:r>
                <a:r>
                  <a:rPr lang="en-US" sz="1200" baseline="0"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is 0.000. Table 4 in Appendix B provides </a:t>
                </a:r>
                <a:r>
                  <a:rPr lang="en-US" sz="1200" i="0">
                    <a:latin typeface="Cambria Math" panose="02040503050406030204" pitchFamily="18" charset="0"/>
                    <a:cs typeface="Arial" panose="020B0604020202020204" pitchFamily="34" charset="0"/>
                  </a:rPr>
                  <a:t>𝐹_</a:t>
                </a:r>
                <a:r>
                  <a:rPr lang="en-US" sz="1200" b="0" i="0">
                    <a:latin typeface="Cambria Math" panose="02040503050406030204" pitchFamily="18" charset="0"/>
                    <a:ea typeface="Cambria Math" panose="02040503050406030204" pitchFamily="18" charset="0"/>
                    <a:cs typeface="Arial" panose="020B0604020202020204" pitchFamily="34" charset="0"/>
                  </a:rPr>
                  <a:t>.01=9.55</a:t>
                </a:r>
                <a:r>
                  <a:rPr lang="en-US" sz="1200" dirty="0">
                    <a:latin typeface="Arial" panose="020B0604020202020204" pitchFamily="34" charset="0"/>
                    <a:cs typeface="Arial" panose="020B0604020202020204" pitchFamily="34" charset="0"/>
                  </a:rPr>
                  <a:t> with two degrees of freedom in the numerator and seven degrees of freedom in the denominator.</a:t>
                </a:r>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22</a:t>
            </a:fld>
            <a:endParaRPr lang="en-US" dirty="0"/>
          </a:p>
        </p:txBody>
      </p:sp>
    </p:spTree>
    <p:extLst>
      <p:ext uri="{BB962C8B-B14F-4D97-AF65-F5344CB8AC3E}">
        <p14:creationId xmlns:p14="http://schemas.microsoft.com/office/powerpoint/2010/main" val="11123308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23</a:t>
            </a:fld>
            <a:endParaRPr lang="en-US" dirty="0"/>
          </a:p>
        </p:txBody>
      </p:sp>
    </p:spTree>
    <p:extLst>
      <p:ext uri="{BB962C8B-B14F-4D97-AF65-F5344CB8AC3E}">
        <p14:creationId xmlns:p14="http://schemas.microsoft.com/office/powerpoint/2010/main" val="23234270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24</a:t>
            </a:fld>
            <a:endParaRPr lang="en-US" dirty="0"/>
          </a:p>
        </p:txBody>
      </p:sp>
    </p:spTree>
    <p:extLst>
      <p:ext uri="{BB962C8B-B14F-4D97-AF65-F5344CB8AC3E}">
        <p14:creationId xmlns:p14="http://schemas.microsoft.com/office/powerpoint/2010/main" val="31520975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25</a:t>
            </a:fld>
            <a:endParaRPr lang="en-US" dirty="0"/>
          </a:p>
        </p:txBody>
      </p:sp>
    </p:spTree>
    <p:extLst>
      <p:ext uri="{BB962C8B-B14F-4D97-AF65-F5344CB8AC3E}">
        <p14:creationId xmlns:p14="http://schemas.microsoft.com/office/powerpoint/2010/main" val="23887115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26</a:t>
            </a:fld>
            <a:endParaRPr lang="en-US" dirty="0"/>
          </a:p>
        </p:txBody>
      </p:sp>
    </p:spTree>
    <p:extLst>
      <p:ext uri="{BB962C8B-B14F-4D97-AF65-F5344CB8AC3E}">
        <p14:creationId xmlns:p14="http://schemas.microsoft.com/office/powerpoint/2010/main" val="15309148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*Note: in this case, the interpretation of coefficient </a:t>
                </a:r>
                <a14:m>
                  <m:oMath xmlns:m="http://schemas.openxmlformats.org/officeDocument/2006/math">
                    <m:sSub>
                      <m:sSubPr>
                        <m:ctrlPr>
                          <a:rPr lang="en-US" sz="1200" i="1" smtClean="0">
                            <a:latin typeface="Cambria Math" panose="02040503050406030204" pitchFamily="18" charset="0"/>
                            <a:cs typeface="Arial" panose="020B0604020202020204" pitchFamily="34" charset="0"/>
                          </a:rPr>
                        </m:ctrlPr>
                      </m:sSubPr>
                      <m:e>
                        <m:r>
                          <a:rPr lang="en-US" sz="1200" b="0" i="1" smtClean="0">
                            <a:latin typeface="Cambria Math" panose="02040503050406030204" pitchFamily="18" charset="0"/>
                            <a:cs typeface="Arial" panose="020B0604020202020204" pitchFamily="34" charset="0"/>
                          </a:rPr>
                          <m:t>𝑏</m:t>
                        </m:r>
                      </m:e>
                      <m:sub>
                        <m:r>
                          <a:rPr lang="en-US" sz="1200" b="0" i="1" smtClean="0">
                            <a:latin typeface="Cambria Math" panose="02040503050406030204" pitchFamily="18" charset="0"/>
                            <a:cs typeface="Arial" panose="020B0604020202020204" pitchFamily="34" charset="0"/>
                          </a:rPr>
                          <m:t>2</m:t>
                        </m:r>
                      </m:sub>
                    </m:sSub>
                  </m:oMath>
                </a14:m>
                <a:r>
                  <a:rPr lang="en-US" dirty="0"/>
                  <a:t> is: </a:t>
                </a:r>
                <a:r>
                  <a:rPr lang="en-US" sz="1200" dirty="0">
                    <a:cs typeface="Arial" panose="020B0604020202020204" pitchFamily="34" charset="0"/>
                  </a:rPr>
                  <a:t>0.615 hours is an estimate of the expected decrease in travel time corresponding to an increase of one gallon of gasoline consumption when the number of miles traveled is held constant. In other words, consuming more gasoline, usually by traveling faster, decreases the time needed to travel to the destination.</a:t>
                </a:r>
                <a:endParaRPr lang="en-US" dirty="0"/>
              </a:p>
            </p:txBody>
          </p:sp>
        </mc:Choice>
        <mc:Fallback xmlns="">
          <p:sp>
            <p:nvSpPr>
              <p:cNvPr id="3" name="Notes Placeholder 2"/>
              <p:cNvSpPr>
                <a:spLocks noGrp="1"/>
              </p:cNvSpPr>
              <p:nvPr>
                <p:ph type="body" idx="1"/>
              </p:nvPr>
            </p:nvSpPr>
            <p:spPr/>
            <p:txBody>
              <a:bodyPr/>
              <a:lstStyle/>
              <a:p>
                <a:r>
                  <a:rPr lang="en-US" dirty="0"/>
                  <a:t>*Note: in this case, the interpretation of coefficient </a:t>
                </a:r>
                <a:r>
                  <a:rPr lang="en-US" sz="1200" b="0" i="0">
                    <a:latin typeface="Cambria Math" panose="02040503050406030204" pitchFamily="18" charset="0"/>
                    <a:cs typeface="Arial" panose="020B0604020202020204" pitchFamily="34" charset="0"/>
                  </a:rPr>
                  <a:t>𝑏_2</a:t>
                </a:r>
                <a:r>
                  <a:rPr lang="en-US" dirty="0"/>
                  <a:t> is: </a:t>
                </a:r>
                <a:r>
                  <a:rPr lang="en-US" sz="1200" dirty="0">
                    <a:cs typeface="Arial" panose="020B0604020202020204" pitchFamily="34" charset="0"/>
                  </a:rPr>
                  <a:t>0.615 hours is an estimate of the expected decrease in travel time corresponding to an increase of one gallon of gasoline consumption when the number of miles traveled is held constant. In other words, consuming more gasoline, usually by traveling faster, decreases the time needed to travel to the destination.</a:t>
                </a:r>
                <a:endParaRPr lang="en-US" dirty="0"/>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28</a:t>
            </a:fld>
            <a:endParaRPr lang="en-US" dirty="0"/>
          </a:p>
        </p:txBody>
      </p:sp>
    </p:spTree>
    <p:extLst>
      <p:ext uri="{BB962C8B-B14F-4D97-AF65-F5344CB8AC3E}">
        <p14:creationId xmlns:p14="http://schemas.microsoft.com/office/powerpoint/2010/main" val="9732323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29</a:t>
            </a:fld>
            <a:endParaRPr lang="en-US" dirty="0"/>
          </a:p>
        </p:txBody>
      </p:sp>
    </p:spTree>
    <p:extLst>
      <p:ext uri="{BB962C8B-B14F-4D97-AF65-F5344CB8AC3E}">
        <p14:creationId xmlns:p14="http://schemas.microsoft.com/office/powerpoint/2010/main" val="13724510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30</a:t>
            </a:fld>
            <a:endParaRPr lang="en-US" dirty="0"/>
          </a:p>
        </p:txBody>
      </p:sp>
    </p:spTree>
    <p:extLst>
      <p:ext uri="{BB962C8B-B14F-4D97-AF65-F5344CB8AC3E}">
        <p14:creationId xmlns:p14="http://schemas.microsoft.com/office/powerpoint/2010/main" val="8538582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31</a:t>
            </a:fld>
            <a:endParaRPr lang="en-US" dirty="0"/>
          </a:p>
        </p:txBody>
      </p:sp>
    </p:spTree>
    <p:extLst>
      <p:ext uri="{BB962C8B-B14F-4D97-AF65-F5344CB8AC3E}">
        <p14:creationId xmlns:p14="http://schemas.microsoft.com/office/powerpoint/2010/main" val="27143083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32</a:t>
            </a:fld>
            <a:endParaRPr lang="en-US" dirty="0"/>
          </a:p>
        </p:txBody>
      </p:sp>
    </p:spTree>
    <p:extLst>
      <p:ext uri="{BB962C8B-B14F-4D97-AF65-F5344CB8AC3E}">
        <p14:creationId xmlns:p14="http://schemas.microsoft.com/office/powerpoint/2010/main" val="32912919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33</a:t>
            </a:fld>
            <a:endParaRPr lang="en-US" dirty="0"/>
          </a:p>
        </p:txBody>
      </p:sp>
    </p:spTree>
    <p:extLst>
      <p:ext uri="{BB962C8B-B14F-4D97-AF65-F5344CB8AC3E}">
        <p14:creationId xmlns:p14="http://schemas.microsoft.com/office/powerpoint/2010/main" val="19751436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34</a:t>
            </a:fld>
            <a:endParaRPr lang="en-US" dirty="0"/>
          </a:p>
        </p:txBody>
      </p:sp>
    </p:spTree>
    <p:extLst>
      <p:ext uri="{BB962C8B-B14F-4D97-AF65-F5344CB8AC3E}">
        <p14:creationId xmlns:p14="http://schemas.microsoft.com/office/powerpoint/2010/main" val="33549476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*Note: in the scatter diagram, repair time in hours (</a:t>
                </a:r>
                <a:r>
                  <a:rPr lang="en-US" sz="1200" dirty="0">
                    <a:latin typeface="Arial" panose="020B0604020202020204" pitchFamily="34" charset="0"/>
                    <a:cs typeface="Arial" panose="020B0604020202020204" pitchFamily="34" charset="0"/>
                  </a:rPr>
                  <a:t>𝑦</a:t>
                </a:r>
                <a:r>
                  <a:rPr lang="en-US" dirty="0"/>
                  <a:t>) is represented by the vertical axis, and months since last service (</a:t>
                </a:r>
                <a14:m>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𝑥</m:t>
                        </m:r>
                      </m:e>
                      <m:sub>
                        <m:r>
                          <a:rPr lang="en-US" i="1">
                            <a:latin typeface="Cambria Math" panose="02040503050406030204" pitchFamily="18" charset="0"/>
                            <a:cs typeface="Arial" panose="020B0604020202020204" pitchFamily="34" charset="0"/>
                          </a:rPr>
                          <m:t>1</m:t>
                        </m:r>
                      </m:sub>
                    </m:sSub>
                  </m:oMath>
                </a14:m>
                <a:r>
                  <a:rPr lang="en-US" dirty="0"/>
                  <a:t>) is represented by the horizontal axis. A data point for a mechanical repair is indicated by an M and a data point for an electrical repair is indicated by an E.</a:t>
                </a:r>
              </a:p>
            </p:txBody>
          </p:sp>
        </mc:Choice>
        <mc:Fallback xmlns="">
          <p:sp>
            <p:nvSpPr>
              <p:cNvPr id="3" name="Notes Placeholder 2"/>
              <p:cNvSpPr>
                <a:spLocks noGrp="1"/>
              </p:cNvSpPr>
              <p:nvPr>
                <p:ph type="body" idx="1"/>
              </p:nvPr>
            </p:nvSpPr>
            <p:spPr/>
            <p:txBody>
              <a:bodyPr/>
              <a:lstStyle/>
              <a:p>
                <a:r>
                  <a:rPr lang="en-US" dirty="0"/>
                  <a:t>*Note: in the scatter diagram, repair time in hours (</a:t>
                </a:r>
                <a:r>
                  <a:rPr lang="en-US" sz="1200" dirty="0">
                    <a:latin typeface="Arial" panose="020B0604020202020204" pitchFamily="34" charset="0"/>
                    <a:cs typeface="Arial" panose="020B0604020202020204" pitchFamily="34" charset="0"/>
                  </a:rPr>
                  <a:t>𝑦</a:t>
                </a:r>
                <a:r>
                  <a:rPr lang="en-US" dirty="0"/>
                  <a:t>) is represented by the vertical axis, and months since last service (</a:t>
                </a:r>
                <a:r>
                  <a:rPr lang="en-US" i="0">
                    <a:latin typeface="Cambria Math" panose="02040503050406030204" pitchFamily="18" charset="0"/>
                    <a:cs typeface="Arial" panose="020B0604020202020204" pitchFamily="34" charset="0"/>
                  </a:rPr>
                  <a:t>𝑥_1</a:t>
                </a:r>
                <a:r>
                  <a:rPr lang="en-US" dirty="0"/>
                  <a:t>) is represented by the horizontal axis. A data point for a mechanical repair is indicated by an M and a data point for an electrical repair is indicated by an E.</a:t>
                </a:r>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35</a:t>
            </a:fld>
            <a:endParaRPr lang="en-US" dirty="0"/>
          </a:p>
        </p:txBody>
      </p:sp>
    </p:spTree>
    <p:extLst>
      <p:ext uri="{BB962C8B-B14F-4D97-AF65-F5344CB8AC3E}">
        <p14:creationId xmlns:p14="http://schemas.microsoft.com/office/powerpoint/2010/main" val="10994693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39</a:t>
            </a:fld>
            <a:endParaRPr lang="en-US" dirty="0"/>
          </a:p>
        </p:txBody>
      </p:sp>
    </p:spTree>
    <p:extLst>
      <p:ext uri="{BB962C8B-B14F-4D97-AF65-F5344CB8AC3E}">
        <p14:creationId xmlns:p14="http://schemas.microsoft.com/office/powerpoint/2010/main" val="23416144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40</a:t>
            </a:fld>
            <a:endParaRPr lang="en-US" dirty="0"/>
          </a:p>
        </p:txBody>
      </p:sp>
    </p:spTree>
    <p:extLst>
      <p:ext uri="{BB962C8B-B14F-4D97-AF65-F5344CB8AC3E}">
        <p14:creationId xmlns:p14="http://schemas.microsoft.com/office/powerpoint/2010/main" val="2992952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42</a:t>
            </a:fld>
            <a:endParaRPr lang="en-US" dirty="0"/>
          </a:p>
        </p:txBody>
      </p:sp>
    </p:spTree>
    <p:extLst>
      <p:ext uri="{BB962C8B-B14F-4D97-AF65-F5344CB8AC3E}">
        <p14:creationId xmlns:p14="http://schemas.microsoft.com/office/powerpoint/2010/main" val="33314689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43</a:t>
            </a:fld>
            <a:endParaRPr lang="en-US" dirty="0"/>
          </a:p>
        </p:txBody>
      </p:sp>
    </p:spTree>
    <p:extLst>
      <p:ext uri="{BB962C8B-B14F-4D97-AF65-F5344CB8AC3E}">
        <p14:creationId xmlns:p14="http://schemas.microsoft.com/office/powerpoint/2010/main" val="22341494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ster Slide Title">
    <p:spTree>
      <p:nvGrpSpPr>
        <p:cNvPr id="1" name=""/>
        <p:cNvGrpSpPr/>
        <p:nvPr/>
      </p:nvGrpSpPr>
      <p:grpSpPr>
        <a:xfrm>
          <a:off x="0" y="0"/>
          <a:ext cx="0" cy="0"/>
          <a:chOff x="0" y="0"/>
          <a:chExt cx="0" cy="0"/>
        </a:xfrm>
      </p:grpSpPr>
      <p:pic>
        <p:nvPicPr>
          <p:cNvPr id="2" name="Picture 1" descr="Background">
            <a:extLst>
              <a:ext uri="{C183D7F6-B498-43B3-948B-1728B52AA6E4}">
                <adec:decorative xmlns:adec="http://schemas.microsoft.com/office/drawing/2017/decorative" val="0"/>
              </a:ext>
            </a:extLst>
          </p:cNvPr>
          <p:cNvPicPr>
            <a:picLocks noChangeAspect="1"/>
          </p:cNvPicPr>
          <p:nvPr userDrawn="1"/>
        </p:nvPicPr>
        <p:blipFill>
          <a:blip r:embed="rId2"/>
          <a:stretch>
            <a:fillRect/>
          </a:stretch>
        </p:blipFill>
        <p:spPr>
          <a:xfrm>
            <a:off x="192" y="-21416"/>
            <a:ext cx="12191807" cy="6865874"/>
          </a:xfrm>
          <a:prstGeom prst="rect">
            <a:avLst/>
          </a:prstGeom>
        </p:spPr>
      </p:pic>
      <p:sp>
        <p:nvSpPr>
          <p:cNvPr id="12" name="Title Placeholder 1">
            <a:extLst>
              <a:ext uri="{FF2B5EF4-FFF2-40B4-BE49-F238E27FC236}">
                <a16:creationId xmlns:a16="http://schemas.microsoft.com/office/drawing/2014/main" id="{9B100DED-6515-4BB6-AA58-A062C44139F8}"/>
              </a:ext>
            </a:extLst>
          </p:cNvPr>
          <p:cNvSpPr>
            <a:spLocks noGrp="1"/>
          </p:cNvSpPr>
          <p:nvPr>
            <p:ph type="title"/>
          </p:nvPr>
        </p:nvSpPr>
        <p:spPr bwMode="auto">
          <a:xfrm>
            <a:off x="3930077" y="2317698"/>
            <a:ext cx="795535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a:defRPr>
                <a:solidFill>
                  <a:schemeClr val="bg1"/>
                </a:solidFill>
              </a:defRPr>
            </a:lvl1pPr>
          </a:lstStyle>
          <a:p>
            <a:pPr lvl="0"/>
            <a:r>
              <a:rPr lang="en-US" altLang="en-US" dirty="0"/>
              <a:t>Click to edit Master title style</a:t>
            </a:r>
          </a:p>
        </p:txBody>
      </p:sp>
      <p:sp>
        <p:nvSpPr>
          <p:cNvPr id="6" name="Text Placeholder 5"/>
          <p:cNvSpPr>
            <a:spLocks noGrp="1"/>
          </p:cNvSpPr>
          <p:nvPr>
            <p:ph type="body" sz="quarter" idx="11" hasCustomPrompt="1"/>
          </p:nvPr>
        </p:nvSpPr>
        <p:spPr>
          <a:xfrm>
            <a:off x="3930077" y="3962923"/>
            <a:ext cx="7955350"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a:t>
            </a:r>
          </a:p>
        </p:txBody>
      </p:sp>
      <p:pic>
        <p:nvPicPr>
          <p:cNvPr id="8" name="Picture 7" descr="Cengage Logo"/>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a:extLst>
              <a:ext uri="{FF2B5EF4-FFF2-40B4-BE49-F238E27FC236}">
                <a16:creationId xmlns:a16="http://schemas.microsoft.com/office/drawing/2014/main" id="{B3AD984C-7DA8-4BA6-AF0A-89B14549C6C1}"/>
              </a:ext>
            </a:extLst>
          </p:cNvPr>
          <p:cNvSpPr txBox="1"/>
          <p:nvPr userDrawn="1"/>
        </p:nvSpPr>
        <p:spPr>
          <a:xfrm>
            <a:off x="3007866" y="6147324"/>
            <a:ext cx="8956009" cy="692497"/>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err="1">
                <a:solidFill>
                  <a:schemeClr val="bg1"/>
                </a:solidFill>
                <a:latin typeface="Arial" panose="020B0604020202020204" pitchFamily="34" charset="0"/>
                <a:cs typeface="Arial" panose="020B0604020202020204" pitchFamily="34" charset="0"/>
              </a:rPr>
              <a:t>Camm</a:t>
            </a:r>
            <a:r>
              <a:rPr lang="en-US" sz="1400" kern="1200" dirty="0">
                <a:solidFill>
                  <a:schemeClr val="bg1"/>
                </a:solidFill>
                <a:latin typeface="Arial" panose="020B0604020202020204" pitchFamily="34" charset="0"/>
                <a:cs typeface="Arial" panose="020B0604020202020204" pitchFamily="34" charset="0"/>
              </a:rPr>
              <a:t>, Cochran, Fry, Ohlmann, Anderson, Sweeney, Williams, Modern Business Statistics with Microsoft Excel, 8</a:t>
            </a:r>
            <a:r>
              <a:rPr lang="en-US" sz="1400" kern="1200" baseline="30000" dirty="0">
                <a:solidFill>
                  <a:schemeClr val="bg1"/>
                </a:solidFill>
                <a:latin typeface="Arial" panose="020B0604020202020204" pitchFamily="34" charset="0"/>
                <a:cs typeface="Arial" panose="020B0604020202020204" pitchFamily="34" charset="0"/>
              </a:rPr>
              <a:t>th</a:t>
            </a:r>
            <a:r>
              <a:rPr lang="en-US" sz="1400" kern="1200" dirty="0">
                <a:solidFill>
                  <a:schemeClr val="bg1"/>
                </a:solidFill>
                <a:latin typeface="Arial" panose="020B0604020202020204" pitchFamily="34" charset="0"/>
                <a:cs typeface="Arial" panose="020B0604020202020204" pitchFamily="34" charset="0"/>
              </a:rPr>
              <a:t> Edition. © 2025 Cengage Group. All Rights Reserved. May not be scanned, copied or duplicated, or posted to a publicly accessible website, in whole or in part.</a:t>
            </a:r>
            <a:endParaRPr lang="en" sz="1400" kern="1200" dirty="0">
              <a:solidFill>
                <a:schemeClr val="bg1"/>
              </a:solidFill>
              <a:latin typeface="Arial" panose="020B0604020202020204" pitchFamily="34" charset="0"/>
              <a:cs typeface="Arial" panose="020B0604020202020204" pitchFamily="34" charset="0"/>
            </a:endParaRPr>
          </a:p>
        </p:txBody>
      </p:sp>
      <p:pic>
        <p:nvPicPr>
          <p:cNvPr id="4" name="Picture 3" descr="A white bridge with a blue background&#10;&#10;Description automatically generated with medium confidence">
            <a:extLst>
              <a:ext uri="{FF2B5EF4-FFF2-40B4-BE49-F238E27FC236}">
                <a16:creationId xmlns:a16="http://schemas.microsoft.com/office/drawing/2014/main" id="{C827F863-7622-2925-7A3C-FCE070953133}"/>
              </a:ext>
            </a:extLst>
          </p:cNvPr>
          <p:cNvPicPr>
            <a:picLocks noChangeAspect="1"/>
          </p:cNvPicPr>
          <p:nvPr userDrawn="1"/>
        </p:nvPicPr>
        <p:blipFill>
          <a:blip r:embed="rId4"/>
          <a:stretch>
            <a:fillRect/>
          </a:stretch>
        </p:blipFill>
        <p:spPr>
          <a:xfrm>
            <a:off x="176891" y="158257"/>
            <a:ext cx="3520440" cy="4508389"/>
          </a:xfrm>
          <a:prstGeom prst="rect">
            <a:avLst/>
          </a:prstGeom>
        </p:spPr>
      </p:pic>
    </p:spTree>
    <p:extLst>
      <p:ext uri="{BB962C8B-B14F-4D97-AF65-F5344CB8AC3E}">
        <p14:creationId xmlns:p14="http://schemas.microsoft.com/office/powerpoint/2010/main" val="617780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lnSpc>
                <a:spcPct val="100000"/>
              </a:lnSpc>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03506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9D0A500-7D1C-4C6E-BF2C-55F75C6E6CB2}"/>
              </a:ext>
            </a:extLst>
          </p:cNvPr>
          <p:cNvSpPr>
            <a:spLocks noGrp="1"/>
          </p:cNvSpPr>
          <p:nvPr>
            <p:ph type="tbl" sz="quarter" idx="16"/>
          </p:nvPr>
        </p:nvSpPr>
        <p:spPr>
          <a:xfrm>
            <a:off x="7145338" y="1581150"/>
            <a:ext cx="4208462" cy="4252913"/>
          </a:xfrm>
        </p:spPr>
        <p:txBody>
          <a:bodyPr/>
          <a:lstStyle/>
          <a:p>
            <a:endParaRPr lang="en-US"/>
          </a:p>
        </p:txBody>
      </p:sp>
    </p:spTree>
    <p:extLst>
      <p:ext uri="{BB962C8B-B14F-4D97-AF65-F5344CB8AC3E}">
        <p14:creationId xmlns:p14="http://schemas.microsoft.com/office/powerpoint/2010/main" val="988972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Tree>
    <p:extLst>
      <p:ext uri="{BB962C8B-B14F-4D97-AF65-F5344CB8AC3E}">
        <p14:creationId xmlns:p14="http://schemas.microsoft.com/office/powerpoint/2010/main" val="292762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Two Contents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2083884"/>
          </a:xfrm>
        </p:spPr>
        <p:txBody>
          <a:bodyPr>
            <a:noAutofit/>
          </a:bodyPr>
          <a:lstStyle>
            <a:lvl1pPr marL="0" indent="0" algn="l">
              <a:lnSpc>
                <a:spcPct val="100000"/>
              </a:lnSpc>
              <a:spcBef>
                <a:spcPts val="600"/>
              </a:spcBef>
              <a:buFont typeface="Arial" panose="020B0604020202020204" pitchFamily="34" charset="0"/>
              <a:buNone/>
              <a:defRPr sz="20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1"/>
            <a:ext cx="4314825" cy="2083884"/>
          </a:xfrm>
        </p:spPr>
        <p:txBody>
          <a:bodyPr/>
          <a:lstStyle/>
          <a:p>
            <a:endParaRPr lang="en-US" dirty="0"/>
          </a:p>
        </p:txBody>
      </p:sp>
      <p:sp>
        <p:nvSpPr>
          <p:cNvPr id="8" name="Text Placeholder 5">
            <a:extLst>
              <a:ext uri="{FF2B5EF4-FFF2-40B4-BE49-F238E27FC236}">
                <a16:creationId xmlns:a16="http://schemas.microsoft.com/office/drawing/2014/main" id="{479BB18C-DD3C-B338-94DD-78651EF67E3E}"/>
              </a:ext>
            </a:extLst>
          </p:cNvPr>
          <p:cNvSpPr>
            <a:spLocks noGrp="1"/>
          </p:cNvSpPr>
          <p:nvPr>
            <p:ph type="body" sz="quarter" idx="17" hasCustomPrompt="1"/>
          </p:nvPr>
        </p:nvSpPr>
        <p:spPr>
          <a:xfrm>
            <a:off x="743576" y="3764553"/>
            <a:ext cx="10610223" cy="2083884"/>
          </a:xfrm>
        </p:spPr>
        <p:txBody>
          <a:bodyPr>
            <a:noAutofit/>
          </a:bodyPr>
          <a:lstStyle>
            <a:lvl1pPr marL="0" indent="0" algn="l">
              <a:lnSpc>
                <a:spcPct val="100000"/>
              </a:lnSpc>
              <a:spcBef>
                <a:spcPts val="600"/>
              </a:spcBef>
              <a:buFont typeface="Arial" panose="020B0604020202020204" pitchFamily="34" charset="0"/>
              <a:buNone/>
              <a:defRPr sz="20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811101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ection,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2133599"/>
            <a:ext cx="6195940" cy="3700131"/>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
        <p:nvSpPr>
          <p:cNvPr id="8" name="Text Placeholder 5">
            <a:extLst>
              <a:ext uri="{FF2B5EF4-FFF2-40B4-BE49-F238E27FC236}">
                <a16:creationId xmlns:a16="http://schemas.microsoft.com/office/drawing/2014/main" id="{D06E54DE-5F36-1FCE-27A0-BD19D4BD4755}"/>
              </a:ext>
            </a:extLst>
          </p:cNvPr>
          <p:cNvSpPr>
            <a:spLocks noGrp="1"/>
          </p:cNvSpPr>
          <p:nvPr>
            <p:ph type="body" sz="quarter" idx="17" hasCustomPrompt="1"/>
          </p:nvPr>
        </p:nvSpPr>
        <p:spPr>
          <a:xfrm>
            <a:off x="743578" y="1581150"/>
            <a:ext cx="61959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207193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5999194" cy="4253024"/>
          </a:xfrm>
        </p:spPr>
        <p:txBody>
          <a:bodyPr>
            <a:noAutofit/>
          </a:bodyPr>
          <a:lstStyle>
            <a:lvl1pPr marL="0" indent="0" algn="l">
              <a:lnSpc>
                <a:spcPct val="100000"/>
              </a:lnSpc>
              <a:spcBef>
                <a:spcPts val="600"/>
              </a:spcBef>
              <a:buFont typeface="Arial" panose="020B0604020202020204" pitchFamily="34" charset="0"/>
              <a:buNone/>
              <a:defRPr sz="20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6846846" y="1581151"/>
            <a:ext cx="4562856" cy="2098751"/>
          </a:xfrm>
        </p:spPr>
        <p:txBody>
          <a:bodyPr/>
          <a:lstStyle/>
          <a:p>
            <a:endParaRPr lang="en-US" dirty="0"/>
          </a:p>
        </p:txBody>
      </p:sp>
      <p:sp>
        <p:nvSpPr>
          <p:cNvPr id="4" name="Picture Placeholder 3">
            <a:extLst>
              <a:ext uri="{FF2B5EF4-FFF2-40B4-BE49-F238E27FC236}">
                <a16:creationId xmlns:a16="http://schemas.microsoft.com/office/drawing/2014/main" id="{3ECEBE1D-025F-4B90-E515-0E08F23F3E85}"/>
              </a:ext>
            </a:extLst>
          </p:cNvPr>
          <p:cNvSpPr>
            <a:spLocks noGrp="1"/>
          </p:cNvSpPr>
          <p:nvPr>
            <p:ph type="pic" sz="quarter" idx="17"/>
          </p:nvPr>
        </p:nvSpPr>
        <p:spPr>
          <a:xfrm>
            <a:off x="6846846" y="3740149"/>
            <a:ext cx="4562856" cy="2103120"/>
          </a:xfrm>
        </p:spPr>
        <p:txBody>
          <a:bodyPr/>
          <a:lstStyle/>
          <a:p>
            <a:endParaRPr lang="en-US" dirty="0"/>
          </a:p>
        </p:txBody>
      </p:sp>
    </p:spTree>
    <p:extLst>
      <p:ext uri="{BB962C8B-B14F-4D97-AF65-F5344CB8AC3E}">
        <p14:creationId xmlns:p14="http://schemas.microsoft.com/office/powerpoint/2010/main" val="2996645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9366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71741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2164062"/>
            <a:ext cx="10711543" cy="348997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480131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0"/>
            <a:ext cx="5200024" cy="3562595"/>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5900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933825"/>
            <a:ext cx="5230812" cy="1555750"/>
          </a:xfrm>
        </p:spPr>
        <p:txBody>
          <a:bodyPr/>
          <a:lstStyle/>
          <a:p>
            <a:endParaRPr lang="en-US"/>
          </a:p>
        </p:txBody>
      </p:sp>
    </p:spTree>
    <p:extLst>
      <p:ext uri="{BB962C8B-B14F-4D97-AF65-F5344CB8AC3E}">
        <p14:creationId xmlns:p14="http://schemas.microsoft.com/office/powerpoint/2010/main" val="1066730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292315"/>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1"/>
            <a:ext cx="5200024" cy="1809242"/>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7"/>
            <a:ext cx="5200024" cy="292316"/>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848766"/>
            <a:ext cx="5230812" cy="1555750"/>
          </a:xfrm>
        </p:spPr>
        <p:txBody>
          <a:bodyPr/>
          <a:lstStyle/>
          <a:p>
            <a:endParaRPr lang="en-US"/>
          </a:p>
        </p:txBody>
      </p:sp>
      <p:sp>
        <p:nvSpPr>
          <p:cNvPr id="10" name="Table Placeholder 4">
            <a:extLst>
              <a:ext uri="{FF2B5EF4-FFF2-40B4-BE49-F238E27FC236}">
                <a16:creationId xmlns:a16="http://schemas.microsoft.com/office/drawing/2014/main" id="{BFBD6013-A996-47C7-87DD-3ACE6A10E002}"/>
              </a:ext>
            </a:extLst>
          </p:cNvPr>
          <p:cNvSpPr>
            <a:spLocks noGrp="1"/>
          </p:cNvSpPr>
          <p:nvPr>
            <p:ph type="tbl" sz="quarter" idx="24"/>
          </p:nvPr>
        </p:nvSpPr>
        <p:spPr>
          <a:xfrm>
            <a:off x="722312" y="3848769"/>
            <a:ext cx="5230812" cy="1555750"/>
          </a:xfrm>
        </p:spPr>
        <p:txBody>
          <a:bodyPr/>
          <a:lstStyle/>
          <a:p>
            <a:endParaRPr lang="en-US"/>
          </a:p>
        </p:txBody>
      </p:sp>
    </p:spTree>
    <p:extLst>
      <p:ext uri="{BB962C8B-B14F-4D97-AF65-F5344CB8AC3E}">
        <p14:creationId xmlns:p14="http://schemas.microsoft.com/office/powerpoint/2010/main" val="1243244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Comparison with Bottom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06630"/>
            <a:ext cx="5200024" cy="36221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843015"/>
            <a:ext cx="5200024" cy="218933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06630"/>
            <a:ext cx="5200024" cy="36221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843015"/>
            <a:ext cx="5200024" cy="2189339"/>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marL="0" marR="0" lvl="0" indent="0" algn="l" defTabSz="914400" rtl="0" eaLnBrk="1" fontAlgn="base" latinLnBrk="0" hangingPunct="1">
              <a:lnSpc>
                <a:spcPct val="90000"/>
              </a:lnSpc>
              <a:spcBef>
                <a:spcPts val="1000"/>
              </a:spcBef>
              <a:spcAft>
                <a:spcPct val="0"/>
              </a:spcAft>
              <a:buClr>
                <a:srgbClr val="004A78"/>
              </a:buClr>
              <a:buSzTx/>
              <a:buFont typeface="Arial"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932C6E39-4812-4C9F-8462-1DDCB1C8A9E1}"/>
              </a:ext>
            </a:extLst>
          </p:cNvPr>
          <p:cNvSpPr>
            <a:spLocks noGrp="1"/>
          </p:cNvSpPr>
          <p:nvPr>
            <p:ph type="pic" sz="quarter" idx="23"/>
          </p:nvPr>
        </p:nvSpPr>
        <p:spPr>
          <a:xfrm>
            <a:off x="3882454" y="4159772"/>
            <a:ext cx="4302177" cy="1746094"/>
          </a:xfrm>
        </p:spPr>
        <p:txBody>
          <a:bodyPr/>
          <a:lstStyle/>
          <a:p>
            <a:endParaRPr lang="en-US" dirty="0"/>
          </a:p>
        </p:txBody>
      </p:sp>
    </p:spTree>
    <p:extLst>
      <p:ext uri="{BB962C8B-B14F-4D97-AF65-F5344CB8AC3E}">
        <p14:creationId xmlns:p14="http://schemas.microsoft.com/office/powerpoint/2010/main" val="23818031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Comparison with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44690"/>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817245"/>
            <a:ext cx="5200024" cy="3076212"/>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44689"/>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817245"/>
            <a:ext cx="5200024" cy="3076212"/>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49990"/>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398923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Comparison with Two Images and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02162"/>
            <a:ext cx="5200024" cy="36383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647133"/>
            <a:ext cx="5200024" cy="1612988"/>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a:t>
            </a:r>
            <a:endParaRPr lang="en-US" dirty="0"/>
          </a:p>
          <a:p>
            <a:pPr lvl="0"/>
            <a:r>
              <a:rPr lang="en-US" dirty="0"/>
              <a:t>d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02162"/>
            <a:ext cx="5200024" cy="36383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647133"/>
            <a:ext cx="5200024" cy="1612988"/>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07462"/>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
        <p:nvSpPr>
          <p:cNvPr id="5" name="Picture Placeholder 4">
            <a:extLst>
              <a:ext uri="{FF2B5EF4-FFF2-40B4-BE49-F238E27FC236}">
                <a16:creationId xmlns:a16="http://schemas.microsoft.com/office/drawing/2014/main" id="{81A3663D-1B8C-C824-C7CF-41B9E80BDD28}"/>
              </a:ext>
            </a:extLst>
          </p:cNvPr>
          <p:cNvSpPr>
            <a:spLocks noGrp="1"/>
          </p:cNvSpPr>
          <p:nvPr>
            <p:ph type="pic" sz="quarter" idx="23"/>
          </p:nvPr>
        </p:nvSpPr>
        <p:spPr>
          <a:xfrm>
            <a:off x="742950" y="4316747"/>
            <a:ext cx="5200650" cy="1612900"/>
          </a:xfrm>
        </p:spPr>
        <p:txBody>
          <a:bodyPr/>
          <a:lstStyle/>
          <a:p>
            <a:endParaRPr lang="en-US"/>
          </a:p>
        </p:txBody>
      </p:sp>
      <p:sp>
        <p:nvSpPr>
          <p:cNvPr id="12" name="Picture Placeholder 4">
            <a:extLst>
              <a:ext uri="{FF2B5EF4-FFF2-40B4-BE49-F238E27FC236}">
                <a16:creationId xmlns:a16="http://schemas.microsoft.com/office/drawing/2014/main" id="{BD70375B-824A-4FDD-8853-6162FA066C41}"/>
              </a:ext>
            </a:extLst>
          </p:cNvPr>
          <p:cNvSpPr>
            <a:spLocks noGrp="1"/>
          </p:cNvSpPr>
          <p:nvPr>
            <p:ph type="pic" sz="quarter" idx="24"/>
          </p:nvPr>
        </p:nvSpPr>
        <p:spPr>
          <a:xfrm>
            <a:off x="6122054" y="4316747"/>
            <a:ext cx="5200650" cy="1612900"/>
          </a:xfrm>
        </p:spPr>
        <p:txBody>
          <a:bodyPr/>
          <a:lstStyle/>
          <a:p>
            <a:endParaRPr lang="en-US"/>
          </a:p>
        </p:txBody>
      </p:sp>
    </p:spTree>
    <p:extLst>
      <p:ext uri="{BB962C8B-B14F-4D97-AF65-F5344CB8AC3E}">
        <p14:creationId xmlns:p14="http://schemas.microsoft.com/office/powerpoint/2010/main" val="15464162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with Sec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4"/>
            <a:ext cx="5200024" cy="3562595"/>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79453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with Section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Tree>
    <p:extLst>
      <p:ext uri="{BB962C8B-B14F-4D97-AF65-F5344CB8AC3E}">
        <p14:creationId xmlns:p14="http://schemas.microsoft.com/office/powerpoint/2010/main" val="838045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664494"/>
            <a:ext cx="5200024" cy="1793081"/>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521869"/>
            <a:ext cx="5200024" cy="2141136"/>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664494"/>
            <a:ext cx="5267325" cy="3998119"/>
          </a:xfrm>
        </p:spPr>
        <p:txBody>
          <a:bodyPr/>
          <a:lstStyle/>
          <a:p>
            <a:endParaRPr lang="en-US"/>
          </a:p>
        </p:txBody>
      </p:sp>
    </p:spTree>
    <p:extLst>
      <p:ext uri="{BB962C8B-B14F-4D97-AF65-F5344CB8AC3E}">
        <p14:creationId xmlns:p14="http://schemas.microsoft.com/office/powerpoint/2010/main" val="39915223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2141538"/>
            <a:ext cx="5267325" cy="3521075"/>
          </a:xfrm>
        </p:spPr>
        <p:txBody>
          <a:bodyPr/>
          <a:lstStyle/>
          <a:p>
            <a:endParaRPr lang="en-US"/>
          </a:p>
        </p:txBody>
      </p:sp>
    </p:spTree>
    <p:extLst>
      <p:ext uri="{BB962C8B-B14F-4D97-AF65-F5344CB8AC3E}">
        <p14:creationId xmlns:p14="http://schemas.microsoft.com/office/powerpoint/2010/main" val="3770670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s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2" y="3486150"/>
            <a:ext cx="5200026" cy="398279"/>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518057"/>
            <a:ext cx="5200024" cy="1873930"/>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518056"/>
            <a:ext cx="5267325" cy="2296707"/>
          </a:xfrm>
        </p:spPr>
        <p:txBody>
          <a:bodyPr/>
          <a:lstStyle/>
          <a:p>
            <a:endParaRPr lang="en-US" dirty="0"/>
          </a:p>
        </p:txBody>
      </p:sp>
      <p:sp>
        <p:nvSpPr>
          <p:cNvPr id="8" name="Text Placeholder 3">
            <a:extLst>
              <a:ext uri="{FF2B5EF4-FFF2-40B4-BE49-F238E27FC236}">
                <a16:creationId xmlns:a16="http://schemas.microsoft.com/office/drawing/2014/main" id="{132852D7-7305-4783-BC51-A96CDD825281}"/>
              </a:ext>
            </a:extLst>
          </p:cNvPr>
          <p:cNvSpPr>
            <a:spLocks noGrp="1"/>
          </p:cNvSpPr>
          <p:nvPr>
            <p:ph type="body" sz="quarter" idx="24" hasCustomPrompt="1"/>
          </p:nvPr>
        </p:nvSpPr>
        <p:spPr>
          <a:xfrm>
            <a:off x="6072187" y="3942432"/>
            <a:ext cx="5250516"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Tree>
    <p:extLst>
      <p:ext uri="{BB962C8B-B14F-4D97-AF65-F5344CB8AC3E}">
        <p14:creationId xmlns:p14="http://schemas.microsoft.com/office/powerpoint/2010/main" val="15628848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93194" y="1650311"/>
            <a:ext cx="5150404" cy="2134879"/>
          </a:xfrm>
        </p:spPr>
        <p:txBody>
          <a:bodyPr wrap="square">
            <a:noAutofit/>
          </a:bodyPr>
          <a:lstStyle>
            <a:lvl1pPr marL="0" indent="0">
              <a:lnSpc>
                <a:spcPct val="100000"/>
              </a:lnSpc>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1658680"/>
            <a:ext cx="5200024" cy="4045730"/>
          </a:xfrm>
        </p:spPr>
        <p:txBody>
          <a:bodyPr>
            <a:noAutofit/>
          </a:bodyPr>
          <a:lstStyle>
            <a:lvl1pPr>
              <a:lnSpc>
                <a:spcPct val="100000"/>
              </a:lnSpc>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0"/>
            <a:ext cx="5200024" cy="1784019"/>
          </a:xfrm>
        </p:spPr>
        <p:txBody>
          <a:bodyPr/>
          <a:lstStyle/>
          <a:p>
            <a:endParaRPr lang="en-US" dirty="0"/>
          </a:p>
        </p:txBody>
      </p:sp>
    </p:spTree>
    <p:extLst>
      <p:ext uri="{BB962C8B-B14F-4D97-AF65-F5344CB8AC3E}">
        <p14:creationId xmlns:p14="http://schemas.microsoft.com/office/powerpoint/2010/main" val="27378974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
        <p:nvSpPr>
          <p:cNvPr id="8" name="Picture Placeholder 5">
            <a:extLst>
              <a:ext uri="{FF2B5EF4-FFF2-40B4-BE49-F238E27FC236}">
                <a16:creationId xmlns:a16="http://schemas.microsoft.com/office/drawing/2014/main" id="{61FEC39F-B328-4CE7-2F1D-35822585607B}"/>
              </a:ext>
            </a:extLst>
          </p:cNvPr>
          <p:cNvSpPr>
            <a:spLocks noGrp="1"/>
          </p:cNvSpPr>
          <p:nvPr>
            <p:ph type="pic" sz="quarter" idx="24"/>
          </p:nvPr>
        </p:nvSpPr>
        <p:spPr>
          <a:xfrm>
            <a:off x="6058884" y="3699589"/>
            <a:ext cx="5199062" cy="2048750"/>
          </a:xfrm>
        </p:spPr>
        <p:txBody>
          <a:bodyPr/>
          <a:lstStyle/>
          <a:p>
            <a:endParaRPr lang="en-US"/>
          </a:p>
        </p:txBody>
      </p:sp>
    </p:spTree>
    <p:extLst>
      <p:ext uri="{BB962C8B-B14F-4D97-AF65-F5344CB8AC3E}">
        <p14:creationId xmlns:p14="http://schemas.microsoft.com/office/powerpoint/2010/main" val="14907370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Tree>
    <p:extLst>
      <p:ext uri="{BB962C8B-B14F-4D97-AF65-F5344CB8AC3E}">
        <p14:creationId xmlns:p14="http://schemas.microsoft.com/office/powerpoint/2010/main" val="30130763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with Two Tabl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7" name="Table Placeholder 6">
            <a:extLst>
              <a:ext uri="{FF2B5EF4-FFF2-40B4-BE49-F238E27FC236}">
                <a16:creationId xmlns:a16="http://schemas.microsoft.com/office/drawing/2014/main" id="{56099177-DEE6-411F-9E87-D1D3CED5105A}"/>
              </a:ext>
            </a:extLst>
          </p:cNvPr>
          <p:cNvSpPr>
            <a:spLocks noGrp="1"/>
          </p:cNvSpPr>
          <p:nvPr>
            <p:ph type="tbl" sz="quarter" idx="23"/>
          </p:nvPr>
        </p:nvSpPr>
        <p:spPr>
          <a:xfrm>
            <a:off x="742950" y="3714347"/>
            <a:ext cx="5200650" cy="2033991"/>
          </a:xfrm>
        </p:spPr>
        <p:txBody>
          <a:bodyPr/>
          <a:lstStyle/>
          <a:p>
            <a:endParaRPr lang="en-US"/>
          </a:p>
        </p:txBody>
      </p:sp>
    </p:spTree>
    <p:extLst>
      <p:ext uri="{BB962C8B-B14F-4D97-AF65-F5344CB8AC3E}">
        <p14:creationId xmlns:p14="http://schemas.microsoft.com/office/powerpoint/2010/main" val="13328300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s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3770152"/>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 Fermentum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1596326"/>
            <a:ext cx="5200024" cy="3770153"/>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8278831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s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2008808"/>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1596326"/>
            <a:ext cx="5200024" cy="4144907"/>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3695700"/>
            <a:ext cx="5200650" cy="2046288"/>
          </a:xfrm>
        </p:spPr>
        <p:txBody>
          <a:bodyPr/>
          <a:lstStyle/>
          <a:p>
            <a:endParaRPr lang="en-US"/>
          </a:p>
        </p:txBody>
      </p:sp>
    </p:spTree>
    <p:extLst>
      <p:ext uri="{BB962C8B-B14F-4D97-AF65-F5344CB8AC3E}">
        <p14:creationId xmlns:p14="http://schemas.microsoft.com/office/powerpoint/2010/main" val="7387502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Content with SEction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2143462"/>
            <a:ext cx="5200024" cy="200880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2143461"/>
            <a:ext cx="5200024" cy="37101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4242835"/>
            <a:ext cx="5200650" cy="1610821"/>
          </a:xfrm>
        </p:spPr>
        <p:txBody>
          <a:bodyPr/>
          <a:lstStyle/>
          <a:p>
            <a:endParaRPr lang="en-US"/>
          </a:p>
        </p:txBody>
      </p:sp>
      <p:sp>
        <p:nvSpPr>
          <p:cNvPr id="7" name="Text Placeholder 5">
            <a:extLst>
              <a:ext uri="{FF2B5EF4-FFF2-40B4-BE49-F238E27FC236}">
                <a16:creationId xmlns:a16="http://schemas.microsoft.com/office/drawing/2014/main" id="{8444C66A-1B54-4533-8FE1-8117CA7502E1}"/>
              </a:ext>
            </a:extLst>
          </p:cNvPr>
          <p:cNvSpPr>
            <a:spLocks noGrp="1"/>
          </p:cNvSpPr>
          <p:nvPr>
            <p:ph type="body" sz="quarter" idx="21" hasCustomPrompt="1"/>
          </p:nvPr>
        </p:nvSpPr>
        <p:spPr>
          <a:xfrm>
            <a:off x="743574" y="159300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4149630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516101"/>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1" name="Footer">
            <a:extLst>
              <a:ext uri="{FF2B5EF4-FFF2-40B4-BE49-F238E27FC236}">
                <a16:creationId xmlns:a16="http://schemas.microsoft.com/office/drawing/2014/main" id="{3EABB9F7-0E63-4C11-89F0-5D4EE5D0E201}"/>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3771846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ln>
                  <a:solidFill>
                    <a:srgbClr val="000000"/>
                  </a:solidFill>
                </a:ln>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95AC73A5-F85D-40B2-8EEE-19F048BABEE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4748055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410347"/>
            <a:ext cx="10721999" cy="416904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5460141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1192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and Two_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33118" y="1620838"/>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2538376"/>
            <a:ext cx="10620681" cy="190926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733116" y="4578244"/>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90823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Sections Two Columns and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6124352" y="3600893"/>
            <a:ext cx="5257798" cy="2147777"/>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7"/>
            <a:ext cx="5362882"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6"/>
            <a:ext cx="5259470"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1">
            <a:extLst>
              <a:ext uri="{FF2B5EF4-FFF2-40B4-BE49-F238E27FC236}">
                <a16:creationId xmlns:a16="http://schemas.microsoft.com/office/drawing/2014/main" id="{2A755FF3-A642-6FDA-A1ED-D43743042AD8}"/>
              </a:ext>
            </a:extLst>
          </p:cNvPr>
          <p:cNvSpPr>
            <a:spLocks noGrp="1"/>
          </p:cNvSpPr>
          <p:nvPr>
            <p:ph type="body" sz="quarter" idx="15" hasCustomPrompt="1"/>
          </p:nvPr>
        </p:nvSpPr>
        <p:spPr>
          <a:xfrm>
            <a:off x="704766" y="2092271"/>
            <a:ext cx="5362883" cy="3656399"/>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a:t>
            </a:r>
            <a:r>
              <a:rPr lang="en-US" dirty="0" err="1"/>
              <a:t>lacus</a:t>
            </a:r>
            <a:r>
              <a:rPr lang="en-US" dirty="0"/>
              <a:t>.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sociis.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13" name="Text Placeholder 1">
            <a:extLst>
              <a:ext uri="{FF2B5EF4-FFF2-40B4-BE49-F238E27FC236}">
                <a16:creationId xmlns:a16="http://schemas.microsoft.com/office/drawing/2014/main" id="{8CAAF508-1A88-756B-0297-754CC6EED50B}"/>
              </a:ext>
            </a:extLst>
          </p:cNvPr>
          <p:cNvSpPr>
            <a:spLocks noGrp="1"/>
          </p:cNvSpPr>
          <p:nvPr>
            <p:ph type="body" sz="quarter" idx="23" hasCustomPrompt="1"/>
          </p:nvPr>
        </p:nvSpPr>
        <p:spPr>
          <a:xfrm>
            <a:off x="6124352" y="2092272"/>
            <a:ext cx="5257798" cy="1508622"/>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26134631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Sections Two Columns, Image and Tabl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04766" y="1972220"/>
            <a:ext cx="5362882"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501657"/>
            <a:ext cx="5257798" cy="214777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57798"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8"/>
            <a:ext cx="5362882"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7"/>
            <a:ext cx="5259470"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able Placeholder 3">
            <a:extLst>
              <a:ext uri="{FF2B5EF4-FFF2-40B4-BE49-F238E27FC236}">
                <a16:creationId xmlns:a16="http://schemas.microsoft.com/office/drawing/2014/main" id="{0E11B547-DCBC-47EE-ADDA-185E1B56A831}"/>
              </a:ext>
            </a:extLst>
          </p:cNvPr>
          <p:cNvSpPr>
            <a:spLocks noGrp="1"/>
          </p:cNvSpPr>
          <p:nvPr>
            <p:ph type="tbl" sz="quarter" idx="23"/>
          </p:nvPr>
        </p:nvSpPr>
        <p:spPr>
          <a:xfrm>
            <a:off x="704766" y="3501657"/>
            <a:ext cx="5362882" cy="2147777"/>
          </a:xfrm>
        </p:spPr>
        <p:txBody>
          <a:bodyPr/>
          <a:lstStyle/>
          <a:p>
            <a:endParaRPr lang="en-US"/>
          </a:p>
        </p:txBody>
      </p:sp>
    </p:spTree>
    <p:extLst>
      <p:ext uri="{BB962C8B-B14F-4D97-AF65-F5344CB8AC3E}">
        <p14:creationId xmlns:p14="http://schemas.microsoft.com/office/powerpoint/2010/main" val="15830846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Sections Two Columns and Two Imag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830893"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728545"/>
            <a:ext cx="5212080" cy="2215055"/>
          </a:xfrm>
        </p:spPr>
        <p:txBody>
          <a:bodyPr/>
          <a:lstStyle/>
          <a:p>
            <a:r>
              <a:rPr lang="en-US" dirty="0"/>
              <a:t>Click icon to add picture</a:t>
            </a:r>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838200" y="1536488"/>
            <a:ext cx="5204773"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4352" y="1536487"/>
            <a:ext cx="5229448"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Picture Placeholder 5">
            <a:extLst>
              <a:ext uri="{FF2B5EF4-FFF2-40B4-BE49-F238E27FC236}">
                <a16:creationId xmlns:a16="http://schemas.microsoft.com/office/drawing/2014/main" id="{8E149885-95F1-5549-F19E-AFD2164B0405}"/>
              </a:ext>
            </a:extLst>
          </p:cNvPr>
          <p:cNvSpPr>
            <a:spLocks noGrp="1"/>
          </p:cNvSpPr>
          <p:nvPr>
            <p:ph type="pic" sz="quarter" idx="23"/>
          </p:nvPr>
        </p:nvSpPr>
        <p:spPr>
          <a:xfrm>
            <a:off x="830893" y="3728545"/>
            <a:ext cx="5212080" cy="2215054"/>
          </a:xfrm>
        </p:spPr>
        <p:txBody>
          <a:bodyPr/>
          <a:lstStyle/>
          <a:p>
            <a:r>
              <a:rPr lang="en-US" dirty="0"/>
              <a:t>Click icon to add picture</a:t>
            </a:r>
          </a:p>
        </p:txBody>
      </p:sp>
    </p:spTree>
    <p:extLst>
      <p:ext uri="{BB962C8B-B14F-4D97-AF65-F5344CB8AC3E}">
        <p14:creationId xmlns:p14="http://schemas.microsoft.com/office/powerpoint/2010/main" val="36658497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Section with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987827"/>
            <a:ext cx="10721999" cy="389099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90217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Section with 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8" y="1987827"/>
            <a:ext cx="6477000" cy="389099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01339" y="1987827"/>
            <a:ext cx="4054039" cy="389099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8285780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mage with side-by-sid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733118" y="1987827"/>
            <a:ext cx="10725764" cy="1561285"/>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8" y="3735092"/>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Text Placeholder 9">
            <a:extLst>
              <a:ext uri="{FF2B5EF4-FFF2-40B4-BE49-F238E27FC236}">
                <a16:creationId xmlns:a16="http://schemas.microsoft.com/office/drawing/2014/main" id="{ABACDB79-AB3E-4609-A9BA-27CEE73B6C86}"/>
              </a:ext>
            </a:extLst>
          </p:cNvPr>
          <p:cNvSpPr>
            <a:spLocks noGrp="1"/>
          </p:cNvSpPr>
          <p:nvPr>
            <p:ph type="body" sz="quarter" idx="12" hasCustomPrompt="1"/>
          </p:nvPr>
        </p:nvSpPr>
        <p:spPr>
          <a:xfrm>
            <a:off x="6155410" y="3735091"/>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976421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Sections with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0653491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Sections, two Images and Two Bottom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2" name="Text Placeholder 9">
            <a:extLst>
              <a:ext uri="{FF2B5EF4-FFF2-40B4-BE49-F238E27FC236}">
                <a16:creationId xmlns:a16="http://schemas.microsoft.com/office/drawing/2014/main" id="{9009D503-6648-4D8F-BAC8-538B706D3C6A}"/>
              </a:ext>
            </a:extLst>
          </p:cNvPr>
          <p:cNvSpPr>
            <a:spLocks noGrp="1"/>
          </p:cNvSpPr>
          <p:nvPr>
            <p:ph type="body" sz="quarter" idx="18" hasCustomPrompt="1"/>
          </p:nvPr>
        </p:nvSpPr>
        <p:spPr>
          <a:xfrm>
            <a:off x="6096001"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Tree>
    <p:extLst>
      <p:ext uri="{BB962C8B-B14F-4D97-AF65-F5344CB8AC3E}">
        <p14:creationId xmlns:p14="http://schemas.microsoft.com/office/powerpoint/2010/main" val="13989305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with 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1061022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090728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67543"/>
            <a:ext cx="5253155" cy="3236932"/>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Picture Placeholder 3">
            <a:extLst>
              <a:ext uri="{FF2B5EF4-FFF2-40B4-BE49-F238E27FC236}">
                <a16:creationId xmlns:a16="http://schemas.microsoft.com/office/drawing/2014/main" id="{5346247A-C507-4283-8B77-F8CF179C69D5}"/>
              </a:ext>
            </a:extLst>
          </p:cNvPr>
          <p:cNvSpPr>
            <a:spLocks noGrp="1"/>
          </p:cNvSpPr>
          <p:nvPr>
            <p:ph type="pic" sz="quarter" idx="12"/>
          </p:nvPr>
        </p:nvSpPr>
        <p:spPr>
          <a:xfrm>
            <a:off x="6237288" y="1566863"/>
            <a:ext cx="5257800" cy="3236912"/>
          </a:xfrm>
        </p:spPr>
        <p:txBody>
          <a:bodyPr/>
          <a:lstStyle/>
          <a:p>
            <a:endParaRPr lang="en-US"/>
          </a:p>
        </p:txBody>
      </p:sp>
    </p:spTree>
    <p:extLst>
      <p:ext uri="{BB962C8B-B14F-4D97-AF65-F5344CB8AC3E}">
        <p14:creationId xmlns:p14="http://schemas.microsoft.com/office/powerpoint/2010/main" val="1749308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36437"/>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550570"/>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536437"/>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550569"/>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116476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ree Images and Thre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1" name="Picture Placeholder 5">
            <a:extLst>
              <a:ext uri="{FF2B5EF4-FFF2-40B4-BE49-F238E27FC236}">
                <a16:creationId xmlns:a16="http://schemas.microsoft.com/office/drawing/2014/main" id="{003A6136-F1E0-41CE-A954-E76F34185774}"/>
              </a:ext>
            </a:extLst>
          </p:cNvPr>
          <p:cNvSpPr>
            <a:spLocks noGrp="1"/>
          </p:cNvSpPr>
          <p:nvPr>
            <p:ph type="pic" sz="quarter" idx="19"/>
          </p:nvPr>
        </p:nvSpPr>
        <p:spPr>
          <a:xfrm>
            <a:off x="733119" y="1465594"/>
            <a:ext cx="5253155" cy="946378"/>
          </a:xfrm>
        </p:spPr>
        <p:txBody>
          <a:bodyPr/>
          <a:lstStyle/>
          <a:p>
            <a:r>
              <a:rPr lang="en-US" dirty="0"/>
              <a:t>Click icon to </a:t>
            </a:r>
            <a:r>
              <a:rPr lang="en-US"/>
              <a:t>add picture</a:t>
            </a:r>
            <a:endParaRPr lang="en-US" dirty="0"/>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2476928"/>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3747538"/>
            <a:ext cx="5253155" cy="946378"/>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782915"/>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465594"/>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482056"/>
            <a:ext cx="5253153" cy="1495436"/>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326096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ree Contents and Three Tabl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1564481"/>
            <a:ext cx="5253153" cy="2421732"/>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baseline="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0" name="Text Placeholder 9"/>
          <p:cNvSpPr>
            <a:spLocks noGrp="1"/>
          </p:cNvSpPr>
          <p:nvPr>
            <p:ph type="body" sz="quarter" idx="11" hasCustomPrompt="1"/>
          </p:nvPr>
        </p:nvSpPr>
        <p:spPr>
          <a:xfrm>
            <a:off x="6100647" y="1564481"/>
            <a:ext cx="5253153" cy="85010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5885" y="3603376"/>
            <a:ext cx="5253153" cy="87575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5" name="Table Placeholder 14">
            <a:extLst>
              <a:ext uri="{FF2B5EF4-FFF2-40B4-BE49-F238E27FC236}">
                <a16:creationId xmlns:a16="http://schemas.microsoft.com/office/drawing/2014/main" id="{0FBB3941-1ADF-44A3-B3B6-B2B7D20C6039}"/>
              </a:ext>
            </a:extLst>
          </p:cNvPr>
          <p:cNvSpPr>
            <a:spLocks noGrp="1"/>
          </p:cNvSpPr>
          <p:nvPr>
            <p:ph type="tbl" sz="quarter" idx="21"/>
          </p:nvPr>
        </p:nvSpPr>
        <p:spPr>
          <a:xfrm>
            <a:off x="733425" y="4043362"/>
            <a:ext cx="5253038" cy="1529557"/>
          </a:xfrm>
        </p:spPr>
        <p:txBody>
          <a:bodyPr/>
          <a:lstStyle/>
          <a:p>
            <a:endParaRPr lang="en-US"/>
          </a:p>
        </p:txBody>
      </p:sp>
      <p:sp>
        <p:nvSpPr>
          <p:cNvPr id="16" name="Table Placeholder 14">
            <a:extLst>
              <a:ext uri="{FF2B5EF4-FFF2-40B4-BE49-F238E27FC236}">
                <a16:creationId xmlns:a16="http://schemas.microsoft.com/office/drawing/2014/main" id="{033851EA-E182-44EE-A6BD-2B5B5D8B927B}"/>
              </a:ext>
            </a:extLst>
          </p:cNvPr>
          <p:cNvSpPr>
            <a:spLocks noGrp="1"/>
          </p:cNvSpPr>
          <p:nvPr>
            <p:ph type="tbl" sz="quarter" idx="22"/>
          </p:nvPr>
        </p:nvSpPr>
        <p:spPr>
          <a:xfrm>
            <a:off x="6096000" y="2493172"/>
            <a:ext cx="5253038" cy="1021553"/>
          </a:xfrm>
        </p:spPr>
        <p:txBody>
          <a:bodyPr/>
          <a:lstStyle/>
          <a:p>
            <a:endParaRPr lang="en-US"/>
          </a:p>
        </p:txBody>
      </p:sp>
      <p:sp>
        <p:nvSpPr>
          <p:cNvPr id="17" name="Table Placeholder 14">
            <a:extLst>
              <a:ext uri="{FF2B5EF4-FFF2-40B4-BE49-F238E27FC236}">
                <a16:creationId xmlns:a16="http://schemas.microsoft.com/office/drawing/2014/main" id="{9F8070B9-5F3E-4727-90E8-3E47529B9B5A}"/>
              </a:ext>
            </a:extLst>
          </p:cNvPr>
          <p:cNvSpPr>
            <a:spLocks noGrp="1"/>
          </p:cNvSpPr>
          <p:nvPr>
            <p:ph type="tbl" sz="quarter" idx="23"/>
          </p:nvPr>
        </p:nvSpPr>
        <p:spPr>
          <a:xfrm>
            <a:off x="6093618" y="4560097"/>
            <a:ext cx="5253038" cy="1021553"/>
          </a:xfrm>
        </p:spPr>
        <p:txBody>
          <a:bodyPr/>
          <a:lstStyle/>
          <a:p>
            <a:endParaRPr lang="en-US"/>
          </a:p>
        </p:txBody>
      </p:sp>
    </p:spTree>
    <p:extLst>
      <p:ext uri="{BB962C8B-B14F-4D97-AF65-F5344CB8AC3E}">
        <p14:creationId xmlns:p14="http://schemas.microsoft.com/office/powerpoint/2010/main" val="281447604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10721999" cy="1514131"/>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733117" y="3856204"/>
            <a:ext cx="10721999" cy="151413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7279542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0943475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Header and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107115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970096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ree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7"/>
            <a:ext cx="5146239" cy="1671834"/>
          </a:xfrm>
        </p:spPr>
        <p:txBody>
          <a:bodyPr/>
          <a:lstStyle/>
          <a:p>
            <a:r>
              <a:rPr lang="en-US" dirty="0"/>
              <a:t>Click icon to </a:t>
            </a:r>
            <a:r>
              <a:rPr lang="en-US"/>
              <a:t>add picture</a:t>
            </a:r>
            <a:endParaRPr lang="en-US" dirty="0"/>
          </a:p>
        </p:txBody>
      </p:sp>
      <p:sp>
        <p:nvSpPr>
          <p:cNvPr id="8" name="Text Placeholder 5">
            <a:extLst>
              <a:ext uri="{FF2B5EF4-FFF2-40B4-BE49-F238E27FC236}">
                <a16:creationId xmlns:a16="http://schemas.microsoft.com/office/drawing/2014/main" id="{260FE8C2-07E1-4D09-A0DC-DF642DCDCD10}"/>
              </a:ext>
            </a:extLst>
          </p:cNvPr>
          <p:cNvSpPr>
            <a:spLocks noGrp="1"/>
          </p:cNvSpPr>
          <p:nvPr>
            <p:ph type="body" sz="quarter" idx="19" hasCustomPrompt="1"/>
          </p:nvPr>
        </p:nvSpPr>
        <p:spPr>
          <a:xfrm>
            <a:off x="733118" y="3547432"/>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722660" y="4013909"/>
            <a:ext cx="5146239" cy="1671834"/>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928578"/>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356833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815242" y="1660454"/>
            <a:ext cx="5183174" cy="4025289"/>
          </a:xfrm>
        </p:spPr>
        <p:txBody>
          <a:bodyPr/>
          <a:lstStyle/>
          <a:p>
            <a:r>
              <a:rPr lang="en-US" dirty="0"/>
              <a:t>Click icon to </a:t>
            </a:r>
            <a:r>
              <a:rPr lang="en-US"/>
              <a:t>add picture</a:t>
            </a:r>
            <a:endParaRPr lang="en-US" dirty="0"/>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6096001" y="1660454"/>
            <a:ext cx="5254282" cy="1973899"/>
          </a:xfrm>
        </p:spPr>
        <p:txBody>
          <a:bodyPr/>
          <a:lstStyle/>
          <a:p>
            <a:r>
              <a:rPr lang="en-US" dirty="0"/>
              <a:t>Click icon to </a:t>
            </a:r>
            <a:r>
              <a:rPr lang="en-US"/>
              <a:t>add picture</a:t>
            </a:r>
            <a:endParaRPr lang="en-US" dirty="0"/>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6096002" y="3711844"/>
            <a:ext cx="5243824" cy="1973899"/>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720498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Sections and Images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260766"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265901" cy="1514131"/>
          </a:xfrm>
        </p:spPr>
        <p:txBody>
          <a:bodyPr/>
          <a:lstStyle/>
          <a:p>
            <a:r>
              <a:rPr lang="en-US" dirty="0"/>
              <a:t>Click icon to </a:t>
            </a:r>
            <a:r>
              <a:rPr lang="en-US"/>
              <a:t>add picture</a:t>
            </a:r>
            <a:endParaRPr lang="en-US" dirty="0"/>
          </a:p>
        </p:txBody>
      </p:sp>
      <p:sp>
        <p:nvSpPr>
          <p:cNvPr id="11" name="Text Placeholder 9">
            <a:extLst>
              <a:ext uri="{FF2B5EF4-FFF2-40B4-BE49-F238E27FC236}">
                <a16:creationId xmlns:a16="http://schemas.microsoft.com/office/drawing/2014/main" id="{C7D9FB6E-264C-49D3-BF90-8D03C190DF69}"/>
              </a:ext>
            </a:extLst>
          </p:cNvPr>
          <p:cNvSpPr>
            <a:spLocks noGrp="1"/>
          </p:cNvSpPr>
          <p:nvPr>
            <p:ph type="body" sz="quarter" idx="11" hasCustomPrompt="1"/>
          </p:nvPr>
        </p:nvSpPr>
        <p:spPr>
          <a:xfrm>
            <a:off x="733117" y="3429000"/>
            <a:ext cx="5271224" cy="198060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9" name="Text Placeholder 5"/>
          <p:cNvSpPr>
            <a:spLocks noGrp="1"/>
          </p:cNvSpPr>
          <p:nvPr>
            <p:ph type="body" sz="quarter" idx="17" hasCustomPrompt="1"/>
          </p:nvPr>
        </p:nvSpPr>
        <p:spPr>
          <a:xfrm>
            <a:off x="6198116" y="1290690"/>
            <a:ext cx="526076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6187661" y="1757167"/>
            <a:ext cx="5265902" cy="365244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058069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CE4CA0EE-D5E1-440F-BC2D-69119081D20A}"/>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058116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342647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574183"/>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151730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7" name="Footer">
            <a:extLst>
              <a:ext uri="{FF2B5EF4-FFF2-40B4-BE49-F238E27FC236}">
                <a16:creationId xmlns:a16="http://schemas.microsoft.com/office/drawing/2014/main" id="{E80F7FA6-7141-4BC3-A2CF-56ED6EFB014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640349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Sections with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928459"/>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1290146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Sections with Two tables and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Text Placeholder 9"/>
          <p:cNvSpPr>
            <a:spLocks noGrp="1"/>
          </p:cNvSpPr>
          <p:nvPr>
            <p:ph type="body" sz="quarter" idx="11" hasCustomPrompt="1"/>
          </p:nvPr>
        </p:nvSpPr>
        <p:spPr>
          <a:xfrm>
            <a:off x="733119" y="3650514"/>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3650513"/>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F1EBD22-5216-4DDB-B1B4-D58F01937246}"/>
              </a:ext>
            </a:extLst>
          </p:cNvPr>
          <p:cNvSpPr>
            <a:spLocks noGrp="1"/>
          </p:cNvSpPr>
          <p:nvPr>
            <p:ph type="tbl" sz="quarter" idx="19"/>
          </p:nvPr>
        </p:nvSpPr>
        <p:spPr>
          <a:xfrm>
            <a:off x="733425" y="1849438"/>
            <a:ext cx="5253038" cy="1722437"/>
          </a:xfrm>
        </p:spPr>
        <p:txBody>
          <a:bodyPr/>
          <a:lstStyle/>
          <a:p>
            <a:endParaRPr lang="en-US"/>
          </a:p>
        </p:txBody>
      </p:sp>
      <p:sp>
        <p:nvSpPr>
          <p:cNvPr id="13" name="Table Placeholder 3">
            <a:extLst>
              <a:ext uri="{FF2B5EF4-FFF2-40B4-BE49-F238E27FC236}">
                <a16:creationId xmlns:a16="http://schemas.microsoft.com/office/drawing/2014/main" id="{EC5574CB-EFD0-4E9E-8446-1B7A54F8B5A1}"/>
              </a:ext>
            </a:extLst>
          </p:cNvPr>
          <p:cNvSpPr>
            <a:spLocks noGrp="1"/>
          </p:cNvSpPr>
          <p:nvPr>
            <p:ph type="tbl" sz="quarter" idx="20"/>
          </p:nvPr>
        </p:nvSpPr>
        <p:spPr>
          <a:xfrm>
            <a:off x="6095777" y="1849438"/>
            <a:ext cx="5253038" cy="1722437"/>
          </a:xfrm>
        </p:spPr>
        <p:txBody>
          <a:bodyPr/>
          <a:lstStyle/>
          <a:p>
            <a:endParaRPr lang="en-US"/>
          </a:p>
        </p:txBody>
      </p:sp>
    </p:spTree>
    <p:extLst>
      <p:ext uri="{BB962C8B-B14F-4D97-AF65-F5344CB8AC3E}">
        <p14:creationId xmlns:p14="http://schemas.microsoft.com/office/powerpoint/2010/main" val="6268788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Content Placeholder 4"/>
          <p:cNvSpPr>
            <a:spLocks noGrp="1"/>
          </p:cNvSpPr>
          <p:nvPr>
            <p:ph sz="quarter" idx="13"/>
          </p:nvPr>
        </p:nvSpPr>
        <p:spPr>
          <a:xfrm>
            <a:off x="838688" y="1476104"/>
            <a:ext cx="10514624" cy="44413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
        <p:nvSpPr>
          <p:cNvPr id="7" name="Rectangle 6">
            <a:extLst>
              <a:ext uri="{FF2B5EF4-FFF2-40B4-BE49-F238E27FC236}">
                <a16:creationId xmlns:a16="http://schemas.microsoft.com/office/drawing/2014/main" id="{832DC7FF-32F2-4F88-BCAA-5E9F3DC9E7F8}"/>
              </a:ext>
            </a:extLst>
          </p:cNvPr>
          <p:cNvSpPr>
            <a:spLocks noChangeArrowheads="1"/>
          </p:cNvSpPr>
          <p:nvPr userDrawn="1"/>
        </p:nvSpPr>
        <p:spPr bwMode="auto">
          <a:xfrm>
            <a:off x="838201" y="6448510"/>
            <a:ext cx="9442837"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0965195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descr="Cengage Logo"/>
          <p:cNvPicPr>
            <a:picLocks noChangeAspect="1"/>
          </p:cNvPicPr>
          <p:nvPr userDrawn="1"/>
        </p:nvPicPr>
        <p:blipFill>
          <a:blip r:embed="rId60">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736056" y="6176963"/>
            <a:ext cx="8999882" cy="672104"/>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tx2"/>
                </a:solidFill>
                <a:latin typeface="arial" charset="0"/>
              </a:defRPr>
            </a:lvl1pPr>
          </a:lstStyle>
          <a:p>
            <a:r>
              <a:rPr lang="en-US" dirty="0" err="1">
                <a:latin typeface="Arial" panose="020B0604020202020204" pitchFamily="34" charset="0"/>
                <a:cs typeface="Arial" panose="020B0604020202020204" pitchFamily="34" charset="0"/>
              </a:rPr>
              <a:t>Camm</a:t>
            </a:r>
            <a:r>
              <a:rPr lang="en-US" dirty="0">
                <a:latin typeface="Arial" panose="020B0604020202020204" pitchFamily="34" charset="0"/>
                <a:cs typeface="Arial" panose="020B0604020202020204" pitchFamily="34" charset="0"/>
              </a:rPr>
              <a:t>, Cochran, Fry, Ohlmann, Anderson, Sweeney, Williams, An Introduction to Management Science - Quantitative Approaches to Decision Making, 16th Edition. © 2025 Cengage Group.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22" r:id="rId1"/>
    <p:sldLayoutId id="2147483714" r:id="rId2"/>
    <p:sldLayoutId id="2147483752" r:id="rId3"/>
    <p:sldLayoutId id="2147483766" r:id="rId4"/>
    <p:sldLayoutId id="2147483769" r:id="rId5"/>
    <p:sldLayoutId id="2147483768" r:id="rId6"/>
    <p:sldLayoutId id="2147483767" r:id="rId7"/>
    <p:sldLayoutId id="2147483718" r:id="rId8"/>
    <p:sldLayoutId id="2147483738" r:id="rId9"/>
    <p:sldLayoutId id="2147483715" r:id="rId10"/>
    <p:sldLayoutId id="2147483760" r:id="rId11"/>
    <p:sldLayoutId id="2147483761" r:id="rId12"/>
    <p:sldLayoutId id="2147483747" r:id="rId13"/>
    <p:sldLayoutId id="2147483744" r:id="rId14"/>
    <p:sldLayoutId id="2147483771" r:id="rId15"/>
    <p:sldLayoutId id="2147483737" r:id="rId16"/>
    <p:sldLayoutId id="2147483753" r:id="rId17"/>
    <p:sldLayoutId id="2147483762" r:id="rId18"/>
    <p:sldLayoutId id="2147483758" r:id="rId19"/>
    <p:sldLayoutId id="2147483759" r:id="rId20"/>
    <p:sldLayoutId id="2147483755" r:id="rId21"/>
    <p:sldLayoutId id="2147483772" r:id="rId22"/>
    <p:sldLayoutId id="2147483754" r:id="rId23"/>
    <p:sldLayoutId id="2147483765" r:id="rId24"/>
    <p:sldLayoutId id="2147483736" r:id="rId25"/>
    <p:sldLayoutId id="2147483748" r:id="rId26"/>
    <p:sldLayoutId id="2147483749" r:id="rId27"/>
    <p:sldLayoutId id="2147483716" r:id="rId28"/>
    <p:sldLayoutId id="2147483719" r:id="rId29"/>
    <p:sldLayoutId id="2147483726" r:id="rId30"/>
    <p:sldLayoutId id="2147483720" r:id="rId31"/>
    <p:sldLayoutId id="2147483743" r:id="rId32"/>
    <p:sldLayoutId id="2147483746" r:id="rId33"/>
    <p:sldLayoutId id="2147483764" r:id="rId34"/>
    <p:sldLayoutId id="2147483773" r:id="rId35"/>
    <p:sldLayoutId id="2147483735" r:id="rId36"/>
    <p:sldLayoutId id="2147483730" r:id="rId37"/>
    <p:sldLayoutId id="2147483733" r:id="rId38"/>
    <p:sldLayoutId id="2147483732" r:id="rId39"/>
    <p:sldLayoutId id="2147483757" r:id="rId40"/>
    <p:sldLayoutId id="2147483740" r:id="rId41"/>
    <p:sldLayoutId id="2147483742" r:id="rId42"/>
    <p:sldLayoutId id="2147483745" r:id="rId43"/>
    <p:sldLayoutId id="2147483750" r:id="rId44"/>
    <p:sldLayoutId id="2147483763" r:id="rId45"/>
    <p:sldLayoutId id="2147483725" r:id="rId46"/>
    <p:sldLayoutId id="2147483728" r:id="rId47"/>
    <p:sldLayoutId id="2147483731" r:id="rId48"/>
    <p:sldLayoutId id="2147483729" r:id="rId49"/>
    <p:sldLayoutId id="2147483734" r:id="rId50"/>
    <p:sldLayoutId id="2147483727" r:id="rId51"/>
    <p:sldLayoutId id="2147483723" r:id="rId52"/>
    <p:sldLayoutId id="2147483724" r:id="rId53"/>
    <p:sldLayoutId id="2147483713" r:id="rId54"/>
    <p:sldLayoutId id="2147483717" r:id="rId55"/>
    <p:sldLayoutId id="2147483751" r:id="rId56"/>
    <p:sldLayoutId id="2147483756" r:id="rId57"/>
    <p:sldLayoutId id="2147483770" r:id="rId58"/>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00.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1.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28.xml"/><Relationship Id="rId1" Type="http://schemas.openxmlformats.org/officeDocument/2006/relationships/slideLayout" Target="../slideLayouts/slideLayout5.xml"/><Relationship Id="rId5" Type="http://schemas.openxmlformats.org/officeDocument/2006/relationships/image" Target="../media/image31.png"/><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5.xml"/><Relationship Id="rId5" Type="http://schemas.openxmlformats.org/officeDocument/2006/relationships/image" Target="../media/image34.png"/><Relationship Id="rId4" Type="http://schemas.openxmlformats.org/officeDocument/2006/relationships/image" Target="../media/image36.png"/></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 Id="rId6" Type="http://schemas.openxmlformats.org/officeDocument/2006/relationships/image" Target="../media/image40.png"/><Relationship Id="rId5" Type="http://schemas.openxmlformats.org/officeDocument/2006/relationships/image" Target="../media/image37.png"/><Relationship Id="rId4" Type="http://schemas.openxmlformats.org/officeDocument/2006/relationships/image" Target="../media/image39.png"/></Relationships>
</file>

<file path=ppt/slides/_rels/slide36.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image" Target="../media/image320.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4.xml"/><Relationship Id="rId5" Type="http://schemas.openxmlformats.org/officeDocument/2006/relationships/image" Target="../media/image41.png"/><Relationship Id="rId4" Type="http://schemas.openxmlformats.org/officeDocument/2006/relationships/image" Target="../media/image46.png"/></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9.png"/><Relationship Id="rId1" Type="http://schemas.openxmlformats.org/officeDocument/2006/relationships/slideLayout" Target="../slideLayouts/slideLayout3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ue and white cover with a picture of a plane flying over water&#10;&#10;AI-generated content may be incorrect.">
            <a:extLst>
              <a:ext uri="{FF2B5EF4-FFF2-40B4-BE49-F238E27FC236}">
                <a16:creationId xmlns:a16="http://schemas.microsoft.com/office/drawing/2014/main" id="{08B1E4E0-CC83-067B-CCF6-1140C23D0AAA}"/>
              </a:ext>
            </a:extLst>
          </p:cNvPr>
          <p:cNvPicPr>
            <a:picLocks noChangeAspect="1"/>
          </p:cNvPicPr>
          <p:nvPr/>
        </p:nvPicPr>
        <p:blipFill>
          <a:blip r:embed="rId2"/>
          <a:srcRect/>
          <a:stretch>
            <a:fillRect/>
          </a:stretch>
        </p:blipFill>
        <p:spPr>
          <a:xfrm>
            <a:off x="20" y="10"/>
            <a:ext cx="12191980" cy="6857990"/>
          </a:xfrm>
          <a:prstGeom prst="rect">
            <a:avLst/>
          </a:prstGeom>
          <a:noFill/>
        </p:spPr>
      </p:pic>
    </p:spTree>
    <p:extLst>
      <p:ext uri="{BB962C8B-B14F-4D97-AF65-F5344CB8AC3E}">
        <p14:creationId xmlns:p14="http://schemas.microsoft.com/office/powerpoint/2010/main" val="3741459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A01ED-EFA0-4AED-AD41-B1BC5043F1A7}"/>
              </a:ext>
            </a:extLst>
          </p:cNvPr>
          <p:cNvSpPr>
            <a:spLocks noGrp="1"/>
          </p:cNvSpPr>
          <p:nvPr>
            <p:ph type="title"/>
          </p:nvPr>
        </p:nvSpPr>
        <p:spPr/>
        <p:txBody>
          <a:bodyPr/>
          <a:lstStyle/>
          <a:p>
            <a:r>
              <a:rPr lang="en-US" dirty="0"/>
              <a:t>Chapter Contents</a:t>
            </a:r>
          </a:p>
        </p:txBody>
      </p:sp>
      <p:sp>
        <p:nvSpPr>
          <p:cNvPr id="4" name="Text Placeholder 3">
            <a:extLst>
              <a:ext uri="{FF2B5EF4-FFF2-40B4-BE49-F238E27FC236}">
                <a16:creationId xmlns:a16="http://schemas.microsoft.com/office/drawing/2014/main" id="{C9A0ABD4-C052-4227-B2EE-3395C907212B}"/>
              </a:ext>
            </a:extLst>
          </p:cNvPr>
          <p:cNvSpPr>
            <a:spLocks noGrp="1"/>
          </p:cNvSpPr>
          <p:nvPr>
            <p:ph type="body" sz="quarter" idx="15"/>
          </p:nvPr>
        </p:nvSpPr>
        <p:spPr>
          <a:xfrm>
            <a:off x="740228" y="1410587"/>
            <a:ext cx="10711543" cy="4146698"/>
          </a:xfrm>
        </p:spPr>
        <p:txBody>
          <a:bodyPr/>
          <a:lstStyle/>
          <a:p>
            <a:pPr marL="1371600" indent="-914400">
              <a:spcBef>
                <a:spcPts val="600"/>
              </a:spcBef>
              <a:spcAft>
                <a:spcPts val="0"/>
              </a:spcAft>
              <a:buNone/>
            </a:pPr>
            <a:r>
              <a:rPr lang="en-US" sz="2000" dirty="0"/>
              <a:t>15.1	Multiple Regression Model</a:t>
            </a:r>
          </a:p>
          <a:p>
            <a:pPr marL="1371600" indent="-914400">
              <a:spcBef>
                <a:spcPts val="600"/>
              </a:spcBef>
              <a:spcAft>
                <a:spcPts val="0"/>
              </a:spcAft>
              <a:buNone/>
            </a:pPr>
            <a:r>
              <a:rPr lang="en-US" sz="2000" dirty="0"/>
              <a:t>15.2	Least Squares Method</a:t>
            </a:r>
          </a:p>
          <a:p>
            <a:pPr marL="1371600" indent="-914400">
              <a:spcBef>
                <a:spcPts val="600"/>
              </a:spcBef>
              <a:spcAft>
                <a:spcPts val="0"/>
              </a:spcAft>
              <a:buNone/>
            </a:pPr>
            <a:r>
              <a:rPr lang="en-US" sz="2000" dirty="0"/>
              <a:t>15.3	Multiple Coefficient of Determination</a:t>
            </a:r>
          </a:p>
          <a:p>
            <a:pPr marL="1371600" indent="-914400">
              <a:spcBef>
                <a:spcPts val="600"/>
              </a:spcBef>
              <a:spcAft>
                <a:spcPts val="0"/>
              </a:spcAft>
              <a:buNone/>
            </a:pPr>
            <a:r>
              <a:rPr lang="en-US" sz="2000" dirty="0"/>
              <a:t>15.4	Model Assumptions</a:t>
            </a:r>
          </a:p>
          <a:p>
            <a:pPr marL="1371600" indent="-914400">
              <a:spcBef>
                <a:spcPts val="600"/>
              </a:spcBef>
              <a:spcAft>
                <a:spcPts val="0"/>
              </a:spcAft>
              <a:buNone/>
            </a:pPr>
            <a:r>
              <a:rPr lang="en-US" sz="2000" dirty="0"/>
              <a:t>15.5	Testing for Significance</a:t>
            </a:r>
          </a:p>
          <a:p>
            <a:pPr marL="1371600" indent="-914400">
              <a:spcBef>
                <a:spcPts val="600"/>
              </a:spcBef>
              <a:spcAft>
                <a:spcPts val="0"/>
              </a:spcAft>
              <a:buNone/>
            </a:pPr>
            <a:r>
              <a:rPr lang="en-US" sz="2000" dirty="0"/>
              <a:t>15.6	Using the Estimated Regression Equation for Estimation and Prediction</a:t>
            </a:r>
          </a:p>
          <a:p>
            <a:pPr marL="1371600" indent="-914400">
              <a:spcBef>
                <a:spcPts val="600"/>
              </a:spcBef>
              <a:spcAft>
                <a:spcPts val="0"/>
              </a:spcAft>
              <a:buNone/>
            </a:pPr>
            <a:r>
              <a:rPr lang="en-US" sz="2000" dirty="0"/>
              <a:t>15.7	Categorical Independent Variables</a:t>
            </a:r>
          </a:p>
          <a:p>
            <a:pPr marL="1371600" indent="-914400">
              <a:spcBef>
                <a:spcPts val="600"/>
              </a:spcBef>
              <a:spcAft>
                <a:spcPts val="0"/>
              </a:spcAft>
              <a:buNone/>
            </a:pPr>
            <a:r>
              <a:rPr lang="en-US" sz="2000" dirty="0"/>
              <a:t>15.8	Residual Analysis</a:t>
            </a:r>
          </a:p>
          <a:p>
            <a:pPr marL="1371600" indent="-914400">
              <a:spcBef>
                <a:spcPts val="600"/>
              </a:spcBef>
              <a:spcAft>
                <a:spcPts val="0"/>
              </a:spcAft>
              <a:buNone/>
            </a:pPr>
            <a:r>
              <a:rPr lang="en-US" sz="2000" dirty="0"/>
              <a:t>15.9	Practical Advice: Big Data and Hypothesis Testing in Multiple Regression</a:t>
            </a:r>
          </a:p>
          <a:p>
            <a:pPr marL="1371600" indent="-914400">
              <a:spcBef>
                <a:spcPts val="600"/>
              </a:spcBef>
              <a:spcAft>
                <a:spcPts val="0"/>
              </a:spcAft>
              <a:buNone/>
            </a:pPr>
            <a:r>
              <a:rPr lang="en-US" sz="2000" dirty="0"/>
              <a:t>	Summary</a:t>
            </a:r>
          </a:p>
        </p:txBody>
      </p:sp>
    </p:spTree>
    <p:extLst>
      <p:ext uri="{BB962C8B-B14F-4D97-AF65-F5344CB8AC3E}">
        <p14:creationId xmlns:p14="http://schemas.microsoft.com/office/powerpoint/2010/main" val="3323841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 (1 of 2)</a:t>
            </a:r>
          </a:p>
        </p:txBody>
      </p:sp>
      <p:sp>
        <p:nvSpPr>
          <p:cNvPr id="2" name="Text Placeholder 1"/>
          <p:cNvSpPr>
            <a:spLocks noGrp="1"/>
          </p:cNvSpPr>
          <p:nvPr>
            <p:ph type="body" sz="quarter" idx="15"/>
          </p:nvPr>
        </p:nvSpPr>
        <p:spPr>
          <a:xfrm>
            <a:off x="743577" y="1249912"/>
            <a:ext cx="10610224" cy="4507959"/>
          </a:xfrm>
        </p:spPr>
        <p:txBody>
          <a:bodyPr/>
          <a:lstStyle/>
          <a:p>
            <a:pPr>
              <a:spcBef>
                <a:spcPts val="600"/>
              </a:spcBef>
            </a:pPr>
            <a:r>
              <a:rPr lang="en-US" sz="2000" dirty="0">
                <a:latin typeface="Arial" panose="020B0604020202020204" pitchFamily="34" charset="0"/>
                <a:cs typeface="Arial" panose="020B0604020202020204" pitchFamily="34" charset="0"/>
              </a:rPr>
              <a:t>After completing this chapter, you will be able to:</a:t>
            </a:r>
          </a:p>
          <a:p>
            <a:pPr marL="1828800" indent="-1371600">
              <a:spcBef>
                <a:spcPts val="600"/>
              </a:spcBef>
            </a:pPr>
            <a:r>
              <a:rPr lang="en-US" sz="2000" dirty="0">
                <a:latin typeface="Arial" panose="020B0604020202020204" pitchFamily="34" charset="0"/>
                <a:cs typeface="Arial" panose="020B0604020202020204" pitchFamily="34" charset="0"/>
              </a:rPr>
              <a:t>LO 15-1	Develop a multiple linear regression equation that estimates how a dependent variable is related to multiple independent variables. </a:t>
            </a:r>
          </a:p>
          <a:p>
            <a:pPr marL="1828800" indent="-1371600">
              <a:spcBef>
                <a:spcPts val="600"/>
              </a:spcBef>
            </a:pPr>
            <a:r>
              <a:rPr lang="en-US" sz="2000" dirty="0">
                <a:latin typeface="Arial" panose="020B0604020202020204" pitchFamily="34" charset="0"/>
                <a:cs typeface="Arial" panose="020B0604020202020204" pitchFamily="34" charset="0"/>
              </a:rPr>
              <a:t>LO 15-2	Interpret the coefficients in a multiple linear regression analysis.</a:t>
            </a:r>
          </a:p>
          <a:p>
            <a:pPr marL="1828800" indent="-1371600">
              <a:spcBef>
                <a:spcPts val="600"/>
              </a:spcBef>
            </a:pPr>
            <a:r>
              <a:rPr lang="en-US" sz="2000" dirty="0">
                <a:latin typeface="Arial" panose="020B0604020202020204" pitchFamily="34" charset="0"/>
                <a:cs typeface="Arial" panose="020B0604020202020204" pitchFamily="34" charset="0"/>
              </a:rPr>
              <a:t>LO 15-3	Use a multiple linear regression model to predict the value of the dependent variable given values of the independent variables.</a:t>
            </a:r>
          </a:p>
          <a:p>
            <a:pPr marL="1828800" indent="-1371600">
              <a:spcBef>
                <a:spcPts val="600"/>
              </a:spcBef>
            </a:pPr>
            <a:r>
              <a:rPr lang="en-US" sz="2000" dirty="0">
                <a:latin typeface="Arial" panose="020B0604020202020204" pitchFamily="34" charset="0"/>
                <a:cs typeface="Arial" panose="020B0604020202020204" pitchFamily="34" charset="0"/>
              </a:rPr>
              <a:t>LO 15-4	Calculate and interpret the multiple coefficient of determination and adjusted multiple coefficient of determination as goodness-of-fit measures in a multiple regression analysis.</a:t>
            </a:r>
          </a:p>
          <a:p>
            <a:pPr marL="1828800" indent="-1371600">
              <a:spcBef>
                <a:spcPts val="600"/>
              </a:spcBef>
            </a:pPr>
            <a:r>
              <a:rPr lang="en-US" sz="2000" dirty="0">
                <a:latin typeface="Arial" panose="020B0604020202020204" pitchFamily="34" charset="0"/>
                <a:cs typeface="Arial" panose="020B0604020202020204" pitchFamily="34" charset="0"/>
              </a:rPr>
              <a:t>LO 15-5 	Use the </a:t>
            </a:r>
            <a:r>
              <a:rPr lang="en-US" sz="2000" i="1" dirty="0">
                <a:latin typeface="Arial" panose="020B0604020202020204" pitchFamily="34" charset="0"/>
                <a:cs typeface="Arial" panose="020B0604020202020204" pitchFamily="34" charset="0"/>
              </a:rPr>
              <a:t>t</a:t>
            </a:r>
            <a:r>
              <a:rPr lang="en-US" sz="2000" dirty="0">
                <a:latin typeface="Arial" panose="020B0604020202020204" pitchFamily="34" charset="0"/>
                <a:cs typeface="Arial" panose="020B0604020202020204" pitchFamily="34" charset="0"/>
              </a:rPr>
              <a:t> test to assess the significance of individual coefficients in a multiple linear regression analysis.</a:t>
            </a:r>
          </a:p>
          <a:p>
            <a:pPr marL="1828800" indent="-1371600">
              <a:spcBef>
                <a:spcPts val="600"/>
              </a:spcBef>
            </a:pPr>
            <a:r>
              <a:rPr lang="en-US" sz="2000" dirty="0">
                <a:latin typeface="Arial" panose="020B0604020202020204" pitchFamily="34" charset="0"/>
                <a:cs typeface="Arial" panose="020B0604020202020204" pitchFamily="34" charset="0"/>
              </a:rPr>
              <a:t>LO 15-6 	Use the </a:t>
            </a:r>
            <a:r>
              <a:rPr lang="en-US" sz="2000" i="1" dirty="0">
                <a:latin typeface="Arial" panose="020B0604020202020204" pitchFamily="34" charset="0"/>
                <a:cs typeface="Arial" panose="020B0604020202020204" pitchFamily="34" charset="0"/>
              </a:rPr>
              <a:t>F</a:t>
            </a:r>
            <a:r>
              <a:rPr lang="en-US" sz="2000" dirty="0">
                <a:latin typeface="Arial" panose="020B0604020202020204" pitchFamily="34" charset="0"/>
                <a:cs typeface="Arial" panose="020B0604020202020204" pitchFamily="34" charset="0"/>
              </a:rPr>
              <a:t> test to assess the overall significance of a multiple linear regression model.</a:t>
            </a:r>
          </a:p>
        </p:txBody>
      </p:sp>
    </p:spTree>
    <p:extLst>
      <p:ext uri="{BB962C8B-B14F-4D97-AF65-F5344CB8AC3E}">
        <p14:creationId xmlns:p14="http://schemas.microsoft.com/office/powerpoint/2010/main" val="169914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 (2 of 2)</a:t>
            </a:r>
          </a:p>
        </p:txBody>
      </p:sp>
      <p:sp>
        <p:nvSpPr>
          <p:cNvPr id="2" name="Text Placeholder 1"/>
          <p:cNvSpPr>
            <a:spLocks noGrp="1"/>
          </p:cNvSpPr>
          <p:nvPr>
            <p:ph type="body" sz="quarter" idx="15"/>
          </p:nvPr>
        </p:nvSpPr>
        <p:spPr>
          <a:xfrm>
            <a:off x="743577" y="1235624"/>
            <a:ext cx="10610224" cy="4493671"/>
          </a:xfrm>
        </p:spPr>
        <p:txBody>
          <a:bodyPr/>
          <a:lstStyle/>
          <a:p>
            <a:pPr>
              <a:spcBef>
                <a:spcPts val="600"/>
              </a:spcBef>
            </a:pPr>
            <a:endParaRPr lang="en-US" sz="2000" dirty="0">
              <a:latin typeface="Arial" panose="020B0604020202020204" pitchFamily="34" charset="0"/>
              <a:cs typeface="Arial" panose="020B0604020202020204" pitchFamily="34" charset="0"/>
            </a:endParaRPr>
          </a:p>
          <a:p>
            <a:pPr marL="1828800" indent="-1371600">
              <a:spcBef>
                <a:spcPts val="600"/>
              </a:spcBef>
            </a:pPr>
            <a:r>
              <a:rPr lang="en-US" sz="2000" dirty="0">
                <a:latin typeface="Arial" panose="020B0604020202020204" pitchFamily="34" charset="0"/>
                <a:cs typeface="Arial" panose="020B0604020202020204" pitchFamily="34" charset="0"/>
              </a:rPr>
              <a:t>LO 15-7 	Determine if multicollinearity is present in a multiple linear regression analysis using the correlation between independent variables. </a:t>
            </a:r>
          </a:p>
          <a:p>
            <a:pPr marL="1828800" indent="-1371600">
              <a:spcBef>
                <a:spcPts val="600"/>
              </a:spcBef>
            </a:pPr>
            <a:r>
              <a:rPr lang="en-US" sz="2000" dirty="0">
                <a:latin typeface="Arial" panose="020B0604020202020204" pitchFamily="34" charset="0"/>
                <a:cs typeface="Arial" panose="020B0604020202020204" pitchFamily="34" charset="0"/>
              </a:rPr>
              <a:t>LO 15-8 	Develop a confidence interval for the mean value of the dependent variable given values of the independent variables.</a:t>
            </a:r>
          </a:p>
          <a:p>
            <a:pPr marL="1828800" indent="-1371600">
              <a:spcBef>
                <a:spcPts val="600"/>
              </a:spcBef>
            </a:pPr>
            <a:r>
              <a:rPr lang="en-US" sz="2000" dirty="0">
                <a:latin typeface="Arial" panose="020B0604020202020204" pitchFamily="34" charset="0"/>
                <a:cs typeface="Arial" panose="020B0604020202020204" pitchFamily="34" charset="0"/>
              </a:rPr>
              <a:t>LO 15-9	Develop a prediction interval for a particular value of the dependent variable given values of the independent variables.</a:t>
            </a:r>
          </a:p>
          <a:p>
            <a:pPr marL="1828800" indent="-1371600">
              <a:spcBef>
                <a:spcPts val="600"/>
              </a:spcBef>
            </a:pPr>
            <a:r>
              <a:rPr lang="en-US" sz="2000" dirty="0">
                <a:latin typeface="Arial" panose="020B0604020202020204" pitchFamily="34" charset="0"/>
                <a:cs typeface="Arial" panose="020B0604020202020204" pitchFamily="34" charset="0"/>
              </a:rPr>
              <a:t>LO 15-10	Develop a multiple linear regression equation that estimates how a dependent variable is related to categorical independent variables.</a:t>
            </a:r>
          </a:p>
          <a:p>
            <a:pPr marL="1828800" indent="-1371600">
              <a:spcBef>
                <a:spcPts val="600"/>
              </a:spcBef>
            </a:pPr>
            <a:r>
              <a:rPr lang="en-US" sz="2000" dirty="0">
                <a:latin typeface="Arial" panose="020B0604020202020204" pitchFamily="34" charset="0"/>
                <a:cs typeface="Arial" panose="020B0604020202020204" pitchFamily="34" charset="0"/>
              </a:rPr>
              <a:t>LO 15-11 	Validate the assumptions of a multiple linear regression model using residual analysis.</a:t>
            </a:r>
          </a:p>
          <a:p>
            <a:pPr marL="1828800" indent="-1371600">
              <a:spcBef>
                <a:spcPts val="600"/>
              </a:spcBef>
            </a:pPr>
            <a:r>
              <a:rPr lang="en-US" sz="2000" dirty="0">
                <a:latin typeface="Arial" panose="020B0604020202020204" pitchFamily="34" charset="0"/>
                <a:cs typeface="Arial" panose="020B0604020202020204" pitchFamily="34" charset="0"/>
              </a:rPr>
              <a:t>LO 15-12 	Identify outliers and influential observations for multiple linear regression analysis.</a:t>
            </a:r>
          </a:p>
        </p:txBody>
      </p:sp>
    </p:spTree>
    <p:extLst>
      <p:ext uri="{BB962C8B-B14F-4D97-AF65-F5344CB8AC3E}">
        <p14:creationId xmlns:p14="http://schemas.microsoft.com/office/powerpoint/2010/main" val="2869572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Introduction</a:t>
            </a: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720702"/>
            <a:ext cx="10711543" cy="3416595"/>
          </a:xfrm>
        </p:spPr>
        <p:txBody>
          <a:bodyPr/>
          <a:lstStyle/>
          <a:p>
            <a:pPr>
              <a:lnSpc>
                <a:spcPct val="100000"/>
              </a:lnSpc>
            </a:pPr>
            <a:r>
              <a:rPr lang="en-US" sz="2000" dirty="0">
                <a:solidFill>
                  <a:srgbClr val="000000"/>
                </a:solidFill>
                <a:cs typeface="Arial" panose="020B0604020202020204" pitchFamily="34" charset="0"/>
              </a:rPr>
              <a:t>In the previous chapter, we presented simple linear regression and demonstrated its use in developing an estimated regression equation that describes the relationship between two variables:</a:t>
            </a:r>
          </a:p>
          <a:p>
            <a:pPr marL="630238" indent="-342900">
              <a:lnSpc>
                <a:spcPct val="100000"/>
              </a:lnSpc>
              <a:buFont typeface="Arial" panose="020B0604020202020204" pitchFamily="34" charset="0"/>
              <a:buChar char="•"/>
            </a:pPr>
            <a:r>
              <a:rPr lang="en-US" sz="2000" dirty="0">
                <a:solidFill>
                  <a:srgbClr val="000000"/>
                </a:solidFill>
                <a:cs typeface="Arial" panose="020B0604020202020204" pitchFamily="34" charset="0"/>
              </a:rPr>
              <a:t>the </a:t>
            </a:r>
            <a:r>
              <a:rPr lang="en-US" sz="2000" i="1" dirty="0">
                <a:solidFill>
                  <a:srgbClr val="000000"/>
                </a:solidFill>
                <a:cs typeface="Arial" panose="020B0604020202020204" pitchFamily="34" charset="0"/>
              </a:rPr>
              <a:t>dependent variable</a:t>
            </a:r>
            <a:r>
              <a:rPr lang="en-US" sz="2000" dirty="0">
                <a:solidFill>
                  <a:srgbClr val="000000"/>
                </a:solidFill>
                <a:cs typeface="Arial" panose="020B0604020202020204" pitchFamily="34" charset="0"/>
              </a:rPr>
              <a:t>: the variable being predicted or explained.</a:t>
            </a:r>
          </a:p>
          <a:p>
            <a:pPr marL="630238" indent="-342900">
              <a:lnSpc>
                <a:spcPct val="100000"/>
              </a:lnSpc>
              <a:buFont typeface="Arial" panose="020B0604020202020204" pitchFamily="34" charset="0"/>
              <a:buChar char="•"/>
            </a:pPr>
            <a:r>
              <a:rPr lang="en-US" sz="2000" dirty="0">
                <a:solidFill>
                  <a:srgbClr val="000000"/>
                </a:solidFill>
                <a:cs typeface="Arial" panose="020B0604020202020204" pitchFamily="34" charset="0"/>
              </a:rPr>
              <a:t>the independent variabl</a:t>
            </a:r>
            <a:r>
              <a:rPr lang="en-US" sz="2000" dirty="0">
                <a:cs typeface="Arial" panose="020B0604020202020204" pitchFamily="34" charset="0"/>
              </a:rPr>
              <a:t>e: the</a:t>
            </a:r>
            <a:r>
              <a:rPr lang="en-US" sz="2000" dirty="0">
                <a:solidFill>
                  <a:srgbClr val="000000"/>
                </a:solidFill>
                <a:cs typeface="Arial" panose="020B0604020202020204" pitchFamily="34" charset="0"/>
              </a:rPr>
              <a:t> variable used to predict or explain the dependent variable.</a:t>
            </a:r>
          </a:p>
          <a:p>
            <a:pPr>
              <a:lnSpc>
                <a:spcPct val="100000"/>
              </a:lnSpc>
            </a:pPr>
            <a:r>
              <a:rPr lang="en-US" sz="2000" dirty="0">
                <a:solidFill>
                  <a:srgbClr val="000000"/>
                </a:solidFill>
                <a:cs typeface="Arial" panose="020B0604020202020204" pitchFamily="34" charset="0"/>
              </a:rPr>
              <a:t>In this chapter, we continue our study of regression analysis by considering situations involving two or more independent variables.</a:t>
            </a:r>
          </a:p>
          <a:p>
            <a:pPr>
              <a:lnSpc>
                <a:spcPct val="100000"/>
              </a:lnSpc>
            </a:pPr>
            <a:r>
              <a:rPr lang="en-US" sz="2000" dirty="0">
                <a:solidFill>
                  <a:srgbClr val="000000"/>
                </a:solidFill>
                <a:cs typeface="Arial" panose="020B0604020202020204" pitchFamily="34" charset="0"/>
              </a:rPr>
              <a:t>This subject area, called </a:t>
            </a:r>
            <a:r>
              <a:rPr lang="en-US" sz="2000" b="1" dirty="0">
                <a:solidFill>
                  <a:srgbClr val="000000"/>
                </a:solidFill>
                <a:cs typeface="Arial" panose="020B0604020202020204" pitchFamily="34" charset="0"/>
              </a:rPr>
              <a:t>multiple regression analysis</a:t>
            </a:r>
            <a:r>
              <a:rPr lang="en-US" sz="2000" dirty="0">
                <a:solidFill>
                  <a:srgbClr val="000000"/>
                </a:solidFill>
                <a:cs typeface="Arial" panose="020B0604020202020204" pitchFamily="34" charset="0"/>
              </a:rPr>
              <a:t>, enables us to consider more factors and thus obtain better predictions than are possible with simple linear regression.</a:t>
            </a:r>
          </a:p>
        </p:txBody>
      </p:sp>
    </p:spTree>
    <p:extLst>
      <p:ext uri="{BB962C8B-B14F-4D97-AF65-F5344CB8AC3E}">
        <p14:creationId xmlns:p14="http://schemas.microsoft.com/office/powerpoint/2010/main" val="2575815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solidFill>
                  <a:srgbClr val="D14B1E"/>
                </a:solidFill>
              </a:rPr>
              <a:t>15.1 Multiple Regression Model</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720702"/>
                <a:ext cx="10711543" cy="3416595"/>
              </a:xfrm>
            </p:spPr>
            <p:txBody>
              <a:bodyPr/>
              <a:lstStyle/>
              <a:p>
                <a:pPr>
                  <a:lnSpc>
                    <a:spcPct val="100000"/>
                  </a:lnSpc>
                </a:pPr>
                <a:r>
                  <a:rPr lang="en-US" sz="2000" b="1" dirty="0">
                    <a:solidFill>
                      <a:srgbClr val="000000"/>
                    </a:solidFill>
                    <a:cs typeface="Arial" panose="020B0604020202020204" pitchFamily="34" charset="0"/>
                  </a:rPr>
                  <a:t>Multiple regression analysis </a:t>
                </a:r>
                <a:r>
                  <a:rPr lang="en-US" sz="2000" dirty="0">
                    <a:solidFill>
                      <a:srgbClr val="000000"/>
                    </a:solidFill>
                    <a:cs typeface="Arial" panose="020B0604020202020204" pitchFamily="34" charset="0"/>
                  </a:rPr>
                  <a:t>is the study of how a dependent variable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𝑦</m:t>
                    </m:r>
                  </m:oMath>
                </a14:m>
                <a:r>
                  <a:rPr lang="en-US" sz="2000" dirty="0">
                    <a:solidFill>
                      <a:srgbClr val="000000"/>
                    </a:solidFill>
                    <a:cs typeface="Arial" panose="020B0604020202020204" pitchFamily="34" charset="0"/>
                  </a:rPr>
                  <a:t> is related to two or more independent variables. </a:t>
                </a:r>
              </a:p>
              <a:p>
                <a:pPr>
                  <a:lnSpc>
                    <a:spcPct val="100000"/>
                  </a:lnSpc>
                </a:pPr>
                <a:r>
                  <a:rPr lang="en-US" sz="2000" dirty="0">
                    <a:solidFill>
                      <a:srgbClr val="000000"/>
                    </a:solidFill>
                    <a:cs typeface="Arial" panose="020B0604020202020204" pitchFamily="34" charset="0"/>
                  </a:rPr>
                  <a:t>In the general case, we will use </a:t>
                </a:r>
                <a14:m>
                  <m:oMath xmlns:m="http://schemas.openxmlformats.org/officeDocument/2006/math">
                    <m:r>
                      <a:rPr lang="en-US" sz="2000" i="1" dirty="0" smtClean="0">
                        <a:solidFill>
                          <a:srgbClr val="000000"/>
                        </a:solidFill>
                        <a:latin typeface="Cambria Math" panose="02040503050406030204" pitchFamily="18" charset="0"/>
                        <a:cs typeface="Arial" panose="020B0604020202020204" pitchFamily="34" charset="0"/>
                      </a:rPr>
                      <m:t>𝑝</m:t>
                    </m:r>
                  </m:oMath>
                </a14:m>
                <a:r>
                  <a:rPr lang="en-US" sz="2000" dirty="0">
                    <a:solidFill>
                      <a:srgbClr val="000000"/>
                    </a:solidFill>
                    <a:cs typeface="Arial" panose="020B0604020202020204" pitchFamily="34" charset="0"/>
                  </a:rPr>
                  <a:t> to denote the number of independent variables.</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720702"/>
                <a:ext cx="10711543" cy="3416595"/>
              </a:xfrm>
              <a:blipFill>
                <a:blip r:embed="rId3"/>
                <a:stretch>
                  <a:fillRect l="-1422" t="-2139"/>
                </a:stretch>
              </a:blipFill>
            </p:spPr>
            <p:txBody>
              <a:bodyPr/>
              <a:lstStyle/>
              <a:p>
                <a:r>
                  <a:rPr lang="en-US">
                    <a:noFill/>
                  </a:rPr>
                  <a:t> </a:t>
                </a:r>
              </a:p>
            </p:txBody>
          </p:sp>
        </mc:Fallback>
      </mc:AlternateContent>
    </p:spTree>
    <p:extLst>
      <p:ext uri="{BB962C8B-B14F-4D97-AF65-F5344CB8AC3E}">
        <p14:creationId xmlns:p14="http://schemas.microsoft.com/office/powerpoint/2010/main" val="29765501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15.1 Regression Model and Regression Equation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481960"/>
                <a:ext cx="10711543" cy="4264572"/>
              </a:xfrm>
            </p:spPr>
            <p:txBody>
              <a:bodyPr/>
              <a:lstStyle/>
              <a:p>
                <a:pPr>
                  <a:lnSpc>
                    <a:spcPct val="100000"/>
                  </a:lnSpc>
                  <a:spcBef>
                    <a:spcPts val="600"/>
                  </a:spcBef>
                  <a:spcAft>
                    <a:spcPts val="600"/>
                  </a:spcAft>
                </a:pPr>
                <a:r>
                  <a:rPr lang="en-US" sz="2000" dirty="0">
                    <a:solidFill>
                      <a:srgbClr val="000000"/>
                    </a:solidFill>
                    <a:cs typeface="Arial" panose="020B0604020202020204" pitchFamily="34" charset="0"/>
                  </a:rPr>
                  <a:t>The </a:t>
                </a:r>
                <a:r>
                  <a:rPr lang="en-US" sz="2000" b="1" dirty="0">
                    <a:solidFill>
                      <a:srgbClr val="000000"/>
                    </a:solidFill>
                    <a:cs typeface="Arial" panose="020B0604020202020204" pitchFamily="34" charset="0"/>
                  </a:rPr>
                  <a:t>multiple</a:t>
                </a:r>
                <a:r>
                  <a:rPr lang="en-US" sz="2000" dirty="0">
                    <a:solidFill>
                      <a:srgbClr val="000000"/>
                    </a:solidFill>
                    <a:cs typeface="Arial" panose="020B0604020202020204" pitchFamily="34" charset="0"/>
                  </a:rPr>
                  <a:t> </a:t>
                </a:r>
                <a:r>
                  <a:rPr lang="en-US" sz="2000" b="1" dirty="0">
                    <a:solidFill>
                      <a:srgbClr val="000000"/>
                    </a:solidFill>
                    <a:cs typeface="Arial" panose="020B0604020202020204" pitchFamily="34" charset="0"/>
                  </a:rPr>
                  <a:t>regression model </a:t>
                </a:r>
                <a:r>
                  <a:rPr lang="en-US" sz="2000" dirty="0">
                    <a:solidFill>
                      <a:srgbClr val="000000"/>
                    </a:solidFill>
                    <a:cs typeface="Arial" panose="020B0604020202020204" pitchFamily="34" charset="0"/>
                  </a:rPr>
                  <a:t>is the equation that describes how the dependent variable </a:t>
                </a:r>
                <a:r>
                  <a:rPr lang="en-US" sz="2000" dirty="0">
                    <a:latin typeface="Arial" panose="020B0604020202020204" pitchFamily="34" charset="0"/>
                    <a:cs typeface="Arial" panose="020B0604020202020204" pitchFamily="34" charset="0"/>
                  </a:rPr>
                  <a:t>𝑦</a:t>
                </a:r>
                <a:r>
                  <a:rPr lang="en-US" sz="2000" dirty="0">
                    <a:solidFill>
                      <a:srgbClr val="000000"/>
                    </a:solidFill>
                    <a:cs typeface="Arial" panose="020B0604020202020204" pitchFamily="34" charset="0"/>
                  </a:rPr>
                  <a:t> is related to the independent variables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𝑥</m:t>
                        </m:r>
                      </m:e>
                      <m:sub>
                        <m:r>
                          <a:rPr lang="en-US" sz="2000" b="0" i="1" smtClean="0">
                            <a:solidFill>
                              <a:srgbClr val="000000"/>
                            </a:solidFill>
                            <a:latin typeface="Cambria Math" panose="02040503050406030204" pitchFamily="18" charset="0"/>
                            <a:cs typeface="Arial" panose="020B0604020202020204" pitchFamily="34" charset="0"/>
                          </a:rPr>
                          <m:t>1</m:t>
                        </m:r>
                      </m:sub>
                    </m:sSub>
                    <m:r>
                      <a:rPr lang="en-US" sz="2000" b="0" i="1" smtClean="0">
                        <a:solidFill>
                          <a:srgbClr val="000000"/>
                        </a:solidFill>
                        <a:latin typeface="Cambria Math" panose="02040503050406030204" pitchFamily="18" charset="0"/>
                        <a:cs typeface="Arial" panose="020B0604020202020204" pitchFamily="34" charset="0"/>
                      </a:rPr>
                      <m:t>, </m:t>
                    </m:r>
                    <m:sSub>
                      <m:sSubPr>
                        <m:ctrlPr>
                          <a:rPr lang="en-US" sz="2000" b="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𝑥</m:t>
                        </m:r>
                      </m:e>
                      <m:sub>
                        <m:r>
                          <a:rPr lang="en-US" sz="2000" b="0" i="1" smtClean="0">
                            <a:solidFill>
                              <a:srgbClr val="000000"/>
                            </a:solidFill>
                            <a:latin typeface="Cambria Math" panose="02040503050406030204" pitchFamily="18" charset="0"/>
                            <a:cs typeface="Arial" panose="020B0604020202020204" pitchFamily="34" charset="0"/>
                          </a:rPr>
                          <m:t>2</m:t>
                        </m:r>
                      </m:sub>
                    </m:sSub>
                    <m:r>
                      <a:rPr lang="en-US" sz="2000" b="0" i="1" smtClean="0">
                        <a:solidFill>
                          <a:srgbClr val="000000"/>
                        </a:solidFill>
                        <a:latin typeface="Cambria Math" panose="02040503050406030204" pitchFamily="18" charset="0"/>
                        <a:cs typeface="Arial" panose="020B0604020202020204" pitchFamily="34" charset="0"/>
                      </a:rPr>
                      <m:t>, …, </m:t>
                    </m:r>
                    <m:sSub>
                      <m:sSubPr>
                        <m:ctrlPr>
                          <a:rPr lang="en-US" sz="2000" b="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𝑥</m:t>
                        </m:r>
                      </m:e>
                      <m:sub>
                        <m:r>
                          <a:rPr lang="en-US" sz="2000" b="0" i="1" smtClean="0">
                            <a:solidFill>
                              <a:srgbClr val="000000"/>
                            </a:solidFill>
                            <a:latin typeface="Cambria Math" panose="02040503050406030204" pitchFamily="18" charset="0"/>
                            <a:cs typeface="Arial" panose="020B0604020202020204" pitchFamily="34" charset="0"/>
                          </a:rPr>
                          <m:t>𝑝</m:t>
                        </m:r>
                      </m:sub>
                    </m:sSub>
                  </m:oMath>
                </a14:m>
                <a:r>
                  <a:rPr lang="en-US" sz="2000" dirty="0">
                    <a:solidFill>
                      <a:srgbClr val="000000"/>
                    </a:solidFill>
                    <a:cs typeface="Arial" panose="020B0604020202020204" pitchFamily="34" charset="0"/>
                  </a:rPr>
                  <a:t> and an error term.</a:t>
                </a:r>
              </a:p>
              <a:p>
                <a:pPr marL="914400">
                  <a:spcBef>
                    <a:spcPts val="600"/>
                  </a:spcBef>
                  <a:spcAft>
                    <a:spcPts val="600"/>
                  </a:spcAft>
                </a:pPr>
                <a14:m>
                  <m:oMath xmlns:m="http://schemas.openxmlformats.org/officeDocument/2006/math">
                    <m:r>
                      <a:rPr lang="en-US" sz="2000" b="1" i="1" smtClean="0">
                        <a:latin typeface="Cambria Math" panose="02040503050406030204" pitchFamily="18" charset="0"/>
                      </a:rPr>
                      <m:t>𝒚</m:t>
                    </m:r>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𝜷</m:t>
                        </m:r>
                      </m:e>
                      <m:sub>
                        <m:r>
                          <a:rPr lang="en-US" sz="2000" b="1" i="1" smtClean="0">
                            <a:latin typeface="Cambria Math" panose="02040503050406030204" pitchFamily="18" charset="0"/>
                          </a:rPr>
                          <m:t>𝟎</m:t>
                        </m:r>
                      </m:sub>
                    </m:sSub>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𝜷</m:t>
                        </m:r>
                      </m:e>
                      <m:sub>
                        <m:r>
                          <a:rPr lang="en-US" sz="2000" b="1" i="1" smtClean="0">
                            <a:latin typeface="Cambria Math" panose="02040503050406030204" pitchFamily="18" charset="0"/>
                          </a:rPr>
                          <m:t>𝟏</m:t>
                        </m:r>
                      </m:sub>
                    </m:sSub>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𝒙</m:t>
                        </m:r>
                      </m:e>
                      <m:sub>
                        <m:r>
                          <a:rPr lang="en-US" sz="2000" b="1" i="1">
                            <a:latin typeface="Cambria Math" panose="02040503050406030204" pitchFamily="18" charset="0"/>
                            <a:cs typeface="Arial" panose="020B0604020202020204" pitchFamily="34" charset="0"/>
                          </a:rPr>
                          <m:t>𝟏</m:t>
                        </m:r>
                      </m:sub>
                    </m:sSub>
                    <m:r>
                      <a:rPr lang="en-US" sz="2000" b="1" i="1" smtClean="0">
                        <a:latin typeface="Cambria Math" panose="02040503050406030204" pitchFamily="18" charset="0"/>
                      </a:rPr>
                      <m:t>+</m:t>
                    </m:r>
                    <m:sSub>
                      <m:sSubPr>
                        <m:ctrlPr>
                          <a:rPr lang="en-US" sz="2000" b="1" i="1">
                            <a:latin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𝜷</m:t>
                        </m:r>
                      </m:e>
                      <m:sub>
                        <m:r>
                          <a:rPr lang="en-US" sz="2000" b="1" i="1" smtClean="0">
                            <a:latin typeface="Cambria Math" panose="02040503050406030204" pitchFamily="18" charset="0"/>
                          </a:rPr>
                          <m:t>𝟐</m:t>
                        </m:r>
                      </m:sub>
                    </m:sSub>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𝒙</m:t>
                        </m:r>
                      </m:e>
                      <m:sub>
                        <m:r>
                          <a:rPr lang="en-US" sz="2000" b="1" i="1">
                            <a:latin typeface="Cambria Math" panose="02040503050406030204" pitchFamily="18" charset="0"/>
                            <a:cs typeface="Arial" panose="020B0604020202020204" pitchFamily="34" charset="0"/>
                          </a:rPr>
                          <m:t>𝟐</m:t>
                        </m:r>
                      </m:sub>
                    </m:sSub>
                    <m:r>
                      <a:rPr lang="en-US" sz="2000" b="1" i="1">
                        <a:latin typeface="Cambria Math" panose="02040503050406030204" pitchFamily="18" charset="0"/>
                      </a:rPr>
                      <m:t>+</m:t>
                    </m:r>
                    <m:r>
                      <m:rPr>
                        <m:nor/>
                      </m:rPr>
                      <a:rPr lang="en-US" sz="2000">
                        <a:latin typeface="Cambria Math" panose="02040503050406030204" pitchFamily="18" charset="0"/>
                        <a:cs typeface="Arial" panose="020B0604020202020204" pitchFamily="34" charset="0"/>
                      </a:rPr>
                      <m:t>…</m:t>
                    </m:r>
                    <m:r>
                      <a:rPr lang="en-US" sz="2000" b="1" i="1" smtClean="0">
                        <a:latin typeface="Cambria Math" panose="02040503050406030204" pitchFamily="18" charset="0"/>
                      </a:rPr>
                      <m:t>+</m:t>
                    </m:r>
                    <m:sSub>
                      <m:sSubPr>
                        <m:ctrlPr>
                          <a:rPr lang="en-US" sz="2000" b="1" i="1">
                            <a:latin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𝜷</m:t>
                        </m:r>
                      </m:e>
                      <m:sub>
                        <m:r>
                          <a:rPr lang="en-US" sz="2000" b="1" i="1" smtClean="0">
                            <a:latin typeface="Cambria Math" panose="02040503050406030204" pitchFamily="18" charset="0"/>
                          </a:rPr>
                          <m:t>𝒑</m:t>
                        </m:r>
                      </m:sub>
                    </m:sSub>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𝒙</m:t>
                        </m:r>
                      </m:e>
                      <m:sub>
                        <m:r>
                          <a:rPr lang="en-US" sz="2000" b="1" i="1">
                            <a:latin typeface="Cambria Math" panose="02040503050406030204" pitchFamily="18" charset="0"/>
                            <a:cs typeface="Arial" panose="020B0604020202020204" pitchFamily="34" charset="0"/>
                          </a:rPr>
                          <m:t>𝒑</m:t>
                        </m:r>
                      </m:sub>
                    </m:sSub>
                    <m:r>
                      <a:rPr lang="en-US" sz="2000" b="1" i="1">
                        <a:latin typeface="Cambria Math" panose="02040503050406030204" pitchFamily="18" charset="0"/>
                      </a:rPr>
                      <m:t>+</m:t>
                    </m:r>
                    <m:r>
                      <a:rPr lang="en-US" sz="2000" b="1" i="1">
                        <a:latin typeface="Cambria Math" panose="02040503050406030204" pitchFamily="18" charset="0"/>
                        <a:ea typeface="Cambria Math" panose="02040503050406030204" pitchFamily="18" charset="0"/>
                        <a:cs typeface="Arial" panose="020B0604020202020204" pitchFamily="34" charset="0"/>
                      </a:rPr>
                      <m:t>𝝐</m:t>
                    </m:r>
                  </m:oMath>
                </a14:m>
                <a:r>
                  <a:rPr lang="en-US" sz="2000" b="1" dirty="0"/>
                  <a:t> </a:t>
                </a:r>
              </a:p>
              <a:p>
                <a:pPr>
                  <a:spcBef>
                    <a:spcPts val="600"/>
                  </a:spcBef>
                  <a:spcAft>
                    <a:spcPts val="0"/>
                  </a:spcAft>
                </a:pPr>
                <a:r>
                  <a:rPr lang="en-US" sz="2000" dirty="0"/>
                  <a:t>Where</a:t>
                </a:r>
                <a:r>
                  <a:rPr lang="en-US" sz="2000" dirty="0">
                    <a:solidFill>
                      <a:srgbClr val="FF0000"/>
                    </a:solidFill>
                  </a:rPr>
                  <a:t>:</a:t>
                </a:r>
              </a:p>
              <a:p>
                <a:pPr marL="914400">
                  <a:spcBef>
                    <a:spcPts val="600"/>
                  </a:spcBef>
                  <a:spcAft>
                    <a:spcPts val="0"/>
                  </a:spcAft>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0</m:t>
                        </m:r>
                      </m:sub>
                    </m:sSub>
                    <m:r>
                      <a:rPr lang="en-US" sz="2000" b="0" i="0"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𝑝</m:t>
                        </m:r>
                      </m:sub>
                    </m:sSub>
                  </m:oMath>
                </a14:m>
                <a:r>
                  <a:rPr lang="en-US" sz="2000" dirty="0"/>
                  <a:t> are the parameters of the model.</a:t>
                </a:r>
              </a:p>
              <a:p>
                <a:pPr marL="914400">
                  <a:spcBef>
                    <a:spcPts val="600"/>
                  </a:spcBef>
                  <a:spcAft>
                    <a:spcPts val="600"/>
                  </a:spcAft>
                </a:pP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t> is the error term that accounts for the variability in </a:t>
                </a:r>
                <a:r>
                  <a:rPr lang="en-US" sz="2000" dirty="0">
                    <a:latin typeface="Arial" panose="020B0604020202020204" pitchFamily="34" charset="0"/>
                    <a:cs typeface="Arial" panose="020B0604020202020204" pitchFamily="34" charset="0"/>
                  </a:rPr>
                  <a:t>𝑦</a:t>
                </a:r>
                <a:r>
                  <a:rPr lang="en-US" sz="2000" dirty="0"/>
                  <a:t> that cannot be explained by the linear effect of the </a:t>
                </a:r>
                <a14:m>
                  <m:oMath xmlns:m="http://schemas.openxmlformats.org/officeDocument/2006/math">
                    <m:r>
                      <a:rPr lang="en-US" sz="2000" i="1" dirty="0" smtClean="0">
                        <a:latin typeface="Cambria Math" panose="02040503050406030204" pitchFamily="18" charset="0"/>
                      </a:rPr>
                      <m:t>𝑝</m:t>
                    </m:r>
                  </m:oMath>
                </a14:m>
                <a:r>
                  <a:rPr lang="en-US" sz="2000" dirty="0"/>
                  <a:t> independent variables.</a:t>
                </a:r>
              </a:p>
              <a:p>
                <a:pPr>
                  <a:spcBef>
                    <a:spcPts val="1200"/>
                  </a:spcBef>
                  <a:spcAft>
                    <a:spcPts val="600"/>
                  </a:spcAft>
                </a:pPr>
                <a:r>
                  <a:rPr lang="en-US" sz="2000" dirty="0"/>
                  <a:t>The </a:t>
                </a:r>
                <a:r>
                  <a:rPr lang="en-US" sz="2000" b="1" dirty="0"/>
                  <a:t>multiple regression equation </a:t>
                </a:r>
                <a:r>
                  <a:rPr lang="en-US" sz="2000" dirty="0"/>
                  <a:t>describes how the mean value of </a:t>
                </a:r>
                <a14:m>
                  <m:oMath xmlns:m="http://schemas.openxmlformats.org/officeDocument/2006/math">
                    <m:r>
                      <a:rPr lang="en-US" sz="2000" i="1">
                        <a:latin typeface="Cambria Math" panose="02040503050406030204" pitchFamily="18" charset="0"/>
                      </a:rPr>
                      <m:t>𝑦</m:t>
                    </m:r>
                  </m:oMath>
                </a14:m>
                <a:r>
                  <a:rPr lang="en-US" sz="2000" i="1" dirty="0"/>
                  <a:t> </a:t>
                </a:r>
                <a:r>
                  <a:rPr lang="en-US" sz="2000" dirty="0"/>
                  <a:t>is related to a set of </a:t>
                </a:r>
                <a:r>
                  <a:rPr lang="en-US" sz="2000" i="1" dirty="0"/>
                  <a:t>p</a:t>
                </a:r>
                <a:r>
                  <a:rPr lang="en-US" sz="2000" dirty="0"/>
                  <a:t> independent variables,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2</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𝑝</m:t>
                        </m:r>
                      </m:sub>
                    </m:sSub>
                  </m:oMath>
                </a14:m>
                <a:r>
                  <a:rPr lang="en-US" sz="2000" dirty="0"/>
                  <a:t>.</a:t>
                </a:r>
              </a:p>
              <a:p>
                <a:pPr marL="914400">
                  <a:spcBef>
                    <a:spcPts val="600"/>
                  </a:spcBef>
                  <a:spcAft>
                    <a:spcPts val="600"/>
                  </a:spcAft>
                </a:pPr>
                <a14:m>
                  <m:oMath xmlns:m="http://schemas.openxmlformats.org/officeDocument/2006/math">
                    <m:r>
                      <a:rPr lang="en-US" sz="2000" b="1" i="1" smtClean="0">
                        <a:latin typeface="Cambria Math" panose="02040503050406030204" pitchFamily="18" charset="0"/>
                      </a:rPr>
                      <m:t>𝑬</m:t>
                    </m:r>
                    <m:r>
                      <a:rPr lang="en-US" sz="2000" b="1" i="1" smtClean="0">
                        <a:latin typeface="Cambria Math" panose="02040503050406030204" pitchFamily="18" charset="0"/>
                      </a:rPr>
                      <m:t>(</m:t>
                    </m:r>
                    <m:r>
                      <a:rPr lang="en-US" sz="2000" b="1" i="1" smtClean="0">
                        <a:latin typeface="Cambria Math" panose="02040503050406030204" pitchFamily="18" charset="0"/>
                      </a:rPr>
                      <m:t>𝒚</m:t>
                    </m:r>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𝜷</m:t>
                        </m:r>
                      </m:e>
                      <m:sub>
                        <m:r>
                          <a:rPr lang="en-US" sz="2000" b="1" i="1" smtClean="0">
                            <a:latin typeface="Cambria Math" panose="02040503050406030204" pitchFamily="18" charset="0"/>
                          </a:rPr>
                          <m:t>𝟎</m:t>
                        </m:r>
                      </m:sub>
                    </m:sSub>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𝜷</m:t>
                        </m:r>
                      </m:e>
                      <m:sub>
                        <m:r>
                          <a:rPr lang="en-US" sz="2000" b="1" i="1" smtClean="0">
                            <a:latin typeface="Cambria Math" panose="02040503050406030204" pitchFamily="18" charset="0"/>
                          </a:rPr>
                          <m:t>𝟏</m:t>
                        </m:r>
                      </m:sub>
                    </m:sSub>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𝒙</m:t>
                        </m:r>
                      </m:e>
                      <m:sub>
                        <m:r>
                          <a:rPr lang="en-US" sz="2000" b="1" i="1">
                            <a:latin typeface="Cambria Math" panose="02040503050406030204" pitchFamily="18" charset="0"/>
                            <a:cs typeface="Arial" panose="020B0604020202020204" pitchFamily="34" charset="0"/>
                          </a:rPr>
                          <m:t>𝟏</m:t>
                        </m:r>
                      </m:sub>
                    </m:sSub>
                    <m:r>
                      <a:rPr lang="en-US" sz="2000" b="1" i="1" smtClean="0">
                        <a:latin typeface="Cambria Math" panose="02040503050406030204" pitchFamily="18" charset="0"/>
                      </a:rPr>
                      <m:t>+</m:t>
                    </m:r>
                    <m:sSub>
                      <m:sSubPr>
                        <m:ctrlPr>
                          <a:rPr lang="en-US" sz="2000" b="1" i="1">
                            <a:latin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𝜷</m:t>
                        </m:r>
                      </m:e>
                      <m:sub>
                        <m:r>
                          <a:rPr lang="en-US" sz="2000" b="1" i="1" smtClean="0">
                            <a:latin typeface="Cambria Math" panose="02040503050406030204" pitchFamily="18" charset="0"/>
                          </a:rPr>
                          <m:t>𝟐</m:t>
                        </m:r>
                      </m:sub>
                    </m:sSub>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𝒙</m:t>
                        </m:r>
                      </m:e>
                      <m:sub>
                        <m:r>
                          <a:rPr lang="en-US" sz="2000" b="1" i="1">
                            <a:latin typeface="Cambria Math" panose="02040503050406030204" pitchFamily="18" charset="0"/>
                            <a:cs typeface="Arial" panose="020B0604020202020204" pitchFamily="34" charset="0"/>
                          </a:rPr>
                          <m:t>𝟐</m:t>
                        </m:r>
                      </m:sub>
                    </m:sSub>
                    <m:r>
                      <a:rPr lang="en-US" sz="2000" b="1" i="1">
                        <a:latin typeface="Cambria Math" panose="02040503050406030204" pitchFamily="18" charset="0"/>
                      </a:rPr>
                      <m:t>+</m:t>
                    </m:r>
                    <m:r>
                      <m:rPr>
                        <m:nor/>
                      </m:rPr>
                      <a:rPr lang="en-US" sz="2000">
                        <a:latin typeface="Cambria Math" panose="02040503050406030204" pitchFamily="18" charset="0"/>
                        <a:cs typeface="Arial" panose="020B0604020202020204" pitchFamily="34" charset="0"/>
                      </a:rPr>
                      <m:t>…</m:t>
                    </m:r>
                    <m:r>
                      <a:rPr lang="en-US" sz="2000" b="1" i="1" smtClean="0">
                        <a:latin typeface="Cambria Math" panose="02040503050406030204" pitchFamily="18" charset="0"/>
                      </a:rPr>
                      <m:t>+</m:t>
                    </m:r>
                    <m:sSub>
                      <m:sSubPr>
                        <m:ctrlPr>
                          <a:rPr lang="en-US" sz="2000" b="1" i="1">
                            <a:latin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𝜷</m:t>
                        </m:r>
                      </m:e>
                      <m:sub>
                        <m:r>
                          <a:rPr lang="en-US" sz="2000" b="1" i="1" smtClean="0">
                            <a:latin typeface="Cambria Math" panose="02040503050406030204" pitchFamily="18" charset="0"/>
                          </a:rPr>
                          <m:t>𝒑</m:t>
                        </m:r>
                      </m:sub>
                    </m:sSub>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𝒙</m:t>
                        </m:r>
                      </m:e>
                      <m:sub>
                        <m:r>
                          <a:rPr lang="en-US" sz="2000" b="1" i="1">
                            <a:latin typeface="Cambria Math" panose="02040503050406030204" pitchFamily="18" charset="0"/>
                            <a:cs typeface="Arial" panose="020B0604020202020204" pitchFamily="34" charset="0"/>
                          </a:rPr>
                          <m:t>𝒑</m:t>
                        </m:r>
                      </m:sub>
                    </m:sSub>
                  </m:oMath>
                </a14:m>
                <a:r>
                  <a:rPr lang="en-US" sz="2000" dirty="0"/>
                  <a:t> </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481960"/>
                <a:ext cx="10711543" cy="4264572"/>
              </a:xfrm>
              <a:blipFill>
                <a:blip r:embed="rId3"/>
                <a:stretch>
                  <a:fillRect l="-1422" t="-1857" r="-1877"/>
                </a:stretch>
              </a:blipFill>
            </p:spPr>
            <p:txBody>
              <a:bodyPr/>
              <a:lstStyle/>
              <a:p>
                <a:r>
                  <a:rPr lang="en-US">
                    <a:noFill/>
                  </a:rPr>
                  <a:t> </a:t>
                </a:r>
              </a:p>
            </p:txBody>
          </p:sp>
        </mc:Fallback>
      </mc:AlternateContent>
    </p:spTree>
    <p:extLst>
      <p:ext uri="{BB962C8B-B14F-4D97-AF65-F5344CB8AC3E}">
        <p14:creationId xmlns:p14="http://schemas.microsoft.com/office/powerpoint/2010/main" val="25353611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4563C-542A-D08C-1A11-F2F943F613B0}"/>
              </a:ext>
            </a:extLst>
          </p:cNvPr>
          <p:cNvSpPr>
            <a:spLocks noGrp="1"/>
          </p:cNvSpPr>
          <p:nvPr>
            <p:ph type="title"/>
          </p:nvPr>
        </p:nvSpPr>
        <p:spPr>
          <a:xfrm>
            <a:off x="554387" y="365125"/>
            <a:ext cx="11088444" cy="672105"/>
          </a:xfrm>
        </p:spPr>
        <p:txBody>
          <a:bodyPr/>
          <a:lstStyle/>
          <a:p>
            <a:r>
              <a:rPr lang="en-US" dirty="0"/>
              <a:t>15.1 The Estimation Process in Multiple Regression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31EB207-E6CC-3AF0-A9DB-03F1D10D990F}"/>
                  </a:ext>
                </a:extLst>
              </p:cNvPr>
              <p:cNvSpPr>
                <a:spLocks noGrp="1"/>
              </p:cNvSpPr>
              <p:nvPr>
                <p:ph type="body" sz="quarter" idx="15"/>
              </p:nvPr>
            </p:nvSpPr>
            <p:spPr>
              <a:xfrm>
                <a:off x="780171" y="1500256"/>
                <a:ext cx="5457596" cy="4049932"/>
              </a:xfrm>
            </p:spPr>
            <p:txBody>
              <a:bodyPr/>
              <a:lstStyle/>
              <a:p>
                <a:pPr>
                  <a:lnSpc>
                    <a:spcPct val="100000"/>
                  </a:lnSpc>
                  <a:spcBef>
                    <a:spcPts val="600"/>
                  </a:spcBef>
                  <a:spcAft>
                    <a:spcPts val="1200"/>
                  </a:spcAft>
                </a:pPr>
                <a:r>
                  <a:rPr lang="en-US" sz="2000" dirty="0">
                    <a:solidFill>
                      <a:srgbClr val="000000"/>
                    </a:solidFill>
                    <a:cs typeface="Arial" panose="020B0604020202020204" pitchFamily="34" charset="0"/>
                  </a:rPr>
                  <a:t>The </a:t>
                </a:r>
                <a:r>
                  <a:rPr lang="en-US" sz="2000" i="1" dirty="0">
                    <a:cs typeface="Arial" panose="020B0604020202020204" pitchFamily="34" charset="0"/>
                  </a:rPr>
                  <a:t>estimated multiple </a:t>
                </a:r>
                <a:r>
                  <a:rPr lang="en-US" sz="2000" i="1" dirty="0">
                    <a:solidFill>
                      <a:srgbClr val="000000"/>
                    </a:solidFill>
                    <a:cs typeface="Arial" panose="020B0604020202020204" pitchFamily="34" charset="0"/>
                  </a:rPr>
                  <a:t>regression equation </a:t>
                </a:r>
                <a:r>
                  <a:rPr lang="en-US" sz="2000" dirty="0">
                    <a:solidFill>
                      <a:srgbClr val="000000"/>
                    </a:solidFill>
                    <a:cs typeface="Arial" panose="020B0604020202020204" pitchFamily="34" charset="0"/>
                  </a:rPr>
                  <a:t>is</a:t>
                </a:r>
              </a:p>
              <a:p>
                <a:pPr marL="914400">
                  <a:spcAft>
                    <a:spcPts val="600"/>
                  </a:spcAft>
                </a:pPr>
                <a14:m>
                  <m:oMathPara xmlns:m="http://schemas.openxmlformats.org/officeDocument/2006/math">
                    <m:oMathParaPr>
                      <m:jc m:val="left"/>
                    </m:oMathParaPr>
                    <m:oMath xmlns:m="http://schemas.openxmlformats.org/officeDocument/2006/math">
                      <m:acc>
                        <m:accPr>
                          <m:chr m:val="̂"/>
                          <m:ctrlPr>
                            <a:rPr lang="en-US" sz="2000" b="1" i="1" smtClean="0">
                              <a:latin typeface="Cambria Math" panose="02040503050406030204" pitchFamily="18" charset="0"/>
                            </a:rPr>
                          </m:ctrlPr>
                        </m:accPr>
                        <m:e>
                          <m:r>
                            <a:rPr lang="en-US" sz="2000" b="1" i="1">
                              <a:latin typeface="Cambria Math" panose="02040503050406030204" pitchFamily="18" charset="0"/>
                            </a:rPr>
                            <m:t>𝒚</m:t>
                          </m:r>
                        </m:e>
                      </m:acc>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𝒃</m:t>
                          </m:r>
                        </m:e>
                        <m:sub>
                          <m:r>
                            <a:rPr lang="en-US" sz="2000" b="1" i="1" smtClean="0">
                              <a:latin typeface="Cambria Math" panose="02040503050406030204" pitchFamily="18" charset="0"/>
                            </a:rPr>
                            <m:t>𝟎</m:t>
                          </m:r>
                        </m:sub>
                      </m:sSub>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𝒃</m:t>
                          </m:r>
                        </m:e>
                        <m:sub>
                          <m:r>
                            <a:rPr lang="en-US" sz="2000" b="1" i="1" smtClean="0">
                              <a:latin typeface="Cambria Math" panose="02040503050406030204" pitchFamily="18" charset="0"/>
                            </a:rPr>
                            <m:t>𝟏</m:t>
                          </m:r>
                        </m:sub>
                      </m:sSub>
                      <m:sSub>
                        <m:sSubPr>
                          <m:ctrlPr>
                            <a:rPr lang="en-US" b="1" i="1">
                              <a:latin typeface="Cambria Math" panose="02040503050406030204" pitchFamily="18" charset="0"/>
                              <a:cs typeface="Arial" panose="020B0604020202020204" pitchFamily="34" charset="0"/>
                            </a:rPr>
                          </m:ctrlPr>
                        </m:sSubPr>
                        <m:e>
                          <m:r>
                            <a:rPr lang="en-US" b="1" i="1">
                              <a:latin typeface="Cambria Math" panose="02040503050406030204" pitchFamily="18" charset="0"/>
                              <a:cs typeface="Arial" panose="020B0604020202020204" pitchFamily="34" charset="0"/>
                            </a:rPr>
                            <m:t>𝒙</m:t>
                          </m:r>
                        </m:e>
                        <m:sub>
                          <m:r>
                            <a:rPr lang="en-US" b="1" i="1" smtClean="0">
                              <a:latin typeface="Cambria Math" panose="02040503050406030204" pitchFamily="18" charset="0"/>
                              <a:cs typeface="Arial" panose="020B0604020202020204" pitchFamily="34" charset="0"/>
                            </a:rPr>
                            <m:t>𝟏</m:t>
                          </m:r>
                        </m:sub>
                      </m:sSub>
                      <m:r>
                        <a:rPr lang="en-US" sz="2000" b="1" i="1" smtClean="0">
                          <a:latin typeface="Cambria Math" panose="02040503050406030204" pitchFamily="18" charset="0"/>
                        </a:rPr>
                        <m:t>+</m:t>
                      </m:r>
                      <m:sSub>
                        <m:sSubPr>
                          <m:ctrlPr>
                            <a:rPr lang="en-US" b="1" i="1">
                              <a:latin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𝒃</m:t>
                          </m:r>
                        </m:e>
                        <m:sub>
                          <m:r>
                            <a:rPr lang="en-US" b="1" i="1">
                              <a:latin typeface="Cambria Math" panose="02040503050406030204" pitchFamily="18" charset="0"/>
                            </a:rPr>
                            <m:t>𝟐</m:t>
                          </m:r>
                        </m:sub>
                      </m:sSub>
                      <m:sSub>
                        <m:sSubPr>
                          <m:ctrlPr>
                            <a:rPr lang="en-US" b="1" i="1">
                              <a:latin typeface="Cambria Math" panose="02040503050406030204" pitchFamily="18" charset="0"/>
                              <a:cs typeface="Arial" panose="020B0604020202020204" pitchFamily="34" charset="0"/>
                            </a:rPr>
                          </m:ctrlPr>
                        </m:sSubPr>
                        <m:e>
                          <m:r>
                            <a:rPr lang="en-US" b="1" i="1">
                              <a:latin typeface="Cambria Math" panose="02040503050406030204" pitchFamily="18" charset="0"/>
                              <a:cs typeface="Arial" panose="020B0604020202020204" pitchFamily="34" charset="0"/>
                            </a:rPr>
                            <m:t>𝒙</m:t>
                          </m:r>
                        </m:e>
                        <m:sub>
                          <m:r>
                            <a:rPr lang="en-US" b="1" i="1">
                              <a:latin typeface="Cambria Math" panose="02040503050406030204" pitchFamily="18" charset="0"/>
                              <a:cs typeface="Arial" panose="020B0604020202020204" pitchFamily="34" charset="0"/>
                            </a:rPr>
                            <m:t>𝟐</m:t>
                          </m:r>
                        </m:sub>
                      </m:sSub>
                      <m:r>
                        <a:rPr lang="en-US" b="1" i="1">
                          <a:latin typeface="Cambria Math" panose="02040503050406030204" pitchFamily="18" charset="0"/>
                        </a:rPr>
                        <m:t>+</m:t>
                      </m:r>
                      <m:r>
                        <m:rPr>
                          <m:nor/>
                        </m:rPr>
                        <a:rPr lang="en-US">
                          <a:latin typeface="Cambria Math" panose="02040503050406030204" pitchFamily="18" charset="0"/>
                          <a:cs typeface="Arial" panose="020B0604020202020204" pitchFamily="34" charset="0"/>
                        </a:rPr>
                        <m:t>…</m:t>
                      </m:r>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𝒃</m:t>
                          </m:r>
                        </m:e>
                        <m:sub>
                          <m:r>
                            <a:rPr lang="en-US" b="1" i="1">
                              <a:latin typeface="Cambria Math" panose="02040503050406030204" pitchFamily="18" charset="0"/>
                            </a:rPr>
                            <m:t>𝒑</m:t>
                          </m:r>
                        </m:sub>
                      </m:sSub>
                      <m:sSub>
                        <m:sSubPr>
                          <m:ctrlPr>
                            <a:rPr lang="en-US" b="1" i="1">
                              <a:latin typeface="Cambria Math" panose="02040503050406030204" pitchFamily="18" charset="0"/>
                              <a:cs typeface="Arial" panose="020B0604020202020204" pitchFamily="34" charset="0"/>
                            </a:rPr>
                          </m:ctrlPr>
                        </m:sSubPr>
                        <m:e>
                          <m:r>
                            <a:rPr lang="en-US" b="1" i="1">
                              <a:latin typeface="Cambria Math" panose="02040503050406030204" pitchFamily="18" charset="0"/>
                              <a:cs typeface="Arial" panose="020B0604020202020204" pitchFamily="34" charset="0"/>
                            </a:rPr>
                            <m:t>𝒙</m:t>
                          </m:r>
                        </m:e>
                        <m:sub>
                          <m:r>
                            <a:rPr lang="en-US" b="1" i="1">
                              <a:latin typeface="Cambria Math" panose="02040503050406030204" pitchFamily="18" charset="0"/>
                              <a:cs typeface="Arial" panose="020B0604020202020204" pitchFamily="34" charset="0"/>
                            </a:rPr>
                            <m:t>𝒑</m:t>
                          </m:r>
                        </m:sub>
                      </m:sSub>
                    </m:oMath>
                  </m:oMathPara>
                </a14:m>
                <a:endParaRPr lang="en-US" sz="2000" b="1" dirty="0"/>
              </a:p>
              <a:p>
                <a:pPr>
                  <a:spcBef>
                    <a:spcPts val="600"/>
                  </a:spcBef>
                  <a:spcAft>
                    <a:spcPts val="600"/>
                  </a:spcAft>
                </a:pPr>
                <a:r>
                  <a:rPr lang="en-US" sz="2000" dirty="0"/>
                  <a:t>Where:</a:t>
                </a:r>
              </a:p>
              <a:p>
                <a:pPr marL="457200">
                  <a:spcAft>
                    <a:spcPts val="600"/>
                  </a:spcAft>
                </a:pPr>
                <a14:m>
                  <m:oMath xmlns:m="http://schemas.openxmlformats.org/officeDocument/2006/math">
                    <m:acc>
                      <m:accPr>
                        <m:chr m:val="̂"/>
                        <m:ctrlPr>
                          <a:rPr lang="en-US" sz="2000" i="1" smtClean="0">
                            <a:latin typeface="Cambria Math" panose="02040503050406030204" pitchFamily="18" charset="0"/>
                          </a:rPr>
                        </m:ctrlPr>
                      </m:accPr>
                      <m:e>
                        <m:r>
                          <a:rPr lang="en-US" sz="2000" b="0" i="1">
                            <a:latin typeface="Cambria Math" panose="02040503050406030204" pitchFamily="18" charset="0"/>
                          </a:rPr>
                          <m:t>𝑦</m:t>
                        </m:r>
                      </m:e>
                    </m:acc>
                  </m:oMath>
                </a14:m>
                <a:r>
                  <a:rPr lang="en-US" sz="2000" i="1" dirty="0"/>
                  <a:t> </a:t>
                </a:r>
                <a:r>
                  <a:rPr lang="en-US" sz="2000" dirty="0"/>
                  <a:t>is a point estimate of </a:t>
                </a:r>
                <a14:m>
                  <m:oMath xmlns:m="http://schemas.openxmlformats.org/officeDocument/2006/math">
                    <m:r>
                      <a:rPr lang="en-US" sz="2000" i="1">
                        <a:latin typeface="Cambria Math" panose="02040503050406030204" pitchFamily="18" charset="0"/>
                      </a:rPr>
                      <m:t>𝐸</m:t>
                    </m:r>
                    <m:d>
                      <m:dPr>
                        <m:ctrlPr>
                          <a:rPr lang="en-US" sz="2000" i="1">
                            <a:latin typeface="Cambria Math" panose="02040503050406030204" pitchFamily="18" charset="0"/>
                          </a:rPr>
                        </m:ctrlPr>
                      </m:dPr>
                      <m:e>
                        <m:r>
                          <a:rPr lang="en-US" sz="2000" i="1">
                            <a:latin typeface="Cambria Math" panose="02040503050406030204" pitchFamily="18" charset="0"/>
                          </a:rPr>
                          <m:t>𝑦</m:t>
                        </m:r>
                      </m:e>
                    </m:d>
                  </m:oMath>
                </a14:m>
                <a:r>
                  <a:rPr lang="en-US" sz="2000" dirty="0"/>
                  <a:t> for a given set of </a:t>
                </a:r>
                <a:r>
                  <a:rPr lang="en-US" sz="2000" i="1" dirty="0"/>
                  <a:t>p</a:t>
                </a:r>
                <a:r>
                  <a:rPr lang="en-US" sz="2000" dirty="0"/>
                  <a:t> independent variables,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2</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𝑝</m:t>
                        </m:r>
                      </m:sub>
                    </m:sSub>
                  </m:oMath>
                </a14:m>
                <a:r>
                  <a:rPr lang="en-US" sz="2000" dirty="0"/>
                  <a:t>.</a:t>
                </a:r>
              </a:p>
              <a:p>
                <a:pPr marL="457200">
                  <a:spcAft>
                    <a:spcPts val="600"/>
                  </a:spcAft>
                </a:pPr>
                <a:r>
                  <a:rPr lang="en-US" sz="2000" dirty="0"/>
                  <a:t>A simple random sample is used to compute the sample statistics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𝑏</m:t>
                        </m:r>
                      </m:e>
                      <m:sub>
                        <m:r>
                          <a:rPr lang="en-US" sz="2000" b="0" i="1" smtClean="0">
                            <a:latin typeface="Cambria Math" panose="02040503050406030204" pitchFamily="18" charset="0"/>
                          </a:rPr>
                          <m:t>0</m:t>
                        </m:r>
                      </m:sub>
                    </m:sSub>
                    <m:r>
                      <a:rPr lang="en-US" sz="2000" b="0" i="0" smtClean="0">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𝑏</m:t>
                        </m:r>
                      </m:e>
                      <m:sub>
                        <m:r>
                          <a:rPr lang="en-US" sz="2000" i="1">
                            <a:latin typeface="Cambria Math" panose="02040503050406030204" pitchFamily="18" charset="0"/>
                          </a:rPr>
                          <m:t>1</m:t>
                        </m:r>
                      </m:sub>
                    </m:sSub>
                    <m:r>
                      <a:rPr lang="en-US" sz="2000" b="0" i="1" smtClean="0">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𝑏</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𝑏</m:t>
                        </m:r>
                      </m:e>
                      <m:sub>
                        <m:r>
                          <a:rPr lang="en-US" sz="2000" i="1">
                            <a:latin typeface="Cambria Math" panose="02040503050406030204" pitchFamily="18" charset="0"/>
                          </a:rPr>
                          <m:t>𝑝</m:t>
                        </m:r>
                      </m:sub>
                    </m:sSub>
                  </m:oMath>
                </a14:m>
                <a:r>
                  <a:rPr lang="en-US" sz="2000" dirty="0"/>
                  <a:t> that are used as estimates of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0</m:t>
                        </m:r>
                      </m:sub>
                    </m:sSub>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𝑝</m:t>
                        </m:r>
                      </m:sub>
                    </m:sSub>
                  </m:oMath>
                </a14:m>
                <a:r>
                  <a:rPr lang="en-US" sz="2000" dirty="0"/>
                  <a:t>.</a:t>
                </a:r>
              </a:p>
              <a:p>
                <a:pPr>
                  <a:spcAft>
                    <a:spcPts val="600"/>
                  </a:spcAft>
                </a:pPr>
                <a:r>
                  <a:rPr lang="en-US" sz="2000" dirty="0"/>
                  <a:t>The flow chart to the right provides a summary of the estimation process for multiple regression.</a:t>
                </a:r>
              </a:p>
            </p:txBody>
          </p:sp>
        </mc:Choice>
        <mc:Fallback xmlns="">
          <p:sp>
            <p:nvSpPr>
              <p:cNvPr id="3" name="Text Placeholder 2">
                <a:extLst>
                  <a:ext uri="{FF2B5EF4-FFF2-40B4-BE49-F238E27FC236}">
                    <a16:creationId xmlns:a16="http://schemas.microsoft.com/office/drawing/2014/main" id="{431EB207-E6CC-3AF0-A9DB-03F1D10D990F}"/>
                  </a:ext>
                </a:extLst>
              </p:cNvPr>
              <p:cNvSpPr>
                <a:spLocks noGrp="1" noRot="1" noChangeAspect="1" noMove="1" noResize="1" noEditPoints="1" noAdjustHandles="1" noChangeArrowheads="1" noChangeShapeType="1" noTextEdit="1"/>
              </p:cNvSpPr>
              <p:nvPr>
                <p:ph type="body" sz="quarter" idx="15"/>
              </p:nvPr>
            </p:nvSpPr>
            <p:spPr>
              <a:xfrm>
                <a:off x="780171" y="1500256"/>
                <a:ext cx="5457596" cy="4049932"/>
              </a:xfrm>
              <a:blipFill>
                <a:blip r:embed="rId3"/>
                <a:stretch>
                  <a:fillRect l="-2905" t="-1807" r="-3687" b="-1355"/>
                </a:stretch>
              </a:blipFill>
            </p:spPr>
            <p:txBody>
              <a:bodyPr/>
              <a:lstStyle/>
              <a:p>
                <a:r>
                  <a:rPr lang="en-US">
                    <a:noFill/>
                  </a:rPr>
                  <a:t> </a:t>
                </a:r>
              </a:p>
            </p:txBody>
          </p:sp>
        </mc:Fallback>
      </mc:AlternateContent>
      <p:pic>
        <p:nvPicPr>
          <p:cNvPr id="7" name="Picture Placeholder 6" descr="A cyclic diagram shows four steps in the estimation process for multiple regression. Step 1: A table titled “Sample Data” has the following headers: x_1, x_2, x_p, and y. Step 2: Compute the estimated multiple regression equation. y-hat = b_0 + b_1 x_1 + b_2 x_2 + … + b_p x_p. b_0, b_1, b_2, …, b_p are sample statistics. Step 3: b_0, b_1, b_2, …, b_p provide the estimates of beta_0, beta_1, beta_2, …, beta_p. Step 4: Multiple regression model. y = beta_0 + beta_1 x_1 + beta_2 x_2 + … + beta_p x_p + epsilon. Multiple regression equation: E(y) = beta_0 + beta_1 x_1 + beta_2 x_2 + … + beta_p x_p. Beta_0, beta_1, beta_2, …, beta_p are unknown parameters.&#10;">
            <a:extLst>
              <a:ext uri="{FF2B5EF4-FFF2-40B4-BE49-F238E27FC236}">
                <a16:creationId xmlns:a16="http://schemas.microsoft.com/office/drawing/2014/main" id="{5E4D877C-D6CD-0864-026C-D3318EACF405}"/>
              </a:ext>
            </a:extLst>
          </p:cNvPr>
          <p:cNvPicPr>
            <a:picLocks noGrp="1" noChangeAspect="1"/>
          </p:cNvPicPr>
          <p:nvPr>
            <p:ph type="pic" sz="quarter" idx="16"/>
          </p:nvPr>
        </p:nvPicPr>
        <p:blipFill rotWithShape="1">
          <a:blip r:embed="rId4"/>
          <a:srcRect t="64" b="64"/>
          <a:stretch/>
        </p:blipFill>
        <p:spPr>
          <a:xfrm>
            <a:off x="6237767" y="1423079"/>
            <a:ext cx="5262194" cy="4127109"/>
          </a:xfrm>
        </p:spPr>
      </p:pic>
    </p:spTree>
    <p:extLst>
      <p:ext uri="{BB962C8B-B14F-4D97-AF65-F5344CB8AC3E}">
        <p14:creationId xmlns:p14="http://schemas.microsoft.com/office/powerpoint/2010/main" val="653465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solidFill>
                  <a:srgbClr val="D14B1E"/>
                </a:solidFill>
              </a:rPr>
              <a:t>15.2 Least Squares Method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685800" y="1355833"/>
                <a:ext cx="10781737" cy="4343402"/>
              </a:xfrm>
            </p:spPr>
            <p:txBody>
              <a:bodyPr/>
              <a:lstStyle/>
              <a:p>
                <a:pPr>
                  <a:spcBef>
                    <a:spcPts val="600"/>
                  </a:spcBef>
                  <a:spcAft>
                    <a:spcPts val="600"/>
                  </a:spcAft>
                </a:pPr>
                <a:r>
                  <a:rPr lang="en-US" sz="2000" dirty="0">
                    <a:solidFill>
                      <a:srgbClr val="000000"/>
                    </a:solidFill>
                    <a:cs typeface="Arial" panose="020B0604020202020204" pitchFamily="34" charset="0"/>
                  </a:rPr>
                  <a:t>The </a:t>
                </a:r>
                <a:r>
                  <a:rPr lang="en-US" sz="2000" b="1" dirty="0">
                    <a:solidFill>
                      <a:srgbClr val="000000"/>
                    </a:solidFill>
                    <a:cs typeface="Arial" panose="020B0604020202020204" pitchFamily="34" charset="0"/>
                  </a:rPr>
                  <a:t>least squares method </a:t>
                </a:r>
                <a:r>
                  <a:rPr lang="en-US" sz="2000" dirty="0">
                    <a:solidFill>
                      <a:srgbClr val="000000"/>
                    </a:solidFill>
                    <a:cs typeface="Arial" panose="020B0604020202020204" pitchFamily="34" charset="0"/>
                  </a:rPr>
                  <a:t>uses the sample data to provide the values of the sample statistics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𝑏</m:t>
                        </m:r>
                      </m:e>
                      <m:sub>
                        <m:r>
                          <a:rPr lang="en-US" sz="2000" i="1">
                            <a:latin typeface="Cambria Math" panose="02040503050406030204" pitchFamily="18" charset="0"/>
                          </a:rPr>
                          <m:t>0</m:t>
                        </m:r>
                      </m:sub>
                    </m:sSub>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𝑏</m:t>
                        </m:r>
                      </m:e>
                      <m:sub>
                        <m:r>
                          <a:rPr lang="en-US" sz="2000" i="1">
                            <a:latin typeface="Cambria Math" panose="02040503050406030204" pitchFamily="18" charset="0"/>
                          </a:rPr>
                          <m:t>1</m:t>
                        </m:r>
                      </m:sub>
                    </m:sSub>
                    <m:r>
                      <a:rPr lang="en-US" sz="2000" i="1">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𝑏</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𝑏</m:t>
                        </m:r>
                      </m:e>
                      <m:sub>
                        <m:r>
                          <a:rPr lang="en-US" sz="2000" i="1">
                            <a:latin typeface="Cambria Math" panose="02040503050406030204" pitchFamily="18" charset="0"/>
                          </a:rPr>
                          <m:t>𝑝</m:t>
                        </m:r>
                      </m:sub>
                    </m:sSub>
                  </m:oMath>
                </a14:m>
                <a:r>
                  <a:rPr lang="en-US" sz="2000" dirty="0">
                    <a:solidFill>
                      <a:srgbClr val="000000"/>
                    </a:solidFill>
                    <a:cs typeface="Arial" panose="020B0604020202020204" pitchFamily="34" charset="0"/>
                  </a:rPr>
                  <a:t> that minimize the sum of the squares of the deviations between the observed values and the predicted values of the dependent variable.</a:t>
                </a:r>
              </a:p>
              <a:p>
                <a:pPr>
                  <a:spcBef>
                    <a:spcPts val="600"/>
                  </a:spcBef>
                  <a:spcAft>
                    <a:spcPts val="600"/>
                  </a:spcAft>
                </a:pPr>
                <a:r>
                  <a:rPr lang="en-US" sz="2000" b="1" dirty="0">
                    <a:cs typeface="Arial" panose="020B0604020202020204" pitchFamily="34" charset="0"/>
                  </a:rPr>
                  <a:t>Least Squares Criterion</a:t>
                </a:r>
              </a:p>
              <a:p>
                <a:pPr marL="914400">
                  <a:spcBef>
                    <a:spcPts val="0"/>
                  </a:spcBef>
                  <a:spcAft>
                    <a:spcPts val="0"/>
                  </a:spcAft>
                </a:pPr>
                <a14:m>
                  <m:oMathPara xmlns:m="http://schemas.openxmlformats.org/officeDocument/2006/math">
                    <m:oMathParaPr>
                      <m:jc m:val="left"/>
                    </m:oMathParaPr>
                    <m:oMath xmlns:m="http://schemas.openxmlformats.org/officeDocument/2006/math">
                      <m:func>
                        <m:funcPr>
                          <m:ctrlPr>
                            <a:rPr lang="en-US" sz="2000" b="1" i="1" smtClean="0">
                              <a:latin typeface="Cambria Math" panose="02040503050406030204" pitchFamily="18" charset="0"/>
                              <a:cs typeface="Arial" panose="020B0604020202020204" pitchFamily="34" charset="0"/>
                            </a:rPr>
                          </m:ctrlPr>
                        </m:funcPr>
                        <m:fName>
                          <m:r>
                            <a:rPr lang="en-US" sz="2000" b="1" i="0" smtClean="0">
                              <a:latin typeface="Cambria Math" panose="02040503050406030204" pitchFamily="18" charset="0"/>
                              <a:cs typeface="Arial" panose="020B0604020202020204" pitchFamily="34" charset="0"/>
                            </a:rPr>
                            <m:t>𝐦𝐢𝐧</m:t>
                          </m:r>
                        </m:fName>
                        <m:e>
                          <m:nary>
                            <m:naryPr>
                              <m:chr m:val="∑"/>
                              <m:subHide m:val="on"/>
                              <m:supHide m:val="on"/>
                              <m:ctrlPr>
                                <a:rPr lang="en-US" sz="2000" b="1" i="1" smtClean="0">
                                  <a:latin typeface="Cambria Math" panose="02040503050406030204" pitchFamily="18" charset="0"/>
                                  <a:cs typeface="Arial" panose="020B0604020202020204" pitchFamily="34" charset="0"/>
                                </a:rPr>
                              </m:ctrlPr>
                            </m:naryPr>
                            <m:sub/>
                            <m:sup/>
                            <m:e>
                              <m:sSup>
                                <m:sSupPr>
                                  <m:ctrlPr>
                                    <a:rPr lang="en-US" sz="2000" b="1" i="1" smtClean="0">
                                      <a:latin typeface="Cambria Math" panose="02040503050406030204" pitchFamily="18" charset="0"/>
                                      <a:cs typeface="Arial" panose="020B0604020202020204" pitchFamily="34" charset="0"/>
                                    </a:rPr>
                                  </m:ctrlPr>
                                </m:sSupPr>
                                <m:e>
                                  <m:d>
                                    <m:dPr>
                                      <m:ctrlPr>
                                        <a:rPr lang="en-US" sz="2000" b="1" i="1" smtClean="0">
                                          <a:latin typeface="Cambria Math" panose="02040503050406030204" pitchFamily="18" charset="0"/>
                                          <a:cs typeface="Arial" panose="020B0604020202020204" pitchFamily="34" charset="0"/>
                                        </a:rPr>
                                      </m:ctrlPr>
                                    </m:dPr>
                                    <m:e>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𝒚</m:t>
                                          </m:r>
                                        </m:e>
                                        <m:sub>
                                          <m:r>
                                            <a:rPr lang="en-US" sz="2000" b="1" i="1" smtClean="0">
                                              <a:latin typeface="Cambria Math" panose="02040503050406030204" pitchFamily="18" charset="0"/>
                                              <a:cs typeface="Arial" panose="020B0604020202020204" pitchFamily="34" charset="0"/>
                                            </a:rPr>
                                            <m:t>𝒊</m:t>
                                          </m:r>
                                        </m:sub>
                                      </m:sSub>
                                      <m:r>
                                        <a:rPr lang="en-US" sz="2000" b="1" i="1" smtClean="0">
                                          <a:latin typeface="Cambria Math" panose="02040503050406030204" pitchFamily="18" charset="0"/>
                                          <a:cs typeface="Arial" panose="020B0604020202020204" pitchFamily="34" charset="0"/>
                                        </a:rPr>
                                        <m:t>−</m:t>
                                      </m:r>
                                      <m:acc>
                                        <m:accPr>
                                          <m:chr m:val="̂"/>
                                          <m:ctrlPr>
                                            <a:rPr lang="en-US" sz="2000" b="1" i="1" smtClean="0">
                                              <a:latin typeface="Cambria Math" panose="02040503050406030204" pitchFamily="18" charset="0"/>
                                              <a:cs typeface="Arial" panose="020B0604020202020204" pitchFamily="34" charset="0"/>
                                            </a:rPr>
                                          </m:ctrlPr>
                                        </m:accPr>
                                        <m:e>
                                          <m:r>
                                            <a:rPr lang="en-US" sz="2000" b="1" i="1" smtClean="0">
                                              <a:latin typeface="Cambria Math" panose="02040503050406030204" pitchFamily="18" charset="0"/>
                                              <a:cs typeface="Arial" panose="020B0604020202020204" pitchFamily="34" charset="0"/>
                                            </a:rPr>
                                            <m:t>𝒚</m:t>
                                          </m:r>
                                        </m:e>
                                      </m:acc>
                                    </m:e>
                                  </m:d>
                                </m:e>
                                <m:sup>
                                  <m:r>
                                    <a:rPr lang="en-US" sz="2000" b="1" i="1" smtClean="0">
                                      <a:latin typeface="Cambria Math" panose="02040503050406030204" pitchFamily="18" charset="0"/>
                                      <a:cs typeface="Arial" panose="020B0604020202020204" pitchFamily="34" charset="0"/>
                                    </a:rPr>
                                    <m:t>𝟐</m:t>
                                  </m:r>
                                </m:sup>
                              </m:sSup>
                            </m:e>
                          </m:nary>
                        </m:e>
                      </m:func>
                    </m:oMath>
                  </m:oMathPara>
                </a14:m>
                <a:endParaRPr lang="en-US" sz="2000" b="1" dirty="0">
                  <a:cs typeface="Arial" panose="020B0604020202020204" pitchFamily="34" charset="0"/>
                </a:endParaRPr>
              </a:p>
              <a:p>
                <a:pPr>
                  <a:spcBef>
                    <a:spcPts val="0"/>
                  </a:spcBef>
                  <a:spcAft>
                    <a:spcPts val="0"/>
                  </a:spcAft>
                </a:pPr>
                <a:r>
                  <a:rPr lang="en-US" sz="2000" dirty="0">
                    <a:solidFill>
                      <a:srgbClr val="000000"/>
                    </a:solidFill>
                    <a:cs typeface="Arial" panose="020B0604020202020204" pitchFamily="34" charset="0"/>
                  </a:rPr>
                  <a:t>Where:</a:t>
                </a:r>
                <a:r>
                  <a:rPr lang="en-US" sz="2000" dirty="0">
                    <a:cs typeface="Arial" panose="020B0604020202020204" pitchFamily="34" charset="0"/>
                  </a:rPr>
                  <a:t>	</a:t>
                </a:r>
                <a14:m>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𝑦</m:t>
                        </m:r>
                      </m:e>
                      <m:sub>
                        <m:r>
                          <a:rPr lang="en-US" sz="2000" b="0" i="1" smtClean="0">
                            <a:latin typeface="Cambria Math" panose="02040503050406030204" pitchFamily="18" charset="0"/>
                          </a:rPr>
                          <m:t>𝑖</m:t>
                        </m:r>
                      </m:sub>
                    </m:sSub>
                  </m:oMath>
                </a14:m>
                <a:r>
                  <a:rPr lang="en-US" sz="2000" dirty="0">
                    <a:solidFill>
                      <a:srgbClr val="000000"/>
                    </a:solidFill>
                    <a:cs typeface="Arial" panose="020B0604020202020204" pitchFamily="34" charset="0"/>
                  </a:rPr>
                  <a:t> is the value of dependent variable for the </a:t>
                </a:r>
                <a:r>
                  <a:rPr lang="en-US" sz="2000" dirty="0"/>
                  <a:t>𝑖</a:t>
                </a:r>
                <a:r>
                  <a:rPr lang="en-US" sz="2000" dirty="0" err="1">
                    <a:solidFill>
                      <a:srgbClr val="000000"/>
                    </a:solidFill>
                    <a:cs typeface="Arial" panose="020B0604020202020204" pitchFamily="34" charset="0"/>
                  </a:rPr>
                  <a:t>th</a:t>
                </a:r>
                <a:r>
                  <a:rPr lang="en-US" sz="2000" dirty="0">
                    <a:cs typeface="Arial" panose="020B0604020202020204" pitchFamily="34" charset="0"/>
                  </a:rPr>
                  <a:t> </a:t>
                </a:r>
                <a:r>
                  <a:rPr lang="en-US" sz="2000" dirty="0">
                    <a:solidFill>
                      <a:srgbClr val="000000"/>
                    </a:solidFill>
                    <a:cs typeface="Arial" panose="020B0604020202020204" pitchFamily="34" charset="0"/>
                  </a:rPr>
                  <a:t>observation.</a:t>
                </a:r>
              </a:p>
              <a:p>
                <a:pPr marL="914400">
                  <a:spcBef>
                    <a:spcPts val="600"/>
                  </a:spcBef>
                  <a:spcAft>
                    <a:spcPts val="600"/>
                  </a:spcAft>
                </a:pPr>
                <a14:m>
                  <m:oMath xmlns:m="http://schemas.openxmlformats.org/officeDocument/2006/math">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e>
                      <m:sub>
                        <m:r>
                          <a:rPr lang="en-US" sz="2000" i="1">
                            <a:latin typeface="Cambria Math" panose="02040503050406030204" pitchFamily="18" charset="0"/>
                          </a:rPr>
                          <m:t>𝑖</m:t>
                        </m:r>
                      </m:sub>
                    </m:sSub>
                  </m:oMath>
                </a14:m>
                <a:r>
                  <a:rPr lang="en-US" sz="2000" dirty="0">
                    <a:cs typeface="Arial" panose="020B0604020202020204" pitchFamily="34" charset="0"/>
                  </a:rPr>
                  <a:t> is the predicted value of dependent variable for the </a:t>
                </a:r>
                <a:r>
                  <a:rPr lang="en-US" sz="2000" dirty="0"/>
                  <a:t>𝑖</a:t>
                </a:r>
                <a:r>
                  <a:rPr lang="en-US" sz="2000" dirty="0" err="1">
                    <a:cs typeface="Arial" panose="020B0604020202020204" pitchFamily="34" charset="0"/>
                  </a:rPr>
                  <a:t>th</a:t>
                </a:r>
                <a:r>
                  <a:rPr lang="en-US" sz="2000" dirty="0">
                    <a:cs typeface="Arial" panose="020B0604020202020204" pitchFamily="34" charset="0"/>
                  </a:rPr>
                  <a:t> observation.</a:t>
                </a:r>
              </a:p>
              <a:p>
                <a:pPr>
                  <a:spcBef>
                    <a:spcPts val="600"/>
                  </a:spcBef>
                  <a:spcAft>
                    <a:spcPts val="0"/>
                  </a:spcAft>
                </a:pPr>
                <a:r>
                  <a:rPr lang="en-US" sz="2000" dirty="0">
                    <a:cs typeface="Arial" panose="020B0604020202020204" pitchFamily="34" charset="0"/>
                  </a:rPr>
                  <a:t>Because the formulas for the regression coefficients </a:t>
                </a:r>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𝑏</m:t>
                        </m:r>
                      </m:e>
                      <m:sub>
                        <m:r>
                          <a:rPr lang="en-US" sz="2000" i="1">
                            <a:latin typeface="Cambria Math" panose="02040503050406030204" pitchFamily="18" charset="0"/>
                          </a:rPr>
                          <m:t>0</m:t>
                        </m:r>
                      </m:sub>
                    </m:sSub>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𝑏</m:t>
                        </m:r>
                      </m:e>
                      <m:sub>
                        <m:r>
                          <a:rPr lang="en-US" sz="2000" i="1">
                            <a:latin typeface="Cambria Math" panose="02040503050406030204" pitchFamily="18" charset="0"/>
                          </a:rPr>
                          <m:t>1</m:t>
                        </m:r>
                      </m:sub>
                    </m:sSub>
                    <m:r>
                      <a:rPr lang="en-US" sz="2000" i="1">
                        <a:latin typeface="Cambria Math" panose="02040503050406030204" pitchFamily="18" charset="0"/>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𝑏</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𝑏</m:t>
                        </m:r>
                      </m:e>
                      <m:sub>
                        <m:r>
                          <a:rPr lang="en-US" sz="2000" i="1">
                            <a:latin typeface="Cambria Math" panose="02040503050406030204" pitchFamily="18" charset="0"/>
                          </a:rPr>
                          <m:t>𝑝</m:t>
                        </m:r>
                      </m:sub>
                    </m:sSub>
                  </m:oMath>
                </a14:m>
                <a:r>
                  <a:rPr lang="en-US" sz="2000" dirty="0">
                    <a:cs typeface="Arial" panose="020B0604020202020204" pitchFamily="34" charset="0"/>
                  </a:rPr>
                  <a:t> involve the use of matrix algebra, we will rely on computer software packages to perform the calculations.</a:t>
                </a:r>
              </a:p>
              <a:p>
                <a:pPr>
                  <a:spcBef>
                    <a:spcPts val="600"/>
                  </a:spcBef>
                  <a:spcAft>
                    <a:spcPts val="0"/>
                  </a:spcAft>
                </a:pPr>
                <a:r>
                  <a:rPr lang="en-US" sz="2000" dirty="0">
                    <a:cs typeface="Arial" panose="020B0604020202020204" pitchFamily="34" charset="0"/>
                  </a:rPr>
                  <a:t>The emphasis will be on how to interpret the computer output rather than on how to make the multiple regression computations.</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685800" y="1355833"/>
                <a:ext cx="10781737" cy="4343402"/>
              </a:xfrm>
              <a:blipFill>
                <a:blip r:embed="rId3"/>
                <a:stretch>
                  <a:fillRect l="-1471" t="-1683" r="-848" b="-4208"/>
                </a:stretch>
              </a:blipFill>
            </p:spPr>
            <p:txBody>
              <a:bodyPr/>
              <a:lstStyle/>
              <a:p>
                <a:r>
                  <a:rPr lang="en-US">
                    <a:noFill/>
                  </a:rPr>
                  <a:t> </a:t>
                </a:r>
              </a:p>
            </p:txBody>
          </p:sp>
        </mc:Fallback>
      </mc:AlternateContent>
    </p:spTree>
    <p:extLst>
      <p:ext uri="{BB962C8B-B14F-4D97-AF65-F5344CB8AC3E}">
        <p14:creationId xmlns:p14="http://schemas.microsoft.com/office/powerpoint/2010/main" val="534607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BD4B4-EE30-4C50-A2C3-1CBC00F5C273}"/>
              </a:ext>
            </a:extLst>
          </p:cNvPr>
          <p:cNvSpPr>
            <a:spLocks noGrp="1"/>
          </p:cNvSpPr>
          <p:nvPr>
            <p:ph type="title"/>
          </p:nvPr>
        </p:nvSpPr>
        <p:spPr/>
        <p:txBody>
          <a:bodyPr/>
          <a:lstStyle/>
          <a:p>
            <a:r>
              <a:rPr lang="en-US" dirty="0"/>
              <a:t>15.2 The Butler Trucking Company Example</a:t>
            </a:r>
          </a:p>
        </p:txBody>
      </p:sp>
      <p:sp>
        <p:nvSpPr>
          <p:cNvPr id="3" name="Text Placeholder 2">
            <a:extLst>
              <a:ext uri="{FF2B5EF4-FFF2-40B4-BE49-F238E27FC236}">
                <a16:creationId xmlns:a16="http://schemas.microsoft.com/office/drawing/2014/main" id="{0A924D5B-5F9E-D5AA-6985-4E8C08F1DD03}"/>
              </a:ext>
            </a:extLst>
          </p:cNvPr>
          <p:cNvSpPr>
            <a:spLocks noGrp="1"/>
          </p:cNvSpPr>
          <p:nvPr>
            <p:ph type="body" sz="quarter" idx="15"/>
          </p:nvPr>
        </p:nvSpPr>
        <p:spPr>
          <a:xfrm>
            <a:off x="743576" y="1297354"/>
            <a:ext cx="10610223" cy="1349603"/>
          </a:xfrm>
        </p:spPr>
        <p:txBody>
          <a:bodyPr/>
          <a:lstStyle/>
          <a:p>
            <a:r>
              <a:rPr lang="en-US" sz="2000" dirty="0"/>
              <a:t>To develop better work schedules, the managers at the Butler Trucking Company, want to predict the total daily travel time for their drivers.</a:t>
            </a:r>
          </a:p>
          <a:p>
            <a:r>
              <a:rPr lang="en-US" sz="2000" dirty="0"/>
              <a:t>Initially, the managers believed that the total daily travel time (</a:t>
            </a:r>
            <a:r>
              <a:rPr lang="en-US" sz="2000" dirty="0">
                <a:latin typeface="Arial" panose="020B0604020202020204" pitchFamily="34" charset="0"/>
                <a:cs typeface="Arial" panose="020B0604020202020204" pitchFamily="34" charset="0"/>
              </a:rPr>
              <a:t>𝑦</a:t>
            </a:r>
            <a:r>
              <a:rPr lang="en-US" sz="2000" dirty="0"/>
              <a:t>) would be closely related to the number of miles traveled in making the daily deliveries, </a:t>
            </a:r>
            <a:r>
              <a:rPr lang="en-US" sz="2000" dirty="0">
                <a:latin typeface="Arial" panose="020B0604020202020204" pitchFamily="34" charset="0"/>
                <a:cs typeface="Arial" panose="020B0604020202020204" pitchFamily="34" charset="0"/>
              </a:rPr>
              <a:t>𝑥</a:t>
            </a:r>
            <a:r>
              <a:rPr lang="en-US" sz="2000" dirty="0"/>
              <a:t>.</a:t>
            </a:r>
          </a:p>
        </p:txBody>
      </p:sp>
      <p:sp>
        <p:nvSpPr>
          <p:cNvPr id="5" name="Text Placeholder 4">
            <a:extLst>
              <a:ext uri="{FF2B5EF4-FFF2-40B4-BE49-F238E27FC236}">
                <a16:creationId xmlns:a16="http://schemas.microsoft.com/office/drawing/2014/main" id="{073527B5-1A1D-CB8E-D485-92FB4F8BBFB1}"/>
              </a:ext>
            </a:extLst>
          </p:cNvPr>
          <p:cNvSpPr>
            <a:spLocks noGrp="1"/>
          </p:cNvSpPr>
          <p:nvPr>
            <p:ph type="body" sz="quarter" idx="17"/>
          </p:nvPr>
        </p:nvSpPr>
        <p:spPr>
          <a:xfrm>
            <a:off x="743576" y="2670606"/>
            <a:ext cx="6090775" cy="2950473"/>
          </a:xfrm>
        </p:spPr>
        <p:txBody>
          <a:bodyPr/>
          <a:lstStyle/>
          <a:p>
            <a:r>
              <a:rPr lang="en-US" sz="2000" dirty="0" err="1"/>
              <a:t>DATAfile</a:t>
            </a:r>
            <a:r>
              <a:rPr lang="en-US" sz="2000" dirty="0"/>
              <a:t>: </a:t>
            </a:r>
            <a:r>
              <a:rPr lang="en-US" sz="2000" i="1" dirty="0"/>
              <a:t>butler</a:t>
            </a:r>
          </a:p>
          <a:p>
            <a:r>
              <a:rPr lang="en-US" sz="2000" dirty="0"/>
              <a:t>The managers used a simple random sample of 10 driving assignments to build a scatter diagram depicting the relationship between the variables.</a:t>
            </a:r>
          </a:p>
          <a:p>
            <a:r>
              <a:rPr lang="en-US" sz="2000" dirty="0"/>
              <a:t>Because the scatter diagram shows a positive linear relationship, the managers chose the simple linear regression model to represent the relationship between total daily delivery time (</a:t>
            </a:r>
            <a:r>
              <a:rPr lang="en-US" sz="2000" dirty="0">
                <a:latin typeface="Arial" panose="020B0604020202020204" pitchFamily="34" charset="0"/>
                <a:cs typeface="Arial" panose="020B0604020202020204" pitchFamily="34" charset="0"/>
              </a:rPr>
              <a:t>𝑦</a:t>
            </a:r>
            <a:r>
              <a:rPr lang="en-US" sz="2000" dirty="0"/>
              <a:t>) and the number of miles driven in making daily deliveries (</a:t>
            </a:r>
            <a:r>
              <a:rPr lang="en-US" sz="2000" dirty="0">
                <a:latin typeface="Arial" panose="020B0604020202020204" pitchFamily="34" charset="0"/>
                <a:cs typeface="Arial" panose="020B0604020202020204" pitchFamily="34" charset="0"/>
              </a:rPr>
              <a:t>𝑥</a:t>
            </a:r>
            <a:r>
              <a:rPr lang="en-US" sz="2000" i="1" dirty="0"/>
              <a:t>.</a:t>
            </a:r>
            <a:r>
              <a:rPr lang="en-US" sz="2000" dirty="0"/>
              <a:t>)</a:t>
            </a:r>
          </a:p>
        </p:txBody>
      </p:sp>
      <p:pic>
        <p:nvPicPr>
          <p:cNvPr id="8" name="Picture Placeholder 7" descr="A scatter diagram with 10 data points plots total travel time versus miles traveled. The horizontal axis is labeled “Miles Traveled” and ranges from 50 to 100 with tickmarks in increments of 10. The vertical axis is labeled “Total Travel Time (hours)” and ranges from 4 to 10 with tickmarks in increments of 1. The coordinates of the points are (50, 4.2), (50, 4.8), (65, 6.0), (75, 7.4), (80, 6.2), (90, 6.1), (90, 7.6), (100, 6.5), (100, 8.9), and (100, 9.3).&#10;">
            <a:extLst>
              <a:ext uri="{FF2B5EF4-FFF2-40B4-BE49-F238E27FC236}">
                <a16:creationId xmlns:a16="http://schemas.microsoft.com/office/drawing/2014/main" id="{423B0DA4-1CF0-01DD-9C62-5AD1A56050B0}"/>
              </a:ext>
            </a:extLst>
          </p:cNvPr>
          <p:cNvPicPr>
            <a:picLocks noGrp="1" noChangeAspect="1"/>
          </p:cNvPicPr>
          <p:nvPr>
            <p:ph type="pic" sz="quarter" idx="16"/>
          </p:nvPr>
        </p:nvPicPr>
        <p:blipFill rotWithShape="1">
          <a:blip r:embed="rId2"/>
          <a:srcRect t="36" b="36"/>
          <a:stretch/>
        </p:blipFill>
        <p:spPr>
          <a:xfrm>
            <a:off x="6829093" y="2760752"/>
            <a:ext cx="4221679" cy="3262074"/>
          </a:xfrm>
        </p:spPr>
      </p:pic>
    </p:spTree>
    <p:extLst>
      <p:ext uri="{BB962C8B-B14F-4D97-AF65-F5344CB8AC3E}">
        <p14:creationId xmlns:p14="http://schemas.microsoft.com/office/powerpoint/2010/main" val="792599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4563C-542A-D08C-1A11-F2F943F613B0}"/>
              </a:ext>
            </a:extLst>
          </p:cNvPr>
          <p:cNvSpPr>
            <a:spLocks noGrp="1"/>
          </p:cNvSpPr>
          <p:nvPr>
            <p:ph type="title"/>
          </p:nvPr>
        </p:nvSpPr>
        <p:spPr/>
        <p:txBody>
          <a:bodyPr/>
          <a:lstStyle/>
          <a:p>
            <a:r>
              <a:rPr lang="en-US" sz="3200" dirty="0">
                <a:solidFill>
                  <a:srgbClr val="25894E"/>
                </a:solidFill>
              </a:rPr>
              <a:t>15.2 Excel: Simple Linear Regression Output with One Independent Variable</a:t>
            </a:r>
            <a:endParaRPr lang="en-US" sz="3200"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31EB207-E6CC-3AF0-A9DB-03F1D10D990F}"/>
                  </a:ext>
                </a:extLst>
              </p:cNvPr>
              <p:cNvSpPr>
                <a:spLocks noGrp="1"/>
              </p:cNvSpPr>
              <p:nvPr>
                <p:ph type="body" sz="quarter" idx="15"/>
              </p:nvPr>
            </p:nvSpPr>
            <p:spPr>
              <a:xfrm>
                <a:off x="743576" y="1580707"/>
                <a:ext cx="10610223" cy="1076768"/>
              </a:xfrm>
            </p:spPr>
            <p:txBody>
              <a:bodyPr/>
              <a:lstStyle/>
              <a:p>
                <a:pPr>
                  <a:lnSpc>
                    <a:spcPct val="100000"/>
                  </a:lnSpc>
                  <a:spcBef>
                    <a:spcPts val="600"/>
                  </a:spcBef>
                  <a:spcAft>
                    <a:spcPts val="600"/>
                  </a:spcAft>
                </a:pPr>
                <a:r>
                  <a:rPr lang="en-US" sz="2000" dirty="0"/>
                  <a:t>The computer output to the right shows the results of the simple linear regression with the total miles traveled as the independent variable </a:t>
                </a:r>
                <a:r>
                  <a:rPr lang="en-US" sz="2000" dirty="0">
                    <a:latin typeface="Arial" panose="020B0604020202020204" pitchFamily="34" charset="0"/>
                    <a:cs typeface="Arial" panose="020B0604020202020204" pitchFamily="34" charset="0"/>
                  </a:rPr>
                  <a:t>𝑥</a:t>
                </a:r>
                <a:r>
                  <a:rPr lang="en-US" sz="2000" dirty="0"/>
                  <a:t>.</a:t>
                </a:r>
              </a:p>
              <a:p>
                <a:pPr marL="914400">
                  <a:lnSpc>
                    <a:spcPct val="100000"/>
                  </a:lnSpc>
                  <a:spcBef>
                    <a:spcPts val="600"/>
                  </a:spcBef>
                  <a:spcAft>
                    <a:spcPts val="600"/>
                  </a:spcAft>
                </a:pPr>
                <a14:m>
                  <m:oMathPara xmlns:m="http://schemas.openxmlformats.org/officeDocument/2006/math">
                    <m:oMathParaPr>
                      <m:jc m:val="left"/>
                    </m:oMathParaPr>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𝑦</m:t>
                          </m:r>
                        </m:e>
                      </m:acc>
                      <m:r>
                        <a:rPr lang="en-US" sz="2000" b="0" i="1" smtClean="0">
                          <a:latin typeface="Cambria Math" panose="02040503050406030204" pitchFamily="18" charset="0"/>
                        </a:rPr>
                        <m:t>=1.27+0.0678 </m:t>
                      </m:r>
                      <m:r>
                        <a:rPr lang="en-US" sz="2000" b="0" i="1" smtClean="0">
                          <a:latin typeface="Cambria Math" panose="02040503050406030204" pitchFamily="18" charset="0"/>
                        </a:rPr>
                        <m:t>𝑥</m:t>
                      </m:r>
                    </m:oMath>
                  </m:oMathPara>
                </a14:m>
                <a:endParaRPr lang="en-US" sz="2000" dirty="0"/>
              </a:p>
            </p:txBody>
          </p:sp>
        </mc:Choice>
        <mc:Fallback xmlns="">
          <p:sp>
            <p:nvSpPr>
              <p:cNvPr id="3" name="Text Placeholder 2">
                <a:extLst>
                  <a:ext uri="{FF2B5EF4-FFF2-40B4-BE49-F238E27FC236}">
                    <a16:creationId xmlns:a16="http://schemas.microsoft.com/office/drawing/2014/main" id="{431EB207-E6CC-3AF0-A9DB-03F1D10D990F}"/>
                  </a:ext>
                </a:extLst>
              </p:cNvPr>
              <p:cNvSpPr>
                <a:spLocks noGrp="1" noRot="1" noChangeAspect="1" noMove="1" noResize="1" noEditPoints="1" noAdjustHandles="1" noChangeArrowheads="1" noChangeShapeType="1" noTextEdit="1"/>
              </p:cNvSpPr>
              <p:nvPr>
                <p:ph type="body" sz="quarter" idx="15"/>
              </p:nvPr>
            </p:nvSpPr>
            <p:spPr>
              <a:xfrm>
                <a:off x="743576" y="1580707"/>
                <a:ext cx="10610223" cy="1076768"/>
              </a:xfrm>
              <a:blipFill>
                <a:blip r:embed="rId3"/>
                <a:stretch>
                  <a:fillRect l="-1494" t="-6780" r="-18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Placeholder 8">
                <a:extLst>
                  <a:ext uri="{FF2B5EF4-FFF2-40B4-BE49-F238E27FC236}">
                    <a16:creationId xmlns:a16="http://schemas.microsoft.com/office/drawing/2014/main" id="{3572EA37-DEEC-5A58-AF51-9594045422C6}"/>
                  </a:ext>
                </a:extLst>
              </p:cNvPr>
              <p:cNvSpPr>
                <a:spLocks noGrp="1"/>
              </p:cNvSpPr>
              <p:nvPr>
                <p:ph type="body" sz="quarter" idx="17"/>
              </p:nvPr>
            </p:nvSpPr>
            <p:spPr>
              <a:xfrm>
                <a:off x="743576" y="2657475"/>
                <a:ext cx="5278605" cy="3190962"/>
              </a:xfrm>
            </p:spPr>
            <p:txBody>
              <a:bodyPr/>
              <a:lstStyle/>
              <a:p>
                <a:pPr>
                  <a:lnSpc>
                    <a:spcPct val="100000"/>
                  </a:lnSpc>
                  <a:spcBef>
                    <a:spcPts val="600"/>
                  </a:spcBef>
                  <a:spcAft>
                    <a:spcPts val="0"/>
                  </a:spcAft>
                </a:pPr>
                <a:r>
                  <a:rPr lang="en-US" sz="2000" dirty="0"/>
                  <a:t>From the computer output, </a:t>
                </a:r>
                <a14:m>
                  <m:oMath xmlns:m="http://schemas.openxmlformats.org/officeDocument/2006/math">
                    <m:r>
                      <a:rPr lang="en-US" sz="2000" i="1" dirty="0" smtClean="0">
                        <a:latin typeface="Cambria Math" panose="02040503050406030204" pitchFamily="18" charset="0"/>
                      </a:rPr>
                      <m:t>𝐹</m:t>
                    </m:r>
                    <m:r>
                      <a:rPr lang="en-US" sz="2000" i="1" dirty="0" smtClean="0">
                        <a:latin typeface="Cambria Math" panose="02040503050406030204" pitchFamily="18" charset="0"/>
                      </a:rPr>
                      <m:t>=15.81</m:t>
                    </m:r>
                  </m:oMath>
                </a14:m>
                <a:r>
                  <a:rPr lang="en-US" sz="2000" dirty="0"/>
                  <a:t> and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𝑡</m:t>
                        </m:r>
                      </m:e>
                      <m:sub>
                        <m:r>
                          <a:rPr lang="en-US" sz="2000" b="0" i="1" dirty="0" smtClean="0">
                            <a:latin typeface="Cambria Math" panose="02040503050406030204" pitchFamily="18" charset="0"/>
                          </a:rPr>
                          <m:t>1</m:t>
                        </m:r>
                      </m:sub>
                    </m:sSub>
                    <m:r>
                      <a:rPr lang="en-US" sz="2000" i="1" dirty="0" smtClean="0">
                        <a:latin typeface="Cambria Math" panose="02040503050406030204" pitchFamily="18" charset="0"/>
                      </a:rPr>
                      <m:t>=3.98</m:t>
                    </m:r>
                  </m:oMath>
                </a14:m>
                <a:r>
                  <a:rPr lang="en-US" sz="2000" dirty="0"/>
                  <a:t>. Thus, both </a:t>
                </a:r>
                <a:r>
                  <a:rPr lang="en-US" sz="2000" i="1" dirty="0"/>
                  <a:t>F</a:t>
                </a:r>
                <a:r>
                  <a:rPr lang="en-US" sz="2000" dirty="0"/>
                  <a:t> and </a:t>
                </a:r>
                <a:r>
                  <a:rPr lang="en-US" sz="2000" i="1" dirty="0"/>
                  <a:t>t</a:t>
                </a:r>
                <a:r>
                  <a:rPr lang="en-US" sz="2000" dirty="0"/>
                  <a:t> tests produce a </a:t>
                </a:r>
                <a14:m>
                  <m:oMath xmlns:m="http://schemas.openxmlformats.org/officeDocument/2006/math">
                    <m:r>
                      <m:rPr>
                        <m:nor/>
                      </m:rPr>
                      <a:rPr lang="en-US" sz="2000" i="1" dirty="0" smtClean="0">
                        <a:latin typeface="Cambria Math" panose="02040503050406030204" pitchFamily="18" charset="0"/>
                      </a:rPr>
                      <m:t>p</m:t>
                    </m:r>
                    <m:r>
                      <m:rPr>
                        <m:nor/>
                      </m:rPr>
                      <a:rPr lang="en-US" sz="2000" i="0" dirty="0" smtClean="0">
                        <a:latin typeface="Cambria Math" panose="02040503050406030204" pitchFamily="18" charset="0"/>
                      </a:rPr>
                      <m:t>−</m:t>
                    </m:r>
                    <m:r>
                      <m:rPr>
                        <m:nor/>
                      </m:rPr>
                      <a:rPr lang="en-US" sz="2000" i="0" dirty="0" smtClean="0">
                        <a:latin typeface="Cambria Math" panose="02040503050406030204" pitchFamily="18" charset="0"/>
                      </a:rPr>
                      <m:t>value</m:t>
                    </m:r>
                    <m:r>
                      <a:rPr lang="en-US" sz="2000" i="1" dirty="0" smtClean="0">
                        <a:latin typeface="Cambria Math" panose="02040503050406030204" pitchFamily="18" charset="0"/>
                      </a:rPr>
                      <m:t>=0.004</m:t>
                    </m:r>
                  </m:oMath>
                </a14:m>
                <a:r>
                  <a:rPr lang="en-US" sz="2000" dirty="0"/>
                  <a:t>. </a:t>
                </a:r>
              </a:p>
              <a:p>
                <a:pPr>
                  <a:lnSpc>
                    <a:spcPct val="100000"/>
                  </a:lnSpc>
                  <a:spcBef>
                    <a:spcPts val="600"/>
                  </a:spcBef>
                  <a:spcAft>
                    <a:spcPts val="0"/>
                  </a:spcAft>
                </a:pPr>
                <a:r>
                  <a:rPr lang="en-US" sz="2000" dirty="0"/>
                  <a:t>At </a:t>
                </a:r>
                <a14:m>
                  <m:oMath xmlns:m="http://schemas.openxmlformats.org/officeDocument/2006/math">
                    <m:r>
                      <a:rPr lang="en-US" sz="2000" i="1" dirty="0">
                        <a:latin typeface="Cambria Math" panose="02040503050406030204" pitchFamily="18" charset="0"/>
                      </a:rPr>
                      <m:t>𝑎</m:t>
                    </m:r>
                    <m:r>
                      <a:rPr lang="en-US" sz="2000" i="1" dirty="0">
                        <a:latin typeface="Cambria Math" panose="02040503050406030204" pitchFamily="18" charset="0"/>
                      </a:rPr>
                      <m:t>=0.05</m:t>
                    </m:r>
                  </m:oMath>
                </a14:m>
                <a:r>
                  <a:rPr lang="en-US" sz="2000" dirty="0"/>
                  <a:t>, we can reject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𝐻</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=0</m:t>
                    </m:r>
                  </m:oMath>
                </a14:m>
                <a:r>
                  <a:rPr lang="en-US" sz="2000" dirty="0"/>
                  <a:t> and conclude that the relationship between the total travel time and the total miles traveled is significant.</a:t>
                </a:r>
              </a:p>
              <a:p>
                <a:pPr>
                  <a:lnSpc>
                    <a:spcPct val="100000"/>
                  </a:lnSpc>
                  <a:spcBef>
                    <a:spcPts val="600"/>
                  </a:spcBef>
                  <a:spcAft>
                    <a:spcPts val="0"/>
                  </a:spcAft>
                </a:pPr>
                <a:r>
                  <a:rPr lang="en-US" sz="2000" dirty="0"/>
                  <a:t>The coefficient of determination also reveals that about 66.41% of the variability in travel time can be explained by the total miles driven.</a:t>
                </a:r>
              </a:p>
              <a:p>
                <a:endParaRPr lang="en-US" dirty="0"/>
              </a:p>
            </p:txBody>
          </p:sp>
        </mc:Choice>
        <mc:Fallback xmlns="">
          <p:sp>
            <p:nvSpPr>
              <p:cNvPr id="9" name="Text Placeholder 8">
                <a:extLst>
                  <a:ext uri="{FF2B5EF4-FFF2-40B4-BE49-F238E27FC236}">
                    <a16:creationId xmlns:a16="http://schemas.microsoft.com/office/drawing/2014/main" id="{3572EA37-DEEC-5A58-AF51-9594045422C6}"/>
                  </a:ext>
                </a:extLst>
              </p:cNvPr>
              <p:cNvSpPr>
                <a:spLocks noGrp="1" noRot="1" noChangeAspect="1" noMove="1" noResize="1" noEditPoints="1" noAdjustHandles="1" noChangeArrowheads="1" noChangeShapeType="1" noTextEdit="1"/>
              </p:cNvSpPr>
              <p:nvPr>
                <p:ph type="body" sz="quarter" idx="17"/>
              </p:nvPr>
            </p:nvSpPr>
            <p:spPr>
              <a:xfrm>
                <a:off x="743576" y="2657475"/>
                <a:ext cx="5278605" cy="3190962"/>
              </a:xfrm>
              <a:blipFill>
                <a:blip r:embed="rId4"/>
                <a:stretch>
                  <a:fillRect l="-3002" t="-2294" r="-2887" b="-5354"/>
                </a:stretch>
              </a:blipFill>
            </p:spPr>
            <p:txBody>
              <a:bodyPr/>
              <a:lstStyle/>
              <a:p>
                <a:r>
                  <a:rPr lang="en-US">
                    <a:noFill/>
                  </a:rPr>
                  <a:t> </a:t>
                </a:r>
              </a:p>
            </p:txBody>
          </p:sp>
        </mc:Fallback>
      </mc:AlternateContent>
      <p:pic>
        <p:nvPicPr>
          <p:cNvPr id="14" name="Picture Placeholder 13" descr="A screenshot of an Excel spreadsheet shows an input table and three output tables. In the input table, column A is labeled assignment, column B is labeled miles, and column C is labeled time. The entries in rows 2 through 11 are as follows. Row 2. Assignment: 1. Miles: 100. Time: 9.3. Row 3. Assignment: 2. Miles: 50. Time: 4.8. Row 4. Assignment: 3. Miles: 100. Time: 8.9. Row 5. Assignment: 4. Miles: 100. Time: 6.5. Row 6. Assignment: 5. Miles: 50. Time: 4.2. Row 7. Assignment: 6. Miles: 80. Time: 6.2. Row 8. Assignment: 7. Miles: 75. Time: 7.4. Row 9. Assignment: 8. Miles: 65. Time: 6.0. Row 10. Assignment: 9. Miles: 90. Time: 7.6. Row 11. Assignment: 10. Miles: 90. Time: 6.1. The first output table is titled regression statistics. The entries in rows 16 through 20 are as follows. Row 16: Multiple R, 0.8149. Row 17: R square, 0.6641. Row 18: Adjusted R square, 0.6221. Row 19: Standard error, 1.0018. Row 20: Observations, 10. The second output table is titled ANOVA. Column B is labeled d f, column C is labeled S S, column D is labeled M S, column E is labeled F, and column F is labeled significance F. The entries in rows 24 through 26 are as follows. Row 24: Regression. d f: 1. S S: 15.8713. M S: 15.8713. F: 15.8146. Significance: 0.0041. Row 25: Residual. d f: 8. S S: 8.0287. M S: 1.0036. Row 26: Total. d f: 9. S S: 23.9. In the third output table, column B is labeled coefficients, column C is labeled standard error, column D is labeled t Stat, column E is labeled P value, column F is labeled lower 95 percent, column G is labeled upper 95 percent, column H is labeled lower 99.0 percent, column I is labeled upper 99.0 percent. The entries in rows 29 and 30 are as follows. Row 29: Intercept. Coefficients: 1.2739. Standard error: 1.4007. t Stat: 0.9095. P-value: 0.3897. Lower 95 percent: Negative 1.9562. Upper 95 percent: 4.5040. Lower 99.0 percent: Negative 3.4261. Upper 99.0 percent: 5.9740. Row 30: Miles. Coefficients: 0.00678. Standard error: 0.0171. t Stat: 3.9768. P-value: 0.0041. Lower 95 percent: 0.0285. Upper 95 percent: 0.1072. Lower 99.0 percent: 0.0106. Upper 99.0 percent: 0.1251.">
            <a:extLst>
              <a:ext uri="{FF2B5EF4-FFF2-40B4-BE49-F238E27FC236}">
                <a16:creationId xmlns:a16="http://schemas.microsoft.com/office/drawing/2014/main" id="{DF2B0861-CB22-1A39-FD14-D6E0FA96A8ED}"/>
              </a:ext>
            </a:extLst>
          </p:cNvPr>
          <p:cNvPicPr>
            <a:picLocks noGrp="1" noChangeAspect="1"/>
          </p:cNvPicPr>
          <p:nvPr>
            <p:ph type="pic" sz="quarter" idx="16"/>
          </p:nvPr>
        </p:nvPicPr>
        <p:blipFill>
          <a:blip r:embed="rId5"/>
          <a:srcRect t="32" b="32"/>
          <a:stretch/>
        </p:blipFill>
        <p:spPr>
          <a:xfrm>
            <a:off x="6169821" y="2227349"/>
            <a:ext cx="5276850" cy="3621088"/>
          </a:xfrm>
          <a:ln>
            <a:solidFill>
              <a:srgbClr val="000000"/>
            </a:solidFill>
          </a:ln>
        </p:spPr>
      </p:pic>
    </p:spTree>
    <p:extLst>
      <p:ext uri="{BB962C8B-B14F-4D97-AF65-F5344CB8AC3E}">
        <p14:creationId xmlns:p14="http://schemas.microsoft.com/office/powerpoint/2010/main" val="527370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37BF1-EDD6-894F-BC52-C9BE8A9EA266}"/>
              </a:ext>
            </a:extLst>
          </p:cNvPr>
          <p:cNvSpPr>
            <a:spLocks noGrp="1"/>
          </p:cNvSpPr>
          <p:nvPr>
            <p:ph type="title"/>
          </p:nvPr>
        </p:nvSpPr>
        <p:spPr/>
        <p:txBody>
          <a:bodyPr/>
          <a:lstStyle/>
          <a:p>
            <a:r>
              <a:rPr lang="en-US" dirty="0">
                <a:solidFill>
                  <a:srgbClr val="25894E"/>
                </a:solidFill>
              </a:rPr>
              <a:t>15.2 Excel: Regression Tool Dialog Box</a:t>
            </a:r>
          </a:p>
        </p:txBody>
      </p:sp>
      <p:sp>
        <p:nvSpPr>
          <p:cNvPr id="3" name="Text Placeholder 2">
            <a:extLst>
              <a:ext uri="{FF2B5EF4-FFF2-40B4-BE49-F238E27FC236}">
                <a16:creationId xmlns:a16="http://schemas.microsoft.com/office/drawing/2014/main" id="{0946CED9-69D7-EA27-D74C-73D59A74B3DF}"/>
              </a:ext>
            </a:extLst>
          </p:cNvPr>
          <p:cNvSpPr>
            <a:spLocks noGrp="1"/>
          </p:cNvSpPr>
          <p:nvPr>
            <p:ph type="body" sz="quarter" idx="15"/>
          </p:nvPr>
        </p:nvSpPr>
        <p:spPr>
          <a:xfrm>
            <a:off x="743577" y="1107279"/>
            <a:ext cx="10610223" cy="1535906"/>
          </a:xfrm>
        </p:spPr>
        <p:txBody>
          <a:bodyPr/>
          <a:lstStyle/>
          <a:p>
            <a:r>
              <a:rPr lang="en-US" sz="2000" dirty="0"/>
              <a:t>The managers felt that the number of deliveries (column D) could also contribute to the total travel time. Thus, we must compute a multiple regression with two independent variables.</a:t>
            </a:r>
          </a:p>
          <a:p>
            <a:r>
              <a:rPr lang="en-US" sz="2000" b="1" dirty="0"/>
              <a:t>Enter/Access Data</a:t>
            </a:r>
            <a:r>
              <a:rPr lang="en-US" sz="2000" dirty="0"/>
              <a:t>: Open the file </a:t>
            </a:r>
            <a:r>
              <a:rPr lang="en-US" sz="2000" i="1" dirty="0"/>
              <a:t>butler</a:t>
            </a:r>
            <a:r>
              <a:rPr lang="en-US" sz="2000" dirty="0"/>
              <a:t>. The data and labels are in cells B1:D11.</a:t>
            </a:r>
          </a:p>
          <a:p>
            <a:r>
              <a:rPr lang="en-US" sz="2000" b="1" dirty="0"/>
              <a:t>Apply Tools</a:t>
            </a:r>
            <a:r>
              <a:rPr lang="en-US" sz="2000" dirty="0"/>
              <a:t>: The following steps describe how to use Excel’s Regression tool to perform multiple regression analysis computations. See notes.</a:t>
            </a:r>
          </a:p>
        </p:txBody>
      </p:sp>
      <p:sp>
        <p:nvSpPr>
          <p:cNvPr id="5" name="Text Placeholder 4">
            <a:extLst>
              <a:ext uri="{FF2B5EF4-FFF2-40B4-BE49-F238E27FC236}">
                <a16:creationId xmlns:a16="http://schemas.microsoft.com/office/drawing/2014/main" id="{0BC5C519-FE0A-8E10-4119-6D90670A6063}"/>
              </a:ext>
            </a:extLst>
          </p:cNvPr>
          <p:cNvSpPr>
            <a:spLocks noGrp="1"/>
          </p:cNvSpPr>
          <p:nvPr>
            <p:ph type="body" sz="quarter" idx="17"/>
          </p:nvPr>
        </p:nvSpPr>
        <p:spPr>
          <a:xfrm>
            <a:off x="743575" y="2857497"/>
            <a:ext cx="6550193" cy="3171825"/>
          </a:xfrm>
        </p:spPr>
        <p:txBody>
          <a:bodyPr/>
          <a:lstStyle/>
          <a:p>
            <a:pPr marL="457200">
              <a:spcBef>
                <a:spcPts val="400"/>
              </a:spcBef>
            </a:pPr>
            <a:r>
              <a:rPr lang="en-US" sz="1800" b="1" dirty="0"/>
              <a:t>Step 1</a:t>
            </a:r>
            <a:r>
              <a:rPr lang="en-US" sz="1800" dirty="0"/>
              <a:t>. Click the </a:t>
            </a:r>
            <a:r>
              <a:rPr lang="en-US" sz="1800" b="1" dirty="0"/>
              <a:t>Data</a:t>
            </a:r>
            <a:r>
              <a:rPr lang="en-US" sz="1800" dirty="0"/>
              <a:t> tab on the Ribbon</a:t>
            </a:r>
          </a:p>
          <a:p>
            <a:pPr marL="457200">
              <a:spcBef>
                <a:spcPts val="400"/>
              </a:spcBef>
            </a:pPr>
            <a:r>
              <a:rPr lang="en-US" sz="1800" b="1" dirty="0"/>
              <a:t>Step 2</a:t>
            </a:r>
            <a:r>
              <a:rPr lang="en-US" sz="1800" dirty="0"/>
              <a:t>. In the </a:t>
            </a:r>
            <a:r>
              <a:rPr lang="en-US" sz="1800" b="1" dirty="0"/>
              <a:t>Analyze</a:t>
            </a:r>
            <a:r>
              <a:rPr lang="en-US" sz="1800" dirty="0"/>
              <a:t> group, click </a:t>
            </a:r>
            <a:r>
              <a:rPr lang="en-US" sz="1800" b="1" dirty="0"/>
              <a:t>Data Analysis</a:t>
            </a:r>
          </a:p>
          <a:p>
            <a:pPr marL="457200">
              <a:spcBef>
                <a:spcPts val="400"/>
              </a:spcBef>
            </a:pPr>
            <a:r>
              <a:rPr lang="en-US" sz="1800" b="1" dirty="0"/>
              <a:t>Step 3</a:t>
            </a:r>
            <a:r>
              <a:rPr lang="en-US" sz="1800" dirty="0"/>
              <a:t>. Choose </a:t>
            </a:r>
            <a:r>
              <a:rPr lang="en-US" sz="1800" b="1" dirty="0"/>
              <a:t>Regression</a:t>
            </a:r>
            <a:r>
              <a:rPr lang="en-US" sz="1800" dirty="0"/>
              <a:t> from the list of tools</a:t>
            </a:r>
          </a:p>
          <a:p>
            <a:pPr marL="457200">
              <a:spcBef>
                <a:spcPts val="400"/>
              </a:spcBef>
            </a:pPr>
            <a:r>
              <a:rPr lang="en-US" sz="1800" b="1" dirty="0"/>
              <a:t>Step 4</a:t>
            </a:r>
            <a:r>
              <a:rPr lang="en-US" sz="1800" dirty="0"/>
              <a:t>. In the </a:t>
            </a:r>
            <a:r>
              <a:rPr lang="en-US" sz="1800" b="1" dirty="0"/>
              <a:t>Regression</a:t>
            </a:r>
            <a:r>
              <a:rPr lang="en-US" sz="1800" dirty="0"/>
              <a:t> dialog box:</a:t>
            </a:r>
          </a:p>
          <a:p>
            <a:pPr marL="685800">
              <a:spcBef>
                <a:spcPts val="400"/>
              </a:spcBef>
            </a:pPr>
            <a:r>
              <a:rPr lang="en-US" sz="1800" dirty="0"/>
              <a:t>Enter D1:D11 in the</a:t>
            </a:r>
            <a:r>
              <a:rPr lang="en-US" sz="1800" b="1" dirty="0"/>
              <a:t> Input Y Range: </a:t>
            </a:r>
            <a:r>
              <a:rPr lang="en-US" sz="1800" dirty="0"/>
              <a:t>box</a:t>
            </a:r>
          </a:p>
          <a:p>
            <a:pPr marL="685800">
              <a:spcBef>
                <a:spcPts val="400"/>
              </a:spcBef>
            </a:pPr>
            <a:r>
              <a:rPr lang="en-US" sz="1800" dirty="0"/>
              <a:t>Enter B1:C11 in the </a:t>
            </a:r>
            <a:r>
              <a:rPr lang="en-US" sz="1800" b="1" dirty="0"/>
              <a:t>Input X Range: </a:t>
            </a:r>
            <a:r>
              <a:rPr lang="en-US" sz="1800" dirty="0"/>
              <a:t>box</a:t>
            </a:r>
          </a:p>
          <a:p>
            <a:pPr marL="685800">
              <a:spcBef>
                <a:spcPts val="400"/>
              </a:spcBef>
            </a:pPr>
            <a:r>
              <a:rPr lang="en-US" sz="1800" dirty="0"/>
              <a:t>Select the check box for </a:t>
            </a:r>
            <a:r>
              <a:rPr lang="en-US" sz="1800" b="1" dirty="0"/>
              <a:t>Labels</a:t>
            </a:r>
          </a:p>
          <a:p>
            <a:pPr marL="914400" indent="-228600">
              <a:spcBef>
                <a:spcPts val="400"/>
              </a:spcBef>
            </a:pPr>
            <a:r>
              <a:rPr lang="en-US" sz="1800" dirty="0"/>
              <a:t>Select </a:t>
            </a:r>
            <a:r>
              <a:rPr lang="en-US" sz="1800" b="1" dirty="0"/>
              <a:t>Output Range:</a:t>
            </a:r>
            <a:r>
              <a:rPr lang="en-US" sz="1800" dirty="0"/>
              <a:t> in the </a:t>
            </a:r>
            <a:r>
              <a:rPr lang="en-US" sz="1800" b="1" dirty="0"/>
              <a:t>Output</a:t>
            </a:r>
            <a:r>
              <a:rPr lang="en-US" sz="1800" dirty="0"/>
              <a:t> </a:t>
            </a:r>
            <a:r>
              <a:rPr lang="en-US" sz="1800" b="1" dirty="0"/>
              <a:t>options</a:t>
            </a:r>
            <a:r>
              <a:rPr lang="en-US" sz="1800" dirty="0"/>
              <a:t> area and enter </a:t>
            </a:r>
            <a:r>
              <a:rPr lang="en-US" sz="1800" i="1" dirty="0"/>
              <a:t>A13</a:t>
            </a:r>
          </a:p>
          <a:p>
            <a:pPr marL="685800">
              <a:spcBef>
                <a:spcPts val="400"/>
              </a:spcBef>
            </a:pPr>
            <a:r>
              <a:rPr lang="en-US" sz="1800" dirty="0"/>
              <a:t>Click </a:t>
            </a:r>
            <a:r>
              <a:rPr lang="en-US" sz="1800" b="1" dirty="0"/>
              <a:t>OK</a:t>
            </a:r>
            <a:r>
              <a:rPr lang="en-US" sz="1800" dirty="0"/>
              <a:t>.</a:t>
            </a:r>
          </a:p>
        </p:txBody>
      </p:sp>
      <p:pic>
        <p:nvPicPr>
          <p:cNvPr id="8" name="Picture Placeholder 7" descr="A screenshot shows an Excel spreadsheet and the Regression dialog box. The spreadsheet has entries in columns A through D and in rows 2 through 11. The dialog box has four sections. The first section is titled Input and consists of the following elements. Entry field labeled input Y range with the entry dollar sign D dollar sign 1 colon dollar sign D dollar sign 11. Entry field labeled input X range with the entry dollar sign B dollar sign 1 colon dollar sign C dollar sign 11. Checked checkbox labeled labels. Checked checkbox labeled confidence level with the entry 99 percent. Checkbox labeled constant is zero. The second section is titled Output Options and consists of the following elements. Radio button labeled output range (selected) with entry dollar sign A dollar sign 13. Radio button labeled new worksheet ply with a grayed out field. Radio button labeled new workbook. The third section is titled Residual with four checkboxes: Residuals, residual plots, standardized residuals, and line fit plots. The fourth section is titled Normal probability with the entry Normal probability plots. Three buttons labeled O K, cancel, and help are on the right side. The O K button is selected.">
            <a:extLst>
              <a:ext uri="{FF2B5EF4-FFF2-40B4-BE49-F238E27FC236}">
                <a16:creationId xmlns:a16="http://schemas.microsoft.com/office/drawing/2014/main" id="{4B5218F4-F0CD-190C-5A20-20FDDB1EFD11}"/>
              </a:ext>
            </a:extLst>
          </p:cNvPr>
          <p:cNvPicPr>
            <a:picLocks noGrp="1" noChangeAspect="1"/>
          </p:cNvPicPr>
          <p:nvPr>
            <p:ph type="pic" sz="quarter" idx="16"/>
          </p:nvPr>
        </p:nvPicPr>
        <p:blipFill>
          <a:blip r:embed="rId3"/>
          <a:srcRect t="2" b="2"/>
          <a:stretch/>
        </p:blipFill>
        <p:spPr>
          <a:xfrm>
            <a:off x="7350919" y="2525923"/>
            <a:ext cx="3900155" cy="3503399"/>
          </a:xfrm>
        </p:spPr>
      </p:pic>
    </p:spTree>
    <p:extLst>
      <p:ext uri="{BB962C8B-B14F-4D97-AF65-F5344CB8AC3E}">
        <p14:creationId xmlns:p14="http://schemas.microsoft.com/office/powerpoint/2010/main" val="606237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4563C-542A-D08C-1A11-F2F943F613B0}"/>
              </a:ext>
            </a:extLst>
          </p:cNvPr>
          <p:cNvSpPr>
            <a:spLocks noGrp="1"/>
          </p:cNvSpPr>
          <p:nvPr>
            <p:ph type="title"/>
          </p:nvPr>
        </p:nvSpPr>
        <p:spPr/>
        <p:txBody>
          <a:bodyPr/>
          <a:lstStyle/>
          <a:p>
            <a:r>
              <a:rPr lang="en-US" sz="3200" dirty="0">
                <a:solidFill>
                  <a:srgbClr val="25894E"/>
                </a:solidFill>
              </a:rPr>
              <a:t>15.2 Excel: Multiple Regression Output with Two Independent Variables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31EB207-E6CC-3AF0-A9DB-03F1D10D990F}"/>
                  </a:ext>
                </a:extLst>
              </p:cNvPr>
              <p:cNvSpPr>
                <a:spLocks noGrp="1"/>
              </p:cNvSpPr>
              <p:nvPr>
                <p:ph type="body" sz="quarter" idx="15"/>
              </p:nvPr>
            </p:nvSpPr>
            <p:spPr>
              <a:xfrm>
                <a:off x="743576" y="1523555"/>
                <a:ext cx="10610223" cy="1076768"/>
              </a:xfrm>
            </p:spPr>
            <p:txBody>
              <a:bodyPr/>
              <a:lstStyle/>
              <a:p>
                <a:pPr>
                  <a:lnSpc>
                    <a:spcPct val="100000"/>
                  </a:lnSpc>
                  <a:spcBef>
                    <a:spcPts val="600"/>
                  </a:spcBef>
                  <a:spcAft>
                    <a:spcPts val="600"/>
                  </a:spcAft>
                </a:pPr>
                <a:r>
                  <a:rPr lang="en-US" sz="2000" dirty="0"/>
                  <a:t>The computer output to the right shows the results of a multiple regression with both total miles traveled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𝑥</m:t>
                        </m:r>
                      </m:e>
                      <m:sub>
                        <m:r>
                          <a:rPr lang="en-US" sz="2000" b="0" i="1" smtClean="0">
                            <a:latin typeface="Cambria Math" panose="02040503050406030204" pitchFamily="18" charset="0"/>
                            <a:cs typeface="Arial" panose="020B0604020202020204" pitchFamily="34" charset="0"/>
                          </a:rPr>
                          <m:t>1</m:t>
                        </m:r>
                      </m:sub>
                    </m:sSub>
                  </m:oMath>
                </a14:m>
                <a:r>
                  <a:rPr lang="en-US" sz="2000" dirty="0">
                    <a:latin typeface="Arial" panose="020B0604020202020204" pitchFamily="34" charset="0"/>
                    <a:cs typeface="Arial" panose="020B0604020202020204" pitchFamily="34" charset="0"/>
                  </a:rPr>
                  <a:t>) and number of deliveries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𝑥</m:t>
                        </m:r>
                      </m:e>
                      <m:sub>
                        <m:r>
                          <a:rPr lang="en-US" sz="2000" b="0" i="1" smtClean="0">
                            <a:latin typeface="Cambria Math" panose="02040503050406030204" pitchFamily="18" charset="0"/>
                            <a:cs typeface="Arial" panose="020B0604020202020204" pitchFamily="34" charset="0"/>
                          </a:rPr>
                          <m:t>2</m:t>
                        </m:r>
                      </m:sub>
                    </m:sSub>
                  </m:oMath>
                </a14:m>
                <a:r>
                  <a:rPr lang="en-US" sz="2000" dirty="0">
                    <a:latin typeface="Arial" panose="020B0604020202020204" pitchFamily="34" charset="0"/>
                    <a:cs typeface="Arial" panose="020B0604020202020204" pitchFamily="34" charset="0"/>
                  </a:rPr>
                  <a:t>) as independent variables. </a:t>
                </a:r>
                <a:endParaRPr lang="en-US" sz="2000" dirty="0"/>
              </a:p>
              <a:p>
                <a:pPr marL="457200">
                  <a:lnSpc>
                    <a:spcPct val="100000"/>
                  </a:lnSpc>
                  <a:spcBef>
                    <a:spcPts val="600"/>
                  </a:spcBef>
                  <a:spcAft>
                    <a:spcPts val="600"/>
                  </a:spcAft>
                </a:pPr>
                <a14:m>
                  <m:oMathPara xmlns:m="http://schemas.openxmlformats.org/officeDocument/2006/math">
                    <m:oMathParaPr>
                      <m:jc m:val="left"/>
                    </m:oMathParaPr>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𝑦</m:t>
                          </m:r>
                        </m:e>
                      </m:acc>
                      <m:r>
                        <a:rPr lang="en-US" sz="2000" b="0" i="1" smtClean="0">
                          <a:latin typeface="Cambria Math" panose="02040503050406030204" pitchFamily="18" charset="0"/>
                        </a:rPr>
                        <m:t>=−0.8687+0.0611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+0.9234</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oMath>
                  </m:oMathPara>
                </a14:m>
                <a:endParaRPr lang="en-US" sz="2000" dirty="0"/>
              </a:p>
            </p:txBody>
          </p:sp>
        </mc:Choice>
        <mc:Fallback xmlns="">
          <p:sp>
            <p:nvSpPr>
              <p:cNvPr id="3" name="Text Placeholder 2">
                <a:extLst>
                  <a:ext uri="{FF2B5EF4-FFF2-40B4-BE49-F238E27FC236}">
                    <a16:creationId xmlns:a16="http://schemas.microsoft.com/office/drawing/2014/main" id="{431EB207-E6CC-3AF0-A9DB-03F1D10D990F}"/>
                  </a:ext>
                </a:extLst>
              </p:cNvPr>
              <p:cNvSpPr>
                <a:spLocks noGrp="1" noRot="1" noChangeAspect="1" noMove="1" noResize="1" noEditPoints="1" noAdjustHandles="1" noChangeArrowheads="1" noChangeShapeType="1" noTextEdit="1"/>
              </p:cNvSpPr>
              <p:nvPr>
                <p:ph type="body" sz="quarter" idx="15"/>
              </p:nvPr>
            </p:nvSpPr>
            <p:spPr>
              <a:xfrm>
                <a:off x="743576" y="1523555"/>
                <a:ext cx="10610223" cy="1076768"/>
              </a:xfrm>
              <a:blipFill>
                <a:blip r:embed="rId3"/>
                <a:stretch>
                  <a:fillRect l="-1494" t="-67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Placeholder 8">
                <a:extLst>
                  <a:ext uri="{FF2B5EF4-FFF2-40B4-BE49-F238E27FC236}">
                    <a16:creationId xmlns:a16="http://schemas.microsoft.com/office/drawing/2014/main" id="{3572EA37-DEEC-5A58-AF51-9594045422C6}"/>
                  </a:ext>
                </a:extLst>
              </p:cNvPr>
              <p:cNvSpPr>
                <a:spLocks noGrp="1"/>
              </p:cNvSpPr>
              <p:nvPr>
                <p:ph type="body" sz="quarter" idx="17"/>
              </p:nvPr>
            </p:nvSpPr>
            <p:spPr>
              <a:xfrm>
                <a:off x="743576" y="2650330"/>
                <a:ext cx="5278605" cy="3421857"/>
              </a:xfrm>
            </p:spPr>
            <p:txBody>
              <a:bodyPr/>
              <a:lstStyle/>
              <a:p>
                <a:pPr>
                  <a:lnSpc>
                    <a:spcPct val="100000"/>
                  </a:lnSpc>
                  <a:spcBef>
                    <a:spcPts val="600"/>
                  </a:spcBef>
                </a:pPr>
                <a:r>
                  <a:rPr lang="en-US" dirty="0">
                    <a:latin typeface="Arial" panose="020B0604020202020204" pitchFamily="34" charset="0"/>
                    <a:cs typeface="Arial" panose="020B0604020202020204" pitchFamily="34" charset="0"/>
                  </a:rPr>
                  <a:t>The regression statistics have improved.</a:t>
                </a:r>
                <a:endParaRPr lang="en-US" sz="2000" dirty="0">
                  <a:latin typeface="Arial" panose="020B0604020202020204" pitchFamily="34" charset="0"/>
                  <a:cs typeface="Arial" panose="020B0604020202020204" pitchFamily="34" charset="0"/>
                </a:endParaRPr>
              </a:p>
              <a:p>
                <a:pPr marL="457200">
                  <a:lnSpc>
                    <a:spcPct val="100000"/>
                  </a:lnSpc>
                  <a:spcBef>
                    <a:spcPts val="600"/>
                  </a:spcBef>
                </a:pPr>
                <a14:m>
                  <m:oMath xmlns:m="http://schemas.openxmlformats.org/officeDocument/2006/math">
                    <m:sSup>
                      <m:sSupPr>
                        <m:ctrlPr>
                          <a:rPr lang="en-US" sz="2000" i="1" smtClean="0">
                            <a:latin typeface="Cambria Math" panose="02040503050406030204" pitchFamily="18" charset="0"/>
                          </a:rPr>
                        </m:ctrlPr>
                      </m:sSupPr>
                      <m:e>
                        <m:r>
                          <a:rPr lang="en-US" sz="2000" b="0" i="1" smtClean="0">
                            <a:solidFill>
                              <a:srgbClr val="FF0000"/>
                            </a:solidFill>
                            <a:latin typeface="Cambria Math" panose="02040503050406030204" pitchFamily="18" charset="0"/>
                          </a:rPr>
                          <m:t>𝑅</m:t>
                        </m:r>
                      </m:e>
                      <m:sup>
                        <m:r>
                          <a:rPr lang="en-US" sz="2000" b="0" i="1" smtClean="0">
                            <a:latin typeface="Cambria Math" panose="02040503050406030204" pitchFamily="18" charset="0"/>
                          </a:rPr>
                          <m:t>2</m:t>
                        </m:r>
                      </m:sup>
                    </m:sSup>
                  </m:oMath>
                </a14:m>
                <a:r>
                  <a:rPr lang="en-US" sz="2000" dirty="0"/>
                  <a:t> increased from </a:t>
                </a:r>
                <a:r>
                  <a:rPr lang="en-US" dirty="0"/>
                  <a:t>66.41</a:t>
                </a:r>
                <a:r>
                  <a:rPr lang="en-US" sz="2000" dirty="0"/>
                  <a:t>% to </a:t>
                </a:r>
                <a:r>
                  <a:rPr lang="en-US" dirty="0"/>
                  <a:t>90.38</a:t>
                </a:r>
                <a:r>
                  <a:rPr lang="en-US" sz="2000" dirty="0"/>
                  <a:t>%</a:t>
                </a:r>
              </a:p>
              <a:p>
                <a:pPr marL="457200">
                  <a:lnSpc>
                    <a:spcPct val="100000"/>
                  </a:lnSpc>
                  <a:spcBef>
                    <a:spcPts val="600"/>
                  </a:spcBef>
                </a:pPr>
                <a14:m>
                  <m:oMath xmlns:m="http://schemas.openxmlformats.org/officeDocument/2006/math">
                    <m:r>
                      <a:rPr lang="en-US" sz="2000" i="1" dirty="0" smtClean="0">
                        <a:latin typeface="Cambria Math" panose="02040503050406030204" pitchFamily="18" charset="0"/>
                      </a:rPr>
                      <m:t>𝑠</m:t>
                    </m:r>
                  </m:oMath>
                </a14:m>
                <a:r>
                  <a:rPr lang="en-US" sz="2000" dirty="0"/>
                  <a:t> decreased from 1.0018 to </a:t>
                </a:r>
                <a:r>
                  <a:rPr lang="en-US" dirty="0"/>
                  <a:t>0.5731</a:t>
                </a:r>
              </a:p>
              <a:p>
                <a:pPr>
                  <a:lnSpc>
                    <a:spcPct val="100000"/>
                  </a:lnSpc>
                  <a:spcBef>
                    <a:spcPts val="1000"/>
                  </a:spcBef>
                </a:pPr>
                <a:r>
                  <a:rPr lang="en-US" sz="2000" dirty="0"/>
                  <a:t>And the regression coefficients</a:t>
                </a:r>
                <a:r>
                  <a:rPr lang="en-US" dirty="0"/>
                  <a:t> have changed.</a:t>
                </a:r>
                <a:endParaRPr lang="en-US" sz="2000" dirty="0"/>
              </a:p>
              <a:p>
                <a:pPr marL="457200">
                  <a:lnSpc>
                    <a:spcPct val="100000"/>
                  </a:lnSpc>
                  <a:spcBef>
                    <a:spcPts val="600"/>
                  </a:spcBef>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0</m:t>
                        </m:r>
                      </m:sub>
                    </m:sSub>
                  </m:oMath>
                </a14:m>
                <a:r>
                  <a:rPr lang="en-US" sz="2000" dirty="0"/>
                  <a:t> changed from </a:t>
                </a:r>
                <a:r>
                  <a:rPr lang="en-US" dirty="0"/>
                  <a:t>1.2739</a:t>
                </a:r>
                <a:r>
                  <a:rPr lang="en-US" sz="2000" dirty="0"/>
                  <a:t> to </a:t>
                </a:r>
                <a:r>
                  <a:rPr lang="en-US" dirty="0"/>
                  <a:t>-0.8687</a:t>
                </a:r>
                <a:endParaRPr lang="en-US" sz="2000" dirty="0"/>
              </a:p>
              <a:p>
                <a:pPr marL="457200">
                  <a:lnSpc>
                    <a:spcPct val="100000"/>
                  </a:lnSpc>
                  <a:spcBef>
                    <a:spcPts val="600"/>
                  </a:spcBef>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 </m:t>
                    </m:r>
                  </m:oMath>
                </a14:m>
                <a:r>
                  <a:rPr lang="en-US" sz="2000" dirty="0"/>
                  <a:t>changed from </a:t>
                </a:r>
                <a:r>
                  <a:rPr lang="en-US" dirty="0"/>
                  <a:t>0.0678</a:t>
                </a:r>
                <a:r>
                  <a:rPr lang="en-US" sz="2000" dirty="0"/>
                  <a:t> to </a:t>
                </a:r>
                <a:r>
                  <a:rPr lang="en-US" dirty="0"/>
                  <a:t>0.0611</a:t>
                </a:r>
              </a:p>
              <a:p>
                <a:pPr marL="457200">
                  <a:lnSpc>
                    <a:spcPct val="100000"/>
                  </a:lnSpc>
                  <a:spcBef>
                    <a:spcPts val="600"/>
                  </a:spcBef>
                </a:pP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2</m:t>
                        </m:r>
                      </m:sub>
                    </m:sSub>
                  </m:oMath>
                </a14:m>
                <a:r>
                  <a:rPr lang="en-US" dirty="0"/>
                  <a:t> is 0.9234</a:t>
                </a:r>
              </a:p>
              <a:p>
                <a:pPr>
                  <a:spcBef>
                    <a:spcPts val="1000"/>
                  </a:spcBef>
                  <a:spcAft>
                    <a:spcPts val="0"/>
                  </a:spcAft>
                </a:pPr>
                <a:r>
                  <a:rPr lang="en-US" sz="2000" dirty="0"/>
                  <a:t>Let us now interpret the values of the regression coefficients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1</m:t>
                        </m:r>
                      </m:sub>
                    </m:sSub>
                  </m:oMath>
                </a14:m>
                <a:r>
                  <a:rPr lang="en-US" sz="2000" dirty="0"/>
                  <a:t> and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2</m:t>
                        </m:r>
                      </m:sub>
                    </m:sSub>
                  </m:oMath>
                </a14:m>
                <a:r>
                  <a:rPr lang="en-US" sz="2000" dirty="0"/>
                  <a:t>.</a:t>
                </a:r>
              </a:p>
              <a:p>
                <a:pPr>
                  <a:lnSpc>
                    <a:spcPct val="100000"/>
                  </a:lnSpc>
                  <a:spcBef>
                    <a:spcPts val="600"/>
                  </a:spcBef>
                  <a:spcAft>
                    <a:spcPts val="0"/>
                  </a:spcAft>
                </a:pPr>
                <a:endParaRPr lang="en-US" sz="2000" dirty="0"/>
              </a:p>
            </p:txBody>
          </p:sp>
        </mc:Choice>
        <mc:Fallback xmlns="">
          <p:sp>
            <p:nvSpPr>
              <p:cNvPr id="9" name="Text Placeholder 8">
                <a:extLst>
                  <a:ext uri="{FF2B5EF4-FFF2-40B4-BE49-F238E27FC236}">
                    <a16:creationId xmlns:a16="http://schemas.microsoft.com/office/drawing/2014/main" id="{3572EA37-DEEC-5A58-AF51-9594045422C6}"/>
                  </a:ext>
                </a:extLst>
              </p:cNvPr>
              <p:cNvSpPr>
                <a:spLocks noGrp="1" noRot="1" noChangeAspect="1" noMove="1" noResize="1" noEditPoints="1" noAdjustHandles="1" noChangeArrowheads="1" noChangeShapeType="1" noTextEdit="1"/>
              </p:cNvSpPr>
              <p:nvPr>
                <p:ph type="body" sz="quarter" idx="17"/>
              </p:nvPr>
            </p:nvSpPr>
            <p:spPr>
              <a:xfrm>
                <a:off x="743576" y="2650330"/>
                <a:ext cx="5278605" cy="3421857"/>
              </a:xfrm>
              <a:blipFill>
                <a:blip r:embed="rId4"/>
                <a:stretch>
                  <a:fillRect l="-3002" t="-2139" r="-1386" b="-3387"/>
                </a:stretch>
              </a:blipFill>
            </p:spPr>
            <p:txBody>
              <a:bodyPr/>
              <a:lstStyle/>
              <a:p>
                <a:r>
                  <a:rPr lang="en-US">
                    <a:noFill/>
                  </a:rPr>
                  <a:t> </a:t>
                </a:r>
              </a:p>
            </p:txBody>
          </p:sp>
        </mc:Fallback>
      </mc:AlternateContent>
      <p:pic>
        <p:nvPicPr>
          <p:cNvPr id="6" name="Picture Placeholder 5" descr="A screenshot of an Excel spreadsheet shows an input table and three output tables. In the input table, column A is labeled assignment, column B is labeled miles, and column C is labeled Deliveries, and column D is labeled time. The entries in rows 2 through 11 are as follows. Row 2. Assignment: 1. Miles: 100. Deliveries: 4. Time: 9.3. Row 3. Assignment: 2. Miles: 50. Deliveries: 3. Time: 4.8. Row 4. Assignment: 3. Miles: 100. Deliveries: 4. Time: 8.9. Row 5. Assignment: 4. Miles: 100. Deliveries: 2. Time: 6.5. Row 6. Assignment: 5. Miles: 50. Deliveries: 2. Time: 4.2. Row 7. Assignment: 6. Miles: 80. Deliveries: 2. Time: 6.2. Row 8. Assignment: 7. Miles: 75. Deliveries: 3. Time: 7.4. Row 9. Assignment: 8. Miles: 65. Deliveries: 4. Time: 6.0. Row 10. Assignment: 9. Miles: 90. Deliveries: 3. Time: 7.6. Row 11. Assignment: 10. Miles: 90. Deliveries: 2. Time: 6.1. The first output table is titled regression statistics. The entries in rows 16 through 20 are as follows. Row 16: Multiple R, 0.9507. Row 17: R square, 0.9038. Row 18: Adjusted R square, 0.8763. Row 19: Standard error, 0.5731. Row 20: Observations, 10. The second output table is titled ANOVA. Column B is labeled d f, column C is labeled S S, column D is labeled M S, column E is labeled F, and column F is labeled significance F. The entries in rows 24 through 26 are as follows. Row 24: Regression. d f: 2. S S: 21.6006. M S: 10.8003. F: 32.8784. Significance: 0.0003. Row 25: Residual. d f: 7. S S: 2.2994. M S: 0.3285. Row 26: Total. d f: 9. S S: 23.9. In the third output table, column B is labeled coefficients, column C is labeled standard error, column D is labeled t Stat, column E is labeled P value, column F is labeled lower 95 percent, column G is labeled upper 95 percent, column H is labeled lower 99.0 percent, column I is labeled upper 99.0 percent. The entries in rows 29 through 31 are as follows. Row 29: Intercept. Coefficients: Negative 0.8687. Standard error: 0.9515. t Stat: Negative 0.9129. P-value: 0.3916. Lower 95 percent: Negative 3.1188. Upper 95 percent: 1.3814. Lower 99.0 percent: Negative 4.1986. Upper 99.0 percent: 2.4612. Row 30: Miles. Coefficients: 0.0611. Standard error: 0.0099. t Stat: 6.1824. P-value: 0.0005. Lower 95 percent: 0.0378. Upper 95 percent: 0.0845. Lower 99.0 percent: 0.0265. Upper 99.0 percent: 0.0957. Row 31: Deliveries. Coefficients: 0.9234. Standard error: 0.2211. t Stat: 4.1763. P-value: 0.0042. Lower 95 percent: 0.4006. Upper 95 percent: 1.4463. Lower 99.0 percent: 0.1496. Upper 99.0 percent: 1.6972.">
            <a:extLst>
              <a:ext uri="{FF2B5EF4-FFF2-40B4-BE49-F238E27FC236}">
                <a16:creationId xmlns:a16="http://schemas.microsoft.com/office/drawing/2014/main" id="{425DB5A1-1327-E7EE-9228-38549EB8CA25}"/>
              </a:ext>
            </a:extLst>
          </p:cNvPr>
          <p:cNvPicPr>
            <a:picLocks noGrp="1" noChangeAspect="1"/>
          </p:cNvPicPr>
          <p:nvPr>
            <p:ph type="pic" sz="quarter" idx="16"/>
          </p:nvPr>
        </p:nvPicPr>
        <p:blipFill>
          <a:blip r:embed="rId5"/>
          <a:srcRect t="83" b="83"/>
          <a:stretch/>
        </p:blipFill>
        <p:spPr>
          <a:xfrm>
            <a:off x="6096000" y="2302670"/>
            <a:ext cx="5276850" cy="3776663"/>
          </a:xfrm>
          <a:ln>
            <a:solidFill>
              <a:srgbClr val="000000"/>
            </a:solidFill>
          </a:ln>
        </p:spPr>
      </p:pic>
    </p:spTree>
    <p:extLst>
      <p:ext uri="{BB962C8B-B14F-4D97-AF65-F5344CB8AC3E}">
        <p14:creationId xmlns:p14="http://schemas.microsoft.com/office/powerpoint/2010/main" val="24616421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15.2 Interpreting Multiple Regression Coefficients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685800" y="1458311"/>
                <a:ext cx="10781737" cy="4240924"/>
              </a:xfrm>
            </p:spPr>
            <p:txBody>
              <a:bodyPr/>
              <a:lstStyle/>
              <a:p>
                <a:pPr>
                  <a:spcBef>
                    <a:spcPts val="600"/>
                  </a:spcBef>
                  <a:spcAft>
                    <a:spcPts val="600"/>
                  </a:spcAft>
                </a:pPr>
                <a:r>
                  <a:rPr lang="en-US" sz="2000" dirty="0">
                    <a:cs typeface="Arial" panose="020B0604020202020204" pitchFamily="34" charset="0"/>
                  </a:rPr>
                  <a:t>In multiple regression analysis, we interpret each regression coefficient as follows:</a:t>
                </a:r>
              </a:p>
              <a:p>
                <a:pPr marL="914400">
                  <a:spcBef>
                    <a:spcPts val="600"/>
                  </a:spcBef>
                  <a:spcAft>
                    <a:spcPts val="600"/>
                  </a:spcAft>
                </a:pP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𝑏</m:t>
                        </m:r>
                      </m:e>
                      <m:sub>
                        <m:r>
                          <a:rPr lang="en-US" sz="1800" b="0" i="1" smtClean="0">
                            <a:latin typeface="Cambria Math" panose="02040503050406030204" pitchFamily="18" charset="0"/>
                          </a:rPr>
                          <m:t>𝑖</m:t>
                        </m:r>
                      </m:sub>
                    </m:sSub>
                  </m:oMath>
                </a14:m>
                <a:r>
                  <a:rPr lang="en-US" sz="2000" dirty="0">
                    <a:cs typeface="Arial" panose="020B0604020202020204" pitchFamily="34" charset="0"/>
                  </a:rPr>
                  <a:t> represents an estimate of the change in 𝑦 corresponding to one unit increase in </a:t>
                </a:r>
                <a14:m>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oMath>
                </a14:m>
                <a:r>
                  <a:rPr lang="en-US" sz="2000" dirty="0">
                    <a:cs typeface="Arial" panose="020B0604020202020204" pitchFamily="34" charset="0"/>
                  </a:rPr>
                  <a:t> when all other independent variables are held constant, with </a:t>
                </a:r>
                <a14:m>
                  <m:oMath xmlns:m="http://schemas.openxmlformats.org/officeDocument/2006/math">
                    <m:r>
                      <a:rPr lang="en-US" sz="2000" b="0" i="1" smtClean="0">
                        <a:latin typeface="Cambria Math" panose="02040503050406030204" pitchFamily="18" charset="0"/>
                        <a:cs typeface="Arial" panose="020B0604020202020204" pitchFamily="34" charset="0"/>
                      </a:rPr>
                      <m:t>𝑖</m:t>
                    </m:r>
                    <m:r>
                      <a:rPr lang="en-US" sz="2000" b="0" i="1" smtClean="0">
                        <a:latin typeface="Cambria Math" panose="02040503050406030204" pitchFamily="18" charset="0"/>
                        <a:cs typeface="Arial" panose="020B0604020202020204" pitchFamily="34" charset="0"/>
                      </a:rPr>
                      <m:t>=1,…,</m:t>
                    </m:r>
                    <m:r>
                      <a:rPr lang="en-US" sz="2000" b="0" i="1" smtClean="0">
                        <a:latin typeface="Cambria Math" panose="02040503050406030204" pitchFamily="18" charset="0"/>
                        <a:cs typeface="Arial" panose="020B0604020202020204" pitchFamily="34" charset="0"/>
                      </a:rPr>
                      <m:t>𝑝</m:t>
                    </m:r>
                  </m:oMath>
                </a14:m>
                <a:r>
                  <a:rPr lang="en-US" sz="2000" dirty="0">
                    <a:cs typeface="Arial" panose="020B0604020202020204" pitchFamily="34" charset="0"/>
                  </a:rPr>
                  <a:t>.</a:t>
                </a:r>
              </a:p>
              <a:p>
                <a:pPr>
                  <a:spcBef>
                    <a:spcPts val="600"/>
                  </a:spcBef>
                  <a:spcAft>
                    <a:spcPts val="600"/>
                  </a:spcAft>
                </a:pPr>
                <a:r>
                  <a:rPr lang="en-US" sz="2000" dirty="0">
                    <a:cs typeface="Arial" panose="020B0604020202020204" pitchFamily="34" charset="0"/>
                  </a:rPr>
                  <a:t>In the Butler Trucking example involving two independent variables, we interpret the regression coefficients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𝑏</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 </m:t>
                    </m:r>
                  </m:oMath>
                </a14:m>
                <a:r>
                  <a:rPr lang="en-US" sz="2000" dirty="0">
                    <a:cs typeface="Arial" panose="020B0604020202020204" pitchFamily="34" charset="0"/>
                  </a:rPr>
                  <a:t>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r>
                          <a:rPr lang="en-US" sz="2000" b="0" i="1" smtClean="0">
                            <a:latin typeface="Cambria Math" panose="02040503050406030204" pitchFamily="18" charset="0"/>
                          </a:rPr>
                          <m:t>2</m:t>
                        </m:r>
                      </m:sub>
                    </m:sSub>
                    <m:r>
                      <a:rPr lang="en-US" sz="2000" i="1">
                        <a:latin typeface="Cambria Math" panose="02040503050406030204" pitchFamily="18" charset="0"/>
                      </a:rPr>
                      <m:t> </m:t>
                    </m:r>
                  </m:oMath>
                </a14:m>
                <a:r>
                  <a:rPr lang="en-US" sz="2000" dirty="0">
                    <a:cs typeface="Arial" panose="020B0604020202020204" pitchFamily="34" charset="0"/>
                  </a:rPr>
                  <a:t>as follows.</a:t>
                </a:r>
              </a:p>
              <a:p>
                <a:pPr marL="1828800" indent="-1828800">
                  <a:spcBef>
                    <a:spcPts val="600"/>
                  </a:spcBef>
                  <a:spcAft>
                    <a:spcPts val="600"/>
                  </a:spcAft>
                </a:pP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𝑏</m:t>
                        </m:r>
                      </m:e>
                      <m:sub>
                        <m:r>
                          <a:rPr lang="en-US" sz="1800" b="0" i="1" smtClean="0">
                            <a:latin typeface="Cambria Math" panose="02040503050406030204" pitchFamily="18" charset="0"/>
                          </a:rPr>
                          <m:t>1</m:t>
                        </m:r>
                      </m:sub>
                    </m:sSub>
                    <m:r>
                      <a:rPr lang="en-US" sz="1800" b="0" i="1" smtClean="0">
                        <a:latin typeface="Cambria Math" panose="02040503050406030204" pitchFamily="18" charset="0"/>
                      </a:rPr>
                      <m:t>=0.0611</m:t>
                    </m:r>
                  </m:oMath>
                </a14:m>
                <a:r>
                  <a:rPr lang="en-US" sz="2000" dirty="0">
                    <a:cs typeface="Arial" panose="020B0604020202020204" pitchFamily="34" charset="0"/>
                  </a:rPr>
                  <a:t>	0.0611 hours is an estimate of the expected increase in travel time corresponding to an increase of one mile in the distance traveled when the number of deliveries is held constant.</a:t>
                </a:r>
              </a:p>
              <a:p>
                <a:pPr marL="1828800" indent="-1828800">
                  <a:spcBef>
                    <a:spcPts val="600"/>
                  </a:spcBef>
                  <a:spcAft>
                    <a:spcPts val="600"/>
                  </a:spcAft>
                </a:pP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𝑏</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=0.9234</m:t>
                    </m:r>
                  </m:oMath>
                </a14:m>
                <a:r>
                  <a:rPr lang="en-US" sz="2000" dirty="0">
                    <a:cs typeface="Arial" panose="020B0604020202020204" pitchFamily="34" charset="0"/>
                  </a:rPr>
                  <a:t>	0.9234 hours is an estimate of the expected increase in travel time corresponding to an increase of one delivery when the number of miles traveled is held constant.</a:t>
                </a:r>
              </a:p>
              <a:p>
                <a:pPr marL="2286000" indent="-2286000">
                  <a:spcBef>
                    <a:spcPts val="600"/>
                  </a:spcBef>
                  <a:spcAft>
                    <a:spcPts val="600"/>
                  </a:spcAft>
                </a:pPr>
                <a:endParaRPr lang="en-US" sz="2000" dirty="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685800" y="1458311"/>
                <a:ext cx="10781737" cy="4240924"/>
              </a:xfrm>
              <a:blipFill>
                <a:blip r:embed="rId3"/>
                <a:stretch>
                  <a:fillRect l="-1471" t="-1724" r="-1867"/>
                </a:stretch>
              </a:blipFill>
            </p:spPr>
            <p:txBody>
              <a:bodyPr/>
              <a:lstStyle/>
              <a:p>
                <a:r>
                  <a:rPr lang="en-US">
                    <a:noFill/>
                  </a:rPr>
                  <a:t> </a:t>
                </a:r>
              </a:p>
            </p:txBody>
          </p:sp>
        </mc:Fallback>
      </mc:AlternateContent>
    </p:spTree>
    <p:extLst>
      <p:ext uri="{BB962C8B-B14F-4D97-AF65-F5344CB8AC3E}">
        <p14:creationId xmlns:p14="http://schemas.microsoft.com/office/powerpoint/2010/main" val="761316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solidFill>
                  <a:srgbClr val="D14B1E"/>
                </a:solidFill>
              </a:rPr>
              <a:t>15.3 Multiple Coefficient of Determination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685800" y="1213949"/>
                <a:ext cx="10781737" cy="4470925"/>
              </a:xfrm>
            </p:spPr>
            <p:txBody>
              <a:bodyPr/>
              <a:lstStyle/>
              <a:p>
                <a:pPr>
                  <a:spcBef>
                    <a:spcPts val="600"/>
                  </a:spcBef>
                  <a:spcAft>
                    <a:spcPts val="600"/>
                  </a:spcAft>
                </a:pPr>
                <a:r>
                  <a:rPr lang="en-US" sz="2000" dirty="0">
                    <a:cs typeface="Arial" panose="020B0604020202020204" pitchFamily="34" charset="0"/>
                  </a:rPr>
                  <a:t>The </a:t>
                </a:r>
                <a:r>
                  <a:rPr lang="en-US" sz="2000" b="1" dirty="0">
                    <a:cs typeface="Arial" panose="020B0604020202020204" pitchFamily="34" charset="0"/>
                  </a:rPr>
                  <a:t>multiple coefficient of determination</a:t>
                </a:r>
                <a:r>
                  <a:rPr lang="en-US" sz="2000" dirty="0">
                    <a:cs typeface="Arial" panose="020B0604020202020204" pitchFamily="34" charset="0"/>
                  </a:rPr>
                  <a:t>, denoted </a:t>
                </a:r>
                <a14:m>
                  <m:oMath xmlns:m="http://schemas.openxmlformats.org/officeDocument/2006/math">
                    <m:sSup>
                      <m:sSupPr>
                        <m:ctrlPr>
                          <a:rPr lang="en-US" sz="2000" i="1" dirty="0" smtClean="0">
                            <a:latin typeface="Cambria Math" panose="02040503050406030204" pitchFamily="18" charset="0"/>
                            <a:cs typeface="Arial" panose="020B0604020202020204" pitchFamily="34" charset="0"/>
                          </a:rPr>
                        </m:ctrlPr>
                      </m:sSupPr>
                      <m:e>
                        <m:r>
                          <a:rPr lang="en-US" sz="2000" b="0" i="1" dirty="0" smtClean="0">
                            <a:latin typeface="Cambria Math" panose="02040503050406030204" pitchFamily="18" charset="0"/>
                            <a:cs typeface="Arial" panose="020B0604020202020204" pitchFamily="34" charset="0"/>
                          </a:rPr>
                          <m:t>𝑅</m:t>
                        </m:r>
                      </m:e>
                      <m:sup>
                        <m:r>
                          <a:rPr lang="en-US" sz="2000" b="0" i="1" dirty="0">
                            <a:latin typeface="Cambria Math" panose="02040503050406030204" pitchFamily="18" charset="0"/>
                            <a:cs typeface="Arial" panose="020B0604020202020204" pitchFamily="34" charset="0"/>
                          </a:rPr>
                          <m:t>2</m:t>
                        </m:r>
                      </m:sup>
                    </m:sSup>
                  </m:oMath>
                </a14:m>
                <a:r>
                  <a:rPr lang="en-US" sz="2000" dirty="0">
                    <a:cs typeface="Arial" panose="020B0604020202020204" pitchFamily="34" charset="0"/>
                  </a:rPr>
                  <a:t>, indicates that we are measuring the goodness of fit for the estimated multiple regression equation, and it is computed as follows.</a:t>
                </a:r>
              </a:p>
              <a:p>
                <a:pPr marL="914400">
                  <a:spcBef>
                    <a:spcPts val="600"/>
                  </a:spcBef>
                  <a:spcAft>
                    <a:spcPts val="600"/>
                  </a:spcAft>
                  <a:tabLst>
                    <a:tab pos="9032875" algn="l"/>
                  </a:tabLst>
                </a:pPr>
                <a14:m>
                  <m:oMathPara xmlns:m="http://schemas.openxmlformats.org/officeDocument/2006/math">
                    <m:oMathParaPr>
                      <m:jc m:val="left"/>
                    </m:oMathParaPr>
                    <m:oMath xmlns:m="http://schemas.openxmlformats.org/officeDocument/2006/math">
                      <m:sSup>
                        <m:sSupPr>
                          <m:ctrlPr>
                            <a:rPr lang="en-US" sz="2000" b="1" i="1" dirty="0" smtClean="0">
                              <a:solidFill>
                                <a:srgbClr val="000000"/>
                              </a:solidFill>
                              <a:latin typeface="Cambria Math" panose="02040503050406030204" pitchFamily="18" charset="0"/>
                              <a:cs typeface="Arial" panose="020B0604020202020204" pitchFamily="34" charset="0"/>
                            </a:rPr>
                          </m:ctrlPr>
                        </m:sSupPr>
                        <m:e>
                          <m:r>
                            <a:rPr lang="en-US" sz="2000" b="1" i="1" dirty="0" smtClean="0">
                              <a:solidFill>
                                <a:srgbClr val="000000"/>
                              </a:solidFill>
                              <a:latin typeface="Cambria Math" panose="02040503050406030204" pitchFamily="18" charset="0"/>
                              <a:cs typeface="Arial" panose="020B0604020202020204" pitchFamily="34" charset="0"/>
                            </a:rPr>
                            <m:t>𝑹</m:t>
                          </m:r>
                        </m:e>
                        <m:sup>
                          <m:r>
                            <a:rPr lang="en-US" sz="2000" b="1" i="1" dirty="0" smtClean="0">
                              <a:solidFill>
                                <a:srgbClr val="000000"/>
                              </a:solidFill>
                              <a:latin typeface="Cambria Math" panose="02040503050406030204" pitchFamily="18" charset="0"/>
                              <a:cs typeface="Arial" panose="020B0604020202020204" pitchFamily="34" charset="0"/>
                            </a:rPr>
                            <m:t>𝟐</m:t>
                          </m:r>
                        </m:sup>
                      </m:sSup>
                      <m:r>
                        <a:rPr lang="en-US" sz="2000" b="1" i="1" dirty="0" smtClean="0">
                          <a:solidFill>
                            <a:srgbClr val="000000"/>
                          </a:solidFill>
                          <a:latin typeface="Cambria Math" panose="02040503050406030204" pitchFamily="18" charset="0"/>
                          <a:cs typeface="Arial" panose="020B0604020202020204" pitchFamily="34" charset="0"/>
                        </a:rPr>
                        <m:t>=</m:t>
                      </m:r>
                      <m:f>
                        <m:fPr>
                          <m:ctrlPr>
                            <a:rPr lang="en-US" sz="2000" b="1" i="1" dirty="0" smtClean="0">
                              <a:solidFill>
                                <a:srgbClr val="000000"/>
                              </a:solidFill>
                              <a:latin typeface="Cambria Math" panose="02040503050406030204" pitchFamily="18" charset="0"/>
                              <a:cs typeface="Arial" panose="020B0604020202020204" pitchFamily="34" charset="0"/>
                            </a:rPr>
                          </m:ctrlPr>
                        </m:fPr>
                        <m:num>
                          <m:r>
                            <a:rPr lang="en-US" sz="2000" b="1" i="1" dirty="0">
                              <a:latin typeface="Cambria Math" panose="02040503050406030204" pitchFamily="18" charset="0"/>
                              <a:cs typeface="Arial" panose="020B0604020202020204" pitchFamily="34" charset="0"/>
                            </a:rPr>
                            <m:t>𝑺𝑺𝑹</m:t>
                          </m:r>
                        </m:num>
                        <m:den>
                          <m:r>
                            <a:rPr lang="en-US" sz="2000" b="1" i="1" dirty="0" smtClean="0">
                              <a:solidFill>
                                <a:srgbClr val="000000"/>
                              </a:solidFill>
                              <a:latin typeface="Cambria Math" panose="02040503050406030204" pitchFamily="18" charset="0"/>
                              <a:cs typeface="Arial" panose="020B0604020202020204" pitchFamily="34" charset="0"/>
                            </a:rPr>
                            <m:t>𝑺𝑺𝑻</m:t>
                          </m:r>
                        </m:den>
                      </m:f>
                    </m:oMath>
                  </m:oMathPara>
                </a14:m>
                <a:endParaRPr lang="en-US" sz="2000" b="1" dirty="0">
                  <a:cs typeface="Arial" panose="020B0604020202020204" pitchFamily="34" charset="0"/>
                </a:endParaRPr>
              </a:p>
              <a:p>
                <a:pPr>
                  <a:spcBef>
                    <a:spcPts val="600"/>
                  </a:spcBef>
                  <a:spcAft>
                    <a:spcPts val="0"/>
                  </a:spcAft>
                  <a:tabLst>
                    <a:tab pos="9032875" algn="l"/>
                  </a:tabLst>
                </a:pPr>
                <a:r>
                  <a:rPr lang="en-US" sz="2000" dirty="0">
                    <a:cs typeface="Arial" panose="020B0604020202020204" pitchFamily="34" charset="0"/>
                  </a:rPr>
                  <a:t>The partition of SST into SSR + SSE is still the same one we saw in simple linear regression. However, because of its computational difficulty, we rely on computer programs to compute the three sums of squares.</a:t>
                </a:r>
              </a:p>
              <a:p>
                <a:pPr>
                  <a:spcBef>
                    <a:spcPts val="600"/>
                  </a:spcBef>
                  <a:spcAft>
                    <a:spcPts val="600"/>
                  </a:spcAft>
                  <a:tabLst>
                    <a:tab pos="9032875" algn="l"/>
                  </a:tabLst>
                </a:pPr>
                <a:r>
                  <a:rPr lang="en-US" sz="2000" dirty="0">
                    <a:cs typeface="Arial" panose="020B0604020202020204" pitchFamily="34" charset="0"/>
                  </a:rPr>
                  <a:t>The multiple coefficient of determination can be interpreted as the proportion of the variability in the dependent variable that can be explained by the estimated multiple regression equation.</a:t>
                </a:r>
              </a:p>
              <a:p>
                <a:pPr>
                  <a:spcBef>
                    <a:spcPts val="600"/>
                  </a:spcBef>
                  <a:spcAft>
                    <a:spcPts val="600"/>
                  </a:spcAft>
                  <a:tabLst>
                    <a:tab pos="9032875" algn="l"/>
                  </a:tabLst>
                </a:pPr>
                <a14:m>
                  <m:oMathPara xmlns:m="http://schemas.openxmlformats.org/officeDocument/2006/math">
                    <m:oMathParaPr>
                      <m:jc m:val="left"/>
                    </m:oMathParaPr>
                    <m:oMath xmlns:m="http://schemas.openxmlformats.org/officeDocument/2006/math">
                      <m:sSup>
                        <m:sSupPr>
                          <m:ctrlPr>
                            <a:rPr lang="en-US" sz="2000" i="1" dirty="0" smtClean="0">
                              <a:solidFill>
                                <a:srgbClr val="000000"/>
                              </a:solidFill>
                              <a:latin typeface="Cambria Math" panose="02040503050406030204" pitchFamily="18" charset="0"/>
                              <a:cs typeface="Arial" panose="020B0604020202020204" pitchFamily="34" charset="0"/>
                            </a:rPr>
                          </m:ctrlPr>
                        </m:sSupPr>
                        <m:e>
                          <m:r>
                            <m:rPr>
                              <m:nor/>
                            </m:rPr>
                            <a:rPr lang="en-US" sz="2000" dirty="0">
                              <a:cs typeface="Arial" panose="020B0604020202020204" pitchFamily="34" charset="0"/>
                            </a:rPr>
                            <m:t>For</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b="0" i="0" dirty="0" smtClean="0">
                              <a:cs typeface="Arial" panose="020B0604020202020204" pitchFamily="34" charset="0"/>
                            </a:rPr>
                            <m:t>Butler</m:t>
                          </m:r>
                          <m:r>
                            <m:rPr>
                              <m:nor/>
                            </m:rPr>
                            <a:rPr lang="en-US" sz="2000" b="0" i="0" dirty="0" smtClean="0">
                              <a:cs typeface="Arial" panose="020B0604020202020204" pitchFamily="34" charset="0"/>
                            </a:rPr>
                            <m:t> </m:t>
                          </m:r>
                          <m:r>
                            <m:rPr>
                              <m:nor/>
                            </m:rPr>
                            <a:rPr lang="en-US" sz="2000" b="0" i="0" dirty="0" smtClean="0">
                              <a:cs typeface="Arial" panose="020B0604020202020204" pitchFamily="34" charset="0"/>
                            </a:rPr>
                            <m:t>Trucking</m:t>
                          </m:r>
                          <m:r>
                            <m:rPr>
                              <m:nor/>
                            </m:rPr>
                            <a:rPr lang="en-US" sz="2000" b="0" i="0" dirty="0" smtClean="0">
                              <a:cs typeface="Arial" panose="020B0604020202020204" pitchFamily="34" charset="0"/>
                            </a:rPr>
                            <m:t> </m:t>
                          </m:r>
                          <m:r>
                            <m:rPr>
                              <m:nor/>
                            </m:rPr>
                            <a:rPr lang="en-US" sz="2000" b="0" i="0" dirty="0" smtClean="0">
                              <a:cs typeface="Arial" panose="020B0604020202020204" pitchFamily="34" charset="0"/>
                            </a:rPr>
                            <m:t>Company</m:t>
                          </m:r>
                          <m:r>
                            <m:rPr>
                              <m:nor/>
                            </m:rPr>
                            <a:rPr lang="en-US" sz="2000" b="0" i="0" dirty="0" smtClean="0">
                              <a:cs typeface="Arial" panose="020B0604020202020204" pitchFamily="34" charset="0"/>
                            </a:rPr>
                            <m:t> </m:t>
                          </m:r>
                          <m:r>
                            <m:rPr>
                              <m:nor/>
                            </m:rPr>
                            <a:rPr lang="en-US" sz="2000" dirty="0">
                              <a:cs typeface="Arial" panose="020B0604020202020204" pitchFamily="34" charset="0"/>
                            </a:rPr>
                            <m:t>example</m:t>
                          </m:r>
                          <m:r>
                            <m:rPr>
                              <m:nor/>
                            </m:rPr>
                            <a:rPr lang="en-US" sz="2000" dirty="0">
                              <a:cs typeface="Arial" panose="020B0604020202020204" pitchFamily="34" charset="0"/>
                            </a:rPr>
                            <m:t>, </m:t>
                          </m:r>
                          <m:r>
                            <m:rPr>
                              <m:nor/>
                            </m:rPr>
                            <a:rPr lang="en-US" sz="2000" dirty="0">
                              <a:cs typeface="Arial" panose="020B0604020202020204" pitchFamily="34" charset="0"/>
                            </a:rPr>
                            <m:t>we</m:t>
                          </m:r>
                          <m:r>
                            <m:rPr>
                              <m:nor/>
                            </m:rPr>
                            <a:rPr lang="en-US" sz="2000" dirty="0">
                              <a:cs typeface="Arial" panose="020B0604020202020204" pitchFamily="34" charset="0"/>
                            </a:rPr>
                            <m:t> </m:t>
                          </m:r>
                          <m:r>
                            <m:rPr>
                              <m:nor/>
                            </m:rPr>
                            <a:rPr lang="en-US" sz="2000" dirty="0">
                              <a:cs typeface="Arial" panose="020B0604020202020204" pitchFamily="34" charset="0"/>
                            </a:rPr>
                            <m:t>have</m:t>
                          </m:r>
                          <m:r>
                            <m:rPr>
                              <m:nor/>
                            </m:rPr>
                            <a:rPr lang="en-US" sz="2000" b="0" i="0" dirty="0" smtClean="0">
                              <a:cs typeface="Arial" panose="020B0604020202020204" pitchFamily="34" charset="0"/>
                            </a:rPr>
                            <m:t>:  </m:t>
                          </m:r>
                          <m:r>
                            <a:rPr lang="en-US" sz="2000" b="0" i="1" dirty="0" smtClean="0">
                              <a:solidFill>
                                <a:srgbClr val="000000"/>
                              </a:solidFill>
                              <a:latin typeface="Cambria Math" panose="02040503050406030204" pitchFamily="18" charset="0"/>
                              <a:cs typeface="Arial" panose="020B0604020202020204" pitchFamily="34" charset="0"/>
                            </a:rPr>
                            <m:t>𝑅</m:t>
                          </m:r>
                        </m:e>
                        <m:sup>
                          <m:r>
                            <a:rPr lang="en-US" sz="2000" b="0" i="1" dirty="0" smtClean="0">
                              <a:solidFill>
                                <a:srgbClr val="000000"/>
                              </a:solidFill>
                              <a:latin typeface="Cambria Math" panose="02040503050406030204" pitchFamily="18" charset="0"/>
                              <a:cs typeface="Arial" panose="020B0604020202020204" pitchFamily="34" charset="0"/>
                            </a:rPr>
                            <m:t>2</m:t>
                          </m:r>
                        </m:sup>
                      </m:sSup>
                      <m:r>
                        <a:rPr lang="en-US" sz="2000" b="0" i="1" dirty="0" smtClean="0">
                          <a:solidFill>
                            <a:srgbClr val="000000"/>
                          </a:solidFill>
                          <a:latin typeface="Cambria Math" panose="02040503050406030204" pitchFamily="18" charset="0"/>
                          <a:cs typeface="Arial" panose="020B0604020202020204" pitchFamily="34" charset="0"/>
                        </a:rPr>
                        <m:t>=</m:t>
                      </m:r>
                      <m:f>
                        <m:fPr>
                          <m:ctrlPr>
                            <a:rPr lang="en-US" sz="2000" i="1" dirty="0">
                              <a:latin typeface="Cambria Math" panose="02040503050406030204" pitchFamily="18" charset="0"/>
                              <a:cs typeface="Arial" panose="020B0604020202020204" pitchFamily="34" charset="0"/>
                            </a:rPr>
                          </m:ctrlPr>
                        </m:fPr>
                        <m:num>
                          <m:r>
                            <a:rPr lang="en-US" sz="2000" b="0" i="1" dirty="0">
                              <a:latin typeface="Cambria Math" panose="02040503050406030204" pitchFamily="18" charset="0"/>
                              <a:cs typeface="Arial" panose="020B0604020202020204" pitchFamily="34" charset="0"/>
                            </a:rPr>
                            <m:t>𝑆𝑆𝑅</m:t>
                          </m:r>
                        </m:num>
                        <m:den>
                          <m:r>
                            <a:rPr lang="en-US" sz="2000" b="0" i="1" dirty="0">
                              <a:latin typeface="Cambria Math" panose="02040503050406030204" pitchFamily="18" charset="0"/>
                              <a:cs typeface="Arial" panose="020B0604020202020204" pitchFamily="34" charset="0"/>
                            </a:rPr>
                            <m:t>𝑆𝑆𝑇</m:t>
                          </m:r>
                        </m:den>
                      </m:f>
                      <m:r>
                        <a:rPr lang="en-US" sz="2000" b="0" i="1" dirty="0" smtClean="0">
                          <a:solidFill>
                            <a:srgbClr val="000000"/>
                          </a:solidFill>
                          <a:latin typeface="Cambria Math" panose="02040503050406030204" pitchFamily="18" charset="0"/>
                          <a:cs typeface="Arial" panose="020B0604020202020204" pitchFamily="34" charset="0"/>
                        </a:rPr>
                        <m:t>=</m:t>
                      </m:r>
                      <m:f>
                        <m:fPr>
                          <m:ctrlPr>
                            <a:rPr lang="en-US" sz="2000" i="1" dirty="0">
                              <a:latin typeface="Cambria Math" panose="02040503050406030204" pitchFamily="18" charset="0"/>
                              <a:cs typeface="Arial" panose="020B0604020202020204" pitchFamily="34" charset="0"/>
                            </a:rPr>
                          </m:ctrlPr>
                        </m:fPr>
                        <m:num>
                          <m:r>
                            <a:rPr lang="en-US" sz="2000" b="0" i="1" dirty="0" smtClean="0">
                              <a:latin typeface="Cambria Math" panose="02040503050406030204" pitchFamily="18" charset="0"/>
                              <a:cs typeface="Arial" panose="020B0604020202020204" pitchFamily="34" charset="0"/>
                            </a:rPr>
                            <m:t>21.6006</m:t>
                          </m:r>
                        </m:num>
                        <m:den>
                          <m:r>
                            <a:rPr lang="en-US" sz="2000" b="0" i="1" dirty="0" smtClean="0">
                              <a:latin typeface="Cambria Math" panose="02040503050406030204" pitchFamily="18" charset="0"/>
                              <a:cs typeface="Arial" panose="020B0604020202020204" pitchFamily="34" charset="0"/>
                            </a:rPr>
                            <m:t>23.900</m:t>
                          </m:r>
                        </m:den>
                      </m:f>
                      <m:r>
                        <a:rPr lang="en-US" sz="2000" b="0" i="1" dirty="0" smtClean="0">
                          <a:latin typeface="Cambria Math" panose="02040503050406030204" pitchFamily="18" charset="0"/>
                          <a:cs typeface="Arial" panose="020B0604020202020204" pitchFamily="34" charset="0"/>
                        </a:rPr>
                        <m:t>=0.9038</m:t>
                      </m:r>
                    </m:oMath>
                  </m:oMathPara>
                </a14:m>
                <a:endParaRPr lang="en-US" sz="2000" dirty="0">
                  <a:cs typeface="Arial" panose="020B0604020202020204" pitchFamily="34" charset="0"/>
                </a:endParaRPr>
              </a:p>
              <a:p>
                <a:pPr>
                  <a:spcBef>
                    <a:spcPts val="600"/>
                  </a:spcBef>
                  <a:spcAft>
                    <a:spcPts val="600"/>
                  </a:spcAft>
                  <a:tabLst>
                    <a:tab pos="9032875" algn="l"/>
                  </a:tabLst>
                </a:pPr>
                <a:r>
                  <a:rPr lang="en-US" sz="2000" dirty="0">
                    <a:cs typeface="Arial" panose="020B0604020202020204" pitchFamily="34" charset="0"/>
                  </a:rPr>
                  <a:t>Thus, about 90.4% of the variability in travel time </a:t>
                </a:r>
                <a:r>
                  <a:rPr lang="en-US" sz="2000" dirty="0">
                    <a:latin typeface="Arial" panose="020B0604020202020204" pitchFamily="34" charset="0"/>
                    <a:cs typeface="Arial" panose="020B0604020202020204" pitchFamily="34" charset="0"/>
                  </a:rPr>
                  <a:t>𝑦</a:t>
                </a:r>
                <a:r>
                  <a:rPr lang="en-US" sz="2000" dirty="0">
                    <a:cs typeface="Arial" panose="020B0604020202020204" pitchFamily="34" charset="0"/>
                  </a:rPr>
                  <a:t> is explained by the estimated multiple regression equation with miles traveled and number of deliveries as the independent variables.</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685800" y="1213949"/>
                <a:ext cx="10781737" cy="4470925"/>
              </a:xfrm>
              <a:blipFill>
                <a:blip r:embed="rId3"/>
                <a:stretch>
                  <a:fillRect l="-1471" t="-1635" r="-1075" b="-2452"/>
                </a:stretch>
              </a:blipFill>
            </p:spPr>
            <p:txBody>
              <a:bodyPr/>
              <a:lstStyle/>
              <a:p>
                <a:r>
                  <a:rPr lang="en-US">
                    <a:noFill/>
                  </a:rPr>
                  <a:t> </a:t>
                </a:r>
              </a:p>
            </p:txBody>
          </p:sp>
        </mc:Fallback>
      </mc:AlternateContent>
    </p:spTree>
    <p:extLst>
      <p:ext uri="{BB962C8B-B14F-4D97-AF65-F5344CB8AC3E}">
        <p14:creationId xmlns:p14="http://schemas.microsoft.com/office/powerpoint/2010/main" val="3636422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15.3 Adjusted Multiple Coefficient of Determination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05131" y="1306097"/>
                <a:ext cx="10781737" cy="4449661"/>
              </a:xfrm>
            </p:spPr>
            <p:txBody>
              <a:bodyPr/>
              <a:lstStyle/>
              <a:p>
                <a:pPr>
                  <a:spcBef>
                    <a:spcPts val="600"/>
                  </a:spcBef>
                  <a:spcAft>
                    <a:spcPts val="0"/>
                  </a:spcAft>
                </a:pPr>
                <a:r>
                  <a:rPr lang="en-US" sz="2000" dirty="0">
                    <a:cs typeface="Arial" panose="020B0604020202020204" pitchFamily="34" charset="0"/>
                  </a:rPr>
                  <a:t>From the previous regression outputs, we noted that the percentage of the variability in travel times that is explained by the estimated regression equation increases from 66.4% to 90.4% when the </a:t>
                </a:r>
                <a:r>
                  <a:rPr lang="en-US" sz="2000" i="1" dirty="0">
                    <a:cs typeface="Arial" panose="020B0604020202020204" pitchFamily="34" charset="0"/>
                  </a:rPr>
                  <a:t>number of deliveries </a:t>
                </a:r>
                <a:r>
                  <a:rPr lang="en-US" sz="2000" dirty="0">
                    <a:cs typeface="Arial" panose="020B0604020202020204" pitchFamily="34" charset="0"/>
                  </a:rPr>
                  <a:t>is added as a second independent variable.</a:t>
                </a:r>
              </a:p>
              <a:p>
                <a:pPr>
                  <a:spcBef>
                    <a:spcPts val="600"/>
                  </a:spcBef>
                  <a:spcAft>
                    <a:spcPts val="0"/>
                  </a:spcAft>
                </a:pPr>
                <a:r>
                  <a:rPr lang="en-US" sz="2000" dirty="0">
                    <a:cs typeface="Arial" panose="020B0604020202020204" pitchFamily="34" charset="0"/>
                  </a:rPr>
                  <a:t>In general, </a:t>
                </a:r>
                <a14:m>
                  <m:oMath xmlns:m="http://schemas.openxmlformats.org/officeDocument/2006/math">
                    <m:sSup>
                      <m:sSupPr>
                        <m:ctrlPr>
                          <a:rPr lang="en-US" sz="2000" i="1" dirty="0" smtClean="0">
                            <a:solidFill>
                              <a:srgbClr val="000000"/>
                            </a:solidFill>
                            <a:latin typeface="Cambria Math" panose="02040503050406030204" pitchFamily="18" charset="0"/>
                            <a:cs typeface="Arial" panose="020B0604020202020204" pitchFamily="34" charset="0"/>
                          </a:rPr>
                        </m:ctrlPr>
                      </m:sSupPr>
                      <m:e>
                        <m:r>
                          <a:rPr lang="en-US" sz="2000" b="0" i="1" dirty="0" smtClean="0">
                            <a:solidFill>
                              <a:srgbClr val="000000"/>
                            </a:solidFill>
                            <a:latin typeface="Cambria Math" panose="02040503050406030204" pitchFamily="18" charset="0"/>
                            <a:cs typeface="Arial" panose="020B0604020202020204" pitchFamily="34" charset="0"/>
                          </a:rPr>
                          <m:t>𝑅</m:t>
                        </m:r>
                      </m:e>
                      <m:sup>
                        <m:r>
                          <a:rPr lang="en-US" sz="2000" b="0" i="1" dirty="0" smtClean="0">
                            <a:solidFill>
                              <a:srgbClr val="000000"/>
                            </a:solidFill>
                            <a:latin typeface="Cambria Math" panose="02040503050406030204" pitchFamily="18" charset="0"/>
                            <a:cs typeface="Arial" panose="020B0604020202020204" pitchFamily="34" charset="0"/>
                          </a:rPr>
                          <m:t>2</m:t>
                        </m:r>
                      </m:sup>
                    </m:sSup>
                  </m:oMath>
                </a14:m>
                <a:r>
                  <a:rPr lang="en-US" sz="2000" dirty="0">
                    <a:cs typeface="Arial" panose="020B0604020202020204" pitchFamily="34" charset="0"/>
                  </a:rPr>
                  <a:t> always increases as independent variables are added to the model, because SSE becomes smaller, regardless of whether the added variable is statistically significant.</a:t>
                </a:r>
              </a:p>
              <a:p>
                <a:pPr>
                  <a:spcBef>
                    <a:spcPts val="600"/>
                  </a:spcBef>
                  <a:spcAft>
                    <a:spcPts val="600"/>
                  </a:spcAft>
                </a:pPr>
                <a:r>
                  <a:rPr lang="en-US" sz="2000" dirty="0">
                    <a:cs typeface="Arial" panose="020B0604020202020204" pitchFamily="34" charset="0"/>
                  </a:rPr>
                  <a:t>The </a:t>
                </a:r>
                <a:r>
                  <a:rPr lang="en-US" sz="2000" b="1" dirty="0">
                    <a:cs typeface="Arial" panose="020B0604020202020204" pitchFamily="34" charset="0"/>
                  </a:rPr>
                  <a:t>adjusted</a:t>
                </a:r>
                <a:r>
                  <a:rPr lang="en-US" sz="2000" dirty="0">
                    <a:cs typeface="Arial" panose="020B0604020202020204" pitchFamily="34" charset="0"/>
                  </a:rPr>
                  <a:t> </a:t>
                </a:r>
                <a:r>
                  <a:rPr lang="en-US" sz="2000" b="1" dirty="0">
                    <a:cs typeface="Arial" panose="020B0604020202020204" pitchFamily="34" charset="0"/>
                  </a:rPr>
                  <a:t>multiple coefficient of determination</a:t>
                </a:r>
                <a:r>
                  <a:rPr lang="en-US" sz="2000" dirty="0">
                    <a:cs typeface="Arial" panose="020B0604020202020204" pitchFamily="34" charset="0"/>
                  </a:rPr>
                  <a:t>, </a:t>
                </a:r>
                <a14:m>
                  <m:oMath xmlns:m="http://schemas.openxmlformats.org/officeDocument/2006/math">
                    <m:sSubSup>
                      <m:sSubSupPr>
                        <m:ctrlPr>
                          <a:rPr lang="en-US" sz="2000" b="1" i="1" dirty="0">
                            <a:latin typeface="Cambria Math" panose="02040503050406030204" pitchFamily="18" charset="0"/>
                            <a:cs typeface="Arial" panose="020B0604020202020204" pitchFamily="34" charset="0"/>
                          </a:rPr>
                        </m:ctrlPr>
                      </m:sSubSupPr>
                      <m:e>
                        <m:r>
                          <a:rPr lang="en-US" sz="2000" b="1" i="1" dirty="0">
                            <a:latin typeface="Cambria Math" panose="02040503050406030204" pitchFamily="18" charset="0"/>
                            <a:cs typeface="Arial" panose="020B0604020202020204" pitchFamily="34" charset="0"/>
                          </a:rPr>
                          <m:t>𝑹</m:t>
                        </m:r>
                      </m:e>
                      <m:sub>
                        <m:r>
                          <a:rPr lang="en-US" sz="2000" b="1" i="1" dirty="0">
                            <a:latin typeface="Cambria Math" panose="02040503050406030204" pitchFamily="18" charset="0"/>
                            <a:cs typeface="Arial" panose="020B0604020202020204" pitchFamily="34" charset="0"/>
                          </a:rPr>
                          <m:t>𝒂</m:t>
                        </m:r>
                      </m:sub>
                      <m:sup>
                        <m:r>
                          <a:rPr lang="en-US" sz="2000" b="1" i="1" dirty="0">
                            <a:latin typeface="Cambria Math" panose="02040503050406030204" pitchFamily="18" charset="0"/>
                            <a:cs typeface="Arial" panose="020B0604020202020204" pitchFamily="34" charset="0"/>
                          </a:rPr>
                          <m:t>𝟐</m:t>
                        </m:r>
                      </m:sup>
                    </m:sSubSup>
                  </m:oMath>
                </a14:m>
                <a:r>
                  <a:rPr lang="en-US" sz="2000" dirty="0">
                    <a:cs typeface="Arial" panose="020B0604020202020204" pitchFamily="34" charset="0"/>
                  </a:rPr>
                  <a:t>, accounts for the effect that the number of independent variables, </a:t>
                </a:r>
                <a14:m>
                  <m:oMath xmlns:m="http://schemas.openxmlformats.org/officeDocument/2006/math">
                    <m:r>
                      <a:rPr lang="en-US" sz="2000" i="1" dirty="0" smtClean="0">
                        <a:latin typeface="Cambria Math" panose="02040503050406030204" pitchFamily="18" charset="0"/>
                        <a:cs typeface="Arial" panose="020B0604020202020204" pitchFamily="34" charset="0"/>
                      </a:rPr>
                      <m:t>𝑝</m:t>
                    </m:r>
                  </m:oMath>
                </a14:m>
                <a:r>
                  <a:rPr lang="en-US" sz="2000" dirty="0">
                    <a:cs typeface="Arial" panose="020B0604020202020204" pitchFamily="34" charset="0"/>
                  </a:rPr>
                  <a:t>, have on the amount of variability explained by the estimated regression equation of a sample with </a:t>
                </a:r>
                <a14:m>
                  <m:oMath xmlns:m="http://schemas.openxmlformats.org/officeDocument/2006/math">
                    <m:r>
                      <a:rPr lang="en-US" sz="2000" i="1" dirty="0" smtClean="0">
                        <a:latin typeface="Cambria Math" panose="02040503050406030204" pitchFamily="18" charset="0"/>
                        <a:cs typeface="Arial" panose="020B0604020202020204" pitchFamily="34" charset="0"/>
                      </a:rPr>
                      <m:t>𝑛</m:t>
                    </m:r>
                  </m:oMath>
                </a14:m>
                <a:r>
                  <a:rPr lang="en-US" sz="2000" dirty="0">
                    <a:cs typeface="Arial" panose="020B0604020202020204" pitchFamily="34" charset="0"/>
                  </a:rPr>
                  <a:t> observations.</a:t>
                </a:r>
              </a:p>
              <a:p>
                <a:pPr marL="914400">
                  <a:spcBef>
                    <a:spcPts val="600"/>
                  </a:spcBef>
                  <a:spcAft>
                    <a:spcPts val="600"/>
                  </a:spcAft>
                  <a:tabLst>
                    <a:tab pos="9032875" algn="l"/>
                  </a:tabLst>
                </a:pPr>
                <a14:m>
                  <m:oMathPara xmlns:m="http://schemas.openxmlformats.org/officeDocument/2006/math">
                    <m:oMathParaPr>
                      <m:jc m:val="left"/>
                    </m:oMathParaPr>
                    <m:oMath xmlns:m="http://schemas.openxmlformats.org/officeDocument/2006/math">
                      <m:sSubSup>
                        <m:sSubSupPr>
                          <m:ctrlPr>
                            <a:rPr lang="en-US" sz="2000" b="1" i="1" dirty="0" smtClean="0">
                              <a:solidFill>
                                <a:srgbClr val="000000"/>
                              </a:solidFill>
                              <a:latin typeface="Cambria Math" panose="02040503050406030204" pitchFamily="18" charset="0"/>
                              <a:cs typeface="Arial" panose="020B0604020202020204" pitchFamily="34" charset="0"/>
                            </a:rPr>
                          </m:ctrlPr>
                        </m:sSubSupPr>
                        <m:e>
                          <m:r>
                            <a:rPr lang="en-US" sz="2000" b="1" i="1" dirty="0" smtClean="0">
                              <a:solidFill>
                                <a:srgbClr val="000000"/>
                              </a:solidFill>
                              <a:latin typeface="Cambria Math" panose="02040503050406030204" pitchFamily="18" charset="0"/>
                              <a:cs typeface="Arial" panose="020B0604020202020204" pitchFamily="34" charset="0"/>
                            </a:rPr>
                            <m:t>𝑹</m:t>
                          </m:r>
                        </m:e>
                        <m:sub>
                          <m:r>
                            <a:rPr lang="en-US" sz="2000" b="1" i="1" dirty="0" smtClean="0">
                              <a:solidFill>
                                <a:srgbClr val="000000"/>
                              </a:solidFill>
                              <a:latin typeface="Cambria Math" panose="02040503050406030204" pitchFamily="18" charset="0"/>
                              <a:cs typeface="Arial" panose="020B0604020202020204" pitchFamily="34" charset="0"/>
                            </a:rPr>
                            <m:t>𝒂</m:t>
                          </m:r>
                        </m:sub>
                        <m:sup>
                          <m:r>
                            <a:rPr lang="en-US" sz="2000" b="1" i="1" dirty="0" smtClean="0">
                              <a:solidFill>
                                <a:srgbClr val="000000"/>
                              </a:solidFill>
                              <a:latin typeface="Cambria Math" panose="02040503050406030204" pitchFamily="18" charset="0"/>
                              <a:cs typeface="Arial" panose="020B0604020202020204" pitchFamily="34" charset="0"/>
                            </a:rPr>
                            <m:t>𝟐</m:t>
                          </m:r>
                        </m:sup>
                      </m:sSubSup>
                      <m:r>
                        <a:rPr lang="en-US" sz="2000" b="1" i="1" dirty="0" smtClean="0">
                          <a:solidFill>
                            <a:srgbClr val="000000"/>
                          </a:solidFill>
                          <a:latin typeface="Cambria Math" panose="02040503050406030204" pitchFamily="18" charset="0"/>
                          <a:cs typeface="Arial" panose="020B0604020202020204" pitchFamily="34" charset="0"/>
                        </a:rPr>
                        <m:t>=</m:t>
                      </m:r>
                      <m:r>
                        <a:rPr lang="en-US" sz="2000" b="1" i="1" dirty="0" smtClean="0">
                          <a:solidFill>
                            <a:srgbClr val="000000"/>
                          </a:solidFill>
                          <a:latin typeface="Cambria Math" panose="02040503050406030204" pitchFamily="18" charset="0"/>
                          <a:cs typeface="Arial" panose="020B0604020202020204" pitchFamily="34" charset="0"/>
                        </a:rPr>
                        <m:t>𝟏</m:t>
                      </m:r>
                      <m:r>
                        <a:rPr lang="en-US" sz="2000" b="1" i="1" dirty="0" smtClean="0">
                          <a:solidFill>
                            <a:srgbClr val="000000"/>
                          </a:solidFill>
                          <a:latin typeface="Cambria Math" panose="02040503050406030204" pitchFamily="18" charset="0"/>
                          <a:cs typeface="Arial" panose="020B0604020202020204" pitchFamily="34" charset="0"/>
                        </a:rPr>
                        <m:t>−</m:t>
                      </m:r>
                      <m:d>
                        <m:dPr>
                          <m:ctrlPr>
                            <a:rPr lang="en-US" sz="2000" b="1" i="1" dirty="0" smtClean="0">
                              <a:solidFill>
                                <a:srgbClr val="000000"/>
                              </a:solidFill>
                              <a:latin typeface="Cambria Math" panose="02040503050406030204" pitchFamily="18" charset="0"/>
                              <a:cs typeface="Arial" panose="020B0604020202020204" pitchFamily="34" charset="0"/>
                            </a:rPr>
                          </m:ctrlPr>
                        </m:dPr>
                        <m:e>
                          <m:r>
                            <a:rPr lang="en-US" sz="2000" b="1" i="1" dirty="0" smtClean="0">
                              <a:solidFill>
                                <a:srgbClr val="000000"/>
                              </a:solidFill>
                              <a:latin typeface="Cambria Math" panose="02040503050406030204" pitchFamily="18" charset="0"/>
                              <a:cs typeface="Arial" panose="020B0604020202020204" pitchFamily="34" charset="0"/>
                            </a:rPr>
                            <m:t>𝟏</m:t>
                          </m:r>
                          <m:r>
                            <a:rPr lang="en-US" sz="2000" b="1" i="1" dirty="0" smtClean="0">
                              <a:solidFill>
                                <a:srgbClr val="000000"/>
                              </a:solidFill>
                              <a:latin typeface="Cambria Math" panose="02040503050406030204" pitchFamily="18" charset="0"/>
                              <a:cs typeface="Arial" panose="020B0604020202020204" pitchFamily="34" charset="0"/>
                            </a:rPr>
                            <m:t>−</m:t>
                          </m:r>
                          <m:sSup>
                            <m:sSupPr>
                              <m:ctrlPr>
                                <a:rPr lang="en-US" sz="2000" b="1" i="1" dirty="0">
                                  <a:latin typeface="Cambria Math" panose="02040503050406030204" pitchFamily="18" charset="0"/>
                                  <a:cs typeface="Arial" panose="020B0604020202020204" pitchFamily="34" charset="0"/>
                                </a:rPr>
                              </m:ctrlPr>
                            </m:sSupPr>
                            <m:e>
                              <m:r>
                                <a:rPr lang="en-US" sz="2000" b="1" i="1" dirty="0">
                                  <a:latin typeface="Cambria Math" panose="02040503050406030204" pitchFamily="18" charset="0"/>
                                  <a:cs typeface="Arial" panose="020B0604020202020204" pitchFamily="34" charset="0"/>
                                </a:rPr>
                                <m:t>𝑹</m:t>
                              </m:r>
                            </m:e>
                            <m:sup>
                              <m:r>
                                <a:rPr lang="en-US" sz="2000" b="1" i="1" dirty="0">
                                  <a:latin typeface="Cambria Math" panose="02040503050406030204" pitchFamily="18" charset="0"/>
                                  <a:cs typeface="Arial" panose="020B0604020202020204" pitchFamily="34" charset="0"/>
                                </a:rPr>
                                <m:t>𝟐</m:t>
                              </m:r>
                            </m:sup>
                          </m:sSup>
                        </m:e>
                      </m:d>
                      <m:f>
                        <m:fPr>
                          <m:ctrlPr>
                            <a:rPr lang="en-US" sz="2000" b="1" i="1" dirty="0" smtClean="0">
                              <a:solidFill>
                                <a:srgbClr val="000000"/>
                              </a:solidFill>
                              <a:latin typeface="Cambria Math" panose="02040503050406030204" pitchFamily="18" charset="0"/>
                              <a:cs typeface="Arial" panose="020B0604020202020204" pitchFamily="34" charset="0"/>
                            </a:rPr>
                          </m:ctrlPr>
                        </m:fPr>
                        <m:num>
                          <m:r>
                            <a:rPr lang="en-US" sz="2000" b="1" i="1" dirty="0" smtClean="0">
                              <a:solidFill>
                                <a:srgbClr val="000000"/>
                              </a:solidFill>
                              <a:latin typeface="Cambria Math" panose="02040503050406030204" pitchFamily="18" charset="0"/>
                              <a:cs typeface="Arial" panose="020B0604020202020204" pitchFamily="34" charset="0"/>
                            </a:rPr>
                            <m:t>𝒏</m:t>
                          </m:r>
                          <m:r>
                            <a:rPr lang="en-US" sz="2000" b="1" i="1" dirty="0" smtClean="0">
                              <a:solidFill>
                                <a:srgbClr val="000000"/>
                              </a:solidFill>
                              <a:latin typeface="Cambria Math" panose="02040503050406030204" pitchFamily="18" charset="0"/>
                              <a:cs typeface="Arial" panose="020B0604020202020204" pitchFamily="34" charset="0"/>
                            </a:rPr>
                            <m:t>−</m:t>
                          </m:r>
                          <m:r>
                            <a:rPr lang="en-US" sz="2000" b="1" i="1" dirty="0" smtClean="0">
                              <a:solidFill>
                                <a:srgbClr val="000000"/>
                              </a:solidFill>
                              <a:latin typeface="Cambria Math" panose="02040503050406030204" pitchFamily="18" charset="0"/>
                              <a:cs typeface="Arial" panose="020B0604020202020204" pitchFamily="34" charset="0"/>
                            </a:rPr>
                            <m:t>𝟏</m:t>
                          </m:r>
                        </m:num>
                        <m:den>
                          <m:r>
                            <a:rPr lang="en-US" sz="2000" b="1" i="1" dirty="0" smtClean="0">
                              <a:solidFill>
                                <a:srgbClr val="000000"/>
                              </a:solidFill>
                              <a:latin typeface="Cambria Math" panose="02040503050406030204" pitchFamily="18" charset="0"/>
                              <a:cs typeface="Arial" panose="020B0604020202020204" pitchFamily="34" charset="0"/>
                            </a:rPr>
                            <m:t>𝒏</m:t>
                          </m:r>
                          <m:r>
                            <a:rPr lang="en-US" sz="2000" b="1" i="1" dirty="0" smtClean="0">
                              <a:solidFill>
                                <a:srgbClr val="000000"/>
                              </a:solidFill>
                              <a:latin typeface="Cambria Math" panose="02040503050406030204" pitchFamily="18" charset="0"/>
                              <a:cs typeface="Arial" panose="020B0604020202020204" pitchFamily="34" charset="0"/>
                            </a:rPr>
                            <m:t>−</m:t>
                          </m:r>
                          <m:r>
                            <a:rPr lang="en-US" sz="2000" b="1" i="1" dirty="0" smtClean="0">
                              <a:solidFill>
                                <a:srgbClr val="000000"/>
                              </a:solidFill>
                              <a:latin typeface="Cambria Math" panose="02040503050406030204" pitchFamily="18" charset="0"/>
                              <a:cs typeface="Arial" panose="020B0604020202020204" pitchFamily="34" charset="0"/>
                            </a:rPr>
                            <m:t>𝒑</m:t>
                          </m:r>
                          <m:r>
                            <a:rPr lang="en-US" sz="2000" b="1" i="1" dirty="0" smtClean="0">
                              <a:solidFill>
                                <a:srgbClr val="000000"/>
                              </a:solidFill>
                              <a:latin typeface="Cambria Math" panose="02040503050406030204" pitchFamily="18" charset="0"/>
                              <a:cs typeface="Arial" panose="020B0604020202020204" pitchFamily="34" charset="0"/>
                            </a:rPr>
                            <m:t>−</m:t>
                          </m:r>
                          <m:r>
                            <a:rPr lang="en-US" sz="2000" b="1" i="1" dirty="0" smtClean="0">
                              <a:solidFill>
                                <a:srgbClr val="000000"/>
                              </a:solidFill>
                              <a:latin typeface="Cambria Math" panose="02040503050406030204" pitchFamily="18" charset="0"/>
                              <a:cs typeface="Arial" panose="020B0604020202020204" pitchFamily="34" charset="0"/>
                            </a:rPr>
                            <m:t>𝟏</m:t>
                          </m:r>
                        </m:den>
                      </m:f>
                    </m:oMath>
                  </m:oMathPara>
                </a14:m>
                <a:endParaRPr lang="en-US" sz="2000" b="1" dirty="0">
                  <a:cs typeface="Arial" panose="020B0604020202020204" pitchFamily="34" charset="0"/>
                </a:endParaRPr>
              </a:p>
              <a:p>
                <a:pPr>
                  <a:spcBef>
                    <a:spcPts val="600"/>
                  </a:spcBef>
                  <a:spcAft>
                    <a:spcPts val="600"/>
                  </a:spcAft>
                  <a:tabLst>
                    <a:tab pos="9032875" algn="l"/>
                  </a:tabLst>
                </a:pPr>
                <a:r>
                  <a:rPr lang="en-US" sz="2000" dirty="0">
                    <a:latin typeface="Arial" panose="020B0604020202020204" pitchFamily="34" charset="0"/>
                    <a:cs typeface="Arial" panose="020B0604020202020204" pitchFamily="34" charset="0"/>
                  </a:rPr>
                  <a:t>For the Butler Trucking Company example, we have:</a:t>
                </a:r>
              </a:p>
              <a:p>
                <a:pPr marL="914400">
                  <a:spcBef>
                    <a:spcPts val="600"/>
                  </a:spcBef>
                  <a:spcAft>
                    <a:spcPts val="600"/>
                  </a:spcAft>
                  <a:tabLst>
                    <a:tab pos="9032875" algn="l"/>
                  </a:tabLst>
                </a:pPr>
                <a14:m>
                  <m:oMathPara xmlns:m="http://schemas.openxmlformats.org/officeDocument/2006/math">
                    <m:oMathParaPr>
                      <m:jc m:val="left"/>
                    </m:oMathParaPr>
                    <m:oMath xmlns:m="http://schemas.openxmlformats.org/officeDocument/2006/math">
                      <m:sSubSup>
                        <m:sSubSupPr>
                          <m:ctrlPr>
                            <a:rPr lang="en-US" sz="2000" i="1" dirty="0">
                              <a:latin typeface="Cambria Math" panose="02040503050406030204" pitchFamily="18" charset="0"/>
                              <a:cs typeface="Arial" panose="020B0604020202020204" pitchFamily="34" charset="0"/>
                            </a:rPr>
                          </m:ctrlPr>
                        </m:sSubSupPr>
                        <m:e>
                          <m:r>
                            <a:rPr lang="en-US" sz="2000" b="0" i="1" dirty="0">
                              <a:latin typeface="Cambria Math" panose="02040503050406030204" pitchFamily="18" charset="0"/>
                              <a:cs typeface="Arial" panose="020B0604020202020204" pitchFamily="34" charset="0"/>
                            </a:rPr>
                            <m:t>𝑅</m:t>
                          </m:r>
                        </m:e>
                        <m:sub>
                          <m:r>
                            <a:rPr lang="en-US" sz="2000" b="0" i="1" dirty="0">
                              <a:latin typeface="Cambria Math" panose="02040503050406030204" pitchFamily="18" charset="0"/>
                              <a:cs typeface="Arial" panose="020B0604020202020204" pitchFamily="34" charset="0"/>
                            </a:rPr>
                            <m:t>𝑎</m:t>
                          </m:r>
                        </m:sub>
                        <m:sup>
                          <m:r>
                            <a:rPr lang="en-US" sz="2000" b="0" i="1" dirty="0">
                              <a:latin typeface="Cambria Math" panose="02040503050406030204" pitchFamily="18" charset="0"/>
                              <a:cs typeface="Arial" panose="020B0604020202020204" pitchFamily="34" charset="0"/>
                            </a:rPr>
                            <m:t>2</m:t>
                          </m:r>
                        </m:sup>
                      </m:sSubSup>
                      <m:r>
                        <a:rPr lang="en-US" sz="2000" b="0" i="1" dirty="0">
                          <a:latin typeface="Cambria Math" panose="02040503050406030204" pitchFamily="18" charset="0"/>
                          <a:cs typeface="Arial" panose="020B0604020202020204" pitchFamily="34" charset="0"/>
                        </a:rPr>
                        <m:t>=1−</m:t>
                      </m:r>
                      <m:d>
                        <m:dPr>
                          <m:ctrlPr>
                            <a:rPr lang="en-US" sz="2000" i="1" dirty="0">
                              <a:latin typeface="Cambria Math" panose="02040503050406030204" pitchFamily="18" charset="0"/>
                              <a:cs typeface="Arial" panose="020B0604020202020204" pitchFamily="34" charset="0"/>
                            </a:rPr>
                          </m:ctrlPr>
                        </m:dPr>
                        <m:e>
                          <m:r>
                            <a:rPr lang="en-US" sz="2000" b="0" i="1" dirty="0">
                              <a:latin typeface="Cambria Math" panose="02040503050406030204" pitchFamily="18" charset="0"/>
                              <a:cs typeface="Arial" panose="020B0604020202020204" pitchFamily="34" charset="0"/>
                            </a:rPr>
                            <m:t>1−</m:t>
                          </m:r>
                          <m:r>
                            <a:rPr lang="en-US" sz="2000" b="0" i="1" dirty="0" smtClean="0">
                              <a:latin typeface="Cambria Math" panose="02040503050406030204" pitchFamily="18" charset="0"/>
                              <a:cs typeface="Arial" panose="020B0604020202020204" pitchFamily="34" charset="0"/>
                            </a:rPr>
                            <m:t>0.9038</m:t>
                          </m:r>
                        </m:e>
                      </m:d>
                      <m:f>
                        <m:fPr>
                          <m:ctrlPr>
                            <a:rPr lang="en-US" sz="2000" i="1" dirty="0">
                              <a:latin typeface="Cambria Math" panose="02040503050406030204" pitchFamily="18" charset="0"/>
                              <a:cs typeface="Arial" panose="020B0604020202020204" pitchFamily="34" charset="0"/>
                            </a:rPr>
                          </m:ctrlPr>
                        </m:fPr>
                        <m:num>
                          <m:r>
                            <a:rPr lang="en-US" sz="2000" b="0" i="1" dirty="0" smtClean="0">
                              <a:latin typeface="Cambria Math" panose="02040503050406030204" pitchFamily="18" charset="0"/>
                              <a:cs typeface="Arial" panose="020B0604020202020204" pitchFamily="34" charset="0"/>
                            </a:rPr>
                            <m:t>10</m:t>
                          </m:r>
                          <m:r>
                            <a:rPr lang="en-US" sz="2000" b="0" i="1" dirty="0">
                              <a:latin typeface="Cambria Math" panose="02040503050406030204" pitchFamily="18" charset="0"/>
                              <a:cs typeface="Arial" panose="020B0604020202020204" pitchFamily="34" charset="0"/>
                            </a:rPr>
                            <m:t>−1</m:t>
                          </m:r>
                        </m:num>
                        <m:den>
                          <m:r>
                            <a:rPr lang="en-US" sz="2000" b="0" i="1" dirty="0" smtClean="0">
                              <a:latin typeface="Cambria Math" panose="02040503050406030204" pitchFamily="18" charset="0"/>
                              <a:cs typeface="Arial" panose="020B0604020202020204" pitchFamily="34" charset="0"/>
                            </a:rPr>
                            <m:t>10</m:t>
                          </m:r>
                          <m:r>
                            <a:rPr lang="en-US" sz="2000" b="0" i="1" dirty="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2</m:t>
                          </m:r>
                          <m:r>
                            <a:rPr lang="en-US" sz="2000" b="0" i="1" dirty="0">
                              <a:latin typeface="Cambria Math" panose="02040503050406030204" pitchFamily="18" charset="0"/>
                              <a:cs typeface="Arial" panose="020B0604020202020204" pitchFamily="34" charset="0"/>
                            </a:rPr>
                            <m:t>−1</m:t>
                          </m:r>
                        </m:den>
                      </m:f>
                      <m:r>
                        <a:rPr lang="en-US" sz="2000" b="0" i="1" dirty="0" smtClean="0">
                          <a:solidFill>
                            <a:srgbClr val="000000"/>
                          </a:solidFill>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0.8763</m:t>
                      </m:r>
                    </m:oMath>
                  </m:oMathPara>
                </a14:m>
                <a:endParaRPr lang="en-US" sz="2000" dirty="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05131" y="1306097"/>
                <a:ext cx="10781737" cy="4449661"/>
              </a:xfrm>
              <a:blipFill>
                <a:blip r:embed="rId3"/>
                <a:stretch>
                  <a:fillRect l="-1471" t="-1644"/>
                </a:stretch>
              </a:blipFill>
            </p:spPr>
            <p:txBody>
              <a:bodyPr/>
              <a:lstStyle/>
              <a:p>
                <a:r>
                  <a:rPr lang="en-US">
                    <a:noFill/>
                  </a:rPr>
                  <a:t> </a:t>
                </a:r>
              </a:p>
            </p:txBody>
          </p:sp>
        </mc:Fallback>
      </mc:AlternateContent>
    </p:spTree>
    <p:extLst>
      <p:ext uri="{BB962C8B-B14F-4D97-AF65-F5344CB8AC3E}">
        <p14:creationId xmlns:p14="http://schemas.microsoft.com/office/powerpoint/2010/main" val="3377723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solidFill>
                  <a:srgbClr val="D14B1E"/>
                </a:solidFill>
              </a:rPr>
              <a:t>15.4 Model Assumptions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05131" y="1628775"/>
                <a:ext cx="10781737" cy="3464719"/>
              </a:xfrm>
            </p:spPr>
            <p:txBody>
              <a:bodyPr/>
              <a:lstStyle/>
              <a:p>
                <a:pPr>
                  <a:spcBef>
                    <a:spcPts val="600"/>
                  </a:spcBef>
                  <a:spcAft>
                    <a:spcPts val="1800"/>
                  </a:spcAft>
                </a:pPr>
                <a:r>
                  <a:rPr lang="en-US" sz="2000" dirty="0">
                    <a:cs typeface="Arial" panose="020B0604020202020204" pitchFamily="34" charset="0"/>
                  </a:rPr>
                  <a:t>In Section 15.1, we introduced the following multiple regression model</a:t>
                </a:r>
              </a:p>
              <a:p>
                <a:pPr>
                  <a:spcBef>
                    <a:spcPts val="600"/>
                  </a:spcBef>
                  <a:spcAft>
                    <a:spcPts val="1200"/>
                  </a:spcAft>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𝒚</m:t>
                      </m:r>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𝜷</m:t>
                          </m:r>
                        </m:e>
                        <m:sub>
                          <m:r>
                            <a:rPr lang="en-US" sz="2000" b="1" i="1" smtClean="0">
                              <a:latin typeface="Cambria Math" panose="02040503050406030204" pitchFamily="18" charset="0"/>
                            </a:rPr>
                            <m:t>𝟎</m:t>
                          </m:r>
                        </m:sub>
                      </m:sSub>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𝜷</m:t>
                          </m:r>
                        </m:e>
                        <m:sub>
                          <m:r>
                            <a:rPr lang="en-US" sz="2000" b="1" i="1" smtClean="0">
                              <a:latin typeface="Cambria Math" panose="02040503050406030204" pitchFamily="18" charset="0"/>
                            </a:rPr>
                            <m:t>𝟏</m:t>
                          </m:r>
                        </m:sub>
                      </m:sSub>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𝒙</m:t>
                          </m:r>
                        </m:e>
                        <m:sub>
                          <m:r>
                            <a:rPr lang="en-US" sz="2000" b="1" i="1">
                              <a:latin typeface="Cambria Math" panose="02040503050406030204" pitchFamily="18" charset="0"/>
                              <a:cs typeface="Arial" panose="020B0604020202020204" pitchFamily="34" charset="0"/>
                            </a:rPr>
                            <m:t>𝟏</m:t>
                          </m:r>
                        </m:sub>
                      </m:sSub>
                      <m:r>
                        <a:rPr lang="en-US" sz="2000" b="1" i="1" smtClean="0">
                          <a:latin typeface="Cambria Math" panose="02040503050406030204" pitchFamily="18" charset="0"/>
                        </a:rPr>
                        <m:t>+</m:t>
                      </m:r>
                      <m:sSub>
                        <m:sSubPr>
                          <m:ctrlPr>
                            <a:rPr lang="en-US" sz="2000" b="1" i="1">
                              <a:latin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𝜷</m:t>
                          </m:r>
                        </m:e>
                        <m:sub>
                          <m:r>
                            <a:rPr lang="en-US" sz="2000" b="1" i="1" smtClean="0">
                              <a:latin typeface="Cambria Math" panose="02040503050406030204" pitchFamily="18" charset="0"/>
                            </a:rPr>
                            <m:t>𝟐</m:t>
                          </m:r>
                        </m:sub>
                      </m:sSub>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𝒙</m:t>
                          </m:r>
                        </m:e>
                        <m:sub>
                          <m:r>
                            <a:rPr lang="en-US" sz="2000" b="1" i="1">
                              <a:latin typeface="Cambria Math" panose="02040503050406030204" pitchFamily="18" charset="0"/>
                              <a:cs typeface="Arial" panose="020B0604020202020204" pitchFamily="34" charset="0"/>
                            </a:rPr>
                            <m:t>𝟐</m:t>
                          </m:r>
                        </m:sub>
                      </m:sSub>
                      <m:r>
                        <a:rPr lang="en-US" sz="2000" b="1" i="1">
                          <a:latin typeface="Cambria Math" panose="02040503050406030204" pitchFamily="18" charset="0"/>
                        </a:rPr>
                        <m:t>+</m:t>
                      </m:r>
                      <m:r>
                        <m:rPr>
                          <m:nor/>
                        </m:rPr>
                        <a:rPr lang="en-US" sz="2000">
                          <a:latin typeface="Cambria Math" panose="02040503050406030204" pitchFamily="18" charset="0"/>
                          <a:cs typeface="Arial" panose="020B0604020202020204" pitchFamily="34" charset="0"/>
                        </a:rPr>
                        <m:t>…</m:t>
                      </m:r>
                      <m:r>
                        <a:rPr lang="en-US" sz="2000" b="1" i="1" smtClean="0">
                          <a:latin typeface="Cambria Math" panose="02040503050406030204" pitchFamily="18" charset="0"/>
                        </a:rPr>
                        <m:t>+</m:t>
                      </m:r>
                      <m:sSub>
                        <m:sSubPr>
                          <m:ctrlPr>
                            <a:rPr lang="en-US" sz="2000" b="1" i="1">
                              <a:latin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𝜷</m:t>
                          </m:r>
                        </m:e>
                        <m:sub>
                          <m:r>
                            <a:rPr lang="en-US" sz="2000" b="1" i="1" smtClean="0">
                              <a:latin typeface="Cambria Math" panose="02040503050406030204" pitchFamily="18" charset="0"/>
                            </a:rPr>
                            <m:t>𝒑</m:t>
                          </m:r>
                        </m:sub>
                      </m:sSub>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cs typeface="Arial" panose="020B0604020202020204" pitchFamily="34" charset="0"/>
                            </a:rPr>
                            <m:t>𝒙</m:t>
                          </m:r>
                        </m:e>
                        <m:sub>
                          <m:r>
                            <a:rPr lang="en-US" sz="2000" b="1" i="1">
                              <a:latin typeface="Cambria Math" panose="02040503050406030204" pitchFamily="18" charset="0"/>
                              <a:cs typeface="Arial" panose="020B0604020202020204" pitchFamily="34" charset="0"/>
                            </a:rPr>
                            <m:t>𝒑</m:t>
                          </m:r>
                        </m:sub>
                      </m:sSub>
                      <m:r>
                        <a:rPr lang="en-US" sz="2000" b="1" i="1">
                          <a:latin typeface="Cambria Math" panose="02040503050406030204" pitchFamily="18" charset="0"/>
                        </a:rPr>
                        <m:t>+</m:t>
                      </m:r>
                      <m:r>
                        <a:rPr lang="en-US" sz="2000" b="1" i="1">
                          <a:latin typeface="Cambria Math" panose="02040503050406030204" pitchFamily="18" charset="0"/>
                          <a:ea typeface="Cambria Math" panose="02040503050406030204" pitchFamily="18" charset="0"/>
                          <a:cs typeface="Arial" panose="020B0604020202020204" pitchFamily="34" charset="0"/>
                        </a:rPr>
                        <m:t>𝝐</m:t>
                      </m:r>
                    </m:oMath>
                  </m:oMathPara>
                </a14:m>
                <a:endParaRPr lang="en-US" sz="2000" dirty="0">
                  <a:cs typeface="Arial" panose="020B0604020202020204" pitchFamily="34" charset="0"/>
                </a:endParaRPr>
              </a:p>
              <a:p>
                <a:pPr>
                  <a:spcBef>
                    <a:spcPts val="600"/>
                  </a:spcBef>
                  <a:spcAft>
                    <a:spcPts val="0"/>
                  </a:spcAft>
                </a:pPr>
                <a:r>
                  <a:rPr lang="en-US" sz="2000" dirty="0">
                    <a:cs typeface="Arial" panose="020B0604020202020204" pitchFamily="34" charset="0"/>
                  </a:rPr>
                  <a:t>The assumptions about the error term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cs typeface="Arial" panose="020B0604020202020204" pitchFamily="34" charset="0"/>
                  </a:rPr>
                  <a:t> in the multiple regression model parallel those for the simple linear regression model</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05131" y="1628775"/>
                <a:ext cx="10781737" cy="3464719"/>
              </a:xfrm>
              <a:blipFill>
                <a:blip r:embed="rId3"/>
                <a:stretch>
                  <a:fillRect l="-1471" t="-2109"/>
                </a:stretch>
              </a:blipFill>
            </p:spPr>
            <p:txBody>
              <a:bodyPr/>
              <a:lstStyle/>
              <a:p>
                <a:r>
                  <a:rPr lang="en-US">
                    <a:noFill/>
                  </a:rPr>
                  <a:t> </a:t>
                </a:r>
              </a:p>
            </p:txBody>
          </p:sp>
        </mc:Fallback>
      </mc:AlternateContent>
    </p:spTree>
    <p:extLst>
      <p:ext uri="{BB962C8B-B14F-4D97-AF65-F5344CB8AC3E}">
        <p14:creationId xmlns:p14="http://schemas.microsoft.com/office/powerpoint/2010/main" val="2019944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3D703-F249-9BAE-3BA8-B20A028960C5}"/>
              </a:ext>
            </a:extLst>
          </p:cNvPr>
          <p:cNvSpPr>
            <a:spLocks noGrp="1"/>
          </p:cNvSpPr>
          <p:nvPr>
            <p:ph type="title"/>
          </p:nvPr>
        </p:nvSpPr>
        <p:spPr>
          <a:xfrm>
            <a:off x="740982" y="365125"/>
            <a:ext cx="10699531" cy="672105"/>
          </a:xfrm>
        </p:spPr>
        <p:txBody>
          <a:bodyPr/>
          <a:lstStyle/>
          <a:p>
            <a:r>
              <a:rPr lang="en-US" sz="3200" dirty="0"/>
              <a:t>15.4 Graphical Representation of a Multiple Regression Equation with Two Independent Variables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AAB4682-96EE-9F82-5365-1E64A6B38906}"/>
                  </a:ext>
                </a:extLst>
              </p:cNvPr>
              <p:cNvSpPr>
                <a:spLocks noGrp="1"/>
              </p:cNvSpPr>
              <p:nvPr>
                <p:ph type="body" sz="quarter" idx="15"/>
              </p:nvPr>
            </p:nvSpPr>
            <p:spPr>
              <a:xfrm>
                <a:off x="743577" y="1596458"/>
                <a:ext cx="10610223" cy="1077433"/>
              </a:xfrm>
            </p:spPr>
            <p:txBody>
              <a:bodyPr/>
              <a:lstStyle/>
              <a:p>
                <a:r>
                  <a:rPr lang="en-US" sz="2000" dirty="0"/>
                  <a:t>To obtain more insight about the form of the relationship given by a multiple regression equation, consider the following two-independent-variable version.</a:t>
                </a:r>
              </a:p>
              <a:p>
                <a:pPr marL="914400"/>
                <a14:m>
                  <m:oMath xmlns:m="http://schemas.openxmlformats.org/officeDocument/2006/math">
                    <m:r>
                      <a:rPr lang="en-US" sz="2000" b="0" i="1" smtClean="0">
                        <a:latin typeface="Cambria Math" panose="02040503050406030204" pitchFamily="18" charset="0"/>
                      </a:rPr>
                      <m:t>𝐸</m:t>
                    </m:r>
                    <m:d>
                      <m:dPr>
                        <m:ctrlPr>
                          <a:rPr lang="en-US" sz="2000" i="1">
                            <a:latin typeface="Cambria Math" panose="02040503050406030204" pitchFamily="18" charset="0"/>
                          </a:rPr>
                        </m:ctrlPr>
                      </m:dPr>
                      <m:e>
                        <m:r>
                          <a:rPr lang="en-US" sz="2000" b="0" i="1">
                            <a:latin typeface="Cambria Math" panose="02040503050406030204" pitchFamily="18" charset="0"/>
                          </a:rPr>
                          <m:t>𝑦</m:t>
                        </m:r>
                      </m:e>
                    </m:d>
                    <m:r>
                      <a:rPr lang="en-US" sz="2000" b="0" i="1">
                        <a:latin typeface="Cambria Math" panose="02040503050406030204" pitchFamily="18" charset="0"/>
                      </a:rPr>
                      <m:t>=</m:t>
                    </m:r>
                    <m:sSub>
                      <m:sSubPr>
                        <m:ctrlPr>
                          <a:rPr lang="en-US" sz="200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𝛽</m:t>
                        </m:r>
                      </m:e>
                      <m:sub>
                        <m:r>
                          <a:rPr lang="en-US" sz="2000" b="0" i="1">
                            <a:latin typeface="Cambria Math" panose="02040503050406030204" pitchFamily="18" charset="0"/>
                          </a:rPr>
                          <m:t>0</m:t>
                        </m:r>
                      </m:sub>
                    </m:sSub>
                    <m:r>
                      <a:rPr lang="en-US" sz="2000" b="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𝑥</m:t>
                        </m:r>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2</m:t>
                        </m:r>
                      </m:sub>
                    </m:sSub>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𝑥</m:t>
                        </m:r>
                      </m:e>
                      <m:sub>
                        <m:r>
                          <a:rPr lang="en-US" sz="2000" i="1">
                            <a:latin typeface="Cambria Math" panose="02040503050406030204" pitchFamily="18" charset="0"/>
                            <a:cs typeface="Arial" panose="020B0604020202020204" pitchFamily="34" charset="0"/>
                          </a:rPr>
                          <m:t>2</m:t>
                        </m:r>
                      </m:sub>
                    </m:sSub>
                  </m:oMath>
                </a14:m>
                <a:r>
                  <a:rPr lang="en-US" sz="2000" dirty="0"/>
                  <a:t> </a:t>
                </a:r>
              </a:p>
            </p:txBody>
          </p:sp>
        </mc:Choice>
        <mc:Fallback xmlns="">
          <p:sp>
            <p:nvSpPr>
              <p:cNvPr id="3" name="Text Placeholder 2">
                <a:extLst>
                  <a:ext uri="{FF2B5EF4-FFF2-40B4-BE49-F238E27FC236}">
                    <a16:creationId xmlns:a16="http://schemas.microsoft.com/office/drawing/2014/main" id="{1AAB4682-96EE-9F82-5365-1E64A6B38906}"/>
                  </a:ext>
                </a:extLst>
              </p:cNvPr>
              <p:cNvSpPr>
                <a:spLocks noGrp="1" noRot="1" noChangeAspect="1" noMove="1" noResize="1" noEditPoints="1" noAdjustHandles="1" noChangeArrowheads="1" noChangeShapeType="1" noTextEdit="1"/>
              </p:cNvSpPr>
              <p:nvPr>
                <p:ph type="body" sz="quarter" idx="15"/>
              </p:nvPr>
            </p:nvSpPr>
            <p:spPr>
              <a:xfrm>
                <a:off x="743577" y="1596458"/>
                <a:ext cx="10610223" cy="1077433"/>
              </a:xfrm>
              <a:blipFill>
                <a:blip r:embed="rId2"/>
                <a:stretch>
                  <a:fillRect l="-1493" t="-6780" b="-22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54B767BB-8E48-C9C0-311B-01DE94A00007}"/>
                  </a:ext>
                </a:extLst>
              </p:cNvPr>
              <p:cNvSpPr>
                <a:spLocks noGrp="1"/>
              </p:cNvSpPr>
              <p:nvPr>
                <p:ph type="body" sz="quarter" idx="17"/>
              </p:nvPr>
            </p:nvSpPr>
            <p:spPr>
              <a:xfrm>
                <a:off x="743578" y="2774729"/>
                <a:ext cx="4750706" cy="2973941"/>
              </a:xfrm>
            </p:spPr>
            <p:txBody>
              <a:bodyPr/>
              <a:lstStyle/>
              <a:p>
                <a:r>
                  <a:rPr lang="en-US" sz="2000" dirty="0"/>
                  <a:t>The term </a:t>
                </a:r>
                <a:r>
                  <a:rPr lang="en-US" sz="2000" i="1" dirty="0"/>
                  <a:t>response variable</a:t>
                </a:r>
                <a:r>
                  <a:rPr lang="en-US" sz="2000" dirty="0"/>
                  <a:t> is often used in place of the term </a:t>
                </a:r>
                <a:r>
                  <a:rPr lang="en-US" sz="2000" i="1" dirty="0"/>
                  <a:t>dependent variable</a:t>
                </a:r>
                <a:r>
                  <a:rPr lang="en-US" sz="2000" dirty="0"/>
                  <a:t>. </a:t>
                </a:r>
              </a:p>
              <a:p>
                <a:r>
                  <a:rPr lang="en-US" sz="2000" dirty="0"/>
                  <a:t>The graph of this equation represented in three-dimensional space is a plane called a </a:t>
                </a:r>
                <a:r>
                  <a:rPr lang="en-US" sz="2000" i="1" dirty="0"/>
                  <a:t>response surface</a:t>
                </a:r>
                <a:r>
                  <a:rPr lang="en-US" sz="2000" dirty="0"/>
                  <a:t>.</a:t>
                </a:r>
              </a:p>
              <a:p>
                <a:r>
                  <a:rPr lang="en-US" sz="2000" dirty="0"/>
                  <a:t>Note that the value of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t> shown in the graph is the difference between the actual </a:t>
                </a:r>
                <a:r>
                  <a:rPr lang="en-US" sz="2000" dirty="0">
                    <a:latin typeface="Arial" panose="020B0604020202020204" pitchFamily="34" charset="0"/>
                    <a:cs typeface="Arial" panose="020B0604020202020204" pitchFamily="34" charset="0"/>
                  </a:rPr>
                  <a:t>𝑦</a:t>
                </a:r>
                <a:r>
                  <a:rPr lang="en-US" sz="2000" dirty="0"/>
                  <a:t> value and the expected value of </a:t>
                </a:r>
                <a:r>
                  <a:rPr lang="en-US" sz="2000" dirty="0">
                    <a:latin typeface="Arial" panose="020B0604020202020204" pitchFamily="34" charset="0"/>
                    <a:cs typeface="Arial" panose="020B0604020202020204" pitchFamily="34" charset="0"/>
                  </a:rPr>
                  <a:t>𝑦</a:t>
                </a:r>
                <a:r>
                  <a:rPr lang="en-US" sz="2000" dirty="0"/>
                  <a:t>, </a:t>
                </a:r>
                <a14:m>
                  <m:oMath xmlns:m="http://schemas.openxmlformats.org/officeDocument/2006/math">
                    <m:r>
                      <a:rPr lang="en-US" sz="2000" b="0" i="1" smtClean="0">
                        <a:latin typeface="Cambria Math" panose="02040503050406030204" pitchFamily="18" charset="0"/>
                      </a:rPr>
                      <m:t>𝐸</m:t>
                    </m:r>
                    <m:d>
                      <m:dPr>
                        <m:ctrlPr>
                          <a:rPr lang="en-US" sz="2000" i="1">
                            <a:latin typeface="Cambria Math" panose="02040503050406030204" pitchFamily="18" charset="0"/>
                          </a:rPr>
                        </m:ctrlPr>
                      </m:dPr>
                      <m:e>
                        <m:r>
                          <a:rPr lang="en-US" sz="2000" b="0" i="1">
                            <a:latin typeface="Cambria Math" panose="02040503050406030204" pitchFamily="18" charset="0"/>
                          </a:rPr>
                          <m:t>𝑦</m:t>
                        </m:r>
                      </m:e>
                    </m:d>
                  </m:oMath>
                </a14:m>
                <a:r>
                  <a:rPr lang="en-US" sz="2000" dirty="0"/>
                  <a:t>, when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Sup>
                      <m:sSubSupPr>
                        <m:ctrlPr>
                          <a:rPr lang="en-US" sz="2000" b="0" i="1" smtClean="0">
                            <a:latin typeface="Cambria Math" panose="02040503050406030204" pitchFamily="18" charset="0"/>
                          </a:rPr>
                        </m:ctrlPr>
                      </m:sSubSup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up>
                        <m:r>
                          <a:rPr lang="en-US" sz="2000" b="0" i="1" smtClean="0">
                            <a:latin typeface="Cambria Math" panose="02040503050406030204" pitchFamily="18" charset="0"/>
                          </a:rPr>
                          <m:t>∗</m:t>
                        </m:r>
                      </m:sup>
                    </m:sSubSup>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2</m:t>
                        </m:r>
                      </m:sub>
                    </m:sSub>
                    <m:r>
                      <a:rPr lang="en-US" sz="2000" i="1">
                        <a:latin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rPr>
                          <m:t>𝑥</m:t>
                        </m:r>
                      </m:e>
                      <m:sub>
                        <m:r>
                          <a:rPr lang="en-US" sz="2000" b="0" i="1" smtClean="0">
                            <a:latin typeface="Cambria Math" panose="02040503050406030204" pitchFamily="18" charset="0"/>
                          </a:rPr>
                          <m:t>2</m:t>
                        </m:r>
                      </m:sub>
                      <m:sup>
                        <m:r>
                          <a:rPr lang="en-US" sz="2000" i="1">
                            <a:latin typeface="Cambria Math" panose="02040503050406030204" pitchFamily="18" charset="0"/>
                          </a:rPr>
                          <m:t>∗</m:t>
                        </m:r>
                      </m:sup>
                    </m:sSubSup>
                  </m:oMath>
                </a14:m>
                <a:r>
                  <a:rPr lang="en-US" sz="2000" dirty="0"/>
                  <a:t>.</a:t>
                </a:r>
              </a:p>
            </p:txBody>
          </p:sp>
        </mc:Choice>
        <mc:Fallback xmlns="">
          <p:sp>
            <p:nvSpPr>
              <p:cNvPr id="5" name="Text Placeholder 4">
                <a:extLst>
                  <a:ext uri="{FF2B5EF4-FFF2-40B4-BE49-F238E27FC236}">
                    <a16:creationId xmlns:a16="http://schemas.microsoft.com/office/drawing/2014/main" id="{54B767BB-8E48-C9C0-311B-01DE94A00007}"/>
                  </a:ext>
                </a:extLst>
              </p:cNvPr>
              <p:cNvSpPr>
                <a:spLocks noGrp="1" noRot="1" noChangeAspect="1" noMove="1" noResize="1" noEditPoints="1" noAdjustHandles="1" noChangeArrowheads="1" noChangeShapeType="1" noTextEdit="1"/>
              </p:cNvSpPr>
              <p:nvPr>
                <p:ph type="body" sz="quarter" idx="17"/>
              </p:nvPr>
            </p:nvSpPr>
            <p:spPr>
              <a:xfrm>
                <a:off x="743578" y="2774729"/>
                <a:ext cx="4750706" cy="2973941"/>
              </a:xfrm>
              <a:blipFill>
                <a:blip r:embed="rId3"/>
                <a:stretch>
                  <a:fillRect l="-3338" t="-2459" r="-4493" b="-2869"/>
                </a:stretch>
              </a:blipFill>
            </p:spPr>
            <p:txBody>
              <a:bodyPr/>
              <a:lstStyle/>
              <a:p>
                <a:r>
                  <a:rPr lang="en-US">
                    <a:noFill/>
                  </a:rPr>
                  <a:t> </a:t>
                </a:r>
              </a:p>
            </p:txBody>
          </p:sp>
        </mc:Fallback>
      </mc:AlternateContent>
      <p:pic>
        <p:nvPicPr>
          <p:cNvPr id="7" name="Picture Placeholder 6" descr="A three-dimensional graph plots a plane and three points. The bottom axes are labeled “x_1,” “x_2,” and “y.” An inclined plane is in the graph, with one corner at point beta_0 on the axis labeled “y.” The plane is labeled “Plane corresponding to E(y) = beta_0 + beta_1 x_1 + beta_2 x_2.” The first point on the bottom plane of the graph, corresponding to axes x_1 and x_2 is labeled (x_1*, x_2*). The point is labeled “Point corresponding to x_1 = x_1* and x_2 = x_2*.” The second point on the plane, directly above the first point, is labeled “E(y) when x_1 = x_1* and x_2 = x_2*.” The third point, directly above the second one, is labeled “Value of y when x_1 = x_1* and x_2 = x_2*.” The distance between the second and third points is labeled “Epsilon.”&#10;">
            <a:extLst>
              <a:ext uri="{FF2B5EF4-FFF2-40B4-BE49-F238E27FC236}">
                <a16:creationId xmlns:a16="http://schemas.microsoft.com/office/drawing/2014/main" id="{D9338B40-B5A8-3064-369F-BA15091FC352}"/>
              </a:ext>
            </a:extLst>
          </p:cNvPr>
          <p:cNvPicPr>
            <a:picLocks noGrp="1" noChangeAspect="1"/>
          </p:cNvPicPr>
          <p:nvPr>
            <p:ph type="pic" sz="quarter" idx="16"/>
          </p:nvPr>
        </p:nvPicPr>
        <p:blipFill rotWithShape="1">
          <a:blip r:embed="rId4"/>
          <a:srcRect l="45" r="45"/>
          <a:stretch/>
        </p:blipFill>
        <p:spPr>
          <a:xfrm>
            <a:off x="5628167" y="2352403"/>
            <a:ext cx="5709867" cy="3396268"/>
          </a:xfrm>
        </p:spPr>
      </p:pic>
    </p:spTree>
    <p:extLst>
      <p:ext uri="{BB962C8B-B14F-4D97-AF65-F5344CB8AC3E}">
        <p14:creationId xmlns:p14="http://schemas.microsoft.com/office/powerpoint/2010/main" val="2695518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15.4 Assumptions About the Error Term </a:t>
                </a:r>
                <a14:m>
                  <m:oMath xmlns:m="http://schemas.openxmlformats.org/officeDocument/2006/math">
                    <m:r>
                      <a:rPr lang="en-US" b="1" i="1" smtClean="0">
                        <a:latin typeface="Cambria Math" panose="02040503050406030204" pitchFamily="18" charset="0"/>
                        <a:ea typeface="Cambria Math" panose="02040503050406030204" pitchFamily="18" charset="0"/>
                        <a:cs typeface="Arial" panose="020B0604020202020204" pitchFamily="34" charset="0"/>
                      </a:rPr>
                      <m:t>𝝐</m:t>
                    </m:r>
                  </m:oMath>
                </a14:m>
                <a:endParaRPr lang="en-US" i="1" dirty="0"/>
              </a:p>
            </p:txBody>
          </p:sp>
        </mc:Choice>
        <mc:Fallback xmlns="">
          <p:sp>
            <p:nvSpPr>
              <p:cNvPr id="2" name="Title 1">
                <a:extLst>
                  <a:ext uri="{FF2B5EF4-FFF2-40B4-BE49-F238E27FC236}">
                    <a16:creationId xmlns:a16="http://schemas.microsoft.com/office/drawing/2014/main" id="{B09ED7BF-C012-4BEC-8F65-9E08ED0C7F38}"/>
                  </a:ext>
                </a:extLst>
              </p:cNvPr>
              <p:cNvSpPr>
                <a:spLocks noGrp="1" noRot="1" noChangeAspect="1" noMove="1" noResize="1" noEditPoints="1" noAdjustHandles="1" noChangeArrowheads="1" noChangeShapeType="1" noTextEdit="1"/>
              </p:cNvSpPr>
              <p:nvPr>
                <p:ph type="title"/>
              </p:nvPr>
            </p:nvSpPr>
            <p:spPr>
              <a:blipFill>
                <a:blip r:embed="rId3"/>
                <a:stretch>
                  <a:fillRect t="-28182" b="-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05131" y="1295824"/>
                <a:ext cx="10781737" cy="4509553"/>
              </a:xfrm>
            </p:spPr>
            <p:txBody>
              <a:bodyPr/>
              <a:lstStyle/>
              <a:p>
                <a:pPr>
                  <a:spcBef>
                    <a:spcPts val="600"/>
                  </a:spcBef>
                  <a:spcAft>
                    <a:spcPts val="0"/>
                  </a:spcAft>
                </a:pPr>
                <a:r>
                  <a:rPr lang="en-US" sz="2000" dirty="0">
                    <a:cs typeface="Arial" panose="020B0604020202020204" pitchFamily="34" charset="0"/>
                  </a:rPr>
                  <a:t>In the multiple regression model </a:t>
                </a:r>
                <a14:m>
                  <m:oMath xmlns:m="http://schemas.openxmlformats.org/officeDocument/2006/math">
                    <m:r>
                      <a:rPr lang="en-US" sz="2000" b="0" i="1">
                        <a:latin typeface="Cambria Math" panose="02040503050406030204" pitchFamily="18" charset="0"/>
                      </a:rPr>
                      <m:t>𝑦</m:t>
                    </m:r>
                    <m:r>
                      <a:rPr lang="en-US" sz="2000" b="0" i="1">
                        <a:latin typeface="Cambria Math" panose="02040503050406030204" pitchFamily="18" charset="0"/>
                      </a:rPr>
                      <m:t>=</m:t>
                    </m:r>
                    <m:sSub>
                      <m:sSubPr>
                        <m:ctrlPr>
                          <a:rPr lang="en-US" sz="200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𝛽</m:t>
                        </m:r>
                      </m:e>
                      <m:sub>
                        <m:r>
                          <a:rPr lang="en-US" sz="2000" b="0" i="1">
                            <a:latin typeface="Cambria Math" panose="02040503050406030204" pitchFamily="18" charset="0"/>
                          </a:rPr>
                          <m:t>0</m:t>
                        </m:r>
                      </m:sub>
                    </m:sSub>
                    <m:r>
                      <a:rPr lang="en-US" sz="2000" b="0" i="1">
                        <a:latin typeface="Cambria Math" panose="02040503050406030204" pitchFamily="18" charset="0"/>
                      </a:rPr>
                      <m:t>+</m:t>
                    </m:r>
                    <m:sSub>
                      <m:sSubPr>
                        <m:ctrlPr>
                          <a:rPr lang="en-US" sz="200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𝛽</m:t>
                        </m:r>
                      </m:e>
                      <m:sub>
                        <m:r>
                          <a:rPr lang="en-US" sz="2000" b="0" i="1">
                            <a:latin typeface="Cambria Math" panose="02040503050406030204" pitchFamily="18" charset="0"/>
                          </a:rPr>
                          <m:t>1</m:t>
                        </m:r>
                      </m:sub>
                    </m:sSub>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𝑥</m:t>
                        </m:r>
                      </m:e>
                      <m:sub>
                        <m:r>
                          <a:rPr lang="en-US" sz="2000" b="0" i="1">
                            <a:latin typeface="Cambria Math" panose="02040503050406030204" pitchFamily="18" charset="0"/>
                            <a:cs typeface="Arial" panose="020B0604020202020204" pitchFamily="34" charset="0"/>
                          </a:rPr>
                          <m:t>1</m:t>
                        </m:r>
                      </m:sub>
                    </m:sSub>
                    <m:r>
                      <a:rPr lang="en-US" sz="2000" b="0" i="1">
                        <a:latin typeface="Cambria Math" panose="02040503050406030204" pitchFamily="18" charset="0"/>
                      </a:rPr>
                      <m:t>+</m:t>
                    </m:r>
                    <m:sSub>
                      <m:sSubPr>
                        <m:ctrlPr>
                          <a:rPr lang="en-US" sz="200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𝛽</m:t>
                        </m:r>
                      </m:e>
                      <m:sub>
                        <m:r>
                          <a:rPr lang="en-US" sz="2000" b="0" i="1">
                            <a:latin typeface="Cambria Math" panose="02040503050406030204" pitchFamily="18" charset="0"/>
                          </a:rPr>
                          <m:t>2</m:t>
                        </m:r>
                      </m:sub>
                    </m:sSub>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𝑥</m:t>
                        </m:r>
                      </m:e>
                      <m:sub>
                        <m:r>
                          <a:rPr lang="en-US" sz="2000" b="0" i="1">
                            <a:latin typeface="Cambria Math" panose="02040503050406030204" pitchFamily="18" charset="0"/>
                            <a:cs typeface="Arial" panose="020B0604020202020204" pitchFamily="34" charset="0"/>
                          </a:rPr>
                          <m:t>2</m:t>
                        </m:r>
                      </m:sub>
                    </m:sSub>
                    <m:r>
                      <a:rPr lang="en-US" sz="2000" b="0" i="1">
                        <a:latin typeface="Cambria Math" panose="02040503050406030204" pitchFamily="18" charset="0"/>
                      </a:rPr>
                      <m:t>+</m:t>
                    </m:r>
                    <m:r>
                      <m:rPr>
                        <m:nor/>
                      </m:rPr>
                      <a:rPr lang="en-US" sz="2000">
                        <a:latin typeface="Cambria Math" panose="02040503050406030204" pitchFamily="18" charset="0"/>
                        <a:cs typeface="Arial" panose="020B0604020202020204" pitchFamily="34" charset="0"/>
                      </a:rPr>
                      <m:t>…</m:t>
                    </m:r>
                    <m:r>
                      <a:rPr lang="en-US" sz="2000" b="0" i="1">
                        <a:latin typeface="Cambria Math" panose="02040503050406030204" pitchFamily="18" charset="0"/>
                      </a:rPr>
                      <m:t>+</m:t>
                    </m:r>
                    <m:sSub>
                      <m:sSubPr>
                        <m:ctrlPr>
                          <a:rPr lang="en-US" sz="200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𝛽</m:t>
                        </m:r>
                      </m:e>
                      <m:sub>
                        <m:r>
                          <a:rPr lang="en-US" sz="2000" b="0" i="1">
                            <a:latin typeface="Cambria Math" panose="02040503050406030204" pitchFamily="18" charset="0"/>
                          </a:rPr>
                          <m:t>𝑝</m:t>
                        </m:r>
                      </m:sub>
                    </m:sSub>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𝑥</m:t>
                        </m:r>
                      </m:e>
                      <m:sub>
                        <m:r>
                          <a:rPr lang="en-US" sz="2000" b="0" i="1">
                            <a:latin typeface="Cambria Math" panose="02040503050406030204" pitchFamily="18" charset="0"/>
                            <a:cs typeface="Arial" panose="020B0604020202020204" pitchFamily="34" charset="0"/>
                          </a:rPr>
                          <m:t>𝑝</m:t>
                        </m:r>
                      </m:sub>
                    </m:sSub>
                    <m:r>
                      <a:rPr lang="en-US" sz="2000" b="0" i="1">
                        <a:latin typeface="Cambria Math" panose="02040503050406030204" pitchFamily="18"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t>, we have the following assumptions about the error term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t>:</a:t>
                </a:r>
                <a:endParaRPr lang="en-US" sz="2000" dirty="0">
                  <a:cs typeface="Arial" panose="020B0604020202020204" pitchFamily="34" charset="0"/>
                </a:endParaRPr>
              </a:p>
              <a:p>
                <a:pPr marL="630238" indent="-401638">
                  <a:spcBef>
                    <a:spcPts val="600"/>
                  </a:spcBef>
                  <a:spcAft>
                    <a:spcPts val="0"/>
                  </a:spcAft>
                  <a:buFont typeface="+mj-lt"/>
                  <a:buAutoNum type="arabicPeriod"/>
                </a:pPr>
                <a:r>
                  <a:rPr lang="en-US" sz="2000" dirty="0">
                    <a:cs typeface="Arial" panose="020B0604020202020204" pitchFamily="34" charset="0"/>
                  </a:rPr>
                  <a:t>The error term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cs typeface="Arial" panose="020B0604020202020204" pitchFamily="34" charset="0"/>
                  </a:rPr>
                  <a:t> is a random variable with an expected value of zero; that is, </a:t>
                </a:r>
                <a14:m>
                  <m:oMath xmlns:m="http://schemas.openxmlformats.org/officeDocument/2006/math">
                    <m:r>
                      <a:rPr lang="en-US" sz="2000" b="0" i="1" smtClean="0">
                        <a:latin typeface="Cambria Math" panose="02040503050406030204" pitchFamily="18" charset="0"/>
                        <a:cs typeface="Arial" panose="020B0604020202020204" pitchFamily="34" charset="0"/>
                      </a:rPr>
                      <m:t>𝐸</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ea typeface="Cambria Math" panose="02040503050406030204" pitchFamily="18" charset="0"/>
                            <a:cs typeface="Arial" panose="020B0604020202020204" pitchFamily="34" charset="0"/>
                          </a:rPr>
                          <m:t>𝜖</m:t>
                        </m:r>
                      </m:e>
                    </m:d>
                    <m:r>
                      <a:rPr lang="en-US" sz="2000" b="0" i="1" smtClean="0">
                        <a:latin typeface="Cambria Math" panose="02040503050406030204" pitchFamily="18" charset="0"/>
                        <a:cs typeface="Arial" panose="020B0604020202020204" pitchFamily="34" charset="0"/>
                      </a:rPr>
                      <m:t>=0</m:t>
                    </m:r>
                  </m:oMath>
                </a14:m>
                <a:r>
                  <a:rPr lang="en-US" sz="2000" dirty="0">
                    <a:cs typeface="Arial" panose="020B0604020202020204" pitchFamily="34" charset="0"/>
                  </a:rPr>
                  <a:t>.</a:t>
                </a:r>
              </a:p>
              <a:p>
                <a:pPr marL="914400" lvl="1" indent="0">
                  <a:lnSpc>
                    <a:spcPct val="100000"/>
                  </a:lnSpc>
                  <a:spcBef>
                    <a:spcPts val="300"/>
                  </a:spcBef>
                  <a:spcAft>
                    <a:spcPts val="0"/>
                  </a:spcAft>
                  <a:buNone/>
                </a:pPr>
                <a:r>
                  <a:rPr lang="en-US" sz="1800" i="1" dirty="0">
                    <a:latin typeface="Arial" panose="020B0604020202020204" pitchFamily="34" charset="0"/>
                    <a:cs typeface="Arial" panose="020B0604020202020204" pitchFamily="34" charset="0"/>
                  </a:rPr>
                  <a:t>Implication</a:t>
                </a:r>
                <a:r>
                  <a:rPr lang="en-US" sz="1800" dirty="0">
                    <a:latin typeface="Arial" panose="020B0604020202020204" pitchFamily="34" charset="0"/>
                    <a:cs typeface="Arial" panose="020B0604020202020204" pitchFamily="34" charset="0"/>
                  </a:rPr>
                  <a:t>: for given values of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2</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𝑝</m:t>
                        </m:r>
                      </m:sub>
                    </m:sSub>
                  </m:oMath>
                </a14:m>
                <a:r>
                  <a:rPr lang="en-US" sz="1800" dirty="0">
                    <a:latin typeface="Arial" panose="020B0604020202020204" pitchFamily="34" charset="0"/>
                    <a:cs typeface="Arial" panose="020B0604020202020204" pitchFamily="34" charset="0"/>
                  </a:rPr>
                  <a:t>, the multiple regression equation is given by</a:t>
                </a:r>
              </a:p>
              <a:p>
                <a:pPr marL="1371600" lvl="1" indent="0">
                  <a:lnSpc>
                    <a:spcPct val="100000"/>
                  </a:lnSpc>
                  <a:spcBef>
                    <a:spcPts val="0"/>
                  </a:spcBef>
                  <a:spcAft>
                    <a:spcPts val="0"/>
                  </a:spcAft>
                  <a:buNone/>
                </a:pPr>
                <a14:m>
                  <m:oMath xmlns:m="http://schemas.openxmlformats.org/officeDocument/2006/math">
                    <m:r>
                      <a:rPr lang="en-US" sz="1800" b="0" i="1">
                        <a:latin typeface="Cambria Math" panose="02040503050406030204" pitchFamily="18" charset="0"/>
                      </a:rPr>
                      <m:t>𝐸</m:t>
                    </m:r>
                    <m:d>
                      <m:dPr>
                        <m:ctrlPr>
                          <a:rPr lang="en-US" sz="1800" i="1">
                            <a:latin typeface="Cambria Math" panose="02040503050406030204" pitchFamily="18" charset="0"/>
                          </a:rPr>
                        </m:ctrlPr>
                      </m:dPr>
                      <m:e>
                        <m:r>
                          <a:rPr lang="en-US" sz="1800" b="0" i="1">
                            <a:latin typeface="Cambria Math" panose="02040503050406030204" pitchFamily="18" charset="0"/>
                          </a:rPr>
                          <m:t>𝑦</m:t>
                        </m:r>
                      </m:e>
                    </m:d>
                    <m:r>
                      <a:rPr lang="en-US" sz="1800" b="0" i="1">
                        <a:latin typeface="Cambria Math" panose="02040503050406030204" pitchFamily="18" charset="0"/>
                      </a:rPr>
                      <m:t>=</m:t>
                    </m:r>
                    <m:sSub>
                      <m:sSubPr>
                        <m:ctrlPr>
                          <a:rPr lang="en-US" sz="1800" i="1">
                            <a:latin typeface="Cambria Math" panose="02040503050406030204" pitchFamily="18" charset="0"/>
                          </a:rPr>
                        </m:ctrlPr>
                      </m:sSubPr>
                      <m:e>
                        <m:r>
                          <a:rPr lang="en-US" sz="1800" b="0" i="1">
                            <a:latin typeface="Cambria Math" panose="02040503050406030204" pitchFamily="18" charset="0"/>
                            <a:ea typeface="Cambria Math" panose="02040503050406030204" pitchFamily="18" charset="0"/>
                          </a:rPr>
                          <m:t>𝛽</m:t>
                        </m:r>
                      </m:e>
                      <m:sub>
                        <m:r>
                          <a:rPr lang="en-US" sz="1800" b="0" i="1">
                            <a:latin typeface="Cambria Math" panose="02040503050406030204" pitchFamily="18" charset="0"/>
                          </a:rPr>
                          <m:t>0</m:t>
                        </m:r>
                      </m:sub>
                    </m:sSub>
                    <m:r>
                      <a:rPr lang="en-US" sz="1800" b="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rPr>
                          <m:t>1</m:t>
                        </m:r>
                      </m:sub>
                    </m:sSub>
                    <m:sSub>
                      <m:sSubPr>
                        <m:ctrlPr>
                          <a:rPr lang="en-US" sz="1800" i="1">
                            <a:latin typeface="Cambria Math" panose="02040503050406030204" pitchFamily="18" charset="0"/>
                            <a:cs typeface="Arial" panose="020B0604020202020204" pitchFamily="34" charset="0"/>
                          </a:rPr>
                        </m:ctrlPr>
                      </m:sSubPr>
                      <m:e>
                        <m:r>
                          <a:rPr lang="en-US" sz="1800" i="1">
                            <a:latin typeface="Cambria Math" panose="02040503050406030204" pitchFamily="18" charset="0"/>
                            <a:cs typeface="Arial" panose="020B0604020202020204" pitchFamily="34" charset="0"/>
                          </a:rPr>
                          <m:t>𝑥</m:t>
                        </m:r>
                      </m:e>
                      <m:sub>
                        <m:r>
                          <a:rPr lang="en-US" sz="1800" i="1">
                            <a:latin typeface="Cambria Math" panose="02040503050406030204" pitchFamily="18" charset="0"/>
                            <a:cs typeface="Arial" panose="020B0604020202020204" pitchFamily="34" charset="0"/>
                          </a:rPr>
                          <m:t>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rPr>
                          <m:t>2</m:t>
                        </m:r>
                      </m:sub>
                    </m:sSub>
                    <m:sSub>
                      <m:sSubPr>
                        <m:ctrlPr>
                          <a:rPr lang="en-US" sz="1800" i="1">
                            <a:latin typeface="Cambria Math" panose="02040503050406030204" pitchFamily="18" charset="0"/>
                            <a:cs typeface="Arial" panose="020B0604020202020204" pitchFamily="34" charset="0"/>
                          </a:rPr>
                        </m:ctrlPr>
                      </m:sSubPr>
                      <m:e>
                        <m:r>
                          <a:rPr lang="en-US" sz="1800" i="1">
                            <a:latin typeface="Cambria Math" panose="02040503050406030204" pitchFamily="18" charset="0"/>
                            <a:cs typeface="Arial" panose="020B0604020202020204" pitchFamily="34" charset="0"/>
                          </a:rPr>
                          <m:t>𝑥</m:t>
                        </m:r>
                      </m:e>
                      <m:sub>
                        <m:r>
                          <a:rPr lang="en-US" sz="1800" i="1">
                            <a:latin typeface="Cambria Math" panose="02040503050406030204" pitchFamily="18" charset="0"/>
                            <a:cs typeface="Arial" panose="020B0604020202020204" pitchFamily="34" charset="0"/>
                          </a:rPr>
                          <m:t>2</m:t>
                        </m:r>
                      </m:sub>
                    </m:sSub>
                    <m:r>
                      <a:rPr lang="en-US" sz="1800" i="1">
                        <a:latin typeface="Cambria Math" panose="02040503050406030204" pitchFamily="18" charset="0"/>
                      </a:rPr>
                      <m:t>+</m:t>
                    </m:r>
                    <m:r>
                      <m:rPr>
                        <m:nor/>
                      </m:rPr>
                      <a:rPr lang="en-US" sz="1800">
                        <a:latin typeface="Cambria Math" panose="02040503050406030204" pitchFamily="18" charset="0"/>
                        <a:cs typeface="Arial" panose="020B0604020202020204" pitchFamily="34" charset="0"/>
                      </a:rPr>
                      <m:t>…</m:t>
                    </m:r>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rPr>
                          <m:t>𝑝</m:t>
                        </m:r>
                      </m:sub>
                    </m:sSub>
                    <m:sSub>
                      <m:sSubPr>
                        <m:ctrlPr>
                          <a:rPr lang="en-US" sz="1800" i="1">
                            <a:latin typeface="Cambria Math" panose="02040503050406030204" pitchFamily="18" charset="0"/>
                            <a:cs typeface="Arial" panose="020B0604020202020204" pitchFamily="34" charset="0"/>
                          </a:rPr>
                        </m:ctrlPr>
                      </m:sSubPr>
                      <m:e>
                        <m:r>
                          <a:rPr lang="en-US" sz="1800" i="1">
                            <a:latin typeface="Cambria Math" panose="02040503050406030204" pitchFamily="18" charset="0"/>
                            <a:cs typeface="Arial" panose="020B0604020202020204" pitchFamily="34" charset="0"/>
                          </a:rPr>
                          <m:t>𝑥</m:t>
                        </m:r>
                      </m:e>
                      <m:sub>
                        <m:r>
                          <a:rPr lang="en-US" sz="1800" i="1">
                            <a:latin typeface="Cambria Math" panose="02040503050406030204" pitchFamily="18" charset="0"/>
                            <a:cs typeface="Arial" panose="020B0604020202020204" pitchFamily="34" charset="0"/>
                          </a:rPr>
                          <m:t>𝑝</m:t>
                        </m:r>
                      </m:sub>
                    </m:sSub>
                  </m:oMath>
                </a14:m>
                <a:r>
                  <a:rPr lang="en-US" sz="1800" dirty="0">
                    <a:latin typeface="Arial" panose="020B0604020202020204" pitchFamily="34" charset="0"/>
                    <a:cs typeface="Arial" panose="020B0604020202020204" pitchFamily="34" charset="0"/>
                  </a:rPr>
                  <a:t>.</a:t>
                </a:r>
                <a:endParaRPr lang="en-US" sz="2000" dirty="0">
                  <a:cs typeface="Arial" panose="020B0604020202020204" pitchFamily="34" charset="0"/>
                </a:endParaRPr>
              </a:p>
              <a:p>
                <a:pPr marL="630238" indent="-401638">
                  <a:spcBef>
                    <a:spcPts val="600"/>
                  </a:spcBef>
                  <a:spcAft>
                    <a:spcPts val="0"/>
                  </a:spcAft>
                  <a:buFont typeface="+mj-lt"/>
                  <a:buAutoNum type="arabicPeriod"/>
                </a:pPr>
                <a:r>
                  <a:rPr lang="en-US" sz="2000" dirty="0">
                    <a:cs typeface="Arial" panose="020B0604020202020204" pitchFamily="34" charset="0"/>
                  </a:rPr>
                  <a:t>The variance of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cs typeface="Arial" panose="020B0604020202020204" pitchFamily="34" charset="0"/>
                  </a:rPr>
                  <a:t>, </a:t>
                </a:r>
                <a14:m>
                  <m:oMath xmlns:m="http://schemas.openxmlformats.org/officeDocument/2006/math">
                    <m:sSup>
                      <m:sSupPr>
                        <m:ctrlPr>
                          <a:rPr lang="en-US" sz="2000" i="1" smtClean="0">
                            <a:latin typeface="Cambria Math" panose="02040503050406030204" pitchFamily="18" charset="0"/>
                            <a:cs typeface="Arial" panose="020B0604020202020204" pitchFamily="34" charset="0"/>
                          </a:rPr>
                        </m:ctrlPr>
                      </m:sSupPr>
                      <m:e>
                        <m:r>
                          <a:rPr lang="en-US" sz="2000" i="1" smtClean="0">
                            <a:latin typeface="Cambria Math" panose="02040503050406030204" pitchFamily="18" charset="0"/>
                            <a:ea typeface="Cambria Math" panose="02040503050406030204" pitchFamily="18" charset="0"/>
                            <a:cs typeface="Arial" panose="020B0604020202020204" pitchFamily="34" charset="0"/>
                          </a:rPr>
                          <m:t>𝜎</m:t>
                        </m:r>
                      </m:e>
                      <m:sup>
                        <m:r>
                          <a:rPr lang="en-US" sz="2000" b="0" i="1" smtClean="0">
                            <a:latin typeface="Cambria Math" panose="02040503050406030204" pitchFamily="18" charset="0"/>
                            <a:cs typeface="Arial" panose="020B0604020202020204" pitchFamily="34" charset="0"/>
                          </a:rPr>
                          <m:t>2</m:t>
                        </m:r>
                      </m:sup>
                    </m:sSup>
                  </m:oMath>
                </a14:m>
                <a:r>
                  <a:rPr lang="en-US" sz="2000" dirty="0">
                    <a:cs typeface="Arial" panose="020B0604020202020204" pitchFamily="34" charset="0"/>
                  </a:rPr>
                  <a:t>, is the same for all values of the independent variables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2</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𝑝</m:t>
                        </m:r>
                      </m:sub>
                    </m:sSub>
                  </m:oMath>
                </a14:m>
                <a:r>
                  <a:rPr lang="en-US" sz="2000" dirty="0">
                    <a:cs typeface="Arial" panose="020B0604020202020204" pitchFamily="34" charset="0"/>
                  </a:rPr>
                  <a:t>.</a:t>
                </a:r>
              </a:p>
              <a:p>
                <a:pPr marL="914400" lvl="1" indent="0">
                  <a:spcBef>
                    <a:spcPts val="300"/>
                  </a:spcBef>
                  <a:spcAft>
                    <a:spcPts val="0"/>
                  </a:spcAft>
                  <a:buNone/>
                </a:pPr>
                <a:r>
                  <a:rPr lang="en-US" sz="1800" b="0" i="1" dirty="0">
                    <a:effectLst/>
                    <a:latin typeface="Arial" panose="020B0604020202020204" pitchFamily="34" charset="0"/>
                    <a:cs typeface="Arial" panose="020B0604020202020204" pitchFamily="34" charset="0"/>
                  </a:rPr>
                  <a:t>Implication</a:t>
                </a:r>
                <a:r>
                  <a:rPr lang="en-US" sz="1800" b="0" i="0" dirty="0">
                    <a:effectLst/>
                    <a:latin typeface="Arial" panose="020B0604020202020204" pitchFamily="34" charset="0"/>
                    <a:cs typeface="Arial" panose="020B0604020202020204" pitchFamily="34" charset="0"/>
                  </a:rPr>
                  <a:t>: The variance of </a:t>
                </a:r>
                <a:r>
                  <a:rPr lang="en-US" sz="1800" dirty="0">
                    <a:latin typeface="Arial" panose="020B0604020202020204" pitchFamily="34" charset="0"/>
                    <a:cs typeface="Arial" panose="020B0604020202020204" pitchFamily="34" charset="0"/>
                  </a:rPr>
                  <a:t>𝑦</a:t>
                </a:r>
                <a:r>
                  <a:rPr lang="en-US" sz="1800" b="0" i="0" dirty="0">
                    <a:effectLst/>
                    <a:latin typeface="Arial" panose="020B0604020202020204" pitchFamily="34" charset="0"/>
                    <a:cs typeface="Arial" panose="020B0604020202020204" pitchFamily="34" charset="0"/>
                  </a:rPr>
                  <a:t> about the regression line equals </a:t>
                </a:r>
                <a14:m>
                  <m:oMath xmlns:m="http://schemas.openxmlformats.org/officeDocument/2006/math">
                    <m:sSup>
                      <m:sSupPr>
                        <m:ctrlPr>
                          <a:rPr lang="en-US" sz="1800" i="1" smtClean="0">
                            <a:latin typeface="Cambria Math" panose="02040503050406030204" pitchFamily="18" charset="0"/>
                            <a:cs typeface="Arial" panose="020B0604020202020204" pitchFamily="34" charset="0"/>
                          </a:rPr>
                        </m:ctrlPr>
                      </m:sSupPr>
                      <m:e>
                        <m:r>
                          <a:rPr lang="en-US" sz="1800" i="1" smtClean="0">
                            <a:latin typeface="Cambria Math" panose="02040503050406030204" pitchFamily="18" charset="0"/>
                            <a:ea typeface="Cambria Math" panose="02040503050406030204" pitchFamily="18" charset="0"/>
                            <a:cs typeface="Arial" panose="020B0604020202020204" pitchFamily="34" charset="0"/>
                          </a:rPr>
                          <m:t>𝜎</m:t>
                        </m:r>
                      </m:e>
                      <m:sup>
                        <m:r>
                          <a:rPr lang="en-US" sz="1800" b="0" i="1" smtClean="0">
                            <a:latin typeface="Cambria Math" panose="02040503050406030204" pitchFamily="18" charset="0"/>
                            <a:cs typeface="Arial" panose="020B0604020202020204" pitchFamily="34" charset="0"/>
                          </a:rPr>
                          <m:t>2</m:t>
                        </m:r>
                      </m:sup>
                    </m:sSup>
                  </m:oMath>
                </a14:m>
                <a:r>
                  <a:rPr lang="en-US" sz="1800" b="0" i="0" dirty="0">
                    <a:effectLst/>
                    <a:latin typeface="Arial" panose="020B0604020202020204" pitchFamily="34" charset="0"/>
                    <a:cs typeface="Arial" panose="020B0604020202020204" pitchFamily="34" charset="0"/>
                  </a:rPr>
                  <a:t> for all the values of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2</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𝑝</m:t>
                        </m:r>
                      </m:sub>
                    </m:sSub>
                  </m:oMath>
                </a14:m>
                <a:r>
                  <a:rPr lang="en-US" sz="1800" b="0" i="0" dirty="0">
                    <a:effectLst/>
                    <a:latin typeface="Arial" panose="020B0604020202020204" pitchFamily="34" charset="0"/>
                    <a:cs typeface="Arial" panose="020B0604020202020204" pitchFamily="34" charset="0"/>
                  </a:rPr>
                  <a:t>.</a:t>
                </a:r>
                <a:endParaRPr lang="en-US" sz="1800" dirty="0">
                  <a:latin typeface="Arial" panose="020B0604020202020204" pitchFamily="34" charset="0"/>
                  <a:cs typeface="Arial" panose="020B0604020202020204" pitchFamily="34" charset="0"/>
                </a:endParaRPr>
              </a:p>
              <a:p>
                <a:pPr marL="630238" indent="-401638">
                  <a:spcBef>
                    <a:spcPts val="600"/>
                  </a:spcBef>
                  <a:spcAft>
                    <a:spcPts val="0"/>
                  </a:spcAft>
                  <a:buFont typeface="+mj-lt"/>
                  <a:buAutoNum type="arabicPeriod"/>
                </a:pPr>
                <a:r>
                  <a:rPr lang="en-US" sz="2000" dirty="0">
                    <a:cs typeface="Arial" panose="020B0604020202020204" pitchFamily="34" charset="0"/>
                  </a:rPr>
                  <a:t>The values of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cs typeface="Arial" panose="020B0604020202020204" pitchFamily="34" charset="0"/>
                  </a:rPr>
                  <a:t> are independent.</a:t>
                </a:r>
              </a:p>
              <a:p>
                <a:pPr marL="914400" lvl="1" indent="0">
                  <a:spcBef>
                    <a:spcPts val="300"/>
                  </a:spcBef>
                  <a:spcAft>
                    <a:spcPts val="0"/>
                  </a:spcAft>
                  <a:buNone/>
                </a:pPr>
                <a:r>
                  <a:rPr lang="en-US" sz="1800" i="1" dirty="0">
                    <a:latin typeface="Arial" panose="020B0604020202020204" pitchFamily="34" charset="0"/>
                    <a:cs typeface="Arial" panose="020B0604020202020204" pitchFamily="34" charset="0"/>
                  </a:rPr>
                  <a:t>Implication</a:t>
                </a:r>
                <a:r>
                  <a:rPr lang="en-US" sz="1800" dirty="0">
                    <a:latin typeface="Arial" panose="020B0604020202020204" pitchFamily="34" charset="0"/>
                    <a:cs typeface="Arial" panose="020B0604020202020204" pitchFamily="34" charset="0"/>
                  </a:rPr>
                  <a:t>: The value of </a:t>
                </a:r>
                <a14:m>
                  <m:oMath xmlns:m="http://schemas.openxmlformats.org/officeDocument/2006/math">
                    <m:r>
                      <a:rPr lang="en-US" sz="1800" i="1" smtClean="0">
                        <a:latin typeface="Cambria Math" panose="02040503050406030204" pitchFamily="18" charset="0"/>
                        <a:ea typeface="Cambria Math" panose="02040503050406030204" pitchFamily="18" charset="0"/>
                        <a:cs typeface="Arial" panose="020B0604020202020204" pitchFamily="34" charset="0"/>
                      </a:rPr>
                      <m:t>𝜖</m:t>
                    </m:r>
                  </m:oMath>
                </a14:m>
                <a:r>
                  <a:rPr lang="en-US" sz="1800" dirty="0">
                    <a:latin typeface="Arial" panose="020B0604020202020204" pitchFamily="34" charset="0"/>
                    <a:cs typeface="Arial" panose="020B0604020202020204" pitchFamily="34" charset="0"/>
                  </a:rPr>
                  <a:t> for a particular set of values for the independent variables is not related to the value of </a:t>
                </a:r>
                <a14:m>
                  <m:oMath xmlns:m="http://schemas.openxmlformats.org/officeDocument/2006/math">
                    <m:r>
                      <a:rPr lang="en-US" sz="1800" i="1">
                        <a:latin typeface="Cambria Math" panose="02040503050406030204" pitchFamily="18" charset="0"/>
                        <a:ea typeface="Cambria Math" panose="02040503050406030204" pitchFamily="18" charset="0"/>
                        <a:cs typeface="Arial" panose="020B0604020202020204" pitchFamily="34" charset="0"/>
                      </a:rPr>
                      <m:t>𝜖</m:t>
                    </m:r>
                  </m:oMath>
                </a14:m>
                <a:r>
                  <a:rPr lang="en-US" sz="1800" dirty="0">
                    <a:latin typeface="Arial" panose="020B0604020202020204" pitchFamily="34" charset="0"/>
                    <a:cs typeface="Arial" panose="020B0604020202020204" pitchFamily="34" charset="0"/>
                  </a:rPr>
                  <a:t> for any other set of values.</a:t>
                </a:r>
              </a:p>
              <a:p>
                <a:pPr marL="630238" indent="-401638">
                  <a:spcBef>
                    <a:spcPts val="600"/>
                  </a:spcBef>
                  <a:spcAft>
                    <a:spcPts val="0"/>
                  </a:spcAft>
                  <a:buFont typeface="+mj-lt"/>
                  <a:buAutoNum type="arabicPeriod"/>
                </a:pPr>
                <a:r>
                  <a:rPr lang="en-US" sz="2000" dirty="0">
                    <a:cs typeface="Arial" panose="020B0604020202020204" pitchFamily="34" charset="0"/>
                  </a:rPr>
                  <a:t>The error term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cs typeface="Arial" panose="020B0604020202020204" pitchFamily="34" charset="0"/>
                  </a:rPr>
                  <a:t> is a normally distributed random variable reflecting the deviation between </a:t>
                </a:r>
                <a:r>
                  <a:rPr lang="en-US" sz="2000" dirty="0">
                    <a:latin typeface="Arial" panose="020B0604020202020204" pitchFamily="34" charset="0"/>
                    <a:cs typeface="Arial" panose="020B0604020202020204" pitchFamily="34" charset="0"/>
                  </a:rPr>
                  <a:t>𝑦</a:t>
                </a:r>
                <a:r>
                  <a:rPr lang="en-US" sz="2000" dirty="0">
                    <a:cs typeface="Arial" panose="020B0604020202020204" pitchFamily="34" charset="0"/>
                  </a:rPr>
                  <a:t> and </a:t>
                </a:r>
                <a14:m>
                  <m:oMath xmlns:m="http://schemas.openxmlformats.org/officeDocument/2006/math">
                    <m:r>
                      <a:rPr lang="en-US" sz="2000" i="1">
                        <a:latin typeface="Cambria Math" panose="02040503050406030204" pitchFamily="18" charset="0"/>
                      </a:rPr>
                      <m:t>𝐸</m:t>
                    </m:r>
                    <m:d>
                      <m:dPr>
                        <m:ctrlPr>
                          <a:rPr lang="en-US" sz="2000" i="1">
                            <a:latin typeface="Cambria Math" panose="02040503050406030204" pitchFamily="18" charset="0"/>
                          </a:rPr>
                        </m:ctrlPr>
                      </m:dPr>
                      <m:e>
                        <m:r>
                          <a:rPr lang="en-US" sz="2000" i="1">
                            <a:latin typeface="Cambria Math" panose="02040503050406030204" pitchFamily="18" charset="0"/>
                          </a:rPr>
                          <m:t>𝑦</m:t>
                        </m:r>
                      </m:e>
                    </m:d>
                  </m:oMath>
                </a14:m>
                <a:r>
                  <a:rPr lang="en-US" sz="2000" dirty="0">
                    <a:cs typeface="Arial" panose="020B0604020202020204" pitchFamily="34" charset="0"/>
                  </a:rPr>
                  <a:t>.</a:t>
                </a:r>
              </a:p>
              <a:p>
                <a:pPr marL="914400" lvl="1" indent="0">
                  <a:spcBef>
                    <a:spcPts val="300"/>
                  </a:spcBef>
                  <a:spcAft>
                    <a:spcPts val="0"/>
                  </a:spcAft>
                  <a:buNone/>
                </a:pPr>
                <a:r>
                  <a:rPr lang="en-US" sz="1800" i="1" dirty="0">
                    <a:latin typeface="Arial" panose="020B0604020202020204" pitchFamily="34" charset="0"/>
                    <a:cs typeface="Arial" panose="020B0604020202020204" pitchFamily="34" charset="0"/>
                  </a:rPr>
                  <a:t>Implication</a:t>
                </a:r>
                <a:r>
                  <a:rPr lang="en-US" sz="1800" dirty="0">
                    <a:latin typeface="Arial" panose="020B0604020202020204" pitchFamily="34" charset="0"/>
                    <a:cs typeface="Arial" panose="020B0604020202020204" pitchFamily="34" charset="0"/>
                  </a:rPr>
                  <a:t>: Because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rPr>
                          <m:t>0</m:t>
                        </m:r>
                      </m:sub>
                    </m:sSub>
                    <m:r>
                      <a:rPr lang="en-US" sz="1800">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rPr>
                          <m:t>2</m:t>
                        </m:r>
                      </m:sub>
                    </m:sSub>
                    <m:r>
                      <a:rPr lang="en-US" sz="1800" i="1">
                        <a:latin typeface="Cambria Math" panose="02040503050406030204" pitchFamily="18" charset="0"/>
                      </a:rPr>
                      <m:t>,</m:t>
                    </m:r>
                    <m:r>
                      <a:rPr lang="en-US" sz="1800" i="1">
                        <a:latin typeface="Cambria Math" panose="02040503050406030204" pitchFamily="18" charset="0"/>
                        <a:cs typeface="Arial" panose="020B0604020202020204" pitchFamily="34" charset="0"/>
                      </a:rPr>
                      <m:t>…,</m:t>
                    </m:r>
                    <m:sSub>
                      <m:sSubPr>
                        <m:ctrlPr>
                          <a:rPr lang="en-US" sz="1800" i="1">
                            <a:latin typeface="Cambria Math" panose="02040503050406030204" pitchFamily="18" charset="0"/>
                          </a:rPr>
                        </m:ctrlPr>
                      </m:sSubPr>
                      <m:e>
                        <m:r>
                          <a:rPr lang="en-US" sz="1800" i="1">
                            <a:latin typeface="Cambria Math" panose="02040503050406030204" pitchFamily="18" charset="0"/>
                            <a:ea typeface="Cambria Math" panose="02040503050406030204" pitchFamily="18" charset="0"/>
                          </a:rPr>
                          <m:t>𝛽</m:t>
                        </m:r>
                      </m:e>
                      <m:sub>
                        <m:r>
                          <a:rPr lang="en-US" sz="1800" i="1">
                            <a:latin typeface="Cambria Math" panose="02040503050406030204" pitchFamily="18" charset="0"/>
                          </a:rPr>
                          <m:t>𝑝</m:t>
                        </m:r>
                      </m:sub>
                    </m:sSub>
                    <m:r>
                      <a:rPr lang="en-US" sz="1800" i="1">
                        <a:latin typeface="Cambria Math" panose="02040503050406030204" pitchFamily="18" charset="0"/>
                      </a:rPr>
                      <m:t> </m:t>
                    </m:r>
                  </m:oMath>
                </a14:m>
                <a:r>
                  <a:rPr lang="en-US" sz="1800" dirty="0">
                    <a:latin typeface="Arial" panose="020B0604020202020204" pitchFamily="34" charset="0"/>
                    <a:cs typeface="Arial" panose="020B0604020202020204" pitchFamily="34" charset="0"/>
                  </a:rPr>
                  <a:t>are constant for the given values of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1</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2</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𝑥</m:t>
                        </m:r>
                      </m:e>
                      <m:sub>
                        <m:r>
                          <a:rPr lang="en-US" sz="1800" i="1">
                            <a:latin typeface="Cambria Math" panose="02040503050406030204" pitchFamily="18" charset="0"/>
                          </a:rPr>
                          <m:t>𝑝</m:t>
                        </m:r>
                      </m:sub>
                    </m:sSub>
                  </m:oMath>
                </a14:m>
                <a:r>
                  <a:rPr lang="en-US" sz="1800" dirty="0">
                    <a:latin typeface="Arial" panose="020B0604020202020204" pitchFamily="34" charset="0"/>
                    <a:cs typeface="Arial" panose="020B0604020202020204" pitchFamily="34" charset="0"/>
                  </a:rPr>
                  <a:t>, the dependent variable 𝑦 is also a normally distributed random variable.</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05131" y="1295824"/>
                <a:ext cx="10781737" cy="4509553"/>
              </a:xfrm>
              <a:blipFill>
                <a:blip r:embed="rId4"/>
                <a:stretch>
                  <a:fillRect l="-1471" t="-1759" r="-1471" b="-3112"/>
                </a:stretch>
              </a:blipFill>
            </p:spPr>
            <p:txBody>
              <a:bodyPr/>
              <a:lstStyle/>
              <a:p>
                <a:r>
                  <a:rPr lang="en-US">
                    <a:noFill/>
                  </a:rPr>
                  <a:t> </a:t>
                </a:r>
              </a:p>
            </p:txBody>
          </p:sp>
        </mc:Fallback>
      </mc:AlternateContent>
    </p:spTree>
    <p:extLst>
      <p:ext uri="{BB962C8B-B14F-4D97-AF65-F5344CB8AC3E}">
        <p14:creationId xmlns:p14="http://schemas.microsoft.com/office/powerpoint/2010/main" val="30030563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776078" y="365125"/>
            <a:ext cx="10648669" cy="672105"/>
          </a:xfrm>
        </p:spPr>
        <p:txBody>
          <a:bodyPr/>
          <a:lstStyle/>
          <a:p>
            <a:r>
              <a:rPr lang="en-US" dirty="0">
                <a:solidFill>
                  <a:srgbClr val="D14B1E"/>
                </a:solidFill>
              </a:rPr>
              <a:t>15.5 Testing for Significance</a:t>
            </a:r>
            <a:endParaRPr lang="en-US" i="1" dirty="0">
              <a:solidFill>
                <a:srgbClr val="D14B1E"/>
              </a:solidFill>
            </a:endParaRP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05131" y="1481960"/>
            <a:ext cx="10781737" cy="4233042"/>
          </a:xfrm>
        </p:spPr>
        <p:txBody>
          <a:bodyPr/>
          <a:lstStyle/>
          <a:p>
            <a:pPr>
              <a:spcBef>
                <a:spcPts val="600"/>
              </a:spcBef>
              <a:spcAft>
                <a:spcPts val="0"/>
              </a:spcAft>
            </a:pPr>
            <a:r>
              <a:rPr lang="en-US" sz="2000" dirty="0">
                <a:latin typeface="Arial" panose="020B0604020202020204" pitchFamily="34" charset="0"/>
                <a:cs typeface="Arial" panose="020B0604020202020204" pitchFamily="34" charset="0"/>
              </a:rPr>
              <a:t>In simple linear regression, the 𝐹 and 𝑡 test provide the same conclusion.</a:t>
            </a:r>
          </a:p>
          <a:p>
            <a:pPr>
              <a:spcBef>
                <a:spcPts val="600"/>
              </a:spcBef>
              <a:spcAft>
                <a:spcPts val="0"/>
              </a:spcAft>
            </a:pPr>
            <a:r>
              <a:rPr lang="en-US" sz="2000" dirty="0">
                <a:latin typeface="Arial" panose="020B0604020202020204" pitchFamily="34" charset="0"/>
                <a:cs typeface="Arial" panose="020B0604020202020204" pitchFamily="34" charset="0"/>
              </a:rPr>
              <a:t>However, in multiple regression, the 𝐹 and 𝑡 test have different purposes. </a:t>
            </a:r>
          </a:p>
          <a:p>
            <a:pPr marL="685800" indent="-401638">
              <a:spcBef>
                <a:spcPts val="600"/>
              </a:spcBef>
              <a:spcAft>
                <a:spcPts val="0"/>
              </a:spcAft>
              <a:buFont typeface="+mj-lt"/>
              <a:buAutoNum type="arabicPeriod"/>
            </a:pPr>
            <a:r>
              <a:rPr lang="en-US" sz="2000" dirty="0">
                <a:latin typeface="Arial" panose="020B0604020202020204" pitchFamily="34" charset="0"/>
                <a:cs typeface="Arial" panose="020B0604020202020204" pitchFamily="34" charset="0"/>
              </a:rPr>
              <a:t>The 𝐹 test is used to determine whether a significant relationship exists between the dependent variable and the set of all the independent variables.</a:t>
            </a:r>
          </a:p>
          <a:p>
            <a:pPr marL="1371600" lvl="1" indent="0">
              <a:lnSpc>
                <a:spcPct val="100000"/>
              </a:lnSpc>
              <a:spcBef>
                <a:spcPts val="600"/>
              </a:spcBef>
              <a:spcAft>
                <a:spcPts val="600"/>
              </a:spcAft>
              <a:buNone/>
            </a:pPr>
            <a:r>
              <a:rPr lang="en-US" sz="2000" dirty="0">
                <a:latin typeface="Arial" panose="020B0604020202020204" pitchFamily="34" charset="0"/>
                <a:cs typeface="Arial" panose="020B0604020202020204" pitchFamily="34" charset="0"/>
              </a:rPr>
              <a:t>We will refer to the 𝐹 test as the test for </a:t>
            </a:r>
            <a:r>
              <a:rPr lang="en-US" sz="2000" i="1" dirty="0">
                <a:latin typeface="Arial" panose="020B0604020202020204" pitchFamily="34" charset="0"/>
                <a:cs typeface="Arial" panose="020B0604020202020204" pitchFamily="34" charset="0"/>
              </a:rPr>
              <a:t>overall significance</a:t>
            </a:r>
            <a:r>
              <a:rPr lang="en-US" sz="2000" dirty="0">
                <a:latin typeface="Arial" panose="020B0604020202020204" pitchFamily="34" charset="0"/>
                <a:cs typeface="Arial" panose="020B0604020202020204" pitchFamily="34" charset="0"/>
              </a:rPr>
              <a:t>.</a:t>
            </a:r>
          </a:p>
          <a:p>
            <a:pPr marL="685800" indent="-403225">
              <a:spcBef>
                <a:spcPts val="600"/>
              </a:spcBef>
              <a:spcAft>
                <a:spcPts val="0"/>
              </a:spcAft>
              <a:buFont typeface="+mj-lt"/>
              <a:buAutoNum type="arabicPeriod"/>
            </a:pPr>
            <a:r>
              <a:rPr lang="en-US" sz="2000" dirty="0">
                <a:latin typeface="Arial" panose="020B0604020202020204" pitchFamily="34" charset="0"/>
                <a:cs typeface="Arial" panose="020B0604020202020204" pitchFamily="34" charset="0"/>
              </a:rPr>
              <a:t>If the 𝐹 test shows an overall significance, the 𝑡 test is used to determine whether each of the individual independent variables is significant. </a:t>
            </a:r>
          </a:p>
          <a:p>
            <a:pPr marL="1371600" lvl="1" indent="0">
              <a:lnSpc>
                <a:spcPct val="100000"/>
              </a:lnSpc>
              <a:spcBef>
                <a:spcPts val="600"/>
              </a:spcBef>
              <a:spcAft>
                <a:spcPts val="0"/>
              </a:spcAft>
              <a:buNone/>
            </a:pPr>
            <a:r>
              <a:rPr lang="en-US" sz="2000" dirty="0">
                <a:latin typeface="Arial" panose="020B0604020202020204" pitchFamily="34" charset="0"/>
                <a:cs typeface="Arial" panose="020B0604020202020204" pitchFamily="34" charset="0"/>
              </a:rPr>
              <a:t>A separate 𝑡 test is conducted for each of the independent variables in the model.</a:t>
            </a:r>
          </a:p>
          <a:p>
            <a:pPr marL="1371600" lvl="1" indent="0">
              <a:lnSpc>
                <a:spcPct val="100000"/>
              </a:lnSpc>
              <a:spcBef>
                <a:spcPts val="600"/>
              </a:spcBef>
              <a:spcAft>
                <a:spcPts val="600"/>
              </a:spcAft>
              <a:buNone/>
            </a:pPr>
            <a:r>
              <a:rPr lang="en-US" sz="2000" dirty="0">
                <a:latin typeface="Arial" panose="020B0604020202020204" pitchFamily="34" charset="0"/>
                <a:cs typeface="Arial" panose="020B0604020202020204" pitchFamily="34" charset="0"/>
              </a:rPr>
              <a:t>We refer to each of these 𝑡 tests as a test for </a:t>
            </a:r>
            <a:r>
              <a:rPr lang="en-US" sz="2000" i="1" dirty="0">
                <a:latin typeface="Arial" panose="020B0604020202020204" pitchFamily="34" charset="0"/>
                <a:cs typeface="Arial" panose="020B0604020202020204" pitchFamily="34" charset="0"/>
              </a:rPr>
              <a:t>individual significance</a:t>
            </a:r>
            <a:r>
              <a:rPr lang="en-US" sz="2000" dirty="0">
                <a:latin typeface="Arial" panose="020B0604020202020204" pitchFamily="34" charset="0"/>
                <a:cs typeface="Arial" panose="020B0604020202020204" pitchFamily="34" charset="0"/>
              </a:rPr>
              <a:t>.</a:t>
            </a:r>
          </a:p>
          <a:p>
            <a:pPr marL="0" lvl="1" indent="0">
              <a:lnSpc>
                <a:spcPct val="100000"/>
              </a:lnSpc>
              <a:spcBef>
                <a:spcPts val="600"/>
              </a:spcBef>
              <a:spcAft>
                <a:spcPts val="0"/>
              </a:spcAft>
              <a:buNone/>
            </a:pPr>
            <a:r>
              <a:rPr lang="en-US" sz="2000" dirty="0">
                <a:latin typeface="Arial" panose="020B0604020202020204" pitchFamily="34" charset="0"/>
                <a:cs typeface="Arial" panose="020B0604020202020204" pitchFamily="34" charset="0"/>
              </a:rPr>
              <a:t>In the material that follows, we will explain the 𝐹 and the 𝑡 test and apply each to the Butler Trucking Company example.</a:t>
            </a:r>
          </a:p>
        </p:txBody>
      </p:sp>
    </p:spTree>
    <p:extLst>
      <p:ext uri="{BB962C8B-B14F-4D97-AF65-F5344CB8AC3E}">
        <p14:creationId xmlns:p14="http://schemas.microsoft.com/office/powerpoint/2010/main" val="26279818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659956" y="365125"/>
            <a:ext cx="10860819" cy="672105"/>
          </a:xfrm>
        </p:spPr>
        <p:txBody>
          <a:bodyPr/>
          <a:lstStyle/>
          <a:p>
            <a:r>
              <a:rPr lang="en-US" dirty="0"/>
              <a:t>15.5 </a:t>
            </a:r>
            <a:r>
              <a:rPr lang="en-US" i="1" dirty="0"/>
              <a:t>F</a:t>
            </a:r>
            <a:r>
              <a:rPr lang="en-US" dirty="0"/>
              <a:t> Test for Overall Significance</a:t>
            </a:r>
            <a:endParaRPr lang="en-US" i="1"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05131" y="1311348"/>
                <a:ext cx="10781737" cy="4569187"/>
              </a:xfrm>
            </p:spPr>
            <p:txBody>
              <a:bodyPr/>
              <a:lstStyle/>
              <a:p>
                <a:pPr>
                  <a:spcBef>
                    <a:spcPts val="600"/>
                  </a:spcBef>
                  <a:spcAft>
                    <a:spcPts val="600"/>
                  </a:spcAft>
                </a:pPr>
                <a:r>
                  <a:rPr lang="en-US" sz="2000" dirty="0">
                    <a:latin typeface="Arial" panose="020B0604020202020204" pitchFamily="34" charset="0"/>
                    <a:cs typeface="Arial" panose="020B0604020202020204" pitchFamily="34" charset="0"/>
                  </a:rPr>
                  <a:t>With </a:t>
                </a:r>
                <a:r>
                  <a:rPr lang="en-US" sz="2000" i="1" dirty="0">
                    <a:latin typeface="Arial" panose="020B0604020202020204" pitchFamily="34" charset="0"/>
                    <a:cs typeface="Arial" panose="020B0604020202020204" pitchFamily="34" charset="0"/>
                  </a:rPr>
                  <a:t>p</a:t>
                </a:r>
                <a:r>
                  <a:rPr lang="en-US" sz="2000" dirty="0">
                    <a:latin typeface="Arial" panose="020B0604020202020204" pitchFamily="34" charset="0"/>
                    <a:cs typeface="Arial" panose="020B0604020202020204" pitchFamily="34" charset="0"/>
                  </a:rPr>
                  <a:t> independent variables, the hypotheses for the 𝐹 test are set up as follows.</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𝑯</m:t>
                          </m:r>
                        </m:e>
                        <m:sub>
                          <m:r>
                            <a:rPr lang="en-US" sz="2000" b="1" i="1" smtClean="0">
                              <a:latin typeface="Cambria Math" panose="02040503050406030204" pitchFamily="18" charset="0"/>
                              <a:cs typeface="Arial" panose="020B0604020202020204" pitchFamily="34" charset="0"/>
                            </a:rPr>
                            <m:t>𝟎</m:t>
                          </m:r>
                        </m:sub>
                      </m:sSub>
                      <m:r>
                        <a:rPr lang="en-US" sz="2000" b="1" i="1" smtClean="0">
                          <a:latin typeface="Cambria Math" panose="02040503050406030204" pitchFamily="18" charset="0"/>
                          <a:cs typeface="Arial" panose="020B0604020202020204" pitchFamily="34" charset="0"/>
                        </a:rPr>
                        <m:t>: </m:t>
                      </m:r>
                      <m:sSub>
                        <m:sSubPr>
                          <m:ctrlPr>
                            <a:rPr lang="en-US" sz="2000" b="1" i="1" smtClean="0">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ea typeface="Cambria Math" panose="02040503050406030204" pitchFamily="18" charset="0"/>
                              <a:cs typeface="Arial" panose="020B0604020202020204" pitchFamily="34" charset="0"/>
                            </a:rPr>
                            <m:t>𝜷</m:t>
                          </m:r>
                        </m:e>
                        <m:sub>
                          <m:r>
                            <a:rPr lang="en-US" sz="2000" b="1" i="1" smtClean="0">
                              <a:latin typeface="Cambria Math" panose="02040503050406030204" pitchFamily="18" charset="0"/>
                              <a:cs typeface="Arial" panose="020B0604020202020204" pitchFamily="34" charset="0"/>
                            </a:rPr>
                            <m:t>𝟏</m:t>
                          </m:r>
                        </m:sub>
                      </m:sSub>
                      <m:r>
                        <a:rPr lang="en-US" sz="2000" b="1" i="1" smtClean="0">
                          <a:latin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ea typeface="Cambria Math" panose="02040503050406030204" pitchFamily="18" charset="0"/>
                              <a:cs typeface="Arial" panose="020B0604020202020204" pitchFamily="34" charset="0"/>
                            </a:rPr>
                            <m:t>𝜷</m:t>
                          </m:r>
                        </m:e>
                        <m:sub>
                          <m:r>
                            <a:rPr lang="en-US" sz="2000" b="1" i="1" smtClean="0">
                              <a:latin typeface="Cambria Math" panose="02040503050406030204" pitchFamily="18" charset="0"/>
                              <a:cs typeface="Arial" panose="020B0604020202020204" pitchFamily="34" charset="0"/>
                            </a:rPr>
                            <m:t>𝟐</m:t>
                          </m:r>
                        </m:sub>
                      </m:sSub>
                      <m:r>
                        <a:rPr lang="en-US" sz="2000" b="1" i="1">
                          <a:latin typeface="Cambria Math" panose="02040503050406030204" pitchFamily="18" charset="0"/>
                          <a:cs typeface="Arial" panose="020B0604020202020204" pitchFamily="34" charset="0"/>
                        </a:rPr>
                        <m:t>=</m:t>
                      </m:r>
                      <m:r>
                        <m:rPr>
                          <m:nor/>
                        </m:rPr>
                        <a:rPr lang="en-US" sz="2000">
                          <a:latin typeface="Cambria Math" panose="02040503050406030204" pitchFamily="18" charset="0"/>
                          <a:cs typeface="Arial" panose="020B0604020202020204" pitchFamily="34" charset="0"/>
                        </a:rPr>
                        <m:t>…</m:t>
                      </m:r>
                      <m:r>
                        <a:rPr lang="en-US" sz="2000" b="1" i="1" smtClean="0">
                          <a:latin typeface="Cambria Math" panose="02040503050406030204" pitchFamily="18" charset="0"/>
                          <a:cs typeface="Arial" panose="020B0604020202020204" pitchFamily="34" charset="0"/>
                        </a:rPr>
                        <m:t>=</m:t>
                      </m:r>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ea typeface="Cambria Math" panose="02040503050406030204" pitchFamily="18" charset="0"/>
                              <a:cs typeface="Arial" panose="020B0604020202020204" pitchFamily="34" charset="0"/>
                            </a:rPr>
                            <m:t>𝜷</m:t>
                          </m:r>
                        </m:e>
                        <m:sub>
                          <m:r>
                            <a:rPr lang="en-US" sz="2000" b="1" i="1" smtClean="0">
                              <a:latin typeface="Cambria Math" panose="02040503050406030204" pitchFamily="18" charset="0"/>
                              <a:cs typeface="Arial" panose="020B0604020202020204" pitchFamily="34" charset="0"/>
                            </a:rPr>
                            <m:t>𝒑</m:t>
                          </m:r>
                        </m:sub>
                      </m:sSub>
                      <m:r>
                        <a:rPr lang="en-US" sz="2000" b="1" i="1">
                          <a:latin typeface="Cambria Math" panose="02040503050406030204" pitchFamily="18" charset="0"/>
                          <a:cs typeface="Arial" panose="020B0604020202020204" pitchFamily="34" charset="0"/>
                        </a:rPr>
                        <m:t>=</m:t>
                      </m:r>
                      <m:r>
                        <a:rPr lang="en-US" sz="2000" b="1" i="1">
                          <a:latin typeface="Cambria Math" panose="02040503050406030204" pitchFamily="18" charset="0"/>
                          <a:cs typeface="Arial" panose="020B0604020202020204" pitchFamily="34" charset="0"/>
                        </a:rPr>
                        <m:t>𝟎</m:t>
                      </m:r>
                    </m:oMath>
                  </m:oMathPara>
                </a14:m>
                <a:endParaRPr lang="en-US" sz="2000" b="1" dirty="0">
                  <a:latin typeface="Arial" panose="020B0604020202020204" pitchFamily="34" charset="0"/>
                  <a:cs typeface="Arial" panose="020B0604020202020204" pitchFamily="34" charset="0"/>
                </a:endParaRP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𝑯</m:t>
                          </m:r>
                        </m:e>
                        <m:sub>
                          <m:r>
                            <a:rPr lang="en-US" sz="2000" b="1" i="1" smtClean="0">
                              <a:latin typeface="Cambria Math" panose="02040503050406030204" pitchFamily="18" charset="0"/>
                              <a:cs typeface="Arial" panose="020B0604020202020204" pitchFamily="34" charset="0"/>
                            </a:rPr>
                            <m:t>𝒂</m:t>
                          </m:r>
                        </m:sub>
                      </m:sSub>
                      <m:r>
                        <a:rPr lang="en-US" sz="2000" b="1" i="1" smtClean="0">
                          <a:latin typeface="Cambria Math" panose="02040503050406030204" pitchFamily="18" charset="0"/>
                          <a:cs typeface="Arial" panose="020B0604020202020204" pitchFamily="34" charset="0"/>
                        </a:rPr>
                        <m:t>:</m:t>
                      </m:r>
                      <m:r>
                        <m:rPr>
                          <m:nor/>
                        </m:rPr>
                        <a:rPr lang="en-US" sz="2000" b="1" i="0" smtClean="0">
                          <a:latin typeface="Cambria Math" panose="02040503050406030204" pitchFamily="18" charset="0"/>
                          <a:cs typeface="Arial" panose="020B0604020202020204" pitchFamily="34" charset="0"/>
                        </a:rPr>
                        <m:t> </m:t>
                      </m:r>
                      <m:r>
                        <m:rPr>
                          <m:nor/>
                        </m:rPr>
                        <a:rPr lang="en-US" sz="2000" b="1" i="0" smtClean="0">
                          <a:latin typeface="Cambria Math" panose="02040503050406030204" pitchFamily="18" charset="0"/>
                          <a:cs typeface="Arial" panose="020B0604020202020204" pitchFamily="34" charset="0"/>
                        </a:rPr>
                        <m:t>At</m:t>
                      </m:r>
                      <m:r>
                        <m:rPr>
                          <m:nor/>
                        </m:rPr>
                        <a:rPr lang="en-US" sz="2000" b="1" i="0" smtClean="0">
                          <a:latin typeface="Cambria Math" panose="02040503050406030204" pitchFamily="18" charset="0"/>
                          <a:cs typeface="Arial" panose="020B0604020202020204" pitchFamily="34" charset="0"/>
                        </a:rPr>
                        <m:t> </m:t>
                      </m:r>
                      <m:r>
                        <m:rPr>
                          <m:nor/>
                        </m:rPr>
                        <a:rPr lang="en-US" sz="2000" b="1" i="0" smtClean="0">
                          <a:latin typeface="Cambria Math" panose="02040503050406030204" pitchFamily="18" charset="0"/>
                          <a:cs typeface="Arial" panose="020B0604020202020204" pitchFamily="34" charset="0"/>
                        </a:rPr>
                        <m:t>least</m:t>
                      </m:r>
                      <m:r>
                        <m:rPr>
                          <m:nor/>
                        </m:rPr>
                        <a:rPr lang="en-US" sz="2000" b="1" i="0" smtClean="0">
                          <a:latin typeface="Cambria Math" panose="02040503050406030204" pitchFamily="18" charset="0"/>
                          <a:cs typeface="Arial" panose="020B0604020202020204" pitchFamily="34" charset="0"/>
                        </a:rPr>
                        <m:t> </m:t>
                      </m:r>
                      <m:r>
                        <m:rPr>
                          <m:nor/>
                        </m:rPr>
                        <a:rPr lang="en-US" sz="2000" b="1" i="0" smtClean="0">
                          <a:latin typeface="Cambria Math" panose="02040503050406030204" pitchFamily="18" charset="0"/>
                          <a:cs typeface="Arial" panose="020B0604020202020204" pitchFamily="34" charset="0"/>
                        </a:rPr>
                        <m:t>one</m:t>
                      </m:r>
                      <m:r>
                        <m:rPr>
                          <m:nor/>
                        </m:rPr>
                        <a:rPr lang="en-US" sz="2000" b="1" i="0" smtClean="0">
                          <a:latin typeface="Cambria Math" panose="02040503050406030204" pitchFamily="18" charset="0"/>
                          <a:cs typeface="Arial" panose="020B0604020202020204" pitchFamily="34" charset="0"/>
                        </a:rPr>
                        <m:t> </m:t>
                      </m:r>
                      <m:r>
                        <m:rPr>
                          <m:nor/>
                        </m:rPr>
                        <a:rPr lang="en-US" sz="2000" b="1" i="0" smtClean="0">
                          <a:latin typeface="Cambria Math" panose="02040503050406030204" pitchFamily="18" charset="0"/>
                          <a:cs typeface="Arial" panose="020B0604020202020204" pitchFamily="34" charset="0"/>
                        </a:rPr>
                        <m:t>parameter</m:t>
                      </m:r>
                      <m:r>
                        <m:rPr>
                          <m:nor/>
                        </m:rPr>
                        <a:rPr lang="en-US" sz="2000" b="1" i="0" smtClean="0">
                          <a:latin typeface="Cambria Math" panose="02040503050406030204" pitchFamily="18" charset="0"/>
                          <a:cs typeface="Arial" panose="020B0604020202020204" pitchFamily="34" charset="0"/>
                        </a:rPr>
                        <m:t> </m:t>
                      </m:r>
                      <m:r>
                        <m:rPr>
                          <m:nor/>
                        </m:rPr>
                        <a:rPr lang="en-US" sz="2000" b="1" i="0" smtClean="0">
                          <a:latin typeface="Cambria Math" panose="02040503050406030204" pitchFamily="18" charset="0"/>
                          <a:cs typeface="Arial" panose="020B0604020202020204" pitchFamily="34" charset="0"/>
                        </a:rPr>
                        <m:t>is</m:t>
                      </m:r>
                      <m:r>
                        <m:rPr>
                          <m:nor/>
                        </m:rPr>
                        <a:rPr lang="en-US" sz="2000" b="1" i="0" smtClean="0">
                          <a:latin typeface="Cambria Math" panose="02040503050406030204" pitchFamily="18" charset="0"/>
                          <a:cs typeface="Arial" panose="020B0604020202020204" pitchFamily="34" charset="0"/>
                        </a:rPr>
                        <m:t> </m:t>
                      </m:r>
                      <m:r>
                        <m:rPr>
                          <m:nor/>
                        </m:rPr>
                        <a:rPr lang="en-US" sz="2000" b="1" i="0" smtClean="0">
                          <a:latin typeface="Cambria Math" panose="02040503050406030204" pitchFamily="18" charset="0"/>
                          <a:cs typeface="Arial" panose="020B0604020202020204" pitchFamily="34" charset="0"/>
                        </a:rPr>
                        <m:t>not</m:t>
                      </m:r>
                      <m:r>
                        <m:rPr>
                          <m:nor/>
                        </m:rPr>
                        <a:rPr lang="en-US" sz="2000" b="1" i="0" smtClean="0">
                          <a:latin typeface="Cambria Math" panose="02040503050406030204" pitchFamily="18" charset="0"/>
                          <a:cs typeface="Arial" panose="020B0604020202020204" pitchFamily="34" charset="0"/>
                        </a:rPr>
                        <m:t> </m:t>
                      </m:r>
                      <m:r>
                        <m:rPr>
                          <m:nor/>
                        </m:rPr>
                        <a:rPr lang="en-US" sz="2000" b="1" i="0" smtClean="0">
                          <a:latin typeface="Cambria Math" panose="02040503050406030204" pitchFamily="18" charset="0"/>
                          <a:cs typeface="Arial" panose="020B0604020202020204" pitchFamily="34" charset="0"/>
                        </a:rPr>
                        <m:t>equal</m:t>
                      </m:r>
                      <m:r>
                        <m:rPr>
                          <m:nor/>
                        </m:rPr>
                        <a:rPr lang="en-US" sz="2000" b="1" i="0" smtClean="0">
                          <a:latin typeface="Cambria Math" panose="02040503050406030204" pitchFamily="18" charset="0"/>
                          <a:cs typeface="Arial" panose="020B0604020202020204" pitchFamily="34" charset="0"/>
                        </a:rPr>
                        <m:t> </m:t>
                      </m:r>
                      <m:r>
                        <m:rPr>
                          <m:nor/>
                        </m:rPr>
                        <a:rPr lang="en-US" sz="2000" b="1" i="0" smtClean="0">
                          <a:latin typeface="Cambria Math" panose="02040503050406030204" pitchFamily="18" charset="0"/>
                          <a:cs typeface="Arial" panose="020B0604020202020204" pitchFamily="34" charset="0"/>
                        </a:rPr>
                        <m:t>to</m:t>
                      </m:r>
                      <m:r>
                        <m:rPr>
                          <m:nor/>
                        </m:rPr>
                        <a:rPr lang="en-US" sz="2000" b="1" i="0" smtClean="0">
                          <a:latin typeface="Cambria Math" panose="02040503050406030204" pitchFamily="18" charset="0"/>
                          <a:cs typeface="Arial" panose="020B0604020202020204" pitchFamily="34" charset="0"/>
                        </a:rPr>
                        <m:t> </m:t>
                      </m:r>
                      <m:r>
                        <m:rPr>
                          <m:nor/>
                        </m:rPr>
                        <a:rPr lang="en-US" sz="2000" b="1" i="0" smtClean="0">
                          <a:latin typeface="Cambria Math" panose="02040503050406030204" pitchFamily="18" charset="0"/>
                          <a:cs typeface="Arial" panose="020B0604020202020204" pitchFamily="34" charset="0"/>
                        </a:rPr>
                        <m:t>zero</m:t>
                      </m:r>
                    </m:oMath>
                  </m:oMathPara>
                </a14:m>
                <a:endParaRPr lang="en-US" sz="2000" dirty="0">
                  <a:latin typeface="Arial" panose="020B0604020202020204" pitchFamily="34" charset="0"/>
                  <a:cs typeface="Arial" panose="020B0604020202020204" pitchFamily="34" charset="0"/>
                </a:endParaRPr>
              </a:p>
              <a:p>
                <a:pPr>
                  <a:spcBef>
                    <a:spcPts val="600"/>
                  </a:spcBef>
                  <a:spcAft>
                    <a:spcPts val="600"/>
                  </a:spcAft>
                </a:pPr>
                <a:r>
                  <a:rPr lang="en-US" sz="2000" dirty="0">
                    <a:latin typeface="Arial" panose="020B0604020202020204" pitchFamily="34" charset="0"/>
                    <a:cs typeface="Arial" panose="020B0604020202020204" pitchFamily="34" charset="0"/>
                  </a:rPr>
                  <a:t>The test statistic follows an 𝐹 distribution with </a:t>
                </a:r>
                <a:r>
                  <a:rPr lang="en-US" sz="2000" i="1" dirty="0">
                    <a:latin typeface="Arial" panose="020B0604020202020204" pitchFamily="34" charset="0"/>
                    <a:cs typeface="Arial" panose="020B0604020202020204" pitchFamily="34" charset="0"/>
                  </a:rPr>
                  <a:t>p</a:t>
                </a:r>
                <a:r>
                  <a:rPr lang="en-US" sz="2000" dirty="0">
                    <a:latin typeface="Arial" panose="020B0604020202020204" pitchFamily="34" charset="0"/>
                    <a:cs typeface="Arial" panose="020B0604020202020204" pitchFamily="34" charset="0"/>
                  </a:rPr>
                  <a:t> degree of freedom at the numerator, and </a:t>
                </a:r>
                <a14:m>
                  <m:oMath xmlns:m="http://schemas.openxmlformats.org/officeDocument/2006/math">
                    <m:r>
                      <a:rPr lang="en-US" sz="2000" i="1" dirty="0" smtClean="0">
                        <a:latin typeface="Cambria Math" panose="02040503050406030204" pitchFamily="18" charset="0"/>
                        <a:cs typeface="Arial" panose="020B0604020202020204" pitchFamily="34" charset="0"/>
                      </a:rPr>
                      <m:t>𝑛</m:t>
                    </m:r>
                    <m:r>
                      <a:rPr lang="en-US" sz="2000" i="1" dirty="0" smtClean="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𝑝</m:t>
                    </m:r>
                    <m:r>
                      <a:rPr lang="en-US" sz="2000" b="0" i="1" dirty="0" smtClean="0">
                        <a:latin typeface="Cambria Math" panose="02040503050406030204" pitchFamily="18" charset="0"/>
                        <a:cs typeface="Arial" panose="020B0604020202020204" pitchFamily="34" charset="0"/>
                      </a:rPr>
                      <m:t>−1</m:t>
                    </m:r>
                  </m:oMath>
                </a14:m>
                <a:r>
                  <a:rPr lang="en-US" sz="2000" dirty="0">
                    <a:latin typeface="Arial" panose="020B0604020202020204" pitchFamily="34" charset="0"/>
                    <a:cs typeface="Arial" panose="020B0604020202020204" pitchFamily="34" charset="0"/>
                  </a:rPr>
                  <a:t> degrees of freedom at the denominator.</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Arial" panose="020B0604020202020204" pitchFamily="34" charset="0"/>
                        </a:rPr>
                        <m:t>𝑭</m:t>
                      </m:r>
                      <m:r>
                        <a:rPr lang="en-US" sz="2000" b="1" i="1" smtClean="0">
                          <a:latin typeface="Cambria Math" panose="02040503050406030204" pitchFamily="18" charset="0"/>
                          <a:cs typeface="Arial" panose="020B0604020202020204" pitchFamily="34" charset="0"/>
                        </a:rPr>
                        <m:t>=</m:t>
                      </m:r>
                      <m:f>
                        <m:fPr>
                          <m:ctrlPr>
                            <a:rPr lang="en-US" sz="2000" b="1" i="1" smtClean="0">
                              <a:latin typeface="Cambria Math" panose="02040503050406030204" pitchFamily="18" charset="0"/>
                              <a:cs typeface="Arial" panose="020B0604020202020204" pitchFamily="34" charset="0"/>
                            </a:rPr>
                          </m:ctrlPr>
                        </m:fPr>
                        <m:num>
                          <m:r>
                            <a:rPr lang="en-US" sz="2000" b="1" i="1" smtClean="0">
                              <a:latin typeface="Cambria Math" panose="02040503050406030204" pitchFamily="18" charset="0"/>
                              <a:cs typeface="Arial" panose="020B0604020202020204" pitchFamily="34" charset="0"/>
                            </a:rPr>
                            <m:t>𝑴𝑺𝑹</m:t>
                          </m:r>
                        </m:num>
                        <m:den>
                          <m:r>
                            <a:rPr lang="en-US" sz="2000" b="1" i="1" smtClean="0">
                              <a:latin typeface="Cambria Math" panose="02040503050406030204" pitchFamily="18" charset="0"/>
                              <a:cs typeface="Arial" panose="020B0604020202020204" pitchFamily="34" charset="0"/>
                            </a:rPr>
                            <m:t>𝑴𝑺𝑬</m:t>
                          </m:r>
                        </m:den>
                      </m:f>
                    </m:oMath>
                  </m:oMathPara>
                </a14:m>
                <a:endParaRPr lang="en-US" sz="2000" dirty="0">
                  <a:latin typeface="Arial" panose="020B0604020202020204" pitchFamily="34" charset="0"/>
                  <a:cs typeface="Arial" panose="020B0604020202020204" pitchFamily="34" charset="0"/>
                </a:endParaRPr>
              </a:p>
              <a:p>
                <a:pPr marL="914400" indent="-914400">
                  <a:spcBef>
                    <a:spcPts val="600"/>
                  </a:spcBef>
                  <a:spcAft>
                    <a:spcPts val="0"/>
                  </a:spcAft>
                </a:pPr>
                <a:r>
                  <a:rPr lang="en-US" sz="2000" dirty="0">
                    <a:latin typeface="Arial" panose="020B0604020202020204" pitchFamily="34" charset="0"/>
                    <a:cs typeface="Arial" panose="020B0604020202020204" pitchFamily="34" charset="0"/>
                  </a:rPr>
                  <a:t>Where,	</a:t>
                </a:r>
                <a14:m>
                  <m:oMath xmlns:m="http://schemas.openxmlformats.org/officeDocument/2006/math">
                    <m:r>
                      <a:rPr lang="en-US" sz="2000" b="0" i="1" smtClean="0">
                        <a:latin typeface="Cambria Math" panose="02040503050406030204" pitchFamily="18" charset="0"/>
                        <a:cs typeface="Arial" panose="020B0604020202020204" pitchFamily="34" charset="0"/>
                      </a:rPr>
                      <m:t>𝑀𝑆𝑅</m:t>
                    </m:r>
                    <m:r>
                      <a:rPr lang="en-US" sz="2000" b="0" i="1" smtClean="0">
                        <a:latin typeface="Cambria Math" panose="02040503050406030204" pitchFamily="18" charset="0"/>
                        <a:cs typeface="Arial" panose="020B0604020202020204" pitchFamily="34" charset="0"/>
                      </a:rPr>
                      <m:t>=</m:t>
                    </m:r>
                    <m:f>
                      <m:fPr>
                        <m:type m:val="lin"/>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𝑆𝑆𝑅</m:t>
                        </m:r>
                      </m:num>
                      <m:den>
                        <m:r>
                          <a:rPr lang="en-US" sz="2000" b="0" i="1" smtClean="0">
                            <a:latin typeface="Cambria Math" panose="02040503050406030204" pitchFamily="18" charset="0"/>
                            <a:cs typeface="Arial" panose="020B0604020202020204" pitchFamily="34" charset="0"/>
                          </a:rPr>
                          <m:t>𝑝</m:t>
                        </m:r>
                      </m:den>
                    </m:f>
                  </m:oMath>
                </a14:m>
                <a:endParaRPr lang="en-US" sz="2000" dirty="0">
                  <a:latin typeface="Arial" panose="020B0604020202020204" pitchFamily="34" charset="0"/>
                  <a:cs typeface="Arial" panose="020B0604020202020204" pitchFamily="34" charset="0"/>
                </a:endParaRPr>
              </a:p>
              <a:p>
                <a:pPr marL="914400" indent="-914400">
                  <a:spcBef>
                    <a:spcPts val="600"/>
                  </a:spcBef>
                  <a:spcAft>
                    <a:spcPts val="600"/>
                  </a:spcAft>
                </a:pPr>
                <a:r>
                  <a:rPr lang="en-US" sz="2000" dirty="0">
                    <a:latin typeface="Arial" panose="020B0604020202020204" pitchFamily="34" charset="0"/>
                    <a:cs typeface="Arial" panose="020B0604020202020204" pitchFamily="34" charset="0"/>
                  </a:rPr>
                  <a:t>	</a:t>
                </a:r>
                <a14:m>
                  <m:oMath xmlns:m="http://schemas.openxmlformats.org/officeDocument/2006/math">
                    <m:r>
                      <a:rPr lang="en-US" sz="2000" b="0" i="1" smtClean="0">
                        <a:latin typeface="Cambria Math" panose="02040503050406030204" pitchFamily="18" charset="0"/>
                        <a:cs typeface="Arial" panose="020B0604020202020204" pitchFamily="34" charset="0"/>
                      </a:rPr>
                      <m:t>𝑀𝑆𝐸</m:t>
                    </m:r>
                    <m:r>
                      <a:rPr lang="en-US" sz="2000" b="0" i="1" smtClean="0">
                        <a:latin typeface="Cambria Math" panose="02040503050406030204" pitchFamily="18" charset="0"/>
                        <a:cs typeface="Arial" panose="020B0604020202020204" pitchFamily="34" charset="0"/>
                      </a:rPr>
                      <m:t>=</m:t>
                    </m:r>
                    <m:f>
                      <m:fPr>
                        <m:type m:val="lin"/>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𝑆𝑆𝐸</m:t>
                        </m:r>
                      </m:num>
                      <m:den>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𝑛</m:t>
                            </m:r>
                            <m:r>
                              <a:rPr lang="en-US" sz="2000" b="0" i="1" smtClean="0">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𝑝</m:t>
                            </m:r>
                            <m:r>
                              <a:rPr lang="en-US" sz="2000" b="0" i="1" smtClean="0">
                                <a:latin typeface="Cambria Math" panose="02040503050406030204" pitchFamily="18" charset="0"/>
                                <a:cs typeface="Arial" panose="020B0604020202020204" pitchFamily="34" charset="0"/>
                              </a:rPr>
                              <m:t>−1</m:t>
                            </m:r>
                          </m:e>
                        </m:d>
                      </m:den>
                    </m:f>
                  </m:oMath>
                </a14:m>
                <a:endParaRPr lang="en-US" sz="2000" dirty="0">
                  <a:latin typeface="Arial" panose="020B0604020202020204" pitchFamily="34" charset="0"/>
                  <a:cs typeface="Arial" panose="020B0604020202020204" pitchFamily="34" charset="0"/>
                </a:endParaRPr>
              </a:p>
              <a:p>
                <a:pPr>
                  <a:spcBef>
                    <a:spcPts val="600"/>
                  </a:spcBef>
                  <a:spcAft>
                    <a:spcPts val="0"/>
                  </a:spcAft>
                </a:pPr>
                <a:r>
                  <a:rPr lang="en-US" sz="2000" dirty="0">
                    <a:latin typeface="Arial" panose="020B0604020202020204" pitchFamily="34" charset="0"/>
                    <a:cs typeface="Arial" panose="020B0604020202020204" pitchFamily="34" charset="0"/>
                  </a:rPr>
                  <a:t>The rejection rule is as follows</a:t>
                </a:r>
              </a:p>
              <a:p>
                <a:pPr marL="914400">
                  <a:spcBef>
                    <a:spcPts val="600"/>
                  </a:spcBef>
                  <a:spcAft>
                    <a:spcPts val="0"/>
                  </a:spcAft>
                  <a:tabLst>
                    <a:tab pos="3941763" algn="l"/>
                  </a:tabLst>
                </a:pPr>
                <a:r>
                  <a:rPr lang="en-US" sz="2000" i="1" dirty="0">
                    <a:latin typeface="Arial" panose="020B0604020202020204" pitchFamily="34" charset="0"/>
                    <a:cs typeface="Arial" panose="020B0604020202020204" pitchFamily="34" charset="0"/>
                  </a:rPr>
                  <a:t>p</a:t>
                </a:r>
                <a:r>
                  <a:rPr lang="en-US" sz="2000" dirty="0">
                    <a:latin typeface="Arial" panose="020B0604020202020204" pitchFamily="34" charset="0"/>
                    <a:cs typeface="Arial" panose="020B0604020202020204" pitchFamily="34" charset="0"/>
                  </a:rPr>
                  <a:t>-value approach:	</a:t>
                </a:r>
                <a:r>
                  <a:rPr lang="en-US" sz="2000" dirty="0"/>
                  <a:t>Reject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0</m:t>
                        </m:r>
                      </m:sub>
                    </m:sSub>
                  </m:oMath>
                </a14:m>
                <a:r>
                  <a:rPr lang="en-US" sz="2000" dirty="0">
                    <a:latin typeface="Arial" panose="020B0604020202020204" pitchFamily="34" charset="0"/>
                    <a:cs typeface="Arial" panose="020B0604020202020204" pitchFamily="34" charset="0"/>
                  </a:rPr>
                  <a:t> if </a:t>
                </a:r>
                <a14:m>
                  <m:oMath xmlns:m="http://schemas.openxmlformats.org/officeDocument/2006/math">
                    <m:r>
                      <m:rPr>
                        <m:nor/>
                      </m:rPr>
                      <a:rPr lang="en-US" sz="2000" i="1" dirty="0" smtClean="0">
                        <a:latin typeface="Cambria Math" panose="02040503050406030204" pitchFamily="18" charset="0"/>
                        <a:cs typeface="Arial" panose="020B0604020202020204" pitchFamily="34" charset="0"/>
                      </a:rPr>
                      <m:t>p</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value</m:t>
                    </m:r>
                    <m:r>
                      <a:rPr lang="en-US" sz="2000" i="1" dirty="0" smtClean="0">
                        <a:latin typeface="Cambria Math" panose="02040503050406030204" pitchFamily="18" charset="0"/>
                        <a:ea typeface="Cambria Math" panose="02040503050406030204" pitchFamily="18" charset="0"/>
                        <a:cs typeface="Arial" panose="020B0604020202020204" pitchFamily="34" charset="0"/>
                      </a:rPr>
                      <m:t>≤</m:t>
                    </m:r>
                    <m:r>
                      <a:rPr lang="en-US" sz="2000" i="1" dirty="0" smtClean="0">
                        <a:latin typeface="Cambria Math" panose="02040503050406030204" pitchFamily="18" charset="0"/>
                        <a:ea typeface="Cambria Math" panose="02040503050406030204" pitchFamily="18" charset="0"/>
                        <a:cs typeface="Arial" panose="020B0604020202020204" pitchFamily="34" charset="0"/>
                      </a:rPr>
                      <m:t>𝛼</m:t>
                    </m:r>
                  </m:oMath>
                </a14:m>
                <a:endParaRPr lang="en-US" sz="2000" dirty="0">
                  <a:latin typeface="Arial" panose="020B0604020202020204" pitchFamily="34" charset="0"/>
                  <a:cs typeface="Arial" panose="020B0604020202020204" pitchFamily="34" charset="0"/>
                </a:endParaRPr>
              </a:p>
              <a:p>
                <a:pPr marL="914400">
                  <a:spcBef>
                    <a:spcPts val="600"/>
                  </a:spcBef>
                  <a:spcAft>
                    <a:spcPts val="0"/>
                  </a:spcAft>
                  <a:tabLst>
                    <a:tab pos="3941763" algn="l"/>
                  </a:tabLst>
                </a:pPr>
                <a:r>
                  <a:rPr lang="en-US" sz="2000" dirty="0">
                    <a:latin typeface="Arial" panose="020B0604020202020204" pitchFamily="34" charset="0"/>
                    <a:cs typeface="Arial" panose="020B0604020202020204" pitchFamily="34" charset="0"/>
                  </a:rPr>
                  <a:t>Critical value approach:	</a:t>
                </a:r>
                <a:r>
                  <a:rPr lang="en-US" sz="2000" dirty="0"/>
                  <a:t>Reject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0</m:t>
                        </m:r>
                      </m:sub>
                    </m:sSub>
                  </m:oMath>
                </a14:m>
                <a:r>
                  <a:rPr lang="en-US" sz="2000" dirty="0">
                    <a:latin typeface="Arial" panose="020B0604020202020204" pitchFamily="34" charset="0"/>
                    <a:cs typeface="Arial" panose="020B0604020202020204" pitchFamily="34" charset="0"/>
                  </a:rPr>
                  <a:t> if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𝐹</m:t>
                    </m:r>
                    <m:r>
                      <a:rPr lang="en-US" sz="200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𝐹</m:t>
                        </m:r>
                      </m:e>
                      <m:sub>
                        <m:r>
                          <a:rPr lang="en-US" sz="2000" i="1">
                            <a:latin typeface="Cambria Math" panose="02040503050406030204" pitchFamily="18" charset="0"/>
                            <a:ea typeface="Cambria Math" panose="02040503050406030204" pitchFamily="18" charset="0"/>
                            <a:cs typeface="Arial" panose="020B0604020202020204" pitchFamily="34" charset="0"/>
                          </a:rPr>
                          <m:t>𝛼</m:t>
                        </m:r>
                      </m:sub>
                    </m:sSub>
                  </m:oMath>
                </a14:m>
                <a:endParaRPr lang="en-US" sz="2000" dirty="0">
                  <a:latin typeface="Arial" panose="020B0604020202020204" pitchFamily="34" charset="0"/>
                  <a:cs typeface="Arial" panose="020B0604020202020204" pitchFamily="34" charset="0"/>
                </a:endParaRP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05131" y="1311348"/>
                <a:ext cx="10781737" cy="4569187"/>
              </a:xfrm>
              <a:blipFill>
                <a:blip r:embed="rId3"/>
                <a:stretch>
                  <a:fillRect l="-1471" t="-1733" b="-3333"/>
                </a:stretch>
              </a:blipFill>
            </p:spPr>
            <p:txBody>
              <a:bodyPr/>
              <a:lstStyle/>
              <a:p>
                <a:r>
                  <a:rPr lang="en-US">
                    <a:noFill/>
                  </a:rPr>
                  <a:t> </a:t>
                </a:r>
              </a:p>
            </p:txBody>
          </p:sp>
        </mc:Fallback>
      </mc:AlternateContent>
    </p:spTree>
    <p:extLst>
      <p:ext uri="{BB962C8B-B14F-4D97-AF65-F5344CB8AC3E}">
        <p14:creationId xmlns:p14="http://schemas.microsoft.com/office/powerpoint/2010/main" val="28507835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659956" y="365125"/>
            <a:ext cx="10860819" cy="672105"/>
          </a:xfrm>
        </p:spPr>
        <p:txBody>
          <a:bodyPr/>
          <a:lstStyle/>
          <a:p>
            <a:r>
              <a:rPr lang="en-US" dirty="0"/>
              <a:t>15.5 </a:t>
            </a:r>
            <a:r>
              <a:rPr lang="en-US" i="1" dirty="0"/>
              <a:t>F</a:t>
            </a:r>
            <a:r>
              <a:rPr lang="en-US" dirty="0"/>
              <a:t> Test for the Butler Trucking Example</a:t>
            </a:r>
            <a:endParaRPr lang="en-US" i="1"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699496" y="1226416"/>
                <a:ext cx="10781737" cy="4488584"/>
              </a:xfrm>
            </p:spPr>
            <p:txBody>
              <a:bodyPr/>
              <a:lstStyle/>
              <a:p>
                <a:pPr>
                  <a:spcBef>
                    <a:spcPts val="600"/>
                  </a:spcBef>
                  <a:spcAft>
                    <a:spcPts val="600"/>
                  </a:spcAft>
                </a:pPr>
                <a:r>
                  <a:rPr lang="en-US" sz="2000" dirty="0">
                    <a:latin typeface="Arial" panose="020B0604020202020204" pitchFamily="34" charset="0"/>
                    <a:cs typeface="Arial" panose="020B0604020202020204" pitchFamily="34" charset="0"/>
                  </a:rPr>
                  <a:t>The hypotheses for the 𝐹 test in the Butler trucking multiple regression example with </a:t>
                </a:r>
                <a:r>
                  <a:rPr lang="en-US" sz="2000" dirty="0"/>
                  <a:t>miles traveled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𝑥</m:t>
                        </m:r>
                      </m:e>
                      <m:sub>
                        <m:r>
                          <a:rPr lang="en-US" sz="2000" i="1">
                            <a:latin typeface="Cambria Math" panose="02040503050406030204" pitchFamily="18" charset="0"/>
                            <a:cs typeface="Arial" panose="020B0604020202020204" pitchFamily="34" charset="0"/>
                          </a:rPr>
                          <m:t>1</m:t>
                        </m:r>
                      </m:sub>
                    </m:sSub>
                  </m:oMath>
                </a14:m>
                <a:r>
                  <a:rPr lang="en-US" sz="2000" dirty="0"/>
                  <a:t>) and number of deliveries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𝑥</m:t>
                        </m:r>
                      </m:e>
                      <m:sub>
                        <m:r>
                          <a:rPr lang="en-US" sz="2000" b="0" i="1" smtClean="0">
                            <a:latin typeface="Cambria Math" panose="02040503050406030204" pitchFamily="18" charset="0"/>
                            <a:cs typeface="Arial" panose="020B0604020202020204" pitchFamily="34" charset="0"/>
                          </a:rPr>
                          <m:t>2</m:t>
                        </m:r>
                      </m:sub>
                    </m:sSub>
                  </m:oMath>
                </a14:m>
                <a:r>
                  <a:rPr lang="en-US" sz="2000" dirty="0"/>
                  <a:t>) as the two independent variables </a:t>
                </a:r>
                <a:r>
                  <a:rPr lang="en-US" sz="2000" dirty="0">
                    <a:latin typeface="Arial" panose="020B0604020202020204" pitchFamily="34" charset="0"/>
                    <a:cs typeface="Arial" panose="020B0604020202020204" pitchFamily="34" charset="0"/>
                  </a:rPr>
                  <a:t>are.</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𝐻</m:t>
                          </m:r>
                        </m:e>
                        <m:sub>
                          <m:r>
                            <a:rPr lang="en-US" sz="2000" b="0" i="1" smtClean="0">
                              <a:latin typeface="Cambria Math" panose="02040503050406030204" pitchFamily="18" charset="0"/>
                              <a:cs typeface="Arial" panose="020B0604020202020204" pitchFamily="34" charset="0"/>
                            </a:rPr>
                            <m:t>0</m:t>
                          </m:r>
                        </m:sub>
                      </m:sSub>
                      <m:r>
                        <a:rPr lang="en-US" sz="2000" b="0" i="1" smtClean="0">
                          <a:latin typeface="Cambria Math" panose="02040503050406030204" pitchFamily="18" charset="0"/>
                          <a:cs typeface="Arial" panose="020B0604020202020204" pitchFamily="34" charset="0"/>
                        </a:rPr>
                        <m:t>: </m:t>
                      </m:r>
                      <m:sSub>
                        <m:sSubPr>
                          <m:ctrlPr>
                            <a:rPr lang="en-US" sz="2000" i="1" smtClean="0">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𝛽</m:t>
                          </m:r>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𝛽</m:t>
                          </m:r>
                        </m:e>
                        <m:sub>
                          <m:r>
                            <a:rPr lang="en-US" sz="2000" b="0" i="1" smtClean="0">
                              <a:latin typeface="Cambria Math" panose="02040503050406030204" pitchFamily="18" charset="0"/>
                              <a:cs typeface="Arial" panose="020B0604020202020204" pitchFamily="34" charset="0"/>
                            </a:rPr>
                            <m:t>2</m:t>
                          </m:r>
                        </m:sub>
                      </m:sSub>
                      <m:r>
                        <a:rPr lang="en-US" sz="2000" b="0" i="1">
                          <a:latin typeface="Cambria Math" panose="02040503050406030204" pitchFamily="18" charset="0"/>
                          <a:cs typeface="Arial" panose="020B0604020202020204" pitchFamily="34" charset="0"/>
                        </a:rPr>
                        <m:t>=0</m:t>
                      </m:r>
                    </m:oMath>
                  </m:oMathPara>
                </a14:m>
                <a:endParaRPr lang="en-US" sz="2000" dirty="0">
                  <a:latin typeface="Arial" panose="020B0604020202020204" pitchFamily="34" charset="0"/>
                  <a:cs typeface="Arial" panose="020B0604020202020204" pitchFamily="34" charset="0"/>
                </a:endParaRP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𝐻</m:t>
                          </m:r>
                        </m:e>
                        <m:sub>
                          <m:r>
                            <a:rPr lang="en-US" sz="2000" b="0" i="1" smtClean="0">
                              <a:latin typeface="Cambria Math" panose="02040503050406030204" pitchFamily="18" charset="0"/>
                              <a:cs typeface="Arial" panose="020B0604020202020204" pitchFamily="34" charset="0"/>
                            </a:rPr>
                            <m:t>𝑎</m:t>
                          </m:r>
                        </m:sub>
                      </m:sSub>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 </m:t>
                          </m:r>
                          <m:r>
                            <a:rPr lang="en-US" sz="2000" i="1">
                              <a:latin typeface="Cambria Math" panose="02040503050406030204" pitchFamily="18" charset="0"/>
                              <a:ea typeface="Cambria Math" panose="02040503050406030204" pitchFamily="18" charset="0"/>
                              <a:cs typeface="Arial" panose="020B0604020202020204" pitchFamily="34" charset="0"/>
                            </a:rPr>
                            <m:t>𝛽</m:t>
                          </m:r>
                        </m:e>
                        <m:sub>
                          <m:r>
                            <a:rPr lang="en-US" sz="2000" i="1">
                              <a:latin typeface="Cambria Math" panose="02040503050406030204" pitchFamily="18" charset="0"/>
                              <a:cs typeface="Arial" panose="020B0604020202020204" pitchFamily="34" charset="0"/>
                            </a:rPr>
                            <m:t>1</m:t>
                          </m:r>
                        </m:sub>
                      </m:sSub>
                      <m:r>
                        <m:rPr>
                          <m:nor/>
                        </m:rPr>
                        <a:rPr lang="en-US" sz="2000" b="0" i="0" smtClean="0">
                          <a:latin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cs typeface="Arial" panose="020B0604020202020204" pitchFamily="34" charset="0"/>
                        </a:rPr>
                        <m:t>and</m:t>
                      </m:r>
                      <m:r>
                        <m:rPr>
                          <m:nor/>
                        </m:rPr>
                        <a:rPr lang="en-US" sz="2000" b="0" i="0" smtClean="0">
                          <a:latin typeface="Cambria Math" panose="02040503050406030204" pitchFamily="18" charset="0"/>
                          <a:cs typeface="Arial" panose="020B0604020202020204" pitchFamily="34" charset="0"/>
                        </a:rPr>
                        <m:t>/</m:t>
                      </m:r>
                      <m:r>
                        <m:rPr>
                          <m:nor/>
                        </m:rPr>
                        <a:rPr lang="en-US" sz="2000" b="0" i="0" smtClean="0">
                          <a:latin typeface="Cambria Math" panose="02040503050406030204" pitchFamily="18" charset="0"/>
                          <a:cs typeface="Arial" panose="020B0604020202020204" pitchFamily="34" charset="0"/>
                        </a:rPr>
                        <m:t>or</m:t>
                      </m:r>
                      <m:r>
                        <a:rPr lang="en-US" sz="2000" b="0" i="1" smtClean="0">
                          <a:latin typeface="Cambria Math" panose="02040503050406030204" pitchFamily="18" charset="0"/>
                          <a:cs typeface="Arial" panose="020B0604020202020204" pitchFamily="34" charset="0"/>
                        </a:rPr>
                        <m:t> </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𝛽</m:t>
                          </m:r>
                        </m:e>
                        <m:sub>
                          <m:r>
                            <a:rPr lang="en-US" sz="2000" i="1">
                              <a:latin typeface="Cambria Math" panose="02040503050406030204" pitchFamily="18" charset="0"/>
                              <a:cs typeface="Arial" panose="020B0604020202020204" pitchFamily="34" charset="0"/>
                            </a:rPr>
                            <m:t>2</m:t>
                          </m:r>
                        </m:sub>
                      </m:sSub>
                      <m:r>
                        <m:rPr>
                          <m:nor/>
                        </m:rPr>
                        <a:rPr lang="en-US" sz="2000" b="0" i="0" smtClean="0">
                          <a:latin typeface="Cambria Math" panose="02040503050406030204" pitchFamily="18" charset="0"/>
                          <a:cs typeface="Arial" panose="020B0604020202020204" pitchFamily="34" charset="0"/>
                        </a:rPr>
                        <m:t> </m:t>
                      </m:r>
                      <m:r>
                        <m:rPr>
                          <m:nor/>
                        </m:rPr>
                        <a:rPr lang="en-US" sz="2000" i="0" smtClean="0">
                          <a:latin typeface="Cambria Math" panose="02040503050406030204" pitchFamily="18" charset="0"/>
                          <a:cs typeface="Arial" panose="020B0604020202020204" pitchFamily="34" charset="0"/>
                        </a:rPr>
                        <m:t>is</m:t>
                      </m:r>
                      <m:r>
                        <m:rPr>
                          <m:nor/>
                        </m:rPr>
                        <a:rPr lang="en-US" sz="2000" i="0" smtClean="0">
                          <a:latin typeface="Cambria Math" panose="02040503050406030204" pitchFamily="18" charset="0"/>
                          <a:cs typeface="Arial" panose="020B0604020202020204" pitchFamily="34" charset="0"/>
                        </a:rPr>
                        <m:t> </m:t>
                      </m:r>
                      <m:r>
                        <m:rPr>
                          <m:nor/>
                        </m:rPr>
                        <a:rPr lang="en-US" sz="2000" i="0" smtClean="0">
                          <a:latin typeface="Cambria Math" panose="02040503050406030204" pitchFamily="18" charset="0"/>
                          <a:cs typeface="Arial" panose="020B0604020202020204" pitchFamily="34" charset="0"/>
                        </a:rPr>
                        <m:t>not</m:t>
                      </m:r>
                      <m:r>
                        <m:rPr>
                          <m:nor/>
                        </m:rPr>
                        <a:rPr lang="en-US" sz="2000" i="0" smtClean="0">
                          <a:latin typeface="Cambria Math" panose="02040503050406030204" pitchFamily="18" charset="0"/>
                          <a:cs typeface="Arial" panose="020B0604020202020204" pitchFamily="34" charset="0"/>
                        </a:rPr>
                        <m:t> </m:t>
                      </m:r>
                      <m:r>
                        <m:rPr>
                          <m:nor/>
                        </m:rPr>
                        <a:rPr lang="en-US" sz="2000" i="0" smtClean="0">
                          <a:latin typeface="Cambria Math" panose="02040503050406030204" pitchFamily="18" charset="0"/>
                          <a:cs typeface="Arial" panose="020B0604020202020204" pitchFamily="34" charset="0"/>
                        </a:rPr>
                        <m:t>equal</m:t>
                      </m:r>
                      <m:r>
                        <m:rPr>
                          <m:nor/>
                        </m:rPr>
                        <a:rPr lang="en-US" sz="2000" i="0" smtClean="0">
                          <a:latin typeface="Cambria Math" panose="02040503050406030204" pitchFamily="18" charset="0"/>
                          <a:cs typeface="Arial" panose="020B0604020202020204" pitchFamily="34" charset="0"/>
                        </a:rPr>
                        <m:t> </m:t>
                      </m:r>
                      <m:r>
                        <m:rPr>
                          <m:nor/>
                        </m:rPr>
                        <a:rPr lang="en-US" sz="2000" i="0" smtClean="0">
                          <a:latin typeface="Cambria Math" panose="02040503050406030204" pitchFamily="18" charset="0"/>
                          <a:cs typeface="Arial" panose="020B0604020202020204" pitchFamily="34" charset="0"/>
                        </a:rPr>
                        <m:t>to</m:t>
                      </m:r>
                      <m:r>
                        <m:rPr>
                          <m:nor/>
                        </m:rPr>
                        <a:rPr lang="en-US" sz="2000" i="0" smtClean="0">
                          <a:latin typeface="Cambria Math" panose="02040503050406030204" pitchFamily="18" charset="0"/>
                          <a:cs typeface="Arial" panose="020B0604020202020204" pitchFamily="34" charset="0"/>
                        </a:rPr>
                        <m:t> </m:t>
                      </m:r>
                      <m:r>
                        <m:rPr>
                          <m:nor/>
                        </m:rPr>
                        <a:rPr lang="en-US" sz="2000" i="0" smtClean="0">
                          <a:latin typeface="Cambria Math" panose="02040503050406030204" pitchFamily="18" charset="0"/>
                          <a:cs typeface="Arial" panose="020B0604020202020204" pitchFamily="34" charset="0"/>
                        </a:rPr>
                        <m:t>zero</m:t>
                      </m:r>
                    </m:oMath>
                  </m:oMathPara>
                </a14:m>
                <a:endParaRPr lang="en-US" sz="2000" dirty="0">
                  <a:latin typeface="Arial" panose="020B0604020202020204" pitchFamily="34" charset="0"/>
                  <a:cs typeface="Arial" panose="020B0604020202020204" pitchFamily="34" charset="0"/>
                </a:endParaRPr>
              </a:p>
              <a:p>
                <a:pPr>
                  <a:spcBef>
                    <a:spcPts val="600"/>
                  </a:spcBef>
                  <a:spcAft>
                    <a:spcPts val="600"/>
                  </a:spcAft>
                </a:pPr>
                <a:r>
                  <a:rPr lang="en-US" sz="2000" dirty="0">
                    <a:latin typeface="Arial" panose="020B0604020202020204" pitchFamily="34" charset="0"/>
                    <a:cs typeface="Arial" panose="020B0604020202020204" pitchFamily="34" charset="0"/>
                  </a:rPr>
                  <a:t>In the analysis of variance computer output from the previous section, we found </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cs typeface="Arial" panose="020B0604020202020204" pitchFamily="34" charset="0"/>
                        </a:rPr>
                        <m:t>𝐹</m:t>
                      </m:r>
                      <m:r>
                        <a:rPr lang="en-US" sz="2000" b="0" i="1" smtClean="0">
                          <a:latin typeface="Cambria Math" panose="02040503050406030204" pitchFamily="18" charset="0"/>
                          <a:cs typeface="Arial" panose="020B0604020202020204" pitchFamily="34" charset="0"/>
                        </a:rPr>
                        <m:t>=</m:t>
                      </m:r>
                      <m:f>
                        <m:fPr>
                          <m:ctrlPr>
                            <a:rPr lang="en-US" sz="200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𝑀𝑆𝑅</m:t>
                          </m:r>
                        </m:num>
                        <m:den>
                          <m:r>
                            <a:rPr lang="en-US" sz="2000" b="0" i="1" smtClean="0">
                              <a:latin typeface="Cambria Math" panose="02040503050406030204" pitchFamily="18" charset="0"/>
                              <a:cs typeface="Arial" panose="020B0604020202020204" pitchFamily="34" charset="0"/>
                            </a:rPr>
                            <m:t>𝑀𝑆𝐸</m:t>
                          </m:r>
                        </m:den>
                      </m:f>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f>
                            <m:fPr>
                              <m:type m:val="lin"/>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𝑆𝑆𝑅</m:t>
                              </m:r>
                            </m:num>
                            <m:den>
                              <m:r>
                                <a:rPr lang="en-US" sz="2000" b="0" i="1" smtClean="0">
                                  <a:latin typeface="Cambria Math" panose="02040503050406030204" pitchFamily="18" charset="0"/>
                                  <a:cs typeface="Arial" panose="020B0604020202020204" pitchFamily="34" charset="0"/>
                                </a:rPr>
                                <m:t>𝑝</m:t>
                              </m:r>
                            </m:den>
                          </m:f>
                        </m:num>
                        <m:den>
                          <m:f>
                            <m:fPr>
                              <m:type m:val="lin"/>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cs typeface="Arial" panose="020B0604020202020204" pitchFamily="34" charset="0"/>
                                </a:rPr>
                                <m:t>𝑆𝑆𝐸</m:t>
                              </m:r>
                            </m:num>
                            <m:den>
                              <m:d>
                                <m:dPr>
                                  <m:ctrlPr>
                                    <a:rPr lang="en-US" sz="2000" i="1">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𝑛</m:t>
                                  </m:r>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𝑝</m:t>
                                  </m:r>
                                  <m:r>
                                    <a:rPr lang="en-US" sz="2000" i="1">
                                      <a:latin typeface="Cambria Math" panose="02040503050406030204" pitchFamily="18" charset="0"/>
                                      <a:cs typeface="Arial" panose="020B0604020202020204" pitchFamily="34" charset="0"/>
                                    </a:rPr>
                                    <m:t>−1</m:t>
                                  </m:r>
                                </m:e>
                              </m:d>
                            </m:den>
                          </m:f>
                        </m:den>
                      </m:f>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f>
                            <m:fPr>
                              <m:type m:val="lin"/>
                              <m:ctrlPr>
                                <a:rPr lang="en-US" sz="2000" i="1">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21.6006</m:t>
                              </m:r>
                            </m:num>
                            <m:den>
                              <m:r>
                                <a:rPr lang="en-US" sz="2000" b="0" i="1" smtClean="0">
                                  <a:latin typeface="Cambria Math" panose="02040503050406030204" pitchFamily="18" charset="0"/>
                                  <a:cs typeface="Arial" panose="020B0604020202020204" pitchFamily="34" charset="0"/>
                                </a:rPr>
                                <m:t>2</m:t>
                              </m:r>
                            </m:den>
                          </m:f>
                        </m:num>
                        <m:den>
                          <m:r>
                            <a:rPr lang="en-US" sz="2000" b="0" i="1" smtClean="0">
                              <a:latin typeface="Cambria Math" panose="02040503050406030204" pitchFamily="18" charset="0"/>
                              <a:cs typeface="Arial" panose="020B0604020202020204" pitchFamily="34" charset="0"/>
                            </a:rPr>
                            <m:t>2.2994/</m:t>
                          </m:r>
                          <m:d>
                            <m:dPr>
                              <m:ctrlPr>
                                <a:rPr lang="en-US" sz="2000" b="0" i="1" smtClean="0">
                                  <a:latin typeface="Cambria Math" panose="02040503050406030204" pitchFamily="18" charset="0"/>
                                  <a:cs typeface="Arial" panose="020B0604020202020204" pitchFamily="34" charset="0"/>
                                </a:rPr>
                              </m:ctrlPr>
                            </m:dPr>
                            <m:e>
                              <m:r>
                                <a:rPr lang="en-US" sz="2000" b="0" i="1" smtClean="0">
                                  <a:latin typeface="Cambria Math" panose="02040503050406030204" pitchFamily="18" charset="0"/>
                                  <a:cs typeface="Arial" panose="020B0604020202020204" pitchFamily="34" charset="0"/>
                                </a:rPr>
                                <m:t>10−2−1</m:t>
                              </m:r>
                            </m:e>
                          </m:d>
                        </m:den>
                      </m:f>
                      <m:r>
                        <a:rPr lang="en-US" sz="2000" b="0" i="1" smtClean="0">
                          <a:latin typeface="Cambria Math" panose="02040503050406030204" pitchFamily="18" charset="0"/>
                          <a:cs typeface="Arial" panose="020B0604020202020204" pitchFamily="34" charset="0"/>
                        </a:rPr>
                        <m:t>=</m:t>
                      </m:r>
                      <m:f>
                        <m:fPr>
                          <m:ctrlPr>
                            <a:rPr lang="en-US" sz="2000" b="0" i="1" smtClean="0">
                              <a:latin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cs typeface="Arial" panose="020B0604020202020204" pitchFamily="34" charset="0"/>
                            </a:rPr>
                            <m:t>10.8003</m:t>
                          </m:r>
                        </m:num>
                        <m:den>
                          <m:r>
                            <a:rPr lang="en-US" sz="2000" b="0" i="1" smtClean="0">
                              <a:latin typeface="Cambria Math" panose="02040503050406030204" pitchFamily="18" charset="0"/>
                              <a:cs typeface="Arial" panose="020B0604020202020204" pitchFamily="34" charset="0"/>
                            </a:rPr>
                            <m:t>0.3285</m:t>
                          </m:r>
                        </m:den>
                      </m:f>
                      <m:r>
                        <a:rPr lang="en-US" sz="2000" b="0" i="1" smtClean="0">
                          <a:latin typeface="Cambria Math" panose="02040503050406030204" pitchFamily="18" charset="0"/>
                          <a:cs typeface="Arial" panose="020B0604020202020204" pitchFamily="34" charset="0"/>
                        </a:rPr>
                        <m:t>=32.88</m:t>
                      </m:r>
                    </m:oMath>
                  </m:oMathPara>
                </a14:m>
                <a:endParaRPr lang="en-US" sz="2000" dirty="0">
                  <a:latin typeface="Arial" panose="020B0604020202020204" pitchFamily="34" charset="0"/>
                  <a:cs typeface="Arial" panose="020B0604020202020204" pitchFamily="34" charset="0"/>
                </a:endParaRPr>
              </a:p>
              <a:p>
                <a:pPr>
                  <a:spcBef>
                    <a:spcPts val="600"/>
                  </a:spcBef>
                  <a:spcAft>
                    <a:spcPts val="0"/>
                  </a:spcAft>
                </a:pPr>
                <a:r>
                  <a:rPr lang="en-US" sz="2000" dirty="0">
                    <a:latin typeface="Arial" panose="020B0604020202020204" pitchFamily="34" charset="0"/>
                    <a:cs typeface="Arial" panose="020B0604020202020204" pitchFamily="34" charset="0"/>
                  </a:rPr>
                  <a:t>The rejection rule, using a level of significance </a:t>
                </a:r>
                <a14:m>
                  <m:oMath xmlns:m="http://schemas.openxmlformats.org/officeDocument/2006/math">
                    <m:r>
                      <a:rPr lang="en-US" sz="2000" i="1" dirty="0" smtClean="0">
                        <a:latin typeface="Cambria Math" panose="02040503050406030204" pitchFamily="18" charset="0"/>
                        <a:ea typeface="Cambria Math" panose="02040503050406030204" pitchFamily="18" charset="0"/>
                        <a:cs typeface="Arial" panose="020B0604020202020204" pitchFamily="34" charset="0"/>
                      </a:rPr>
                      <m:t>𝛼</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=0.01</m:t>
                    </m:r>
                  </m:oMath>
                </a14:m>
                <a:r>
                  <a:rPr lang="en-US" sz="2000" dirty="0">
                    <a:latin typeface="Arial" panose="020B0604020202020204" pitchFamily="34" charset="0"/>
                    <a:cs typeface="Arial" panose="020B0604020202020204" pitchFamily="34" charset="0"/>
                  </a:rPr>
                  <a:t>, is as follows (*see notes.)</a:t>
                </a:r>
              </a:p>
              <a:p>
                <a:pPr marL="914400">
                  <a:spcBef>
                    <a:spcPts val="600"/>
                  </a:spcBef>
                  <a:spcAft>
                    <a:spcPts val="0"/>
                  </a:spcAft>
                  <a:tabLst>
                    <a:tab pos="3941763" algn="l"/>
                  </a:tabLst>
                </a:pPr>
                <a:r>
                  <a:rPr lang="en-US" sz="2000" i="1" dirty="0">
                    <a:latin typeface="Arial" panose="020B0604020202020204" pitchFamily="34" charset="0"/>
                    <a:cs typeface="Arial" panose="020B0604020202020204" pitchFamily="34" charset="0"/>
                  </a:rPr>
                  <a:t>p</a:t>
                </a:r>
                <a:r>
                  <a:rPr lang="en-US" sz="2000" dirty="0">
                    <a:latin typeface="Arial" panose="020B0604020202020204" pitchFamily="34" charset="0"/>
                    <a:cs typeface="Arial" panose="020B0604020202020204" pitchFamily="34" charset="0"/>
                  </a:rPr>
                  <a:t>-value approach:	</a:t>
                </a:r>
                <a14:m>
                  <m:oMath xmlns:m="http://schemas.openxmlformats.org/officeDocument/2006/math">
                    <m:r>
                      <m:rPr>
                        <m:nor/>
                      </m:rPr>
                      <a:rPr lang="en-US" sz="2000" i="1" dirty="0" smtClean="0">
                        <a:latin typeface="Cambria Math" panose="02040503050406030204" pitchFamily="18" charset="0"/>
                        <a:cs typeface="Arial" panose="020B0604020202020204" pitchFamily="34" charset="0"/>
                      </a:rPr>
                      <m:t>p</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value</m:t>
                    </m:r>
                    <m:r>
                      <a:rPr lang="en-US" sz="2000" b="0" i="1" dirty="0" smtClean="0">
                        <a:latin typeface="Cambria Math" panose="02040503050406030204" pitchFamily="18" charset="0"/>
                        <a:ea typeface="Cambria Math" panose="02040503050406030204" pitchFamily="18" charset="0"/>
                        <a:cs typeface="Arial" panose="020B0604020202020204" pitchFamily="34" charset="0"/>
                      </a:rPr>
                      <m:t>=0.000≤0.01=</m:t>
                    </m:r>
                    <m:r>
                      <a:rPr lang="en-US" sz="2000" i="1" dirty="0" smtClean="0">
                        <a:latin typeface="Cambria Math" panose="02040503050406030204" pitchFamily="18" charset="0"/>
                        <a:ea typeface="Cambria Math" panose="02040503050406030204" pitchFamily="18" charset="0"/>
                        <a:cs typeface="Arial" panose="020B0604020202020204" pitchFamily="34" charset="0"/>
                      </a:rPr>
                      <m:t>𝛼</m:t>
                    </m:r>
                  </m:oMath>
                </a14:m>
                <a:r>
                  <a:rPr lang="en-US" sz="2000" dirty="0">
                    <a:latin typeface="Arial" panose="020B0604020202020204" pitchFamily="34" charset="0"/>
                    <a:cs typeface="Arial" panose="020B0604020202020204" pitchFamily="34" charset="0"/>
                  </a:rPr>
                  <a:t>. </a:t>
                </a:r>
                <a:r>
                  <a:rPr lang="en-US" sz="2000" dirty="0"/>
                  <a:t>Reject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0</m:t>
                        </m:r>
                      </m:sub>
                    </m:sSub>
                  </m:oMath>
                </a14:m>
                <a:endParaRPr lang="en-US" sz="2000" dirty="0">
                  <a:latin typeface="Arial" panose="020B0604020202020204" pitchFamily="34" charset="0"/>
                  <a:cs typeface="Arial" panose="020B0604020202020204" pitchFamily="34" charset="0"/>
                </a:endParaRPr>
              </a:p>
              <a:p>
                <a:pPr marL="914400">
                  <a:spcBef>
                    <a:spcPts val="600"/>
                  </a:spcBef>
                  <a:spcAft>
                    <a:spcPts val="0"/>
                  </a:spcAft>
                  <a:tabLst>
                    <a:tab pos="3941763" algn="l"/>
                  </a:tabLst>
                </a:pPr>
                <a:r>
                  <a:rPr lang="en-US" sz="2000" dirty="0">
                    <a:latin typeface="Arial" panose="020B0604020202020204" pitchFamily="34" charset="0"/>
                    <a:cs typeface="Arial" panose="020B0604020202020204" pitchFamily="34" charset="0"/>
                  </a:rPr>
                  <a:t>Critical value approach: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𝐹</m:t>
                    </m:r>
                    <m:r>
                      <a:rPr lang="en-US" sz="2000" b="0" i="1" smtClean="0">
                        <a:latin typeface="Cambria Math" panose="02040503050406030204" pitchFamily="18" charset="0"/>
                        <a:ea typeface="Cambria Math" panose="02040503050406030204" pitchFamily="18" charset="0"/>
                        <a:cs typeface="Arial" panose="020B0604020202020204" pitchFamily="34" charset="0"/>
                      </a:rPr>
                      <m:t>=32.88</m:t>
                    </m:r>
                    <m:r>
                      <a:rPr lang="en-US" sz="200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𝐹</m:t>
                        </m:r>
                      </m:e>
                      <m:sub>
                        <m:r>
                          <a:rPr lang="en-US" sz="2000" b="0" i="1" smtClean="0">
                            <a:latin typeface="Cambria Math" panose="02040503050406030204" pitchFamily="18" charset="0"/>
                            <a:ea typeface="Cambria Math" panose="02040503050406030204" pitchFamily="18" charset="0"/>
                            <a:cs typeface="Arial" panose="020B0604020202020204" pitchFamily="34" charset="0"/>
                          </a:rPr>
                          <m:t>.01</m:t>
                        </m:r>
                      </m:sub>
                    </m:sSub>
                    <m:r>
                      <a:rPr lang="en-US" sz="2000" b="0" i="1" smtClean="0">
                        <a:latin typeface="Cambria Math" panose="02040503050406030204" pitchFamily="18" charset="0"/>
                        <a:ea typeface="Cambria Math" panose="02040503050406030204" pitchFamily="18" charset="0"/>
                        <a:cs typeface="Arial" panose="020B0604020202020204" pitchFamily="34" charset="0"/>
                      </a:rPr>
                      <m:t>=9.55</m:t>
                    </m:r>
                  </m:oMath>
                </a14:m>
                <a:r>
                  <a:rPr lang="en-US" sz="2000" dirty="0">
                    <a:latin typeface="Arial" panose="020B0604020202020204" pitchFamily="34" charset="0"/>
                    <a:cs typeface="Arial" panose="020B0604020202020204" pitchFamily="34" charset="0"/>
                  </a:rPr>
                  <a:t>. </a:t>
                </a:r>
                <a:r>
                  <a:rPr lang="en-US" sz="2000" dirty="0"/>
                  <a:t>Reject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0</m:t>
                        </m:r>
                      </m:sub>
                    </m:sSub>
                  </m:oMath>
                </a14:m>
                <a:endParaRPr lang="en-US" sz="2000" dirty="0">
                  <a:latin typeface="Arial" panose="020B0604020202020204" pitchFamily="34" charset="0"/>
                  <a:cs typeface="Arial" panose="020B0604020202020204" pitchFamily="34" charset="0"/>
                </a:endParaRPr>
              </a:p>
              <a:p>
                <a:pPr>
                  <a:spcBef>
                    <a:spcPts val="600"/>
                  </a:spcBef>
                  <a:spcAft>
                    <a:spcPts val="0"/>
                  </a:spcAft>
                  <a:tabLst>
                    <a:tab pos="3941763" algn="l"/>
                  </a:tabLst>
                </a:pPr>
                <a:r>
                  <a:rPr lang="en-US" sz="2000" dirty="0">
                    <a:latin typeface="Arial" panose="020B0604020202020204" pitchFamily="34" charset="0"/>
                    <a:cs typeface="Arial" panose="020B0604020202020204" pitchFamily="34" charset="0"/>
                  </a:rPr>
                  <a:t>We conclude that a significant relationship is present between travel time (𝑦) and the two independent variables, miles traveled </a:t>
                </a:r>
                <a:r>
                  <a:rPr lang="en-US" sz="2000" dirty="0"/>
                  <a:t>(</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𝑥</m:t>
                        </m:r>
                      </m:e>
                      <m:sub>
                        <m:r>
                          <a:rPr lang="en-US" sz="2000" i="1">
                            <a:latin typeface="Cambria Math" panose="02040503050406030204" pitchFamily="18" charset="0"/>
                            <a:cs typeface="Arial" panose="020B0604020202020204" pitchFamily="34" charset="0"/>
                          </a:rPr>
                          <m:t>1</m:t>
                        </m:r>
                      </m:sub>
                    </m:sSub>
                  </m:oMath>
                </a14:m>
                <a:r>
                  <a:rPr lang="en-US" sz="2000" dirty="0"/>
                  <a:t>) and number of deliveries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𝑥</m:t>
                        </m:r>
                      </m:e>
                      <m:sub>
                        <m:r>
                          <a:rPr lang="en-US" sz="2000" b="0" i="1" smtClean="0">
                            <a:latin typeface="Cambria Math" panose="02040503050406030204" pitchFamily="18" charset="0"/>
                            <a:cs typeface="Arial" panose="020B0604020202020204" pitchFamily="34" charset="0"/>
                          </a:rPr>
                          <m:t>2</m:t>
                        </m:r>
                      </m:sub>
                    </m:sSub>
                  </m:oMath>
                </a14:m>
                <a:r>
                  <a:rPr lang="en-US" sz="2000" dirty="0"/>
                  <a:t>) </a:t>
                </a:r>
                <a:r>
                  <a:rPr lang="en-US" sz="2000" dirty="0">
                    <a:latin typeface="Arial" panose="020B0604020202020204" pitchFamily="34" charset="0"/>
                    <a:cs typeface="Arial" panose="020B0604020202020204" pitchFamily="34" charset="0"/>
                  </a:rPr>
                  <a:t>.</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699496" y="1226416"/>
                <a:ext cx="10781737" cy="4488584"/>
              </a:xfrm>
              <a:blipFill>
                <a:blip r:embed="rId3"/>
                <a:stretch>
                  <a:fillRect l="-1471" t="-1764" b="-2714"/>
                </a:stretch>
              </a:blipFill>
            </p:spPr>
            <p:txBody>
              <a:bodyPr/>
              <a:lstStyle/>
              <a:p>
                <a:r>
                  <a:rPr lang="en-US">
                    <a:noFill/>
                  </a:rPr>
                  <a:t> </a:t>
                </a:r>
              </a:p>
            </p:txBody>
          </p:sp>
        </mc:Fallback>
      </mc:AlternateContent>
    </p:spTree>
    <p:extLst>
      <p:ext uri="{BB962C8B-B14F-4D97-AF65-F5344CB8AC3E}">
        <p14:creationId xmlns:p14="http://schemas.microsoft.com/office/powerpoint/2010/main" val="216288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15.5 Estimate of </a:t>
                </a:r>
                <a14:m>
                  <m:oMath xmlns:m="http://schemas.openxmlformats.org/officeDocument/2006/math">
                    <m:sSup>
                      <m:sSupPr>
                        <m:ctrlPr>
                          <a:rPr lang="en-US" i="1" smtClean="0">
                            <a:latin typeface="Cambria Math" panose="02040503050406030204" pitchFamily="18" charset="0"/>
                            <a:cs typeface="Arial" panose="020B0604020202020204" pitchFamily="34" charset="0"/>
                          </a:rPr>
                        </m:ctrlPr>
                      </m:sSupPr>
                      <m:e>
                        <m:r>
                          <a:rPr lang="en-US" b="1" i="1" smtClean="0">
                            <a:latin typeface="Cambria Math" panose="02040503050406030204" pitchFamily="18" charset="0"/>
                            <a:ea typeface="Cambria Math" panose="02040503050406030204" pitchFamily="18" charset="0"/>
                            <a:cs typeface="Arial" panose="020B0604020202020204" pitchFamily="34" charset="0"/>
                          </a:rPr>
                          <m:t>𝝈</m:t>
                        </m:r>
                      </m:e>
                      <m:sup>
                        <m:r>
                          <a:rPr lang="en-US" b="1" i="1" smtClean="0">
                            <a:latin typeface="Cambria Math" panose="02040503050406030204" pitchFamily="18" charset="0"/>
                            <a:cs typeface="Arial" panose="020B0604020202020204" pitchFamily="34" charset="0"/>
                          </a:rPr>
                          <m:t>𝟐</m:t>
                        </m:r>
                      </m:sup>
                    </m:sSup>
                  </m:oMath>
                </a14:m>
                <a:r>
                  <a:rPr lang="en-US" i="1" dirty="0"/>
                  <a:t> </a:t>
                </a:r>
                <a:r>
                  <a:rPr lang="en-US" dirty="0"/>
                  <a:t>in Multiple Regression</a:t>
                </a:r>
              </a:p>
            </p:txBody>
          </p:sp>
        </mc:Choice>
        <mc:Fallback xmlns="">
          <p:sp>
            <p:nvSpPr>
              <p:cNvPr id="2" name="Title 1">
                <a:extLst>
                  <a:ext uri="{FF2B5EF4-FFF2-40B4-BE49-F238E27FC236}">
                    <a16:creationId xmlns:a16="http://schemas.microsoft.com/office/drawing/2014/main" id="{B09ED7BF-C012-4BEC-8F65-9E08ED0C7F38}"/>
                  </a:ext>
                </a:extLst>
              </p:cNvPr>
              <p:cNvSpPr>
                <a:spLocks noGrp="1" noRot="1" noChangeAspect="1" noMove="1" noResize="1" noEditPoints="1" noAdjustHandles="1" noChangeArrowheads="1" noChangeShapeType="1" noTextEdit="1"/>
              </p:cNvSpPr>
              <p:nvPr>
                <p:ph type="title"/>
              </p:nvPr>
            </p:nvSpPr>
            <p:spPr>
              <a:blipFill>
                <a:blip r:embed="rId3"/>
                <a:stretch>
                  <a:fillRect t="-26364"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05131" y="1317092"/>
                <a:ext cx="10781737" cy="4346517"/>
              </a:xfrm>
            </p:spPr>
            <p:txBody>
              <a:bodyPr/>
              <a:lstStyle/>
              <a:p>
                <a:pPr>
                  <a:spcBef>
                    <a:spcPts val="600"/>
                  </a:spcBef>
                  <a:spcAft>
                    <a:spcPts val="0"/>
                  </a:spcAft>
                </a:pPr>
                <a:r>
                  <a:rPr lang="en-US" sz="2000" dirty="0">
                    <a:latin typeface="Arial" panose="020B0604020202020204" pitchFamily="34" charset="0"/>
                    <a:cs typeface="Arial" panose="020B0604020202020204" pitchFamily="34" charset="0"/>
                  </a:rPr>
                  <a:t>From the assumptions on the error term, we concluded that </a:t>
                </a:r>
                <a14:m>
                  <m:oMath xmlns:m="http://schemas.openxmlformats.org/officeDocument/2006/math">
                    <m:sSup>
                      <m:sSupPr>
                        <m:ctrlPr>
                          <a:rPr lang="en-US" sz="2000" i="1" smtClean="0">
                            <a:latin typeface="Cambria Math" panose="02040503050406030204" pitchFamily="18" charset="0"/>
                            <a:cs typeface="Arial" panose="020B0604020202020204" pitchFamily="34" charset="0"/>
                          </a:rPr>
                        </m:ctrlPr>
                      </m:sSupPr>
                      <m:e>
                        <m:r>
                          <a:rPr lang="en-US" sz="2000" i="1" smtClean="0">
                            <a:latin typeface="Cambria Math" panose="02040503050406030204" pitchFamily="18" charset="0"/>
                            <a:ea typeface="Cambria Math" panose="02040503050406030204" pitchFamily="18" charset="0"/>
                            <a:cs typeface="Arial" panose="020B0604020202020204" pitchFamily="34" charset="0"/>
                          </a:rPr>
                          <m:t>𝜎</m:t>
                        </m:r>
                      </m:e>
                      <m:sup>
                        <m:r>
                          <a:rPr lang="en-US" sz="2000" b="0" i="1" smtClean="0">
                            <a:latin typeface="Cambria Math" panose="02040503050406030204" pitchFamily="18" charset="0"/>
                            <a:cs typeface="Arial" panose="020B0604020202020204" pitchFamily="34" charset="0"/>
                          </a:rPr>
                          <m:t>2</m:t>
                        </m:r>
                      </m:sup>
                    </m:sSup>
                  </m:oMath>
                </a14:m>
                <a:r>
                  <a:rPr lang="en-US" sz="2000" dirty="0">
                    <a:latin typeface="Arial" panose="020B0604020202020204" pitchFamily="34" charset="0"/>
                    <a:cs typeface="Arial" panose="020B0604020202020204" pitchFamily="34" charset="0"/>
                  </a:rPr>
                  <a:t>, the variance of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latin typeface="Arial" panose="020B0604020202020204" pitchFamily="34" charset="0"/>
                    <a:cs typeface="Arial" panose="020B0604020202020204" pitchFamily="34" charset="0"/>
                  </a:rPr>
                  <a:t>, also represents the variance of the residuals; that is, the deviations </a:t>
                </a:r>
                <a:r>
                  <a:rPr lang="en-US" sz="2000" dirty="0">
                    <a:cs typeface="Arial" panose="020B0604020202020204" pitchFamily="34" charset="0"/>
                  </a:rPr>
                  <a:t>deviation between </a:t>
                </a:r>
                <a:r>
                  <a:rPr lang="en-US" sz="2000" dirty="0">
                    <a:latin typeface="Arial" panose="020B0604020202020204" pitchFamily="34" charset="0"/>
                    <a:cs typeface="Arial" panose="020B0604020202020204" pitchFamily="34" charset="0"/>
                  </a:rPr>
                  <a:t>𝑦</a:t>
                </a:r>
                <a:r>
                  <a:rPr lang="en-US" sz="2000" dirty="0">
                    <a:cs typeface="Arial" panose="020B0604020202020204" pitchFamily="34" charset="0"/>
                  </a:rPr>
                  <a:t> and </a:t>
                </a:r>
                <a14:m>
                  <m:oMath xmlns:m="http://schemas.openxmlformats.org/officeDocument/2006/math">
                    <m:r>
                      <a:rPr lang="en-US" sz="2000" i="1">
                        <a:latin typeface="Cambria Math" panose="02040503050406030204" pitchFamily="18" charset="0"/>
                      </a:rPr>
                      <m:t>𝐸</m:t>
                    </m:r>
                    <m:d>
                      <m:dPr>
                        <m:ctrlPr>
                          <a:rPr lang="en-US" sz="2000" i="1">
                            <a:latin typeface="Cambria Math" panose="02040503050406030204" pitchFamily="18" charset="0"/>
                          </a:rPr>
                        </m:ctrlPr>
                      </m:dPr>
                      <m:e>
                        <m:r>
                          <a:rPr lang="en-US" sz="2000" i="1">
                            <a:latin typeface="Cambria Math" panose="02040503050406030204" pitchFamily="18" charset="0"/>
                          </a:rPr>
                          <m:t>𝑦</m:t>
                        </m:r>
                      </m:e>
                    </m:d>
                  </m:oMath>
                </a14:m>
                <a:r>
                  <a:rPr lang="en-US" sz="2000" dirty="0">
                    <a:latin typeface="Arial" panose="020B0604020202020204" pitchFamily="34" charset="0"/>
                    <a:cs typeface="Arial" panose="020B0604020202020204" pitchFamily="34" charset="0"/>
                  </a:rPr>
                  <a:t>.</a:t>
                </a:r>
              </a:p>
              <a:p>
                <a:pPr>
                  <a:spcBef>
                    <a:spcPts val="600"/>
                  </a:spcBef>
                  <a:spcAft>
                    <a:spcPts val="600"/>
                  </a:spcAft>
                </a:pPr>
                <a:r>
                  <a:rPr lang="en-US" sz="2000" dirty="0">
                    <a:latin typeface="Arial" panose="020B0604020202020204" pitchFamily="34" charset="0"/>
                    <a:cs typeface="Arial" panose="020B0604020202020204" pitchFamily="34" charset="0"/>
                  </a:rPr>
                  <a:t>In multiple regression, the </a:t>
                </a:r>
                <a:r>
                  <a:rPr lang="en-US" sz="2000" b="1" dirty="0">
                    <a:latin typeface="Arial" panose="020B0604020202020204" pitchFamily="34" charset="0"/>
                    <a:cs typeface="Arial" panose="020B0604020202020204" pitchFamily="34" charset="0"/>
                  </a:rPr>
                  <a:t>mean square error </a:t>
                </a:r>
                <a:r>
                  <a:rPr lang="en-US" sz="2000" dirty="0">
                    <a:latin typeface="Arial" panose="020B0604020202020204" pitchFamily="34" charset="0"/>
                    <a:cs typeface="Arial" panose="020B0604020202020204" pitchFamily="34" charset="0"/>
                  </a:rPr>
                  <a:t>(MSE) also provides an unbiased estimate of </a:t>
                </a:r>
                <a14:m>
                  <m:oMath xmlns:m="http://schemas.openxmlformats.org/officeDocument/2006/math">
                    <m:sSup>
                      <m:sSupPr>
                        <m:ctrlPr>
                          <a:rPr lang="en-US" sz="2000" i="1" smtClean="0">
                            <a:latin typeface="Cambria Math" panose="02040503050406030204" pitchFamily="18" charset="0"/>
                            <a:cs typeface="Arial" panose="020B0604020202020204" pitchFamily="34" charset="0"/>
                          </a:rPr>
                        </m:ctrlPr>
                      </m:sSupPr>
                      <m:e>
                        <m:r>
                          <a:rPr lang="en-US" sz="2000" i="1" smtClean="0">
                            <a:latin typeface="Cambria Math" panose="02040503050406030204" pitchFamily="18" charset="0"/>
                            <a:ea typeface="Cambria Math" panose="02040503050406030204" pitchFamily="18" charset="0"/>
                            <a:cs typeface="Arial" panose="020B0604020202020204" pitchFamily="34" charset="0"/>
                          </a:rPr>
                          <m:t>𝜎</m:t>
                        </m:r>
                      </m:e>
                      <m:sup>
                        <m:r>
                          <a:rPr lang="en-US" sz="2000" b="0" i="1" smtClean="0">
                            <a:latin typeface="Cambria Math" panose="02040503050406030204" pitchFamily="18" charset="0"/>
                            <a:cs typeface="Arial" panose="020B0604020202020204" pitchFamily="34" charset="0"/>
                          </a:rPr>
                          <m:t>2</m:t>
                        </m:r>
                      </m:sup>
                    </m:sSup>
                  </m:oMath>
                </a14:m>
                <a:r>
                  <a:rPr lang="en-US" sz="2000" dirty="0">
                    <a:latin typeface="Arial" panose="020B0604020202020204" pitchFamily="34" charset="0"/>
                    <a:cs typeface="Arial" panose="020B0604020202020204" pitchFamily="34" charset="0"/>
                  </a:rPr>
                  <a:t>.</a:t>
                </a:r>
              </a:p>
              <a:p>
                <a:pPr marL="914400">
                  <a:spcBef>
                    <a:spcPts val="600"/>
                  </a:spcBef>
                  <a:spcAft>
                    <a:spcPts val="600"/>
                  </a:spcAft>
                </a:pPr>
                <a14:m>
                  <m:oMathPara xmlns:m="http://schemas.openxmlformats.org/officeDocument/2006/math">
                    <m:oMathParaPr>
                      <m:jc m:val="left"/>
                    </m:oMathParaPr>
                    <m:oMath xmlns:m="http://schemas.openxmlformats.org/officeDocument/2006/math">
                      <m:sSup>
                        <m:sSupPr>
                          <m:ctrlPr>
                            <a:rPr lang="en-US" sz="2000" b="1" i="1" smtClean="0">
                              <a:latin typeface="Cambria Math" panose="02040503050406030204" pitchFamily="18" charset="0"/>
                              <a:cs typeface="Arial" panose="020B0604020202020204" pitchFamily="34" charset="0"/>
                            </a:rPr>
                          </m:ctrlPr>
                        </m:sSupPr>
                        <m:e>
                          <m:r>
                            <a:rPr lang="en-US" sz="2000" b="1" i="1" smtClean="0">
                              <a:latin typeface="Cambria Math" panose="02040503050406030204" pitchFamily="18" charset="0"/>
                              <a:cs typeface="Arial" panose="020B0604020202020204" pitchFamily="34" charset="0"/>
                            </a:rPr>
                            <m:t>𝒔</m:t>
                          </m:r>
                        </m:e>
                        <m:sup>
                          <m:r>
                            <a:rPr lang="en-US" sz="2000" b="1" i="1" smtClean="0">
                              <a:latin typeface="Cambria Math" panose="02040503050406030204" pitchFamily="18" charset="0"/>
                              <a:cs typeface="Arial" panose="020B0604020202020204" pitchFamily="34" charset="0"/>
                            </a:rPr>
                            <m:t>𝟐</m:t>
                          </m:r>
                        </m:sup>
                      </m:sSup>
                      <m:r>
                        <a:rPr lang="en-US" sz="2000" b="1" i="1">
                          <a:latin typeface="Cambria Math" panose="02040503050406030204" pitchFamily="18" charset="0"/>
                          <a:cs typeface="Arial" panose="020B0604020202020204" pitchFamily="34" charset="0"/>
                        </a:rPr>
                        <m:t>=</m:t>
                      </m:r>
                      <m:r>
                        <a:rPr lang="en-US" sz="2000" b="1" i="1">
                          <a:latin typeface="Cambria Math" panose="02040503050406030204" pitchFamily="18" charset="0"/>
                          <a:cs typeface="Arial" panose="020B0604020202020204" pitchFamily="34" charset="0"/>
                        </a:rPr>
                        <m:t>𝑴𝑺𝑬</m:t>
                      </m:r>
                      <m:r>
                        <a:rPr lang="en-US" sz="2000" b="1" i="1">
                          <a:latin typeface="Cambria Math" panose="02040503050406030204" pitchFamily="18" charset="0"/>
                          <a:cs typeface="Arial" panose="020B0604020202020204" pitchFamily="34" charset="0"/>
                        </a:rPr>
                        <m:t>=</m:t>
                      </m:r>
                      <m:r>
                        <a:rPr lang="en-US" sz="2000" b="1" i="1">
                          <a:latin typeface="Cambria Math" panose="02040503050406030204" pitchFamily="18" charset="0"/>
                          <a:cs typeface="Arial" panose="020B0604020202020204" pitchFamily="34" charset="0"/>
                        </a:rPr>
                        <m:t>𝑺𝑺𝑬</m:t>
                      </m:r>
                      <m:r>
                        <a:rPr lang="en-US" sz="2000" b="1" i="1" smtClean="0">
                          <a:latin typeface="Cambria Math" panose="02040503050406030204" pitchFamily="18" charset="0"/>
                          <a:cs typeface="Arial" panose="020B0604020202020204" pitchFamily="34" charset="0"/>
                        </a:rPr>
                        <m:t>/(</m:t>
                      </m:r>
                      <m:r>
                        <a:rPr lang="en-US" sz="2000" b="1" i="1" smtClean="0">
                          <a:latin typeface="Cambria Math" panose="02040503050406030204" pitchFamily="18" charset="0"/>
                          <a:cs typeface="Arial" panose="020B0604020202020204" pitchFamily="34" charset="0"/>
                        </a:rPr>
                        <m:t>𝒏</m:t>
                      </m:r>
                      <m:r>
                        <a:rPr lang="en-US" sz="2000" b="1" i="1" smtClean="0">
                          <a:latin typeface="Cambria Math" panose="02040503050406030204" pitchFamily="18" charset="0"/>
                          <a:cs typeface="Arial" panose="020B0604020202020204" pitchFamily="34" charset="0"/>
                        </a:rPr>
                        <m:t>−</m:t>
                      </m:r>
                      <m:r>
                        <a:rPr lang="en-US" sz="2000" b="1" i="1" smtClean="0">
                          <a:latin typeface="Cambria Math" panose="02040503050406030204" pitchFamily="18" charset="0"/>
                          <a:cs typeface="Arial" panose="020B0604020202020204" pitchFamily="34" charset="0"/>
                        </a:rPr>
                        <m:t>𝒑</m:t>
                      </m:r>
                      <m:r>
                        <a:rPr lang="en-US" sz="2000" b="1" i="1" smtClean="0">
                          <a:latin typeface="Cambria Math" panose="02040503050406030204" pitchFamily="18" charset="0"/>
                          <a:cs typeface="Arial" panose="020B0604020202020204" pitchFamily="34" charset="0"/>
                        </a:rPr>
                        <m:t>−</m:t>
                      </m:r>
                      <m:r>
                        <a:rPr lang="en-US" sz="2000" b="1" i="1" smtClean="0">
                          <a:latin typeface="Cambria Math" panose="02040503050406030204" pitchFamily="18" charset="0"/>
                          <a:cs typeface="Arial" panose="020B0604020202020204" pitchFamily="34" charset="0"/>
                        </a:rPr>
                        <m:t>𝟏</m:t>
                      </m:r>
                      <m:r>
                        <a:rPr lang="en-US" sz="2000" b="1" i="1" smtClean="0">
                          <a:latin typeface="Cambria Math" panose="02040503050406030204" pitchFamily="18" charset="0"/>
                          <a:cs typeface="Arial" panose="020B0604020202020204" pitchFamily="34" charset="0"/>
                        </a:rPr>
                        <m:t>)</m:t>
                      </m:r>
                    </m:oMath>
                  </m:oMathPara>
                </a14:m>
                <a:endParaRPr lang="en-US" sz="2000" b="1" dirty="0">
                  <a:latin typeface="Arial" panose="020B0604020202020204" pitchFamily="34" charset="0"/>
                  <a:cs typeface="Arial" panose="020B0604020202020204" pitchFamily="34" charset="0"/>
                </a:endParaRPr>
              </a:p>
              <a:p>
                <a:pPr>
                  <a:spcBef>
                    <a:spcPts val="600"/>
                  </a:spcBef>
                  <a:spcAft>
                    <a:spcPts val="600"/>
                  </a:spcAft>
                </a:pPr>
                <a:r>
                  <a:rPr lang="en-US" sz="2000" dirty="0">
                    <a:latin typeface="Arial" panose="020B0604020202020204" pitchFamily="34" charset="0"/>
                    <a:cs typeface="Arial" panose="020B0604020202020204" pitchFamily="34" charset="0"/>
                  </a:rPr>
                  <a:t>To estimate the standard deviation of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latin typeface="Arial" panose="020B0604020202020204" pitchFamily="34" charset="0"/>
                    <a:cs typeface="Arial" panose="020B0604020202020204" pitchFamily="34" charset="0"/>
                  </a:rPr>
                  <a:t>, we take the square root of </a:t>
                </a:r>
                <a14:m>
                  <m:oMath xmlns:m="http://schemas.openxmlformats.org/officeDocument/2006/math">
                    <m:sSup>
                      <m:sSupPr>
                        <m:ctrlPr>
                          <a:rPr lang="en-US" sz="2000" i="1" smtClean="0">
                            <a:latin typeface="Cambria Math" panose="02040503050406030204" pitchFamily="18" charset="0"/>
                            <a:cs typeface="Arial" panose="020B0604020202020204" pitchFamily="34" charset="0"/>
                          </a:rPr>
                        </m:ctrlPr>
                      </m:sSupPr>
                      <m:e>
                        <m:r>
                          <a:rPr lang="en-US" sz="2000" b="0" i="1" smtClean="0">
                            <a:latin typeface="Cambria Math" panose="02040503050406030204" pitchFamily="18" charset="0"/>
                            <a:cs typeface="Arial" panose="020B0604020202020204" pitchFamily="34" charset="0"/>
                          </a:rPr>
                          <m:t>𝑠</m:t>
                        </m:r>
                      </m:e>
                      <m:sup>
                        <m:r>
                          <a:rPr lang="en-US" sz="2000" b="0" i="1" smtClean="0">
                            <a:latin typeface="Cambria Math" panose="02040503050406030204" pitchFamily="18" charset="0"/>
                            <a:cs typeface="Arial" panose="020B0604020202020204" pitchFamily="34" charset="0"/>
                          </a:rPr>
                          <m:t>2</m:t>
                        </m:r>
                      </m:sup>
                    </m:sSup>
                  </m:oMath>
                </a14:m>
                <a:r>
                  <a:rPr lang="en-US" sz="2000" dirty="0">
                    <a:latin typeface="Arial" panose="020B0604020202020204" pitchFamily="34" charset="0"/>
                    <a:cs typeface="Arial" panose="020B0604020202020204" pitchFamily="34" charset="0"/>
                  </a:rPr>
                  <a:t>. The resulting value, </a:t>
                </a:r>
                <a:r>
                  <a:rPr lang="en-US" sz="2000" i="1" dirty="0">
                    <a:latin typeface="Arial" panose="020B0604020202020204" pitchFamily="34" charset="0"/>
                    <a:cs typeface="Arial" panose="020B0604020202020204" pitchFamily="34" charset="0"/>
                  </a:rPr>
                  <a:t>s</a:t>
                </a:r>
                <a:r>
                  <a:rPr lang="en-US" sz="2000" dirty="0">
                    <a:latin typeface="Arial" panose="020B0604020202020204" pitchFamily="34" charset="0"/>
                    <a:cs typeface="Arial" panose="020B0604020202020204" pitchFamily="34" charset="0"/>
                  </a:rPr>
                  <a:t>, is referred to as the </a:t>
                </a:r>
                <a:r>
                  <a:rPr lang="en-US" sz="2000" b="1" dirty="0">
                    <a:latin typeface="Arial" panose="020B0604020202020204" pitchFamily="34" charset="0"/>
                    <a:cs typeface="Arial" panose="020B0604020202020204" pitchFamily="34" charset="0"/>
                  </a:rPr>
                  <a:t>standard error of the estimate</a:t>
                </a:r>
                <a:r>
                  <a:rPr lang="en-US" sz="2000" dirty="0">
                    <a:latin typeface="Arial" panose="020B0604020202020204" pitchFamily="34" charset="0"/>
                    <a:cs typeface="Arial" panose="020B0604020202020204" pitchFamily="34" charset="0"/>
                  </a:rPr>
                  <a:t>.</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Arial" panose="020B0604020202020204" pitchFamily="34" charset="0"/>
                        </a:rPr>
                        <m:t>𝒔</m:t>
                      </m:r>
                      <m:r>
                        <a:rPr lang="en-US" sz="2000" b="1" i="1" smtClean="0">
                          <a:latin typeface="Cambria Math" panose="02040503050406030204" pitchFamily="18" charset="0"/>
                          <a:cs typeface="Arial" panose="020B0604020202020204" pitchFamily="34" charset="0"/>
                        </a:rPr>
                        <m:t>=</m:t>
                      </m:r>
                      <m:rad>
                        <m:radPr>
                          <m:degHide m:val="on"/>
                          <m:ctrlPr>
                            <a:rPr lang="en-US" sz="2000" b="1" i="1" smtClean="0">
                              <a:latin typeface="Cambria Math" panose="02040503050406030204" pitchFamily="18" charset="0"/>
                              <a:cs typeface="Arial" panose="020B0604020202020204" pitchFamily="34" charset="0"/>
                            </a:rPr>
                          </m:ctrlPr>
                        </m:radPr>
                        <m:deg/>
                        <m:e>
                          <m:r>
                            <a:rPr lang="en-US" sz="2000" b="1" i="1" smtClean="0">
                              <a:latin typeface="Cambria Math" panose="02040503050406030204" pitchFamily="18" charset="0"/>
                              <a:cs typeface="Arial" panose="020B0604020202020204" pitchFamily="34" charset="0"/>
                            </a:rPr>
                            <m:t>𝑴𝑺𝑬</m:t>
                          </m:r>
                        </m:e>
                      </m:rad>
                      <m:r>
                        <a:rPr lang="en-US" sz="2000" b="1" i="1" smtClean="0">
                          <a:latin typeface="Cambria Math" panose="02040503050406030204" pitchFamily="18" charset="0"/>
                          <a:cs typeface="Arial" panose="020B0604020202020204" pitchFamily="34" charset="0"/>
                        </a:rPr>
                        <m:t>=</m:t>
                      </m:r>
                      <m:rad>
                        <m:radPr>
                          <m:degHide m:val="on"/>
                          <m:ctrlPr>
                            <a:rPr lang="en-US" sz="2000" b="1" i="1" smtClean="0">
                              <a:latin typeface="Cambria Math" panose="02040503050406030204" pitchFamily="18" charset="0"/>
                              <a:cs typeface="Arial" panose="020B0604020202020204" pitchFamily="34" charset="0"/>
                            </a:rPr>
                          </m:ctrlPr>
                        </m:radPr>
                        <m:deg/>
                        <m:e>
                          <m:r>
                            <a:rPr lang="en-US" sz="2000" b="1" i="1">
                              <a:latin typeface="Cambria Math" panose="02040503050406030204" pitchFamily="18" charset="0"/>
                              <a:cs typeface="Arial" panose="020B0604020202020204" pitchFamily="34" charset="0"/>
                            </a:rPr>
                            <m:t>𝑺𝑺𝑬</m:t>
                          </m:r>
                          <m:r>
                            <a:rPr lang="en-US" sz="2000" b="1" i="1">
                              <a:latin typeface="Cambria Math" panose="02040503050406030204" pitchFamily="18" charset="0"/>
                              <a:cs typeface="Arial" panose="020B0604020202020204" pitchFamily="34" charset="0"/>
                            </a:rPr>
                            <m:t>/(</m:t>
                          </m:r>
                          <m:r>
                            <a:rPr lang="en-US" sz="2000" b="1" i="1">
                              <a:latin typeface="Cambria Math" panose="02040503050406030204" pitchFamily="18" charset="0"/>
                              <a:cs typeface="Arial" panose="020B0604020202020204" pitchFamily="34" charset="0"/>
                            </a:rPr>
                            <m:t>𝒏</m:t>
                          </m:r>
                          <m:r>
                            <a:rPr lang="en-US" sz="2000" b="1" i="1">
                              <a:latin typeface="Cambria Math" panose="02040503050406030204" pitchFamily="18" charset="0"/>
                              <a:cs typeface="Arial" panose="020B0604020202020204" pitchFamily="34" charset="0"/>
                            </a:rPr>
                            <m:t>−</m:t>
                          </m:r>
                          <m:r>
                            <a:rPr lang="en-US" sz="2000" b="1" i="1" smtClean="0">
                              <a:latin typeface="Cambria Math" panose="02040503050406030204" pitchFamily="18" charset="0"/>
                              <a:cs typeface="Arial" panose="020B0604020202020204" pitchFamily="34" charset="0"/>
                            </a:rPr>
                            <m:t>𝒑</m:t>
                          </m:r>
                          <m:r>
                            <a:rPr lang="en-US" sz="2000" b="1" i="1" smtClean="0">
                              <a:latin typeface="Cambria Math" panose="02040503050406030204" pitchFamily="18" charset="0"/>
                              <a:cs typeface="Arial" panose="020B0604020202020204" pitchFamily="34" charset="0"/>
                            </a:rPr>
                            <m:t>−</m:t>
                          </m:r>
                          <m:r>
                            <a:rPr lang="en-US" sz="2000" b="1" i="1" smtClean="0">
                              <a:latin typeface="Cambria Math" panose="02040503050406030204" pitchFamily="18" charset="0"/>
                              <a:cs typeface="Arial" panose="020B0604020202020204" pitchFamily="34" charset="0"/>
                            </a:rPr>
                            <m:t>𝟏</m:t>
                          </m:r>
                          <m:r>
                            <a:rPr lang="en-US" sz="2000" b="1" i="1">
                              <a:latin typeface="Cambria Math" panose="02040503050406030204" pitchFamily="18" charset="0"/>
                              <a:cs typeface="Arial" panose="020B0604020202020204" pitchFamily="34" charset="0"/>
                            </a:rPr>
                            <m:t>)</m:t>
                          </m:r>
                        </m:e>
                      </m:rad>
                    </m:oMath>
                  </m:oMathPara>
                </a14:m>
                <a:endParaRPr lang="en-US" sz="2000" b="1" dirty="0">
                  <a:latin typeface="Arial" panose="020B0604020202020204" pitchFamily="34" charset="0"/>
                  <a:cs typeface="Arial" panose="020B0604020202020204" pitchFamily="34" charset="0"/>
                </a:endParaRPr>
              </a:p>
              <a:p>
                <a:pPr>
                  <a:spcBef>
                    <a:spcPts val="600"/>
                  </a:spcBef>
                  <a:spcAft>
                    <a:spcPts val="600"/>
                  </a:spcAft>
                </a:pPr>
                <a:r>
                  <a:rPr lang="en-US" sz="2000" dirty="0">
                    <a:latin typeface="Arial" panose="020B0604020202020204" pitchFamily="34" charset="0"/>
                    <a:cs typeface="Arial" panose="020B0604020202020204" pitchFamily="34" charset="0"/>
                  </a:rPr>
                  <a:t>From the Butler Trucking multiple regression example computer output, we found </a:t>
                </a:r>
                <a14:m>
                  <m:oMath xmlns:m="http://schemas.openxmlformats.org/officeDocument/2006/math">
                    <m:r>
                      <m:rPr>
                        <m:sty m:val="p"/>
                      </m:rPr>
                      <a:rPr lang="en-US" sz="2000" b="0" i="0" dirty="0" smtClean="0">
                        <a:latin typeface="Cambria Math" panose="02040503050406030204" pitchFamily="18" charset="0"/>
                        <a:cs typeface="Arial" panose="020B0604020202020204" pitchFamily="34" charset="0"/>
                      </a:rPr>
                      <m:t>M</m:t>
                    </m:r>
                    <m:r>
                      <a:rPr lang="en-US" sz="2000" i="1" dirty="0" smtClean="0">
                        <a:latin typeface="Cambria Math" panose="02040503050406030204" pitchFamily="18" charset="0"/>
                        <a:cs typeface="Arial" panose="020B0604020202020204" pitchFamily="34" charset="0"/>
                      </a:rPr>
                      <m:t>𝑆𝐸</m:t>
                    </m:r>
                    <m:r>
                      <a:rPr lang="en-US" sz="2000" i="1" dirty="0" smtClean="0">
                        <a:latin typeface="Cambria Math" panose="02040503050406030204" pitchFamily="18" charset="0"/>
                        <a:cs typeface="Arial" panose="020B0604020202020204" pitchFamily="34" charset="0"/>
                      </a:rPr>
                      <m:t>=0.3285</m:t>
                    </m:r>
                  </m:oMath>
                </a14:m>
                <a:r>
                  <a:rPr lang="en-US" sz="2000" dirty="0">
                    <a:latin typeface="Arial" panose="020B0604020202020204" pitchFamily="34" charset="0"/>
                    <a:cs typeface="Arial" panose="020B0604020202020204" pitchFamily="34" charset="0"/>
                  </a:rPr>
                  <a:t>, Thus, we have</a:t>
                </a:r>
              </a:p>
              <a:p>
                <a:pPr marL="914400">
                  <a:spcBef>
                    <a:spcPts val="600"/>
                  </a:spcBef>
                  <a:spcAft>
                    <a:spcPts val="600"/>
                  </a:spcAft>
                </a:pPr>
                <a14:m>
                  <m:oMath xmlns:m="http://schemas.openxmlformats.org/officeDocument/2006/math">
                    <m:r>
                      <a:rPr lang="en-US" sz="2000" b="0" i="1" smtClean="0">
                        <a:latin typeface="Cambria Math" panose="02040503050406030204" pitchFamily="18" charset="0"/>
                        <a:cs typeface="Arial" panose="020B0604020202020204" pitchFamily="34" charset="0"/>
                      </a:rPr>
                      <m:t>𝑠</m:t>
                    </m:r>
                    <m:r>
                      <a:rPr lang="en-US" sz="2000" b="0" i="1" smtClean="0">
                        <a:latin typeface="Cambria Math" panose="02040503050406030204" pitchFamily="18" charset="0"/>
                        <a:cs typeface="Arial" panose="020B0604020202020204" pitchFamily="34" charset="0"/>
                      </a:rPr>
                      <m:t>=</m:t>
                    </m:r>
                    <m:rad>
                      <m:radPr>
                        <m:degHide m:val="on"/>
                        <m:ctrlPr>
                          <a:rPr lang="en-US" sz="2000" i="1" smtClean="0">
                            <a:latin typeface="Cambria Math" panose="02040503050406030204" pitchFamily="18" charset="0"/>
                            <a:cs typeface="Arial" panose="020B0604020202020204" pitchFamily="34" charset="0"/>
                          </a:rPr>
                        </m:ctrlPr>
                      </m:radPr>
                      <m:deg/>
                      <m:e>
                        <m:r>
                          <a:rPr lang="en-US" sz="2000" b="0" i="1" smtClean="0">
                            <a:latin typeface="Cambria Math" panose="02040503050406030204" pitchFamily="18" charset="0"/>
                            <a:cs typeface="Arial" panose="020B0604020202020204" pitchFamily="34" charset="0"/>
                          </a:rPr>
                          <m:t>𝑀𝑆𝐸</m:t>
                        </m:r>
                      </m:e>
                    </m:rad>
                    <m:r>
                      <a:rPr lang="en-US" sz="2000" b="0" i="1" smtClean="0">
                        <a:latin typeface="Cambria Math" panose="02040503050406030204" pitchFamily="18" charset="0"/>
                        <a:cs typeface="Arial" panose="020B0604020202020204" pitchFamily="34" charset="0"/>
                      </a:rPr>
                      <m:t>=</m:t>
                    </m:r>
                    <m:rad>
                      <m:radPr>
                        <m:degHide m:val="on"/>
                        <m:ctrlPr>
                          <a:rPr lang="en-US" sz="2000" b="0" i="1" smtClean="0">
                            <a:latin typeface="Cambria Math" panose="02040503050406030204" pitchFamily="18" charset="0"/>
                            <a:cs typeface="Arial" panose="020B0604020202020204" pitchFamily="34" charset="0"/>
                          </a:rPr>
                        </m:ctrlPr>
                      </m:radPr>
                      <m:deg/>
                      <m:e>
                        <m:r>
                          <a:rPr lang="en-US" sz="2000" b="0" i="1" smtClean="0">
                            <a:latin typeface="Cambria Math" panose="02040503050406030204" pitchFamily="18" charset="0"/>
                            <a:cs typeface="Arial" panose="020B0604020202020204" pitchFamily="34" charset="0"/>
                          </a:rPr>
                          <m:t>0.3285</m:t>
                        </m:r>
                      </m:e>
                    </m:rad>
                    <m:r>
                      <a:rPr lang="en-US" sz="2000" b="0" i="1" smtClean="0">
                        <a:latin typeface="Cambria Math" panose="02040503050406030204" pitchFamily="18" charset="0"/>
                        <a:cs typeface="Arial" panose="020B0604020202020204" pitchFamily="34" charset="0"/>
                      </a:rPr>
                      <m:t>=0.5731</m:t>
                    </m:r>
                  </m:oMath>
                </a14:m>
                <a:r>
                  <a:rPr lang="en-US" sz="2000" dirty="0">
                    <a:latin typeface="Arial" panose="020B0604020202020204" pitchFamily="34" charset="0"/>
                    <a:cs typeface="Arial" panose="020B0604020202020204" pitchFamily="34" charset="0"/>
                  </a:rPr>
                  <a:t> </a:t>
                </a:r>
              </a:p>
              <a:p>
                <a:pPr>
                  <a:spcBef>
                    <a:spcPts val="600"/>
                  </a:spcBef>
                  <a:spcAft>
                    <a:spcPts val="600"/>
                  </a:spcAft>
                </a:pPr>
                <a:r>
                  <a:rPr lang="en-US" sz="2000" dirty="0">
                    <a:latin typeface="Arial" panose="020B0604020202020204" pitchFamily="34" charset="0"/>
                    <a:cs typeface="Arial" panose="020B0604020202020204" pitchFamily="34" charset="0"/>
                  </a:rPr>
                  <a:t>Note that the value of the standard error of the estimate also appears in the computer output.</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05131" y="1317092"/>
                <a:ext cx="10781737" cy="4346517"/>
              </a:xfrm>
              <a:blipFill>
                <a:blip r:embed="rId4"/>
                <a:stretch>
                  <a:fillRect l="-1471" t="-1683" r="-1131" b="-2525"/>
                </a:stretch>
              </a:blipFill>
            </p:spPr>
            <p:txBody>
              <a:bodyPr/>
              <a:lstStyle/>
              <a:p>
                <a:r>
                  <a:rPr lang="en-US">
                    <a:noFill/>
                  </a:rPr>
                  <a:t> </a:t>
                </a:r>
              </a:p>
            </p:txBody>
          </p:sp>
        </mc:Fallback>
      </mc:AlternateContent>
    </p:spTree>
    <p:extLst>
      <p:ext uri="{BB962C8B-B14F-4D97-AF65-F5344CB8AC3E}">
        <p14:creationId xmlns:p14="http://schemas.microsoft.com/office/powerpoint/2010/main" val="32823535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CA8A8-69C6-C618-DB9F-6DA57A0C239B}"/>
              </a:ext>
            </a:extLst>
          </p:cNvPr>
          <p:cNvSpPr>
            <a:spLocks noGrp="1"/>
          </p:cNvSpPr>
          <p:nvPr>
            <p:ph type="title"/>
          </p:nvPr>
        </p:nvSpPr>
        <p:spPr>
          <a:xfrm>
            <a:off x="670037" y="365125"/>
            <a:ext cx="10857186" cy="672105"/>
          </a:xfrm>
        </p:spPr>
        <p:txBody>
          <a:bodyPr/>
          <a:lstStyle/>
          <a:p>
            <a:r>
              <a:rPr lang="en-US" sz="3200" dirty="0"/>
              <a:t>15.5 ANOVA Table for Multiple Regression</a:t>
            </a:r>
          </a:p>
        </p:txBody>
      </p:sp>
      <p:sp>
        <p:nvSpPr>
          <p:cNvPr id="3" name="Text Placeholder 2">
            <a:extLst>
              <a:ext uri="{FF2B5EF4-FFF2-40B4-BE49-F238E27FC236}">
                <a16:creationId xmlns:a16="http://schemas.microsoft.com/office/drawing/2014/main" id="{19DDD177-F2EB-46E4-4E1B-F62383358B7A}"/>
              </a:ext>
            </a:extLst>
          </p:cNvPr>
          <p:cNvSpPr>
            <a:spLocks noGrp="1"/>
          </p:cNvSpPr>
          <p:nvPr>
            <p:ph type="body" sz="quarter" idx="15"/>
          </p:nvPr>
        </p:nvSpPr>
        <p:spPr>
          <a:xfrm>
            <a:off x="750300" y="1221931"/>
            <a:ext cx="10515600" cy="386900"/>
          </a:xfrm>
        </p:spPr>
        <p:txBody>
          <a:bodyPr>
            <a:normAutofit/>
          </a:bodyPr>
          <a:lstStyle/>
          <a:p>
            <a:pPr>
              <a:lnSpc>
                <a:spcPct val="100000"/>
              </a:lnSpc>
              <a:spcBef>
                <a:spcPts val="600"/>
              </a:spcBef>
            </a:pPr>
            <a:r>
              <a:rPr lang="en-US" sz="2000" dirty="0"/>
              <a:t>The ANOVA table for multiple regression displays the results of the </a:t>
            </a:r>
            <a:r>
              <a:rPr lang="en-US" sz="2000" dirty="0">
                <a:latin typeface="Arial" panose="020B0604020202020204" pitchFamily="34" charset="0"/>
                <a:cs typeface="Arial" panose="020B0604020202020204" pitchFamily="34" charset="0"/>
              </a:rPr>
              <a:t>𝐹</a:t>
            </a:r>
            <a:r>
              <a:rPr lang="en-US" sz="2000" dirty="0"/>
              <a:t> test.</a:t>
            </a:r>
          </a:p>
        </p:txBody>
      </p:sp>
      <p:graphicFrame>
        <p:nvGraphicFramePr>
          <p:cNvPr id="11" name="Table 13">
            <a:extLst>
              <a:ext uri="{FF2B5EF4-FFF2-40B4-BE49-F238E27FC236}">
                <a16:creationId xmlns:a16="http://schemas.microsoft.com/office/drawing/2014/main" id="{22A7FABB-3524-B9BA-14F1-CA47ACBEB975}"/>
              </a:ext>
            </a:extLst>
          </p:cNvPr>
          <p:cNvGraphicFramePr>
            <a:graphicFrameLocks noGrp="1"/>
          </p:cNvGraphicFramePr>
          <p:nvPr>
            <p:ph type="tbl" sz="quarter" idx="23"/>
            <p:extLst>
              <p:ext uri="{D42A27DB-BD31-4B8C-83A1-F6EECF244321}">
                <p14:modId xmlns:p14="http://schemas.microsoft.com/office/powerpoint/2010/main" val="2476599889"/>
              </p:ext>
            </p:extLst>
          </p:nvPr>
        </p:nvGraphicFramePr>
        <p:xfrm>
          <a:off x="750300" y="1672987"/>
          <a:ext cx="10469880" cy="1344168"/>
        </p:xfrm>
        <a:graphic>
          <a:graphicData uri="http://schemas.openxmlformats.org/drawingml/2006/table">
            <a:tbl>
              <a:tblPr firstRow="1" bandRow="1">
                <a:tableStyleId>{5C22544A-7EE6-4342-B048-85BDC9FD1C3A}</a:tableStyleId>
              </a:tblPr>
              <a:tblGrid>
                <a:gridCol w="2026518">
                  <a:extLst>
                    <a:ext uri="{9D8B030D-6E8A-4147-A177-3AD203B41FA5}">
                      <a16:colId xmlns:a16="http://schemas.microsoft.com/office/drawing/2014/main" val="4281494615"/>
                    </a:ext>
                  </a:extLst>
                </a:gridCol>
                <a:gridCol w="1613647">
                  <a:extLst>
                    <a:ext uri="{9D8B030D-6E8A-4147-A177-3AD203B41FA5}">
                      <a16:colId xmlns:a16="http://schemas.microsoft.com/office/drawing/2014/main" val="1658350638"/>
                    </a:ext>
                  </a:extLst>
                </a:gridCol>
                <a:gridCol w="1726556">
                  <a:extLst>
                    <a:ext uri="{9D8B030D-6E8A-4147-A177-3AD203B41FA5}">
                      <a16:colId xmlns:a16="http://schemas.microsoft.com/office/drawing/2014/main" val="665697469"/>
                    </a:ext>
                  </a:extLst>
                </a:gridCol>
                <a:gridCol w="2159876">
                  <a:extLst>
                    <a:ext uri="{9D8B030D-6E8A-4147-A177-3AD203B41FA5}">
                      <a16:colId xmlns:a16="http://schemas.microsoft.com/office/drawing/2014/main" val="230204798"/>
                    </a:ext>
                  </a:extLst>
                </a:gridCol>
                <a:gridCol w="1189833">
                  <a:extLst>
                    <a:ext uri="{9D8B030D-6E8A-4147-A177-3AD203B41FA5}">
                      <a16:colId xmlns:a16="http://schemas.microsoft.com/office/drawing/2014/main" val="4176669424"/>
                    </a:ext>
                  </a:extLst>
                </a:gridCol>
                <a:gridCol w="1753450">
                  <a:extLst>
                    <a:ext uri="{9D8B030D-6E8A-4147-A177-3AD203B41FA5}">
                      <a16:colId xmlns:a16="http://schemas.microsoft.com/office/drawing/2014/main" val="1389891288"/>
                    </a:ext>
                  </a:extLst>
                </a:gridCol>
              </a:tblGrid>
              <a:tr h="336042">
                <a:tc>
                  <a:txBody>
                    <a:bodyPr/>
                    <a:lstStyle/>
                    <a:p>
                      <a:r>
                        <a:rPr lang="en-US" sz="1800" dirty="0">
                          <a:solidFill>
                            <a:srgbClr val="000000"/>
                          </a:solidFill>
                        </a:rPr>
                        <a:t>  Source of Variation</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dirty="0">
                          <a:solidFill>
                            <a:srgbClr val="000000"/>
                          </a:solidFill>
                        </a:rPr>
                        <a:t>Sum of Squares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dirty="0">
                          <a:solidFill>
                            <a:srgbClr val="000000"/>
                          </a:solidFill>
                        </a:rPr>
                        <a:t>Deg. of Freedom</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dirty="0">
                          <a:solidFill>
                            <a:srgbClr val="000000"/>
                          </a:solidFill>
                        </a:rPr>
                        <a:t>      Mean Squares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i="1" dirty="0">
                          <a:solidFill>
                            <a:srgbClr val="000000"/>
                          </a:solidFill>
                        </a:rPr>
                        <a:t>F</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i="1" dirty="0">
                          <a:solidFill>
                            <a:srgbClr val="000000"/>
                          </a:solidFill>
                        </a:rPr>
                        <a:t>p</a:t>
                      </a:r>
                      <a:r>
                        <a:rPr lang="en-US" sz="1800" dirty="0">
                          <a:solidFill>
                            <a:srgbClr val="000000"/>
                          </a:solidFill>
                        </a:rPr>
                        <a:t>-value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2499142490"/>
                  </a:ext>
                </a:extLst>
              </a:tr>
              <a:tr h="336042">
                <a:tc>
                  <a:txBody>
                    <a:bodyPr/>
                    <a:lstStyle/>
                    <a:p>
                      <a:r>
                        <a:rPr lang="en-US" sz="1800" dirty="0">
                          <a:solidFill>
                            <a:srgbClr val="000000"/>
                          </a:solidFill>
                        </a:rPr>
                        <a:t>  Regression</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dirty="0">
                          <a:solidFill>
                            <a:srgbClr val="000000"/>
                          </a:solidFill>
                        </a:rPr>
                        <a:t>SSR</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i="1" dirty="0">
                          <a:solidFill>
                            <a:srgbClr val="000000"/>
                          </a:solidFill>
                        </a:rPr>
                        <a:t>p</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dirty="0">
                          <a:solidFill>
                            <a:srgbClr val="000000"/>
                          </a:solidFill>
                        </a:rPr>
                        <a:t>MSR = SSR / </a:t>
                      </a:r>
                      <a:r>
                        <a:rPr lang="en-US" sz="1800" i="1" dirty="0">
                          <a:solidFill>
                            <a:srgbClr val="000000"/>
                          </a:solidFill>
                        </a:rPr>
                        <a:t>p</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dirty="0">
                          <a:solidFill>
                            <a:srgbClr val="000000"/>
                          </a:solidFill>
                        </a:rPr>
                        <a:t>MSR / MSE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i="1" dirty="0">
                          <a:solidFill>
                            <a:srgbClr val="000000"/>
                          </a:solidFill>
                        </a:rPr>
                        <a:t>P</a:t>
                      </a:r>
                      <a:r>
                        <a:rPr lang="en-US" sz="1800" dirty="0">
                          <a:solidFill>
                            <a:srgbClr val="000000"/>
                          </a:solidFill>
                        </a:rPr>
                        <a:t>(</a:t>
                      </a:r>
                      <a:r>
                        <a:rPr lang="en-US" sz="1800" i="1" dirty="0">
                          <a:solidFill>
                            <a:srgbClr val="000000"/>
                          </a:solidFill>
                        </a:rPr>
                        <a:t>F </a:t>
                      </a:r>
                      <a:r>
                        <a:rPr lang="en-US" sz="1800" dirty="0">
                          <a:solidFill>
                            <a:srgbClr val="000000"/>
                          </a:solidFill>
                        </a:rPr>
                        <a:t>≥ MSR / MSE)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356767253"/>
                  </a:ext>
                </a:extLst>
              </a:tr>
              <a:tr h="336042">
                <a:tc>
                  <a:txBody>
                    <a:bodyPr/>
                    <a:lstStyle/>
                    <a:p>
                      <a:r>
                        <a:rPr lang="en-US" sz="1800" dirty="0">
                          <a:solidFill>
                            <a:srgbClr val="000000"/>
                          </a:solidFill>
                        </a:rPr>
                        <a:t>  Error</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dirty="0">
                          <a:solidFill>
                            <a:srgbClr val="000000"/>
                          </a:solidFill>
                        </a:rPr>
                        <a:t>SSE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i="1" dirty="0">
                          <a:solidFill>
                            <a:srgbClr val="000000"/>
                          </a:solidFill>
                        </a:rPr>
                        <a:t>n</a:t>
                      </a:r>
                      <a:r>
                        <a:rPr lang="en-US" sz="1800" i="0" dirty="0">
                          <a:solidFill>
                            <a:srgbClr val="000000"/>
                          </a:solidFill>
                        </a:rPr>
                        <a:t> – </a:t>
                      </a:r>
                      <a:r>
                        <a:rPr lang="en-US" sz="1800" i="1" dirty="0">
                          <a:solidFill>
                            <a:srgbClr val="000000"/>
                          </a:solidFill>
                        </a:rPr>
                        <a:t>p</a:t>
                      </a:r>
                      <a:r>
                        <a:rPr lang="en-US" sz="1800" i="0" dirty="0">
                          <a:solidFill>
                            <a:srgbClr val="000000"/>
                          </a:solidFill>
                        </a:rPr>
                        <a:t> – 1</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dirty="0">
                          <a:solidFill>
                            <a:srgbClr val="000000"/>
                          </a:solidFill>
                        </a:rPr>
                        <a:t>MSE = SSE / (</a:t>
                      </a:r>
                      <a:r>
                        <a:rPr lang="en-US" sz="1800" i="1" dirty="0">
                          <a:solidFill>
                            <a:srgbClr val="000000"/>
                          </a:solidFill>
                        </a:rPr>
                        <a:t>n</a:t>
                      </a:r>
                      <a:r>
                        <a:rPr lang="en-US" sz="1800" i="0" dirty="0">
                          <a:solidFill>
                            <a:srgbClr val="000000"/>
                          </a:solidFill>
                        </a:rPr>
                        <a:t> – </a:t>
                      </a:r>
                      <a:r>
                        <a:rPr lang="en-US" sz="1800" i="1" dirty="0">
                          <a:solidFill>
                            <a:srgbClr val="000000"/>
                          </a:solidFill>
                        </a:rPr>
                        <a:t>p</a:t>
                      </a:r>
                      <a:r>
                        <a:rPr lang="en-US" sz="1800" i="0" dirty="0">
                          <a:solidFill>
                            <a:srgbClr val="000000"/>
                          </a:solidFill>
                        </a:rPr>
                        <a:t> – 1</a:t>
                      </a:r>
                      <a:r>
                        <a:rPr lang="en-US" sz="1800" dirty="0">
                          <a:solidFill>
                            <a:srgbClr val="000000"/>
                          </a:solidFill>
                        </a:rPr>
                        <a:t>)</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8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8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1501507554"/>
                  </a:ext>
                </a:extLst>
              </a:tr>
              <a:tr h="336042">
                <a:tc>
                  <a:txBody>
                    <a:bodyPr/>
                    <a:lstStyle/>
                    <a:p>
                      <a:r>
                        <a:rPr lang="en-US" sz="1800" dirty="0">
                          <a:solidFill>
                            <a:srgbClr val="000000"/>
                          </a:solidFill>
                        </a:rPr>
                        <a:t>  Total</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dirty="0">
                          <a:solidFill>
                            <a:srgbClr val="000000"/>
                          </a:solidFill>
                        </a:rPr>
                        <a:t>SST</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r>
                        <a:rPr lang="en-US" sz="1800" i="1" dirty="0">
                          <a:solidFill>
                            <a:srgbClr val="000000"/>
                          </a:solidFill>
                        </a:rPr>
                        <a:t>n</a:t>
                      </a:r>
                      <a:r>
                        <a:rPr lang="en-US" sz="1800" dirty="0">
                          <a:solidFill>
                            <a:srgbClr val="000000"/>
                          </a:solidFill>
                        </a:rPr>
                        <a:t> − 1</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lgn="ctr"/>
                      <a:endParaRPr lang="en-US" sz="18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8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8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1139500409"/>
                  </a:ext>
                </a:extLst>
              </a:tr>
            </a:tbl>
          </a:graphicData>
        </a:graphic>
      </p:graphicFrame>
      <p:sp>
        <p:nvSpPr>
          <p:cNvPr id="5" name="Text Placeholder 4">
            <a:extLst>
              <a:ext uri="{FF2B5EF4-FFF2-40B4-BE49-F238E27FC236}">
                <a16:creationId xmlns:a16="http://schemas.microsoft.com/office/drawing/2014/main" id="{42A090CF-86F9-C143-E94D-4A1E6EE887F9}"/>
              </a:ext>
            </a:extLst>
          </p:cNvPr>
          <p:cNvSpPr>
            <a:spLocks noGrp="1"/>
          </p:cNvSpPr>
          <p:nvPr>
            <p:ph type="body" sz="quarter" idx="18"/>
          </p:nvPr>
        </p:nvSpPr>
        <p:spPr>
          <a:xfrm>
            <a:off x="750300" y="3081311"/>
            <a:ext cx="10515600" cy="1037190"/>
          </a:xfrm>
        </p:spPr>
        <p:txBody>
          <a:bodyPr>
            <a:noAutofit/>
          </a:bodyPr>
          <a:lstStyle/>
          <a:p>
            <a:pPr>
              <a:lnSpc>
                <a:spcPct val="100000"/>
              </a:lnSpc>
              <a:spcBef>
                <a:spcPts val="600"/>
              </a:spcBef>
            </a:pPr>
            <a:r>
              <a:rPr lang="en-US" sz="2000" dirty="0"/>
              <a:t>Regression, Error, and Total are the labels for the three sources of variation, with SSR, SSE, and SST appearing as the corresponding sum of squares in the second column.</a:t>
            </a:r>
          </a:p>
          <a:p>
            <a:pPr>
              <a:lnSpc>
                <a:spcPct val="100000"/>
              </a:lnSpc>
              <a:spcBef>
                <a:spcPts val="600"/>
              </a:spcBef>
            </a:pPr>
            <a:r>
              <a:rPr lang="en-US" sz="2000" dirty="0"/>
              <a:t>The ANOVA table with the </a:t>
            </a:r>
            <a:r>
              <a:rPr lang="en-US" sz="2000" dirty="0">
                <a:latin typeface="Arial" panose="020B0604020202020204" pitchFamily="34" charset="0"/>
                <a:cs typeface="Arial" panose="020B0604020202020204" pitchFamily="34" charset="0"/>
              </a:rPr>
              <a:t>𝐹</a:t>
            </a:r>
            <a:r>
              <a:rPr lang="en-US" sz="2000" dirty="0"/>
              <a:t> test computations for the Butler Trucking example follows.</a:t>
            </a:r>
          </a:p>
          <a:p>
            <a:pPr>
              <a:lnSpc>
                <a:spcPct val="100000"/>
              </a:lnSpc>
              <a:spcBef>
                <a:spcPts val="600"/>
              </a:spcBef>
            </a:pPr>
            <a:endParaRPr lang="en-US" sz="2000" dirty="0"/>
          </a:p>
          <a:p>
            <a:pPr>
              <a:lnSpc>
                <a:spcPct val="100000"/>
              </a:lnSpc>
              <a:spcBef>
                <a:spcPts val="600"/>
              </a:spcBef>
            </a:pPr>
            <a:endParaRPr lang="en-US" sz="2000" dirty="0"/>
          </a:p>
        </p:txBody>
      </p:sp>
      <p:graphicFrame>
        <p:nvGraphicFramePr>
          <p:cNvPr id="15" name="Table Placeholder 13">
            <a:extLst>
              <a:ext uri="{FF2B5EF4-FFF2-40B4-BE49-F238E27FC236}">
                <a16:creationId xmlns:a16="http://schemas.microsoft.com/office/drawing/2014/main" id="{2BC54805-7BAF-DC8B-B4B4-6640D9AF08B5}"/>
              </a:ext>
            </a:extLst>
          </p:cNvPr>
          <p:cNvGraphicFramePr>
            <a:graphicFrameLocks noGrp="1"/>
          </p:cNvGraphicFramePr>
          <p:nvPr>
            <p:ph type="tbl" sz="quarter" idx="22"/>
          </p:nvPr>
        </p:nvGraphicFramePr>
        <p:xfrm>
          <a:off x="745728" y="4182657"/>
          <a:ext cx="10479024" cy="1374288"/>
        </p:xfrm>
        <a:graphic>
          <a:graphicData uri="http://schemas.openxmlformats.org/drawingml/2006/table">
            <a:tbl>
              <a:tblPr firstRow="1" bandRow="1">
                <a:tableStyleId>{5C22544A-7EE6-4342-B048-85BDC9FD1C3A}</a:tableStyleId>
              </a:tblPr>
              <a:tblGrid>
                <a:gridCol w="2029968">
                  <a:extLst>
                    <a:ext uri="{9D8B030D-6E8A-4147-A177-3AD203B41FA5}">
                      <a16:colId xmlns:a16="http://schemas.microsoft.com/office/drawing/2014/main" val="4281494615"/>
                    </a:ext>
                  </a:extLst>
                </a:gridCol>
                <a:gridCol w="1618488">
                  <a:extLst>
                    <a:ext uri="{9D8B030D-6E8A-4147-A177-3AD203B41FA5}">
                      <a16:colId xmlns:a16="http://schemas.microsoft.com/office/drawing/2014/main" val="1658350638"/>
                    </a:ext>
                  </a:extLst>
                </a:gridCol>
                <a:gridCol w="1728216">
                  <a:extLst>
                    <a:ext uri="{9D8B030D-6E8A-4147-A177-3AD203B41FA5}">
                      <a16:colId xmlns:a16="http://schemas.microsoft.com/office/drawing/2014/main" val="665697469"/>
                    </a:ext>
                  </a:extLst>
                </a:gridCol>
                <a:gridCol w="2157984">
                  <a:extLst>
                    <a:ext uri="{9D8B030D-6E8A-4147-A177-3AD203B41FA5}">
                      <a16:colId xmlns:a16="http://schemas.microsoft.com/office/drawing/2014/main" val="230204798"/>
                    </a:ext>
                  </a:extLst>
                </a:gridCol>
                <a:gridCol w="1188720">
                  <a:extLst>
                    <a:ext uri="{9D8B030D-6E8A-4147-A177-3AD203B41FA5}">
                      <a16:colId xmlns:a16="http://schemas.microsoft.com/office/drawing/2014/main" val="4176669424"/>
                    </a:ext>
                  </a:extLst>
                </a:gridCol>
                <a:gridCol w="1755648">
                  <a:extLst>
                    <a:ext uri="{9D8B030D-6E8A-4147-A177-3AD203B41FA5}">
                      <a16:colId xmlns:a16="http://schemas.microsoft.com/office/drawing/2014/main" val="1389891288"/>
                    </a:ext>
                  </a:extLst>
                </a:gridCol>
              </a:tblGrid>
              <a:tr h="365760">
                <a:tc>
                  <a:txBody>
                    <a:bodyPr/>
                    <a:lstStyle/>
                    <a:p>
                      <a:r>
                        <a:rPr lang="en-US" sz="1800" dirty="0">
                          <a:solidFill>
                            <a:srgbClr val="000000"/>
                          </a:solidFill>
                        </a:rPr>
                        <a:t>  Source of Variation</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dirty="0">
                          <a:solidFill>
                            <a:srgbClr val="000000"/>
                          </a:solidFill>
                        </a:rPr>
                        <a:t>Sum of Squares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dirty="0">
                          <a:solidFill>
                            <a:srgbClr val="000000"/>
                          </a:solidFill>
                        </a:rPr>
                        <a:t>Deg. of Freedom</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dirty="0">
                          <a:solidFill>
                            <a:srgbClr val="000000"/>
                          </a:solidFill>
                        </a:rPr>
                        <a:t>     Mean Squares</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i="1" dirty="0">
                          <a:solidFill>
                            <a:srgbClr val="000000"/>
                          </a:solidFill>
                        </a:rPr>
                        <a:t>    F</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i="1" dirty="0">
                          <a:solidFill>
                            <a:srgbClr val="000000"/>
                          </a:solidFill>
                        </a:rPr>
                        <a:t>p</a:t>
                      </a:r>
                      <a:r>
                        <a:rPr lang="en-US" sz="1800" dirty="0">
                          <a:solidFill>
                            <a:srgbClr val="000000"/>
                          </a:solidFill>
                        </a:rPr>
                        <a:t>-value</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2499142490"/>
                  </a:ext>
                </a:extLst>
              </a:tr>
              <a:tr h="336176">
                <a:tc>
                  <a:txBody>
                    <a:bodyPr/>
                    <a:lstStyle/>
                    <a:p>
                      <a:r>
                        <a:rPr lang="en-US" sz="1800" dirty="0">
                          <a:solidFill>
                            <a:srgbClr val="000000"/>
                          </a:solidFill>
                        </a:rPr>
                        <a:t>  Regression</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1087438" algn="r"/>
                        </a:tabLst>
                      </a:pPr>
                      <a:r>
                        <a:rPr lang="en-US" sz="1800" dirty="0">
                          <a:solidFill>
                            <a:srgbClr val="000000"/>
                          </a:solidFill>
                        </a:rPr>
                        <a:t>	21.6006</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914400" algn="r"/>
                        </a:tabLst>
                      </a:pPr>
                      <a:r>
                        <a:rPr lang="en-US" sz="1800" i="0" dirty="0">
                          <a:solidFill>
                            <a:srgbClr val="000000"/>
                          </a:solidFill>
                        </a:rPr>
                        <a:t>	2</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1260475" algn="r"/>
                        </a:tabLst>
                      </a:pPr>
                      <a:r>
                        <a:rPr lang="en-US" sz="1800" dirty="0">
                          <a:solidFill>
                            <a:srgbClr val="000000"/>
                          </a:solidFill>
                        </a:rPr>
                        <a:t>	10.8003</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dirty="0">
                          <a:solidFill>
                            <a:srgbClr val="000000"/>
                          </a:solidFill>
                        </a:rPr>
                        <a:t>32.88</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r>
                        <a:rPr lang="en-US" sz="1800" dirty="0">
                          <a:solidFill>
                            <a:srgbClr val="000000"/>
                          </a:solidFill>
                        </a:rPr>
                        <a:t> 0.0003</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356767253"/>
                  </a:ext>
                </a:extLst>
              </a:tr>
              <a:tr h="336176">
                <a:tc>
                  <a:txBody>
                    <a:bodyPr/>
                    <a:lstStyle/>
                    <a:p>
                      <a:r>
                        <a:rPr lang="en-US" sz="1800" dirty="0">
                          <a:solidFill>
                            <a:srgbClr val="000000"/>
                          </a:solidFill>
                        </a:rPr>
                        <a:t>  Error</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1087438" algn="r"/>
                        </a:tabLst>
                      </a:pPr>
                      <a:r>
                        <a:rPr lang="en-US" sz="1800" dirty="0">
                          <a:solidFill>
                            <a:srgbClr val="000000"/>
                          </a:solidFill>
                        </a:rPr>
                        <a:t>	2.2994</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914400" algn="r"/>
                        </a:tabLst>
                      </a:pPr>
                      <a:r>
                        <a:rPr lang="en-US" sz="1800" i="0" dirty="0">
                          <a:solidFill>
                            <a:srgbClr val="000000"/>
                          </a:solidFill>
                        </a:rPr>
                        <a:t>	7</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1260475" algn="r"/>
                        </a:tabLst>
                      </a:pPr>
                      <a:r>
                        <a:rPr lang="en-US" sz="1800" dirty="0">
                          <a:solidFill>
                            <a:srgbClr val="000000"/>
                          </a:solidFill>
                        </a:rPr>
                        <a:t>	0.3285</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8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8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1501507554"/>
                  </a:ext>
                </a:extLst>
              </a:tr>
              <a:tr h="336176">
                <a:tc>
                  <a:txBody>
                    <a:bodyPr/>
                    <a:lstStyle/>
                    <a:p>
                      <a:r>
                        <a:rPr lang="en-US" sz="1800" dirty="0">
                          <a:solidFill>
                            <a:srgbClr val="000000"/>
                          </a:solidFill>
                        </a:rPr>
                        <a:t>  Total</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1087438" algn="r"/>
                        </a:tabLst>
                      </a:pPr>
                      <a:r>
                        <a:rPr lang="en-US" sz="1800" dirty="0">
                          <a:solidFill>
                            <a:srgbClr val="000000"/>
                          </a:solidFill>
                        </a:rPr>
                        <a:t>	23,9000</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pPr>
                        <a:tabLst>
                          <a:tab pos="914400" algn="r"/>
                        </a:tabLst>
                      </a:pPr>
                      <a:r>
                        <a:rPr lang="en-US" sz="1800" dirty="0">
                          <a:solidFill>
                            <a:srgbClr val="000000"/>
                          </a:solidFill>
                        </a:rPr>
                        <a:t>	9</a:t>
                      </a: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8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8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tc>
                  <a:txBody>
                    <a:bodyPr/>
                    <a:lstStyle/>
                    <a:p>
                      <a:endParaRPr lang="en-US" sz="1800" dirty="0">
                        <a:solidFill>
                          <a:srgbClr val="000000"/>
                        </a:solidFill>
                      </a:endParaRPr>
                    </a:p>
                  </a:txBody>
                  <a:tcPr marL="0" marR="0" marT="0" marB="0">
                    <a:lnL w="12700" cap="flat" cmpd="sng" algn="ctr">
                      <a:solidFill>
                        <a:srgbClr val="FFF4DC"/>
                      </a:solidFill>
                      <a:prstDash val="solid"/>
                      <a:round/>
                      <a:headEnd type="none" w="med" len="med"/>
                      <a:tailEnd type="none" w="med" len="med"/>
                    </a:lnL>
                    <a:lnR w="12700" cap="flat" cmpd="sng" algn="ctr">
                      <a:solidFill>
                        <a:srgbClr val="FFF4DC"/>
                      </a:solidFill>
                      <a:prstDash val="solid"/>
                      <a:round/>
                      <a:headEnd type="none" w="med" len="med"/>
                      <a:tailEnd type="none" w="med" len="med"/>
                    </a:lnR>
                    <a:lnT w="12700" cap="flat" cmpd="sng" algn="ctr">
                      <a:solidFill>
                        <a:srgbClr val="FFF4DC"/>
                      </a:solidFill>
                      <a:prstDash val="solid"/>
                      <a:round/>
                      <a:headEnd type="none" w="med" len="med"/>
                      <a:tailEnd type="none" w="med" len="med"/>
                    </a:lnT>
                    <a:lnB w="12700" cap="flat" cmpd="sng" algn="ctr">
                      <a:solidFill>
                        <a:srgbClr val="FFF4DC"/>
                      </a:solidFill>
                      <a:prstDash val="solid"/>
                      <a:round/>
                      <a:headEnd type="none" w="med" len="med"/>
                      <a:tailEnd type="none" w="med" len="med"/>
                    </a:lnB>
                    <a:solidFill>
                      <a:srgbClr val="FFF4DC"/>
                    </a:solidFill>
                  </a:tcPr>
                </a:tc>
                <a:extLst>
                  <a:ext uri="{0D108BD9-81ED-4DB2-BD59-A6C34878D82A}">
                    <a16:rowId xmlns:a16="http://schemas.microsoft.com/office/drawing/2014/main" val="1139500409"/>
                  </a:ext>
                </a:extLst>
              </a:tr>
            </a:tbl>
          </a:graphicData>
        </a:graphic>
      </p:graphicFrame>
    </p:spTree>
    <p:extLst>
      <p:ext uri="{BB962C8B-B14F-4D97-AF65-F5344CB8AC3E}">
        <p14:creationId xmlns:p14="http://schemas.microsoft.com/office/powerpoint/2010/main" val="2160881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659956" y="365125"/>
            <a:ext cx="10860819" cy="672105"/>
          </a:xfrm>
        </p:spPr>
        <p:txBody>
          <a:bodyPr/>
          <a:lstStyle/>
          <a:p>
            <a:r>
              <a:rPr lang="en-US" dirty="0"/>
              <a:t>15.5 </a:t>
            </a:r>
            <a:r>
              <a:rPr lang="en-US" i="1" dirty="0"/>
              <a:t>t</a:t>
            </a:r>
            <a:r>
              <a:rPr lang="en-US" dirty="0"/>
              <a:t> Test for Individual Significance</a:t>
            </a:r>
            <a:endParaRPr lang="en-US" i="1"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05131" y="1229712"/>
                <a:ext cx="10781737" cy="4682356"/>
              </a:xfrm>
            </p:spPr>
            <p:txBody>
              <a:bodyPr/>
              <a:lstStyle/>
              <a:p>
                <a:pPr>
                  <a:spcBef>
                    <a:spcPts val="600"/>
                  </a:spcBef>
                  <a:spcAft>
                    <a:spcPts val="600"/>
                  </a:spcAft>
                </a:pPr>
                <a:r>
                  <a:rPr lang="en-US" sz="2000" dirty="0">
                    <a:latin typeface="Arial" panose="020B0604020202020204" pitchFamily="34" charset="0"/>
                    <a:cs typeface="Arial" panose="020B0604020202020204" pitchFamily="34" charset="0"/>
                  </a:rPr>
                  <a:t>In a multiple regression model with </a:t>
                </a:r>
                <a:r>
                  <a:rPr lang="en-US" sz="2000" i="1" dirty="0">
                    <a:latin typeface="Arial" panose="020B0604020202020204" pitchFamily="34" charset="0"/>
                    <a:cs typeface="Arial" panose="020B0604020202020204" pitchFamily="34" charset="0"/>
                  </a:rPr>
                  <a:t>p</a:t>
                </a:r>
                <a:r>
                  <a:rPr lang="en-US" sz="2000" dirty="0">
                    <a:latin typeface="Arial" panose="020B0604020202020204" pitchFamily="34" charset="0"/>
                    <a:cs typeface="Arial" panose="020B0604020202020204" pitchFamily="34" charset="0"/>
                  </a:rPr>
                  <a:t> independent variables, for any parameter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ea typeface="Cambria Math" panose="02040503050406030204" pitchFamily="18" charset="0"/>
                            <a:cs typeface="Arial" panose="020B0604020202020204" pitchFamily="34" charset="0"/>
                          </a:rPr>
                          <m:t>𝛽</m:t>
                        </m:r>
                      </m:e>
                      <m:sub>
                        <m:r>
                          <a:rPr lang="en-US" sz="2000" b="0" i="1" smtClean="0">
                            <a:latin typeface="Cambria Math" panose="02040503050406030204" pitchFamily="18" charset="0"/>
                            <a:cs typeface="Arial" panose="020B0604020202020204" pitchFamily="34" charset="0"/>
                          </a:rPr>
                          <m:t>𝑖</m:t>
                        </m:r>
                      </m:sub>
                    </m:sSub>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b="0" i="1" smtClean="0">
                        <a:latin typeface="Cambria Math" panose="02040503050406030204" pitchFamily="18" charset="0"/>
                        <a:cs typeface="Arial" panose="020B0604020202020204" pitchFamily="34" charset="0"/>
                      </a:rPr>
                      <m:t>𝑖</m:t>
                    </m:r>
                    <m:r>
                      <a:rPr lang="en-US" sz="2000" b="0" i="1" smtClean="0">
                        <a:latin typeface="Cambria Math" panose="02040503050406030204" pitchFamily="18" charset="0"/>
                        <a:cs typeface="Arial" panose="020B0604020202020204" pitchFamily="34" charset="0"/>
                      </a:rPr>
                      <m:t>=1,…,</m:t>
                    </m:r>
                    <m:r>
                      <a:rPr lang="en-US" sz="2000" b="0" i="1" smtClean="0">
                        <a:latin typeface="Cambria Math" panose="02040503050406030204" pitchFamily="18" charset="0"/>
                        <a:cs typeface="Arial" panose="020B0604020202020204" pitchFamily="34" charset="0"/>
                      </a:rPr>
                      <m:t>𝑝</m:t>
                    </m:r>
                  </m:oMath>
                </a14:m>
                <a:r>
                  <a:rPr lang="en-US" sz="2000" dirty="0">
                    <a:latin typeface="Arial" panose="020B0604020202020204" pitchFamily="34" charset="0"/>
                    <a:cs typeface="Arial" panose="020B0604020202020204" pitchFamily="34" charset="0"/>
                  </a:rPr>
                  <a:t>, we have the following hypotheses.</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𝑯</m:t>
                          </m:r>
                        </m:e>
                        <m:sub>
                          <m:r>
                            <a:rPr lang="en-US" sz="2000" b="1" i="1" smtClean="0">
                              <a:latin typeface="Cambria Math" panose="02040503050406030204" pitchFamily="18" charset="0"/>
                              <a:cs typeface="Arial" panose="020B0604020202020204" pitchFamily="34" charset="0"/>
                            </a:rPr>
                            <m:t>𝟎</m:t>
                          </m:r>
                        </m:sub>
                      </m:sSub>
                      <m:r>
                        <a:rPr lang="en-US" sz="2000" b="1" i="1" smtClean="0">
                          <a:latin typeface="Cambria Math" panose="02040503050406030204" pitchFamily="18" charset="0"/>
                          <a:cs typeface="Arial" panose="020B0604020202020204" pitchFamily="34" charset="0"/>
                        </a:rPr>
                        <m:t>: </m:t>
                      </m:r>
                      <m:sSub>
                        <m:sSubPr>
                          <m:ctrlPr>
                            <a:rPr lang="en-US" sz="2000" b="1" i="1" smtClean="0">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ea typeface="Cambria Math" panose="02040503050406030204" pitchFamily="18" charset="0"/>
                              <a:cs typeface="Arial" panose="020B0604020202020204" pitchFamily="34" charset="0"/>
                            </a:rPr>
                            <m:t>𝜷</m:t>
                          </m:r>
                        </m:e>
                        <m:sub>
                          <m:r>
                            <a:rPr lang="en-US" sz="2000" b="1" i="1" smtClean="0">
                              <a:latin typeface="Cambria Math" panose="02040503050406030204" pitchFamily="18" charset="0"/>
                              <a:cs typeface="Arial" panose="020B0604020202020204" pitchFamily="34" charset="0"/>
                            </a:rPr>
                            <m:t>𝒊</m:t>
                          </m:r>
                        </m:sub>
                      </m:sSub>
                      <m:r>
                        <a:rPr lang="en-US" sz="2000" b="1" i="1" smtClean="0">
                          <a:latin typeface="Cambria Math" panose="02040503050406030204" pitchFamily="18" charset="0"/>
                          <a:cs typeface="Arial" panose="020B0604020202020204" pitchFamily="34" charset="0"/>
                        </a:rPr>
                        <m:t>=</m:t>
                      </m:r>
                      <m:r>
                        <a:rPr lang="en-US" sz="2000" b="1" i="1">
                          <a:latin typeface="Cambria Math" panose="02040503050406030204" pitchFamily="18" charset="0"/>
                          <a:cs typeface="Arial" panose="020B0604020202020204" pitchFamily="34" charset="0"/>
                        </a:rPr>
                        <m:t>𝟎</m:t>
                      </m:r>
                    </m:oMath>
                  </m:oMathPara>
                </a14:m>
                <a:endParaRPr lang="en-US" sz="2000" b="1" dirty="0">
                  <a:latin typeface="Arial" panose="020B0604020202020204" pitchFamily="34" charset="0"/>
                  <a:cs typeface="Arial" panose="020B0604020202020204" pitchFamily="34" charset="0"/>
                </a:endParaRP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𝑯</m:t>
                          </m:r>
                        </m:e>
                        <m:sub>
                          <m:r>
                            <a:rPr lang="en-US" sz="2000" b="1" i="1" smtClean="0">
                              <a:latin typeface="Cambria Math" panose="02040503050406030204" pitchFamily="18" charset="0"/>
                              <a:cs typeface="Arial" panose="020B0604020202020204" pitchFamily="34" charset="0"/>
                            </a:rPr>
                            <m:t>𝒂</m:t>
                          </m:r>
                        </m:sub>
                      </m:sSub>
                      <m:r>
                        <a:rPr lang="en-US" sz="2000" b="1" i="1" smtClean="0">
                          <a:latin typeface="Cambria Math" panose="02040503050406030204" pitchFamily="18" charset="0"/>
                          <a:cs typeface="Arial" panose="020B0604020202020204" pitchFamily="34" charset="0"/>
                        </a:rPr>
                        <m:t>: </m:t>
                      </m:r>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ea typeface="Cambria Math" panose="02040503050406030204" pitchFamily="18" charset="0"/>
                              <a:cs typeface="Arial" panose="020B0604020202020204" pitchFamily="34" charset="0"/>
                            </a:rPr>
                            <m:t>𝜷</m:t>
                          </m:r>
                        </m:e>
                        <m:sub>
                          <m:r>
                            <a:rPr lang="en-US" sz="2000" b="1" i="1">
                              <a:latin typeface="Cambria Math" panose="02040503050406030204" pitchFamily="18" charset="0"/>
                              <a:cs typeface="Arial" panose="020B0604020202020204" pitchFamily="34" charset="0"/>
                            </a:rPr>
                            <m:t>𝒊</m:t>
                          </m:r>
                        </m:sub>
                      </m:sSub>
                      <m:r>
                        <a:rPr lang="en-US" sz="2000" b="1" i="1" smtClean="0">
                          <a:latin typeface="Cambria Math" panose="02040503050406030204" pitchFamily="18" charset="0"/>
                          <a:ea typeface="Cambria Math" panose="02040503050406030204" pitchFamily="18" charset="0"/>
                          <a:cs typeface="Arial" panose="020B0604020202020204" pitchFamily="34" charset="0"/>
                        </a:rPr>
                        <m:t>≠</m:t>
                      </m:r>
                      <m:r>
                        <a:rPr lang="en-US" sz="2000" b="1" i="1">
                          <a:latin typeface="Cambria Math" panose="02040503050406030204" pitchFamily="18" charset="0"/>
                          <a:cs typeface="Arial" panose="020B0604020202020204" pitchFamily="34" charset="0"/>
                        </a:rPr>
                        <m:t>𝟎</m:t>
                      </m:r>
                    </m:oMath>
                  </m:oMathPara>
                </a14:m>
                <a:endParaRPr lang="en-US" sz="2000" dirty="0">
                  <a:latin typeface="Arial" panose="020B0604020202020204" pitchFamily="34" charset="0"/>
                  <a:cs typeface="Arial" panose="020B0604020202020204" pitchFamily="34" charset="0"/>
                </a:endParaRPr>
              </a:p>
              <a:p>
                <a:pPr>
                  <a:spcBef>
                    <a:spcPts val="600"/>
                  </a:spcBef>
                  <a:spcAft>
                    <a:spcPts val="600"/>
                  </a:spcAft>
                </a:pPr>
                <a:r>
                  <a:rPr lang="en-US" sz="2000" dirty="0">
                    <a:latin typeface="Arial" panose="020B0604020202020204" pitchFamily="34" charset="0"/>
                    <a:cs typeface="Arial" panose="020B0604020202020204" pitchFamily="34" charset="0"/>
                  </a:rPr>
                  <a:t>The test statistic follows a </a:t>
                </a:r>
                <a:r>
                  <a:rPr lang="en-US" sz="2000" i="1" dirty="0">
                    <a:latin typeface="Arial" panose="020B0604020202020204" pitchFamily="34" charset="0"/>
                    <a:cs typeface="Arial" panose="020B0604020202020204" pitchFamily="34" charset="0"/>
                  </a:rPr>
                  <a:t>t</a:t>
                </a:r>
                <a:r>
                  <a:rPr lang="en-US" sz="2000" dirty="0">
                    <a:latin typeface="Arial" panose="020B0604020202020204" pitchFamily="34" charset="0"/>
                    <a:cs typeface="Arial" panose="020B0604020202020204" pitchFamily="34" charset="0"/>
                  </a:rPr>
                  <a:t> distribution with </a:t>
                </a:r>
                <a14:m>
                  <m:oMath xmlns:m="http://schemas.openxmlformats.org/officeDocument/2006/math">
                    <m:r>
                      <a:rPr lang="en-US" sz="2000" i="1" dirty="0" smtClean="0">
                        <a:latin typeface="Cambria Math" panose="02040503050406030204" pitchFamily="18" charset="0"/>
                        <a:cs typeface="Arial" panose="020B0604020202020204" pitchFamily="34" charset="0"/>
                      </a:rPr>
                      <m:t>𝑛</m:t>
                    </m:r>
                    <m:r>
                      <a:rPr lang="en-US" sz="2000" i="1" dirty="0" smtClean="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𝑝</m:t>
                    </m:r>
                    <m:r>
                      <a:rPr lang="en-US" sz="2000" b="0" i="1" dirty="0" smtClean="0">
                        <a:latin typeface="Cambria Math" panose="02040503050406030204" pitchFamily="18" charset="0"/>
                        <a:cs typeface="Arial" panose="020B0604020202020204" pitchFamily="34" charset="0"/>
                      </a:rPr>
                      <m:t>−1</m:t>
                    </m:r>
                  </m:oMath>
                </a14:m>
                <a:r>
                  <a:rPr lang="en-US" sz="2000" dirty="0">
                    <a:latin typeface="Arial" panose="020B0604020202020204" pitchFamily="34" charset="0"/>
                    <a:cs typeface="Arial" panose="020B0604020202020204" pitchFamily="34" charset="0"/>
                  </a:rPr>
                  <a:t> degrees of freedom.</a:t>
                </a:r>
              </a:p>
              <a:p>
                <a:pPr marL="914400">
                  <a:spcBef>
                    <a:spcPts val="600"/>
                  </a:spcBef>
                  <a:spcAft>
                    <a:spcPts val="60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cs typeface="Arial" panose="020B0604020202020204" pitchFamily="34" charset="0"/>
                        </a:rPr>
                        <m:t>𝒕</m:t>
                      </m:r>
                      <m:r>
                        <a:rPr lang="en-US" sz="2000" b="1" i="1" smtClean="0">
                          <a:latin typeface="Cambria Math" panose="02040503050406030204" pitchFamily="18" charset="0"/>
                          <a:cs typeface="Arial" panose="020B0604020202020204" pitchFamily="34" charset="0"/>
                        </a:rPr>
                        <m:t>=</m:t>
                      </m:r>
                      <m:f>
                        <m:fPr>
                          <m:ctrlPr>
                            <a:rPr lang="en-US" sz="2000" b="1" i="1" smtClean="0">
                              <a:latin typeface="Cambria Math" panose="02040503050406030204" pitchFamily="18" charset="0"/>
                              <a:cs typeface="Arial" panose="020B0604020202020204" pitchFamily="34" charset="0"/>
                            </a:rPr>
                          </m:ctrlPr>
                        </m:fPr>
                        <m:num>
                          <m:sSub>
                            <m:sSubPr>
                              <m:ctrlPr>
                                <a:rPr lang="en-US" sz="2000" b="1" i="1">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ea typeface="Cambria Math" panose="02040503050406030204" pitchFamily="18" charset="0"/>
                                  <a:cs typeface="Arial" panose="020B0604020202020204" pitchFamily="34" charset="0"/>
                                </a:rPr>
                                <m:t>𝒃</m:t>
                              </m:r>
                            </m:e>
                            <m:sub>
                              <m:r>
                                <a:rPr lang="en-US" sz="2000" b="1" i="1">
                                  <a:latin typeface="Cambria Math" panose="02040503050406030204" pitchFamily="18" charset="0"/>
                                  <a:cs typeface="Arial" panose="020B0604020202020204" pitchFamily="34" charset="0"/>
                                </a:rPr>
                                <m:t>𝒊</m:t>
                              </m:r>
                            </m:sub>
                          </m:sSub>
                        </m:num>
                        <m:den>
                          <m:sSub>
                            <m:sSubPr>
                              <m:ctrlPr>
                                <a:rPr lang="en-US" sz="2000" b="1" i="1" smtClean="0">
                                  <a:latin typeface="Cambria Math" panose="02040503050406030204" pitchFamily="18" charset="0"/>
                                  <a:cs typeface="Arial" panose="020B0604020202020204" pitchFamily="34" charset="0"/>
                                </a:rPr>
                              </m:ctrlPr>
                            </m:sSubPr>
                            <m:e>
                              <m:r>
                                <a:rPr lang="en-US" sz="2000" b="1" i="1" smtClean="0">
                                  <a:latin typeface="Cambria Math" panose="02040503050406030204" pitchFamily="18" charset="0"/>
                                  <a:cs typeface="Arial" panose="020B0604020202020204" pitchFamily="34" charset="0"/>
                                </a:rPr>
                                <m:t>𝒔</m:t>
                              </m:r>
                            </m:e>
                            <m:sub>
                              <m:sSub>
                                <m:sSubPr>
                                  <m:ctrlPr>
                                    <a:rPr lang="en-US" sz="2000" b="1" i="1">
                                      <a:latin typeface="Cambria Math" panose="02040503050406030204" pitchFamily="18" charset="0"/>
                                      <a:cs typeface="Arial" panose="020B0604020202020204" pitchFamily="34" charset="0"/>
                                    </a:rPr>
                                  </m:ctrlPr>
                                </m:sSubPr>
                                <m:e>
                                  <m:r>
                                    <a:rPr lang="en-US" sz="2000" b="1" i="1">
                                      <a:latin typeface="Cambria Math" panose="02040503050406030204" pitchFamily="18" charset="0"/>
                                      <a:ea typeface="Cambria Math" panose="02040503050406030204" pitchFamily="18" charset="0"/>
                                      <a:cs typeface="Arial" panose="020B0604020202020204" pitchFamily="34" charset="0"/>
                                    </a:rPr>
                                    <m:t>𝒃</m:t>
                                  </m:r>
                                </m:e>
                                <m:sub>
                                  <m:r>
                                    <a:rPr lang="en-US" sz="2000" b="1" i="1">
                                      <a:latin typeface="Cambria Math" panose="02040503050406030204" pitchFamily="18" charset="0"/>
                                      <a:cs typeface="Arial" panose="020B0604020202020204" pitchFamily="34" charset="0"/>
                                    </a:rPr>
                                    <m:t>𝒊</m:t>
                                  </m:r>
                                </m:sub>
                              </m:sSub>
                            </m:sub>
                          </m:sSub>
                        </m:den>
                      </m:f>
                    </m:oMath>
                  </m:oMathPara>
                </a14:m>
                <a:endParaRPr lang="en-US" sz="2000" dirty="0">
                  <a:latin typeface="Arial" panose="020B0604020202020204" pitchFamily="34" charset="0"/>
                  <a:cs typeface="Arial" panose="020B0604020202020204" pitchFamily="34" charset="0"/>
                </a:endParaRPr>
              </a:p>
              <a:p>
                <a:pPr marL="914400" indent="-914400">
                  <a:spcBef>
                    <a:spcPts val="600"/>
                  </a:spcBef>
                  <a:spcAft>
                    <a:spcPts val="0"/>
                  </a:spcAft>
                </a:pPr>
                <a:r>
                  <a:rPr lang="en-US" sz="2000" dirty="0">
                    <a:latin typeface="Arial" panose="020B0604020202020204" pitchFamily="34" charset="0"/>
                    <a:cs typeface="Arial" panose="020B0604020202020204" pitchFamily="34" charset="0"/>
                  </a:rPr>
                  <a:t>Where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𝑠</m:t>
                        </m:r>
                      </m:e>
                      <m:sub>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𝑏</m:t>
                            </m:r>
                          </m:e>
                          <m:sub>
                            <m:r>
                              <a:rPr lang="en-US" sz="2000" b="0" i="1" smtClean="0">
                                <a:latin typeface="Cambria Math" panose="02040503050406030204" pitchFamily="18" charset="0"/>
                                <a:cs typeface="Arial" panose="020B0604020202020204" pitchFamily="34" charset="0"/>
                              </a:rPr>
                              <m:t>𝑖</m:t>
                            </m:r>
                          </m:sub>
                        </m:sSub>
                      </m:sub>
                    </m:sSub>
                    <m:r>
                      <a:rPr lang="en-US" sz="2000" b="0" i="1" smtClean="0">
                        <a:latin typeface="Cambria Math" panose="02040503050406030204" pitchFamily="18" charset="0"/>
                        <a:cs typeface="Arial" panose="020B0604020202020204" pitchFamily="34" charset="0"/>
                      </a:rPr>
                      <m:t> </m:t>
                    </m:r>
                  </m:oMath>
                </a14:m>
                <a:r>
                  <a:rPr lang="en-US" sz="2000" dirty="0">
                    <a:latin typeface="Arial" panose="020B0604020202020204" pitchFamily="34" charset="0"/>
                    <a:cs typeface="Arial" panose="020B0604020202020204" pitchFamily="34" charset="0"/>
                  </a:rPr>
                  <a:t>is the estimated standard deviation of the sample regression coefficient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ea typeface="Cambria Math" panose="02040503050406030204" pitchFamily="18" charset="0"/>
                            <a:cs typeface="Arial" panose="020B0604020202020204" pitchFamily="34" charset="0"/>
                          </a:rPr>
                          <m:t>𝑏</m:t>
                        </m:r>
                      </m:e>
                      <m:sub>
                        <m:r>
                          <a:rPr lang="en-US" sz="2000" b="0" i="1" smtClean="0">
                            <a:latin typeface="Cambria Math" panose="02040503050406030204" pitchFamily="18" charset="0"/>
                            <a:cs typeface="Arial" panose="020B0604020202020204" pitchFamily="34" charset="0"/>
                          </a:rPr>
                          <m:t>𝑖</m:t>
                        </m:r>
                      </m:sub>
                    </m:sSub>
                  </m:oMath>
                </a14:m>
                <a:r>
                  <a:rPr lang="en-US" sz="2000" dirty="0">
                    <a:latin typeface="Arial" panose="020B0604020202020204" pitchFamily="34" charset="0"/>
                    <a:cs typeface="Arial" panose="020B0604020202020204" pitchFamily="34" charset="0"/>
                  </a:rPr>
                  <a:t>.</a:t>
                </a:r>
              </a:p>
              <a:p>
                <a:pPr>
                  <a:spcBef>
                    <a:spcPts val="600"/>
                  </a:spcBef>
                  <a:spcAft>
                    <a:spcPts val="0"/>
                  </a:spcAft>
                </a:pPr>
                <a:r>
                  <a:rPr lang="en-US" sz="2000" dirty="0">
                    <a:latin typeface="Arial" panose="020B0604020202020204" pitchFamily="34" charset="0"/>
                    <a:cs typeface="Arial" panose="020B0604020202020204" pitchFamily="34" charset="0"/>
                  </a:rPr>
                  <a:t>The rejection rule is as follows.</a:t>
                </a:r>
              </a:p>
              <a:p>
                <a:pPr marL="914400">
                  <a:spcBef>
                    <a:spcPts val="600"/>
                  </a:spcBef>
                  <a:spcAft>
                    <a:spcPts val="0"/>
                  </a:spcAft>
                  <a:tabLst>
                    <a:tab pos="3941763" algn="l"/>
                  </a:tabLst>
                </a:pPr>
                <a:r>
                  <a:rPr lang="en-US" sz="2000" i="1" dirty="0">
                    <a:latin typeface="Arial" panose="020B0604020202020204" pitchFamily="34" charset="0"/>
                    <a:cs typeface="Arial" panose="020B0604020202020204" pitchFamily="34" charset="0"/>
                  </a:rPr>
                  <a:t>p</a:t>
                </a:r>
                <a:r>
                  <a:rPr lang="en-US" sz="2000" dirty="0">
                    <a:latin typeface="Arial" panose="020B0604020202020204" pitchFamily="34" charset="0"/>
                    <a:cs typeface="Arial" panose="020B0604020202020204" pitchFamily="34" charset="0"/>
                  </a:rPr>
                  <a:t>-value approach:	</a:t>
                </a:r>
                <a:r>
                  <a:rPr lang="en-US" sz="2000" dirty="0"/>
                  <a:t>Reject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0</m:t>
                        </m:r>
                      </m:sub>
                    </m:sSub>
                  </m:oMath>
                </a14:m>
                <a:r>
                  <a:rPr lang="en-US" sz="2000" dirty="0">
                    <a:latin typeface="Arial" panose="020B0604020202020204" pitchFamily="34" charset="0"/>
                    <a:cs typeface="Arial" panose="020B0604020202020204" pitchFamily="34" charset="0"/>
                  </a:rPr>
                  <a:t> if </a:t>
                </a:r>
                <a14:m>
                  <m:oMath xmlns:m="http://schemas.openxmlformats.org/officeDocument/2006/math">
                    <m:r>
                      <m:rPr>
                        <m:nor/>
                      </m:rPr>
                      <a:rPr lang="en-US" sz="2000" i="1" dirty="0" smtClean="0">
                        <a:latin typeface="Cambria Math" panose="02040503050406030204" pitchFamily="18" charset="0"/>
                        <a:cs typeface="Arial" panose="020B0604020202020204" pitchFamily="34" charset="0"/>
                      </a:rPr>
                      <m:t>p</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value</m:t>
                    </m:r>
                    <m:r>
                      <a:rPr lang="en-US" sz="2000" i="1" dirty="0" smtClean="0">
                        <a:latin typeface="Cambria Math" panose="02040503050406030204" pitchFamily="18" charset="0"/>
                        <a:ea typeface="Cambria Math" panose="02040503050406030204" pitchFamily="18" charset="0"/>
                        <a:cs typeface="Arial" panose="020B0604020202020204" pitchFamily="34" charset="0"/>
                      </a:rPr>
                      <m:t>≤</m:t>
                    </m:r>
                    <m:r>
                      <a:rPr lang="en-US" sz="2000" i="1" dirty="0" smtClean="0">
                        <a:latin typeface="Cambria Math" panose="02040503050406030204" pitchFamily="18" charset="0"/>
                        <a:ea typeface="Cambria Math" panose="02040503050406030204" pitchFamily="18" charset="0"/>
                        <a:cs typeface="Arial" panose="020B0604020202020204" pitchFamily="34" charset="0"/>
                      </a:rPr>
                      <m:t>𝛼</m:t>
                    </m:r>
                  </m:oMath>
                </a14:m>
                <a:endParaRPr lang="en-US" sz="2000" dirty="0">
                  <a:latin typeface="Arial" panose="020B0604020202020204" pitchFamily="34" charset="0"/>
                  <a:cs typeface="Arial" panose="020B0604020202020204" pitchFamily="34" charset="0"/>
                </a:endParaRPr>
              </a:p>
              <a:p>
                <a:pPr marL="914400">
                  <a:spcBef>
                    <a:spcPts val="600"/>
                  </a:spcBef>
                  <a:spcAft>
                    <a:spcPts val="0"/>
                  </a:spcAft>
                  <a:tabLst>
                    <a:tab pos="3941763" algn="l"/>
                  </a:tabLst>
                </a:pPr>
                <a:r>
                  <a:rPr lang="en-US" sz="2000" dirty="0">
                    <a:latin typeface="Arial" panose="020B0604020202020204" pitchFamily="34" charset="0"/>
                    <a:cs typeface="Arial" panose="020B0604020202020204" pitchFamily="34" charset="0"/>
                  </a:rPr>
                  <a:t>Critical value approach:	</a:t>
                </a:r>
                <a:r>
                  <a:rPr lang="en-US" sz="2000" dirty="0"/>
                  <a:t>Reject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0</m:t>
                        </m:r>
                      </m:sub>
                    </m:sSub>
                  </m:oMath>
                </a14:m>
                <a:r>
                  <a:rPr lang="en-US" sz="2000" dirty="0">
                    <a:latin typeface="Arial" panose="020B0604020202020204" pitchFamily="34" charset="0"/>
                    <a:cs typeface="Arial" panose="020B0604020202020204" pitchFamily="34" charset="0"/>
                  </a:rPr>
                  <a:t> if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𝑡</m:t>
                    </m:r>
                    <m:r>
                      <a:rPr lang="en-US" sz="200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𝑡</m:t>
                        </m:r>
                      </m:e>
                      <m:sub>
                        <m:f>
                          <m:fPr>
                            <m:type m:val="lin"/>
                            <m:ctrlPr>
                              <a:rPr lang="en-US" sz="2000" i="1">
                                <a:latin typeface="Cambria Math" panose="02040503050406030204" pitchFamily="18" charset="0"/>
                                <a:cs typeface="Arial" panose="020B0604020202020204" pitchFamily="34" charset="0"/>
                              </a:rPr>
                            </m:ctrlPr>
                          </m:fPr>
                          <m:num>
                            <m:r>
                              <a:rPr lang="en-US" sz="2000" i="1">
                                <a:latin typeface="Cambria Math" panose="02040503050406030204" pitchFamily="18" charset="0"/>
                                <a:ea typeface="Cambria Math" panose="02040503050406030204" pitchFamily="18" charset="0"/>
                                <a:cs typeface="Arial" panose="020B0604020202020204" pitchFamily="34" charset="0"/>
                              </a:rPr>
                              <m:t>𝛼</m:t>
                            </m:r>
                          </m:num>
                          <m:den>
                            <m:r>
                              <a:rPr lang="en-US" sz="2000" i="1">
                                <a:latin typeface="Cambria Math" panose="02040503050406030204" pitchFamily="18" charset="0"/>
                                <a:cs typeface="Arial" panose="020B0604020202020204" pitchFamily="34" charset="0"/>
                              </a:rPr>
                              <m:t>2</m:t>
                            </m:r>
                          </m:den>
                        </m:f>
                      </m:sub>
                    </m:sSub>
                    <m:r>
                      <a:rPr lang="en-US" sz="2000" i="1">
                        <a:latin typeface="Cambria Math" panose="02040503050406030204" pitchFamily="18" charset="0"/>
                        <a:cs typeface="Arial" panose="020B0604020202020204" pitchFamily="34" charset="0"/>
                      </a:rPr>
                      <m:t> </m:t>
                    </m:r>
                  </m:oMath>
                </a14:m>
                <a:r>
                  <a:rPr lang="en-US" sz="2000" dirty="0">
                    <a:latin typeface="Arial" panose="020B0604020202020204" pitchFamily="34" charset="0"/>
                    <a:cs typeface="Arial" panose="020B0604020202020204" pitchFamily="34" charset="0"/>
                  </a:rPr>
                  <a:t>or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𝑡</m:t>
                    </m:r>
                    <m:r>
                      <a:rPr lang="en-US" sz="200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sz="2000" i="1">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𝑡</m:t>
                        </m:r>
                      </m:e>
                      <m:sub>
                        <m:f>
                          <m:fPr>
                            <m:type m:val="lin"/>
                            <m:ctrlPr>
                              <a:rPr lang="en-US" sz="2000" i="1" smtClean="0">
                                <a:latin typeface="Cambria Math" panose="02040503050406030204" pitchFamily="18" charset="0"/>
                                <a:cs typeface="Arial" panose="020B0604020202020204" pitchFamily="34" charset="0"/>
                              </a:rPr>
                            </m:ctrlPr>
                          </m:fPr>
                          <m:num>
                            <m:r>
                              <a:rPr lang="en-US" sz="200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cs typeface="Arial" panose="020B0604020202020204" pitchFamily="34" charset="0"/>
                              </a:rPr>
                              <m:t>2</m:t>
                            </m:r>
                          </m:den>
                        </m:f>
                      </m:sub>
                    </m:sSub>
                  </m:oMath>
                </a14:m>
                <a:endParaRPr lang="en-US" sz="2000" dirty="0">
                  <a:latin typeface="Arial" panose="020B0604020202020204" pitchFamily="34" charset="0"/>
                  <a:cs typeface="Arial" panose="020B0604020202020204" pitchFamily="34" charset="0"/>
                </a:endParaRPr>
              </a:p>
              <a:p>
                <a:pPr>
                  <a:spcBef>
                    <a:spcPts val="600"/>
                  </a:spcBef>
                  <a:spcAft>
                    <a:spcPts val="0"/>
                  </a:spcAft>
                  <a:tabLst>
                    <a:tab pos="3941763" algn="l"/>
                  </a:tabLst>
                </a:pPr>
                <a:r>
                  <a:rPr lang="en-US" sz="2000" dirty="0">
                    <a:latin typeface="Arial" panose="020B0604020202020204" pitchFamily="34" charset="0"/>
                    <a:cs typeface="Arial" panose="020B0604020202020204" pitchFamily="34" charset="0"/>
                  </a:rPr>
                  <a:t>Where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𝑡</m:t>
                        </m:r>
                      </m:e>
                      <m:sub>
                        <m:f>
                          <m:fPr>
                            <m:type m:val="lin"/>
                            <m:ctrlPr>
                              <a:rPr lang="en-US" sz="2000" i="1" smtClean="0">
                                <a:latin typeface="Cambria Math" panose="02040503050406030204" pitchFamily="18" charset="0"/>
                                <a:cs typeface="Arial" panose="020B0604020202020204" pitchFamily="34" charset="0"/>
                              </a:rPr>
                            </m:ctrlPr>
                          </m:fPr>
                          <m:num>
                            <m:r>
                              <a:rPr lang="en-US" sz="200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cs typeface="Arial" panose="020B0604020202020204" pitchFamily="34" charset="0"/>
                              </a:rPr>
                              <m:t>2</m:t>
                            </m:r>
                          </m:den>
                        </m:f>
                      </m:sub>
                    </m:sSub>
                  </m:oMath>
                </a14:m>
                <a:r>
                  <a:rPr lang="en-US" sz="2000" dirty="0">
                    <a:latin typeface="Arial" panose="020B0604020202020204" pitchFamily="34" charset="0"/>
                    <a:cs typeface="Arial" panose="020B0604020202020204" pitchFamily="34" charset="0"/>
                  </a:rPr>
                  <a:t> is based on a </a:t>
                </a:r>
                <a:r>
                  <a:rPr lang="en-US" sz="2000" i="1" dirty="0">
                    <a:latin typeface="Arial" panose="020B0604020202020204" pitchFamily="34" charset="0"/>
                    <a:cs typeface="Arial" panose="020B0604020202020204" pitchFamily="34" charset="0"/>
                  </a:rPr>
                  <a:t>t</a:t>
                </a:r>
                <a:r>
                  <a:rPr lang="en-US" sz="2000" dirty="0">
                    <a:latin typeface="Arial" panose="020B0604020202020204" pitchFamily="34" charset="0"/>
                    <a:cs typeface="Arial" panose="020B0604020202020204" pitchFamily="34" charset="0"/>
                  </a:rPr>
                  <a:t> distribution with </a:t>
                </a:r>
                <a14:m>
                  <m:oMath xmlns:m="http://schemas.openxmlformats.org/officeDocument/2006/math">
                    <m:r>
                      <a:rPr lang="en-US" sz="2000" i="1" dirty="0">
                        <a:latin typeface="Cambria Math" panose="02040503050406030204" pitchFamily="18" charset="0"/>
                        <a:cs typeface="Arial" panose="020B0604020202020204" pitchFamily="34" charset="0"/>
                      </a:rPr>
                      <m:t>𝑛</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𝑝</m:t>
                    </m:r>
                    <m:r>
                      <a:rPr lang="en-US" sz="2000" i="1" dirty="0">
                        <a:latin typeface="Cambria Math" panose="02040503050406030204" pitchFamily="18" charset="0"/>
                        <a:cs typeface="Arial" panose="020B0604020202020204" pitchFamily="34" charset="0"/>
                      </a:rPr>
                      <m:t>−1</m:t>
                    </m:r>
                  </m:oMath>
                </a14:m>
                <a:r>
                  <a:rPr lang="en-US" sz="2000" dirty="0">
                    <a:latin typeface="Arial" panose="020B0604020202020204" pitchFamily="34" charset="0"/>
                    <a:cs typeface="Arial" panose="020B0604020202020204" pitchFamily="34" charset="0"/>
                  </a:rPr>
                  <a:t> degrees of freedom.</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05131" y="1229712"/>
                <a:ext cx="10781737" cy="4682356"/>
              </a:xfrm>
              <a:blipFill>
                <a:blip r:embed="rId3"/>
                <a:stretch>
                  <a:fillRect l="-1471" t="-1563" b="-11589"/>
                </a:stretch>
              </a:blipFill>
            </p:spPr>
            <p:txBody>
              <a:bodyPr/>
              <a:lstStyle/>
              <a:p>
                <a:r>
                  <a:rPr lang="en-US">
                    <a:noFill/>
                  </a:rPr>
                  <a:t> </a:t>
                </a:r>
              </a:p>
            </p:txBody>
          </p:sp>
        </mc:Fallback>
      </mc:AlternateContent>
    </p:spTree>
    <p:extLst>
      <p:ext uri="{BB962C8B-B14F-4D97-AF65-F5344CB8AC3E}">
        <p14:creationId xmlns:p14="http://schemas.microsoft.com/office/powerpoint/2010/main" val="22254673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659956" y="365125"/>
            <a:ext cx="10860819" cy="672105"/>
          </a:xfrm>
        </p:spPr>
        <p:txBody>
          <a:bodyPr/>
          <a:lstStyle/>
          <a:p>
            <a:r>
              <a:rPr lang="en-US" sz="3200" dirty="0"/>
              <a:t>15.5 Individual </a:t>
            </a:r>
            <a:r>
              <a:rPr lang="en-US" sz="3200" i="1" dirty="0"/>
              <a:t>t</a:t>
            </a:r>
            <a:r>
              <a:rPr lang="en-US" sz="3200" dirty="0"/>
              <a:t> Tests for the Butler Trucking Example</a:t>
            </a:r>
            <a:endParaRPr lang="en-US" sz="3200" i="1"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699496" y="1324302"/>
                <a:ext cx="10781737" cy="4437995"/>
              </a:xfrm>
            </p:spPr>
            <p:txBody>
              <a:bodyPr/>
              <a:lstStyle/>
              <a:p>
                <a:pPr>
                  <a:spcBef>
                    <a:spcPts val="600"/>
                  </a:spcBef>
                  <a:spcAft>
                    <a:spcPts val="0"/>
                  </a:spcAft>
                </a:pPr>
                <a:r>
                  <a:rPr lang="en-US" sz="2000" dirty="0">
                    <a:solidFill>
                      <a:srgbClr val="000000"/>
                    </a:solidFill>
                    <a:latin typeface="Arial" panose="020B0604020202020204" pitchFamily="34" charset="0"/>
                    <a:cs typeface="Arial" panose="020B0604020202020204" pitchFamily="34" charset="0"/>
                  </a:rPr>
                  <a:t>The multiple regression output for the Butler Trucking problem shows the </a:t>
                </a:r>
                <a:r>
                  <a:rPr lang="en-US" sz="2000" i="1" dirty="0">
                    <a:solidFill>
                      <a:srgbClr val="000000"/>
                    </a:solidFill>
                    <a:latin typeface="Arial" panose="020B0604020202020204" pitchFamily="34" charset="0"/>
                    <a:cs typeface="Arial" panose="020B0604020202020204" pitchFamily="34" charset="0"/>
                  </a:rPr>
                  <a:t>t</a:t>
                </a:r>
                <a:r>
                  <a:rPr lang="en-US" sz="2000" dirty="0">
                    <a:solidFill>
                      <a:srgbClr val="000000"/>
                    </a:solidFill>
                    <a:latin typeface="Arial" panose="020B0604020202020204" pitchFamily="34" charset="0"/>
                    <a:cs typeface="Arial" panose="020B0604020202020204" pitchFamily="34" charset="0"/>
                  </a:rPr>
                  <a:t>-ratio calculations. The values of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𝑏</m:t>
                        </m:r>
                      </m:e>
                      <m:sub>
                        <m:r>
                          <a:rPr lang="en-US" sz="2000" b="0" i="1" smtClean="0">
                            <a:solidFill>
                              <a:srgbClr val="000000"/>
                            </a:solidFill>
                            <a:latin typeface="Cambria Math" panose="02040503050406030204" pitchFamily="18" charset="0"/>
                            <a:cs typeface="Arial" panose="020B0604020202020204" pitchFamily="34" charset="0"/>
                          </a:rPr>
                          <m:t>1</m:t>
                        </m:r>
                      </m:sub>
                    </m:sSub>
                  </m:oMath>
                </a14:m>
                <a:r>
                  <a:rPr lang="en-US" sz="2000" dirty="0">
                    <a:solidFill>
                      <a:srgbClr val="000000"/>
                    </a:solidFill>
                    <a:latin typeface="Arial" panose="020B0604020202020204" pitchFamily="34" charset="0"/>
                    <a:cs typeface="Arial" panose="020B0604020202020204" pitchFamily="34" charset="0"/>
                  </a:rPr>
                  <a:t>, </a:t>
                </a:r>
                <a14:m>
                  <m:oMath xmlns:m="http://schemas.openxmlformats.org/officeDocument/2006/math">
                    <m:sSub>
                      <m:sSubPr>
                        <m:ctrlPr>
                          <a:rPr lang="en-US" sz="2000" i="1">
                            <a:solidFill>
                              <a:srgbClr val="000000"/>
                            </a:solidFill>
                            <a:latin typeface="Cambria Math" panose="02040503050406030204" pitchFamily="18" charset="0"/>
                            <a:cs typeface="Arial" panose="020B0604020202020204" pitchFamily="34" charset="0"/>
                          </a:rPr>
                        </m:ctrlPr>
                      </m:sSubPr>
                      <m:e>
                        <m:r>
                          <a:rPr lang="en-US" sz="2000" i="1">
                            <a:solidFill>
                              <a:srgbClr val="000000"/>
                            </a:solidFill>
                            <a:latin typeface="Cambria Math" panose="02040503050406030204" pitchFamily="18" charset="0"/>
                            <a:cs typeface="Arial" panose="020B0604020202020204" pitchFamily="34" charset="0"/>
                          </a:rPr>
                          <m:t>𝑏</m:t>
                        </m:r>
                      </m:e>
                      <m:sub>
                        <m:r>
                          <a:rPr lang="en-US" sz="2000" b="0" i="1" smtClean="0">
                            <a:solidFill>
                              <a:srgbClr val="000000"/>
                            </a:solidFill>
                            <a:latin typeface="Cambria Math" panose="02040503050406030204" pitchFamily="18" charset="0"/>
                            <a:cs typeface="Arial" panose="020B0604020202020204" pitchFamily="34" charset="0"/>
                          </a:rPr>
                          <m:t>2</m:t>
                        </m:r>
                      </m:sub>
                    </m:sSub>
                  </m:oMath>
                </a14:m>
                <a:r>
                  <a:rPr lang="en-US" sz="2000" dirty="0">
                    <a:solidFill>
                      <a:srgbClr val="000000"/>
                    </a:solidFill>
                    <a:latin typeface="Arial" panose="020B0604020202020204" pitchFamily="34" charset="0"/>
                    <a:cs typeface="Arial" panose="020B0604020202020204" pitchFamily="34" charset="0"/>
                  </a:rPr>
                  <a:t>,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𝑠</m:t>
                        </m:r>
                      </m:e>
                      <m:sub>
                        <m:sSub>
                          <m:sSubPr>
                            <m:ctrlPr>
                              <a:rPr lang="en-US" sz="2000" i="1">
                                <a:solidFill>
                                  <a:srgbClr val="000000"/>
                                </a:solidFill>
                                <a:latin typeface="Cambria Math" panose="02040503050406030204" pitchFamily="18" charset="0"/>
                                <a:cs typeface="Arial" panose="020B0604020202020204" pitchFamily="34" charset="0"/>
                              </a:rPr>
                            </m:ctrlPr>
                          </m:sSubPr>
                          <m:e>
                            <m:r>
                              <a:rPr lang="en-US" sz="2000" i="1">
                                <a:solidFill>
                                  <a:srgbClr val="000000"/>
                                </a:solidFill>
                                <a:latin typeface="Cambria Math" panose="02040503050406030204" pitchFamily="18" charset="0"/>
                                <a:cs typeface="Arial" panose="020B0604020202020204" pitchFamily="34" charset="0"/>
                              </a:rPr>
                              <m:t>𝑏</m:t>
                            </m:r>
                          </m:e>
                          <m:sub>
                            <m:r>
                              <a:rPr lang="en-US" sz="2000" i="1">
                                <a:solidFill>
                                  <a:srgbClr val="000000"/>
                                </a:solidFill>
                                <a:latin typeface="Cambria Math" panose="02040503050406030204" pitchFamily="18" charset="0"/>
                                <a:cs typeface="Arial" panose="020B0604020202020204" pitchFamily="34" charset="0"/>
                              </a:rPr>
                              <m:t>1</m:t>
                            </m:r>
                          </m:sub>
                        </m:sSub>
                      </m:sub>
                    </m:sSub>
                  </m:oMath>
                </a14:m>
                <a:r>
                  <a:rPr lang="en-US" sz="2000" dirty="0">
                    <a:solidFill>
                      <a:srgbClr val="000000"/>
                    </a:solidFill>
                    <a:latin typeface="Arial" panose="020B0604020202020204" pitchFamily="34" charset="0"/>
                    <a:cs typeface="Arial" panose="020B0604020202020204" pitchFamily="34" charset="0"/>
                  </a:rPr>
                  <a:t>, and </a:t>
                </a:r>
                <a14:m>
                  <m:oMath xmlns:m="http://schemas.openxmlformats.org/officeDocument/2006/math">
                    <m:sSub>
                      <m:sSubPr>
                        <m:ctrlPr>
                          <a:rPr lang="en-US" sz="2000" i="1">
                            <a:solidFill>
                              <a:srgbClr val="000000"/>
                            </a:solidFill>
                            <a:latin typeface="Cambria Math" panose="02040503050406030204" pitchFamily="18" charset="0"/>
                            <a:cs typeface="Arial" panose="020B0604020202020204" pitchFamily="34" charset="0"/>
                          </a:rPr>
                        </m:ctrlPr>
                      </m:sSubPr>
                      <m:e>
                        <m:r>
                          <a:rPr lang="en-US" sz="2000" i="1">
                            <a:solidFill>
                              <a:srgbClr val="000000"/>
                            </a:solidFill>
                            <a:latin typeface="Cambria Math" panose="02040503050406030204" pitchFamily="18" charset="0"/>
                            <a:cs typeface="Arial" panose="020B0604020202020204" pitchFamily="34" charset="0"/>
                          </a:rPr>
                          <m:t>𝑠</m:t>
                        </m:r>
                      </m:e>
                      <m:sub>
                        <m:sSub>
                          <m:sSubPr>
                            <m:ctrlPr>
                              <a:rPr lang="en-US" sz="2000" i="1">
                                <a:solidFill>
                                  <a:srgbClr val="000000"/>
                                </a:solidFill>
                                <a:latin typeface="Cambria Math" panose="02040503050406030204" pitchFamily="18" charset="0"/>
                                <a:cs typeface="Arial" panose="020B0604020202020204" pitchFamily="34" charset="0"/>
                              </a:rPr>
                            </m:ctrlPr>
                          </m:sSubPr>
                          <m:e>
                            <m:r>
                              <a:rPr lang="en-US" sz="2000" i="1">
                                <a:solidFill>
                                  <a:srgbClr val="000000"/>
                                </a:solidFill>
                                <a:latin typeface="Cambria Math" panose="02040503050406030204" pitchFamily="18" charset="0"/>
                                <a:cs typeface="Arial" panose="020B0604020202020204" pitchFamily="34" charset="0"/>
                              </a:rPr>
                              <m:t>𝑏</m:t>
                            </m:r>
                          </m:e>
                          <m:sub>
                            <m:r>
                              <a:rPr lang="en-US" sz="2000" i="1">
                                <a:solidFill>
                                  <a:srgbClr val="000000"/>
                                </a:solidFill>
                                <a:latin typeface="Cambria Math" panose="02040503050406030204" pitchFamily="18" charset="0"/>
                                <a:cs typeface="Arial" panose="020B0604020202020204" pitchFamily="34" charset="0"/>
                              </a:rPr>
                              <m:t>1</m:t>
                            </m:r>
                          </m:sub>
                        </m:sSub>
                      </m:sub>
                    </m:sSub>
                  </m:oMath>
                </a14:m>
                <a:r>
                  <a:rPr lang="en-US" sz="2000" dirty="0">
                    <a:solidFill>
                      <a:srgbClr val="000000"/>
                    </a:solidFill>
                    <a:latin typeface="Arial" panose="020B0604020202020204" pitchFamily="34" charset="0"/>
                    <a:cs typeface="Arial" panose="020B0604020202020204" pitchFamily="34" charset="0"/>
                  </a:rPr>
                  <a:t> are as follows.</a:t>
                </a:r>
                <a:endParaRPr lang="en-US" sz="1000" dirty="0">
                  <a:solidFill>
                    <a:srgbClr val="000000"/>
                  </a:solidFill>
                  <a:latin typeface="Times New Roman" panose="02020603050405020304" pitchFamily="18" charset="0"/>
                  <a:cs typeface="Times New Roman" panose="02020603050405020304" pitchFamily="18" charset="0"/>
                </a:endParaRPr>
              </a:p>
              <a:p>
                <a:pPr marL="914400">
                  <a:spcBef>
                    <a:spcPts val="600"/>
                  </a:spcBef>
                  <a:spcAft>
                    <a:spcPts val="0"/>
                  </a:spcAft>
                </a:pP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𝑏</m:t>
                        </m:r>
                      </m:e>
                      <m:sub>
                        <m:r>
                          <a:rPr lang="en-US" sz="2000" b="0" i="1" smtClean="0">
                            <a:solidFill>
                              <a:srgbClr val="000000"/>
                            </a:solidFill>
                            <a:latin typeface="Cambria Math" panose="02040503050406030204" pitchFamily="18" charset="0"/>
                            <a:cs typeface="Arial" panose="020B0604020202020204" pitchFamily="34" charset="0"/>
                          </a:rPr>
                          <m:t>1</m:t>
                        </m:r>
                      </m:sub>
                    </m:sSub>
                    <m:r>
                      <a:rPr lang="en-US" sz="2000" b="0" i="1" smtClean="0">
                        <a:solidFill>
                          <a:srgbClr val="000000"/>
                        </a:solidFill>
                        <a:latin typeface="Cambria Math" panose="02040503050406030204" pitchFamily="18" charset="0"/>
                        <a:cs typeface="Arial" panose="020B0604020202020204" pitchFamily="34" charset="0"/>
                      </a:rPr>
                      <m:t>=0.06113</m:t>
                    </m:r>
                  </m:oMath>
                </a14:m>
                <a:r>
                  <a:rPr lang="en-US" sz="2000" dirty="0">
                    <a:solidFill>
                      <a:srgbClr val="000000"/>
                    </a:solidFill>
                    <a:latin typeface="Arial" panose="020B0604020202020204" pitchFamily="34" charset="0"/>
                    <a:cs typeface="Arial" panose="020B0604020202020204" pitchFamily="34" charset="0"/>
                  </a:rPr>
                  <a:t>	</a:t>
                </a:r>
                <a:r>
                  <a:rPr lang="en-US" sz="2000" dirty="0">
                    <a:solidFill>
                      <a:srgbClr val="000000"/>
                    </a:solidFill>
                    <a:cs typeface="Arial" panose="020B0604020202020204" pitchFamily="34" charset="0"/>
                  </a:rPr>
                  <a:t> </a:t>
                </a:r>
                <a14:m>
                  <m:oMath xmlns:m="http://schemas.openxmlformats.org/officeDocument/2006/math">
                    <m:sSub>
                      <m:sSubPr>
                        <m:ctrlPr>
                          <a:rPr lang="en-US" sz="2000" i="1">
                            <a:solidFill>
                              <a:srgbClr val="000000"/>
                            </a:solidFill>
                            <a:latin typeface="Cambria Math" panose="02040503050406030204" pitchFamily="18" charset="0"/>
                            <a:cs typeface="Arial" panose="020B0604020202020204" pitchFamily="34" charset="0"/>
                          </a:rPr>
                        </m:ctrlPr>
                      </m:sSubPr>
                      <m:e>
                        <m:r>
                          <a:rPr lang="en-US" sz="2000" i="1">
                            <a:solidFill>
                              <a:srgbClr val="000000"/>
                            </a:solidFill>
                            <a:latin typeface="Cambria Math" panose="02040503050406030204" pitchFamily="18" charset="0"/>
                            <a:cs typeface="Arial" panose="020B0604020202020204" pitchFamily="34" charset="0"/>
                          </a:rPr>
                          <m:t>𝑠</m:t>
                        </m:r>
                      </m:e>
                      <m:sub>
                        <m:sSub>
                          <m:sSubPr>
                            <m:ctrlPr>
                              <a:rPr lang="en-US" sz="2000" i="1">
                                <a:solidFill>
                                  <a:srgbClr val="000000"/>
                                </a:solidFill>
                                <a:latin typeface="Cambria Math" panose="02040503050406030204" pitchFamily="18" charset="0"/>
                                <a:cs typeface="Arial" panose="020B0604020202020204" pitchFamily="34" charset="0"/>
                              </a:rPr>
                            </m:ctrlPr>
                          </m:sSubPr>
                          <m:e>
                            <m:r>
                              <a:rPr lang="en-US" sz="2000" i="1">
                                <a:solidFill>
                                  <a:srgbClr val="000000"/>
                                </a:solidFill>
                                <a:latin typeface="Cambria Math" panose="02040503050406030204" pitchFamily="18" charset="0"/>
                                <a:cs typeface="Arial" panose="020B0604020202020204" pitchFamily="34" charset="0"/>
                              </a:rPr>
                              <m:t>𝑏</m:t>
                            </m:r>
                          </m:e>
                          <m:sub>
                            <m:r>
                              <a:rPr lang="en-US" sz="2000" i="1">
                                <a:solidFill>
                                  <a:srgbClr val="000000"/>
                                </a:solidFill>
                                <a:latin typeface="Cambria Math" panose="02040503050406030204" pitchFamily="18" charset="0"/>
                                <a:cs typeface="Arial" panose="020B0604020202020204" pitchFamily="34" charset="0"/>
                              </a:rPr>
                              <m:t>1</m:t>
                            </m:r>
                          </m:sub>
                        </m:sSub>
                      </m:sub>
                    </m:sSub>
                    <m:r>
                      <a:rPr lang="en-US" sz="2000" b="0" i="1" smtClean="0">
                        <a:solidFill>
                          <a:srgbClr val="000000"/>
                        </a:solidFill>
                        <a:latin typeface="Cambria Math" panose="02040503050406030204" pitchFamily="18" charset="0"/>
                        <a:cs typeface="Arial" panose="020B0604020202020204" pitchFamily="34" charset="0"/>
                      </a:rPr>
                      <m:t>=0.0099</m:t>
                    </m:r>
                  </m:oMath>
                </a14:m>
                <a:endParaRPr lang="en-US" sz="2000" dirty="0">
                  <a:solidFill>
                    <a:srgbClr val="000000"/>
                  </a:solidFill>
                  <a:latin typeface="Arial" panose="020B0604020202020204" pitchFamily="34" charset="0"/>
                  <a:cs typeface="Arial" panose="020B0604020202020204" pitchFamily="34" charset="0"/>
                </a:endParaRPr>
              </a:p>
              <a:p>
                <a:pPr marL="914400">
                  <a:spcBef>
                    <a:spcPts val="600"/>
                  </a:spcBef>
                  <a:spcAft>
                    <a:spcPts val="0"/>
                  </a:spcAft>
                </a:pP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𝑏</m:t>
                        </m:r>
                      </m:e>
                      <m:sub>
                        <m:r>
                          <a:rPr lang="en-US" sz="2000" b="0" i="1" smtClean="0">
                            <a:solidFill>
                              <a:srgbClr val="000000"/>
                            </a:solidFill>
                            <a:latin typeface="Cambria Math" panose="02040503050406030204" pitchFamily="18" charset="0"/>
                            <a:cs typeface="Arial" panose="020B0604020202020204" pitchFamily="34" charset="0"/>
                          </a:rPr>
                          <m:t>2</m:t>
                        </m:r>
                      </m:sub>
                    </m:sSub>
                    <m:r>
                      <a:rPr lang="en-US" sz="2000" b="0" i="1" smtClean="0">
                        <a:solidFill>
                          <a:srgbClr val="000000"/>
                        </a:solidFill>
                        <a:latin typeface="Cambria Math" panose="02040503050406030204" pitchFamily="18" charset="0"/>
                        <a:cs typeface="Arial" panose="020B0604020202020204" pitchFamily="34" charset="0"/>
                      </a:rPr>
                      <m:t>=0.9234</m:t>
                    </m:r>
                  </m:oMath>
                </a14:m>
                <a:r>
                  <a:rPr lang="en-US" sz="2000" dirty="0">
                    <a:solidFill>
                      <a:srgbClr val="000000"/>
                    </a:solidFill>
                    <a:latin typeface="Arial" panose="020B0604020202020204" pitchFamily="34" charset="0"/>
                    <a:cs typeface="Arial" panose="020B0604020202020204" pitchFamily="34" charset="0"/>
                  </a:rPr>
                  <a:t>	</a:t>
                </a:r>
                <a:r>
                  <a:rPr lang="en-US" sz="2000" dirty="0">
                    <a:solidFill>
                      <a:srgbClr val="000000"/>
                    </a:solidFill>
                    <a:cs typeface="Arial" panose="020B0604020202020204" pitchFamily="34" charset="0"/>
                  </a:rPr>
                  <a:t> </a:t>
                </a:r>
                <a14:m>
                  <m:oMath xmlns:m="http://schemas.openxmlformats.org/officeDocument/2006/math">
                    <m:sSub>
                      <m:sSubPr>
                        <m:ctrlPr>
                          <a:rPr lang="en-US" sz="2000" i="1">
                            <a:solidFill>
                              <a:srgbClr val="000000"/>
                            </a:solidFill>
                            <a:latin typeface="Cambria Math" panose="02040503050406030204" pitchFamily="18" charset="0"/>
                            <a:cs typeface="Arial" panose="020B0604020202020204" pitchFamily="34" charset="0"/>
                          </a:rPr>
                        </m:ctrlPr>
                      </m:sSubPr>
                      <m:e>
                        <m:r>
                          <a:rPr lang="en-US" sz="2000" i="1">
                            <a:solidFill>
                              <a:srgbClr val="000000"/>
                            </a:solidFill>
                            <a:latin typeface="Cambria Math" panose="02040503050406030204" pitchFamily="18" charset="0"/>
                            <a:cs typeface="Arial" panose="020B0604020202020204" pitchFamily="34" charset="0"/>
                          </a:rPr>
                          <m:t>𝑠</m:t>
                        </m:r>
                      </m:e>
                      <m:sub>
                        <m:sSub>
                          <m:sSubPr>
                            <m:ctrlPr>
                              <a:rPr lang="en-US" sz="2000" i="1">
                                <a:solidFill>
                                  <a:srgbClr val="000000"/>
                                </a:solidFill>
                                <a:latin typeface="Cambria Math" panose="02040503050406030204" pitchFamily="18" charset="0"/>
                                <a:cs typeface="Arial" panose="020B0604020202020204" pitchFamily="34" charset="0"/>
                              </a:rPr>
                            </m:ctrlPr>
                          </m:sSubPr>
                          <m:e>
                            <m:r>
                              <a:rPr lang="en-US" sz="2000" i="1">
                                <a:solidFill>
                                  <a:srgbClr val="000000"/>
                                </a:solidFill>
                                <a:latin typeface="Cambria Math" panose="02040503050406030204" pitchFamily="18" charset="0"/>
                                <a:cs typeface="Arial" panose="020B0604020202020204" pitchFamily="34" charset="0"/>
                              </a:rPr>
                              <m:t>𝑏</m:t>
                            </m:r>
                          </m:e>
                          <m:sub>
                            <m:r>
                              <a:rPr lang="en-US" sz="2000" b="0" i="1" smtClean="0">
                                <a:solidFill>
                                  <a:srgbClr val="000000"/>
                                </a:solidFill>
                                <a:latin typeface="Cambria Math" panose="02040503050406030204" pitchFamily="18" charset="0"/>
                                <a:cs typeface="Arial" panose="020B0604020202020204" pitchFamily="34" charset="0"/>
                              </a:rPr>
                              <m:t>1</m:t>
                            </m:r>
                          </m:sub>
                        </m:sSub>
                      </m:sub>
                    </m:sSub>
                    <m:r>
                      <a:rPr lang="en-US" sz="2000" b="0" i="1" smtClean="0">
                        <a:solidFill>
                          <a:srgbClr val="000000"/>
                        </a:solidFill>
                        <a:latin typeface="Cambria Math" panose="02040503050406030204" pitchFamily="18" charset="0"/>
                        <a:cs typeface="Arial" panose="020B0604020202020204" pitchFamily="34" charset="0"/>
                      </a:rPr>
                      <m:t>=0.2211</m:t>
                    </m:r>
                  </m:oMath>
                </a14:m>
                <a:endParaRPr lang="en-US" sz="2000" dirty="0">
                  <a:solidFill>
                    <a:srgbClr val="000000"/>
                  </a:solidFill>
                  <a:latin typeface="Arial" panose="020B0604020202020204" pitchFamily="34" charset="0"/>
                  <a:cs typeface="Arial" panose="020B0604020202020204" pitchFamily="34" charset="0"/>
                </a:endParaRPr>
              </a:p>
              <a:p>
                <a:pPr>
                  <a:spcBef>
                    <a:spcPts val="600"/>
                  </a:spcBef>
                  <a:spcAft>
                    <a:spcPts val="0"/>
                  </a:spcAft>
                </a:pPr>
                <a:r>
                  <a:rPr lang="en-US" sz="2000" dirty="0">
                    <a:solidFill>
                      <a:srgbClr val="000000"/>
                    </a:solidFill>
                    <a:latin typeface="Arial" panose="020B0604020202020204" pitchFamily="34" charset="0"/>
                    <a:cs typeface="Arial" panose="020B0604020202020204" pitchFamily="34" charset="0"/>
                  </a:rPr>
                  <a:t>Calculation of the </a:t>
                </a:r>
                <a:r>
                  <a:rPr lang="en-US" sz="2000" i="1" dirty="0">
                    <a:solidFill>
                      <a:srgbClr val="000000"/>
                    </a:solidFill>
                    <a:latin typeface="Arial" panose="020B0604020202020204" pitchFamily="34" charset="0"/>
                    <a:cs typeface="Arial" panose="020B0604020202020204" pitchFamily="34" charset="0"/>
                  </a:rPr>
                  <a:t>t</a:t>
                </a:r>
                <a:r>
                  <a:rPr lang="en-US" sz="2000" dirty="0">
                    <a:solidFill>
                      <a:srgbClr val="000000"/>
                    </a:solidFill>
                    <a:latin typeface="Arial" panose="020B0604020202020204" pitchFamily="34" charset="0"/>
                    <a:cs typeface="Arial" panose="020B0604020202020204" pitchFamily="34" charset="0"/>
                  </a:rPr>
                  <a:t>-ratios provide the test statistic for the hypotheses involving parameters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a:solidFill>
                              <a:srgbClr val="000000"/>
                            </a:solidFill>
                            <a:latin typeface="Cambria Math" panose="02040503050406030204" pitchFamily="18" charset="0"/>
                            <a:ea typeface="Cambria Math" panose="02040503050406030204" pitchFamily="18" charset="0"/>
                            <a:cs typeface="Arial" panose="020B0604020202020204" pitchFamily="34" charset="0"/>
                          </a:rPr>
                          <m:t>𝛽</m:t>
                        </m:r>
                      </m:e>
                      <m:sub>
                        <m:r>
                          <a:rPr lang="en-US" sz="2000" b="0" i="1" smtClean="0">
                            <a:solidFill>
                              <a:srgbClr val="000000"/>
                            </a:solidFill>
                            <a:latin typeface="Cambria Math" panose="02040503050406030204" pitchFamily="18" charset="0"/>
                            <a:cs typeface="Arial" panose="020B0604020202020204" pitchFamily="34" charset="0"/>
                          </a:rPr>
                          <m:t>1</m:t>
                        </m:r>
                      </m:sub>
                    </m:sSub>
                  </m:oMath>
                </a14:m>
                <a:r>
                  <a:rPr lang="en-US" sz="2000" dirty="0">
                    <a:solidFill>
                      <a:srgbClr val="000000"/>
                    </a:solidFill>
                    <a:latin typeface="Arial" panose="020B0604020202020204" pitchFamily="34" charset="0"/>
                    <a:cs typeface="Arial" panose="020B0604020202020204" pitchFamily="34" charset="0"/>
                  </a:rPr>
                  <a:t> and </a:t>
                </a:r>
                <a14:m>
                  <m:oMath xmlns:m="http://schemas.openxmlformats.org/officeDocument/2006/math">
                    <m:sSub>
                      <m:sSubPr>
                        <m:ctrlPr>
                          <a:rPr lang="en-US" sz="2000" i="1">
                            <a:solidFill>
                              <a:srgbClr val="000000"/>
                            </a:solidFill>
                            <a:latin typeface="Cambria Math" panose="02040503050406030204" pitchFamily="18" charset="0"/>
                            <a:cs typeface="Arial" panose="020B0604020202020204" pitchFamily="34" charset="0"/>
                          </a:rPr>
                        </m:ctrlPr>
                      </m:sSubPr>
                      <m:e>
                        <m:r>
                          <a:rPr lang="en-US" sz="2000" i="1">
                            <a:solidFill>
                              <a:srgbClr val="000000"/>
                            </a:solidFill>
                            <a:latin typeface="Cambria Math" panose="02040503050406030204" pitchFamily="18" charset="0"/>
                            <a:ea typeface="Cambria Math" panose="02040503050406030204" pitchFamily="18" charset="0"/>
                            <a:cs typeface="Arial" panose="020B0604020202020204" pitchFamily="34" charset="0"/>
                          </a:rPr>
                          <m:t>𝛽</m:t>
                        </m:r>
                      </m:e>
                      <m:sub>
                        <m:r>
                          <a:rPr lang="en-US" sz="2000" b="0" i="1" smtClean="0">
                            <a:solidFill>
                              <a:srgbClr val="000000"/>
                            </a:solidFill>
                            <a:latin typeface="Cambria Math" panose="02040503050406030204" pitchFamily="18" charset="0"/>
                            <a:cs typeface="Arial" panose="020B0604020202020204" pitchFamily="34" charset="0"/>
                          </a:rPr>
                          <m:t>2</m:t>
                        </m:r>
                      </m:sub>
                    </m:sSub>
                  </m:oMath>
                </a14:m>
                <a:r>
                  <a:rPr lang="en-US" sz="2000" dirty="0">
                    <a:solidFill>
                      <a:srgbClr val="000000"/>
                    </a:solidFill>
                    <a:latin typeface="Arial" panose="020B0604020202020204" pitchFamily="34" charset="0"/>
                    <a:cs typeface="Arial" panose="020B0604020202020204" pitchFamily="34" charset="0"/>
                  </a:rPr>
                  <a:t>, also provided by the computer output.</a:t>
                </a:r>
              </a:p>
              <a:p>
                <a:pPr marL="914400">
                  <a:spcBef>
                    <a:spcPts val="600"/>
                  </a:spcBef>
                  <a:spcAft>
                    <a:spcPts val="0"/>
                  </a:spcAft>
                </a:pPr>
                <a14:m>
                  <m:oMath xmlns:m="http://schemas.openxmlformats.org/officeDocument/2006/math">
                    <m:f>
                      <m:fPr>
                        <m:type m:val="lin"/>
                        <m:ctrlPr>
                          <a:rPr lang="en-US" sz="2000" i="1" smtClean="0">
                            <a:solidFill>
                              <a:srgbClr val="000000"/>
                            </a:solidFill>
                            <a:latin typeface="Cambria Math" panose="02040503050406030204" pitchFamily="18" charset="0"/>
                            <a:cs typeface="Arial" panose="020B0604020202020204" pitchFamily="34" charset="0"/>
                          </a:rPr>
                        </m:ctrlPr>
                      </m:fPr>
                      <m:num>
                        <m:sSub>
                          <m:sSubPr>
                            <m:ctrlPr>
                              <a:rPr lang="en-US" sz="2000" i="1">
                                <a:solidFill>
                                  <a:srgbClr val="000000"/>
                                </a:solidFill>
                                <a:latin typeface="Cambria Math" panose="02040503050406030204" pitchFamily="18" charset="0"/>
                                <a:cs typeface="Arial" panose="020B0604020202020204" pitchFamily="34" charset="0"/>
                              </a:rPr>
                            </m:ctrlPr>
                          </m:sSubPr>
                          <m:e>
                            <m:r>
                              <a:rPr lang="en-US" sz="2000" i="1">
                                <a:solidFill>
                                  <a:srgbClr val="000000"/>
                                </a:solidFill>
                                <a:latin typeface="Cambria Math" panose="02040503050406030204" pitchFamily="18" charset="0"/>
                                <a:cs typeface="Arial" panose="020B0604020202020204" pitchFamily="34" charset="0"/>
                              </a:rPr>
                              <m:t>𝑏</m:t>
                            </m:r>
                          </m:e>
                          <m:sub>
                            <m:r>
                              <a:rPr lang="en-US" sz="2000" i="1">
                                <a:solidFill>
                                  <a:srgbClr val="000000"/>
                                </a:solidFill>
                                <a:latin typeface="Cambria Math" panose="02040503050406030204" pitchFamily="18" charset="0"/>
                                <a:cs typeface="Arial" panose="020B0604020202020204" pitchFamily="34" charset="0"/>
                              </a:rPr>
                              <m:t>1</m:t>
                            </m:r>
                          </m:sub>
                        </m:sSub>
                      </m:num>
                      <m:den>
                        <m:sSub>
                          <m:sSubPr>
                            <m:ctrlPr>
                              <a:rPr lang="en-US" sz="2000" i="1">
                                <a:solidFill>
                                  <a:srgbClr val="000000"/>
                                </a:solidFill>
                                <a:latin typeface="Cambria Math" panose="02040503050406030204" pitchFamily="18" charset="0"/>
                                <a:cs typeface="Arial" panose="020B0604020202020204" pitchFamily="34" charset="0"/>
                              </a:rPr>
                            </m:ctrlPr>
                          </m:sSubPr>
                          <m:e>
                            <m:r>
                              <a:rPr lang="en-US" sz="2000" i="1">
                                <a:solidFill>
                                  <a:srgbClr val="000000"/>
                                </a:solidFill>
                                <a:latin typeface="Cambria Math" panose="02040503050406030204" pitchFamily="18" charset="0"/>
                                <a:cs typeface="Arial" panose="020B0604020202020204" pitchFamily="34" charset="0"/>
                              </a:rPr>
                              <m:t>𝑠</m:t>
                            </m:r>
                          </m:e>
                          <m:sub>
                            <m:sSub>
                              <m:sSubPr>
                                <m:ctrlPr>
                                  <a:rPr lang="en-US" sz="2000" i="1">
                                    <a:solidFill>
                                      <a:srgbClr val="000000"/>
                                    </a:solidFill>
                                    <a:latin typeface="Cambria Math" panose="02040503050406030204" pitchFamily="18" charset="0"/>
                                    <a:cs typeface="Arial" panose="020B0604020202020204" pitchFamily="34" charset="0"/>
                                  </a:rPr>
                                </m:ctrlPr>
                              </m:sSubPr>
                              <m:e>
                                <m:r>
                                  <a:rPr lang="en-US" sz="2000" i="1">
                                    <a:solidFill>
                                      <a:srgbClr val="000000"/>
                                    </a:solidFill>
                                    <a:latin typeface="Cambria Math" panose="02040503050406030204" pitchFamily="18" charset="0"/>
                                    <a:cs typeface="Arial" panose="020B0604020202020204" pitchFamily="34" charset="0"/>
                                  </a:rPr>
                                  <m:t>𝑏</m:t>
                                </m:r>
                              </m:e>
                              <m:sub>
                                <m:r>
                                  <a:rPr lang="en-US" sz="2000" i="1">
                                    <a:solidFill>
                                      <a:srgbClr val="000000"/>
                                    </a:solidFill>
                                    <a:latin typeface="Cambria Math" panose="02040503050406030204" pitchFamily="18" charset="0"/>
                                    <a:cs typeface="Arial" panose="020B0604020202020204" pitchFamily="34" charset="0"/>
                                  </a:rPr>
                                  <m:t>1</m:t>
                                </m:r>
                              </m:sub>
                            </m:sSub>
                          </m:sub>
                        </m:sSub>
                      </m:den>
                    </m:f>
                    <m:r>
                      <a:rPr lang="en-US" sz="2000" b="0" i="1" smtClean="0">
                        <a:solidFill>
                          <a:srgbClr val="000000"/>
                        </a:solidFill>
                        <a:latin typeface="Cambria Math" panose="02040503050406030204" pitchFamily="18" charset="0"/>
                        <a:cs typeface="Arial" panose="020B0604020202020204" pitchFamily="34" charset="0"/>
                      </a:rPr>
                      <m:t>=</m:t>
                    </m:r>
                    <m:f>
                      <m:fPr>
                        <m:type m:val="lin"/>
                        <m:ctrlPr>
                          <a:rPr lang="en-US" sz="2000" b="0" i="1" smtClean="0">
                            <a:solidFill>
                              <a:srgbClr val="000000"/>
                            </a:solidFill>
                            <a:latin typeface="Cambria Math" panose="02040503050406030204" pitchFamily="18" charset="0"/>
                            <a:cs typeface="Arial" panose="020B0604020202020204" pitchFamily="34" charset="0"/>
                          </a:rPr>
                        </m:ctrlPr>
                      </m:fPr>
                      <m:num>
                        <m:r>
                          <a:rPr lang="en-US" sz="2000" b="0" i="1" smtClean="0">
                            <a:solidFill>
                              <a:srgbClr val="000000"/>
                            </a:solidFill>
                            <a:latin typeface="Cambria Math" panose="02040503050406030204" pitchFamily="18" charset="0"/>
                            <a:cs typeface="Arial" panose="020B0604020202020204" pitchFamily="34" charset="0"/>
                          </a:rPr>
                          <m:t>0.0611</m:t>
                        </m:r>
                      </m:num>
                      <m:den>
                        <m:r>
                          <a:rPr lang="en-US" sz="2000" b="0" i="1" smtClean="0">
                            <a:solidFill>
                              <a:srgbClr val="000000"/>
                            </a:solidFill>
                            <a:latin typeface="Cambria Math" panose="02040503050406030204" pitchFamily="18" charset="0"/>
                            <a:cs typeface="Arial" panose="020B0604020202020204" pitchFamily="34" charset="0"/>
                          </a:rPr>
                          <m:t>0.0099</m:t>
                        </m:r>
                      </m:den>
                    </m:f>
                    <m:r>
                      <a:rPr lang="en-US" sz="2000" b="0" i="1" smtClean="0">
                        <a:solidFill>
                          <a:srgbClr val="000000"/>
                        </a:solidFill>
                        <a:latin typeface="Cambria Math" panose="02040503050406030204" pitchFamily="18" charset="0"/>
                        <a:cs typeface="Arial" panose="020B0604020202020204" pitchFamily="34" charset="0"/>
                      </a:rPr>
                      <m:t>=6.1717</m:t>
                    </m:r>
                  </m:oMath>
                </a14:m>
                <a:r>
                  <a:rPr lang="en-US" sz="2000" dirty="0">
                    <a:solidFill>
                      <a:srgbClr val="000000"/>
                    </a:solidFill>
                    <a:latin typeface="Arial" panose="020B0604020202020204" pitchFamily="34" charset="0"/>
                    <a:cs typeface="Arial" panose="020B0604020202020204" pitchFamily="34" charset="0"/>
                  </a:rPr>
                  <a:t> </a:t>
                </a:r>
              </a:p>
              <a:p>
                <a:pPr marL="914400">
                  <a:spcBef>
                    <a:spcPts val="600"/>
                  </a:spcBef>
                  <a:spcAft>
                    <a:spcPts val="0"/>
                  </a:spcAft>
                </a:pPr>
                <a14:m>
                  <m:oMath xmlns:m="http://schemas.openxmlformats.org/officeDocument/2006/math">
                    <m:f>
                      <m:fPr>
                        <m:type m:val="lin"/>
                        <m:ctrlPr>
                          <a:rPr lang="en-US" sz="2000" i="1" smtClean="0">
                            <a:solidFill>
                              <a:srgbClr val="000000"/>
                            </a:solidFill>
                            <a:latin typeface="Cambria Math" panose="02040503050406030204" pitchFamily="18" charset="0"/>
                            <a:cs typeface="Arial" panose="020B0604020202020204" pitchFamily="34" charset="0"/>
                          </a:rPr>
                        </m:ctrlPr>
                      </m:fPr>
                      <m:num>
                        <m:sSub>
                          <m:sSubPr>
                            <m:ctrlPr>
                              <a:rPr lang="en-US" sz="2000" i="1">
                                <a:solidFill>
                                  <a:srgbClr val="000000"/>
                                </a:solidFill>
                                <a:latin typeface="Cambria Math" panose="02040503050406030204" pitchFamily="18" charset="0"/>
                                <a:cs typeface="Arial" panose="020B0604020202020204" pitchFamily="34" charset="0"/>
                              </a:rPr>
                            </m:ctrlPr>
                          </m:sSubPr>
                          <m:e>
                            <m:r>
                              <a:rPr lang="en-US" sz="2000" i="1">
                                <a:solidFill>
                                  <a:srgbClr val="000000"/>
                                </a:solidFill>
                                <a:latin typeface="Cambria Math" panose="02040503050406030204" pitchFamily="18" charset="0"/>
                                <a:cs typeface="Arial" panose="020B0604020202020204" pitchFamily="34" charset="0"/>
                              </a:rPr>
                              <m:t>𝑏</m:t>
                            </m:r>
                          </m:e>
                          <m:sub>
                            <m:r>
                              <a:rPr lang="en-US" sz="2000" b="0" i="1" smtClean="0">
                                <a:solidFill>
                                  <a:srgbClr val="000000"/>
                                </a:solidFill>
                                <a:latin typeface="Cambria Math" panose="02040503050406030204" pitchFamily="18" charset="0"/>
                                <a:cs typeface="Arial" panose="020B0604020202020204" pitchFamily="34" charset="0"/>
                              </a:rPr>
                              <m:t>2</m:t>
                            </m:r>
                          </m:sub>
                        </m:sSub>
                      </m:num>
                      <m:den>
                        <m:sSub>
                          <m:sSubPr>
                            <m:ctrlPr>
                              <a:rPr lang="en-US" sz="2000" i="1">
                                <a:solidFill>
                                  <a:srgbClr val="000000"/>
                                </a:solidFill>
                                <a:latin typeface="Cambria Math" panose="02040503050406030204" pitchFamily="18" charset="0"/>
                                <a:cs typeface="Arial" panose="020B0604020202020204" pitchFamily="34" charset="0"/>
                              </a:rPr>
                            </m:ctrlPr>
                          </m:sSubPr>
                          <m:e>
                            <m:r>
                              <a:rPr lang="en-US" sz="2000" i="1">
                                <a:solidFill>
                                  <a:srgbClr val="000000"/>
                                </a:solidFill>
                                <a:latin typeface="Cambria Math" panose="02040503050406030204" pitchFamily="18" charset="0"/>
                                <a:cs typeface="Arial" panose="020B0604020202020204" pitchFamily="34" charset="0"/>
                              </a:rPr>
                              <m:t>𝑠</m:t>
                            </m:r>
                          </m:e>
                          <m:sub>
                            <m:sSub>
                              <m:sSubPr>
                                <m:ctrlPr>
                                  <a:rPr lang="en-US" sz="2000" i="1">
                                    <a:solidFill>
                                      <a:srgbClr val="000000"/>
                                    </a:solidFill>
                                    <a:latin typeface="Cambria Math" panose="02040503050406030204" pitchFamily="18" charset="0"/>
                                    <a:cs typeface="Arial" panose="020B0604020202020204" pitchFamily="34" charset="0"/>
                                  </a:rPr>
                                </m:ctrlPr>
                              </m:sSubPr>
                              <m:e>
                                <m:r>
                                  <a:rPr lang="en-US" sz="2000" i="1">
                                    <a:solidFill>
                                      <a:srgbClr val="000000"/>
                                    </a:solidFill>
                                    <a:latin typeface="Cambria Math" panose="02040503050406030204" pitchFamily="18" charset="0"/>
                                    <a:cs typeface="Arial" panose="020B0604020202020204" pitchFamily="34" charset="0"/>
                                  </a:rPr>
                                  <m:t>𝑏</m:t>
                                </m:r>
                              </m:e>
                              <m:sub>
                                <m:r>
                                  <a:rPr lang="en-US" sz="2000" b="0" i="1" smtClean="0">
                                    <a:solidFill>
                                      <a:srgbClr val="000000"/>
                                    </a:solidFill>
                                    <a:latin typeface="Cambria Math" panose="02040503050406030204" pitchFamily="18" charset="0"/>
                                    <a:cs typeface="Arial" panose="020B0604020202020204" pitchFamily="34" charset="0"/>
                                  </a:rPr>
                                  <m:t>2</m:t>
                                </m:r>
                              </m:sub>
                            </m:sSub>
                          </m:sub>
                        </m:sSub>
                      </m:den>
                    </m:f>
                    <m:r>
                      <a:rPr lang="en-US" sz="2000" b="0" i="1" smtClean="0">
                        <a:solidFill>
                          <a:srgbClr val="000000"/>
                        </a:solidFill>
                        <a:latin typeface="Cambria Math" panose="02040503050406030204" pitchFamily="18" charset="0"/>
                        <a:cs typeface="Arial" panose="020B0604020202020204" pitchFamily="34" charset="0"/>
                      </a:rPr>
                      <m:t>=</m:t>
                    </m:r>
                    <m:f>
                      <m:fPr>
                        <m:type m:val="lin"/>
                        <m:ctrlPr>
                          <a:rPr lang="en-US" sz="2000" b="0" i="1" smtClean="0">
                            <a:solidFill>
                              <a:srgbClr val="000000"/>
                            </a:solidFill>
                            <a:latin typeface="Cambria Math" panose="02040503050406030204" pitchFamily="18" charset="0"/>
                            <a:cs typeface="Arial" panose="020B0604020202020204" pitchFamily="34" charset="0"/>
                          </a:rPr>
                        </m:ctrlPr>
                      </m:fPr>
                      <m:num>
                        <m:r>
                          <a:rPr lang="en-US" sz="2000" b="0" i="1" smtClean="0">
                            <a:solidFill>
                              <a:srgbClr val="000000"/>
                            </a:solidFill>
                            <a:latin typeface="Cambria Math" panose="02040503050406030204" pitchFamily="18" charset="0"/>
                            <a:cs typeface="Arial" panose="020B0604020202020204" pitchFamily="34" charset="0"/>
                          </a:rPr>
                          <m:t>0.9234</m:t>
                        </m:r>
                      </m:num>
                      <m:den>
                        <m:r>
                          <a:rPr lang="en-US" sz="2000" b="0" i="1" smtClean="0">
                            <a:solidFill>
                              <a:srgbClr val="000000"/>
                            </a:solidFill>
                            <a:latin typeface="Cambria Math" panose="02040503050406030204" pitchFamily="18" charset="0"/>
                            <a:cs typeface="Arial" panose="020B0604020202020204" pitchFamily="34" charset="0"/>
                          </a:rPr>
                          <m:t>0.2211</m:t>
                        </m:r>
                      </m:den>
                    </m:f>
                    <m:r>
                      <a:rPr lang="en-US" sz="2000" b="0" i="1" smtClean="0">
                        <a:solidFill>
                          <a:srgbClr val="000000"/>
                        </a:solidFill>
                        <a:latin typeface="Cambria Math" panose="02040503050406030204" pitchFamily="18" charset="0"/>
                        <a:cs typeface="Arial" panose="020B0604020202020204" pitchFamily="34" charset="0"/>
                      </a:rPr>
                      <m:t>=4.1764</m:t>
                    </m:r>
                  </m:oMath>
                </a14:m>
                <a:r>
                  <a:rPr lang="en-US" sz="2000" dirty="0">
                    <a:solidFill>
                      <a:srgbClr val="000000"/>
                    </a:solidFill>
                    <a:latin typeface="Arial" panose="020B0604020202020204" pitchFamily="34" charset="0"/>
                    <a:cs typeface="Arial" panose="020B0604020202020204" pitchFamily="34" charset="0"/>
                  </a:rPr>
                  <a:t> </a:t>
                </a:r>
              </a:p>
              <a:p>
                <a:pPr>
                  <a:spcBef>
                    <a:spcPts val="600"/>
                  </a:spcBef>
                  <a:spcAft>
                    <a:spcPts val="0"/>
                  </a:spcAft>
                </a:pPr>
                <a:r>
                  <a:rPr lang="en-US" sz="2000" dirty="0">
                    <a:solidFill>
                      <a:srgbClr val="000000"/>
                    </a:solidFill>
                    <a:latin typeface="Arial" panose="020B0604020202020204" pitchFamily="34" charset="0"/>
                    <a:cs typeface="Arial" panose="020B0604020202020204" pitchFamily="34" charset="0"/>
                  </a:rPr>
                  <a:t>Using </a:t>
                </a:r>
                <a14:m>
                  <m:oMath xmlns:m="http://schemas.openxmlformats.org/officeDocument/2006/math">
                    <m:r>
                      <a:rPr lang="en-US" sz="2000" i="1" dirty="0"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𝛼</m:t>
                    </m:r>
                    <m:r>
                      <a:rPr lang="en-US" sz="2000" b="0" i="1" dirty="0"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=0.01</m:t>
                    </m:r>
                  </m:oMath>
                </a14:m>
                <a:r>
                  <a:rPr lang="en-US" sz="2000" dirty="0">
                    <a:solidFill>
                      <a:srgbClr val="000000"/>
                    </a:solidFill>
                    <a:latin typeface="Arial" panose="020B0604020202020204" pitchFamily="34" charset="0"/>
                    <a:cs typeface="Arial" panose="020B0604020202020204" pitchFamily="34" charset="0"/>
                  </a:rPr>
                  <a:t>, the </a:t>
                </a:r>
                <a:r>
                  <a:rPr lang="en-US" sz="2000" i="1" dirty="0">
                    <a:solidFill>
                      <a:srgbClr val="000000"/>
                    </a:solidFill>
                    <a:latin typeface="Arial" panose="020B0604020202020204" pitchFamily="34" charset="0"/>
                    <a:cs typeface="Arial" panose="020B0604020202020204" pitchFamily="34" charset="0"/>
                  </a:rPr>
                  <a:t>p</a:t>
                </a:r>
                <a:r>
                  <a:rPr lang="en-US" sz="2000" dirty="0">
                    <a:solidFill>
                      <a:srgbClr val="000000"/>
                    </a:solidFill>
                    <a:latin typeface="Arial" panose="020B0604020202020204" pitchFamily="34" charset="0"/>
                    <a:cs typeface="Arial" panose="020B0604020202020204" pitchFamily="34" charset="0"/>
                  </a:rPr>
                  <a:t>-values of 0.000 and 0.004 in the output indicate that we can reject </a:t>
                </a:r>
                <a14:m>
                  <m:oMath xmlns:m="http://schemas.openxmlformats.org/officeDocument/2006/math">
                    <m:sSub>
                      <m:sSubPr>
                        <m:ctrlPr>
                          <a:rPr lang="en-US" sz="2000" i="1" dirty="0" smtClean="0">
                            <a:solidFill>
                              <a:srgbClr val="000000"/>
                            </a:solidFill>
                            <a:latin typeface="Cambria Math" panose="02040503050406030204" pitchFamily="18" charset="0"/>
                            <a:cs typeface="Arial" panose="020B0604020202020204" pitchFamily="34" charset="0"/>
                          </a:rPr>
                        </m:ctrlPr>
                      </m:sSubPr>
                      <m:e>
                        <m:r>
                          <a:rPr lang="en-US" sz="2000" i="1" dirty="0">
                            <a:solidFill>
                              <a:srgbClr val="000000"/>
                            </a:solidFill>
                            <a:latin typeface="Cambria Math" panose="02040503050406030204" pitchFamily="18" charset="0"/>
                            <a:cs typeface="Arial" panose="020B0604020202020204" pitchFamily="34" charset="0"/>
                          </a:rPr>
                          <m:t>𝐻</m:t>
                        </m:r>
                      </m:e>
                      <m:sub>
                        <m:r>
                          <a:rPr lang="en-US" sz="2000" b="0" i="1" dirty="0" smtClean="0">
                            <a:solidFill>
                              <a:srgbClr val="000000"/>
                            </a:solidFill>
                            <a:latin typeface="Cambria Math" panose="02040503050406030204" pitchFamily="18" charset="0"/>
                            <a:cs typeface="Arial" panose="020B0604020202020204" pitchFamily="34" charset="0"/>
                          </a:rPr>
                          <m:t>0</m:t>
                        </m:r>
                      </m:sub>
                    </m:sSub>
                    <m:r>
                      <a:rPr lang="en-US" sz="2000" i="1" dirty="0" smtClean="0">
                        <a:solidFill>
                          <a:srgbClr val="000000"/>
                        </a:solidFill>
                        <a:latin typeface="Cambria Math" panose="02040503050406030204" pitchFamily="18" charset="0"/>
                        <a:cs typeface="Arial" panose="020B0604020202020204" pitchFamily="34" charset="0"/>
                      </a:rPr>
                      <m:t>:</m:t>
                    </m:r>
                    <m:r>
                      <a:rPr lang="en-US" sz="2000" b="0" i="1" dirty="0" smtClean="0">
                        <a:solidFill>
                          <a:srgbClr val="000000"/>
                        </a:solidFill>
                        <a:latin typeface="Cambria Math" panose="02040503050406030204" pitchFamily="18" charset="0"/>
                        <a:cs typeface="Arial" panose="020B0604020202020204" pitchFamily="34" charset="0"/>
                      </a:rPr>
                      <m:t> </m:t>
                    </m:r>
                    <m:sSub>
                      <m:sSubPr>
                        <m:ctrlPr>
                          <a:rPr lang="en-US" sz="2000" i="1" dirty="0" smtClean="0">
                            <a:solidFill>
                              <a:srgbClr val="000000"/>
                            </a:solidFill>
                            <a:latin typeface="Cambria Math" panose="02040503050406030204" pitchFamily="18" charset="0"/>
                            <a:cs typeface="Arial" panose="020B0604020202020204" pitchFamily="34" charset="0"/>
                          </a:rPr>
                        </m:ctrlPr>
                      </m:sSubPr>
                      <m:e>
                        <m:r>
                          <a:rPr lang="en-US" sz="2000" i="1" dirty="0">
                            <a:solidFill>
                              <a:srgbClr val="000000"/>
                            </a:solidFill>
                            <a:latin typeface="Cambria Math" panose="02040503050406030204" pitchFamily="18" charset="0"/>
                            <a:cs typeface="Arial" panose="020B0604020202020204" pitchFamily="34" charset="0"/>
                          </a:rPr>
                          <m:t>𝑏</m:t>
                        </m:r>
                      </m:e>
                      <m:sub>
                        <m:r>
                          <a:rPr lang="en-US" sz="2000" b="0" i="1" dirty="0" smtClean="0">
                            <a:solidFill>
                              <a:srgbClr val="000000"/>
                            </a:solidFill>
                            <a:latin typeface="Cambria Math" panose="02040503050406030204" pitchFamily="18" charset="0"/>
                            <a:cs typeface="Arial" panose="020B0604020202020204" pitchFamily="34" charset="0"/>
                          </a:rPr>
                          <m:t>1</m:t>
                        </m:r>
                      </m:sub>
                    </m:sSub>
                    <m:r>
                      <a:rPr lang="en-US" sz="2000" i="1" dirty="0" smtClean="0">
                        <a:solidFill>
                          <a:srgbClr val="000000"/>
                        </a:solidFill>
                        <a:latin typeface="Cambria Math" panose="02040503050406030204" pitchFamily="18" charset="0"/>
                        <a:cs typeface="Arial" panose="020B0604020202020204" pitchFamily="34" charset="0"/>
                      </a:rPr>
                      <m:t>=0</m:t>
                    </m:r>
                  </m:oMath>
                </a14:m>
                <a:r>
                  <a:rPr lang="en-US" sz="2000" dirty="0">
                    <a:solidFill>
                      <a:srgbClr val="000000"/>
                    </a:solidFill>
                    <a:latin typeface="Arial" panose="020B0604020202020204" pitchFamily="34" charset="0"/>
                    <a:cs typeface="Arial" panose="020B0604020202020204" pitchFamily="34" charset="0"/>
                  </a:rPr>
                  <a:t> and </a:t>
                </a:r>
                <a14:m>
                  <m:oMath xmlns:m="http://schemas.openxmlformats.org/officeDocument/2006/math">
                    <m:sSub>
                      <m:sSubPr>
                        <m:ctrlPr>
                          <a:rPr lang="en-US" sz="2000" i="1" dirty="0">
                            <a:solidFill>
                              <a:srgbClr val="000000"/>
                            </a:solidFill>
                            <a:latin typeface="Cambria Math" panose="02040503050406030204" pitchFamily="18" charset="0"/>
                            <a:cs typeface="Arial" panose="020B0604020202020204" pitchFamily="34" charset="0"/>
                          </a:rPr>
                        </m:ctrlPr>
                      </m:sSubPr>
                      <m:e>
                        <m:r>
                          <a:rPr lang="en-US" sz="2000" i="1" dirty="0">
                            <a:solidFill>
                              <a:srgbClr val="000000"/>
                            </a:solidFill>
                            <a:latin typeface="Cambria Math" panose="02040503050406030204" pitchFamily="18" charset="0"/>
                            <a:cs typeface="Arial" panose="020B0604020202020204" pitchFamily="34" charset="0"/>
                          </a:rPr>
                          <m:t>𝐻</m:t>
                        </m:r>
                      </m:e>
                      <m:sub>
                        <m:r>
                          <a:rPr lang="en-US" sz="2000" i="1" dirty="0">
                            <a:solidFill>
                              <a:srgbClr val="000000"/>
                            </a:solidFill>
                            <a:latin typeface="Cambria Math" panose="02040503050406030204" pitchFamily="18" charset="0"/>
                            <a:cs typeface="Arial" panose="020B0604020202020204" pitchFamily="34" charset="0"/>
                          </a:rPr>
                          <m:t>0</m:t>
                        </m:r>
                      </m:sub>
                    </m:sSub>
                    <m:r>
                      <a:rPr lang="en-US" sz="2000" i="1" dirty="0">
                        <a:solidFill>
                          <a:srgbClr val="000000"/>
                        </a:solidFill>
                        <a:latin typeface="Cambria Math" panose="02040503050406030204" pitchFamily="18" charset="0"/>
                        <a:cs typeface="Arial" panose="020B0604020202020204" pitchFamily="34" charset="0"/>
                      </a:rPr>
                      <m:t>: </m:t>
                    </m:r>
                    <m:sSub>
                      <m:sSubPr>
                        <m:ctrlPr>
                          <a:rPr lang="en-US" sz="2000" i="1" dirty="0">
                            <a:solidFill>
                              <a:srgbClr val="000000"/>
                            </a:solidFill>
                            <a:latin typeface="Cambria Math" panose="02040503050406030204" pitchFamily="18" charset="0"/>
                            <a:cs typeface="Arial" panose="020B0604020202020204" pitchFamily="34" charset="0"/>
                          </a:rPr>
                        </m:ctrlPr>
                      </m:sSubPr>
                      <m:e>
                        <m:r>
                          <a:rPr lang="en-US" sz="2000" i="1" dirty="0">
                            <a:solidFill>
                              <a:srgbClr val="000000"/>
                            </a:solidFill>
                            <a:latin typeface="Cambria Math" panose="02040503050406030204" pitchFamily="18" charset="0"/>
                            <a:cs typeface="Arial" panose="020B0604020202020204" pitchFamily="34" charset="0"/>
                          </a:rPr>
                          <m:t>𝑏</m:t>
                        </m:r>
                      </m:e>
                      <m:sub>
                        <m:r>
                          <a:rPr lang="en-US" sz="2000" b="0" i="1" dirty="0" smtClean="0">
                            <a:solidFill>
                              <a:srgbClr val="000000"/>
                            </a:solidFill>
                            <a:latin typeface="Cambria Math" panose="02040503050406030204" pitchFamily="18" charset="0"/>
                            <a:cs typeface="Arial" panose="020B0604020202020204" pitchFamily="34" charset="0"/>
                          </a:rPr>
                          <m:t>2</m:t>
                        </m:r>
                      </m:sub>
                    </m:sSub>
                    <m:r>
                      <a:rPr lang="en-US" sz="2000" i="1" dirty="0">
                        <a:solidFill>
                          <a:srgbClr val="000000"/>
                        </a:solidFill>
                        <a:latin typeface="Cambria Math" panose="02040503050406030204" pitchFamily="18" charset="0"/>
                        <a:cs typeface="Arial" panose="020B0604020202020204" pitchFamily="34" charset="0"/>
                      </a:rPr>
                      <m:t>=0</m:t>
                    </m:r>
                  </m:oMath>
                </a14:m>
                <a:r>
                  <a:rPr lang="en-US" sz="2000" dirty="0">
                    <a:solidFill>
                      <a:srgbClr val="000000"/>
                    </a:solidFill>
                    <a:latin typeface="Arial" panose="020B0604020202020204" pitchFamily="34" charset="0"/>
                    <a:cs typeface="Arial" panose="020B0604020202020204" pitchFamily="34" charset="0"/>
                  </a:rPr>
                  <a:t>. Hence, both parameters are statistically significant.</a:t>
                </a:r>
              </a:p>
              <a:p>
                <a:pPr>
                  <a:spcBef>
                    <a:spcPts val="600"/>
                  </a:spcBef>
                  <a:spcAft>
                    <a:spcPts val="0"/>
                  </a:spcAft>
                </a:pPr>
                <a:r>
                  <a:rPr lang="en-US" sz="2000" dirty="0">
                    <a:solidFill>
                      <a:srgbClr val="000000"/>
                    </a:solidFill>
                    <a:latin typeface="Arial" panose="020B0604020202020204" pitchFamily="34" charset="0"/>
                    <a:cs typeface="Arial" panose="020B0604020202020204" pitchFamily="34" charset="0"/>
                  </a:rPr>
                  <a:t>The next slide shows a portion of the Excel Regression tool output shown previously in Section 15.2 with miles traveled </a:t>
                </a:r>
                <a:r>
                  <a:rPr lang="en-US" sz="2000" dirty="0">
                    <a:solidFill>
                      <a:srgbClr val="000000"/>
                    </a:solidFill>
                  </a:rPr>
                  <a:t>(</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a:solidFill>
                              <a:srgbClr val="000000"/>
                            </a:solidFill>
                            <a:latin typeface="Cambria Math" panose="02040503050406030204" pitchFamily="18" charset="0"/>
                            <a:cs typeface="Arial" panose="020B0604020202020204" pitchFamily="34" charset="0"/>
                          </a:rPr>
                          <m:t>𝑥</m:t>
                        </m:r>
                      </m:e>
                      <m:sub>
                        <m:r>
                          <a:rPr lang="en-US" sz="2000" b="0" i="1" smtClean="0">
                            <a:solidFill>
                              <a:srgbClr val="000000"/>
                            </a:solidFill>
                            <a:latin typeface="Cambria Math" panose="02040503050406030204" pitchFamily="18" charset="0"/>
                            <a:cs typeface="Arial" panose="020B0604020202020204" pitchFamily="34" charset="0"/>
                          </a:rPr>
                          <m:t>1</m:t>
                        </m:r>
                      </m:sub>
                    </m:sSub>
                  </m:oMath>
                </a14:m>
                <a:r>
                  <a:rPr lang="en-US" sz="2000" dirty="0">
                    <a:solidFill>
                      <a:srgbClr val="000000"/>
                    </a:solidFill>
                    <a:latin typeface="Arial" panose="020B0604020202020204" pitchFamily="34" charset="0"/>
                    <a:cs typeface="Arial" panose="020B0604020202020204" pitchFamily="34" charset="0"/>
                  </a:rPr>
                  <a:t>) and number of deliveries (</a:t>
                </a:r>
                <a14:m>
                  <m:oMath xmlns:m="http://schemas.openxmlformats.org/officeDocument/2006/math">
                    <m:sSub>
                      <m:sSubPr>
                        <m:ctrlPr>
                          <a:rPr lang="en-US" sz="2000" i="1">
                            <a:solidFill>
                              <a:srgbClr val="000000"/>
                            </a:solidFill>
                            <a:latin typeface="Cambria Math" panose="02040503050406030204" pitchFamily="18" charset="0"/>
                            <a:cs typeface="Arial" panose="020B0604020202020204" pitchFamily="34" charset="0"/>
                          </a:rPr>
                        </m:ctrlPr>
                      </m:sSubPr>
                      <m:e>
                        <m:r>
                          <a:rPr lang="en-US" sz="2000" b="0" i="1">
                            <a:solidFill>
                              <a:srgbClr val="000000"/>
                            </a:solidFill>
                            <a:latin typeface="Cambria Math" panose="02040503050406030204" pitchFamily="18" charset="0"/>
                            <a:cs typeface="Arial" panose="020B0604020202020204" pitchFamily="34" charset="0"/>
                          </a:rPr>
                          <m:t>𝑥</m:t>
                        </m:r>
                      </m:e>
                      <m:sub>
                        <m:r>
                          <a:rPr lang="en-US" sz="2000" b="0" i="1" smtClean="0">
                            <a:solidFill>
                              <a:srgbClr val="000000"/>
                            </a:solidFill>
                            <a:latin typeface="Cambria Math" panose="02040503050406030204" pitchFamily="18" charset="0"/>
                            <a:cs typeface="Arial" panose="020B0604020202020204" pitchFamily="34" charset="0"/>
                          </a:rPr>
                          <m:t>2</m:t>
                        </m:r>
                      </m:sub>
                    </m:sSub>
                  </m:oMath>
                </a14:m>
                <a:r>
                  <a:rPr lang="en-US" sz="2000" dirty="0">
                    <a:solidFill>
                      <a:srgbClr val="000000"/>
                    </a:solidFill>
                    <a:latin typeface="Arial" panose="020B0604020202020204" pitchFamily="34" charset="0"/>
                    <a:cs typeface="Arial" panose="020B0604020202020204" pitchFamily="34" charset="0"/>
                  </a:rPr>
                  <a:t>) as the two independent variables.</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699496" y="1324302"/>
                <a:ext cx="10781737" cy="4437995"/>
              </a:xfrm>
              <a:blipFill>
                <a:blip r:embed="rId4"/>
                <a:stretch>
                  <a:fillRect l="-1471" t="-1648" r="-792" b="-962"/>
                </a:stretch>
              </a:blipFill>
            </p:spPr>
            <p:txBody>
              <a:bodyPr/>
              <a:lstStyle/>
              <a:p>
                <a:r>
                  <a:rPr lang="en-IN">
                    <a:noFill/>
                  </a:rPr>
                  <a:t> </a:t>
                </a:r>
              </a:p>
            </p:txBody>
          </p:sp>
        </mc:Fallback>
      </mc:AlternateContent>
    </p:spTree>
    <p:extLst>
      <p:ext uri="{BB962C8B-B14F-4D97-AF65-F5344CB8AC3E}">
        <p14:creationId xmlns:p14="http://schemas.microsoft.com/office/powerpoint/2010/main" val="31120877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8693D-FA23-873C-BD4C-605E8A43FA4D}"/>
              </a:ext>
            </a:extLst>
          </p:cNvPr>
          <p:cNvSpPr>
            <a:spLocks noGrp="1"/>
          </p:cNvSpPr>
          <p:nvPr>
            <p:ph type="title"/>
          </p:nvPr>
        </p:nvSpPr>
        <p:spPr>
          <a:xfrm>
            <a:off x="514351" y="365125"/>
            <a:ext cx="11160919" cy="672105"/>
          </a:xfrm>
        </p:spPr>
        <p:txBody>
          <a:bodyPr/>
          <a:lstStyle/>
          <a:p>
            <a:r>
              <a:rPr lang="en-US" sz="3200" dirty="0">
                <a:solidFill>
                  <a:srgbClr val="25894E"/>
                </a:solidFill>
              </a:rPr>
              <a:t>15.5 Excel: Testing for Significance on Regression Output</a:t>
            </a:r>
          </a:p>
        </p:txBody>
      </p:sp>
      <p:pic>
        <p:nvPicPr>
          <p:cNvPr id="5" name="Picture Placeholder 4" descr="A screenshot of an Excel spreadsheet shows an input table and three output tables. In the input table, column A is labeled assignment, column B is labeled miles, column C is labeled deliveries, and column D is labeled time. The entries in rows 2 through 11 are as follows. Row 2. Assignment: 1. Miles: 100. Deliveries: 4. Time: 9.3. Row 3. Assignment: 2. Miles: 50. Deliveries: 3. Time: 4.8. Row 4. Assignment: 3. Miles: 100. Deliveries: 4. Time: 8.9. Row 5. Assignment: 4. Miles: 100. Deliveries: 2. Time: 6.5. Row 6. Assignment: 5. Miles: 50. Deliveries: 2. Time: 4.2. Row 7. Assignment: 6. Miles: 80. Deliveries: 2. Time: 6.2. Row 8. Assignment: 7. Miles: 75. Deliveries: 3. Time: 7.4. Row 9. Assignment: 8. Miles: 65. Deliveries: 4. Time: 6.0. Row 10. Assignment: 9. Miles: 9. Deliveries: 3. Time: 7.6. Row 11. Assignment: 10. Miles: 90. Deliveries: 2. Time: 6.1. The first output table is titled regression statistics. The entries in rows 16 through 20 are as follows. Row 16: Multiple R, 0.9507. Row 17: R square, 0.9038. Row 18: Adjusted R square, 0.8763. Row 19: Standard error, 0.5731. Row 20: Observations, 10. The second output table is titled ANOVA. Column B is labeled d f, column C is labeled S S, column D is labeled M S, column E is labeled F, and column F is labeled significance F. The entries in rows 24 through 26 are as follows. Row 24: Regression. d f: 2. S S: 21.6006. M S: 10.8003. F: 32.8784. Significance: 0.0003. Row 25: Residual. d f: 7. S S: 2.2994. M S: 0.3285. Row 26: Total. d f: 9. S S: 23.9. In the third output table, column B is labeled coefficients, column C is labeled standard error, column D is labeled t Stat, and column E is labeled P value. The entries in rows 29 through 31 are as follows. Row 29: Intercept. Coefficients: Negative 0.8687. Standard error: 0.9515. t Stat: Negative 0.9129. P-value: 0.3916. Row 30: Miles. Coefficients: 0.0611. Standard error: 0.0099. t Stat: 6.1824. P-value: 0.0005. Row 31: Deliveries. Coefficients: 0.9234. Standard error: 0.2211. t Stat: 4.1763. P-value: 0.0042. An arrow pointing to cell F 24 reads The Significance F value in cell F 24 is the p-value used to test for overall. An arrow pointing to cell E 30 reads The p-value in cell E 30 is used to test for the individual significance of miles. An arrow pointing to cell E 31 reads The p-value in cell E 31 is used to test for the individual significance of deliveries.">
            <a:extLst>
              <a:ext uri="{FF2B5EF4-FFF2-40B4-BE49-F238E27FC236}">
                <a16:creationId xmlns:a16="http://schemas.microsoft.com/office/drawing/2014/main" id="{9276893C-E8F3-60B9-9A05-C617ED2230E8}"/>
              </a:ext>
            </a:extLst>
          </p:cNvPr>
          <p:cNvPicPr>
            <a:picLocks noGrp="1" noChangeAspect="1"/>
          </p:cNvPicPr>
          <p:nvPr>
            <p:ph type="pic" sz="quarter" idx="10"/>
          </p:nvPr>
        </p:nvPicPr>
        <p:blipFill>
          <a:blip r:embed="rId2"/>
          <a:srcRect l="35" r="35"/>
          <a:stretch/>
        </p:blipFill>
        <p:spPr>
          <a:xfrm>
            <a:off x="1349970" y="1143000"/>
            <a:ext cx="9492060" cy="4727154"/>
          </a:xfrm>
          <a:ln>
            <a:solidFill>
              <a:srgbClr val="000000"/>
            </a:solidFill>
          </a:ln>
        </p:spPr>
      </p:pic>
    </p:spTree>
    <p:extLst>
      <p:ext uri="{BB962C8B-B14F-4D97-AF65-F5344CB8AC3E}">
        <p14:creationId xmlns:p14="http://schemas.microsoft.com/office/powerpoint/2010/main" val="38794363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3D703-F249-9BAE-3BA8-B20A028960C5}"/>
              </a:ext>
            </a:extLst>
          </p:cNvPr>
          <p:cNvSpPr>
            <a:spLocks noGrp="1"/>
          </p:cNvSpPr>
          <p:nvPr>
            <p:ph type="title"/>
          </p:nvPr>
        </p:nvSpPr>
        <p:spPr/>
        <p:txBody>
          <a:bodyPr/>
          <a:lstStyle/>
          <a:p>
            <a:r>
              <a:rPr lang="en-US" sz="3200" dirty="0"/>
              <a:t>15.5 Multicollinearity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AAB4682-96EE-9F82-5365-1E64A6B38906}"/>
                  </a:ext>
                </a:extLst>
              </p:cNvPr>
              <p:cNvSpPr>
                <a:spLocks noGrp="1"/>
              </p:cNvSpPr>
              <p:nvPr>
                <p:ph type="body" sz="quarter" idx="15"/>
              </p:nvPr>
            </p:nvSpPr>
            <p:spPr>
              <a:xfrm>
                <a:off x="793193" y="1125518"/>
                <a:ext cx="10616313" cy="920360"/>
              </a:xfrm>
            </p:spPr>
            <p:txBody>
              <a:bodyPr>
                <a:noAutofit/>
              </a:bodyPr>
              <a:lstStyle/>
              <a:p>
                <a:r>
                  <a:rPr lang="en-US" sz="2000" dirty="0"/>
                  <a:t>Consider a modification of the Butler Trucking example in which the independent variables are total miles driven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oMath>
                </a14:m>
                <a:r>
                  <a:rPr lang="en-US" sz="2000" dirty="0"/>
                  <a:t>) and gas consumption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b="0" i="1" smtClean="0">
                            <a:latin typeface="Cambria Math" panose="02040503050406030204" pitchFamily="18" charset="0"/>
                          </a:rPr>
                          <m:t>2</m:t>
                        </m:r>
                      </m:sub>
                    </m:sSub>
                  </m:oMath>
                </a14:m>
                <a:r>
                  <a:rPr lang="en-US" sz="2000" dirty="0"/>
                  <a:t>.)</a:t>
                </a:r>
              </a:p>
            </p:txBody>
          </p:sp>
        </mc:Choice>
        <mc:Fallback xmlns="">
          <p:sp>
            <p:nvSpPr>
              <p:cNvPr id="3" name="Text Placeholder 2">
                <a:extLst>
                  <a:ext uri="{FF2B5EF4-FFF2-40B4-BE49-F238E27FC236}">
                    <a16:creationId xmlns:a16="http://schemas.microsoft.com/office/drawing/2014/main" id="{1AAB4682-96EE-9F82-5365-1E64A6B38906}"/>
                  </a:ext>
                </a:extLst>
              </p:cNvPr>
              <p:cNvSpPr>
                <a:spLocks noGrp="1" noRot="1" noChangeAspect="1" noMove="1" noResize="1" noEditPoints="1" noAdjustHandles="1" noChangeArrowheads="1" noChangeShapeType="1" noTextEdit="1"/>
              </p:cNvSpPr>
              <p:nvPr>
                <p:ph type="body" sz="quarter" idx="15"/>
              </p:nvPr>
            </p:nvSpPr>
            <p:spPr>
              <a:xfrm>
                <a:off x="793193" y="1125518"/>
                <a:ext cx="10616313" cy="920360"/>
              </a:xfrm>
              <a:blipFill>
                <a:blip r:embed="rId3"/>
                <a:stretch>
                  <a:fillRect l="-1435" t="-7947" r="-15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54B767BB-8E48-C9C0-311B-01DE94A00007}"/>
                  </a:ext>
                </a:extLst>
              </p:cNvPr>
              <p:cNvSpPr>
                <a:spLocks noGrp="1"/>
              </p:cNvSpPr>
              <p:nvPr>
                <p:ph type="body" sz="quarter" idx="18"/>
              </p:nvPr>
            </p:nvSpPr>
            <p:spPr>
              <a:xfrm>
                <a:off x="782493" y="1815126"/>
                <a:ext cx="5661440" cy="4104412"/>
              </a:xfrm>
            </p:spPr>
            <p:txBody>
              <a:bodyPr>
                <a:noAutofit/>
              </a:bodyPr>
              <a:lstStyle/>
              <a:p>
                <a:pPr>
                  <a:spcAft>
                    <a:spcPts val="0"/>
                  </a:spcAft>
                </a:pPr>
                <a:r>
                  <a:rPr lang="en-US" sz="2000" dirty="0"/>
                  <a:t>The </a:t>
                </a:r>
                <a:r>
                  <a:rPr lang="en-US" sz="2000" dirty="0">
                    <a:latin typeface="Arial" panose="020B0604020202020204" pitchFamily="34" charset="0"/>
                    <a:cs typeface="Arial" panose="020B0604020202020204" pitchFamily="34" charset="0"/>
                  </a:rPr>
                  <a:t>𝐹</a:t>
                </a:r>
                <a:r>
                  <a:rPr lang="en-US" sz="2000" dirty="0"/>
                  <a:t> test shows the overall significance of the model, but the individual </a:t>
                </a:r>
                <a:r>
                  <a:rPr lang="en-US" sz="2000" i="1" dirty="0"/>
                  <a:t>t</a:t>
                </a:r>
                <a:r>
                  <a:rPr lang="en-US" sz="2000" dirty="0"/>
                  <a:t> tests fail to reject </a:t>
                </a:r>
                <a14:m>
                  <m:oMath xmlns:m="http://schemas.openxmlformats.org/officeDocument/2006/math">
                    <m:sSub>
                      <m:sSubPr>
                        <m:ctrlPr>
                          <a:rPr lang="en-US" sz="2000" i="1" dirty="0" smtClean="0">
                            <a:latin typeface="Cambria Math" panose="02040503050406030204" pitchFamily="18" charset="0"/>
                            <a:cs typeface="Arial" panose="020B0604020202020204" pitchFamily="34" charset="0"/>
                          </a:rPr>
                        </m:ctrlPr>
                      </m:sSubPr>
                      <m:e>
                        <m:r>
                          <a:rPr lang="en-US" sz="2000" i="1" dirty="0">
                            <a:latin typeface="Cambria Math" panose="02040503050406030204" pitchFamily="18" charset="0"/>
                            <a:cs typeface="Arial" panose="020B0604020202020204" pitchFamily="34" charset="0"/>
                          </a:rPr>
                          <m:t>𝐻</m:t>
                        </m:r>
                      </m:e>
                      <m:sub>
                        <m:r>
                          <a:rPr lang="en-US" sz="2000" i="1" dirty="0">
                            <a:latin typeface="Cambria Math" panose="02040503050406030204" pitchFamily="18" charset="0"/>
                            <a:cs typeface="Arial" panose="020B0604020202020204" pitchFamily="34" charset="0"/>
                          </a:rPr>
                          <m:t>0</m:t>
                        </m:r>
                      </m:sub>
                    </m:sSub>
                  </m:oMath>
                </a14:m>
                <a:r>
                  <a:rPr lang="en-US" sz="2000" dirty="0"/>
                  <a:t>.</a:t>
                </a:r>
              </a:p>
              <a:p>
                <a:pPr>
                  <a:spcAft>
                    <a:spcPts val="0"/>
                  </a:spcAft>
                </a:pPr>
                <a:r>
                  <a:rPr lang="en-US" sz="2000" dirty="0"/>
                  <a:t>This is because gas consumption depends on the number of miles traveled. In fact, the two variables have a strong positive correlation (</a:t>
                </a:r>
                <a14:m>
                  <m:oMath xmlns:m="http://schemas.openxmlformats.org/officeDocument/2006/math">
                    <m:r>
                      <a:rPr lang="en-US" sz="2000" i="1" dirty="0" smtClean="0">
                        <a:latin typeface="Cambria Math" panose="02040503050406030204" pitchFamily="18" charset="0"/>
                      </a:rPr>
                      <m:t>𝑟</m:t>
                    </m:r>
                    <m:r>
                      <a:rPr lang="en-US" sz="2000" i="1" dirty="0" smtClean="0">
                        <a:latin typeface="Cambria Math" panose="02040503050406030204" pitchFamily="18" charset="0"/>
                      </a:rPr>
                      <m:t>=0.9586</m:t>
                    </m:r>
                  </m:oMath>
                </a14:m>
                <a:r>
                  <a:rPr lang="en-US" sz="2000" dirty="0"/>
                  <a:t>.)</a:t>
                </a:r>
              </a:p>
              <a:p>
                <a:pPr>
                  <a:spcAft>
                    <a:spcPts val="0"/>
                  </a:spcAft>
                </a:pPr>
                <a:r>
                  <a:rPr lang="en-US" sz="2000" b="1" dirty="0"/>
                  <a:t>Multicollinearity</a:t>
                </a:r>
                <a:r>
                  <a:rPr lang="en-US" sz="2000" dirty="0"/>
                  <a:t> refers to the correlation among the independent variables (*see notes.)</a:t>
                </a:r>
              </a:p>
              <a:p>
                <a:pPr>
                  <a:spcAft>
                    <a:spcPts val="0"/>
                  </a:spcAft>
                </a:pPr>
                <a:r>
                  <a:rPr lang="en-US" sz="2000" dirty="0"/>
                  <a:t>If the estimated regression equation is used only for predictive purposes, multicollinearity is usually not a serious problem, but every attempt should be made to avoid including independent variables that are highly correlated (</a:t>
                </a:r>
                <a14:m>
                  <m:oMath xmlns:m="http://schemas.openxmlformats.org/officeDocument/2006/math">
                    <m:d>
                      <m:dPr>
                        <m:begChr m:val="|"/>
                        <m:endChr m:val="|"/>
                        <m:ctrlPr>
                          <a:rPr lang="en-US" sz="2000" i="1">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𝑟</m:t>
                        </m:r>
                      </m:e>
                    </m:d>
                    <m:r>
                      <a:rPr lang="en-US" sz="2000" b="0" i="1" smtClean="0">
                        <a:latin typeface="Cambria Math" panose="02040503050406030204" pitchFamily="18" charset="0"/>
                        <a:ea typeface="Cambria Math" panose="02040503050406030204" pitchFamily="18" charset="0"/>
                      </a:rPr>
                      <m:t>≥0.7</m:t>
                    </m:r>
                  </m:oMath>
                </a14:m>
                <a:r>
                  <a:rPr lang="en-US" sz="2000" dirty="0"/>
                  <a:t>.)</a:t>
                </a:r>
              </a:p>
            </p:txBody>
          </p:sp>
        </mc:Choice>
        <mc:Fallback xmlns="">
          <p:sp>
            <p:nvSpPr>
              <p:cNvPr id="5" name="Text Placeholder 4">
                <a:extLst>
                  <a:ext uri="{FF2B5EF4-FFF2-40B4-BE49-F238E27FC236}">
                    <a16:creationId xmlns:a16="http://schemas.microsoft.com/office/drawing/2014/main" id="{54B767BB-8E48-C9C0-311B-01DE94A00007}"/>
                  </a:ext>
                </a:extLst>
              </p:cNvPr>
              <p:cNvSpPr>
                <a:spLocks noGrp="1" noRot="1" noChangeAspect="1" noMove="1" noResize="1" noEditPoints="1" noAdjustHandles="1" noChangeArrowheads="1" noChangeShapeType="1" noTextEdit="1"/>
              </p:cNvSpPr>
              <p:nvPr>
                <p:ph type="body" sz="quarter" idx="18"/>
              </p:nvPr>
            </p:nvSpPr>
            <p:spPr>
              <a:xfrm>
                <a:off x="782493" y="1815126"/>
                <a:ext cx="5661440" cy="4104412"/>
              </a:xfrm>
              <a:blipFill>
                <a:blip r:embed="rId4"/>
                <a:stretch>
                  <a:fillRect l="-2691" t="-1932" r="-3875" b="-2229"/>
                </a:stretch>
              </a:blipFill>
            </p:spPr>
            <p:txBody>
              <a:bodyPr/>
              <a:lstStyle/>
              <a:p>
                <a:r>
                  <a:rPr lang="en-US">
                    <a:noFill/>
                  </a:rPr>
                  <a:t> </a:t>
                </a:r>
              </a:p>
            </p:txBody>
          </p:sp>
        </mc:Fallback>
      </mc:AlternateContent>
      <p:graphicFrame>
        <p:nvGraphicFramePr>
          <p:cNvPr id="15" name="Table Placeholder 4">
            <a:extLst>
              <a:ext uri="{FF2B5EF4-FFF2-40B4-BE49-F238E27FC236}">
                <a16:creationId xmlns:a16="http://schemas.microsoft.com/office/drawing/2014/main" id="{7D2A8660-D81A-E335-9A6E-FB48C1C40C6D}"/>
              </a:ext>
            </a:extLst>
          </p:cNvPr>
          <p:cNvGraphicFramePr>
            <a:graphicFrameLocks noGrp="1"/>
          </p:cNvGraphicFramePr>
          <p:nvPr>
            <p:ph type="tbl" sz="quarter" idx="22"/>
            <p:extLst>
              <p:ext uri="{D42A27DB-BD31-4B8C-83A1-F6EECF244321}">
                <p14:modId xmlns:p14="http://schemas.microsoft.com/office/powerpoint/2010/main" val="1269098866"/>
              </p:ext>
            </p:extLst>
          </p:nvPr>
        </p:nvGraphicFramePr>
        <p:xfrm>
          <a:off x="6497741" y="1533329"/>
          <a:ext cx="4757244" cy="4486128"/>
        </p:xfrm>
        <a:graphic>
          <a:graphicData uri="http://schemas.openxmlformats.org/drawingml/2006/table">
            <a:tbl>
              <a:tblPr firstRow="1">
                <a:tableStyleId>{5C22544A-7EE6-4342-B048-85BDC9FD1C3A}</a:tableStyleId>
              </a:tblPr>
              <a:tblGrid>
                <a:gridCol w="1008204">
                  <a:extLst>
                    <a:ext uri="{9D8B030D-6E8A-4147-A177-3AD203B41FA5}">
                      <a16:colId xmlns:a16="http://schemas.microsoft.com/office/drawing/2014/main" val="516832623"/>
                    </a:ext>
                  </a:extLst>
                </a:gridCol>
                <a:gridCol w="822960">
                  <a:extLst>
                    <a:ext uri="{9D8B030D-6E8A-4147-A177-3AD203B41FA5}">
                      <a16:colId xmlns:a16="http://schemas.microsoft.com/office/drawing/2014/main" val="3356953840"/>
                    </a:ext>
                  </a:extLst>
                </a:gridCol>
                <a:gridCol w="731520">
                  <a:extLst>
                    <a:ext uri="{9D8B030D-6E8A-4147-A177-3AD203B41FA5}">
                      <a16:colId xmlns:a16="http://schemas.microsoft.com/office/drawing/2014/main" val="69909692"/>
                    </a:ext>
                  </a:extLst>
                </a:gridCol>
                <a:gridCol w="731520">
                  <a:extLst>
                    <a:ext uri="{9D8B030D-6E8A-4147-A177-3AD203B41FA5}">
                      <a16:colId xmlns:a16="http://schemas.microsoft.com/office/drawing/2014/main" val="302358112"/>
                    </a:ext>
                  </a:extLst>
                </a:gridCol>
                <a:gridCol w="731520">
                  <a:extLst>
                    <a:ext uri="{9D8B030D-6E8A-4147-A177-3AD203B41FA5}">
                      <a16:colId xmlns:a16="http://schemas.microsoft.com/office/drawing/2014/main" val="53426680"/>
                    </a:ext>
                  </a:extLst>
                </a:gridCol>
                <a:gridCol w="731520">
                  <a:extLst>
                    <a:ext uri="{9D8B030D-6E8A-4147-A177-3AD203B41FA5}">
                      <a16:colId xmlns:a16="http://schemas.microsoft.com/office/drawing/2014/main" val="731947364"/>
                    </a:ext>
                  </a:extLst>
                </a:gridCol>
              </a:tblGrid>
              <a:tr h="254938">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1" u="none" strike="noStrike" dirty="0">
                          <a:solidFill>
                            <a:srgbClr val="000000"/>
                          </a:solidFill>
                          <a:effectLst/>
                        </a:rPr>
                        <a:t>Regression Statistics</a:t>
                      </a:r>
                      <a:endParaRPr lang="en-US" sz="1300" b="1" i="1" u="none" strike="noStrike" dirty="0">
                        <a:solidFill>
                          <a:srgbClr val="000000"/>
                        </a:solidFill>
                        <a:effectLst/>
                        <a:latin typeface="Times New Roman" panose="02020603050405020304" pitchFamily="18"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endParaRPr lang="en-US" sz="13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extLst>
                  <a:ext uri="{0D108BD9-81ED-4DB2-BD59-A6C34878D82A}">
                    <a16:rowId xmlns:a16="http://schemas.microsoft.com/office/drawing/2014/main" val="99462411"/>
                  </a:ext>
                </a:extLst>
              </a:tr>
              <a:tr h="254938">
                <a:tc>
                  <a:txBody>
                    <a:bodyPr/>
                    <a:lstStyle/>
                    <a:p>
                      <a:pPr algn="l" fontAlgn="b"/>
                      <a:r>
                        <a:rPr lang="en-US" sz="1300" b="0" i="0" u="none" strike="noStrike" dirty="0">
                          <a:solidFill>
                            <a:srgbClr val="000000"/>
                          </a:solidFill>
                          <a:effectLst/>
                          <a:latin typeface="Calibri" panose="020F0502020204030204" pitchFamily="34" charset="0"/>
                        </a:rPr>
                        <a:t>Multiple R</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dirty="0">
                          <a:solidFill>
                            <a:srgbClr val="000000"/>
                          </a:solidFill>
                          <a:effectLst/>
                          <a:latin typeface="Calibri" panose="020F0502020204030204" pitchFamily="34" charset="0"/>
                        </a:rPr>
                        <a:t>84.03%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extLst>
                  <a:ext uri="{0D108BD9-81ED-4DB2-BD59-A6C34878D82A}">
                    <a16:rowId xmlns:a16="http://schemas.microsoft.com/office/drawing/2014/main" val="3711086987"/>
                  </a:ext>
                </a:extLst>
              </a:tr>
              <a:tr h="248150">
                <a:tc>
                  <a:txBody>
                    <a:bodyPr/>
                    <a:lstStyle/>
                    <a:p>
                      <a:pPr algn="l" fontAlgn="b"/>
                      <a:r>
                        <a:rPr lang="en-US" sz="1300" b="0" i="0" u="none" strike="noStrike">
                          <a:solidFill>
                            <a:srgbClr val="000000"/>
                          </a:solidFill>
                          <a:effectLst/>
                          <a:latin typeface="Calibri" panose="020F0502020204030204" pitchFamily="34" charset="0"/>
                        </a:rPr>
                        <a:t>R Square</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a:solidFill>
                            <a:srgbClr val="000000"/>
                          </a:solidFill>
                          <a:effectLst/>
                          <a:latin typeface="Calibri" panose="020F0502020204030204" pitchFamily="34" charset="0"/>
                        </a:rPr>
                        <a:t>70.61%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extLst>
                  <a:ext uri="{0D108BD9-81ED-4DB2-BD59-A6C34878D82A}">
                    <a16:rowId xmlns:a16="http://schemas.microsoft.com/office/drawing/2014/main" val="2301898826"/>
                  </a:ext>
                </a:extLst>
              </a:tr>
              <a:tr h="248150">
                <a:tc>
                  <a:txBody>
                    <a:bodyPr/>
                    <a:lstStyle/>
                    <a:p>
                      <a:pPr algn="l" fontAlgn="b"/>
                      <a:r>
                        <a:rPr lang="en-US" sz="1300" b="0" i="0" u="none" strike="noStrike" dirty="0">
                          <a:solidFill>
                            <a:srgbClr val="000000"/>
                          </a:solidFill>
                          <a:effectLst/>
                          <a:latin typeface="Calibri" panose="020F0502020204030204" pitchFamily="34" charset="0"/>
                        </a:rPr>
                        <a:t>Adj. R Square</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a:solidFill>
                            <a:srgbClr val="000000"/>
                          </a:solidFill>
                          <a:effectLst/>
                          <a:latin typeface="Calibri" panose="020F0502020204030204" pitchFamily="34" charset="0"/>
                        </a:rPr>
                        <a:t>62.21%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extLst>
                  <a:ext uri="{0D108BD9-81ED-4DB2-BD59-A6C34878D82A}">
                    <a16:rowId xmlns:a16="http://schemas.microsoft.com/office/drawing/2014/main" val="836450878"/>
                  </a:ext>
                </a:extLst>
              </a:tr>
              <a:tr h="248150">
                <a:tc>
                  <a:txBody>
                    <a:bodyPr/>
                    <a:lstStyle/>
                    <a:p>
                      <a:pPr algn="l" fontAlgn="b"/>
                      <a:r>
                        <a:rPr lang="en-US" sz="1300" b="0" i="0" u="none" strike="noStrike">
                          <a:solidFill>
                            <a:srgbClr val="000000"/>
                          </a:solidFill>
                          <a:effectLst/>
                          <a:latin typeface="Calibri" panose="020F0502020204030204" pitchFamily="34" charset="0"/>
                        </a:rPr>
                        <a:t>Standard Error</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dirty="0">
                          <a:solidFill>
                            <a:srgbClr val="000000"/>
                          </a:solidFill>
                          <a:effectLst/>
                          <a:latin typeface="Calibri" panose="020F0502020204030204" pitchFamily="34" charset="0"/>
                        </a:rPr>
                        <a:t>1.0017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extLst>
                  <a:ext uri="{0D108BD9-81ED-4DB2-BD59-A6C34878D82A}">
                    <a16:rowId xmlns:a16="http://schemas.microsoft.com/office/drawing/2014/main" val="1070439533"/>
                  </a:ext>
                </a:extLst>
              </a:tr>
              <a:tr h="248150">
                <a:tc>
                  <a:txBody>
                    <a:bodyPr/>
                    <a:lstStyle/>
                    <a:p>
                      <a:pPr algn="l" fontAlgn="b"/>
                      <a:r>
                        <a:rPr lang="en-US" sz="1300" b="0" i="0" u="none" strike="noStrike" dirty="0">
                          <a:solidFill>
                            <a:srgbClr val="000000"/>
                          </a:solidFill>
                          <a:effectLst/>
                          <a:latin typeface="Calibri" panose="020F0502020204030204" pitchFamily="34" charset="0"/>
                        </a:rPr>
                        <a:t>Observations</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a:solidFill>
                            <a:srgbClr val="000000"/>
                          </a:solidFill>
                          <a:effectLst/>
                          <a:latin typeface="Calibri" panose="020F0502020204030204" pitchFamily="34" charset="0"/>
                        </a:rPr>
                        <a:t>10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extLst>
                  <a:ext uri="{0D108BD9-81ED-4DB2-BD59-A6C34878D82A}">
                    <a16:rowId xmlns:a16="http://schemas.microsoft.com/office/drawing/2014/main" val="379746951"/>
                  </a:ext>
                </a:extLst>
              </a:tr>
              <a:tr h="248150">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extLst>
                  <a:ext uri="{0D108BD9-81ED-4DB2-BD59-A6C34878D82A}">
                    <a16:rowId xmlns:a16="http://schemas.microsoft.com/office/drawing/2014/main" val="4256047730"/>
                  </a:ext>
                </a:extLst>
              </a:tr>
              <a:tr h="248150">
                <a:tc>
                  <a:txBody>
                    <a:bodyPr/>
                    <a:lstStyle/>
                    <a:p>
                      <a:pPr algn="l" fontAlgn="b"/>
                      <a:r>
                        <a:rPr lang="en-US" sz="1300" b="0" i="0" u="none" strike="noStrike">
                          <a:solidFill>
                            <a:srgbClr val="000000"/>
                          </a:solidFill>
                          <a:effectLst/>
                          <a:latin typeface="Calibri" panose="020F0502020204030204" pitchFamily="34" charset="0"/>
                        </a:rPr>
                        <a:t>ANOVA</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extLst>
                  <a:ext uri="{0D108BD9-81ED-4DB2-BD59-A6C34878D82A}">
                    <a16:rowId xmlns:a16="http://schemas.microsoft.com/office/drawing/2014/main" val="2369273920"/>
                  </a:ext>
                </a:extLst>
              </a:tr>
              <a:tr h="248150">
                <a:tc>
                  <a:txBody>
                    <a:bodyPr/>
                    <a:lstStyle/>
                    <a:p>
                      <a:pPr algn="ctr" fontAlgn="b"/>
                      <a:r>
                        <a:rPr lang="en-US" sz="1300" b="0" i="1" u="none" strike="noStrike">
                          <a:solidFill>
                            <a:srgbClr val="000000"/>
                          </a:solidFill>
                          <a:effectLst/>
                          <a:latin typeface="Calibri" panose="020F0502020204030204" pitchFamily="34" charset="0"/>
                        </a:rPr>
                        <a:t> </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ctr" fontAlgn="b"/>
                      <a:r>
                        <a:rPr lang="en-US" sz="1300" b="0" i="1" u="none" strike="noStrike">
                          <a:solidFill>
                            <a:srgbClr val="000000"/>
                          </a:solidFill>
                          <a:effectLst/>
                          <a:latin typeface="Calibri" panose="020F0502020204030204" pitchFamily="34" charset="0"/>
                        </a:rPr>
                        <a:t>df</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ctr" fontAlgn="b"/>
                      <a:r>
                        <a:rPr lang="en-US" sz="1300" b="0" i="1" u="none" strike="noStrike">
                          <a:solidFill>
                            <a:srgbClr val="000000"/>
                          </a:solidFill>
                          <a:effectLst/>
                          <a:latin typeface="Calibri" panose="020F0502020204030204" pitchFamily="34" charset="0"/>
                        </a:rPr>
                        <a:t>SS</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ctr" fontAlgn="b"/>
                      <a:r>
                        <a:rPr lang="en-US" sz="1300" b="0" i="1" u="none" strike="noStrike">
                          <a:solidFill>
                            <a:srgbClr val="000000"/>
                          </a:solidFill>
                          <a:effectLst/>
                          <a:latin typeface="Calibri" panose="020F0502020204030204" pitchFamily="34" charset="0"/>
                        </a:rPr>
                        <a:t>MS</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ctr" fontAlgn="b"/>
                      <a:r>
                        <a:rPr lang="en-US" sz="1300" b="0" i="1" u="none" strike="noStrike">
                          <a:solidFill>
                            <a:srgbClr val="000000"/>
                          </a:solidFill>
                          <a:effectLst/>
                          <a:latin typeface="Calibri" panose="020F0502020204030204" pitchFamily="34" charset="0"/>
                        </a:rPr>
                        <a:t>F</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ctr" fontAlgn="b"/>
                      <a:r>
                        <a:rPr lang="en-US" sz="1300" b="0" i="1" u="none" strike="noStrike">
                          <a:solidFill>
                            <a:srgbClr val="000000"/>
                          </a:solidFill>
                          <a:effectLst/>
                          <a:latin typeface="Calibri" panose="020F0502020204030204" pitchFamily="34" charset="0"/>
                        </a:rPr>
                        <a:t>P-value</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extLst>
                  <a:ext uri="{0D108BD9-81ED-4DB2-BD59-A6C34878D82A}">
                    <a16:rowId xmlns:a16="http://schemas.microsoft.com/office/drawing/2014/main" val="1521936211"/>
                  </a:ext>
                </a:extLst>
              </a:tr>
              <a:tr h="248150">
                <a:tc>
                  <a:txBody>
                    <a:bodyPr/>
                    <a:lstStyle/>
                    <a:p>
                      <a:pPr algn="l" fontAlgn="b"/>
                      <a:r>
                        <a:rPr lang="en-US" sz="1300" b="0" i="0" u="none" strike="noStrike" dirty="0">
                          <a:solidFill>
                            <a:srgbClr val="000000"/>
                          </a:solidFill>
                          <a:effectLst/>
                          <a:latin typeface="Calibri" panose="020F0502020204030204" pitchFamily="34" charset="0"/>
                        </a:rPr>
                        <a:t>Regression</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a:solidFill>
                            <a:srgbClr val="000000"/>
                          </a:solidFill>
                          <a:effectLst/>
                          <a:latin typeface="Calibri" panose="020F0502020204030204" pitchFamily="34" charset="0"/>
                        </a:rPr>
                        <a:t>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a:solidFill>
                            <a:srgbClr val="000000"/>
                          </a:solidFill>
                          <a:effectLst/>
                          <a:latin typeface="Calibri" panose="020F0502020204030204" pitchFamily="34" charset="0"/>
                        </a:rPr>
                        <a:t>16.876</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dirty="0">
                          <a:solidFill>
                            <a:srgbClr val="000000"/>
                          </a:solidFill>
                          <a:effectLst/>
                          <a:latin typeface="Calibri" panose="020F0502020204030204" pitchFamily="34" charset="0"/>
                        </a:rPr>
                        <a:t>8.438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a:solidFill>
                            <a:srgbClr val="000000"/>
                          </a:solidFill>
                          <a:effectLst/>
                          <a:latin typeface="Calibri" panose="020F0502020204030204" pitchFamily="34" charset="0"/>
                        </a:rPr>
                        <a:t>8.41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a:solidFill>
                            <a:srgbClr val="000000"/>
                          </a:solidFill>
                          <a:effectLst/>
                          <a:latin typeface="Calibri" panose="020F0502020204030204" pitchFamily="34" charset="0"/>
                        </a:rPr>
                        <a:t>0.014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extLst>
                  <a:ext uri="{0D108BD9-81ED-4DB2-BD59-A6C34878D82A}">
                    <a16:rowId xmlns:a16="http://schemas.microsoft.com/office/drawing/2014/main" val="2411725611"/>
                  </a:ext>
                </a:extLst>
              </a:tr>
              <a:tr h="248150">
                <a:tc>
                  <a:txBody>
                    <a:bodyPr/>
                    <a:lstStyle/>
                    <a:p>
                      <a:pPr algn="l" fontAlgn="b"/>
                      <a:r>
                        <a:rPr lang="en-US" sz="1300" b="0" i="0" u="none" strike="noStrike">
                          <a:solidFill>
                            <a:srgbClr val="000000"/>
                          </a:solidFill>
                          <a:effectLst/>
                          <a:latin typeface="Calibri" panose="020F0502020204030204" pitchFamily="34" charset="0"/>
                        </a:rPr>
                        <a:t>Residual</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a:solidFill>
                            <a:srgbClr val="000000"/>
                          </a:solidFill>
                          <a:effectLst/>
                          <a:latin typeface="Calibri" panose="020F0502020204030204" pitchFamily="34" charset="0"/>
                        </a:rPr>
                        <a:t>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a:solidFill>
                            <a:srgbClr val="000000"/>
                          </a:solidFill>
                          <a:effectLst/>
                          <a:latin typeface="Calibri" panose="020F0502020204030204" pitchFamily="34" charset="0"/>
                        </a:rPr>
                        <a:t>7.024</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a:solidFill>
                            <a:srgbClr val="000000"/>
                          </a:solidFill>
                          <a:effectLst/>
                          <a:latin typeface="Calibri" panose="020F0502020204030204" pitchFamily="34" charset="0"/>
                        </a:rPr>
                        <a:t>1.003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extLst>
                  <a:ext uri="{0D108BD9-81ED-4DB2-BD59-A6C34878D82A}">
                    <a16:rowId xmlns:a16="http://schemas.microsoft.com/office/drawing/2014/main" val="2426735250"/>
                  </a:ext>
                </a:extLst>
              </a:tr>
              <a:tr h="248150">
                <a:tc>
                  <a:txBody>
                    <a:bodyPr/>
                    <a:lstStyle/>
                    <a:p>
                      <a:pPr algn="l" fontAlgn="b"/>
                      <a:r>
                        <a:rPr lang="en-US" sz="1300" b="0" i="0" u="none" strike="noStrike">
                          <a:solidFill>
                            <a:srgbClr val="000000"/>
                          </a:solidFill>
                          <a:effectLst/>
                          <a:latin typeface="Calibri" panose="020F0502020204030204" pitchFamily="34" charset="0"/>
                        </a:rPr>
                        <a:t>Total</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a:solidFill>
                            <a:srgbClr val="000000"/>
                          </a:solidFill>
                          <a:effectLst/>
                          <a:latin typeface="Calibri" panose="020F0502020204030204" pitchFamily="34" charset="0"/>
                        </a:rPr>
                        <a:t>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a:solidFill>
                            <a:srgbClr val="000000"/>
                          </a:solidFill>
                          <a:effectLst/>
                          <a:latin typeface="Calibri" panose="020F0502020204030204" pitchFamily="34" charset="0"/>
                        </a:rPr>
                        <a:t>23.900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r>
                        <a:rPr lang="en-US" sz="1300" b="0" i="0" u="none" strike="noStrike">
                          <a:solidFill>
                            <a:srgbClr val="000000"/>
                          </a:solidFill>
                          <a:effectLst/>
                          <a:latin typeface="Calibri" panose="020F0502020204030204" pitchFamily="34" charset="0"/>
                        </a:rPr>
                        <a:t> </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r>
                        <a:rPr lang="en-US" sz="1300" b="0" i="0" u="none" strike="noStrike">
                          <a:solidFill>
                            <a:srgbClr val="000000"/>
                          </a:solidFill>
                          <a:effectLst/>
                          <a:latin typeface="Calibri" panose="020F0502020204030204" pitchFamily="34" charset="0"/>
                        </a:rPr>
                        <a:t> </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r>
                        <a:rPr lang="en-US" sz="1300" b="0" i="0" u="none" strike="noStrike">
                          <a:solidFill>
                            <a:srgbClr val="000000"/>
                          </a:solidFill>
                          <a:effectLst/>
                          <a:latin typeface="Calibri" panose="020F0502020204030204" pitchFamily="34" charset="0"/>
                        </a:rPr>
                        <a:t> </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extLst>
                  <a:ext uri="{0D108BD9-81ED-4DB2-BD59-A6C34878D82A}">
                    <a16:rowId xmlns:a16="http://schemas.microsoft.com/office/drawing/2014/main" val="4137101230"/>
                  </a:ext>
                </a:extLst>
              </a:tr>
              <a:tr h="248150">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extLst>
                  <a:ext uri="{0D108BD9-81ED-4DB2-BD59-A6C34878D82A}">
                    <a16:rowId xmlns:a16="http://schemas.microsoft.com/office/drawing/2014/main" val="1203799737"/>
                  </a:ext>
                </a:extLst>
              </a:tr>
              <a:tr h="354500">
                <a:tc>
                  <a:txBody>
                    <a:bodyPr/>
                    <a:lstStyle/>
                    <a:p>
                      <a:pPr algn="ctr" fontAlgn="b"/>
                      <a:r>
                        <a:rPr lang="en-US" sz="1300" b="0" i="1" u="none" strike="noStrike">
                          <a:solidFill>
                            <a:srgbClr val="000000"/>
                          </a:solidFill>
                          <a:effectLst/>
                          <a:latin typeface="Calibri" panose="020F0502020204030204" pitchFamily="34" charset="0"/>
                        </a:rPr>
                        <a:t> </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ctr" fontAlgn="b"/>
                      <a:r>
                        <a:rPr lang="en-US" sz="1300" b="0" i="1" u="none" strike="noStrike">
                          <a:solidFill>
                            <a:srgbClr val="000000"/>
                          </a:solidFill>
                          <a:effectLst/>
                          <a:latin typeface="Calibri" panose="020F0502020204030204" pitchFamily="34" charset="0"/>
                        </a:rPr>
                        <a:t>Coefficients</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ctr" fontAlgn="b"/>
                      <a:r>
                        <a:rPr lang="en-US" sz="1300" b="0" i="1" u="none" strike="noStrike">
                          <a:solidFill>
                            <a:srgbClr val="000000"/>
                          </a:solidFill>
                          <a:effectLst/>
                          <a:latin typeface="Calibri" panose="020F0502020204030204" pitchFamily="34" charset="0"/>
                        </a:rPr>
                        <a:t>Std. Err.</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ctr" fontAlgn="b"/>
                      <a:r>
                        <a:rPr lang="en-US" sz="1300" b="0" i="1" u="none" strike="noStrike">
                          <a:solidFill>
                            <a:srgbClr val="000000"/>
                          </a:solidFill>
                          <a:effectLst/>
                          <a:latin typeface="Calibri" panose="020F0502020204030204" pitchFamily="34" charset="0"/>
                        </a:rPr>
                        <a:t>t Stat</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ctr" fontAlgn="b"/>
                      <a:r>
                        <a:rPr lang="en-US" sz="1300" b="0" i="1" u="none" strike="noStrike">
                          <a:solidFill>
                            <a:srgbClr val="000000"/>
                          </a:solidFill>
                          <a:effectLst/>
                          <a:latin typeface="Calibri" panose="020F0502020204030204" pitchFamily="34" charset="0"/>
                        </a:rPr>
                        <a:t>P-value</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extLst>
                  <a:ext uri="{0D108BD9-81ED-4DB2-BD59-A6C34878D82A}">
                    <a16:rowId xmlns:a16="http://schemas.microsoft.com/office/drawing/2014/main" val="3871211154"/>
                  </a:ext>
                </a:extLst>
              </a:tr>
              <a:tr h="248150">
                <a:tc>
                  <a:txBody>
                    <a:bodyPr/>
                    <a:lstStyle/>
                    <a:p>
                      <a:pPr algn="l" fontAlgn="b"/>
                      <a:r>
                        <a:rPr lang="en-US" sz="1300" b="0" i="0" u="none" strike="noStrike">
                          <a:solidFill>
                            <a:srgbClr val="000000"/>
                          </a:solidFill>
                          <a:effectLst/>
                          <a:latin typeface="Calibri" panose="020F0502020204030204" pitchFamily="34" charset="0"/>
                        </a:rPr>
                        <a:t>Intercept</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a:solidFill>
                            <a:srgbClr val="000000"/>
                          </a:solidFill>
                          <a:effectLst/>
                          <a:latin typeface="Calibri" panose="020F0502020204030204" pitchFamily="34" charset="0"/>
                        </a:rPr>
                        <a:t>1.681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a:solidFill>
                            <a:srgbClr val="000000"/>
                          </a:solidFill>
                          <a:effectLst/>
                          <a:latin typeface="Calibri" panose="020F0502020204030204" pitchFamily="34" charset="0"/>
                        </a:rPr>
                        <a:t>1.458</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a:solidFill>
                            <a:srgbClr val="000000"/>
                          </a:solidFill>
                          <a:effectLst/>
                          <a:latin typeface="Calibri" panose="020F0502020204030204" pitchFamily="34" charset="0"/>
                        </a:rPr>
                        <a:t>1.152</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dirty="0">
                          <a:solidFill>
                            <a:srgbClr val="000000"/>
                          </a:solidFill>
                          <a:effectLst/>
                          <a:latin typeface="Calibri" panose="020F0502020204030204" pitchFamily="34" charset="0"/>
                        </a:rPr>
                        <a:t>0.287</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extLst>
                  <a:ext uri="{0D108BD9-81ED-4DB2-BD59-A6C34878D82A}">
                    <a16:rowId xmlns:a16="http://schemas.microsoft.com/office/drawing/2014/main" val="1552450721"/>
                  </a:ext>
                </a:extLst>
              </a:tr>
              <a:tr h="248150">
                <a:tc>
                  <a:txBody>
                    <a:bodyPr/>
                    <a:lstStyle/>
                    <a:p>
                      <a:pPr algn="l" fontAlgn="b"/>
                      <a:r>
                        <a:rPr lang="en-US" sz="1300" b="0" i="0" u="none" strike="noStrike" dirty="0">
                          <a:solidFill>
                            <a:srgbClr val="000000"/>
                          </a:solidFill>
                          <a:effectLst/>
                          <a:latin typeface="Calibri" panose="020F0502020204030204" pitchFamily="34" charset="0"/>
                        </a:rPr>
                        <a:t>Miles</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a:solidFill>
                            <a:srgbClr val="000000"/>
                          </a:solidFill>
                          <a:effectLst/>
                          <a:latin typeface="Calibri" panose="020F0502020204030204" pitchFamily="34" charset="0"/>
                        </a:rPr>
                        <a:t>0.1253</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a:solidFill>
                            <a:srgbClr val="000000"/>
                          </a:solidFill>
                          <a:effectLst/>
                          <a:latin typeface="Calibri" panose="020F0502020204030204" pitchFamily="34" charset="0"/>
                        </a:rPr>
                        <a:t>0.0599</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a:solidFill>
                            <a:srgbClr val="000000"/>
                          </a:solidFill>
                          <a:effectLst/>
                          <a:latin typeface="Calibri" panose="020F0502020204030204" pitchFamily="34" charset="0"/>
                        </a:rPr>
                        <a:t>2.091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a:solidFill>
                            <a:srgbClr val="000000"/>
                          </a:solidFill>
                          <a:effectLst/>
                          <a:latin typeface="Calibri" panose="020F0502020204030204" pitchFamily="34" charset="0"/>
                        </a:rPr>
                        <a:t>0.075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extLst>
                  <a:ext uri="{0D108BD9-81ED-4DB2-BD59-A6C34878D82A}">
                    <a16:rowId xmlns:a16="http://schemas.microsoft.com/office/drawing/2014/main" val="333235895"/>
                  </a:ext>
                </a:extLst>
              </a:tr>
              <a:tr h="248150">
                <a:tc>
                  <a:txBody>
                    <a:bodyPr/>
                    <a:lstStyle/>
                    <a:p>
                      <a:pPr algn="l" fontAlgn="b"/>
                      <a:r>
                        <a:rPr lang="en-US" sz="1300" b="0" i="0" u="none" strike="noStrike" dirty="0">
                          <a:solidFill>
                            <a:srgbClr val="000000"/>
                          </a:solidFill>
                          <a:effectLst/>
                          <a:latin typeface="Calibri" panose="020F0502020204030204" pitchFamily="34" charset="0"/>
                        </a:rPr>
                        <a:t>Consumption</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a:solidFill>
                            <a:srgbClr val="000000"/>
                          </a:solidFill>
                          <a:effectLst/>
                          <a:latin typeface="Calibri" panose="020F0502020204030204" pitchFamily="34" charset="0"/>
                        </a:rPr>
                        <a:t>-0.615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a:solidFill>
                            <a:srgbClr val="000000"/>
                          </a:solidFill>
                          <a:effectLst/>
                          <a:latin typeface="Calibri" panose="020F0502020204030204" pitchFamily="34" charset="0"/>
                        </a:rPr>
                        <a:t>0.615</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a:solidFill>
                            <a:srgbClr val="000000"/>
                          </a:solidFill>
                          <a:effectLst/>
                          <a:latin typeface="Calibri" panose="020F0502020204030204" pitchFamily="34" charset="0"/>
                        </a:rPr>
                        <a:t>-1.001</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r" fontAlgn="b"/>
                      <a:r>
                        <a:rPr lang="en-US" sz="1300" b="0" i="0" u="none" strike="noStrike">
                          <a:solidFill>
                            <a:srgbClr val="000000"/>
                          </a:solidFill>
                          <a:effectLst/>
                          <a:latin typeface="Calibri" panose="020F0502020204030204" pitchFamily="34" charset="0"/>
                        </a:rPr>
                        <a:t>0.350</a:t>
                      </a: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tc>
                  <a:txBody>
                    <a:bodyPr/>
                    <a:lstStyle/>
                    <a:p>
                      <a:pPr algn="l" fontAlgn="b"/>
                      <a:endParaRPr lang="en-US" sz="13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5E5E7"/>
                    </a:solidFill>
                  </a:tcPr>
                </a:tc>
                <a:extLst>
                  <a:ext uri="{0D108BD9-81ED-4DB2-BD59-A6C34878D82A}">
                    <a16:rowId xmlns:a16="http://schemas.microsoft.com/office/drawing/2014/main" val="1274154033"/>
                  </a:ext>
                </a:extLst>
              </a:tr>
            </a:tbl>
          </a:graphicData>
        </a:graphic>
      </p:graphicFrame>
    </p:spTree>
    <p:extLst>
      <p:ext uri="{BB962C8B-B14F-4D97-AF65-F5344CB8AC3E}">
        <p14:creationId xmlns:p14="http://schemas.microsoft.com/office/powerpoint/2010/main" val="6788007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705131" y="365125"/>
            <a:ext cx="10781737" cy="672105"/>
          </a:xfrm>
        </p:spPr>
        <p:txBody>
          <a:bodyPr/>
          <a:lstStyle/>
          <a:p>
            <a:r>
              <a:rPr lang="en-US" sz="3200" dirty="0">
                <a:solidFill>
                  <a:srgbClr val="D14B1E"/>
                </a:solidFill>
              </a:rPr>
              <a:t>15.6 Using the Estimated Regression Equation for Estimation and Prediction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05131" y="1639616"/>
                <a:ext cx="10781737" cy="4169978"/>
              </a:xfrm>
            </p:spPr>
            <p:txBody>
              <a:bodyPr/>
              <a:lstStyle/>
              <a:p>
                <a:pPr>
                  <a:spcBef>
                    <a:spcPts val="600"/>
                  </a:spcBef>
                  <a:spcAft>
                    <a:spcPts val="0"/>
                  </a:spcAft>
                </a:pPr>
                <a:r>
                  <a:rPr lang="en-US" sz="2000" dirty="0">
                    <a:solidFill>
                      <a:srgbClr val="000000"/>
                    </a:solidFill>
                    <a:latin typeface="Arial" panose="020B0604020202020204" pitchFamily="34" charset="0"/>
                    <a:cs typeface="Arial" panose="020B0604020202020204" pitchFamily="34" charset="0"/>
                  </a:rPr>
                  <a:t>The procedures for estimating the mean value of 𝑦 and predicting an individual value of 𝑦 in multiple regression are similar to those we saw in simple linear regression.</a:t>
                </a:r>
              </a:p>
              <a:p>
                <a:pPr>
                  <a:spcBef>
                    <a:spcPts val="600"/>
                  </a:spcBef>
                  <a:spcAft>
                    <a:spcPts val="0"/>
                  </a:spcAft>
                </a:pPr>
                <a:r>
                  <a:rPr lang="en-US" sz="2000" dirty="0">
                    <a:solidFill>
                      <a:srgbClr val="000000"/>
                    </a:solidFill>
                    <a:latin typeface="Arial" panose="020B0604020202020204" pitchFamily="34" charset="0"/>
                    <a:cs typeface="Arial" panose="020B0604020202020204" pitchFamily="34" charset="0"/>
                  </a:rPr>
                  <a:t>We substitute the given values of </a:t>
                </a:r>
                <a14:m>
                  <m:oMath xmlns:m="http://schemas.openxmlformats.org/officeDocument/2006/math">
                    <m:sSub>
                      <m:sSubPr>
                        <m:ctrlPr>
                          <a:rPr lang="en-US" sz="2000" i="1" smtClean="0">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𝑥</m:t>
                        </m:r>
                      </m:e>
                      <m:sub>
                        <m:r>
                          <a:rPr lang="en-US" sz="2000" i="1">
                            <a:solidFill>
                              <a:srgbClr val="000000"/>
                            </a:solidFill>
                            <a:latin typeface="Cambria Math" panose="02040503050406030204" pitchFamily="18" charset="0"/>
                          </a:rPr>
                          <m:t>1</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𝑥</m:t>
                        </m:r>
                      </m:e>
                      <m:sub>
                        <m:r>
                          <a:rPr lang="en-US" sz="2000" i="1">
                            <a:solidFill>
                              <a:srgbClr val="000000"/>
                            </a:solidFill>
                            <a:latin typeface="Cambria Math" panose="02040503050406030204" pitchFamily="18" charset="0"/>
                          </a:rPr>
                          <m:t>2</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𝑥</m:t>
                        </m:r>
                      </m:e>
                      <m:sub>
                        <m:r>
                          <a:rPr lang="en-US" sz="2000" i="1">
                            <a:solidFill>
                              <a:srgbClr val="000000"/>
                            </a:solidFill>
                            <a:latin typeface="Cambria Math" panose="02040503050406030204" pitchFamily="18" charset="0"/>
                          </a:rPr>
                          <m:t>𝑝</m:t>
                        </m:r>
                      </m:sub>
                    </m:sSub>
                  </m:oMath>
                </a14:m>
                <a:r>
                  <a:rPr lang="en-US" sz="2000" dirty="0">
                    <a:solidFill>
                      <a:srgbClr val="000000"/>
                    </a:solidFill>
                    <a:latin typeface="Arial" panose="020B0604020202020204" pitchFamily="34" charset="0"/>
                    <a:cs typeface="Arial" panose="020B0604020202020204" pitchFamily="34" charset="0"/>
                  </a:rPr>
                  <a:t> into the estimated regression equation and use the corresponding value of </a:t>
                </a:r>
                <a14:m>
                  <m:oMath xmlns:m="http://schemas.openxmlformats.org/officeDocument/2006/math">
                    <m:acc>
                      <m:accPr>
                        <m:chr m:val="̂"/>
                        <m:ctrlPr>
                          <a:rPr lang="en-US" sz="2000" i="1" smtClean="0">
                            <a:solidFill>
                              <a:srgbClr val="000000"/>
                            </a:solidFill>
                            <a:latin typeface="Cambria Math" panose="02040503050406030204" pitchFamily="18" charset="0"/>
                            <a:cs typeface="Arial" panose="020B0604020202020204" pitchFamily="34" charset="0"/>
                          </a:rPr>
                        </m:ctrlPr>
                      </m:accPr>
                      <m:e>
                        <m:r>
                          <a:rPr lang="en-US" sz="2000" b="0" i="1" smtClean="0">
                            <a:solidFill>
                              <a:srgbClr val="000000"/>
                            </a:solidFill>
                            <a:latin typeface="Cambria Math" panose="02040503050406030204" pitchFamily="18" charset="0"/>
                            <a:cs typeface="Arial" panose="020B0604020202020204" pitchFamily="34" charset="0"/>
                          </a:rPr>
                          <m:t>𝑦</m:t>
                        </m:r>
                      </m:e>
                    </m:acc>
                  </m:oMath>
                </a14:m>
                <a:r>
                  <a:rPr lang="en-US" sz="2000" dirty="0">
                    <a:solidFill>
                      <a:srgbClr val="000000"/>
                    </a:solidFill>
                    <a:latin typeface="Arial" panose="020B0604020202020204" pitchFamily="34" charset="0"/>
                    <a:cs typeface="Arial" panose="020B0604020202020204" pitchFamily="34" charset="0"/>
                  </a:rPr>
                  <a:t> as the point estimate.</a:t>
                </a:r>
              </a:p>
              <a:p>
                <a:pPr>
                  <a:spcBef>
                    <a:spcPts val="600"/>
                  </a:spcBef>
                  <a:spcAft>
                    <a:spcPts val="600"/>
                  </a:spcAft>
                </a:pPr>
                <a:r>
                  <a:rPr lang="en-US" sz="2000" dirty="0">
                    <a:solidFill>
                      <a:srgbClr val="000000"/>
                    </a:solidFill>
                    <a:latin typeface="Arial" panose="020B0604020202020204" pitchFamily="34" charset="0"/>
                    <a:cs typeface="Arial" panose="020B0604020202020204" pitchFamily="34" charset="0"/>
                  </a:rPr>
                  <a:t>If we use the estimated regression equation for a truck that traveled 100 miles (</a:t>
                </a:r>
                <a14:m>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𝑥</m:t>
                        </m:r>
                      </m:e>
                      <m:sub>
                        <m:r>
                          <a:rPr lang="en-US" sz="2000" b="0" i="1" smtClean="0">
                            <a:solidFill>
                              <a:srgbClr val="000000"/>
                            </a:solidFill>
                            <a:latin typeface="Cambria Math" panose="02040503050406030204" pitchFamily="18" charset="0"/>
                          </a:rPr>
                          <m:t>1</m:t>
                        </m:r>
                      </m:sub>
                    </m:sSub>
                    <m:r>
                      <a:rPr lang="en-US" sz="2000" b="0" i="1" smtClean="0">
                        <a:solidFill>
                          <a:srgbClr val="000000"/>
                        </a:solidFill>
                        <a:latin typeface="Cambria Math" panose="02040503050406030204" pitchFamily="18" charset="0"/>
                      </a:rPr>
                      <m:t>=100</m:t>
                    </m:r>
                  </m:oMath>
                </a14:m>
                <a:r>
                  <a:rPr lang="en-US" sz="2000" dirty="0">
                    <a:solidFill>
                      <a:srgbClr val="000000"/>
                    </a:solidFill>
                    <a:latin typeface="Arial" panose="020B0604020202020204" pitchFamily="34" charset="0"/>
                    <a:cs typeface="Arial" panose="020B0604020202020204" pitchFamily="34" charset="0"/>
                  </a:rPr>
                  <a:t>) to make two deliveries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𝑥</m:t>
                        </m:r>
                      </m:e>
                      <m:sub>
                        <m:r>
                          <a:rPr lang="en-US" sz="2000" b="0" i="1" smtClean="0">
                            <a:solidFill>
                              <a:srgbClr val="000000"/>
                            </a:solidFill>
                            <a:latin typeface="Cambria Math" panose="02040503050406030204" pitchFamily="18" charset="0"/>
                          </a:rPr>
                          <m:t>2</m:t>
                        </m:r>
                      </m:sub>
                    </m:sSub>
                    <m:r>
                      <a:rPr lang="en-US" sz="2000" i="1">
                        <a:solidFill>
                          <a:srgbClr val="000000"/>
                        </a:solidFill>
                        <a:latin typeface="Cambria Math" panose="02040503050406030204" pitchFamily="18" charset="0"/>
                      </a:rPr>
                      <m:t>=</m:t>
                    </m:r>
                    <m:r>
                      <a:rPr lang="en-US" sz="2000" b="0" i="1" smtClean="0">
                        <a:solidFill>
                          <a:srgbClr val="000000"/>
                        </a:solidFill>
                        <a:latin typeface="Cambria Math" panose="02040503050406030204" pitchFamily="18" charset="0"/>
                      </a:rPr>
                      <m:t>2</m:t>
                    </m:r>
                  </m:oMath>
                </a14:m>
                <a:r>
                  <a:rPr lang="en-US" sz="2000" dirty="0">
                    <a:solidFill>
                      <a:srgbClr val="000000"/>
                    </a:solidFill>
                    <a:latin typeface="Arial" panose="020B0604020202020204" pitchFamily="34" charset="0"/>
                    <a:cs typeface="Arial" panose="020B0604020202020204" pitchFamily="34" charset="0"/>
                  </a:rPr>
                  <a:t>), we obtain the following point estimate of the total travel time.</a:t>
                </a:r>
              </a:p>
              <a:p>
                <a:pPr marL="914400">
                  <a:spcBef>
                    <a:spcPts val="600"/>
                  </a:spcBef>
                  <a:spcAft>
                    <a:spcPts val="0"/>
                  </a:spcAft>
                </a:pPr>
                <a14:m>
                  <m:oMathPara xmlns:m="http://schemas.openxmlformats.org/officeDocument/2006/math">
                    <m:oMathParaPr>
                      <m:jc m:val="left"/>
                    </m:oMathParaPr>
                    <m:oMath xmlns:m="http://schemas.openxmlformats.org/officeDocument/2006/math">
                      <m:acc>
                        <m:accPr>
                          <m:chr m:val="̂"/>
                          <m:ctrlPr>
                            <a:rPr lang="en-US" sz="2000" i="1" smtClean="0">
                              <a:solidFill>
                                <a:srgbClr val="000000"/>
                              </a:solidFill>
                              <a:latin typeface="Cambria Math" panose="02040503050406030204" pitchFamily="18" charset="0"/>
                            </a:rPr>
                          </m:ctrlPr>
                        </m:accPr>
                        <m:e>
                          <m:r>
                            <a:rPr lang="en-US" sz="2000" b="0" i="1">
                              <a:solidFill>
                                <a:srgbClr val="000000"/>
                              </a:solidFill>
                              <a:latin typeface="Cambria Math" panose="02040503050406030204" pitchFamily="18" charset="0"/>
                            </a:rPr>
                            <m:t>𝑦</m:t>
                          </m:r>
                        </m:e>
                      </m:acc>
                      <m:r>
                        <a:rPr lang="en-US" sz="2000" b="0" i="1" smtClean="0">
                          <a:solidFill>
                            <a:srgbClr val="000000"/>
                          </a:solidFill>
                          <a:latin typeface="Cambria Math" panose="02040503050406030204" pitchFamily="18" charset="0"/>
                        </a:rPr>
                        <m:t>=−0.8687+0.0611</m:t>
                      </m:r>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𝑥</m:t>
                          </m:r>
                        </m:e>
                        <m:sub>
                          <m:r>
                            <a:rPr lang="en-US" sz="2000" b="0" i="1" smtClean="0">
                              <a:solidFill>
                                <a:srgbClr val="000000"/>
                              </a:solidFill>
                              <a:latin typeface="Cambria Math" panose="02040503050406030204" pitchFamily="18" charset="0"/>
                            </a:rPr>
                            <m:t>1</m:t>
                          </m:r>
                        </m:sub>
                      </m:sSub>
                      <m:r>
                        <a:rPr lang="en-US" sz="2000" b="0" i="1" smtClean="0">
                          <a:solidFill>
                            <a:srgbClr val="000000"/>
                          </a:solidFill>
                          <a:latin typeface="Cambria Math" panose="02040503050406030204" pitchFamily="18" charset="0"/>
                        </a:rPr>
                        <m:t>+0.9234</m:t>
                      </m:r>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𝑥</m:t>
                          </m:r>
                        </m:e>
                        <m:sub>
                          <m:r>
                            <a:rPr lang="en-US" sz="2000" b="0" i="1" smtClean="0">
                              <a:solidFill>
                                <a:srgbClr val="000000"/>
                              </a:solidFill>
                              <a:latin typeface="Cambria Math" panose="02040503050406030204" pitchFamily="18" charset="0"/>
                            </a:rPr>
                            <m:t>2</m:t>
                          </m:r>
                        </m:sub>
                      </m:sSub>
                      <m:r>
                        <a:rPr lang="en-US" sz="2000" b="0" i="1" smtClean="0">
                          <a:solidFill>
                            <a:srgbClr val="000000"/>
                          </a:solidFill>
                          <a:latin typeface="Cambria Math" panose="02040503050406030204" pitchFamily="18" charset="0"/>
                        </a:rPr>
                        <m:t>=−0.8687+0.0611</m:t>
                      </m:r>
                      <m:d>
                        <m:dPr>
                          <m:ctrlPr>
                            <a:rPr lang="en-US" sz="2000" b="0" i="1" smtClean="0">
                              <a:solidFill>
                                <a:srgbClr val="000000"/>
                              </a:solidFill>
                              <a:latin typeface="Cambria Math" panose="02040503050406030204" pitchFamily="18" charset="0"/>
                            </a:rPr>
                          </m:ctrlPr>
                        </m:dPr>
                        <m:e>
                          <m:r>
                            <a:rPr lang="en-US" sz="2000" b="0" i="1" smtClean="0">
                              <a:solidFill>
                                <a:srgbClr val="000000"/>
                              </a:solidFill>
                              <a:latin typeface="Cambria Math" panose="02040503050406030204" pitchFamily="18" charset="0"/>
                            </a:rPr>
                            <m:t>100</m:t>
                          </m:r>
                        </m:e>
                      </m:d>
                      <m:r>
                        <a:rPr lang="en-US" sz="2000" b="0" i="1" smtClean="0">
                          <a:solidFill>
                            <a:srgbClr val="000000"/>
                          </a:solidFill>
                          <a:latin typeface="Cambria Math" panose="02040503050406030204" pitchFamily="18" charset="0"/>
                        </a:rPr>
                        <m:t>+0.9234</m:t>
                      </m:r>
                      <m:d>
                        <m:dPr>
                          <m:ctrlPr>
                            <a:rPr lang="en-US" sz="2000" b="0" i="1" smtClean="0">
                              <a:solidFill>
                                <a:srgbClr val="000000"/>
                              </a:solidFill>
                              <a:latin typeface="Cambria Math" panose="02040503050406030204" pitchFamily="18" charset="0"/>
                            </a:rPr>
                          </m:ctrlPr>
                        </m:dPr>
                        <m:e>
                          <m:r>
                            <a:rPr lang="en-US" sz="2000" b="0" i="1" smtClean="0">
                              <a:solidFill>
                                <a:srgbClr val="000000"/>
                              </a:solidFill>
                              <a:latin typeface="Cambria Math" panose="02040503050406030204" pitchFamily="18" charset="0"/>
                            </a:rPr>
                            <m:t>2</m:t>
                          </m:r>
                        </m:e>
                      </m:d>
                      <m:r>
                        <a:rPr lang="en-US" sz="2000" b="0" i="1" smtClean="0">
                          <a:solidFill>
                            <a:srgbClr val="000000"/>
                          </a:solidFill>
                          <a:latin typeface="Cambria Math" panose="02040503050406030204" pitchFamily="18" charset="0"/>
                        </a:rPr>
                        <m:t>=7.09</m:t>
                      </m:r>
                    </m:oMath>
                  </m:oMathPara>
                </a14:m>
                <a:endParaRPr lang="en-US" sz="2000" dirty="0">
                  <a:solidFill>
                    <a:srgbClr val="000000"/>
                  </a:solidFill>
                  <a:latin typeface="Arial" panose="020B0604020202020204" pitchFamily="34" charset="0"/>
                  <a:cs typeface="Arial" panose="020B0604020202020204" pitchFamily="34" charset="0"/>
                </a:endParaRPr>
              </a:p>
              <a:p>
                <a:pPr lvl="0"/>
                <a:r>
                  <a:rPr lang="en-US" sz="2000" dirty="0">
                    <a:solidFill>
                      <a:srgbClr val="000000"/>
                    </a:solidFill>
                    <a:cs typeface="Arial" panose="020B0604020202020204" pitchFamily="34" charset="0"/>
                  </a:rPr>
                  <a:t>The formulas required to develop interval estimates for the mean value of</a:t>
                </a:r>
                <a14:m>
                  <m:oMath xmlns:m="http://schemas.openxmlformats.org/officeDocument/2006/math">
                    <m:r>
                      <a:rPr lang="en-US" sz="2000" b="0" i="0" smtClean="0">
                        <a:solidFill>
                          <a:srgbClr val="000000"/>
                        </a:solidFill>
                        <a:latin typeface="Cambria Math" panose="02040503050406030204" pitchFamily="18" charset="0"/>
                        <a:cs typeface="Arial" panose="020B0604020202020204" pitchFamily="34" charset="0"/>
                      </a:rPr>
                      <m:t> </m:t>
                    </m:r>
                    <m:r>
                      <a:rPr lang="en-US" sz="2000" i="1">
                        <a:solidFill>
                          <a:srgbClr val="000000"/>
                        </a:solidFill>
                        <a:latin typeface="Cambria Math" panose="02040503050406030204" pitchFamily="18" charset="0"/>
                        <a:cs typeface="Arial" panose="020B0604020202020204" pitchFamily="34" charset="0"/>
                      </a:rPr>
                      <m:t>𝑦</m:t>
                    </m:r>
                  </m:oMath>
                </a14:m>
                <a:r>
                  <a:rPr lang="en-US" sz="2000" dirty="0">
                    <a:solidFill>
                      <a:srgbClr val="000000"/>
                    </a:solidFill>
                    <a:cs typeface="Arial" panose="020B0604020202020204" pitchFamily="34" charset="0"/>
                  </a:rPr>
                  <a:t> and for an individual value of </a:t>
                </a:r>
                <a14:m>
                  <m:oMath xmlns:m="http://schemas.openxmlformats.org/officeDocument/2006/math">
                    <m:r>
                      <a:rPr lang="en-US" sz="2000" i="1">
                        <a:solidFill>
                          <a:srgbClr val="000000"/>
                        </a:solidFill>
                        <a:latin typeface="Cambria Math" panose="02040503050406030204" pitchFamily="18" charset="0"/>
                        <a:cs typeface="Arial" panose="020B0604020202020204" pitchFamily="34" charset="0"/>
                      </a:rPr>
                      <m:t>𝑦</m:t>
                    </m:r>
                  </m:oMath>
                </a14:m>
                <a:r>
                  <a:rPr lang="en-US" sz="2000" i="1" dirty="0">
                    <a:solidFill>
                      <a:srgbClr val="000000"/>
                    </a:solidFill>
                    <a:cs typeface="Arial" panose="020B0604020202020204" pitchFamily="34" charset="0"/>
                  </a:rPr>
                  <a:t> </a:t>
                </a:r>
                <a:r>
                  <a:rPr lang="en-US" sz="2000" dirty="0">
                    <a:solidFill>
                      <a:srgbClr val="000000"/>
                    </a:solidFill>
                    <a:cs typeface="Arial" panose="020B0604020202020204" pitchFamily="34" charset="0"/>
                  </a:rPr>
                  <a:t>are beyond the scope of the textbook, but statistical software for multiple regression will often provide these interval estimates.</a:t>
                </a:r>
              </a:p>
              <a:p>
                <a:pPr>
                  <a:spcBef>
                    <a:spcPts val="600"/>
                  </a:spcBef>
                  <a:spcAft>
                    <a:spcPts val="0"/>
                  </a:spcAft>
                </a:pPr>
                <a:r>
                  <a:rPr lang="en-US" sz="2000" dirty="0">
                    <a:solidFill>
                      <a:srgbClr val="000000"/>
                    </a:solidFill>
                    <a:latin typeface="Arial" panose="020B0604020202020204" pitchFamily="34" charset="0"/>
                    <a:cs typeface="Arial" panose="020B0604020202020204" pitchFamily="34" charset="0"/>
                  </a:rPr>
                  <a:t>In the next slide, we show the 95% confidence and prediction intervals for each of the ten observations included in the Butler Trucking data set.</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05131" y="1639616"/>
                <a:ext cx="10781737" cy="4169978"/>
              </a:xfrm>
              <a:blipFill>
                <a:blip r:embed="rId4"/>
                <a:stretch>
                  <a:fillRect l="-1471" t="-1901" r="-1867" b="-2339"/>
                </a:stretch>
              </a:blipFill>
            </p:spPr>
            <p:txBody>
              <a:bodyPr/>
              <a:lstStyle/>
              <a:p>
                <a:r>
                  <a:rPr lang="en-IN">
                    <a:noFill/>
                  </a:rPr>
                  <a:t> </a:t>
                </a:r>
              </a:p>
            </p:txBody>
          </p:sp>
        </mc:Fallback>
      </mc:AlternateContent>
    </p:spTree>
    <p:extLst>
      <p:ext uri="{BB962C8B-B14F-4D97-AF65-F5344CB8AC3E}">
        <p14:creationId xmlns:p14="http://schemas.microsoft.com/office/powerpoint/2010/main" val="10950553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69AAD-1D5A-EBA5-C2A6-3519AA8C2C21}"/>
              </a:ext>
            </a:extLst>
          </p:cNvPr>
          <p:cNvSpPr>
            <a:spLocks noGrp="1"/>
          </p:cNvSpPr>
          <p:nvPr>
            <p:ph type="title"/>
          </p:nvPr>
        </p:nvSpPr>
        <p:spPr/>
        <p:txBody>
          <a:bodyPr/>
          <a:lstStyle/>
          <a:p>
            <a:r>
              <a:rPr lang="en-US" sz="3200" dirty="0"/>
              <a:t>15.6 The 95% Confidence and Prediction Intervals for the Butler Trucking Example</a:t>
            </a:r>
          </a:p>
        </p:txBody>
      </p:sp>
      <p:sp>
        <p:nvSpPr>
          <p:cNvPr id="6" name="Text Placeholder 5">
            <a:extLst>
              <a:ext uri="{FF2B5EF4-FFF2-40B4-BE49-F238E27FC236}">
                <a16:creationId xmlns:a16="http://schemas.microsoft.com/office/drawing/2014/main" id="{840C547D-6531-9C9C-D3C5-1CED871744D8}"/>
              </a:ext>
            </a:extLst>
          </p:cNvPr>
          <p:cNvSpPr>
            <a:spLocks noGrp="1"/>
          </p:cNvSpPr>
          <p:nvPr>
            <p:ph type="body" sz="quarter" idx="15"/>
          </p:nvPr>
        </p:nvSpPr>
        <p:spPr>
          <a:xfrm>
            <a:off x="743576" y="1537844"/>
            <a:ext cx="10610223" cy="929580"/>
          </a:xfrm>
        </p:spPr>
        <p:txBody>
          <a:bodyPr/>
          <a:lstStyle/>
          <a:p>
            <a:pPr>
              <a:spcBef>
                <a:spcPts val="600"/>
              </a:spcBef>
              <a:spcAft>
                <a:spcPts val="0"/>
              </a:spcAft>
            </a:pPr>
            <a:r>
              <a:rPr lang="en-US" dirty="0">
                <a:latin typeface="Arial" panose="020B0604020202020204" pitchFamily="34" charset="0"/>
                <a:cs typeface="Arial" panose="020B0604020202020204" pitchFamily="34" charset="0"/>
              </a:rPr>
              <a:t>Note that t</a:t>
            </a:r>
            <a:r>
              <a:rPr lang="en-US" sz="2000" dirty="0">
                <a:latin typeface="Arial" panose="020B0604020202020204" pitchFamily="34" charset="0"/>
                <a:cs typeface="Arial" panose="020B0604020202020204" pitchFamily="34" charset="0"/>
              </a:rPr>
              <a:t>he interval estimate for an individual value of 𝑦 is wider than the interval estimate for the expected value of 𝑦 because we can always estimate the mean travel time for all trucks with more precision than we can predict the travel time for one specific truck.</a:t>
            </a:r>
          </a:p>
          <a:p>
            <a:endParaRPr lang="en-US" dirty="0"/>
          </a:p>
        </p:txBody>
      </p:sp>
      <p:graphicFrame>
        <p:nvGraphicFramePr>
          <p:cNvPr id="4" name="Table 4">
            <a:extLst>
              <a:ext uri="{FF2B5EF4-FFF2-40B4-BE49-F238E27FC236}">
                <a16:creationId xmlns:a16="http://schemas.microsoft.com/office/drawing/2014/main" id="{0810A792-52CA-A4B3-78BE-4AA7468C476A}"/>
              </a:ext>
            </a:extLst>
          </p:cNvPr>
          <p:cNvGraphicFramePr>
            <a:graphicFrameLocks noGrp="1"/>
          </p:cNvGraphicFramePr>
          <p:nvPr>
            <p:ph type="tbl" sz="quarter" idx="16"/>
            <p:extLst>
              <p:ext uri="{D42A27DB-BD31-4B8C-83A1-F6EECF244321}">
                <p14:modId xmlns:p14="http://schemas.microsoft.com/office/powerpoint/2010/main" val="24180151"/>
              </p:ext>
            </p:extLst>
          </p:nvPr>
        </p:nvGraphicFramePr>
        <p:xfrm>
          <a:off x="1553937" y="2542494"/>
          <a:ext cx="9084126" cy="3573318"/>
        </p:xfrm>
        <a:graphic>
          <a:graphicData uri="http://schemas.openxmlformats.org/drawingml/2006/table">
            <a:tbl>
              <a:tblPr firstRow="1" bandRow="1">
                <a:tableStyleId>{5C22544A-7EE6-4342-B048-85BDC9FD1C3A}</a:tableStyleId>
              </a:tblPr>
              <a:tblGrid>
                <a:gridCol w="1514021">
                  <a:extLst>
                    <a:ext uri="{9D8B030D-6E8A-4147-A177-3AD203B41FA5}">
                      <a16:colId xmlns:a16="http://schemas.microsoft.com/office/drawing/2014/main" val="3128219274"/>
                    </a:ext>
                  </a:extLst>
                </a:gridCol>
                <a:gridCol w="1514021">
                  <a:extLst>
                    <a:ext uri="{9D8B030D-6E8A-4147-A177-3AD203B41FA5}">
                      <a16:colId xmlns:a16="http://schemas.microsoft.com/office/drawing/2014/main" val="1894703484"/>
                    </a:ext>
                  </a:extLst>
                </a:gridCol>
                <a:gridCol w="1514021">
                  <a:extLst>
                    <a:ext uri="{9D8B030D-6E8A-4147-A177-3AD203B41FA5}">
                      <a16:colId xmlns:a16="http://schemas.microsoft.com/office/drawing/2014/main" val="2238509643"/>
                    </a:ext>
                  </a:extLst>
                </a:gridCol>
                <a:gridCol w="1514021">
                  <a:extLst>
                    <a:ext uri="{9D8B030D-6E8A-4147-A177-3AD203B41FA5}">
                      <a16:colId xmlns:a16="http://schemas.microsoft.com/office/drawing/2014/main" val="2510243876"/>
                    </a:ext>
                  </a:extLst>
                </a:gridCol>
                <a:gridCol w="1514021">
                  <a:extLst>
                    <a:ext uri="{9D8B030D-6E8A-4147-A177-3AD203B41FA5}">
                      <a16:colId xmlns:a16="http://schemas.microsoft.com/office/drawing/2014/main" val="190252270"/>
                    </a:ext>
                  </a:extLst>
                </a:gridCol>
                <a:gridCol w="1514021">
                  <a:extLst>
                    <a:ext uri="{9D8B030D-6E8A-4147-A177-3AD203B41FA5}">
                      <a16:colId xmlns:a16="http://schemas.microsoft.com/office/drawing/2014/main" val="970510517"/>
                    </a:ext>
                  </a:extLst>
                </a:gridCol>
              </a:tblGrid>
              <a:tr h="320040">
                <a:tc>
                  <a:txBody>
                    <a:bodyPr/>
                    <a:lstStyle/>
                    <a:p>
                      <a:pPr algn="ctr" fontAlgn="b"/>
                      <a:r>
                        <a:rPr lang="en-US" sz="1600" b="1" i="0" u="none" strike="noStrike" dirty="0">
                          <a:solidFill>
                            <a:srgbClr val="000000"/>
                          </a:solidFill>
                          <a:effectLst/>
                          <a:latin typeface="Calibri" panose="020F0502020204030204" pitchFamily="34" charset="0"/>
                        </a:rPr>
                        <a:t>Value of </a:t>
                      </a:r>
                    </a:p>
                  </a:txBody>
                  <a:tcPr marL="0" marR="0" marT="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Calibri" panose="020F0502020204030204" pitchFamily="34" charset="0"/>
                        </a:rPr>
                        <a:t>Value of </a:t>
                      </a:r>
                    </a:p>
                  </a:txBody>
                  <a:tcPr marL="0" marR="0" marT="0" marB="0" anchor="b">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endParaRPr lang="en-US" sz="1600" b="1" i="0" u="none" strike="noStrike" dirty="0">
                        <a:solidFill>
                          <a:srgbClr val="000000"/>
                        </a:solidFill>
                        <a:effectLst/>
                        <a:latin typeface="Calibri" panose="020F0502020204030204" pitchFamily="34" charset="0"/>
                      </a:endParaRPr>
                    </a:p>
                  </a:txBody>
                  <a:tcPr marL="0" marR="0" marT="0" marB="0">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1" i="0" u="none" strike="noStrike" dirty="0">
                          <a:solidFill>
                            <a:srgbClr val="000000"/>
                          </a:solidFill>
                          <a:effectLst/>
                          <a:latin typeface="Calibri" panose="020F0502020204030204" pitchFamily="34" charset="0"/>
                        </a:rPr>
                        <a:t>95% Confidence Interval </a:t>
                      </a:r>
                    </a:p>
                  </a:txBody>
                  <a:tcPr marL="0" marR="0" marT="0" marB="0">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endParaRPr lang="en-US" sz="1600" b="1" i="0" u="none" strike="noStrike" dirty="0">
                        <a:solidFill>
                          <a:srgbClr val="000000"/>
                        </a:solidFill>
                        <a:effectLst/>
                        <a:latin typeface="Calibri" panose="020F0502020204030204" pitchFamily="34" charset="0"/>
                      </a:endParaRPr>
                    </a:p>
                  </a:txBody>
                  <a:tcPr marL="0" marR="0" marT="0" marB="0">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600" b="1" i="0" u="none" strike="noStrike" dirty="0">
                          <a:solidFill>
                            <a:srgbClr val="000000"/>
                          </a:solidFill>
                          <a:effectLst/>
                          <a:latin typeface="Calibri" panose="020F0502020204030204" pitchFamily="34" charset="0"/>
                        </a:rPr>
                        <a:t>95% Prediction Interval </a:t>
                      </a:r>
                    </a:p>
                  </a:txBody>
                  <a:tcPr marL="0" marR="0" marT="0" marB="0">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761452744"/>
                  </a:ext>
                </a:extLst>
              </a:tr>
              <a:tr h="320040">
                <a:tc>
                  <a:txBody>
                    <a:bodyPr/>
                    <a:lstStyle/>
                    <a:p>
                      <a:pPr algn="ctr" fontAlgn="b"/>
                      <a:r>
                        <a:rPr lang="en-US" sz="1600" b="1" i="1" u="none" strike="noStrike" dirty="0">
                          <a:solidFill>
                            <a:srgbClr val="000000"/>
                          </a:solidFill>
                          <a:effectLst/>
                          <a:latin typeface="Calibri" panose="020F0502020204030204" pitchFamily="34" charset="0"/>
                        </a:rPr>
                        <a:t>x</a:t>
                      </a:r>
                      <a:r>
                        <a:rPr lang="en-US" sz="1600" b="1" i="0" u="none" strike="noStrike" baseline="-25000" dirty="0">
                          <a:solidFill>
                            <a:srgbClr val="000000"/>
                          </a:solidFill>
                          <a:effectLst/>
                          <a:latin typeface="Calibri" panose="020F0502020204030204" pitchFamily="34" charset="0"/>
                        </a:rPr>
                        <a:t>1</a:t>
                      </a:r>
                    </a:p>
                  </a:txBody>
                  <a:tcPr marL="0" marR="0" marT="0" marB="0">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1" u="none" strike="noStrike" dirty="0">
                          <a:solidFill>
                            <a:srgbClr val="000000"/>
                          </a:solidFill>
                          <a:effectLst/>
                          <a:latin typeface="Calibri" panose="020F0502020204030204" pitchFamily="34" charset="0"/>
                        </a:rPr>
                        <a:t>x</a:t>
                      </a:r>
                      <a:r>
                        <a:rPr lang="en-US" sz="1600" b="1" i="0" u="none" strike="noStrike" baseline="-25000" dirty="0">
                          <a:solidFill>
                            <a:srgbClr val="000000"/>
                          </a:solidFill>
                          <a:effectLst/>
                          <a:latin typeface="Calibri" panose="020F0502020204030204" pitchFamily="34" charset="0"/>
                        </a:rPr>
                        <a:t>2</a:t>
                      </a:r>
                    </a:p>
                  </a:txBody>
                  <a:tcPr marL="0" marR="0" marT="0" marB="0">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Calibri" panose="020F0502020204030204" pitchFamily="34" charset="0"/>
                        </a:rPr>
                        <a:t>Lower Limit </a:t>
                      </a:r>
                    </a:p>
                  </a:txBody>
                  <a:tcPr marL="0" marR="0" marT="0" marB="0">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Calibri" panose="020F0502020204030204" pitchFamily="34" charset="0"/>
                        </a:rPr>
                        <a:t>Upper Limit </a:t>
                      </a:r>
                    </a:p>
                  </a:txBody>
                  <a:tcPr marL="0" marR="0" marT="0" marB="0">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Calibri" panose="020F0502020204030204" pitchFamily="34" charset="0"/>
                        </a:rPr>
                        <a:t>Lower Limit </a:t>
                      </a:r>
                    </a:p>
                  </a:txBody>
                  <a:tcPr marL="0" marR="0" marT="0" marB="0">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i="0" u="none" strike="noStrike" dirty="0">
                          <a:solidFill>
                            <a:srgbClr val="000000"/>
                          </a:solidFill>
                          <a:effectLst/>
                          <a:latin typeface="Calibri" panose="020F0502020204030204" pitchFamily="34" charset="0"/>
                        </a:rPr>
                        <a:t>Upper Limit </a:t>
                      </a:r>
                    </a:p>
                  </a:txBody>
                  <a:tcPr marL="0" marR="0" marT="0" marB="0">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669197078"/>
                  </a:ext>
                </a:extLst>
              </a:tr>
              <a:tr h="251418">
                <a:tc>
                  <a:txBody>
                    <a:bodyPr/>
                    <a:lstStyle/>
                    <a:p>
                      <a:pPr marL="0" algn="l" defTabSz="914400" rtl="0" eaLnBrk="1" fontAlgn="b" latinLnBrk="0" hangingPunct="1">
                        <a:tabLst>
                          <a:tab pos="914400" algn="r"/>
                        </a:tabLst>
                      </a:pPr>
                      <a:r>
                        <a:rPr lang="en-US" sz="1600" b="0" i="0" u="none" strike="noStrike" kern="1200" dirty="0">
                          <a:solidFill>
                            <a:srgbClr val="000000"/>
                          </a:solidFill>
                          <a:effectLst/>
                          <a:latin typeface="Calibri" panose="020F0502020204030204" pitchFamily="34" charset="0"/>
                          <a:ea typeface="+mn-ea"/>
                          <a:cs typeface="+mn-cs"/>
                        </a:rPr>
                        <a:t>	100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ctr" defTabSz="914400" rtl="0" eaLnBrk="1" fontAlgn="b" latinLnBrk="0" hangingPunct="1">
                        <a:tabLst>
                          <a:tab pos="914400" algn="r"/>
                        </a:tabLst>
                      </a:pPr>
                      <a:r>
                        <a:rPr lang="en-US" sz="1600" b="0" i="0" u="none" strike="noStrike" kern="1200" dirty="0">
                          <a:solidFill>
                            <a:srgbClr val="000000"/>
                          </a:solidFill>
                          <a:effectLst/>
                          <a:latin typeface="Calibri" panose="020F0502020204030204" pitchFamily="34" charset="0"/>
                          <a:ea typeface="+mn-ea"/>
                          <a:cs typeface="+mn-cs"/>
                        </a:rPr>
                        <a:t>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libri" panose="020F0502020204030204" pitchFamily="34" charset="0"/>
                        </a:rPr>
                        <a:t>8.135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a:solidFill>
                            <a:srgbClr val="000000"/>
                          </a:solidFill>
                          <a:effectLst/>
                          <a:latin typeface="Calibri" panose="020F0502020204030204" pitchFamily="34" charset="0"/>
                        </a:rPr>
                        <a:t>9.742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a:solidFill>
                            <a:srgbClr val="000000"/>
                          </a:solidFill>
                          <a:effectLst/>
                          <a:latin typeface="Calibri" panose="020F0502020204030204" pitchFamily="34" charset="0"/>
                        </a:rPr>
                        <a:t>7.363</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1028700" algn="r"/>
                        </a:tabLst>
                      </a:pPr>
                      <a:r>
                        <a:rPr lang="en-US" sz="1600" b="0" i="0" u="none" strike="noStrike" dirty="0">
                          <a:solidFill>
                            <a:srgbClr val="000000"/>
                          </a:solidFill>
                          <a:effectLst/>
                          <a:latin typeface="Calibri" panose="020F0502020204030204" pitchFamily="34" charset="0"/>
                        </a:rPr>
                        <a:t>	10.514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835668608"/>
                  </a:ext>
                </a:extLst>
              </a:tr>
              <a:tr h="251418">
                <a:tc>
                  <a:txBody>
                    <a:bodyPr/>
                    <a:lstStyle/>
                    <a:p>
                      <a:pPr marL="0" algn="l" defTabSz="914400" rtl="0" eaLnBrk="1" fontAlgn="b" latinLnBrk="0" hangingPunct="1">
                        <a:tabLst>
                          <a:tab pos="914400" algn="r"/>
                        </a:tabLst>
                      </a:pPr>
                      <a:r>
                        <a:rPr lang="en-US" sz="1600" b="0" i="0" u="none" strike="noStrike" kern="1200" dirty="0">
                          <a:solidFill>
                            <a:srgbClr val="000000"/>
                          </a:solidFill>
                          <a:effectLst/>
                          <a:latin typeface="Calibri" panose="020F0502020204030204" pitchFamily="34" charset="0"/>
                          <a:ea typeface="+mn-ea"/>
                          <a:cs typeface="+mn-cs"/>
                        </a:rPr>
                        <a:t>	50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ctr" defTabSz="914400" rtl="0" eaLnBrk="1" fontAlgn="b" latinLnBrk="0" hangingPunct="1">
                        <a:tabLst>
                          <a:tab pos="914400" algn="r"/>
                        </a:tabLst>
                      </a:pPr>
                      <a:r>
                        <a:rPr lang="en-US" sz="1600" b="0" i="0" u="none" strike="noStrike" kern="1200" dirty="0">
                          <a:solidFill>
                            <a:srgbClr val="000000"/>
                          </a:solidFill>
                          <a:effectLst/>
                          <a:latin typeface="Calibri" panose="020F0502020204030204" pitchFamily="34" charset="0"/>
                          <a:ea typeface="+mn-ea"/>
                          <a:cs typeface="+mn-cs"/>
                        </a:rPr>
                        <a:t>3</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libri" panose="020F0502020204030204" pitchFamily="34" charset="0"/>
                        </a:rPr>
                        <a:t>4.127</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a:solidFill>
                            <a:srgbClr val="000000"/>
                          </a:solidFill>
                          <a:effectLst/>
                          <a:latin typeface="Calibri" panose="020F0502020204030204" pitchFamily="34" charset="0"/>
                        </a:rPr>
                        <a:t>5.789</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libri" panose="020F0502020204030204" pitchFamily="34" charset="0"/>
                        </a:rPr>
                        <a:t>3.369</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1028700" algn="r"/>
                        </a:tabLst>
                      </a:pPr>
                      <a:r>
                        <a:rPr lang="en-US" sz="1600" b="0" i="0" u="none" strike="noStrike" kern="1200" dirty="0">
                          <a:solidFill>
                            <a:srgbClr val="000000"/>
                          </a:solidFill>
                          <a:effectLst/>
                          <a:latin typeface="Calibri" panose="020F0502020204030204" pitchFamily="34" charset="0"/>
                          <a:ea typeface="+mn-ea"/>
                          <a:cs typeface="+mn-cs"/>
                        </a:rPr>
                        <a:t>	6.548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900294860"/>
                  </a:ext>
                </a:extLst>
              </a:tr>
              <a:tr h="251418">
                <a:tc>
                  <a:txBody>
                    <a:bodyPr/>
                    <a:lstStyle/>
                    <a:p>
                      <a:pPr marL="0" algn="l" defTabSz="914400" rtl="0" eaLnBrk="1" fontAlgn="b" latinLnBrk="0" hangingPunct="1">
                        <a:tabLst>
                          <a:tab pos="914400" algn="r"/>
                        </a:tabLst>
                      </a:pPr>
                      <a:r>
                        <a:rPr lang="en-US" sz="1600" b="0" i="0" u="none" strike="noStrike" kern="1200" dirty="0">
                          <a:solidFill>
                            <a:srgbClr val="000000"/>
                          </a:solidFill>
                          <a:effectLst/>
                          <a:latin typeface="Calibri" panose="020F0502020204030204" pitchFamily="34" charset="0"/>
                          <a:ea typeface="+mn-ea"/>
                          <a:cs typeface="+mn-cs"/>
                        </a:rPr>
                        <a:t>	100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ctr" defTabSz="914400" rtl="0" eaLnBrk="1" fontAlgn="b" latinLnBrk="0" hangingPunct="1">
                        <a:tabLst>
                          <a:tab pos="914400" algn="r"/>
                        </a:tabLst>
                      </a:pPr>
                      <a:r>
                        <a:rPr lang="en-US" sz="1600" b="0" i="0" u="none" strike="noStrike" kern="1200" dirty="0">
                          <a:solidFill>
                            <a:srgbClr val="000000"/>
                          </a:solidFill>
                          <a:effectLst/>
                          <a:latin typeface="Calibri" panose="020F0502020204030204" pitchFamily="34" charset="0"/>
                          <a:ea typeface="+mn-ea"/>
                          <a:cs typeface="+mn-cs"/>
                        </a:rPr>
                        <a:t>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a:solidFill>
                            <a:srgbClr val="000000"/>
                          </a:solidFill>
                          <a:effectLst/>
                          <a:latin typeface="Calibri" panose="020F0502020204030204" pitchFamily="34" charset="0"/>
                        </a:rPr>
                        <a:t>8.135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libri" panose="020F0502020204030204" pitchFamily="34" charset="0"/>
                        </a:rPr>
                        <a:t>9.742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a:solidFill>
                            <a:srgbClr val="000000"/>
                          </a:solidFill>
                          <a:effectLst/>
                          <a:latin typeface="Calibri" panose="020F0502020204030204" pitchFamily="34" charset="0"/>
                        </a:rPr>
                        <a:t>7.363</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1028700" algn="r"/>
                        </a:tabLst>
                      </a:pPr>
                      <a:r>
                        <a:rPr lang="en-US" sz="1600" b="0" i="0" u="none" strike="noStrike" kern="1200" dirty="0">
                          <a:solidFill>
                            <a:srgbClr val="000000"/>
                          </a:solidFill>
                          <a:effectLst/>
                          <a:latin typeface="Calibri" panose="020F0502020204030204" pitchFamily="34" charset="0"/>
                          <a:ea typeface="+mn-ea"/>
                          <a:cs typeface="+mn-cs"/>
                        </a:rPr>
                        <a:t>	10.514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025612129"/>
                  </a:ext>
                </a:extLst>
              </a:tr>
              <a:tr h="251418">
                <a:tc>
                  <a:txBody>
                    <a:bodyPr/>
                    <a:lstStyle/>
                    <a:p>
                      <a:pPr marL="0" algn="l" defTabSz="914400" rtl="0" eaLnBrk="1" fontAlgn="b" latinLnBrk="0" hangingPunct="1">
                        <a:tabLst>
                          <a:tab pos="914400" algn="r"/>
                        </a:tabLst>
                      </a:pPr>
                      <a:r>
                        <a:rPr lang="en-US" sz="1600" b="0" i="0" u="none" strike="noStrike" kern="1200" dirty="0">
                          <a:solidFill>
                            <a:srgbClr val="000000"/>
                          </a:solidFill>
                          <a:effectLst/>
                          <a:latin typeface="Calibri" panose="020F0502020204030204" pitchFamily="34" charset="0"/>
                          <a:ea typeface="+mn-ea"/>
                          <a:cs typeface="+mn-cs"/>
                        </a:rPr>
                        <a:t>	100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ctr" defTabSz="914400" rtl="0" eaLnBrk="1" fontAlgn="b" latinLnBrk="0" hangingPunct="1">
                        <a:tabLst>
                          <a:tab pos="914400" algn="r"/>
                        </a:tabLst>
                      </a:pPr>
                      <a:r>
                        <a:rPr lang="en-US" sz="1600" b="0" i="0" u="none" strike="noStrike" kern="1200">
                          <a:solidFill>
                            <a:srgbClr val="000000"/>
                          </a:solidFill>
                          <a:effectLst/>
                          <a:latin typeface="Calibri" panose="020F0502020204030204" pitchFamily="34" charset="0"/>
                          <a:ea typeface="+mn-ea"/>
                          <a:cs typeface="+mn-cs"/>
                        </a:rPr>
                        <a:t>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libri" panose="020F0502020204030204" pitchFamily="34" charset="0"/>
                        </a:rPr>
                        <a:t>6.258</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a:solidFill>
                            <a:srgbClr val="000000"/>
                          </a:solidFill>
                          <a:effectLst/>
                          <a:latin typeface="Calibri" panose="020F0502020204030204" pitchFamily="34" charset="0"/>
                        </a:rPr>
                        <a:t>7.925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a:solidFill>
                            <a:srgbClr val="000000"/>
                          </a:solidFill>
                          <a:effectLst/>
                          <a:latin typeface="Calibri" panose="020F0502020204030204" pitchFamily="34" charset="0"/>
                        </a:rPr>
                        <a:t>5.500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1028700" algn="r"/>
                        </a:tabLst>
                      </a:pPr>
                      <a:r>
                        <a:rPr lang="en-US" sz="1600" b="0" i="0" u="none" strike="noStrike" kern="1200" dirty="0">
                          <a:solidFill>
                            <a:srgbClr val="000000"/>
                          </a:solidFill>
                          <a:effectLst/>
                          <a:latin typeface="Calibri" panose="020F0502020204030204" pitchFamily="34" charset="0"/>
                          <a:ea typeface="+mn-ea"/>
                          <a:cs typeface="+mn-cs"/>
                        </a:rPr>
                        <a:t>	8.683</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827538216"/>
                  </a:ext>
                </a:extLst>
              </a:tr>
              <a:tr h="251418">
                <a:tc>
                  <a:txBody>
                    <a:bodyPr/>
                    <a:lstStyle/>
                    <a:p>
                      <a:pPr marL="0" algn="l" defTabSz="914400" rtl="0" eaLnBrk="1" fontAlgn="b" latinLnBrk="0" hangingPunct="1">
                        <a:tabLst>
                          <a:tab pos="914400" algn="r"/>
                        </a:tabLst>
                      </a:pPr>
                      <a:r>
                        <a:rPr lang="en-US" sz="1600" b="0" i="0" u="none" strike="noStrike" kern="1200" dirty="0">
                          <a:solidFill>
                            <a:srgbClr val="000000"/>
                          </a:solidFill>
                          <a:effectLst/>
                          <a:latin typeface="Calibri" panose="020F0502020204030204" pitchFamily="34" charset="0"/>
                          <a:ea typeface="+mn-ea"/>
                          <a:cs typeface="+mn-cs"/>
                        </a:rPr>
                        <a:t>	50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ctr" defTabSz="914400" rtl="0" eaLnBrk="1" fontAlgn="b" latinLnBrk="0" hangingPunct="1">
                        <a:tabLst>
                          <a:tab pos="914400" algn="r"/>
                        </a:tabLst>
                      </a:pPr>
                      <a:r>
                        <a:rPr lang="en-US" sz="1600" b="0" i="0" u="none" strike="noStrike" kern="1200" dirty="0">
                          <a:solidFill>
                            <a:srgbClr val="000000"/>
                          </a:solidFill>
                          <a:effectLst/>
                          <a:latin typeface="Calibri" panose="020F0502020204030204" pitchFamily="34" charset="0"/>
                          <a:ea typeface="+mn-ea"/>
                          <a:cs typeface="+mn-cs"/>
                        </a:rPr>
                        <a:t>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libri" panose="020F0502020204030204" pitchFamily="34" charset="0"/>
                        </a:rPr>
                        <a:t>3.146</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libri" panose="020F0502020204030204" pitchFamily="34" charset="0"/>
                        </a:rPr>
                        <a:t>4.924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a:solidFill>
                            <a:srgbClr val="000000"/>
                          </a:solidFill>
                          <a:effectLst/>
                          <a:latin typeface="Calibri" panose="020F0502020204030204" pitchFamily="34" charset="0"/>
                        </a:rPr>
                        <a:t>2.414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1028700" algn="r"/>
                        </a:tabLst>
                      </a:pPr>
                      <a:r>
                        <a:rPr lang="en-US" sz="1600" b="0" i="0" u="none" strike="noStrike" kern="1200" dirty="0">
                          <a:solidFill>
                            <a:srgbClr val="000000"/>
                          </a:solidFill>
                          <a:effectLst/>
                          <a:latin typeface="Calibri" panose="020F0502020204030204" pitchFamily="34" charset="0"/>
                          <a:ea typeface="+mn-ea"/>
                          <a:cs typeface="+mn-cs"/>
                        </a:rPr>
                        <a:t>	5.656</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545990711"/>
                  </a:ext>
                </a:extLst>
              </a:tr>
              <a:tr h="251418">
                <a:tc>
                  <a:txBody>
                    <a:bodyPr/>
                    <a:lstStyle/>
                    <a:p>
                      <a:pPr marL="0" algn="l" defTabSz="914400" rtl="0" eaLnBrk="1" fontAlgn="b" latinLnBrk="0" hangingPunct="1">
                        <a:tabLst>
                          <a:tab pos="914400" algn="r"/>
                        </a:tabLst>
                      </a:pPr>
                      <a:r>
                        <a:rPr lang="en-US" sz="1600" b="0" i="0" u="none" strike="noStrike" kern="1200" dirty="0">
                          <a:solidFill>
                            <a:srgbClr val="000000"/>
                          </a:solidFill>
                          <a:effectLst/>
                          <a:latin typeface="Calibri" panose="020F0502020204030204" pitchFamily="34" charset="0"/>
                          <a:ea typeface="+mn-ea"/>
                          <a:cs typeface="+mn-cs"/>
                        </a:rPr>
                        <a:t>	80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ctr" defTabSz="914400" rtl="0" eaLnBrk="1" fontAlgn="b" latinLnBrk="0" hangingPunct="1">
                        <a:tabLst>
                          <a:tab pos="914400" algn="r"/>
                        </a:tabLst>
                      </a:pPr>
                      <a:r>
                        <a:rPr lang="en-US" sz="1600" b="0" i="0" u="none" strike="noStrike" kern="1200" dirty="0">
                          <a:solidFill>
                            <a:srgbClr val="000000"/>
                          </a:solidFill>
                          <a:effectLst/>
                          <a:latin typeface="Calibri" panose="020F0502020204030204" pitchFamily="34" charset="0"/>
                          <a:ea typeface="+mn-ea"/>
                          <a:cs typeface="+mn-cs"/>
                        </a:rPr>
                        <a:t>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libri" panose="020F0502020204030204" pitchFamily="34" charset="0"/>
                        </a:rPr>
                        <a:t>5.232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a:solidFill>
                            <a:srgbClr val="000000"/>
                          </a:solidFill>
                          <a:effectLst/>
                          <a:latin typeface="Calibri" panose="020F0502020204030204" pitchFamily="34" charset="0"/>
                        </a:rPr>
                        <a:t>6.505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a:solidFill>
                            <a:srgbClr val="000000"/>
                          </a:solidFill>
                          <a:effectLst/>
                          <a:latin typeface="Calibri" panose="020F0502020204030204" pitchFamily="34" charset="0"/>
                        </a:rPr>
                        <a:t>4.372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1028700" algn="r"/>
                        </a:tabLst>
                      </a:pPr>
                      <a:r>
                        <a:rPr lang="en-US" sz="1600" b="0" i="0" u="none" strike="noStrike" kern="1200" dirty="0">
                          <a:solidFill>
                            <a:srgbClr val="000000"/>
                          </a:solidFill>
                          <a:effectLst/>
                          <a:latin typeface="Calibri" panose="020F0502020204030204" pitchFamily="34" charset="0"/>
                          <a:ea typeface="+mn-ea"/>
                          <a:cs typeface="+mn-cs"/>
                        </a:rPr>
                        <a:t>	7.366</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96431746"/>
                  </a:ext>
                </a:extLst>
              </a:tr>
              <a:tr h="251418">
                <a:tc>
                  <a:txBody>
                    <a:bodyPr/>
                    <a:lstStyle/>
                    <a:p>
                      <a:pPr marL="0" algn="l" defTabSz="914400" rtl="0" eaLnBrk="1" fontAlgn="b" latinLnBrk="0" hangingPunct="1">
                        <a:tabLst>
                          <a:tab pos="914400" algn="r"/>
                        </a:tabLst>
                      </a:pPr>
                      <a:r>
                        <a:rPr lang="en-US" sz="1600" b="0" i="0" u="none" strike="noStrike" kern="1200" dirty="0">
                          <a:solidFill>
                            <a:srgbClr val="000000"/>
                          </a:solidFill>
                          <a:effectLst/>
                          <a:latin typeface="Calibri" panose="020F0502020204030204" pitchFamily="34" charset="0"/>
                          <a:ea typeface="+mn-ea"/>
                          <a:cs typeface="+mn-cs"/>
                        </a:rPr>
                        <a:t>	75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ctr" defTabSz="914400" rtl="0" eaLnBrk="1" fontAlgn="b" latinLnBrk="0" hangingPunct="1">
                        <a:tabLst>
                          <a:tab pos="914400" algn="r"/>
                        </a:tabLst>
                      </a:pPr>
                      <a:r>
                        <a:rPr lang="en-US" sz="1600" b="0" i="0" u="none" strike="noStrike" kern="1200" dirty="0">
                          <a:solidFill>
                            <a:srgbClr val="000000"/>
                          </a:solidFill>
                          <a:effectLst/>
                          <a:latin typeface="Calibri" panose="020F0502020204030204" pitchFamily="34" charset="0"/>
                          <a:ea typeface="+mn-ea"/>
                          <a:cs typeface="+mn-cs"/>
                        </a:rPr>
                        <a:t>3</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a:solidFill>
                            <a:srgbClr val="000000"/>
                          </a:solidFill>
                          <a:effectLst/>
                          <a:latin typeface="Calibri" panose="020F0502020204030204" pitchFamily="34" charset="0"/>
                        </a:rPr>
                        <a:t>6.037</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libri" panose="020F0502020204030204" pitchFamily="34" charset="0"/>
                        </a:rPr>
                        <a:t>6.936</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libri" panose="020F0502020204030204" pitchFamily="34" charset="0"/>
                        </a:rPr>
                        <a:t>5.059</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1028700" algn="r"/>
                        </a:tabLst>
                      </a:pPr>
                      <a:r>
                        <a:rPr lang="en-US" sz="1600" b="0" i="0" u="none" strike="noStrike" kern="1200" dirty="0">
                          <a:solidFill>
                            <a:srgbClr val="000000"/>
                          </a:solidFill>
                          <a:effectLst/>
                          <a:latin typeface="Calibri" panose="020F0502020204030204" pitchFamily="34" charset="0"/>
                          <a:ea typeface="+mn-ea"/>
                          <a:cs typeface="+mn-cs"/>
                        </a:rPr>
                        <a:t>	7.915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598520846"/>
                  </a:ext>
                </a:extLst>
              </a:tr>
              <a:tr h="251418">
                <a:tc>
                  <a:txBody>
                    <a:bodyPr/>
                    <a:lstStyle/>
                    <a:p>
                      <a:pPr marL="0" algn="l" defTabSz="914400" rtl="0" eaLnBrk="1" fontAlgn="b" latinLnBrk="0" hangingPunct="1">
                        <a:tabLst>
                          <a:tab pos="914400" algn="r"/>
                        </a:tabLst>
                      </a:pPr>
                      <a:r>
                        <a:rPr lang="en-US" sz="1600" b="0" i="0" u="none" strike="noStrike" kern="1200" dirty="0">
                          <a:solidFill>
                            <a:srgbClr val="000000"/>
                          </a:solidFill>
                          <a:effectLst/>
                          <a:latin typeface="Calibri" panose="020F0502020204030204" pitchFamily="34" charset="0"/>
                          <a:ea typeface="+mn-ea"/>
                          <a:cs typeface="+mn-cs"/>
                        </a:rPr>
                        <a:t>	65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ctr" defTabSz="914400" rtl="0" eaLnBrk="1" fontAlgn="b" latinLnBrk="0" hangingPunct="1">
                        <a:tabLst>
                          <a:tab pos="914400" algn="r"/>
                        </a:tabLst>
                      </a:pPr>
                      <a:r>
                        <a:rPr lang="en-US" sz="1600" b="0" i="0" u="none" strike="noStrike" kern="1200" dirty="0">
                          <a:solidFill>
                            <a:srgbClr val="000000"/>
                          </a:solidFill>
                          <a:effectLst/>
                          <a:latin typeface="Calibri" panose="020F0502020204030204" pitchFamily="34" charset="0"/>
                          <a:ea typeface="+mn-ea"/>
                          <a:cs typeface="+mn-cs"/>
                        </a:rPr>
                        <a:t>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libri" panose="020F0502020204030204" pitchFamily="34" charset="0"/>
                        </a:rPr>
                        <a:t>5.960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libri" panose="020F0502020204030204" pitchFamily="34" charset="0"/>
                        </a:rPr>
                        <a:t>7.637</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libri" panose="020F0502020204030204" pitchFamily="34" charset="0"/>
                        </a:rPr>
                        <a:t>5.205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1028700" algn="r"/>
                        </a:tabLst>
                      </a:pPr>
                      <a:r>
                        <a:rPr lang="en-US" sz="1600" b="0" i="0" u="none" strike="noStrike" kern="1200" dirty="0">
                          <a:solidFill>
                            <a:srgbClr val="000000"/>
                          </a:solidFill>
                          <a:effectLst/>
                          <a:latin typeface="Calibri" panose="020F0502020204030204" pitchFamily="34" charset="0"/>
                          <a:ea typeface="+mn-ea"/>
                          <a:cs typeface="+mn-cs"/>
                        </a:rPr>
                        <a:t>	8.392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20657178"/>
                  </a:ext>
                </a:extLst>
              </a:tr>
              <a:tr h="251418">
                <a:tc>
                  <a:txBody>
                    <a:bodyPr/>
                    <a:lstStyle/>
                    <a:p>
                      <a:pPr marL="0" algn="l" defTabSz="914400" rtl="0" eaLnBrk="1" fontAlgn="b" latinLnBrk="0" hangingPunct="1">
                        <a:tabLst>
                          <a:tab pos="914400" algn="r"/>
                        </a:tabLst>
                      </a:pPr>
                      <a:r>
                        <a:rPr lang="en-US" sz="1600" b="0" i="0" u="none" strike="noStrike" kern="1200" dirty="0">
                          <a:solidFill>
                            <a:srgbClr val="000000"/>
                          </a:solidFill>
                          <a:effectLst/>
                          <a:latin typeface="Calibri" panose="020F0502020204030204" pitchFamily="34" charset="0"/>
                          <a:ea typeface="+mn-ea"/>
                          <a:cs typeface="+mn-cs"/>
                        </a:rPr>
                        <a:t>	90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ctr" defTabSz="914400" rtl="0" eaLnBrk="1" fontAlgn="b" latinLnBrk="0" hangingPunct="1">
                        <a:tabLst>
                          <a:tab pos="914400" algn="r"/>
                        </a:tabLst>
                      </a:pPr>
                      <a:r>
                        <a:rPr lang="en-US" sz="1600" b="0" i="0" u="none" strike="noStrike" kern="1200" dirty="0">
                          <a:solidFill>
                            <a:srgbClr val="000000"/>
                          </a:solidFill>
                          <a:effectLst/>
                          <a:latin typeface="Calibri" panose="020F0502020204030204" pitchFamily="34" charset="0"/>
                          <a:ea typeface="+mn-ea"/>
                          <a:cs typeface="+mn-cs"/>
                        </a:rPr>
                        <a:t>3</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a:solidFill>
                            <a:srgbClr val="000000"/>
                          </a:solidFill>
                          <a:effectLst/>
                          <a:latin typeface="Calibri" panose="020F0502020204030204" pitchFamily="34" charset="0"/>
                        </a:rPr>
                        <a:t>6.917</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a:solidFill>
                            <a:srgbClr val="000000"/>
                          </a:solidFill>
                          <a:effectLst/>
                          <a:latin typeface="Calibri" panose="020F0502020204030204" pitchFamily="34" charset="0"/>
                        </a:rPr>
                        <a:t>7.891</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libri" panose="020F0502020204030204" pitchFamily="34" charset="0"/>
                        </a:rPr>
                        <a:t>5.964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1028700" algn="r"/>
                        </a:tabLst>
                      </a:pPr>
                      <a:r>
                        <a:rPr lang="en-US" sz="1600" b="0" i="0" u="none" strike="noStrike" kern="1200" dirty="0">
                          <a:solidFill>
                            <a:srgbClr val="000000"/>
                          </a:solidFill>
                          <a:effectLst/>
                          <a:latin typeface="Calibri" panose="020F0502020204030204" pitchFamily="34" charset="0"/>
                          <a:ea typeface="+mn-ea"/>
                          <a:cs typeface="+mn-cs"/>
                        </a:rPr>
                        <a:t>	8.844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621477642"/>
                  </a:ext>
                </a:extLst>
              </a:tr>
              <a:tr h="251418">
                <a:tc>
                  <a:txBody>
                    <a:bodyPr/>
                    <a:lstStyle/>
                    <a:p>
                      <a:pPr marL="0" algn="l" defTabSz="914400" rtl="0" eaLnBrk="1" fontAlgn="b" latinLnBrk="0" hangingPunct="1">
                        <a:tabLst>
                          <a:tab pos="914400" algn="r"/>
                        </a:tabLst>
                      </a:pPr>
                      <a:r>
                        <a:rPr lang="en-US" sz="1600" b="0" i="0" u="none" strike="noStrike" kern="1200" dirty="0">
                          <a:solidFill>
                            <a:srgbClr val="000000"/>
                          </a:solidFill>
                          <a:effectLst/>
                          <a:latin typeface="Calibri" panose="020F0502020204030204" pitchFamily="34" charset="0"/>
                          <a:ea typeface="+mn-ea"/>
                          <a:cs typeface="+mn-cs"/>
                        </a:rPr>
                        <a:t>	90</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ctr" defTabSz="914400" rtl="0" eaLnBrk="1" fontAlgn="b" latinLnBrk="0" hangingPunct="1">
                        <a:tabLst>
                          <a:tab pos="914400" algn="r"/>
                        </a:tabLst>
                      </a:pPr>
                      <a:r>
                        <a:rPr lang="en-US" sz="1600" b="0" i="0" u="none" strike="noStrike" kern="1200" dirty="0">
                          <a:solidFill>
                            <a:srgbClr val="000000"/>
                          </a:solidFill>
                          <a:effectLst/>
                          <a:latin typeface="Calibri" panose="020F0502020204030204" pitchFamily="34" charset="0"/>
                          <a:ea typeface="+mn-ea"/>
                          <a:cs typeface="+mn-cs"/>
                        </a:rPr>
                        <a:t>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a:solidFill>
                            <a:srgbClr val="000000"/>
                          </a:solidFill>
                          <a:effectLst/>
                          <a:latin typeface="Calibri" panose="020F0502020204030204" pitchFamily="34" charset="0"/>
                        </a:rPr>
                        <a:t>5.776</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a:solidFill>
                            <a:srgbClr val="000000"/>
                          </a:solidFill>
                          <a:effectLst/>
                          <a:latin typeface="Calibri" panose="020F0502020204030204" pitchFamily="34" charset="0"/>
                        </a:rPr>
                        <a:t>7.184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libri" panose="020F0502020204030204" pitchFamily="34" charset="0"/>
                        </a:rPr>
                        <a:t>4.953</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1028700" algn="r"/>
                        </a:tabLst>
                      </a:pPr>
                      <a:r>
                        <a:rPr lang="en-US" sz="1600" b="0" i="0" u="none" strike="noStrike" kern="1200" dirty="0">
                          <a:solidFill>
                            <a:srgbClr val="000000"/>
                          </a:solidFill>
                          <a:effectLst/>
                          <a:latin typeface="Calibri" panose="020F0502020204030204" pitchFamily="34" charset="0"/>
                          <a:ea typeface="+mn-ea"/>
                          <a:cs typeface="+mn-cs"/>
                        </a:rPr>
                        <a:t>	8.007</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354596928"/>
                  </a:ext>
                </a:extLst>
              </a:tr>
              <a:tr h="251418">
                <a:tc>
                  <a:txBody>
                    <a:bodyPr/>
                    <a:lstStyle/>
                    <a:p>
                      <a:pPr marL="0" algn="l" defTabSz="914400" rtl="0" eaLnBrk="1" fontAlgn="b" latinLnBrk="0" hangingPunct="1">
                        <a:tabLst>
                          <a:tab pos="914400" algn="r"/>
                        </a:tabLst>
                      </a:pPr>
                      <a:r>
                        <a:rPr lang="en-US" sz="1600" b="0" i="0" u="none" strike="noStrike" kern="1200" dirty="0">
                          <a:solidFill>
                            <a:srgbClr val="000000"/>
                          </a:solidFill>
                          <a:effectLst/>
                          <a:latin typeface="Calibri" panose="020F0502020204030204" pitchFamily="34" charset="0"/>
                          <a:ea typeface="+mn-ea"/>
                          <a:cs typeface="+mn-cs"/>
                        </a:rPr>
                        <a:t>	75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ctr" defTabSz="914400" rtl="0" eaLnBrk="1" fontAlgn="b" latinLnBrk="0" hangingPunct="1">
                        <a:tabLst>
                          <a:tab pos="914400" algn="r"/>
                        </a:tabLst>
                      </a:pPr>
                      <a:r>
                        <a:rPr lang="en-US" sz="1600" b="0" i="0" u="none" strike="noStrike" kern="1200" dirty="0">
                          <a:solidFill>
                            <a:srgbClr val="000000"/>
                          </a:solidFill>
                          <a:effectLst/>
                          <a:latin typeface="Calibri" panose="020F0502020204030204" pitchFamily="34" charset="0"/>
                          <a:ea typeface="+mn-ea"/>
                          <a:cs typeface="+mn-cs"/>
                        </a:rPr>
                        <a:t>4</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a:solidFill>
                            <a:srgbClr val="000000"/>
                          </a:solidFill>
                          <a:effectLst/>
                          <a:latin typeface="Calibri" panose="020F0502020204030204" pitchFamily="34" charset="0"/>
                        </a:rPr>
                        <a:t>6.669</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a:solidFill>
                            <a:srgbClr val="000000"/>
                          </a:solidFill>
                          <a:effectLst/>
                          <a:latin typeface="Calibri" panose="020F0502020204030204" pitchFamily="34" charset="0"/>
                        </a:rPr>
                        <a:t>8.152</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0" i="0" u="none" strike="noStrike" dirty="0">
                          <a:solidFill>
                            <a:srgbClr val="000000"/>
                          </a:solidFill>
                          <a:effectLst/>
                          <a:latin typeface="Calibri" panose="020F0502020204030204" pitchFamily="34" charset="0"/>
                        </a:rPr>
                        <a:t>5.865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marL="0" algn="l" defTabSz="914400" rtl="0" eaLnBrk="1" fontAlgn="b" latinLnBrk="0" hangingPunct="1">
                        <a:tabLst>
                          <a:tab pos="1028700" algn="r"/>
                        </a:tabLst>
                      </a:pPr>
                      <a:r>
                        <a:rPr lang="en-US" sz="1600" b="0" i="0" u="none" strike="noStrike" kern="1200" dirty="0">
                          <a:solidFill>
                            <a:srgbClr val="000000"/>
                          </a:solidFill>
                          <a:effectLst/>
                          <a:latin typeface="Calibri" panose="020F0502020204030204" pitchFamily="34" charset="0"/>
                          <a:ea typeface="+mn-ea"/>
                          <a:cs typeface="+mn-cs"/>
                        </a:rPr>
                        <a:t>	8.955</a:t>
                      </a: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272207131"/>
                  </a:ext>
                </a:extLst>
              </a:tr>
            </a:tbl>
          </a:graphicData>
        </a:graphic>
      </p:graphicFrame>
    </p:spTree>
    <p:extLst>
      <p:ext uri="{BB962C8B-B14F-4D97-AF65-F5344CB8AC3E}">
        <p14:creationId xmlns:p14="http://schemas.microsoft.com/office/powerpoint/2010/main" val="27365080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659956" y="365125"/>
            <a:ext cx="10860819" cy="672105"/>
          </a:xfrm>
        </p:spPr>
        <p:txBody>
          <a:bodyPr/>
          <a:lstStyle/>
          <a:p>
            <a:r>
              <a:rPr lang="en-US" dirty="0">
                <a:solidFill>
                  <a:srgbClr val="D14B1E"/>
                </a:solidFill>
              </a:rPr>
              <a:t>15.7 Categorical Independent Variables</a:t>
            </a:r>
            <a:endParaRPr lang="en-US" i="1" dirty="0">
              <a:solidFill>
                <a:srgbClr val="D14B1E"/>
              </a:solidFill>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659956" y="1382438"/>
                <a:ext cx="10781737" cy="4093124"/>
              </a:xfrm>
            </p:spPr>
            <p:txBody>
              <a:bodyPr/>
              <a:lstStyle/>
              <a:p>
                <a:pPr>
                  <a:spcBef>
                    <a:spcPts val="600"/>
                  </a:spcBef>
                  <a:spcAft>
                    <a:spcPts val="0"/>
                  </a:spcAft>
                </a:pPr>
                <a:r>
                  <a:rPr lang="en-US" sz="2000" dirty="0">
                    <a:latin typeface="Arial" panose="020B0604020202020204" pitchFamily="34" charset="0"/>
                    <a:cs typeface="Arial" panose="020B0604020202020204" pitchFamily="34" charset="0"/>
                  </a:rPr>
                  <a:t>Thus far, the regression examples we have considered involved quantitative independent variables such as student population, distance traveled, and number of deliveries. </a:t>
                </a:r>
              </a:p>
              <a:p>
                <a:pPr>
                  <a:spcBef>
                    <a:spcPts val="600"/>
                  </a:spcBef>
                  <a:spcAft>
                    <a:spcPts val="0"/>
                  </a:spcAft>
                </a:pPr>
                <a:r>
                  <a:rPr lang="en-US" sz="2000" dirty="0">
                    <a:latin typeface="Arial" panose="020B0604020202020204" pitchFamily="34" charset="0"/>
                    <a:cs typeface="Arial" panose="020B0604020202020204" pitchFamily="34" charset="0"/>
                  </a:rPr>
                  <a:t>However, in many situations, we must work with </a:t>
                </a:r>
                <a:r>
                  <a:rPr lang="en-US" sz="2000" b="1" dirty="0">
                    <a:latin typeface="Arial" panose="020B0604020202020204" pitchFamily="34" charset="0"/>
                    <a:cs typeface="Arial" panose="020B0604020202020204" pitchFamily="34" charset="0"/>
                  </a:rPr>
                  <a:t>categorical independent variables</a:t>
                </a:r>
                <a:r>
                  <a:rPr lang="en-US" sz="2000" dirty="0">
                    <a:latin typeface="Arial" panose="020B0604020202020204" pitchFamily="34" charset="0"/>
                    <a:cs typeface="Arial" panose="020B0604020202020204" pitchFamily="34" charset="0"/>
                  </a:rPr>
                  <a:t>, such as:</a:t>
                </a:r>
              </a:p>
              <a:p>
                <a:pPr marL="914400">
                  <a:spcBef>
                    <a:spcPts val="600"/>
                  </a:spcBef>
                  <a:spcAft>
                    <a:spcPts val="0"/>
                  </a:spcAft>
                </a:pPr>
                <a:r>
                  <a:rPr lang="en-US" sz="2000" dirty="0">
                    <a:latin typeface="Arial" panose="020B0604020202020204" pitchFamily="34" charset="0"/>
                    <a:cs typeface="Arial" panose="020B0604020202020204" pitchFamily="34" charset="0"/>
                  </a:rPr>
                  <a:t>gender (male, female)</a:t>
                </a:r>
              </a:p>
              <a:p>
                <a:pPr marL="914400">
                  <a:spcBef>
                    <a:spcPts val="600"/>
                  </a:spcBef>
                  <a:spcAft>
                    <a:spcPts val="0"/>
                  </a:spcAft>
                </a:pPr>
                <a:r>
                  <a:rPr lang="en-US" sz="2000" dirty="0">
                    <a:latin typeface="Arial" panose="020B0604020202020204" pitchFamily="34" charset="0"/>
                    <a:cs typeface="Arial" panose="020B0604020202020204" pitchFamily="34" charset="0"/>
                  </a:rPr>
                  <a:t>method of payment (cash, credit card, check)</a:t>
                </a:r>
              </a:p>
              <a:p>
                <a:pPr>
                  <a:spcBef>
                    <a:spcPts val="600"/>
                  </a:spcBef>
                  <a:spcAft>
                    <a:spcPts val="600"/>
                  </a:spcAft>
                </a:pPr>
                <a:r>
                  <a:rPr lang="en-US" sz="2000" dirty="0">
                    <a:latin typeface="Arial" panose="020B0604020202020204" pitchFamily="34" charset="0"/>
                    <a:cs typeface="Arial" panose="020B0604020202020204" pitchFamily="34" charset="0"/>
                  </a:rPr>
                  <a:t>To incorporate a categorical independent variable with two levels, such as gender, into a regression model, we define a </a:t>
                </a:r>
                <a:r>
                  <a:rPr lang="en-US" sz="2000" b="1" dirty="0">
                    <a:latin typeface="Arial" panose="020B0604020202020204" pitchFamily="34" charset="0"/>
                    <a:cs typeface="Arial" panose="020B0604020202020204" pitchFamily="34" charset="0"/>
                  </a:rPr>
                  <a:t>dummy variable</a:t>
                </a:r>
                <a:r>
                  <a:rPr lang="en-US" sz="2000" dirty="0">
                    <a:latin typeface="Arial" panose="020B0604020202020204" pitchFamily="34" charset="0"/>
                    <a:cs typeface="Arial" panose="020B0604020202020204" pitchFamily="34" charset="0"/>
                  </a:rPr>
                  <a:t>, also called an </a:t>
                </a:r>
                <a:r>
                  <a:rPr lang="en-US" sz="2000" i="1" dirty="0">
                    <a:latin typeface="Arial" panose="020B0604020202020204" pitchFamily="34" charset="0"/>
                    <a:cs typeface="Arial" panose="020B0604020202020204" pitchFamily="34" charset="0"/>
                  </a:rPr>
                  <a:t>indicator variable</a:t>
                </a:r>
                <a:r>
                  <a:rPr lang="en-US" sz="2000" dirty="0">
                    <a:latin typeface="Arial" panose="020B0604020202020204" pitchFamily="34" charset="0"/>
                    <a:cs typeface="Arial" panose="020B0604020202020204" pitchFamily="34" charset="0"/>
                  </a:rPr>
                  <a:t>, as follows.</a:t>
                </a:r>
              </a:p>
              <a:p>
                <a:pPr marL="914400">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𝑥</m:t>
                          </m:r>
                        </m:e>
                        <m:sub>
                          <m:r>
                            <a:rPr lang="en-US" sz="2000" b="0" i="1" smtClean="0">
                              <a:latin typeface="Cambria Math" panose="02040503050406030204" pitchFamily="18" charset="0"/>
                              <a:cs typeface="Arial" panose="020B0604020202020204" pitchFamily="34" charset="0"/>
                            </a:rPr>
                            <m:t>𝑖</m:t>
                          </m:r>
                        </m:sub>
                      </m:sSub>
                      <m:r>
                        <a:rPr lang="en-US" sz="2000" b="0" i="1" smtClean="0">
                          <a:latin typeface="Cambria Math" panose="02040503050406030204" pitchFamily="18" charset="0"/>
                          <a:cs typeface="Arial" panose="020B0604020202020204" pitchFamily="34" charset="0"/>
                        </a:rPr>
                        <m:t>=</m:t>
                      </m:r>
                      <m:d>
                        <m:dPr>
                          <m:begChr m:val="{"/>
                          <m:endChr m:val=""/>
                          <m:ctrlPr>
                            <a:rPr lang="en-US" sz="2000" b="0" i="1" smtClean="0">
                              <a:latin typeface="Cambria Math" panose="02040503050406030204" pitchFamily="18" charset="0"/>
                              <a:cs typeface="Arial" panose="020B0604020202020204" pitchFamily="34" charset="0"/>
                            </a:rPr>
                          </m:ctrlPr>
                        </m:dPr>
                        <m:e>
                          <m:eqArr>
                            <m:eqArrPr>
                              <m:ctrlPr>
                                <a:rPr lang="en-US" sz="2000" b="0" i="1" smtClean="0">
                                  <a:latin typeface="Cambria Math" panose="02040503050406030204" pitchFamily="18" charset="0"/>
                                  <a:cs typeface="Arial" panose="020B0604020202020204" pitchFamily="34" charset="0"/>
                                </a:rPr>
                              </m:ctrlPr>
                            </m:eqArrPr>
                            <m:e>
                              <m:r>
                                <a:rPr lang="en-US" sz="2000" b="0" i="1" smtClean="0">
                                  <a:latin typeface="Cambria Math" panose="02040503050406030204" pitchFamily="18" charset="0"/>
                                  <a:cs typeface="Arial" panose="020B0604020202020204" pitchFamily="34" charset="0"/>
                                </a:rPr>
                                <m:t>0 </m:t>
                              </m:r>
                              <m:r>
                                <m:rPr>
                                  <m:nor/>
                                </m:rPr>
                                <a:rPr lang="en-US" sz="2000" b="0" i="0" smtClean="0">
                                  <a:latin typeface="Cambria Math" panose="02040503050406030204" pitchFamily="18" charset="0"/>
                                  <a:cs typeface="Arial" panose="020B0604020202020204" pitchFamily="34" charset="0"/>
                                </a:rPr>
                                <m:t>if</m:t>
                              </m:r>
                              <m:r>
                                <m:rPr>
                                  <m:nor/>
                                </m:rPr>
                                <a:rPr lang="en-US" sz="2000" b="0" i="0" smtClean="0">
                                  <a:latin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cs typeface="Arial" panose="020B0604020202020204" pitchFamily="34" charset="0"/>
                                </a:rPr>
                                <m:t>the</m:t>
                              </m:r>
                              <m:r>
                                <m:rPr>
                                  <m:nor/>
                                </m:rPr>
                                <a:rPr lang="en-US" sz="2000" b="0" i="0" smtClean="0">
                                  <a:latin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cs typeface="Arial" panose="020B0604020202020204" pitchFamily="34" charset="0"/>
                                </a:rPr>
                                <m:t>gender</m:t>
                              </m:r>
                              <m:r>
                                <m:rPr>
                                  <m:nor/>
                                </m:rPr>
                                <a:rPr lang="en-US" sz="2000" b="0" i="0" smtClean="0">
                                  <a:latin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cs typeface="Arial" panose="020B0604020202020204" pitchFamily="34" charset="0"/>
                                </a:rPr>
                                <m:t>is</m:t>
                              </m:r>
                              <m:r>
                                <m:rPr>
                                  <m:nor/>
                                </m:rPr>
                                <a:rPr lang="en-US" sz="2000" b="0" i="0" smtClean="0">
                                  <a:latin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cs typeface="Arial" panose="020B0604020202020204" pitchFamily="34" charset="0"/>
                                </a:rPr>
                                <m:t>female</m:t>
                              </m:r>
                            </m:e>
                            <m:e>
                              <m:r>
                                <a:rPr lang="en-US" sz="2000" b="0" i="1" smtClean="0">
                                  <a:latin typeface="Cambria Math" panose="02040503050406030204" pitchFamily="18" charset="0"/>
                                  <a:cs typeface="Arial" panose="020B0604020202020204" pitchFamily="34" charset="0"/>
                                </a:rPr>
                                <m:t>1 </m:t>
                              </m:r>
                              <m:r>
                                <m:rPr>
                                  <m:nor/>
                                </m:rPr>
                                <a:rPr lang="en-US" sz="2000" b="0" i="0" smtClean="0">
                                  <a:latin typeface="Cambria Math" panose="02040503050406030204" pitchFamily="18" charset="0"/>
                                  <a:cs typeface="Arial" panose="020B0604020202020204" pitchFamily="34" charset="0"/>
                                </a:rPr>
                                <m:t>if</m:t>
                              </m:r>
                              <m:r>
                                <m:rPr>
                                  <m:nor/>
                                </m:rPr>
                                <a:rPr lang="en-US" sz="2000" b="0" i="0" smtClean="0">
                                  <a:latin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cs typeface="Arial" panose="020B0604020202020204" pitchFamily="34" charset="0"/>
                                </a:rPr>
                                <m:t>the</m:t>
                              </m:r>
                              <m:r>
                                <m:rPr>
                                  <m:nor/>
                                </m:rPr>
                                <a:rPr lang="en-US" sz="2000" b="0" i="0" smtClean="0">
                                  <a:latin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cs typeface="Arial" panose="020B0604020202020204" pitchFamily="34" charset="0"/>
                                </a:rPr>
                                <m:t>gender</m:t>
                              </m:r>
                              <m:r>
                                <m:rPr>
                                  <m:nor/>
                                </m:rPr>
                                <a:rPr lang="en-US" sz="2000" b="0" i="0" smtClean="0">
                                  <a:latin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cs typeface="Arial" panose="020B0604020202020204" pitchFamily="34" charset="0"/>
                                </a:rPr>
                                <m:t>is</m:t>
                              </m:r>
                              <m:r>
                                <m:rPr>
                                  <m:nor/>
                                </m:rPr>
                                <a:rPr lang="en-US" sz="2000" b="0" i="0" smtClean="0">
                                  <a:latin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cs typeface="Arial" panose="020B0604020202020204" pitchFamily="34" charset="0"/>
                                </a:rPr>
                                <m:t>male</m:t>
                              </m:r>
                              <m:r>
                                <a:rPr lang="en-US" sz="2000" b="0" i="1" smtClean="0">
                                  <a:latin typeface="Cambria Math" panose="02040503050406030204" pitchFamily="18" charset="0"/>
                                  <a:cs typeface="Arial" panose="020B0604020202020204" pitchFamily="34" charset="0"/>
                                </a:rPr>
                                <m:t>    </m:t>
                              </m:r>
                            </m:e>
                          </m:eqArr>
                        </m:e>
                      </m:d>
                    </m:oMath>
                  </m:oMathPara>
                </a14:m>
                <a:endParaRPr lang="en-US" sz="2000" dirty="0">
                  <a:latin typeface="Arial" panose="020B0604020202020204" pitchFamily="34" charset="0"/>
                  <a:cs typeface="Arial" panose="020B0604020202020204" pitchFamily="34" charset="0"/>
                </a:endParaRPr>
              </a:p>
              <a:p>
                <a:pPr>
                  <a:spcBef>
                    <a:spcPts val="600"/>
                  </a:spcBef>
                  <a:spcAft>
                    <a:spcPts val="600"/>
                  </a:spcAft>
                </a:pPr>
                <a:r>
                  <a:rPr lang="en-US" sz="2000" dirty="0">
                    <a:latin typeface="Arial" panose="020B0604020202020204" pitchFamily="34" charset="0"/>
                    <a:cs typeface="Arial" panose="020B0604020202020204" pitchFamily="34" charset="0"/>
                  </a:rPr>
                  <a:t>More complex categorical variable with </a:t>
                </a:r>
                <a:r>
                  <a:rPr lang="en-US" sz="2000" i="1" dirty="0">
                    <a:latin typeface="Arial" panose="020B0604020202020204" pitchFamily="34" charset="0"/>
                    <a:cs typeface="Arial" panose="020B0604020202020204" pitchFamily="34" charset="0"/>
                  </a:rPr>
                  <a:t>k</a:t>
                </a:r>
                <a:r>
                  <a:rPr lang="en-US" sz="2000" dirty="0">
                    <a:latin typeface="Arial" panose="020B0604020202020204" pitchFamily="34" charset="0"/>
                    <a:cs typeface="Arial" panose="020B0604020202020204" pitchFamily="34" charset="0"/>
                  </a:rPr>
                  <a:t> levels, where </a:t>
                </a:r>
                <a14:m>
                  <m:oMath xmlns:m="http://schemas.openxmlformats.org/officeDocument/2006/math">
                    <m:r>
                      <a:rPr lang="en-US" sz="2000" b="0" i="1" smtClean="0">
                        <a:latin typeface="Cambria Math" panose="02040503050406030204" pitchFamily="18" charset="0"/>
                        <a:cs typeface="Arial" panose="020B0604020202020204" pitchFamily="34" charset="0"/>
                      </a:rPr>
                      <m:t>𝑘</m:t>
                    </m:r>
                    <m:r>
                      <a:rPr lang="en-US" sz="2000" b="0" i="1" smtClean="0">
                        <a:latin typeface="Cambria Math" panose="02040503050406030204" pitchFamily="18" charset="0"/>
                        <a:ea typeface="Cambria Math" panose="02040503050406030204" pitchFamily="18" charset="0"/>
                        <a:cs typeface="Arial" panose="020B0604020202020204" pitchFamily="34" charset="0"/>
                      </a:rPr>
                      <m:t>&gt;2</m:t>
                    </m:r>
                  </m:oMath>
                </a14:m>
                <a:r>
                  <a:rPr lang="en-US" sz="2000" dirty="0">
                    <a:latin typeface="Arial" panose="020B0604020202020204" pitchFamily="34" charset="0"/>
                    <a:cs typeface="Arial" panose="020B0604020202020204" pitchFamily="34" charset="0"/>
                  </a:rPr>
                  <a:t>, such as in the case of the categorical variable method of payment, must be modeled using </a:t>
                </a:r>
                <a14:m>
                  <m:oMath xmlns:m="http://schemas.openxmlformats.org/officeDocument/2006/math">
                    <m:r>
                      <a:rPr lang="en-US" sz="2000" i="1" dirty="0" smtClean="0">
                        <a:latin typeface="Cambria Math" panose="02040503050406030204" pitchFamily="18" charset="0"/>
                        <a:cs typeface="Arial" panose="020B0604020202020204" pitchFamily="34" charset="0"/>
                      </a:rPr>
                      <m:t>𝑘</m:t>
                    </m:r>
                    <m:r>
                      <a:rPr lang="en-US" sz="2000" i="1" dirty="0" smtClean="0">
                        <a:latin typeface="Cambria Math" panose="02040503050406030204" pitchFamily="18" charset="0"/>
                        <a:cs typeface="Arial" panose="020B0604020202020204" pitchFamily="34" charset="0"/>
                      </a:rPr>
                      <m:t>−1</m:t>
                    </m:r>
                  </m:oMath>
                </a14:m>
                <a:r>
                  <a:rPr lang="en-US" sz="2000" dirty="0">
                    <a:latin typeface="Arial" panose="020B0604020202020204" pitchFamily="34" charset="0"/>
                    <a:cs typeface="Arial" panose="020B0604020202020204" pitchFamily="34" charset="0"/>
                  </a:rPr>
                  <a:t> dummy variables.</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659956" y="1382438"/>
                <a:ext cx="10781737" cy="4093124"/>
              </a:xfrm>
              <a:blipFill>
                <a:blip r:embed="rId3"/>
                <a:stretch>
                  <a:fillRect l="-1413" t="-1788" b="-596"/>
                </a:stretch>
              </a:blipFill>
            </p:spPr>
            <p:txBody>
              <a:bodyPr/>
              <a:lstStyle/>
              <a:p>
                <a:r>
                  <a:rPr lang="en-US">
                    <a:noFill/>
                  </a:rPr>
                  <a:t> </a:t>
                </a:r>
              </a:p>
            </p:txBody>
          </p:sp>
        </mc:Fallback>
      </mc:AlternateContent>
    </p:spTree>
    <p:extLst>
      <p:ext uri="{BB962C8B-B14F-4D97-AF65-F5344CB8AC3E}">
        <p14:creationId xmlns:p14="http://schemas.microsoft.com/office/powerpoint/2010/main" val="19109925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3D703-F249-9BAE-3BA8-B20A028960C5}"/>
              </a:ext>
            </a:extLst>
          </p:cNvPr>
          <p:cNvSpPr>
            <a:spLocks noGrp="1"/>
          </p:cNvSpPr>
          <p:nvPr>
            <p:ph type="title"/>
          </p:nvPr>
        </p:nvSpPr>
        <p:spPr/>
        <p:txBody>
          <a:bodyPr/>
          <a:lstStyle/>
          <a:p>
            <a:r>
              <a:rPr lang="en-US" sz="3200" dirty="0"/>
              <a:t>15.7 An Example: Johnson Filtration, Inc.</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AAB4682-96EE-9F82-5365-1E64A6B38906}"/>
                  </a:ext>
                </a:extLst>
              </p:cNvPr>
              <p:cNvSpPr>
                <a:spLocks noGrp="1"/>
              </p:cNvSpPr>
              <p:nvPr>
                <p:ph type="body" sz="quarter" idx="15"/>
              </p:nvPr>
            </p:nvSpPr>
            <p:spPr>
              <a:xfrm>
                <a:off x="743576" y="1214437"/>
                <a:ext cx="10510765" cy="957262"/>
              </a:xfrm>
            </p:spPr>
            <p:txBody>
              <a:bodyPr>
                <a:noAutofit/>
              </a:bodyPr>
              <a:lstStyle/>
              <a:p>
                <a:pPr>
                  <a:spcBef>
                    <a:spcPts val="600"/>
                  </a:spcBef>
                </a:pPr>
                <a:r>
                  <a:rPr lang="en-US" dirty="0"/>
                  <a:t>Managers at Johnson Filtration, Inc. want to predict the repair time in hours (</a:t>
                </a:r>
                <a:r>
                  <a:rPr lang="en-US" dirty="0">
                    <a:latin typeface="Arial" panose="020B0604020202020204" pitchFamily="34" charset="0"/>
                    <a:cs typeface="Arial" panose="020B0604020202020204" pitchFamily="34" charset="0"/>
                  </a:rPr>
                  <a:t>𝑦)</a:t>
                </a:r>
                <a:r>
                  <a:rPr lang="en-US" dirty="0"/>
                  <a:t> necessary for each maintenance request using information from 10 past service calls that include number of months since last service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dirty="0"/>
                  <a:t>) and whether the repair was electrical or mechanical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b="0" i="1" smtClean="0">
                            <a:latin typeface="Cambria Math" panose="02040503050406030204" pitchFamily="18" charset="0"/>
                          </a:rPr>
                          <m:t>2</m:t>
                        </m:r>
                      </m:sub>
                    </m:sSub>
                  </m:oMath>
                </a14:m>
                <a:r>
                  <a:rPr lang="en-US" dirty="0"/>
                  <a:t>).</a:t>
                </a:r>
              </a:p>
            </p:txBody>
          </p:sp>
        </mc:Choice>
        <mc:Fallback xmlns="">
          <p:sp>
            <p:nvSpPr>
              <p:cNvPr id="3" name="Text Placeholder 2">
                <a:extLst>
                  <a:ext uri="{FF2B5EF4-FFF2-40B4-BE49-F238E27FC236}">
                    <a16:creationId xmlns:a16="http://schemas.microsoft.com/office/drawing/2014/main" id="{1AAB4682-96EE-9F82-5365-1E64A6B38906}"/>
                  </a:ext>
                </a:extLst>
              </p:cNvPr>
              <p:cNvSpPr>
                <a:spLocks noGrp="1" noRot="1" noChangeAspect="1" noMove="1" noResize="1" noEditPoints="1" noAdjustHandles="1" noChangeArrowheads="1" noChangeShapeType="1" noTextEdit="1"/>
              </p:cNvSpPr>
              <p:nvPr>
                <p:ph type="body" sz="quarter" idx="15"/>
              </p:nvPr>
            </p:nvSpPr>
            <p:spPr>
              <a:xfrm>
                <a:off x="743576" y="1214437"/>
                <a:ext cx="10510765" cy="957262"/>
              </a:xfrm>
              <a:blipFill>
                <a:blip r:embed="rId3"/>
                <a:stretch>
                  <a:fillRect l="-1508" t="-8280" r="-2030" b="-12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54B767BB-8E48-C9C0-311B-01DE94A00007}"/>
                  </a:ext>
                </a:extLst>
              </p:cNvPr>
              <p:cNvSpPr>
                <a:spLocks noGrp="1"/>
              </p:cNvSpPr>
              <p:nvPr>
                <p:ph type="body" sz="quarter" idx="17"/>
              </p:nvPr>
            </p:nvSpPr>
            <p:spPr>
              <a:xfrm>
                <a:off x="743577" y="2235991"/>
                <a:ext cx="4399924" cy="3607594"/>
              </a:xfrm>
            </p:spPr>
            <p:txBody>
              <a:bodyPr>
                <a:noAutofit/>
              </a:bodyPr>
              <a:lstStyle/>
              <a:p>
                <a:r>
                  <a:rPr lang="en-US" sz="2000" dirty="0" err="1"/>
                  <a:t>DATAfile</a:t>
                </a:r>
                <a:r>
                  <a:rPr lang="en-US" sz="2000" dirty="0"/>
                  <a:t>: </a:t>
                </a:r>
                <a:r>
                  <a:rPr lang="en-US" i="1" dirty="0" err="1"/>
                  <a:t>j</a:t>
                </a:r>
                <a:r>
                  <a:rPr lang="en-US" sz="2000" i="1" dirty="0" err="1"/>
                  <a:t>ohnson</a:t>
                </a:r>
                <a:endParaRPr lang="en-US" sz="2000" i="1" dirty="0"/>
              </a:p>
              <a:p>
                <a:r>
                  <a:rPr lang="en-US" dirty="0"/>
                  <a:t>W</a:t>
                </a:r>
                <a:r>
                  <a:rPr lang="en-US" sz="2000" dirty="0"/>
                  <a:t>e first develop a simple linear regression with the </a:t>
                </a:r>
                <a:r>
                  <a:rPr lang="en-US" dirty="0"/>
                  <a:t>number of months since last service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dirty="0"/>
                  <a:t>)</a:t>
                </a:r>
                <a:r>
                  <a:rPr lang="en-US" sz="2000" dirty="0"/>
                  <a:t> as the only independent variable</a:t>
                </a:r>
                <a:r>
                  <a:rPr lang="en-US" dirty="0"/>
                  <a:t>.</a:t>
                </a:r>
                <a:endParaRPr lang="en-US" sz="2000" dirty="0"/>
              </a:p>
              <a:p>
                <a:r>
                  <a:rPr lang="en-US" sz="2000" dirty="0"/>
                  <a:t>At </a:t>
                </a:r>
                <a14:m>
                  <m:oMath xmlns:m="http://schemas.openxmlformats.org/officeDocument/2006/math">
                    <m:r>
                      <a:rPr lang="en-US" sz="2000" i="1" smtClean="0">
                        <a:latin typeface="Cambria Math" panose="02040503050406030204" pitchFamily="18" charset="0"/>
                        <a:ea typeface="Cambria Math" panose="02040503050406030204" pitchFamily="18" charset="0"/>
                      </a:rPr>
                      <m:t>𝛼</m:t>
                    </m:r>
                    <m:r>
                      <a:rPr lang="en-US" sz="2000" b="0" i="1" smtClean="0">
                        <a:latin typeface="Cambria Math" panose="02040503050406030204" pitchFamily="18" charset="0"/>
                        <a:ea typeface="Cambria Math" panose="02040503050406030204" pitchFamily="18" charset="0"/>
                      </a:rPr>
                      <m:t>=0.05</m:t>
                    </m:r>
                  </m:oMath>
                </a14:m>
                <a:r>
                  <a:rPr lang="en-US" sz="2000" dirty="0"/>
                  <a:t>, </a:t>
                </a:r>
                <a:r>
                  <a:rPr lang="en-US" sz="2000" i="1" dirty="0"/>
                  <a:t>t</a:t>
                </a:r>
                <a:r>
                  <a:rPr lang="en-US" sz="2000" dirty="0"/>
                  <a:t> (or </a:t>
                </a:r>
                <a:r>
                  <a:rPr lang="en-US" sz="2000" dirty="0">
                    <a:latin typeface="Arial" panose="020B0604020202020204" pitchFamily="34" charset="0"/>
                    <a:cs typeface="Arial" panose="020B0604020202020204" pitchFamily="34" charset="0"/>
                  </a:rPr>
                  <a:t>𝐹</a:t>
                </a:r>
                <a:r>
                  <a:rPr lang="en-US" sz="2000" dirty="0"/>
                  <a:t>) test indicates that </a:t>
                </a:r>
                <a:r>
                  <a:rPr lang="en-US" sz="2000" dirty="0">
                    <a:latin typeface="Arial" panose="020B0604020202020204" pitchFamily="34" charset="0"/>
                    <a:cs typeface="Arial" panose="020B0604020202020204" pitchFamily="34" charset="0"/>
                  </a:rPr>
                  <a:t>𝑥</a:t>
                </a:r>
                <a:r>
                  <a:rPr lang="en-US" sz="2000" dirty="0"/>
                  <a:t> and </a:t>
                </a:r>
                <a:r>
                  <a:rPr lang="en-US" sz="2000" dirty="0">
                    <a:latin typeface="Arial" panose="020B0604020202020204" pitchFamily="34" charset="0"/>
                    <a:cs typeface="Arial" panose="020B0604020202020204" pitchFamily="34" charset="0"/>
                  </a:rPr>
                  <a:t>𝑦</a:t>
                </a:r>
                <a:r>
                  <a:rPr lang="en-US" sz="2000" dirty="0"/>
                  <a:t> are significantly related.</a:t>
                </a:r>
              </a:p>
              <a:p>
                <a:r>
                  <a:rPr lang="en-US" sz="2000" dirty="0"/>
                  <a:t>The coefficient of determination indicates that the number of months since the last service alone explains 53.42% of the variability in repair time.</a:t>
                </a:r>
              </a:p>
            </p:txBody>
          </p:sp>
        </mc:Choice>
        <mc:Fallback xmlns="">
          <p:sp>
            <p:nvSpPr>
              <p:cNvPr id="5" name="Text Placeholder 4">
                <a:extLst>
                  <a:ext uri="{FF2B5EF4-FFF2-40B4-BE49-F238E27FC236}">
                    <a16:creationId xmlns:a16="http://schemas.microsoft.com/office/drawing/2014/main" id="{54B767BB-8E48-C9C0-311B-01DE94A00007}"/>
                  </a:ext>
                </a:extLst>
              </p:cNvPr>
              <p:cNvSpPr>
                <a:spLocks noGrp="1" noRot="1" noChangeAspect="1" noMove="1" noResize="1" noEditPoints="1" noAdjustHandles="1" noChangeArrowheads="1" noChangeShapeType="1" noTextEdit="1"/>
              </p:cNvSpPr>
              <p:nvPr>
                <p:ph type="body" sz="quarter" idx="17"/>
              </p:nvPr>
            </p:nvSpPr>
            <p:spPr>
              <a:xfrm>
                <a:off x="743577" y="2235991"/>
                <a:ext cx="4399924" cy="3607594"/>
              </a:xfrm>
              <a:blipFill>
                <a:blip r:embed="rId4"/>
                <a:stretch>
                  <a:fillRect l="-3601" t="-2027" r="-1524" b="-3547"/>
                </a:stretch>
              </a:blipFill>
            </p:spPr>
            <p:txBody>
              <a:bodyPr/>
              <a:lstStyle/>
              <a:p>
                <a:r>
                  <a:rPr lang="en-US">
                    <a:noFill/>
                  </a:rPr>
                  <a:t> </a:t>
                </a:r>
              </a:p>
            </p:txBody>
          </p:sp>
        </mc:Fallback>
      </mc:AlternateContent>
      <p:pic>
        <p:nvPicPr>
          <p:cNvPr id="7" name="Picture Placeholder 6" descr="A screenshot of an Excel spreadsheet shows three tables. The first table is titled regression statistics. The entries in rows 4 through 8 are as follows. Row 4: Multiple R, 0.7309. Row 5: R Square, 0.5342. Row 6: Adjusted R Square, 0.4759. Row 7: Standard error, 0.7810. Row 8: Observations, 10. The second table is titled ANOVA. Column B is labeled d f, column C is labeled S S, column D is labeled M S, column E is labeled F, and column F is labeled significance F. The entries in rows 12 through 14 are as follows. Row 12: Regression. d f: 1. S S: 5.5960. M S: 5.5960. F: 9.1739. Significance: 0.0163. Row 13: Residual. d f: 8. S S: 4.8800. M S: 0.6100. Row 14: Total. d f: 9. S S: 10.476. In the third output table, column B is labeled coefficients, column C is labeled standard error, column D is labeled t Stat, and column E is labeled P value. The entries in rows 17 and 18 are as follows. Row 17: Intercept. Coefficients: 2.1473. Standard error: 0.6050. t Stat: 3.5493. P-value: 0.0075. Row 18: Months since last service. Coefficients: 0.3041. Standard error: 0.1004. t Stat: 3.0288. P-value: 0.0163.">
            <a:extLst>
              <a:ext uri="{FF2B5EF4-FFF2-40B4-BE49-F238E27FC236}">
                <a16:creationId xmlns:a16="http://schemas.microsoft.com/office/drawing/2014/main" id="{A4261925-E050-3A7F-B634-DE631CD39C57}"/>
              </a:ext>
            </a:extLst>
          </p:cNvPr>
          <p:cNvPicPr>
            <a:picLocks noGrp="1" noChangeAspect="1"/>
          </p:cNvPicPr>
          <p:nvPr>
            <p:ph type="pic" sz="quarter" idx="16"/>
          </p:nvPr>
        </p:nvPicPr>
        <p:blipFill>
          <a:blip r:embed="rId5"/>
          <a:srcRect l="4" r="4"/>
          <a:stretch/>
        </p:blipFill>
        <p:spPr>
          <a:xfrm>
            <a:off x="5242959" y="2185432"/>
            <a:ext cx="6110841" cy="3672441"/>
          </a:xfrm>
          <a:ln>
            <a:solidFill>
              <a:srgbClr val="000000"/>
            </a:solidFill>
          </a:ln>
        </p:spPr>
      </p:pic>
    </p:spTree>
    <p:extLst>
      <p:ext uri="{BB962C8B-B14F-4D97-AF65-F5344CB8AC3E}">
        <p14:creationId xmlns:p14="http://schemas.microsoft.com/office/powerpoint/2010/main" val="30100407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3D703-F249-9BAE-3BA8-B20A028960C5}"/>
              </a:ext>
            </a:extLst>
          </p:cNvPr>
          <p:cNvSpPr>
            <a:spLocks noGrp="1"/>
          </p:cNvSpPr>
          <p:nvPr>
            <p:ph type="title"/>
          </p:nvPr>
        </p:nvSpPr>
        <p:spPr/>
        <p:txBody>
          <a:bodyPr/>
          <a:lstStyle/>
          <a:p>
            <a:r>
              <a:rPr lang="en-US" sz="3200" dirty="0"/>
              <a:t>15.7 Adding a Dummy Variable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AAB4682-96EE-9F82-5365-1E64A6B38906}"/>
                  </a:ext>
                </a:extLst>
              </p:cNvPr>
              <p:cNvSpPr>
                <a:spLocks noGrp="1"/>
              </p:cNvSpPr>
              <p:nvPr>
                <p:ph type="body" sz="quarter" idx="15"/>
              </p:nvPr>
            </p:nvSpPr>
            <p:spPr>
              <a:xfrm>
                <a:off x="743577" y="1188939"/>
                <a:ext cx="10510765" cy="957262"/>
              </a:xfrm>
            </p:spPr>
            <p:txBody>
              <a:bodyPr>
                <a:noAutofit/>
              </a:bodyPr>
              <a:lstStyle/>
              <a:p>
                <a:pPr>
                  <a:spcAft>
                    <a:spcPts val="600"/>
                  </a:spcAft>
                </a:pPr>
                <a:r>
                  <a:rPr lang="en-US" dirty="0"/>
                  <a:t>To incorporate the type of repair into the regression model, we define the dummy variable:</a:t>
                </a:r>
              </a:p>
              <a:p>
                <a:pPr marL="230188" indent="-230188">
                  <a:spcAft>
                    <a:spcPts val="600"/>
                  </a:spcAft>
                </a:pPr>
                <a14:m>
                  <m:oMathPara xmlns:m="http://schemas.openxmlformats.org/officeDocument/2006/math">
                    <m:oMathParaPr>
                      <m:jc m:val="left"/>
                    </m:oMathParaPr>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𝑥</m:t>
                          </m:r>
                        </m:e>
                        <m:sub>
                          <m:r>
                            <a:rPr lang="en-US" i="1">
                              <a:latin typeface="Cambria Math" panose="02040503050406030204" pitchFamily="18" charset="0"/>
                              <a:cs typeface="Arial" panose="020B0604020202020204" pitchFamily="34" charset="0"/>
                            </a:rPr>
                            <m:t>2</m:t>
                          </m:r>
                        </m:sub>
                      </m:sSub>
                      <m:r>
                        <a:rPr lang="en-US" i="1">
                          <a:latin typeface="Cambria Math" panose="02040503050406030204" pitchFamily="18" charset="0"/>
                          <a:cs typeface="Arial" panose="020B0604020202020204" pitchFamily="34" charset="0"/>
                        </a:rPr>
                        <m:t>=</m:t>
                      </m:r>
                      <m:d>
                        <m:dPr>
                          <m:begChr m:val="{"/>
                          <m:endChr m:val=""/>
                          <m:ctrlPr>
                            <a:rPr lang="en-US" i="1">
                              <a:latin typeface="Cambria Math" panose="02040503050406030204" pitchFamily="18" charset="0"/>
                              <a:cs typeface="Arial" panose="020B0604020202020204" pitchFamily="34" charset="0"/>
                            </a:rPr>
                          </m:ctrlPr>
                        </m:dPr>
                        <m:e>
                          <m:eqArr>
                            <m:eqArrPr>
                              <m:ctrlPr>
                                <a:rPr lang="en-US" i="1">
                                  <a:latin typeface="Cambria Math" panose="02040503050406030204" pitchFamily="18" charset="0"/>
                                  <a:cs typeface="Arial" panose="020B0604020202020204" pitchFamily="34" charset="0"/>
                                </a:rPr>
                              </m:ctrlPr>
                            </m:eqArrPr>
                            <m:e>
                              <m:r>
                                <a:rPr lang="en-US" i="1">
                                  <a:latin typeface="Cambria Math" panose="02040503050406030204" pitchFamily="18" charset="0"/>
                                  <a:cs typeface="Arial" panose="020B0604020202020204" pitchFamily="34" charset="0"/>
                                </a:rPr>
                                <m:t>0 </m:t>
                              </m:r>
                              <m:r>
                                <m:rPr>
                                  <m:nor/>
                                </m:rPr>
                                <a:rPr lang="en-US">
                                  <a:latin typeface="Cambria Math" panose="02040503050406030204" pitchFamily="18" charset="0"/>
                                  <a:cs typeface="Arial" panose="020B0604020202020204" pitchFamily="34" charset="0"/>
                                </a:rPr>
                                <m:t>if</m:t>
                              </m:r>
                              <m:r>
                                <m:rPr>
                                  <m:nor/>
                                </m:rPr>
                                <a:rPr lang="en-US">
                                  <a:latin typeface="Cambria Math" panose="02040503050406030204" pitchFamily="18" charset="0"/>
                                  <a:cs typeface="Arial" panose="020B0604020202020204" pitchFamily="34" charset="0"/>
                                </a:rPr>
                                <m:t> </m:t>
                              </m:r>
                              <m:r>
                                <m:rPr>
                                  <m:nor/>
                                </m:rPr>
                                <a:rPr lang="en-US">
                                  <a:latin typeface="Cambria Math" panose="02040503050406030204" pitchFamily="18" charset="0"/>
                                  <a:cs typeface="Arial" panose="020B0604020202020204" pitchFamily="34" charset="0"/>
                                </a:rPr>
                                <m:t>type</m:t>
                              </m:r>
                              <m:r>
                                <m:rPr>
                                  <m:nor/>
                                </m:rPr>
                                <a:rPr lang="en-US">
                                  <a:latin typeface="Cambria Math" panose="02040503050406030204" pitchFamily="18" charset="0"/>
                                  <a:cs typeface="Arial" panose="020B0604020202020204" pitchFamily="34" charset="0"/>
                                </a:rPr>
                                <m:t> </m:t>
                              </m:r>
                              <m:r>
                                <m:rPr>
                                  <m:nor/>
                                </m:rPr>
                                <a:rPr lang="en-US">
                                  <a:latin typeface="Cambria Math" panose="02040503050406030204" pitchFamily="18" charset="0"/>
                                  <a:cs typeface="Arial" panose="020B0604020202020204" pitchFamily="34" charset="0"/>
                                </a:rPr>
                                <m:t>of</m:t>
                              </m:r>
                              <m:r>
                                <m:rPr>
                                  <m:nor/>
                                </m:rPr>
                                <a:rPr lang="en-US">
                                  <a:latin typeface="Cambria Math" panose="02040503050406030204" pitchFamily="18" charset="0"/>
                                  <a:cs typeface="Arial" panose="020B0604020202020204" pitchFamily="34" charset="0"/>
                                </a:rPr>
                                <m:t> </m:t>
                              </m:r>
                              <m:r>
                                <m:rPr>
                                  <m:nor/>
                                </m:rPr>
                                <a:rPr lang="en-US">
                                  <a:latin typeface="Cambria Math" panose="02040503050406030204" pitchFamily="18" charset="0"/>
                                  <a:cs typeface="Arial" panose="020B0604020202020204" pitchFamily="34" charset="0"/>
                                </a:rPr>
                                <m:t>repair</m:t>
                              </m:r>
                              <m:r>
                                <m:rPr>
                                  <m:nor/>
                                </m:rPr>
                                <a:rPr lang="en-US">
                                  <a:latin typeface="Cambria Math" panose="02040503050406030204" pitchFamily="18" charset="0"/>
                                  <a:cs typeface="Arial" panose="020B0604020202020204" pitchFamily="34" charset="0"/>
                                </a:rPr>
                                <m:t> </m:t>
                              </m:r>
                              <m:r>
                                <m:rPr>
                                  <m:nor/>
                                </m:rPr>
                                <a:rPr lang="en-US">
                                  <a:latin typeface="Cambria Math" panose="02040503050406030204" pitchFamily="18" charset="0"/>
                                  <a:cs typeface="Arial" panose="020B0604020202020204" pitchFamily="34" charset="0"/>
                                </a:rPr>
                                <m:t>is</m:t>
                              </m:r>
                              <m:r>
                                <m:rPr>
                                  <m:nor/>
                                </m:rPr>
                                <a:rPr lang="en-US">
                                  <a:latin typeface="Cambria Math" panose="02040503050406030204" pitchFamily="18" charset="0"/>
                                  <a:cs typeface="Arial" panose="020B0604020202020204" pitchFamily="34" charset="0"/>
                                </a:rPr>
                                <m:t> </m:t>
                              </m:r>
                              <m:r>
                                <m:rPr>
                                  <m:nor/>
                                </m:rPr>
                                <a:rPr lang="en-US">
                                  <a:latin typeface="Cambria Math" panose="02040503050406030204" pitchFamily="18" charset="0"/>
                                  <a:cs typeface="Arial" panose="020B0604020202020204" pitchFamily="34" charset="0"/>
                                </a:rPr>
                                <m:t>mechanical</m:t>
                              </m:r>
                            </m:e>
                            <m:e>
                              <m:r>
                                <a:rPr lang="en-US" i="1">
                                  <a:latin typeface="Cambria Math" panose="02040503050406030204" pitchFamily="18" charset="0"/>
                                  <a:cs typeface="Arial" panose="020B0604020202020204" pitchFamily="34" charset="0"/>
                                </a:rPr>
                                <m:t>1 </m:t>
                              </m:r>
                              <m:r>
                                <m:rPr>
                                  <m:nor/>
                                </m:rPr>
                                <a:rPr lang="en-US">
                                  <a:latin typeface="Cambria Math" panose="02040503050406030204" pitchFamily="18" charset="0"/>
                                  <a:cs typeface="Arial" panose="020B0604020202020204" pitchFamily="34" charset="0"/>
                                </a:rPr>
                                <m:t>if</m:t>
                              </m:r>
                              <m:r>
                                <m:rPr>
                                  <m:nor/>
                                </m:rPr>
                                <a:rPr lang="en-US">
                                  <a:latin typeface="Cambria Math" panose="02040503050406030204" pitchFamily="18" charset="0"/>
                                  <a:cs typeface="Arial" panose="020B0604020202020204" pitchFamily="34" charset="0"/>
                                </a:rPr>
                                <m:t> </m:t>
                              </m:r>
                              <m:r>
                                <m:rPr>
                                  <m:nor/>
                                </m:rPr>
                                <a:rPr lang="en-US">
                                  <a:latin typeface="Cambria Math" panose="02040503050406030204" pitchFamily="18" charset="0"/>
                                  <a:cs typeface="Arial" panose="020B0604020202020204" pitchFamily="34" charset="0"/>
                                </a:rPr>
                                <m:t>type</m:t>
                              </m:r>
                              <m:r>
                                <m:rPr>
                                  <m:nor/>
                                </m:rPr>
                                <a:rPr lang="en-US">
                                  <a:latin typeface="Cambria Math" panose="02040503050406030204" pitchFamily="18" charset="0"/>
                                  <a:cs typeface="Arial" panose="020B0604020202020204" pitchFamily="34" charset="0"/>
                                </a:rPr>
                                <m:t> </m:t>
                              </m:r>
                              <m:r>
                                <m:rPr>
                                  <m:nor/>
                                </m:rPr>
                                <a:rPr lang="en-US">
                                  <a:latin typeface="Cambria Math" panose="02040503050406030204" pitchFamily="18" charset="0"/>
                                  <a:cs typeface="Arial" panose="020B0604020202020204" pitchFamily="34" charset="0"/>
                                </a:rPr>
                                <m:t>of</m:t>
                              </m:r>
                              <m:r>
                                <m:rPr>
                                  <m:nor/>
                                </m:rPr>
                                <a:rPr lang="en-US">
                                  <a:latin typeface="Cambria Math" panose="02040503050406030204" pitchFamily="18" charset="0"/>
                                  <a:cs typeface="Arial" panose="020B0604020202020204" pitchFamily="34" charset="0"/>
                                </a:rPr>
                                <m:t> </m:t>
                              </m:r>
                              <m:r>
                                <m:rPr>
                                  <m:nor/>
                                </m:rPr>
                                <a:rPr lang="en-US">
                                  <a:latin typeface="Cambria Math" panose="02040503050406030204" pitchFamily="18" charset="0"/>
                                  <a:cs typeface="Arial" panose="020B0604020202020204" pitchFamily="34" charset="0"/>
                                </a:rPr>
                                <m:t>repair</m:t>
                              </m:r>
                              <m:r>
                                <m:rPr>
                                  <m:nor/>
                                </m:rPr>
                                <a:rPr lang="en-US">
                                  <a:latin typeface="Cambria Math" panose="02040503050406030204" pitchFamily="18" charset="0"/>
                                  <a:cs typeface="Arial" panose="020B0604020202020204" pitchFamily="34" charset="0"/>
                                </a:rPr>
                                <m:t> </m:t>
                              </m:r>
                              <m:r>
                                <m:rPr>
                                  <m:nor/>
                                </m:rPr>
                                <a:rPr lang="en-US">
                                  <a:latin typeface="Cambria Math" panose="02040503050406030204" pitchFamily="18" charset="0"/>
                                  <a:cs typeface="Arial" panose="020B0604020202020204" pitchFamily="34" charset="0"/>
                                </a:rPr>
                                <m:t>is</m:t>
                              </m:r>
                              <m:r>
                                <m:rPr>
                                  <m:nor/>
                                </m:rPr>
                                <a:rPr lang="en-US">
                                  <a:latin typeface="Cambria Math" panose="02040503050406030204" pitchFamily="18" charset="0"/>
                                  <a:cs typeface="Arial" panose="020B0604020202020204" pitchFamily="34" charset="0"/>
                                </a:rPr>
                                <m:t> </m:t>
                              </m:r>
                              <m:r>
                                <m:rPr>
                                  <m:nor/>
                                </m:rPr>
                                <a:rPr lang="en-US">
                                  <a:latin typeface="Cambria Math" panose="02040503050406030204" pitchFamily="18" charset="0"/>
                                  <a:cs typeface="Arial" panose="020B0604020202020204" pitchFamily="34" charset="0"/>
                                </a:rPr>
                                <m:t>electrical</m:t>
                              </m:r>
                              <m:r>
                                <m:rPr>
                                  <m:nor/>
                                </m:rPr>
                                <a:rPr lang="en-US">
                                  <a:latin typeface="Cambria Math" panose="02040503050406030204" pitchFamily="18" charset="0"/>
                                  <a:cs typeface="Arial" panose="020B0604020202020204" pitchFamily="34" charset="0"/>
                                </a:rPr>
                                <m:t>    </m:t>
                              </m:r>
                            </m:e>
                          </m:eqArr>
                        </m:e>
                      </m:d>
                    </m:oMath>
                  </m:oMathPara>
                </a14:m>
                <a:endParaRPr lang="en-US" dirty="0"/>
              </a:p>
            </p:txBody>
          </p:sp>
        </mc:Choice>
        <mc:Fallback xmlns="">
          <p:sp>
            <p:nvSpPr>
              <p:cNvPr id="3" name="Text Placeholder 2">
                <a:extLst>
                  <a:ext uri="{FF2B5EF4-FFF2-40B4-BE49-F238E27FC236}">
                    <a16:creationId xmlns:a16="http://schemas.microsoft.com/office/drawing/2014/main" id="{1AAB4682-96EE-9F82-5365-1E64A6B38906}"/>
                  </a:ext>
                </a:extLst>
              </p:cNvPr>
              <p:cNvSpPr>
                <a:spLocks noGrp="1" noRot="1" noChangeAspect="1" noMove="1" noResize="1" noEditPoints="1" noAdjustHandles="1" noChangeArrowheads="1" noChangeShapeType="1" noTextEdit="1"/>
              </p:cNvSpPr>
              <p:nvPr>
                <p:ph type="body" sz="quarter" idx="15"/>
              </p:nvPr>
            </p:nvSpPr>
            <p:spPr>
              <a:xfrm>
                <a:off x="743577" y="1188939"/>
                <a:ext cx="10510765" cy="957262"/>
              </a:xfrm>
              <a:blipFill>
                <a:blip r:embed="rId3"/>
                <a:stretch>
                  <a:fillRect l="-1508" t="-7643" b="-108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54B767BB-8E48-C9C0-311B-01DE94A00007}"/>
                  </a:ext>
                </a:extLst>
              </p:cNvPr>
              <p:cNvSpPr>
                <a:spLocks noGrp="1"/>
              </p:cNvSpPr>
              <p:nvPr>
                <p:ph type="body" sz="quarter" idx="17"/>
              </p:nvPr>
            </p:nvSpPr>
            <p:spPr>
              <a:xfrm>
                <a:off x="743577" y="2401985"/>
                <a:ext cx="4399924" cy="3523032"/>
              </a:xfrm>
            </p:spPr>
            <p:txBody>
              <a:bodyPr>
                <a:noAutofit/>
              </a:bodyPr>
              <a:lstStyle/>
              <a:p>
                <a:r>
                  <a:rPr lang="en-US" sz="2000" dirty="0"/>
                  <a:t>At </a:t>
                </a:r>
                <a14:m>
                  <m:oMath xmlns:m="http://schemas.openxmlformats.org/officeDocument/2006/math">
                    <m:r>
                      <a:rPr lang="en-US" sz="2000" i="1" smtClean="0">
                        <a:latin typeface="Cambria Math" panose="02040503050406030204" pitchFamily="18" charset="0"/>
                        <a:ea typeface="Cambria Math" panose="02040503050406030204" pitchFamily="18" charset="0"/>
                      </a:rPr>
                      <m:t>𝛼</m:t>
                    </m:r>
                    <m:r>
                      <a:rPr lang="en-US" sz="2000" b="0" i="1" smtClean="0">
                        <a:latin typeface="Cambria Math" panose="02040503050406030204" pitchFamily="18" charset="0"/>
                        <a:ea typeface="Cambria Math" panose="02040503050406030204" pitchFamily="18" charset="0"/>
                      </a:rPr>
                      <m:t>=0.05</m:t>
                    </m:r>
                  </m:oMath>
                </a14:m>
                <a:r>
                  <a:rPr lang="en-US" sz="2000" dirty="0"/>
                  <a:t> significance level, the </a:t>
                </a:r>
                <a:r>
                  <a:rPr lang="en-US" sz="2000" dirty="0">
                    <a:latin typeface="Arial" panose="020B0604020202020204" pitchFamily="34" charset="0"/>
                    <a:cs typeface="Arial" panose="020B0604020202020204" pitchFamily="34" charset="0"/>
                  </a:rPr>
                  <a:t>𝐹</a:t>
                </a:r>
                <a:r>
                  <a:rPr lang="en-US" sz="2000" dirty="0"/>
                  <a:t> test indicates that </a:t>
                </a:r>
                <a:r>
                  <a:rPr lang="en-US" sz="2000" dirty="0">
                    <a:latin typeface="Arial" panose="020B0604020202020204" pitchFamily="34" charset="0"/>
                    <a:cs typeface="Arial" panose="020B0604020202020204" pitchFamily="34" charset="0"/>
                  </a:rPr>
                  <a:t>the model is overall significant, and that both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𝑥</m:t>
                        </m:r>
                      </m:e>
                      <m:sub>
                        <m:r>
                          <a:rPr lang="en-US" sz="2000" i="1">
                            <a:latin typeface="Cambria Math" panose="02040503050406030204" pitchFamily="18" charset="0"/>
                            <a:cs typeface="Arial" panose="020B0604020202020204" pitchFamily="34" charset="0"/>
                          </a:rPr>
                          <m:t>1</m:t>
                        </m:r>
                      </m:sub>
                    </m:sSub>
                  </m:oMath>
                </a14:m>
                <a:r>
                  <a:rPr lang="en-US" sz="2000" dirty="0">
                    <a:latin typeface="Arial" panose="020B0604020202020204" pitchFamily="34" charset="0"/>
                    <a:cs typeface="Arial" panose="020B0604020202020204" pitchFamily="34" charset="0"/>
                  </a:rPr>
                  <a:t>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𝑥</m:t>
                        </m:r>
                      </m:e>
                      <m:sub>
                        <m:r>
                          <a:rPr lang="en-US" sz="2000" i="1">
                            <a:latin typeface="Cambria Math" panose="02040503050406030204" pitchFamily="18" charset="0"/>
                            <a:cs typeface="Arial" panose="020B0604020202020204" pitchFamily="34" charset="0"/>
                          </a:rPr>
                          <m:t>2</m:t>
                        </m:r>
                      </m:sub>
                    </m:sSub>
                  </m:oMath>
                </a14:m>
                <a:r>
                  <a:rPr lang="en-US" sz="2000" dirty="0">
                    <a:latin typeface="Arial" panose="020B0604020202020204" pitchFamily="34" charset="0"/>
                    <a:cs typeface="Arial" panose="020B0604020202020204" pitchFamily="34" charset="0"/>
                  </a:rPr>
                  <a:t> are individually significant.</a:t>
                </a:r>
              </a:p>
              <a:p>
                <a:r>
                  <a:rPr lang="en-US" sz="2000" dirty="0"/>
                  <a:t>The coefficient of determination indicates that the two independent variables </a:t>
                </a:r>
                <a:r>
                  <a:rPr lang="en-US" sz="2000" dirty="0">
                    <a:latin typeface="Arial" panose="020B0604020202020204" pitchFamily="34" charset="0"/>
                    <a:cs typeface="Arial" panose="020B0604020202020204" pitchFamily="34" charset="0"/>
                  </a:rPr>
                  <a:t>explain 85.92% of </a:t>
                </a:r>
                <a:r>
                  <a:rPr lang="en-US" sz="2000" dirty="0"/>
                  <a:t>the variability in repair time.</a:t>
                </a:r>
                <a:endParaRPr lang="en-US" sz="2000" dirty="0">
                  <a:latin typeface="Arial" panose="020B0604020202020204" pitchFamily="34" charset="0"/>
                  <a:cs typeface="Arial" panose="020B0604020202020204" pitchFamily="34" charset="0"/>
                </a:endParaRPr>
              </a:p>
              <a:p>
                <a:r>
                  <a:rPr lang="en-US" sz="2000" dirty="0"/>
                  <a:t>Thus, the multiple regression model helps in predicting the repair time necessary for the various service calls.</a:t>
                </a:r>
              </a:p>
            </p:txBody>
          </p:sp>
        </mc:Choice>
        <mc:Fallback xmlns="">
          <p:sp>
            <p:nvSpPr>
              <p:cNvPr id="5" name="Text Placeholder 4">
                <a:extLst>
                  <a:ext uri="{FF2B5EF4-FFF2-40B4-BE49-F238E27FC236}">
                    <a16:creationId xmlns:a16="http://schemas.microsoft.com/office/drawing/2014/main" id="{54B767BB-8E48-C9C0-311B-01DE94A00007}"/>
                  </a:ext>
                </a:extLst>
              </p:cNvPr>
              <p:cNvSpPr>
                <a:spLocks noGrp="1" noRot="1" noChangeAspect="1" noMove="1" noResize="1" noEditPoints="1" noAdjustHandles="1" noChangeArrowheads="1" noChangeShapeType="1" noTextEdit="1"/>
              </p:cNvSpPr>
              <p:nvPr>
                <p:ph type="body" sz="quarter" idx="17"/>
              </p:nvPr>
            </p:nvSpPr>
            <p:spPr>
              <a:xfrm>
                <a:off x="743577" y="2401985"/>
                <a:ext cx="4399924" cy="3523032"/>
              </a:xfrm>
              <a:blipFill>
                <a:blip r:embed="rId4"/>
                <a:stretch>
                  <a:fillRect l="-3601" t="-2249" r="-3047" b="-4152"/>
                </a:stretch>
              </a:blipFill>
            </p:spPr>
            <p:txBody>
              <a:bodyPr/>
              <a:lstStyle/>
              <a:p>
                <a:r>
                  <a:rPr lang="en-US">
                    <a:noFill/>
                  </a:rPr>
                  <a:t> </a:t>
                </a:r>
              </a:p>
            </p:txBody>
          </p:sp>
        </mc:Fallback>
      </mc:AlternateContent>
      <p:pic>
        <p:nvPicPr>
          <p:cNvPr id="8" name="Picture Placeholder 7" descr="A screenshot of an Excel spreadsheet shows three tables. The first table is titled regression statistics. The entries in rows 4 through 8 are as follows. Row 4: Multiple R, 0.9269. Row 5: R Square, 0.8592. Row 6: Adjusted R Square, 0.8190. Row 7: Standard error, 0.4590. Row 8: Observations, 10. The second table is titled ANOVA. Column B is labeled d f, column C is labeled S S, column D is labeled M S, column E is labeled F, and column F is labeled significance F. The entries in rows 12 through 14 are as follows. Row 12: Regression. d f: 2. S S: 9.0009. M S: 4.5005. F: 21.3570. Significance: 0.0010. Row 13: Residual. d f: 7. S S: 1.4751. M S: 0.2107. Row 14: Total. d f: 9. S S: 10.476. In the third output table, column B is labeled coefficients, column C is labeled standard error, column D is labeled t Stat, and column E is labeled P value. The entries in rows 17 through 19 are as follows. Row 17: Intercept. Coefficients: 0.9305. Standard error: 0.4670. t Stat: 1.9926. P-value: 0.0866. Row 18: Months since last service. Coefficients: 0.3876. Standard error: 0.0626. t Stat: 6.1954. P-value: 0.0004. Row 19: Months since last service. Coefficients: 1.2627. Standard error: 0.3141. t Stat: 4.0197. P-value: 0.0051.">
            <a:extLst>
              <a:ext uri="{FF2B5EF4-FFF2-40B4-BE49-F238E27FC236}">
                <a16:creationId xmlns:a16="http://schemas.microsoft.com/office/drawing/2014/main" id="{C5245026-E271-F7BF-5531-2924875C4A0D}"/>
              </a:ext>
            </a:extLst>
          </p:cNvPr>
          <p:cNvPicPr>
            <a:picLocks noGrp="1" noChangeAspect="1"/>
          </p:cNvPicPr>
          <p:nvPr>
            <p:ph type="pic" sz="quarter" idx="16"/>
          </p:nvPr>
        </p:nvPicPr>
        <p:blipFill>
          <a:blip r:embed="rId5"/>
          <a:srcRect t="36" b="36"/>
          <a:stretch/>
        </p:blipFill>
        <p:spPr>
          <a:xfrm>
            <a:off x="5245100" y="1961882"/>
            <a:ext cx="6108700" cy="3903663"/>
          </a:xfrm>
          <a:ln>
            <a:solidFill>
              <a:srgbClr val="000000"/>
            </a:solidFill>
          </a:ln>
        </p:spPr>
      </p:pic>
    </p:spTree>
    <p:extLst>
      <p:ext uri="{BB962C8B-B14F-4D97-AF65-F5344CB8AC3E}">
        <p14:creationId xmlns:p14="http://schemas.microsoft.com/office/powerpoint/2010/main" val="28741258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659956" y="365125"/>
            <a:ext cx="10860819" cy="672105"/>
          </a:xfrm>
        </p:spPr>
        <p:txBody>
          <a:bodyPr/>
          <a:lstStyle/>
          <a:p>
            <a:r>
              <a:rPr lang="en-US" dirty="0"/>
              <a:t>15.7 Interpreting the Parameter of a Dummy Variable</a:t>
            </a:r>
            <a:endParaRPr lang="en-US" i="1"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05131" y="1240643"/>
                <a:ext cx="10781737" cy="4515116"/>
              </a:xfrm>
            </p:spPr>
            <p:txBody>
              <a:bodyPr/>
              <a:lstStyle/>
              <a:p>
                <a:pPr>
                  <a:spcBef>
                    <a:spcPts val="600"/>
                  </a:spcBef>
                  <a:spcAft>
                    <a:spcPts val="0"/>
                  </a:spcAft>
                </a:pPr>
                <a:r>
                  <a:rPr lang="en-US" sz="2000" dirty="0">
                    <a:latin typeface="Arial" panose="020B0604020202020204" pitchFamily="34" charset="0"/>
                    <a:cs typeface="Arial" panose="020B0604020202020204" pitchFamily="34" charset="0"/>
                  </a:rPr>
                  <a:t>The multiple regression equation for the Johnson Filtration example is</a:t>
                </a:r>
              </a:p>
              <a:p>
                <a:pPr marL="914400">
                  <a:spcBef>
                    <a:spcPts val="600"/>
                  </a:spcBef>
                  <a:spcAft>
                    <a:spcPts val="600"/>
                  </a:spcAft>
                </a:pPr>
                <a14:m>
                  <m:oMath xmlns:m="http://schemas.openxmlformats.org/officeDocument/2006/math">
                    <m:r>
                      <a:rPr lang="en-US" sz="2000" b="0" i="1" smtClean="0">
                        <a:latin typeface="Cambria Math" panose="02040503050406030204" pitchFamily="18" charset="0"/>
                      </a:rPr>
                      <m:t>𝐸</m:t>
                    </m:r>
                    <m:r>
                      <a:rPr lang="en-US" sz="2000" b="0" i="1" smtClean="0">
                        <a:latin typeface="Cambria Math" panose="02040503050406030204" pitchFamily="18" charset="0"/>
                      </a:rPr>
                      <m:t>(</m:t>
                    </m:r>
                    <m:r>
                      <a:rPr lang="en-US" sz="2000" b="0" i="1" smtClean="0">
                        <a:latin typeface="Cambria Math" panose="02040503050406030204" pitchFamily="18" charset="0"/>
                      </a:rPr>
                      <m:t>𝑦</m:t>
                    </m:r>
                    <m:r>
                      <a:rPr lang="en-US" sz="2000" b="0"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1</m:t>
                        </m:r>
                      </m:sub>
                    </m:sSub>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𝑥</m:t>
                        </m:r>
                      </m:e>
                      <m:sub>
                        <m:r>
                          <a:rPr lang="en-US" sz="2000" b="0" i="1">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2</m:t>
                        </m:r>
                      </m:sub>
                    </m:sSub>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𝑥</m:t>
                        </m:r>
                      </m:e>
                      <m:sub>
                        <m:r>
                          <a:rPr lang="en-US" sz="2000" b="0" i="1">
                            <a:latin typeface="Cambria Math" panose="02040503050406030204" pitchFamily="18" charset="0"/>
                            <a:cs typeface="Arial" panose="020B0604020202020204" pitchFamily="34" charset="0"/>
                          </a:rPr>
                          <m:t>2</m:t>
                        </m:r>
                      </m:sub>
                    </m:sSub>
                  </m:oMath>
                </a14:m>
                <a:r>
                  <a:rPr lang="en-US" sz="2000" dirty="0">
                    <a:latin typeface="Arial" panose="020B0604020202020204" pitchFamily="34" charset="0"/>
                    <a:cs typeface="Arial" panose="020B0604020202020204" pitchFamily="34" charset="0"/>
                  </a:rPr>
                  <a:t> </a:t>
                </a:r>
              </a:p>
              <a:p>
                <a:pPr>
                  <a:spcBef>
                    <a:spcPts val="600"/>
                  </a:spcBef>
                  <a:spcAft>
                    <a:spcPts val="0"/>
                  </a:spcAft>
                </a:pPr>
                <a:r>
                  <a:rPr lang="en-US" sz="2000" dirty="0">
                    <a:latin typeface="Arial" panose="020B0604020202020204" pitchFamily="34" charset="0"/>
                    <a:cs typeface="Arial" panose="020B0604020202020204" pitchFamily="34" charset="0"/>
                  </a:rPr>
                  <a:t>To interpret the parameters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0</m:t>
                        </m:r>
                      </m:sub>
                    </m:sSub>
                  </m:oMath>
                </a14:m>
                <a:r>
                  <a:rPr lang="en-US" sz="2000" dirty="0">
                    <a:latin typeface="Arial" panose="020B0604020202020204" pitchFamily="34" charset="0"/>
                    <a:cs typeface="Arial" panose="020B0604020202020204" pitchFamily="34" charset="0"/>
                  </a:rPr>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2</m:t>
                        </m:r>
                      </m:sub>
                    </m:sSub>
                  </m:oMath>
                </a14:m>
                <a:r>
                  <a:rPr lang="en-US" sz="2000" dirty="0">
                    <a:latin typeface="Arial" panose="020B0604020202020204" pitchFamily="34" charset="0"/>
                    <a:cs typeface="Arial" panose="020B0604020202020204" pitchFamily="34" charset="0"/>
                  </a:rPr>
                  <a:t>, when a categorical variable is present, consider the case when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𝑥</m:t>
                        </m:r>
                      </m:e>
                      <m:sub>
                        <m:r>
                          <a:rPr lang="en-US" sz="2000" i="1">
                            <a:latin typeface="Cambria Math" panose="02040503050406030204" pitchFamily="18" charset="0"/>
                            <a:cs typeface="Arial" panose="020B0604020202020204" pitchFamily="34" charset="0"/>
                          </a:rPr>
                          <m:t>2</m:t>
                        </m:r>
                      </m:sub>
                    </m:sSub>
                    <m:r>
                      <a:rPr lang="en-US" sz="2000" b="0" i="1" smtClean="0">
                        <a:latin typeface="Cambria Math" panose="02040503050406030204" pitchFamily="18" charset="0"/>
                        <a:cs typeface="Arial" panose="020B0604020202020204" pitchFamily="34" charset="0"/>
                      </a:rPr>
                      <m:t>=0</m:t>
                    </m:r>
                  </m:oMath>
                </a14:m>
                <a:r>
                  <a:rPr lang="en-US" sz="2000" dirty="0">
                    <a:latin typeface="Arial" panose="020B0604020202020204" pitchFamily="34" charset="0"/>
                    <a:cs typeface="Arial" panose="020B0604020202020204" pitchFamily="34" charset="0"/>
                  </a:rPr>
                  <a:t> (mechanical repair.)</a:t>
                </a:r>
              </a:p>
              <a:p>
                <a:pPr>
                  <a:spcBef>
                    <a:spcPts val="600"/>
                  </a:spcBef>
                  <a:spcAft>
                    <a:spcPts val="0"/>
                  </a:spcAft>
                </a:pPr>
                <a:r>
                  <a:rPr lang="en-US" sz="2000" dirty="0">
                    <a:latin typeface="Arial" panose="020B0604020202020204" pitchFamily="34" charset="0"/>
                    <a:cs typeface="Arial" panose="020B0604020202020204" pitchFamily="34" charset="0"/>
                  </a:rPr>
                  <a:t>We use </a:t>
                </a:r>
                <a14:m>
                  <m:oMath xmlns:m="http://schemas.openxmlformats.org/officeDocument/2006/math">
                    <m:r>
                      <a:rPr lang="en-US" sz="2000" i="1" dirty="0" smtClean="0">
                        <a:latin typeface="Cambria Math" panose="02040503050406030204" pitchFamily="18" charset="0"/>
                        <a:cs typeface="Arial" panose="020B0604020202020204" pitchFamily="34" charset="0"/>
                      </a:rPr>
                      <m:t>𝐸</m:t>
                    </m:r>
                    <m:r>
                      <a:rPr lang="en-US" sz="2000" i="1" dirty="0" smtClean="0">
                        <a:latin typeface="Cambria Math" panose="02040503050406030204" pitchFamily="18" charset="0"/>
                        <a:cs typeface="Arial" panose="020B0604020202020204" pitchFamily="34" charset="0"/>
                      </a:rPr>
                      <m:t>(</m:t>
                    </m:r>
                    <m:r>
                      <a:rPr lang="en-US" sz="2000" i="1" dirty="0" err="1" smtClean="0">
                        <a:latin typeface="Cambria Math" panose="02040503050406030204" pitchFamily="18" charset="0"/>
                        <a:cs typeface="Arial" panose="020B0604020202020204" pitchFamily="34" charset="0"/>
                      </a:rPr>
                      <m:t>𝑦</m:t>
                    </m:r>
                    <m:r>
                      <a:rPr lang="en-US" sz="2000" i="1" dirty="0" err="1" smtClean="0">
                        <a:latin typeface="Cambria Math" panose="02040503050406030204" pitchFamily="18" charset="0"/>
                        <a:cs typeface="Arial" panose="020B0604020202020204" pitchFamily="34" charset="0"/>
                      </a:rPr>
                      <m:t>∣</m:t>
                    </m:r>
                    <m:r>
                      <m:rPr>
                        <m:nor/>
                      </m:rPr>
                      <a:rPr lang="en-US" sz="2000">
                        <a:latin typeface="Cambria Math" panose="02040503050406030204" pitchFamily="18" charset="0"/>
                        <a:cs typeface="Arial" panose="020B0604020202020204" pitchFamily="34" charset="0"/>
                      </a:rPr>
                      <m:t>mechanical</m:t>
                    </m:r>
                    <m:r>
                      <a:rPr lang="en-US" sz="2000" i="1" dirty="0" smtClean="0">
                        <a:latin typeface="Cambria Math" panose="02040503050406030204" pitchFamily="18" charset="0"/>
                        <a:cs typeface="Arial" panose="020B0604020202020204" pitchFamily="34" charset="0"/>
                      </a:rPr>
                      <m:t>)</m:t>
                    </m:r>
                  </m:oMath>
                </a14:m>
                <a:r>
                  <a:rPr lang="en-US" sz="2000" dirty="0">
                    <a:latin typeface="Arial" panose="020B0604020202020204" pitchFamily="34" charset="0"/>
                    <a:cs typeface="Arial" panose="020B0604020202020204" pitchFamily="34" charset="0"/>
                  </a:rPr>
                  <a:t> to denote the mean of repair time given a mechanical repair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𝑥</m:t>
                        </m:r>
                      </m:e>
                      <m:sub>
                        <m:r>
                          <a:rPr lang="en-US" sz="2000" i="1">
                            <a:latin typeface="Cambria Math" panose="02040503050406030204" pitchFamily="18" charset="0"/>
                            <a:cs typeface="Arial" panose="020B0604020202020204" pitchFamily="34" charset="0"/>
                          </a:rPr>
                          <m:t>2</m:t>
                        </m:r>
                      </m:sub>
                    </m:sSub>
                    <m:r>
                      <a:rPr lang="en-US" sz="2000" i="1">
                        <a:latin typeface="Cambria Math" panose="02040503050406030204" pitchFamily="18" charset="0"/>
                        <a:cs typeface="Arial" panose="020B0604020202020204" pitchFamily="34" charset="0"/>
                      </a:rPr>
                      <m:t>=</m:t>
                    </m:r>
                    <m:r>
                      <a:rPr lang="en-US" sz="2000" b="0" i="1" smtClean="0">
                        <a:latin typeface="Cambria Math" panose="02040503050406030204" pitchFamily="18" charset="0"/>
                        <a:cs typeface="Arial" panose="020B0604020202020204" pitchFamily="34" charset="0"/>
                      </a:rPr>
                      <m:t>0</m:t>
                    </m:r>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i="1" dirty="0">
                        <a:latin typeface="Cambria Math" panose="02040503050406030204" pitchFamily="18" charset="0"/>
                        <a:cs typeface="Arial" panose="020B0604020202020204" pitchFamily="34" charset="0"/>
                      </a:rPr>
                      <m:t>𝐸</m:t>
                    </m:r>
                    <m:d>
                      <m:dPr>
                        <m:sepChr m:val="∣"/>
                        <m:ctrlPr>
                          <a:rPr lang="en-US" sz="2000" i="1" dirty="0">
                            <a:latin typeface="Cambria Math" panose="02040503050406030204" pitchFamily="18" charset="0"/>
                            <a:cs typeface="Arial" panose="020B0604020202020204" pitchFamily="34" charset="0"/>
                          </a:rPr>
                        </m:ctrlPr>
                      </m:dPr>
                      <m:e>
                        <m:r>
                          <a:rPr lang="en-US" sz="2000" i="1" dirty="0" err="1">
                            <a:latin typeface="Cambria Math" panose="02040503050406030204" pitchFamily="18" charset="0"/>
                            <a:cs typeface="Arial" panose="020B0604020202020204" pitchFamily="34" charset="0"/>
                          </a:rPr>
                          <m:t>𝑦</m:t>
                        </m:r>
                      </m:e>
                      <m:e>
                        <m:r>
                          <m:rPr>
                            <m:nor/>
                          </m:rPr>
                          <a:rPr lang="en-US" sz="2000">
                            <a:latin typeface="Cambria Math" panose="02040503050406030204" pitchFamily="18" charset="0"/>
                            <a:cs typeface="Arial" panose="020B0604020202020204" pitchFamily="34" charset="0"/>
                          </a:rPr>
                          <m:t>electrical</m:t>
                        </m:r>
                      </m:e>
                    </m:d>
                  </m:oMath>
                </a14:m>
                <a:r>
                  <a:rPr lang="en-US" sz="2000" dirty="0">
                    <a:latin typeface="Arial" panose="020B0604020202020204" pitchFamily="34" charset="0"/>
                    <a:cs typeface="Arial" panose="020B0604020202020204" pitchFamily="34" charset="0"/>
                  </a:rPr>
                  <a:t> for the corresponding mean given an electrical repair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𝑥</m:t>
                        </m:r>
                      </m:e>
                      <m:sub>
                        <m:r>
                          <a:rPr lang="en-US" sz="2000" i="1">
                            <a:latin typeface="Cambria Math" panose="02040503050406030204" pitchFamily="18" charset="0"/>
                            <a:cs typeface="Arial" panose="020B0604020202020204" pitchFamily="34" charset="0"/>
                          </a:rPr>
                          <m:t>2</m:t>
                        </m:r>
                      </m:sub>
                    </m:sSub>
                    <m:r>
                      <a:rPr lang="en-US" sz="2000" i="1">
                        <a:latin typeface="Cambria Math" panose="02040503050406030204" pitchFamily="18" charset="0"/>
                        <a:cs typeface="Arial" panose="020B0604020202020204" pitchFamily="34" charset="0"/>
                      </a:rPr>
                      <m:t>=1</m:t>
                    </m:r>
                  </m:oMath>
                </a14:m>
                <a:r>
                  <a:rPr lang="en-US" sz="2000" dirty="0">
                    <a:latin typeface="Arial" panose="020B0604020202020204" pitchFamily="34" charset="0"/>
                    <a:cs typeface="Arial" panose="020B0604020202020204" pitchFamily="34" charset="0"/>
                  </a:rPr>
                  <a:t>).</a:t>
                </a:r>
              </a:p>
              <a:p>
                <a:pPr marL="914400">
                  <a:spcBef>
                    <a:spcPts val="600"/>
                  </a:spcBef>
                  <a:spcAft>
                    <a:spcPts val="600"/>
                  </a:spcAft>
                </a:pPr>
                <a14:m>
                  <m:oMath xmlns:m="http://schemas.openxmlformats.org/officeDocument/2006/math">
                    <m:r>
                      <a:rPr lang="en-US" sz="2000" i="1" dirty="0" smtClean="0">
                        <a:latin typeface="Cambria Math" panose="02040503050406030204" pitchFamily="18" charset="0"/>
                        <a:cs typeface="Arial" panose="020B0604020202020204" pitchFamily="34" charset="0"/>
                      </a:rPr>
                      <m:t>𝐸</m:t>
                    </m:r>
                    <m:d>
                      <m:dPr>
                        <m:sepChr m:val="∣"/>
                        <m:ctrlPr>
                          <a:rPr lang="en-US" sz="2000" i="1" dirty="0" smtClean="0">
                            <a:latin typeface="Cambria Math" panose="02040503050406030204" pitchFamily="18" charset="0"/>
                            <a:cs typeface="Arial" panose="020B0604020202020204" pitchFamily="34" charset="0"/>
                          </a:rPr>
                        </m:ctrlPr>
                      </m:dPr>
                      <m:e>
                        <m:r>
                          <a:rPr lang="en-US" sz="2000" i="1" dirty="0" err="1" smtClean="0">
                            <a:latin typeface="Cambria Math" panose="02040503050406030204" pitchFamily="18" charset="0"/>
                            <a:cs typeface="Arial" panose="020B0604020202020204" pitchFamily="34" charset="0"/>
                          </a:rPr>
                          <m:t>𝑦</m:t>
                        </m:r>
                      </m:e>
                      <m:e>
                        <m:r>
                          <m:rPr>
                            <m:nor/>
                          </m:rPr>
                          <a:rPr lang="en-US" sz="2000" b="0" i="0" smtClean="0">
                            <a:latin typeface="Cambria Math" panose="02040503050406030204" pitchFamily="18" charset="0"/>
                            <a:cs typeface="Arial" panose="020B0604020202020204" pitchFamily="34" charset="0"/>
                          </a:rPr>
                          <m:t>mechanical</m:t>
                        </m:r>
                      </m:e>
                    </m:d>
                    <m:r>
                      <a:rPr lang="en-US" sz="2000" b="0" i="1" dirty="0"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0</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𝑥</m:t>
                        </m:r>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cs typeface="Arial" panose="020B0604020202020204" pitchFamily="34" charset="0"/>
                          </a:rPr>
                          <m:t>0</m:t>
                        </m:r>
                      </m:e>
                    </m:d>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0</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𝑥</m:t>
                        </m:r>
                      </m:e>
                      <m:sub>
                        <m:r>
                          <a:rPr lang="en-US" sz="2000" i="1">
                            <a:latin typeface="Cambria Math" panose="02040503050406030204" pitchFamily="18" charset="0"/>
                            <a:cs typeface="Arial" panose="020B0604020202020204" pitchFamily="34" charset="0"/>
                          </a:rPr>
                          <m:t>1</m:t>
                        </m:r>
                      </m:sub>
                    </m:sSub>
                  </m:oMath>
                </a14:m>
                <a:r>
                  <a:rPr lang="en-US" sz="2000" dirty="0">
                    <a:latin typeface="Arial" panose="020B0604020202020204" pitchFamily="34" charset="0"/>
                    <a:cs typeface="Arial" panose="020B0604020202020204" pitchFamily="34" charset="0"/>
                  </a:rPr>
                  <a:t> </a:t>
                </a:r>
              </a:p>
              <a:p>
                <a:pPr marL="914400">
                  <a:spcBef>
                    <a:spcPts val="600"/>
                  </a:spcBef>
                  <a:spcAft>
                    <a:spcPts val="600"/>
                  </a:spcAft>
                </a:pPr>
                <a14:m>
                  <m:oMath xmlns:m="http://schemas.openxmlformats.org/officeDocument/2006/math">
                    <m:r>
                      <a:rPr lang="en-US" sz="2000" i="1" dirty="0" smtClean="0">
                        <a:latin typeface="Cambria Math" panose="02040503050406030204" pitchFamily="18" charset="0"/>
                        <a:cs typeface="Arial" panose="020B0604020202020204" pitchFamily="34" charset="0"/>
                      </a:rPr>
                      <m:t>𝐸</m:t>
                    </m:r>
                    <m:d>
                      <m:dPr>
                        <m:sepChr m:val="∣"/>
                        <m:ctrlPr>
                          <a:rPr lang="en-US" sz="2000" i="1" dirty="0" smtClean="0">
                            <a:latin typeface="Cambria Math" panose="02040503050406030204" pitchFamily="18" charset="0"/>
                            <a:cs typeface="Arial" panose="020B0604020202020204" pitchFamily="34" charset="0"/>
                          </a:rPr>
                        </m:ctrlPr>
                      </m:dPr>
                      <m:e>
                        <m:r>
                          <a:rPr lang="en-US" sz="2000" i="1" dirty="0" err="1" smtClean="0">
                            <a:latin typeface="Cambria Math" panose="02040503050406030204" pitchFamily="18" charset="0"/>
                            <a:cs typeface="Arial" panose="020B0604020202020204" pitchFamily="34" charset="0"/>
                          </a:rPr>
                          <m:t>𝑦</m:t>
                        </m:r>
                      </m:e>
                      <m:e>
                        <m:r>
                          <m:rPr>
                            <m:nor/>
                          </m:rPr>
                          <a:rPr lang="en-US" sz="2000" b="0" i="0" smtClean="0">
                            <a:latin typeface="Cambria Math" panose="02040503050406030204" pitchFamily="18" charset="0"/>
                            <a:cs typeface="Arial" panose="020B0604020202020204" pitchFamily="34" charset="0"/>
                          </a:rPr>
                          <m:t>electrical</m:t>
                        </m:r>
                      </m:e>
                    </m:d>
                    <m:r>
                      <a:rPr lang="en-US" sz="2000" b="0" i="1" dirty="0"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0</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𝑥</m:t>
                        </m:r>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e>
                    </m:d>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0</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𝑥</m:t>
                        </m:r>
                      </m:e>
                      <m:sub>
                        <m:r>
                          <a:rPr lang="en-US" sz="2000" i="1">
                            <a:latin typeface="Cambria Math" panose="02040503050406030204" pitchFamily="18" charset="0"/>
                            <a:cs typeface="Arial" panose="020B0604020202020204" pitchFamily="34"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2</m:t>
                        </m:r>
                      </m:sub>
                    </m:sSub>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0</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2</m:t>
                            </m:r>
                          </m:sub>
                        </m:sSub>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𝑥</m:t>
                        </m:r>
                      </m:e>
                      <m:sub>
                        <m:r>
                          <a:rPr lang="en-US" sz="2000" i="1">
                            <a:latin typeface="Cambria Math" panose="02040503050406030204" pitchFamily="18" charset="0"/>
                            <a:cs typeface="Arial" panose="020B0604020202020204" pitchFamily="34" charset="0"/>
                          </a:rPr>
                          <m:t>1</m:t>
                        </m:r>
                      </m:sub>
                    </m:sSub>
                  </m:oMath>
                </a14:m>
                <a:r>
                  <a:rPr lang="en-US" sz="2000" dirty="0">
                    <a:latin typeface="Arial" panose="020B0604020202020204" pitchFamily="34" charset="0"/>
                    <a:cs typeface="Arial" panose="020B0604020202020204" pitchFamily="34" charset="0"/>
                  </a:rPr>
                  <a:t> </a:t>
                </a:r>
              </a:p>
              <a:p>
                <a:pPr>
                  <a:spcBef>
                    <a:spcPts val="600"/>
                  </a:spcBef>
                  <a:spcAft>
                    <a:spcPts val="0"/>
                  </a:spcAft>
                </a:pPr>
                <a:r>
                  <a:rPr lang="en-US" sz="2000" dirty="0">
                    <a:latin typeface="Arial" panose="020B0604020202020204" pitchFamily="34" charset="0"/>
                    <a:cs typeface="Arial" panose="020B0604020202020204" pitchFamily="34" charset="0"/>
                  </a:rPr>
                  <a:t>The slope of both equations is </a:t>
                </a:r>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oMath>
                </a14:m>
                <a:r>
                  <a:rPr lang="en-US" sz="2000" dirty="0">
                    <a:latin typeface="Arial" panose="020B0604020202020204" pitchFamily="34" charset="0"/>
                    <a:cs typeface="Arial" panose="020B0604020202020204" pitchFamily="34" charset="0"/>
                  </a:rPr>
                  <a:t>, but the 𝑦-intercept is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0</m:t>
                        </m:r>
                      </m:sub>
                    </m:sSub>
                  </m:oMath>
                </a14:m>
                <a:r>
                  <a:rPr lang="en-US" sz="2000" dirty="0">
                    <a:latin typeface="Arial" panose="020B0604020202020204" pitchFamily="34" charset="0"/>
                    <a:cs typeface="Arial" panose="020B0604020202020204" pitchFamily="34" charset="0"/>
                  </a:rPr>
                  <a:t> for </a:t>
                </a:r>
                <a14:m>
                  <m:oMath xmlns:m="http://schemas.openxmlformats.org/officeDocument/2006/math">
                    <m:r>
                      <a:rPr lang="en-US" sz="2000" i="1" dirty="0">
                        <a:latin typeface="Cambria Math" panose="02040503050406030204" pitchFamily="18" charset="0"/>
                        <a:cs typeface="Arial" panose="020B0604020202020204" pitchFamily="34" charset="0"/>
                      </a:rPr>
                      <m:t>𝐸</m:t>
                    </m:r>
                    <m:d>
                      <m:dPr>
                        <m:sepChr m:val="∣"/>
                        <m:ctrlPr>
                          <a:rPr lang="en-US" sz="2000" i="1" dirty="0">
                            <a:latin typeface="Cambria Math" panose="02040503050406030204" pitchFamily="18" charset="0"/>
                            <a:cs typeface="Arial" panose="020B0604020202020204" pitchFamily="34" charset="0"/>
                          </a:rPr>
                        </m:ctrlPr>
                      </m:dPr>
                      <m:e>
                        <m:r>
                          <a:rPr lang="en-US" sz="2000" i="1" dirty="0" err="1">
                            <a:latin typeface="Cambria Math" panose="02040503050406030204" pitchFamily="18" charset="0"/>
                            <a:cs typeface="Arial" panose="020B0604020202020204" pitchFamily="34" charset="0"/>
                          </a:rPr>
                          <m:t>𝑦</m:t>
                        </m:r>
                      </m:e>
                      <m:e>
                        <m:r>
                          <m:rPr>
                            <m:nor/>
                          </m:rPr>
                          <a:rPr lang="en-US" sz="2000">
                            <a:latin typeface="Cambria Math" panose="02040503050406030204" pitchFamily="18" charset="0"/>
                            <a:cs typeface="Arial" panose="020B0604020202020204" pitchFamily="34" charset="0"/>
                          </a:rPr>
                          <m:t>mechanical</m:t>
                        </m:r>
                      </m:e>
                    </m:d>
                  </m:oMath>
                </a14:m>
                <a:r>
                  <a:rPr lang="en-US" sz="2000" dirty="0">
                    <a:latin typeface="Arial" panose="020B0604020202020204" pitchFamily="34" charset="0"/>
                    <a:cs typeface="Arial" panose="020B0604020202020204" pitchFamily="34" charset="0"/>
                  </a:rPr>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0</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2</m:t>
                        </m:r>
                      </m:sub>
                    </m:sSub>
                  </m:oMath>
                </a14:m>
                <a:r>
                  <a:rPr lang="en-US" sz="2000" dirty="0">
                    <a:latin typeface="Arial" panose="020B0604020202020204" pitchFamily="34" charset="0"/>
                    <a:cs typeface="Arial" panose="020B0604020202020204" pitchFamily="34" charset="0"/>
                  </a:rPr>
                  <a:t> for </a:t>
                </a:r>
                <a14:m>
                  <m:oMath xmlns:m="http://schemas.openxmlformats.org/officeDocument/2006/math">
                    <m:r>
                      <a:rPr lang="en-US" sz="2000" i="1" dirty="0">
                        <a:latin typeface="Cambria Math" panose="02040503050406030204" pitchFamily="18" charset="0"/>
                        <a:cs typeface="Arial" panose="020B0604020202020204" pitchFamily="34" charset="0"/>
                      </a:rPr>
                      <m:t>𝐸</m:t>
                    </m:r>
                    <m:d>
                      <m:dPr>
                        <m:sepChr m:val="∣"/>
                        <m:ctrlPr>
                          <a:rPr lang="en-US" sz="2000" i="1" dirty="0">
                            <a:latin typeface="Cambria Math" panose="02040503050406030204" pitchFamily="18" charset="0"/>
                            <a:cs typeface="Arial" panose="020B0604020202020204" pitchFamily="34" charset="0"/>
                          </a:rPr>
                        </m:ctrlPr>
                      </m:dPr>
                      <m:e>
                        <m:r>
                          <a:rPr lang="en-US" sz="2000" i="1" dirty="0" err="1">
                            <a:latin typeface="Cambria Math" panose="02040503050406030204" pitchFamily="18" charset="0"/>
                            <a:cs typeface="Arial" panose="020B0604020202020204" pitchFamily="34" charset="0"/>
                          </a:rPr>
                          <m:t>𝑦</m:t>
                        </m:r>
                      </m:e>
                      <m:e>
                        <m:r>
                          <m:rPr>
                            <m:nor/>
                          </m:rPr>
                          <a:rPr lang="en-US" sz="2000" b="0" i="0" smtClean="0">
                            <a:latin typeface="Cambria Math" panose="02040503050406030204" pitchFamily="18" charset="0"/>
                            <a:cs typeface="Arial" panose="020B0604020202020204" pitchFamily="34" charset="0"/>
                          </a:rPr>
                          <m:t>electrical</m:t>
                        </m:r>
                      </m:e>
                    </m:d>
                  </m:oMath>
                </a14:m>
                <a:r>
                  <a:rPr lang="en-US" sz="2000" dirty="0">
                    <a:latin typeface="Arial" panose="020B0604020202020204" pitchFamily="34" charset="0"/>
                    <a:cs typeface="Arial" panose="020B0604020202020204" pitchFamily="34" charset="0"/>
                  </a:rPr>
                  <a:t>. </a:t>
                </a:r>
              </a:p>
              <a:p>
                <a:pPr>
                  <a:spcBef>
                    <a:spcPts val="600"/>
                  </a:spcBef>
                  <a:spcAft>
                    <a:spcPts val="0"/>
                  </a:spcAft>
                </a:pP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2</m:t>
                        </m:r>
                      </m:sub>
                    </m:sSub>
                  </m:oMath>
                </a14:m>
                <a:r>
                  <a:rPr lang="en-US" sz="2000" dirty="0">
                    <a:latin typeface="Arial" panose="020B0604020202020204" pitchFamily="34" charset="0"/>
                    <a:cs typeface="Arial" panose="020B0604020202020204" pitchFamily="34" charset="0"/>
                  </a:rPr>
                  <a:t> indicates the difference in mean repair time between a mechanical and an electrical service, the two levels of the independent categorical variable type of repair.</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05131" y="1240643"/>
                <a:ext cx="10781737" cy="4515116"/>
              </a:xfrm>
              <a:blipFill>
                <a:blip r:embed="rId3"/>
                <a:stretch>
                  <a:fillRect l="-1471" t="-1622" r="-1414" b="-1486"/>
                </a:stretch>
              </a:blipFill>
            </p:spPr>
            <p:txBody>
              <a:bodyPr/>
              <a:lstStyle/>
              <a:p>
                <a:r>
                  <a:rPr lang="en-US">
                    <a:noFill/>
                  </a:rPr>
                  <a:t> </a:t>
                </a:r>
              </a:p>
            </p:txBody>
          </p:sp>
        </mc:Fallback>
      </mc:AlternateContent>
    </p:spTree>
    <p:extLst>
      <p:ext uri="{BB962C8B-B14F-4D97-AF65-F5344CB8AC3E}">
        <p14:creationId xmlns:p14="http://schemas.microsoft.com/office/powerpoint/2010/main" val="14851824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E4728-6CC3-0571-40A6-356CC92C7318}"/>
              </a:ext>
            </a:extLst>
          </p:cNvPr>
          <p:cNvSpPr>
            <a:spLocks noGrp="1"/>
          </p:cNvSpPr>
          <p:nvPr>
            <p:ph type="title"/>
          </p:nvPr>
        </p:nvSpPr>
        <p:spPr>
          <a:xfrm>
            <a:off x="853966" y="365125"/>
            <a:ext cx="10515600" cy="672105"/>
          </a:xfrm>
        </p:spPr>
        <p:txBody>
          <a:bodyPr/>
          <a:lstStyle/>
          <a:p>
            <a:r>
              <a:rPr lang="en-US" sz="3200" dirty="0"/>
              <a:t>15.7 Interpreting the Parameters in the Johnson Filtration Example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D85F24F-2459-8D04-EE3F-0A53FCDF813A}"/>
                  </a:ext>
                </a:extLst>
              </p:cNvPr>
              <p:cNvSpPr>
                <a:spLocks noGrp="1"/>
              </p:cNvSpPr>
              <p:nvPr>
                <p:ph type="body" sz="quarter" idx="15"/>
              </p:nvPr>
            </p:nvSpPr>
            <p:spPr>
              <a:xfrm>
                <a:off x="743576" y="1542949"/>
                <a:ext cx="10610223" cy="672106"/>
              </a:xfrm>
            </p:spPr>
            <p:txBody>
              <a:bodyPr/>
              <a:lstStyle/>
              <a:p>
                <a:pPr>
                  <a:spcAft>
                    <a:spcPts val="600"/>
                  </a:spcAft>
                </a:pPr>
                <a:r>
                  <a:rPr lang="en-US" sz="2000" dirty="0"/>
                  <a:t>If </a:t>
                </a:r>
                <a14:m>
                  <m:oMath xmlns:m="http://schemas.openxmlformats.org/officeDocument/2006/math">
                    <m:sSub>
                      <m:sSubPr>
                        <m:ctrlPr>
                          <a:rPr lang="en-US" sz="2000" i="1" smtClean="0">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2</m:t>
                        </m:r>
                      </m:sub>
                    </m:sSub>
                  </m:oMath>
                </a14:m>
                <a:r>
                  <a:rPr lang="en-US" sz="2000" dirty="0"/>
                  <a:t> is positive, the mean repair time for an electrical repair will be greater than that for a mechanical repair; the opposite will be true if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2</m:t>
                        </m:r>
                      </m:sub>
                    </m:sSub>
                  </m:oMath>
                </a14:m>
                <a:r>
                  <a:rPr lang="en-US" sz="2000" dirty="0"/>
                  <a:t> is negative. If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2</m:t>
                        </m:r>
                      </m:sub>
                    </m:sSub>
                    <m:r>
                      <a:rPr lang="en-US" sz="2000" b="0" i="1" smtClean="0">
                        <a:latin typeface="Cambria Math" panose="02040503050406030204" pitchFamily="18" charset="0"/>
                      </a:rPr>
                      <m:t>=0</m:t>
                    </m:r>
                  </m:oMath>
                </a14:m>
                <a:r>
                  <a:rPr lang="en-US" sz="2000" dirty="0"/>
                  <a:t>, there is no difference.</a:t>
                </a:r>
              </a:p>
            </p:txBody>
          </p:sp>
        </mc:Choice>
        <mc:Fallback xmlns="">
          <p:sp>
            <p:nvSpPr>
              <p:cNvPr id="3" name="Text Placeholder 2">
                <a:extLst>
                  <a:ext uri="{FF2B5EF4-FFF2-40B4-BE49-F238E27FC236}">
                    <a16:creationId xmlns:a16="http://schemas.microsoft.com/office/drawing/2014/main" id="{0D85F24F-2459-8D04-EE3F-0A53FCDF813A}"/>
                  </a:ext>
                </a:extLst>
              </p:cNvPr>
              <p:cNvSpPr>
                <a:spLocks noGrp="1" noRot="1" noChangeAspect="1" noMove="1" noResize="1" noEditPoints="1" noAdjustHandles="1" noChangeArrowheads="1" noChangeShapeType="1" noTextEdit="1"/>
              </p:cNvSpPr>
              <p:nvPr>
                <p:ph type="body" sz="quarter" idx="15"/>
              </p:nvPr>
            </p:nvSpPr>
            <p:spPr>
              <a:xfrm>
                <a:off x="743576" y="1542949"/>
                <a:ext cx="10610223" cy="672106"/>
              </a:xfrm>
              <a:blipFill>
                <a:blip r:embed="rId4"/>
                <a:stretch>
                  <a:fillRect l="-1494" t="-10909" b="-154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5F526CFF-4692-921F-6B5B-3162CDB65E29}"/>
                  </a:ext>
                </a:extLst>
              </p:cNvPr>
              <p:cNvSpPr>
                <a:spLocks noGrp="1"/>
              </p:cNvSpPr>
              <p:nvPr>
                <p:ph type="body" sz="quarter" idx="17"/>
              </p:nvPr>
            </p:nvSpPr>
            <p:spPr>
              <a:xfrm>
                <a:off x="743576" y="2215055"/>
                <a:ext cx="5562631" cy="3469819"/>
              </a:xfrm>
            </p:spPr>
            <p:txBody>
              <a:bodyPr/>
              <a:lstStyle/>
              <a:p>
                <a:r>
                  <a:rPr lang="en-US" sz="2000" dirty="0">
                    <a:solidFill>
                      <a:srgbClr val="000000"/>
                    </a:solidFill>
                  </a:rPr>
                  <a:t>Given, </a:t>
                </a:r>
                <a14:m>
                  <m:oMath xmlns:m="http://schemas.openxmlformats.org/officeDocument/2006/math">
                    <m:sSub>
                      <m:sSubPr>
                        <m:ctrlPr>
                          <a:rPr lang="en-US" sz="200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𝑏</m:t>
                        </m:r>
                      </m:e>
                      <m:sub>
                        <m:r>
                          <a:rPr lang="en-US" sz="2000" b="0" i="1" smtClean="0">
                            <a:solidFill>
                              <a:srgbClr val="000000"/>
                            </a:solidFill>
                            <a:latin typeface="Cambria Math" panose="02040503050406030204" pitchFamily="18" charset="0"/>
                          </a:rPr>
                          <m:t>0</m:t>
                        </m:r>
                      </m:sub>
                    </m:sSub>
                    <m:r>
                      <a:rPr lang="en-US" sz="2000" b="0" i="1" smtClean="0">
                        <a:solidFill>
                          <a:srgbClr val="000000"/>
                        </a:solidFill>
                        <a:latin typeface="Cambria Math" panose="02040503050406030204" pitchFamily="18" charset="0"/>
                      </a:rPr>
                      <m:t>=0.9305</m:t>
                    </m:r>
                  </m:oMath>
                </a14:m>
                <a:r>
                  <a:rPr lang="en-US" sz="2000" dirty="0">
                    <a:solidFill>
                      <a:srgbClr val="000000"/>
                    </a:solidFill>
                  </a:rPr>
                  <a:t> and </a:t>
                </a:r>
                <a14:m>
                  <m:oMath xmlns:m="http://schemas.openxmlformats.org/officeDocument/2006/math">
                    <m:sSub>
                      <m:sSubPr>
                        <m:ctrlPr>
                          <a:rPr lang="en-US" sz="2000" i="1">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𝑏</m:t>
                        </m:r>
                      </m:e>
                      <m:sub>
                        <m:r>
                          <a:rPr lang="en-US" sz="2000" i="1">
                            <a:solidFill>
                              <a:srgbClr val="000000"/>
                            </a:solidFill>
                            <a:latin typeface="Cambria Math" panose="02040503050406030204" pitchFamily="18" charset="0"/>
                          </a:rPr>
                          <m:t>2</m:t>
                        </m:r>
                      </m:sub>
                    </m:sSub>
                    <m:r>
                      <a:rPr lang="en-US" sz="2000" b="0" i="1" smtClean="0">
                        <a:solidFill>
                          <a:srgbClr val="000000"/>
                        </a:solidFill>
                        <a:latin typeface="Cambria Math" panose="02040503050406030204" pitchFamily="18" charset="0"/>
                      </a:rPr>
                      <m:t>=1.2627</m:t>
                    </m:r>
                  </m:oMath>
                </a14:m>
                <a:r>
                  <a:rPr lang="en-US" sz="2000" dirty="0">
                    <a:solidFill>
                      <a:srgbClr val="000000"/>
                    </a:solidFill>
                  </a:rPr>
                  <a:t>, we have</a:t>
                </a:r>
              </a:p>
              <a:p>
                <a:r>
                  <a:rPr lang="en-US" sz="2000" dirty="0">
                    <a:solidFill>
                      <a:srgbClr val="000000"/>
                    </a:solidFill>
                  </a:rPr>
                  <a:t>For mechanical repairs,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i="1">
                            <a:solidFill>
                              <a:srgbClr val="000000"/>
                            </a:solidFill>
                            <a:latin typeface="Cambria Math" panose="02040503050406030204" pitchFamily="18" charset="0"/>
                            <a:cs typeface="Arial" panose="020B0604020202020204" pitchFamily="34" charset="0"/>
                          </a:rPr>
                          <m:t>𝑥</m:t>
                        </m:r>
                      </m:e>
                      <m:sub>
                        <m:r>
                          <a:rPr lang="en-US" sz="2000" i="1">
                            <a:solidFill>
                              <a:srgbClr val="000000"/>
                            </a:solidFill>
                            <a:latin typeface="Cambria Math" panose="02040503050406030204" pitchFamily="18" charset="0"/>
                            <a:cs typeface="Arial" panose="020B0604020202020204" pitchFamily="34" charset="0"/>
                          </a:rPr>
                          <m:t>2</m:t>
                        </m:r>
                      </m:sub>
                    </m:sSub>
                    <m:r>
                      <a:rPr lang="en-US" sz="2000" i="1">
                        <a:solidFill>
                          <a:srgbClr val="000000"/>
                        </a:solidFill>
                        <a:latin typeface="Cambria Math" panose="02040503050406030204" pitchFamily="18" charset="0"/>
                        <a:cs typeface="Arial" panose="020B0604020202020204" pitchFamily="34" charset="0"/>
                      </a:rPr>
                      <m:t>=0</m:t>
                    </m:r>
                  </m:oMath>
                </a14:m>
                <a:r>
                  <a:rPr lang="en-US" sz="2000" dirty="0">
                    <a:solidFill>
                      <a:srgbClr val="000000"/>
                    </a:solidFill>
                  </a:rPr>
                  <a:t>, and</a:t>
                </a:r>
              </a:p>
              <a:p>
                <a:pPr marL="457200"/>
                <a14:m>
                  <m:oMath xmlns:m="http://schemas.openxmlformats.org/officeDocument/2006/math">
                    <m:acc>
                      <m:accPr>
                        <m:chr m:val="̂"/>
                        <m:ctrlPr>
                          <a:rPr lang="en-US" sz="2000" i="1" smtClean="0">
                            <a:solidFill>
                              <a:srgbClr val="000000"/>
                            </a:solidFill>
                            <a:latin typeface="Cambria Math" panose="02040503050406030204" pitchFamily="18" charset="0"/>
                          </a:rPr>
                        </m:ctrlPr>
                      </m:accPr>
                      <m:e>
                        <m:r>
                          <a:rPr lang="en-US" sz="2000" b="0" i="1" smtClean="0">
                            <a:solidFill>
                              <a:srgbClr val="000000"/>
                            </a:solidFill>
                            <a:latin typeface="Cambria Math" panose="02040503050406030204" pitchFamily="18" charset="0"/>
                          </a:rPr>
                          <m:t>𝑦</m:t>
                        </m:r>
                      </m:e>
                    </m:acc>
                    <m:r>
                      <a:rPr lang="en-US" sz="2000" b="0" i="1" smtClean="0">
                        <a:solidFill>
                          <a:srgbClr val="000000"/>
                        </a:solidFill>
                        <a:latin typeface="Cambria Math" panose="02040503050406030204" pitchFamily="18" charset="0"/>
                      </a:rPr>
                      <m:t>=0.9305+0.3876</m:t>
                    </m:r>
                    <m:sSub>
                      <m:sSubPr>
                        <m:ctrlPr>
                          <a:rPr lang="en-US" sz="2000" i="1">
                            <a:solidFill>
                              <a:srgbClr val="000000"/>
                            </a:solidFill>
                            <a:latin typeface="Cambria Math" panose="02040503050406030204" pitchFamily="18" charset="0"/>
                            <a:cs typeface="Arial" panose="020B0604020202020204" pitchFamily="34" charset="0"/>
                          </a:rPr>
                        </m:ctrlPr>
                      </m:sSubPr>
                      <m:e>
                        <m:r>
                          <a:rPr lang="en-US" sz="2000" i="1">
                            <a:solidFill>
                              <a:srgbClr val="000000"/>
                            </a:solidFill>
                            <a:latin typeface="Cambria Math" panose="02040503050406030204" pitchFamily="18" charset="0"/>
                            <a:cs typeface="Arial" panose="020B0604020202020204" pitchFamily="34" charset="0"/>
                          </a:rPr>
                          <m:t>𝑥</m:t>
                        </m:r>
                      </m:e>
                      <m:sub>
                        <m:r>
                          <a:rPr lang="en-US" sz="2000" b="0" i="1" smtClean="0">
                            <a:solidFill>
                              <a:srgbClr val="000000"/>
                            </a:solidFill>
                            <a:latin typeface="Cambria Math" panose="02040503050406030204" pitchFamily="18" charset="0"/>
                            <a:cs typeface="Arial" panose="020B0604020202020204" pitchFamily="34" charset="0"/>
                          </a:rPr>
                          <m:t>1</m:t>
                        </m:r>
                      </m:sub>
                    </m:sSub>
                  </m:oMath>
                </a14:m>
                <a:r>
                  <a:rPr lang="en-US" sz="2000" dirty="0">
                    <a:solidFill>
                      <a:srgbClr val="000000"/>
                    </a:solidFill>
                  </a:rPr>
                  <a:t> </a:t>
                </a:r>
              </a:p>
              <a:p>
                <a:pPr>
                  <a:spcAft>
                    <a:spcPts val="600"/>
                  </a:spcAft>
                </a:pPr>
                <a:r>
                  <a:rPr lang="en-US" sz="2000" dirty="0">
                    <a:solidFill>
                      <a:srgbClr val="000000"/>
                    </a:solidFill>
                  </a:rPr>
                  <a:t>For electrical repairs, </a:t>
                </a:r>
                <a14:m>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i="1">
                            <a:solidFill>
                              <a:srgbClr val="000000"/>
                            </a:solidFill>
                            <a:latin typeface="Cambria Math" panose="02040503050406030204" pitchFamily="18" charset="0"/>
                            <a:cs typeface="Arial" panose="020B0604020202020204" pitchFamily="34" charset="0"/>
                          </a:rPr>
                          <m:t>𝑥</m:t>
                        </m:r>
                      </m:e>
                      <m:sub>
                        <m:r>
                          <a:rPr lang="en-US" sz="2000" i="1">
                            <a:solidFill>
                              <a:srgbClr val="000000"/>
                            </a:solidFill>
                            <a:latin typeface="Cambria Math" panose="02040503050406030204" pitchFamily="18" charset="0"/>
                            <a:cs typeface="Arial" panose="020B0604020202020204" pitchFamily="34" charset="0"/>
                          </a:rPr>
                          <m:t>2</m:t>
                        </m:r>
                      </m:sub>
                    </m:sSub>
                    <m:r>
                      <a:rPr lang="en-US" sz="2000" i="1">
                        <a:solidFill>
                          <a:srgbClr val="000000"/>
                        </a:solidFill>
                        <a:latin typeface="Cambria Math" panose="02040503050406030204" pitchFamily="18" charset="0"/>
                        <a:cs typeface="Arial" panose="020B0604020202020204" pitchFamily="34" charset="0"/>
                      </a:rPr>
                      <m:t>=</m:t>
                    </m:r>
                    <m:r>
                      <a:rPr lang="en-US" sz="2000" b="0" i="1" smtClean="0">
                        <a:solidFill>
                          <a:srgbClr val="000000"/>
                        </a:solidFill>
                        <a:latin typeface="Cambria Math" panose="02040503050406030204" pitchFamily="18" charset="0"/>
                        <a:cs typeface="Arial" panose="020B0604020202020204" pitchFamily="34" charset="0"/>
                      </a:rPr>
                      <m:t>1</m:t>
                    </m:r>
                  </m:oMath>
                </a14:m>
                <a:r>
                  <a:rPr lang="en-US" sz="2000" dirty="0">
                    <a:solidFill>
                      <a:srgbClr val="000000"/>
                    </a:solidFill>
                  </a:rPr>
                  <a:t>, and</a:t>
                </a:r>
              </a:p>
              <a:p>
                <a:pPr marL="457200">
                  <a:spcAft>
                    <a:spcPts val="0"/>
                  </a:spcAft>
                </a:pPr>
                <a14:m>
                  <m:oMathPara xmlns:m="http://schemas.openxmlformats.org/officeDocument/2006/math">
                    <m:oMathParaPr>
                      <m:jc m:val="left"/>
                    </m:oMathParaPr>
                    <m:oMath xmlns:m="http://schemas.openxmlformats.org/officeDocument/2006/math">
                      <m:acc>
                        <m:accPr>
                          <m:chr m:val="̂"/>
                          <m:ctrlPr>
                            <a:rPr lang="en-US" sz="2000" i="1" smtClean="0">
                              <a:solidFill>
                                <a:srgbClr val="000000"/>
                              </a:solidFill>
                              <a:latin typeface="Cambria Math" panose="02040503050406030204" pitchFamily="18" charset="0"/>
                            </a:rPr>
                          </m:ctrlPr>
                        </m:accPr>
                        <m:e>
                          <m:r>
                            <a:rPr lang="en-US" sz="2000" b="0" i="1" smtClean="0">
                              <a:solidFill>
                                <a:srgbClr val="000000"/>
                              </a:solidFill>
                              <a:latin typeface="Cambria Math" panose="02040503050406030204" pitchFamily="18" charset="0"/>
                            </a:rPr>
                            <m:t>𝑦</m:t>
                          </m:r>
                        </m:e>
                      </m:acc>
                      <m:r>
                        <a:rPr lang="en-US" sz="2000" b="0" i="1" smtClean="0">
                          <a:solidFill>
                            <a:srgbClr val="000000"/>
                          </a:solidFill>
                          <a:latin typeface="Cambria Math" panose="02040503050406030204" pitchFamily="18" charset="0"/>
                        </a:rPr>
                        <m:t> =</m:t>
                      </m:r>
                      <m:d>
                        <m:dPr>
                          <m:ctrlPr>
                            <a:rPr lang="en-US" sz="2000" b="0" i="1" smtClean="0">
                              <a:solidFill>
                                <a:srgbClr val="000000"/>
                              </a:solidFill>
                              <a:latin typeface="Cambria Math" panose="02040503050406030204" pitchFamily="18" charset="0"/>
                            </a:rPr>
                          </m:ctrlPr>
                        </m:dPr>
                        <m:e>
                          <m:r>
                            <a:rPr lang="en-US" sz="2000" b="0" i="1" smtClean="0">
                              <a:solidFill>
                                <a:srgbClr val="000000"/>
                              </a:solidFill>
                              <a:latin typeface="Cambria Math" panose="02040503050406030204" pitchFamily="18" charset="0"/>
                            </a:rPr>
                            <m:t>0.9305+1.2627</m:t>
                          </m:r>
                        </m:e>
                      </m:d>
                      <m:r>
                        <a:rPr lang="en-US" sz="2000" b="0" i="1" smtClean="0">
                          <a:solidFill>
                            <a:srgbClr val="000000"/>
                          </a:solidFill>
                          <a:latin typeface="Cambria Math" panose="02040503050406030204" pitchFamily="18" charset="0"/>
                        </a:rPr>
                        <m:t>+0.3876</m:t>
                      </m:r>
                      <m:sSub>
                        <m:sSubPr>
                          <m:ctrlPr>
                            <a:rPr lang="en-US" sz="2000" i="1">
                              <a:solidFill>
                                <a:srgbClr val="000000"/>
                              </a:solidFill>
                              <a:latin typeface="Cambria Math" panose="02040503050406030204" pitchFamily="18" charset="0"/>
                              <a:cs typeface="Arial" panose="020B0604020202020204" pitchFamily="34" charset="0"/>
                            </a:rPr>
                          </m:ctrlPr>
                        </m:sSubPr>
                        <m:e>
                          <m:r>
                            <a:rPr lang="en-US" sz="2000" i="1">
                              <a:solidFill>
                                <a:srgbClr val="000000"/>
                              </a:solidFill>
                              <a:latin typeface="Cambria Math" panose="02040503050406030204" pitchFamily="18" charset="0"/>
                              <a:cs typeface="Arial" panose="020B0604020202020204" pitchFamily="34" charset="0"/>
                            </a:rPr>
                            <m:t>𝑥</m:t>
                          </m:r>
                        </m:e>
                        <m:sub>
                          <m:r>
                            <a:rPr lang="en-US" sz="2000" b="0" i="1" smtClean="0">
                              <a:solidFill>
                                <a:srgbClr val="000000"/>
                              </a:solidFill>
                              <a:latin typeface="Cambria Math" panose="02040503050406030204" pitchFamily="18" charset="0"/>
                              <a:cs typeface="Arial" panose="020B0604020202020204" pitchFamily="34" charset="0"/>
                            </a:rPr>
                            <m:t>1</m:t>
                          </m:r>
                        </m:sub>
                      </m:sSub>
                    </m:oMath>
                  </m:oMathPara>
                </a14:m>
                <a:endParaRPr lang="en-US" sz="2000" b="0" i="1" dirty="0">
                  <a:solidFill>
                    <a:srgbClr val="000000"/>
                  </a:solidFill>
                  <a:latin typeface="Cambria Math" panose="02040503050406030204" pitchFamily="18" charset="0"/>
                  <a:cs typeface="Arial" panose="020B0604020202020204" pitchFamily="34" charset="0"/>
                </a:endParaRPr>
              </a:p>
              <a:p>
                <a:pPr marL="741363">
                  <a:spcBef>
                    <a:spcPts val="0"/>
                  </a:spcBef>
                  <a:spcAft>
                    <a:spcPts val="0"/>
                  </a:spcAft>
                </a:pPr>
                <a14:m>
                  <m:oMath xmlns:m="http://schemas.openxmlformats.org/officeDocument/2006/math">
                    <m:r>
                      <a:rPr lang="en-US" sz="2000" b="0" i="1" smtClean="0">
                        <a:solidFill>
                          <a:srgbClr val="000000"/>
                        </a:solidFill>
                        <a:latin typeface="Cambria Math" panose="02040503050406030204" pitchFamily="18" charset="0"/>
                        <a:cs typeface="Arial" panose="020B0604020202020204" pitchFamily="34" charset="0"/>
                      </a:rPr>
                      <m:t>=2.1932+0.3876</m:t>
                    </m:r>
                    <m:sSub>
                      <m:sSubPr>
                        <m:ctrlPr>
                          <a:rPr lang="en-US" sz="2000" i="1">
                            <a:solidFill>
                              <a:srgbClr val="000000"/>
                            </a:solidFill>
                            <a:latin typeface="Cambria Math" panose="02040503050406030204" pitchFamily="18" charset="0"/>
                            <a:cs typeface="Arial" panose="020B0604020202020204" pitchFamily="34" charset="0"/>
                          </a:rPr>
                        </m:ctrlPr>
                      </m:sSubPr>
                      <m:e>
                        <m:r>
                          <a:rPr lang="en-US" sz="2000" i="1">
                            <a:solidFill>
                              <a:srgbClr val="000000"/>
                            </a:solidFill>
                            <a:latin typeface="Cambria Math" panose="02040503050406030204" pitchFamily="18" charset="0"/>
                            <a:cs typeface="Arial" panose="020B0604020202020204" pitchFamily="34" charset="0"/>
                          </a:rPr>
                          <m:t>𝑥</m:t>
                        </m:r>
                      </m:e>
                      <m:sub>
                        <m:r>
                          <a:rPr lang="en-US" sz="2000" i="1">
                            <a:solidFill>
                              <a:srgbClr val="000000"/>
                            </a:solidFill>
                            <a:latin typeface="Cambria Math" panose="02040503050406030204" pitchFamily="18" charset="0"/>
                            <a:cs typeface="Arial" panose="020B0604020202020204" pitchFamily="34" charset="0"/>
                          </a:rPr>
                          <m:t>1</m:t>
                        </m:r>
                      </m:sub>
                    </m:sSub>
                  </m:oMath>
                </a14:m>
                <a:r>
                  <a:rPr lang="en-US" sz="2000" dirty="0">
                    <a:solidFill>
                      <a:srgbClr val="000000"/>
                    </a:solidFill>
                  </a:rPr>
                  <a:t> </a:t>
                </a:r>
              </a:p>
              <a:p>
                <a:r>
                  <a:rPr lang="en-US" sz="2000" dirty="0">
                    <a:solidFill>
                      <a:srgbClr val="000000"/>
                    </a:solidFill>
                  </a:rPr>
                  <a:t>The two equations form parallel lines with a </a:t>
                </a:r>
                <a:r>
                  <a:rPr lang="en-US" sz="2000" dirty="0">
                    <a:solidFill>
                      <a:srgbClr val="000000"/>
                    </a:solidFill>
                    <a:latin typeface="Arial" panose="020B0604020202020204" pitchFamily="34" charset="0"/>
                    <a:cs typeface="Arial" panose="020B0604020202020204" pitchFamily="34" charset="0"/>
                  </a:rPr>
                  <a:t>𝑦-</a:t>
                </a:r>
                <a:r>
                  <a:rPr lang="en-US" sz="2000" dirty="0">
                    <a:solidFill>
                      <a:srgbClr val="000000"/>
                    </a:solidFill>
                  </a:rPr>
                  <a:t>intercept difference equal to </a:t>
                </a:r>
                <a14:m>
                  <m:oMath xmlns:m="http://schemas.openxmlformats.org/officeDocument/2006/math">
                    <m:sSub>
                      <m:sSubPr>
                        <m:ctrlPr>
                          <a:rPr lang="en-US" sz="200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ea typeface="Cambria Math" panose="02040503050406030204" pitchFamily="18" charset="0"/>
                          </a:rPr>
                          <m:t>𝑏</m:t>
                        </m:r>
                      </m:e>
                      <m:sub>
                        <m:r>
                          <a:rPr lang="en-US" sz="2000" i="1">
                            <a:solidFill>
                              <a:srgbClr val="000000"/>
                            </a:solidFill>
                            <a:latin typeface="Cambria Math" panose="02040503050406030204" pitchFamily="18" charset="0"/>
                          </a:rPr>
                          <m:t>2</m:t>
                        </m:r>
                      </m:sub>
                    </m:sSub>
                    <m:r>
                      <a:rPr lang="en-US" sz="2000" b="0" i="1" smtClean="0">
                        <a:solidFill>
                          <a:srgbClr val="000000"/>
                        </a:solidFill>
                        <a:latin typeface="Cambria Math" panose="02040503050406030204" pitchFamily="18" charset="0"/>
                      </a:rPr>
                      <m:t>=1.2627</m:t>
                    </m:r>
                  </m:oMath>
                </a14:m>
                <a:r>
                  <a:rPr lang="en-US" sz="2000" dirty="0">
                    <a:solidFill>
                      <a:srgbClr val="000000"/>
                    </a:solidFill>
                  </a:rPr>
                  <a:t>. Thus, on average, electrical repairs require 1.263 hours longer than mechanical repairs (*see notes.)</a:t>
                </a:r>
              </a:p>
            </p:txBody>
          </p:sp>
        </mc:Choice>
        <mc:Fallback xmlns="">
          <p:sp>
            <p:nvSpPr>
              <p:cNvPr id="5" name="Text Placeholder 4">
                <a:extLst>
                  <a:ext uri="{FF2B5EF4-FFF2-40B4-BE49-F238E27FC236}">
                    <a16:creationId xmlns:a16="http://schemas.microsoft.com/office/drawing/2014/main" id="{5F526CFF-4692-921F-6B5B-3162CDB65E29}"/>
                  </a:ext>
                </a:extLst>
              </p:cNvPr>
              <p:cNvSpPr>
                <a:spLocks noGrp="1" noRot="1" noChangeAspect="1" noMove="1" noResize="1" noEditPoints="1" noAdjustHandles="1" noChangeArrowheads="1" noChangeShapeType="1" noTextEdit="1"/>
              </p:cNvSpPr>
              <p:nvPr>
                <p:ph type="body" sz="quarter" idx="17"/>
              </p:nvPr>
            </p:nvSpPr>
            <p:spPr>
              <a:xfrm>
                <a:off x="743576" y="2215055"/>
                <a:ext cx="5562631" cy="3469819"/>
              </a:xfrm>
              <a:blipFill>
                <a:blip r:embed="rId5"/>
                <a:stretch>
                  <a:fillRect l="-2851" t="-2105" r="-3399" b="-3333"/>
                </a:stretch>
              </a:blipFill>
            </p:spPr>
            <p:txBody>
              <a:bodyPr/>
              <a:lstStyle/>
              <a:p>
                <a:r>
                  <a:rPr lang="en-IN">
                    <a:noFill/>
                  </a:rPr>
                  <a:t> </a:t>
                </a:r>
              </a:p>
            </p:txBody>
          </p:sp>
        </mc:Fallback>
      </mc:AlternateContent>
      <p:pic>
        <p:nvPicPr>
          <p:cNvPr id="8" name="Picture Placeholder 7" descr="A scatter diagram with eight data points and two regression lines plots repair time versus months since last service. The horizontal axis is labeled “Months Since Last Service” and ranges from 0 to 10 with tickmarks in increments of 1. The vertical axis is labeled “Repair Time (hours)” and ranges from 0 to 5 with tickmarks in increments of 1. The coordinates of the points are E, E (2, 2.9), M (3, 1.8), E (4, 4.4), M (6, 2.9), E (6, 4.5), E (7, 4.9), E, M (8, 4.8), and M (9, 4.2). The first line, labeled “y-hat = 2.193 + 0.3876 x_1 (Electrical),” slopes upward from (0, 2.2) to (7.5, 5.05). The second line, labeled “y-hat = 0.93 + 0.3876 x_1 (Mechanical),” slopes upward from (0, 0.9) to (9.9, 4.6). All data are approximate. Text below the graph reads, M = Mechanical repair. E = Electrical repair.&#10;">
            <a:extLst>
              <a:ext uri="{FF2B5EF4-FFF2-40B4-BE49-F238E27FC236}">
                <a16:creationId xmlns:a16="http://schemas.microsoft.com/office/drawing/2014/main" id="{A23BAF74-909B-5A23-1E7A-04ED20F9362B}"/>
              </a:ext>
            </a:extLst>
          </p:cNvPr>
          <p:cNvPicPr>
            <a:picLocks noGrp="1" noChangeAspect="1"/>
          </p:cNvPicPr>
          <p:nvPr>
            <p:ph type="pic" sz="quarter" idx="16"/>
          </p:nvPr>
        </p:nvPicPr>
        <p:blipFill rotWithShape="1">
          <a:blip r:embed="rId6"/>
          <a:srcRect t="45" b="45"/>
          <a:stretch/>
        </p:blipFill>
        <p:spPr>
          <a:xfrm>
            <a:off x="6365093" y="2293881"/>
            <a:ext cx="4988706" cy="3703966"/>
          </a:xfrm>
        </p:spPr>
      </p:pic>
    </p:spTree>
    <p:extLst>
      <p:ext uri="{BB962C8B-B14F-4D97-AF65-F5344CB8AC3E}">
        <p14:creationId xmlns:p14="http://schemas.microsoft.com/office/powerpoint/2010/main" val="17029228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E7548-F8A1-8375-B154-C7625042A90E}"/>
              </a:ext>
            </a:extLst>
          </p:cNvPr>
          <p:cNvSpPr>
            <a:spLocks noGrp="1"/>
          </p:cNvSpPr>
          <p:nvPr>
            <p:ph type="title"/>
          </p:nvPr>
        </p:nvSpPr>
        <p:spPr/>
        <p:txBody>
          <a:bodyPr/>
          <a:lstStyle/>
          <a:p>
            <a:r>
              <a:rPr lang="en-US" dirty="0"/>
              <a:t>15.7 More Complex Categorical Variables</a:t>
            </a:r>
          </a:p>
        </p:txBody>
      </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824741B2-F1FC-130D-DDDD-127DED70424A}"/>
                  </a:ext>
                </a:extLst>
              </p:cNvPr>
              <p:cNvSpPr>
                <a:spLocks noGrp="1"/>
              </p:cNvSpPr>
              <p:nvPr>
                <p:ph type="body" sz="quarter" idx="15"/>
              </p:nvPr>
            </p:nvSpPr>
            <p:spPr>
              <a:xfrm>
                <a:off x="743579" y="1454217"/>
                <a:ext cx="10610221" cy="4216482"/>
              </a:xfrm>
            </p:spPr>
            <p:txBody>
              <a:bodyPr/>
              <a:lstStyle/>
              <a:p>
                <a:pPr>
                  <a:lnSpc>
                    <a:spcPct val="100000"/>
                  </a:lnSpc>
                  <a:spcBef>
                    <a:spcPts val="600"/>
                  </a:spcBef>
                </a:pPr>
                <a:r>
                  <a:rPr lang="en-US" sz="2000" dirty="0"/>
                  <a:t>If an independent categorical variable has 𝑘 levels, </a:t>
                </a:r>
                <a14:m>
                  <m:oMath xmlns:m="http://schemas.openxmlformats.org/officeDocument/2006/math">
                    <m:r>
                      <a:rPr lang="en-US" sz="2000" i="1" dirty="0" smtClean="0">
                        <a:latin typeface="Cambria Math" panose="02040503050406030204" pitchFamily="18" charset="0"/>
                      </a:rPr>
                      <m:t>𝑘</m:t>
                    </m:r>
                    <m:r>
                      <a:rPr lang="en-US" sz="2000" i="1" dirty="0" smtClean="0">
                        <a:latin typeface="Cambria Math" panose="02040503050406030204" pitchFamily="18" charset="0"/>
                      </a:rPr>
                      <m:t>−1</m:t>
                    </m:r>
                  </m:oMath>
                </a14:m>
                <a:r>
                  <a:rPr lang="en-US" sz="2000" dirty="0"/>
                  <a:t> dummy variables are required, with each dummy variable being coded as 0 or 1.</a:t>
                </a:r>
              </a:p>
              <a:p>
                <a:pPr>
                  <a:lnSpc>
                    <a:spcPct val="100000"/>
                  </a:lnSpc>
                  <a:spcBef>
                    <a:spcPts val="600"/>
                  </a:spcBef>
                </a:pPr>
                <a:r>
                  <a:rPr lang="en-US" sz="2000" dirty="0"/>
                  <a:t>Consider the situation faced by a manufacturer of copy machines that sells its products to three sales territories: region A, B, and C.</a:t>
                </a:r>
              </a:p>
              <a:p>
                <a:pPr>
                  <a:lnSpc>
                    <a:spcPct val="100000"/>
                  </a:lnSpc>
                  <a:spcBef>
                    <a:spcPts val="600"/>
                  </a:spcBef>
                  <a:spcAft>
                    <a:spcPts val="600"/>
                  </a:spcAft>
                </a:pPr>
                <a:r>
                  <a:rPr lang="en-US" sz="2000" dirty="0"/>
                  <a:t>To code the sales regions in a multiple regression model that explains the dependent variable (</a:t>
                </a:r>
                <a:r>
                  <a:rPr lang="en-US" sz="2000" dirty="0">
                    <a:latin typeface="Arial" panose="020B0604020202020204" pitchFamily="34" charset="0"/>
                    <a:cs typeface="Arial" panose="020B0604020202020204" pitchFamily="34" charset="0"/>
                  </a:rPr>
                  <a:t>𝑦</a:t>
                </a:r>
                <a:r>
                  <a:rPr lang="en-US" sz="2000" dirty="0"/>
                  <a:t>) number of units sold, we need to define </a:t>
                </a:r>
                <a14:m>
                  <m:oMath xmlns:m="http://schemas.openxmlformats.org/officeDocument/2006/math">
                    <m:r>
                      <a:rPr lang="en-US" sz="2000" i="1" dirty="0" smtClean="0">
                        <a:latin typeface="Cambria Math" panose="02040503050406030204" pitchFamily="18" charset="0"/>
                      </a:rPr>
                      <m:t>𝑘</m:t>
                    </m:r>
                    <m:r>
                      <a:rPr lang="en-US" sz="2000" i="1" dirty="0" smtClean="0">
                        <a:latin typeface="Cambria Math" panose="02040503050406030204" pitchFamily="18" charset="0"/>
                      </a:rPr>
                      <m:t>−1=2</m:t>
                    </m:r>
                  </m:oMath>
                </a14:m>
                <a:r>
                  <a:rPr lang="en-US" sz="2000" dirty="0"/>
                  <a:t> dummy variables as follows.</a:t>
                </a:r>
              </a:p>
              <a:p>
                <a:pPr marL="914400">
                  <a:lnSpc>
                    <a:spcPct val="100000"/>
                  </a:lnSpc>
                  <a:spcBef>
                    <a:spcPts val="0"/>
                  </a:spcBef>
                  <a:spcAft>
                    <a:spcPts val="0"/>
                  </a:spcAft>
                </a:pP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𝑥</m:t>
                        </m:r>
                      </m:e>
                      <m:sub>
                        <m:r>
                          <a:rPr lang="en-US" sz="2000" b="0" i="1" smtClean="0">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cs typeface="Arial" panose="020B0604020202020204" pitchFamily="34" charset="0"/>
                      </a:rPr>
                      <m:t>=</m:t>
                    </m:r>
                    <m:d>
                      <m:dPr>
                        <m:begChr m:val="{"/>
                        <m:endChr m:val=""/>
                        <m:ctrlPr>
                          <a:rPr lang="en-US" sz="2000" b="0" i="1" smtClean="0">
                            <a:latin typeface="Cambria Math" panose="02040503050406030204" pitchFamily="18" charset="0"/>
                            <a:cs typeface="Arial" panose="020B0604020202020204" pitchFamily="34" charset="0"/>
                          </a:rPr>
                        </m:ctrlPr>
                      </m:dPr>
                      <m:e>
                        <m:eqArr>
                          <m:eqArrPr>
                            <m:ctrlPr>
                              <a:rPr lang="en-US" sz="2000" b="0" i="1" smtClean="0">
                                <a:latin typeface="Cambria Math" panose="02040503050406030204" pitchFamily="18" charset="0"/>
                                <a:cs typeface="Arial" panose="020B0604020202020204" pitchFamily="34" charset="0"/>
                              </a:rPr>
                            </m:ctrlPr>
                          </m:eqArrPr>
                          <m:e>
                            <m:r>
                              <a:rPr lang="en-US" sz="2000" b="0" i="1" smtClean="0">
                                <a:latin typeface="Cambria Math" panose="02040503050406030204" pitchFamily="18" charset="0"/>
                                <a:cs typeface="Arial" panose="020B0604020202020204" pitchFamily="34" charset="0"/>
                              </a:rPr>
                              <m:t>1 </m:t>
                            </m:r>
                            <m:r>
                              <m:rPr>
                                <m:nor/>
                              </m:rPr>
                              <a:rPr lang="en-US" sz="2000" b="0" i="0" smtClean="0">
                                <a:latin typeface="Cambria Math" panose="02040503050406030204" pitchFamily="18" charset="0"/>
                                <a:cs typeface="Arial" panose="020B0604020202020204" pitchFamily="34" charset="0"/>
                              </a:rPr>
                              <m:t>if</m:t>
                            </m:r>
                            <m:r>
                              <m:rPr>
                                <m:nor/>
                              </m:rPr>
                              <a:rPr lang="en-US" sz="2000" b="0" i="0" smtClean="0">
                                <a:latin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cs typeface="Arial" panose="020B0604020202020204" pitchFamily="34" charset="0"/>
                              </a:rPr>
                              <m:t>sales</m:t>
                            </m:r>
                            <m:r>
                              <m:rPr>
                                <m:nor/>
                              </m:rPr>
                              <a:rPr lang="en-US" sz="2000" b="0" i="0" smtClean="0">
                                <a:latin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cs typeface="Arial" panose="020B0604020202020204" pitchFamily="34" charset="0"/>
                              </a:rPr>
                              <m:t>region</m:t>
                            </m:r>
                            <m:r>
                              <m:rPr>
                                <m:nor/>
                              </m:rPr>
                              <a:rPr lang="en-US" sz="2000" b="0" i="0" smtClean="0">
                                <a:latin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cs typeface="Arial" panose="020B0604020202020204" pitchFamily="34" charset="0"/>
                              </a:rPr>
                              <m:t>B</m:t>
                            </m:r>
                          </m:e>
                          <m:e>
                            <m:r>
                              <a:rPr lang="en-US" sz="2000" b="0" i="1" smtClean="0">
                                <a:latin typeface="Cambria Math" panose="02040503050406030204" pitchFamily="18" charset="0"/>
                                <a:cs typeface="Arial" panose="020B0604020202020204" pitchFamily="34" charset="0"/>
                              </a:rPr>
                              <m:t>0 </m:t>
                            </m:r>
                            <m:r>
                              <m:rPr>
                                <m:nor/>
                              </m:rPr>
                              <a:rPr lang="en-US" sz="2000" b="0" i="0" smtClean="0">
                                <a:latin typeface="Cambria Math" panose="02040503050406030204" pitchFamily="18" charset="0"/>
                                <a:cs typeface="Arial" panose="020B0604020202020204" pitchFamily="34" charset="0"/>
                              </a:rPr>
                              <m:t>otherwise</m:t>
                            </m:r>
                            <m:r>
                              <m:rPr>
                                <m:nor/>
                              </m:rPr>
                              <a:rPr lang="en-US" sz="2000" b="0" i="0" smtClean="0">
                                <a:latin typeface="Cambria Math" panose="02040503050406030204" pitchFamily="18" charset="0"/>
                                <a:cs typeface="Arial" panose="020B0604020202020204" pitchFamily="34" charset="0"/>
                              </a:rPr>
                              <m:t>           </m:t>
                            </m:r>
                          </m:e>
                        </m:eqArr>
                      </m:e>
                    </m:d>
                  </m:oMath>
                </a14:m>
                <a:r>
                  <a:rPr lang="en-US" sz="2000" dirty="0"/>
                  <a:t> </a:t>
                </a:r>
              </a:p>
              <a:p>
                <a:pPr marL="914400">
                  <a:lnSpc>
                    <a:spcPct val="100000"/>
                  </a:lnSpc>
                  <a:spcBef>
                    <a:spcPts val="0"/>
                  </a:spcBef>
                  <a:spcAft>
                    <a:spcPts val="0"/>
                  </a:spcAft>
                </a:pP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𝑥</m:t>
                        </m:r>
                      </m:e>
                      <m:sub>
                        <m:r>
                          <a:rPr lang="en-US" sz="2000" b="0" i="1" smtClean="0">
                            <a:latin typeface="Cambria Math" panose="02040503050406030204" pitchFamily="18" charset="0"/>
                            <a:cs typeface="Arial" panose="020B0604020202020204" pitchFamily="34" charset="0"/>
                          </a:rPr>
                          <m:t>2</m:t>
                        </m:r>
                      </m:sub>
                    </m:sSub>
                    <m:r>
                      <a:rPr lang="en-US" sz="2000" b="0" i="1" smtClean="0">
                        <a:latin typeface="Cambria Math" panose="02040503050406030204" pitchFamily="18" charset="0"/>
                        <a:cs typeface="Arial" panose="020B0604020202020204" pitchFamily="34" charset="0"/>
                      </a:rPr>
                      <m:t>=</m:t>
                    </m:r>
                    <m:d>
                      <m:dPr>
                        <m:begChr m:val="{"/>
                        <m:endChr m:val=""/>
                        <m:ctrlPr>
                          <a:rPr lang="en-US" sz="2000" b="0" i="1" smtClean="0">
                            <a:latin typeface="Cambria Math" panose="02040503050406030204" pitchFamily="18" charset="0"/>
                            <a:cs typeface="Arial" panose="020B0604020202020204" pitchFamily="34" charset="0"/>
                          </a:rPr>
                        </m:ctrlPr>
                      </m:dPr>
                      <m:e>
                        <m:eqArr>
                          <m:eqArrPr>
                            <m:ctrlPr>
                              <a:rPr lang="en-US" sz="2000" b="0" i="1" smtClean="0">
                                <a:latin typeface="Cambria Math" panose="02040503050406030204" pitchFamily="18" charset="0"/>
                                <a:cs typeface="Arial" panose="020B0604020202020204" pitchFamily="34" charset="0"/>
                              </a:rPr>
                            </m:ctrlPr>
                          </m:eqArrPr>
                          <m:e>
                            <m:r>
                              <a:rPr lang="en-US" sz="2000" b="0" i="1" smtClean="0">
                                <a:latin typeface="Cambria Math" panose="02040503050406030204" pitchFamily="18" charset="0"/>
                                <a:cs typeface="Arial" panose="020B0604020202020204" pitchFamily="34" charset="0"/>
                              </a:rPr>
                              <m:t>1 </m:t>
                            </m:r>
                            <m:r>
                              <m:rPr>
                                <m:nor/>
                              </m:rPr>
                              <a:rPr lang="en-US" sz="2000" b="0" i="0" smtClean="0">
                                <a:latin typeface="Cambria Math" panose="02040503050406030204" pitchFamily="18" charset="0"/>
                                <a:cs typeface="Arial" panose="020B0604020202020204" pitchFamily="34" charset="0"/>
                              </a:rPr>
                              <m:t>if</m:t>
                            </m:r>
                            <m:r>
                              <m:rPr>
                                <m:nor/>
                              </m:rPr>
                              <a:rPr lang="en-US" sz="2000" b="0" i="0" smtClean="0">
                                <a:latin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cs typeface="Arial" panose="020B0604020202020204" pitchFamily="34" charset="0"/>
                              </a:rPr>
                              <m:t>sales</m:t>
                            </m:r>
                            <m:r>
                              <m:rPr>
                                <m:nor/>
                              </m:rPr>
                              <a:rPr lang="en-US" sz="2000" b="0" i="0" smtClean="0">
                                <a:latin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cs typeface="Arial" panose="020B0604020202020204" pitchFamily="34" charset="0"/>
                              </a:rPr>
                              <m:t>region</m:t>
                            </m:r>
                            <m:r>
                              <m:rPr>
                                <m:nor/>
                              </m:rPr>
                              <a:rPr lang="en-US" sz="2000" b="0" i="0" smtClean="0">
                                <a:latin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cs typeface="Arial" panose="020B0604020202020204" pitchFamily="34" charset="0"/>
                              </a:rPr>
                              <m:t>C</m:t>
                            </m:r>
                          </m:e>
                          <m:e>
                            <m:r>
                              <a:rPr lang="en-US" sz="2000" b="0" i="1" smtClean="0">
                                <a:latin typeface="Cambria Math" panose="02040503050406030204" pitchFamily="18" charset="0"/>
                                <a:cs typeface="Arial" panose="020B0604020202020204" pitchFamily="34" charset="0"/>
                              </a:rPr>
                              <m:t>0 </m:t>
                            </m:r>
                            <m:r>
                              <m:rPr>
                                <m:nor/>
                              </m:rPr>
                              <a:rPr lang="en-US" sz="2000" b="0" i="0" smtClean="0">
                                <a:latin typeface="Cambria Math" panose="02040503050406030204" pitchFamily="18" charset="0"/>
                                <a:cs typeface="Arial" panose="020B0604020202020204" pitchFamily="34" charset="0"/>
                              </a:rPr>
                              <m:t>otherwise</m:t>
                            </m:r>
                            <m:r>
                              <m:rPr>
                                <m:nor/>
                              </m:rPr>
                              <a:rPr lang="en-US" sz="2000" b="0" i="0" smtClean="0">
                                <a:latin typeface="Cambria Math" panose="02040503050406030204" pitchFamily="18" charset="0"/>
                                <a:cs typeface="Arial" panose="020B0604020202020204" pitchFamily="34" charset="0"/>
                              </a:rPr>
                              <m:t>           </m:t>
                            </m:r>
                          </m:e>
                        </m:eqArr>
                      </m:e>
                    </m:d>
                  </m:oMath>
                </a14:m>
                <a:r>
                  <a:rPr lang="en-US" sz="2000" dirty="0"/>
                  <a:t> </a:t>
                </a:r>
              </a:p>
              <a:p>
                <a:pPr>
                  <a:lnSpc>
                    <a:spcPct val="100000"/>
                  </a:lnSpc>
                  <a:spcBef>
                    <a:spcPts val="600"/>
                  </a:spcBef>
                  <a:spcAft>
                    <a:spcPts val="0"/>
                  </a:spcAft>
                </a:pPr>
                <a:r>
                  <a:rPr lang="en-US" sz="2000" dirty="0"/>
                  <a:t>The regression equation relating the expected number of units sold to the sales region can be written as </a:t>
                </a:r>
                <a14:m>
                  <m:oMath xmlns:m="http://schemas.openxmlformats.org/officeDocument/2006/math">
                    <m:r>
                      <a:rPr lang="en-US" sz="2000" b="0" i="1" smtClean="0">
                        <a:latin typeface="Cambria Math" panose="02040503050406030204" pitchFamily="18" charset="0"/>
                      </a:rPr>
                      <m:t>𝐸</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𝑦</m:t>
                        </m:r>
                      </m:e>
                    </m:d>
                    <m:r>
                      <a:rPr lang="en-US" sz="2000" b="0"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1</m:t>
                        </m:r>
                      </m:sub>
                    </m:sSub>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𝑥</m:t>
                        </m:r>
                      </m:e>
                      <m:sub>
                        <m:r>
                          <a:rPr lang="en-US" sz="2000" b="0" i="1">
                            <a:latin typeface="Cambria Math" panose="02040503050406030204" pitchFamily="18" charset="0"/>
                            <a:cs typeface="Arial" panose="020B0604020202020204" pitchFamily="34" charset="0"/>
                          </a:rPr>
                          <m:t>1</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b="0" i="1">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2</m:t>
                        </m:r>
                      </m:sub>
                    </m:sSub>
                    <m:sSub>
                      <m:sSubPr>
                        <m:ctrlPr>
                          <a:rPr lang="en-US" sz="2000" i="1">
                            <a:latin typeface="Cambria Math" panose="02040503050406030204" pitchFamily="18" charset="0"/>
                            <a:cs typeface="Arial" panose="020B0604020202020204" pitchFamily="34" charset="0"/>
                          </a:rPr>
                        </m:ctrlPr>
                      </m:sSubPr>
                      <m:e>
                        <m:r>
                          <a:rPr lang="en-US" sz="2000" b="0" i="1">
                            <a:latin typeface="Cambria Math" panose="02040503050406030204" pitchFamily="18" charset="0"/>
                            <a:cs typeface="Arial" panose="020B0604020202020204" pitchFamily="34" charset="0"/>
                          </a:rPr>
                          <m:t>𝑥</m:t>
                        </m:r>
                      </m:e>
                      <m:sub>
                        <m:r>
                          <a:rPr lang="en-US" sz="2000" b="0" i="1">
                            <a:latin typeface="Cambria Math" panose="02040503050406030204" pitchFamily="18" charset="0"/>
                            <a:cs typeface="Arial" panose="020B0604020202020204" pitchFamily="34" charset="0"/>
                          </a:rPr>
                          <m:t>2</m:t>
                        </m:r>
                      </m:sub>
                    </m:sSub>
                  </m:oMath>
                </a14:m>
                <a:r>
                  <a:rPr lang="en-US" sz="2000" dirty="0"/>
                  <a:t> </a:t>
                </a:r>
              </a:p>
              <a:p>
                <a:pPr>
                  <a:lnSpc>
                    <a:spcPct val="100000"/>
                  </a:lnSpc>
                  <a:spcBef>
                    <a:spcPts val="600"/>
                  </a:spcBef>
                </a:pPr>
                <a:endParaRPr lang="en-US" sz="2000" dirty="0"/>
              </a:p>
            </p:txBody>
          </p:sp>
        </mc:Choice>
        <mc:Fallback xmlns="">
          <p:sp>
            <p:nvSpPr>
              <p:cNvPr id="7" name="Text Placeholder 6">
                <a:extLst>
                  <a:ext uri="{FF2B5EF4-FFF2-40B4-BE49-F238E27FC236}">
                    <a16:creationId xmlns:a16="http://schemas.microsoft.com/office/drawing/2014/main" id="{824741B2-F1FC-130D-DDDD-127DED70424A}"/>
                  </a:ext>
                </a:extLst>
              </p:cNvPr>
              <p:cNvSpPr>
                <a:spLocks noGrp="1" noRot="1" noChangeAspect="1" noMove="1" noResize="1" noEditPoints="1" noAdjustHandles="1" noChangeArrowheads="1" noChangeShapeType="1" noTextEdit="1"/>
              </p:cNvSpPr>
              <p:nvPr>
                <p:ph type="body" sz="quarter" idx="15"/>
              </p:nvPr>
            </p:nvSpPr>
            <p:spPr>
              <a:xfrm>
                <a:off x="743579" y="1454217"/>
                <a:ext cx="10610221" cy="4216482"/>
              </a:xfrm>
              <a:blipFill>
                <a:blip r:embed="rId2"/>
                <a:stretch>
                  <a:fillRect l="-1493" t="-1881" r="-976" b="-11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6">
                <a:extLst>
                  <a:ext uri="{FF2B5EF4-FFF2-40B4-BE49-F238E27FC236}">
                    <a16:creationId xmlns:a16="http://schemas.microsoft.com/office/drawing/2014/main" id="{93D81C60-219B-4D28-9057-C5F338252CFC}"/>
                  </a:ext>
                </a:extLst>
              </p:cNvPr>
              <p:cNvGraphicFramePr>
                <a:graphicFrameLocks noGrp="1"/>
              </p:cNvGraphicFramePr>
              <p:nvPr>
                <p:ph type="tbl" sz="quarter" idx="16"/>
              </p:nvPr>
            </p:nvGraphicFramePr>
            <p:xfrm>
              <a:off x="5910570" y="3527380"/>
              <a:ext cx="3145573" cy="1234440"/>
            </p:xfrm>
            <a:graphic>
              <a:graphicData uri="http://schemas.openxmlformats.org/drawingml/2006/table">
                <a:tbl>
                  <a:tblPr firstRow="1" bandRow="1">
                    <a:tableStyleId>{5C22544A-7EE6-4342-B048-85BDC9FD1C3A}</a:tableStyleId>
                  </a:tblPr>
                  <a:tblGrid>
                    <a:gridCol w="1584747">
                      <a:extLst>
                        <a:ext uri="{9D8B030D-6E8A-4147-A177-3AD203B41FA5}">
                          <a16:colId xmlns:a16="http://schemas.microsoft.com/office/drawing/2014/main" val="1774673652"/>
                        </a:ext>
                      </a:extLst>
                    </a:gridCol>
                    <a:gridCol w="780413">
                      <a:extLst>
                        <a:ext uri="{9D8B030D-6E8A-4147-A177-3AD203B41FA5}">
                          <a16:colId xmlns:a16="http://schemas.microsoft.com/office/drawing/2014/main" val="808619947"/>
                        </a:ext>
                      </a:extLst>
                    </a:gridCol>
                    <a:gridCol w="780413">
                      <a:extLst>
                        <a:ext uri="{9D8B030D-6E8A-4147-A177-3AD203B41FA5}">
                          <a16:colId xmlns:a16="http://schemas.microsoft.com/office/drawing/2014/main" val="3974190622"/>
                        </a:ext>
                      </a:extLst>
                    </a:gridCol>
                  </a:tblGrid>
                  <a:tr h="411480">
                    <a:tc>
                      <a:txBody>
                        <a:bodyPr/>
                        <a:lstStyle/>
                        <a:p>
                          <a:pPr algn="ctr"/>
                          <a:r>
                            <a:rPr lang="en-US" sz="1800" dirty="0">
                              <a:solidFill>
                                <a:srgbClr val="000000"/>
                              </a:solidFill>
                            </a:rPr>
                            <a:t>Sales Region</a:t>
                          </a:r>
                        </a:p>
                      </a:txBody>
                      <a:tcPr marL="0" marR="0" marT="0" marB="0" anchor="ctr">
                        <a:lnL w="12700" cmpd="sng">
                          <a:noFill/>
                        </a:lnL>
                        <a:lnR w="12700" cmpd="sng">
                          <a:noFill/>
                        </a:lnR>
                        <a:lnT w="12700" cmpd="sng">
                          <a:noFill/>
                        </a:lnT>
                        <a:lnB w="38100" cmpd="sng">
                          <a:noFill/>
                        </a:lnB>
                        <a:solidFill>
                          <a:srgbClr val="FFF4DC"/>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1800" i="1" smtClean="0">
                                        <a:solidFill>
                                          <a:srgbClr val="000000"/>
                                        </a:solidFill>
                                        <a:latin typeface="Cambria Math" panose="02040503050406030204" pitchFamily="18" charset="0"/>
                                        <a:cs typeface="Arial" panose="020B0604020202020204" pitchFamily="34" charset="0"/>
                                      </a:rPr>
                                    </m:ctrlPr>
                                  </m:sSubPr>
                                  <m:e>
                                    <m:r>
                                      <a:rPr lang="en-US" sz="1800" i="1">
                                        <a:solidFill>
                                          <a:srgbClr val="000000"/>
                                        </a:solidFill>
                                        <a:latin typeface="Cambria Math" panose="02040503050406030204" pitchFamily="18" charset="0"/>
                                        <a:cs typeface="Arial" panose="020B0604020202020204" pitchFamily="34" charset="0"/>
                                      </a:rPr>
                                      <m:t>𝑥</m:t>
                                    </m:r>
                                  </m:e>
                                  <m:sub>
                                    <m:r>
                                      <a:rPr lang="en-US" sz="1800" b="0" i="1" smtClean="0">
                                        <a:solidFill>
                                          <a:srgbClr val="000000"/>
                                        </a:solidFill>
                                        <a:latin typeface="Cambria Math" panose="02040503050406030204" pitchFamily="18" charset="0"/>
                                        <a:cs typeface="Arial" panose="020B0604020202020204" pitchFamily="34" charset="0"/>
                                      </a:rPr>
                                      <m:t>1</m:t>
                                    </m:r>
                                  </m:sub>
                                </m:sSub>
                              </m:oMath>
                            </m:oMathPara>
                          </a14:m>
                          <a:endParaRPr lang="en-US" sz="1800" dirty="0">
                            <a:solidFill>
                              <a:srgbClr val="000000"/>
                            </a:solidFill>
                          </a:endParaRPr>
                        </a:p>
                      </a:txBody>
                      <a:tcPr marL="0" marR="0" marT="0" marB="0" anchor="ctr">
                        <a:lnL w="12700" cmpd="sng">
                          <a:noFill/>
                        </a:lnL>
                        <a:lnR w="12700" cmpd="sng">
                          <a:noFill/>
                        </a:lnR>
                        <a:lnT w="12700" cmpd="sng">
                          <a:noFill/>
                        </a:lnT>
                        <a:lnB w="38100" cmpd="sng">
                          <a:noFill/>
                        </a:lnB>
                        <a:solidFill>
                          <a:srgbClr val="FFF4DC"/>
                        </a:solidFill>
                      </a:tcPr>
                    </a:tc>
                    <a:tc>
                      <a:txBody>
                        <a:bodyPr/>
                        <a:lstStyle/>
                        <a:p>
                          <a:pPr algn="ctr"/>
                          <a14:m>
                            <m:oMathPara xmlns:m="http://schemas.openxmlformats.org/officeDocument/2006/math">
                              <m:oMathParaPr>
                                <m:jc m:val="centerGroup"/>
                              </m:oMathParaPr>
                              <m:oMath xmlns:m="http://schemas.openxmlformats.org/officeDocument/2006/math">
                                <m:sSub>
                                  <m:sSubPr>
                                    <m:ctrlPr>
                                      <a:rPr lang="en-US" sz="1800" i="1" smtClean="0">
                                        <a:solidFill>
                                          <a:srgbClr val="000000"/>
                                        </a:solidFill>
                                        <a:latin typeface="Cambria Math" panose="02040503050406030204" pitchFamily="18" charset="0"/>
                                        <a:cs typeface="Arial" panose="020B0604020202020204" pitchFamily="34" charset="0"/>
                                      </a:rPr>
                                    </m:ctrlPr>
                                  </m:sSubPr>
                                  <m:e>
                                    <m:r>
                                      <a:rPr lang="en-US" sz="1800" i="1">
                                        <a:solidFill>
                                          <a:srgbClr val="000000"/>
                                        </a:solidFill>
                                        <a:latin typeface="Cambria Math" panose="02040503050406030204" pitchFamily="18" charset="0"/>
                                        <a:cs typeface="Arial" panose="020B0604020202020204" pitchFamily="34" charset="0"/>
                                      </a:rPr>
                                      <m:t>𝑥</m:t>
                                    </m:r>
                                  </m:e>
                                  <m:sub>
                                    <m:r>
                                      <a:rPr lang="en-US" sz="1800" b="0" i="1" smtClean="0">
                                        <a:solidFill>
                                          <a:srgbClr val="000000"/>
                                        </a:solidFill>
                                        <a:latin typeface="Cambria Math" panose="02040503050406030204" pitchFamily="18" charset="0"/>
                                        <a:cs typeface="Arial" panose="020B0604020202020204" pitchFamily="34" charset="0"/>
                                      </a:rPr>
                                      <m:t>2</m:t>
                                    </m:r>
                                  </m:sub>
                                </m:sSub>
                              </m:oMath>
                            </m:oMathPara>
                          </a14:m>
                          <a:endParaRPr lang="en-US" sz="1800" dirty="0">
                            <a:solidFill>
                              <a:srgbClr val="000000"/>
                            </a:solidFill>
                          </a:endParaRPr>
                        </a:p>
                      </a:txBody>
                      <a:tcPr marL="0" marR="0" marT="0" marB="0" anchor="ctr">
                        <a:lnL w="12700" cmpd="sng">
                          <a:noFill/>
                        </a:lnL>
                        <a:lnR w="12700" cmpd="sng">
                          <a:noFill/>
                        </a:lnR>
                        <a:lnT w="12700" cmpd="sng">
                          <a:noFill/>
                        </a:lnT>
                        <a:lnB w="38100" cmpd="sng">
                          <a:noFill/>
                        </a:lnB>
                        <a:solidFill>
                          <a:srgbClr val="FFF4DC"/>
                        </a:solidFill>
                      </a:tcPr>
                    </a:tc>
                    <a:extLst>
                      <a:ext uri="{0D108BD9-81ED-4DB2-BD59-A6C34878D82A}">
                        <a16:rowId xmlns:a16="http://schemas.microsoft.com/office/drawing/2014/main" val="1960917044"/>
                      </a:ext>
                    </a:extLst>
                  </a:tr>
                  <a:tr h="228291">
                    <a:tc>
                      <a:txBody>
                        <a:bodyPr/>
                        <a:lstStyle/>
                        <a:p>
                          <a:pPr algn="ctr"/>
                          <a:r>
                            <a:rPr lang="en-US" sz="1800" dirty="0">
                              <a:solidFill>
                                <a:srgbClr val="000000"/>
                              </a:solidFill>
                            </a:rPr>
                            <a:t>A</a:t>
                          </a:r>
                        </a:p>
                      </a:txBody>
                      <a:tcPr marL="0" marR="0" marT="0" marB="0" anchor="ctr">
                        <a:lnL w="12700" cmpd="sng">
                          <a:noFill/>
                        </a:lnL>
                        <a:lnR w="12700" cmpd="sng">
                          <a:noFill/>
                        </a:lnR>
                        <a:lnT w="38100" cmpd="sng">
                          <a:noFill/>
                        </a:lnT>
                        <a:lnB w="12700" cmpd="sng">
                          <a:noFill/>
                        </a:lnB>
                        <a:solidFill>
                          <a:srgbClr val="FFF4DC"/>
                        </a:solidFill>
                      </a:tcPr>
                    </a:tc>
                    <a:tc>
                      <a:txBody>
                        <a:bodyPr/>
                        <a:lstStyle/>
                        <a:p>
                          <a:pPr algn="ctr"/>
                          <a:r>
                            <a:rPr lang="en-US" sz="1800" dirty="0">
                              <a:solidFill>
                                <a:srgbClr val="000000"/>
                              </a:solidFill>
                            </a:rPr>
                            <a:t>0</a:t>
                          </a:r>
                        </a:p>
                      </a:txBody>
                      <a:tcPr marL="0" marR="0" marT="0" marB="0" anchor="ctr">
                        <a:lnL w="12700" cmpd="sng">
                          <a:noFill/>
                        </a:lnL>
                        <a:lnR w="12700" cmpd="sng">
                          <a:noFill/>
                        </a:lnR>
                        <a:lnT w="38100" cmpd="sng">
                          <a:noFill/>
                        </a:lnT>
                        <a:lnB w="12700" cmpd="sng">
                          <a:noFill/>
                        </a:lnB>
                        <a:solidFill>
                          <a:srgbClr val="FFF4DC"/>
                        </a:solidFill>
                      </a:tcPr>
                    </a:tc>
                    <a:tc>
                      <a:txBody>
                        <a:bodyPr/>
                        <a:lstStyle/>
                        <a:p>
                          <a:pPr algn="ctr"/>
                          <a:r>
                            <a:rPr lang="en-US" sz="1800" dirty="0">
                              <a:solidFill>
                                <a:srgbClr val="000000"/>
                              </a:solidFill>
                            </a:rPr>
                            <a:t>0</a:t>
                          </a:r>
                        </a:p>
                      </a:txBody>
                      <a:tcPr marL="0" marR="0" marT="0" marB="0" anchor="ctr">
                        <a:lnL w="12700" cmpd="sng">
                          <a:noFill/>
                        </a:lnL>
                        <a:lnR w="12700" cmpd="sng">
                          <a:noFill/>
                        </a:lnR>
                        <a:lnT w="38100" cmpd="sng">
                          <a:noFill/>
                        </a:lnT>
                        <a:lnB w="12700" cmpd="sng">
                          <a:noFill/>
                        </a:lnB>
                        <a:solidFill>
                          <a:srgbClr val="FFF4DC"/>
                        </a:solidFill>
                      </a:tcPr>
                    </a:tc>
                    <a:extLst>
                      <a:ext uri="{0D108BD9-81ED-4DB2-BD59-A6C34878D82A}">
                        <a16:rowId xmlns:a16="http://schemas.microsoft.com/office/drawing/2014/main" val="2812517150"/>
                      </a:ext>
                    </a:extLst>
                  </a:tr>
                  <a:tr h="228291">
                    <a:tc>
                      <a:txBody>
                        <a:bodyPr/>
                        <a:lstStyle/>
                        <a:p>
                          <a:pPr algn="ctr"/>
                          <a:r>
                            <a:rPr lang="en-US" sz="1800" dirty="0">
                              <a:solidFill>
                                <a:srgbClr val="000000"/>
                              </a:solidFill>
                            </a:rPr>
                            <a:t>B</a:t>
                          </a:r>
                        </a:p>
                      </a:txBody>
                      <a:tcPr marL="0" marR="0" marT="0" marB="0" anchor="ctr">
                        <a:lnL w="12700" cmpd="sng">
                          <a:noFill/>
                        </a:lnL>
                        <a:lnR w="12700" cmpd="sng">
                          <a:noFill/>
                        </a:lnR>
                        <a:lnT w="12700" cmpd="sng">
                          <a:noFill/>
                        </a:lnT>
                        <a:lnB w="12700" cmpd="sng">
                          <a:noFill/>
                        </a:lnB>
                        <a:solidFill>
                          <a:srgbClr val="FFF4DC"/>
                        </a:solidFill>
                      </a:tcPr>
                    </a:tc>
                    <a:tc>
                      <a:txBody>
                        <a:bodyPr/>
                        <a:lstStyle/>
                        <a:p>
                          <a:pPr algn="ctr"/>
                          <a:r>
                            <a:rPr lang="en-US" sz="1800" dirty="0">
                              <a:solidFill>
                                <a:srgbClr val="000000"/>
                              </a:solidFill>
                            </a:rPr>
                            <a:t>1</a:t>
                          </a:r>
                        </a:p>
                      </a:txBody>
                      <a:tcPr marL="0" marR="0" marT="0" marB="0" anchor="ctr">
                        <a:lnL w="12700" cmpd="sng">
                          <a:noFill/>
                        </a:lnL>
                        <a:lnR w="12700" cmpd="sng">
                          <a:noFill/>
                        </a:lnR>
                        <a:lnT w="12700" cmpd="sng">
                          <a:noFill/>
                        </a:lnT>
                        <a:lnB w="12700" cmpd="sng">
                          <a:noFill/>
                        </a:lnB>
                        <a:solidFill>
                          <a:srgbClr val="FFF4DC"/>
                        </a:solidFill>
                      </a:tcPr>
                    </a:tc>
                    <a:tc>
                      <a:txBody>
                        <a:bodyPr/>
                        <a:lstStyle/>
                        <a:p>
                          <a:pPr algn="ctr"/>
                          <a:r>
                            <a:rPr lang="en-US" sz="1800" dirty="0">
                              <a:solidFill>
                                <a:srgbClr val="000000"/>
                              </a:solidFill>
                            </a:rPr>
                            <a:t>0</a:t>
                          </a:r>
                        </a:p>
                      </a:txBody>
                      <a:tcPr marL="0" marR="0" marT="0" marB="0" anchor="ctr">
                        <a:lnL w="12700" cmpd="sng">
                          <a:noFill/>
                        </a:lnL>
                        <a:lnR w="12700" cmpd="sng">
                          <a:noFill/>
                        </a:lnR>
                        <a:lnT w="12700" cmpd="sng">
                          <a:noFill/>
                        </a:lnT>
                        <a:lnB w="12700" cmpd="sng">
                          <a:noFill/>
                        </a:lnB>
                        <a:solidFill>
                          <a:srgbClr val="FFF4DC"/>
                        </a:solidFill>
                      </a:tcPr>
                    </a:tc>
                    <a:extLst>
                      <a:ext uri="{0D108BD9-81ED-4DB2-BD59-A6C34878D82A}">
                        <a16:rowId xmlns:a16="http://schemas.microsoft.com/office/drawing/2014/main" val="577016996"/>
                      </a:ext>
                    </a:extLst>
                  </a:tr>
                  <a:tr h="228291">
                    <a:tc>
                      <a:txBody>
                        <a:bodyPr/>
                        <a:lstStyle/>
                        <a:p>
                          <a:pPr algn="ctr"/>
                          <a:r>
                            <a:rPr lang="en-US" sz="1800" dirty="0">
                              <a:solidFill>
                                <a:srgbClr val="000000"/>
                              </a:solidFill>
                            </a:rPr>
                            <a:t>C</a:t>
                          </a:r>
                        </a:p>
                      </a:txBody>
                      <a:tcPr marL="0" marR="0" marT="0" marB="0" anchor="ctr">
                        <a:lnL w="12700" cmpd="sng">
                          <a:noFill/>
                        </a:lnL>
                        <a:lnR w="12700" cmpd="sng">
                          <a:noFill/>
                        </a:lnR>
                        <a:lnT w="12700" cmpd="sng">
                          <a:noFill/>
                        </a:lnT>
                        <a:lnB w="12700" cmpd="sng">
                          <a:noFill/>
                        </a:lnB>
                        <a:solidFill>
                          <a:srgbClr val="FFF4DC"/>
                        </a:solidFill>
                      </a:tcPr>
                    </a:tc>
                    <a:tc>
                      <a:txBody>
                        <a:bodyPr/>
                        <a:lstStyle/>
                        <a:p>
                          <a:pPr algn="ctr"/>
                          <a:r>
                            <a:rPr lang="en-US" sz="1800" dirty="0">
                              <a:solidFill>
                                <a:srgbClr val="000000"/>
                              </a:solidFill>
                            </a:rPr>
                            <a:t>0</a:t>
                          </a:r>
                        </a:p>
                      </a:txBody>
                      <a:tcPr marL="0" marR="0" marT="0" marB="0" anchor="ctr">
                        <a:lnL w="12700" cmpd="sng">
                          <a:noFill/>
                        </a:lnL>
                        <a:lnR w="12700" cmpd="sng">
                          <a:noFill/>
                        </a:lnR>
                        <a:lnT w="12700" cmpd="sng">
                          <a:noFill/>
                        </a:lnT>
                        <a:lnB w="12700" cmpd="sng">
                          <a:noFill/>
                        </a:lnB>
                        <a:solidFill>
                          <a:srgbClr val="FFF4DC"/>
                        </a:solidFill>
                      </a:tcPr>
                    </a:tc>
                    <a:tc>
                      <a:txBody>
                        <a:bodyPr/>
                        <a:lstStyle/>
                        <a:p>
                          <a:pPr algn="ctr"/>
                          <a:r>
                            <a:rPr lang="en-US" sz="1800" dirty="0">
                              <a:solidFill>
                                <a:srgbClr val="000000"/>
                              </a:solidFill>
                            </a:rPr>
                            <a:t>1</a:t>
                          </a:r>
                        </a:p>
                      </a:txBody>
                      <a:tcPr marL="0" marR="0" marT="0" marB="0" anchor="ctr">
                        <a:lnL w="12700" cmpd="sng">
                          <a:noFill/>
                        </a:lnL>
                        <a:lnR w="12700" cmpd="sng">
                          <a:noFill/>
                        </a:lnR>
                        <a:lnT w="12700" cmpd="sng">
                          <a:noFill/>
                        </a:lnT>
                        <a:lnB w="12700" cmpd="sng">
                          <a:noFill/>
                        </a:lnB>
                        <a:solidFill>
                          <a:srgbClr val="FFF4DC"/>
                        </a:solidFill>
                      </a:tcPr>
                    </a:tc>
                    <a:extLst>
                      <a:ext uri="{0D108BD9-81ED-4DB2-BD59-A6C34878D82A}">
                        <a16:rowId xmlns:a16="http://schemas.microsoft.com/office/drawing/2014/main" val="1206261071"/>
                      </a:ext>
                    </a:extLst>
                  </a:tr>
                </a:tbl>
              </a:graphicData>
            </a:graphic>
          </p:graphicFrame>
        </mc:Choice>
        <mc:Fallback xmlns="">
          <p:graphicFrame>
            <p:nvGraphicFramePr>
              <p:cNvPr id="6" name="Table 6">
                <a:extLst>
                  <a:ext uri="{FF2B5EF4-FFF2-40B4-BE49-F238E27FC236}">
                    <a16:creationId xmlns:a16="http://schemas.microsoft.com/office/drawing/2014/main" id="{93D81C60-219B-4D28-9057-C5F338252CFC}"/>
                  </a:ext>
                </a:extLst>
              </p:cNvPr>
              <p:cNvGraphicFramePr>
                <a:graphicFrameLocks noGrp="1"/>
              </p:cNvGraphicFramePr>
              <p:nvPr>
                <p:ph type="tbl" sz="quarter" idx="16"/>
                <p:extLst>
                  <p:ext uri="{D42A27DB-BD31-4B8C-83A1-F6EECF244321}">
                    <p14:modId xmlns:p14="http://schemas.microsoft.com/office/powerpoint/2010/main" val="1511074055"/>
                  </p:ext>
                </p:extLst>
              </p:nvPr>
            </p:nvGraphicFramePr>
            <p:xfrm>
              <a:off x="5910570" y="3527380"/>
              <a:ext cx="3145573" cy="1234440"/>
            </p:xfrm>
            <a:graphic>
              <a:graphicData uri="http://schemas.openxmlformats.org/drawingml/2006/table">
                <a:tbl>
                  <a:tblPr firstRow="1" bandRow="1">
                    <a:tableStyleId>{5C22544A-7EE6-4342-B048-85BDC9FD1C3A}</a:tableStyleId>
                  </a:tblPr>
                  <a:tblGrid>
                    <a:gridCol w="1584747">
                      <a:extLst>
                        <a:ext uri="{9D8B030D-6E8A-4147-A177-3AD203B41FA5}">
                          <a16:colId xmlns:a16="http://schemas.microsoft.com/office/drawing/2014/main" val="1774673652"/>
                        </a:ext>
                      </a:extLst>
                    </a:gridCol>
                    <a:gridCol w="780413">
                      <a:extLst>
                        <a:ext uri="{9D8B030D-6E8A-4147-A177-3AD203B41FA5}">
                          <a16:colId xmlns:a16="http://schemas.microsoft.com/office/drawing/2014/main" val="808619947"/>
                        </a:ext>
                      </a:extLst>
                    </a:gridCol>
                    <a:gridCol w="780413">
                      <a:extLst>
                        <a:ext uri="{9D8B030D-6E8A-4147-A177-3AD203B41FA5}">
                          <a16:colId xmlns:a16="http://schemas.microsoft.com/office/drawing/2014/main" val="3974190622"/>
                        </a:ext>
                      </a:extLst>
                    </a:gridCol>
                  </a:tblGrid>
                  <a:tr h="411480">
                    <a:tc>
                      <a:txBody>
                        <a:bodyPr/>
                        <a:lstStyle/>
                        <a:p>
                          <a:pPr algn="ctr"/>
                          <a:r>
                            <a:rPr lang="en-US" sz="1800" dirty="0">
                              <a:solidFill>
                                <a:srgbClr val="000000"/>
                              </a:solidFill>
                            </a:rPr>
                            <a:t>Sales Region</a:t>
                          </a:r>
                        </a:p>
                      </a:txBody>
                      <a:tcPr marL="0" marR="0" marT="0" marB="0" anchor="ctr">
                        <a:lnL w="12700" cmpd="sng">
                          <a:noFill/>
                        </a:lnL>
                        <a:lnR w="12700" cmpd="sng">
                          <a:noFill/>
                        </a:lnR>
                        <a:lnT w="12700" cmpd="sng">
                          <a:noFill/>
                        </a:lnT>
                        <a:lnB w="38100" cmpd="sng">
                          <a:noFill/>
                        </a:lnB>
                        <a:solidFill>
                          <a:srgbClr val="FFF4DC"/>
                        </a:solidFill>
                      </a:tcPr>
                    </a:tc>
                    <a:tc>
                      <a:txBody>
                        <a:bodyPr/>
                        <a:lstStyle/>
                        <a:p>
                          <a:endParaRPr lang="en-US"/>
                        </a:p>
                      </a:txBody>
                      <a:tcPr marL="0" marR="0" marT="0" marB="0" anchor="ctr">
                        <a:lnL w="12700" cmpd="sng">
                          <a:noFill/>
                        </a:lnL>
                        <a:lnR w="12700" cmpd="sng">
                          <a:noFill/>
                        </a:lnR>
                        <a:lnT w="12700" cmpd="sng">
                          <a:noFill/>
                        </a:lnT>
                        <a:lnB w="38100" cmpd="sng">
                          <a:noFill/>
                        </a:lnB>
                        <a:blipFill>
                          <a:blip r:embed="rId3"/>
                          <a:stretch>
                            <a:fillRect l="-201550" t="-1471" r="-99225" b="-233824"/>
                          </a:stretch>
                        </a:blipFill>
                      </a:tcPr>
                    </a:tc>
                    <a:tc>
                      <a:txBody>
                        <a:bodyPr/>
                        <a:lstStyle/>
                        <a:p>
                          <a:endParaRPr lang="en-US"/>
                        </a:p>
                      </a:txBody>
                      <a:tcPr marL="0" marR="0" marT="0" marB="0" anchor="ctr">
                        <a:lnL w="12700" cmpd="sng">
                          <a:noFill/>
                        </a:lnL>
                        <a:lnR w="12700" cmpd="sng">
                          <a:noFill/>
                        </a:lnR>
                        <a:lnT w="12700" cmpd="sng">
                          <a:noFill/>
                        </a:lnT>
                        <a:lnB w="38100" cmpd="sng">
                          <a:noFill/>
                        </a:lnB>
                        <a:blipFill>
                          <a:blip r:embed="rId3"/>
                          <a:stretch>
                            <a:fillRect l="-303906" t="-1471" b="-233824"/>
                          </a:stretch>
                        </a:blipFill>
                      </a:tcPr>
                    </a:tc>
                    <a:extLst>
                      <a:ext uri="{0D108BD9-81ED-4DB2-BD59-A6C34878D82A}">
                        <a16:rowId xmlns:a16="http://schemas.microsoft.com/office/drawing/2014/main" val="1960917044"/>
                      </a:ext>
                    </a:extLst>
                  </a:tr>
                  <a:tr h="274320">
                    <a:tc>
                      <a:txBody>
                        <a:bodyPr/>
                        <a:lstStyle/>
                        <a:p>
                          <a:pPr algn="ctr"/>
                          <a:r>
                            <a:rPr lang="en-US" sz="1800" dirty="0">
                              <a:solidFill>
                                <a:srgbClr val="000000"/>
                              </a:solidFill>
                            </a:rPr>
                            <a:t>A</a:t>
                          </a:r>
                        </a:p>
                      </a:txBody>
                      <a:tcPr marL="0" marR="0" marT="0" marB="0" anchor="ctr">
                        <a:lnL w="12700" cmpd="sng">
                          <a:noFill/>
                        </a:lnL>
                        <a:lnR w="12700" cmpd="sng">
                          <a:noFill/>
                        </a:lnR>
                        <a:lnT w="38100" cmpd="sng">
                          <a:noFill/>
                        </a:lnT>
                        <a:lnB w="12700" cmpd="sng">
                          <a:noFill/>
                        </a:lnB>
                        <a:solidFill>
                          <a:srgbClr val="FFF4DC"/>
                        </a:solidFill>
                      </a:tcPr>
                    </a:tc>
                    <a:tc>
                      <a:txBody>
                        <a:bodyPr/>
                        <a:lstStyle/>
                        <a:p>
                          <a:pPr algn="ctr"/>
                          <a:r>
                            <a:rPr lang="en-US" sz="1800" dirty="0">
                              <a:solidFill>
                                <a:srgbClr val="000000"/>
                              </a:solidFill>
                            </a:rPr>
                            <a:t>0</a:t>
                          </a:r>
                        </a:p>
                      </a:txBody>
                      <a:tcPr marL="0" marR="0" marT="0" marB="0" anchor="ctr">
                        <a:lnL w="12700" cmpd="sng">
                          <a:noFill/>
                        </a:lnL>
                        <a:lnR w="12700" cmpd="sng">
                          <a:noFill/>
                        </a:lnR>
                        <a:lnT w="38100" cmpd="sng">
                          <a:noFill/>
                        </a:lnT>
                        <a:lnB w="12700" cmpd="sng">
                          <a:noFill/>
                        </a:lnB>
                        <a:solidFill>
                          <a:srgbClr val="FFF4DC"/>
                        </a:solidFill>
                      </a:tcPr>
                    </a:tc>
                    <a:tc>
                      <a:txBody>
                        <a:bodyPr/>
                        <a:lstStyle/>
                        <a:p>
                          <a:pPr algn="ctr"/>
                          <a:r>
                            <a:rPr lang="en-US" sz="1800" dirty="0">
                              <a:solidFill>
                                <a:srgbClr val="000000"/>
                              </a:solidFill>
                            </a:rPr>
                            <a:t>0</a:t>
                          </a:r>
                        </a:p>
                      </a:txBody>
                      <a:tcPr marL="0" marR="0" marT="0" marB="0" anchor="ctr">
                        <a:lnL w="12700" cmpd="sng">
                          <a:noFill/>
                        </a:lnL>
                        <a:lnR w="12700" cmpd="sng">
                          <a:noFill/>
                        </a:lnR>
                        <a:lnT w="38100" cmpd="sng">
                          <a:noFill/>
                        </a:lnT>
                        <a:lnB w="12700" cmpd="sng">
                          <a:noFill/>
                        </a:lnB>
                        <a:solidFill>
                          <a:srgbClr val="FFF4DC"/>
                        </a:solidFill>
                      </a:tcPr>
                    </a:tc>
                    <a:extLst>
                      <a:ext uri="{0D108BD9-81ED-4DB2-BD59-A6C34878D82A}">
                        <a16:rowId xmlns:a16="http://schemas.microsoft.com/office/drawing/2014/main" val="2812517150"/>
                      </a:ext>
                    </a:extLst>
                  </a:tr>
                  <a:tr h="274320">
                    <a:tc>
                      <a:txBody>
                        <a:bodyPr/>
                        <a:lstStyle/>
                        <a:p>
                          <a:pPr algn="ctr"/>
                          <a:r>
                            <a:rPr lang="en-US" sz="1800" dirty="0">
                              <a:solidFill>
                                <a:srgbClr val="000000"/>
                              </a:solidFill>
                            </a:rPr>
                            <a:t>B</a:t>
                          </a:r>
                        </a:p>
                      </a:txBody>
                      <a:tcPr marL="0" marR="0" marT="0" marB="0" anchor="ctr">
                        <a:lnL w="12700" cmpd="sng">
                          <a:noFill/>
                        </a:lnL>
                        <a:lnR w="12700" cmpd="sng">
                          <a:noFill/>
                        </a:lnR>
                        <a:lnT w="12700" cmpd="sng">
                          <a:noFill/>
                        </a:lnT>
                        <a:lnB w="12700" cmpd="sng">
                          <a:noFill/>
                        </a:lnB>
                        <a:solidFill>
                          <a:srgbClr val="FFF4DC"/>
                        </a:solidFill>
                      </a:tcPr>
                    </a:tc>
                    <a:tc>
                      <a:txBody>
                        <a:bodyPr/>
                        <a:lstStyle/>
                        <a:p>
                          <a:pPr algn="ctr"/>
                          <a:r>
                            <a:rPr lang="en-US" sz="1800" dirty="0">
                              <a:solidFill>
                                <a:srgbClr val="000000"/>
                              </a:solidFill>
                            </a:rPr>
                            <a:t>1</a:t>
                          </a:r>
                        </a:p>
                      </a:txBody>
                      <a:tcPr marL="0" marR="0" marT="0" marB="0" anchor="ctr">
                        <a:lnL w="12700" cmpd="sng">
                          <a:noFill/>
                        </a:lnL>
                        <a:lnR w="12700" cmpd="sng">
                          <a:noFill/>
                        </a:lnR>
                        <a:lnT w="12700" cmpd="sng">
                          <a:noFill/>
                        </a:lnT>
                        <a:lnB w="12700" cmpd="sng">
                          <a:noFill/>
                        </a:lnB>
                        <a:solidFill>
                          <a:srgbClr val="FFF4DC"/>
                        </a:solidFill>
                      </a:tcPr>
                    </a:tc>
                    <a:tc>
                      <a:txBody>
                        <a:bodyPr/>
                        <a:lstStyle/>
                        <a:p>
                          <a:pPr algn="ctr"/>
                          <a:r>
                            <a:rPr lang="en-US" sz="1800" dirty="0">
                              <a:solidFill>
                                <a:srgbClr val="000000"/>
                              </a:solidFill>
                            </a:rPr>
                            <a:t>0</a:t>
                          </a:r>
                        </a:p>
                      </a:txBody>
                      <a:tcPr marL="0" marR="0" marT="0" marB="0" anchor="ctr">
                        <a:lnL w="12700" cmpd="sng">
                          <a:noFill/>
                        </a:lnL>
                        <a:lnR w="12700" cmpd="sng">
                          <a:noFill/>
                        </a:lnR>
                        <a:lnT w="12700" cmpd="sng">
                          <a:noFill/>
                        </a:lnT>
                        <a:lnB w="12700" cmpd="sng">
                          <a:noFill/>
                        </a:lnB>
                        <a:solidFill>
                          <a:srgbClr val="FFF4DC"/>
                        </a:solidFill>
                      </a:tcPr>
                    </a:tc>
                    <a:extLst>
                      <a:ext uri="{0D108BD9-81ED-4DB2-BD59-A6C34878D82A}">
                        <a16:rowId xmlns:a16="http://schemas.microsoft.com/office/drawing/2014/main" val="577016996"/>
                      </a:ext>
                    </a:extLst>
                  </a:tr>
                  <a:tr h="274320">
                    <a:tc>
                      <a:txBody>
                        <a:bodyPr/>
                        <a:lstStyle/>
                        <a:p>
                          <a:pPr algn="ctr"/>
                          <a:r>
                            <a:rPr lang="en-US" sz="1800" dirty="0">
                              <a:solidFill>
                                <a:srgbClr val="000000"/>
                              </a:solidFill>
                            </a:rPr>
                            <a:t>C</a:t>
                          </a:r>
                        </a:p>
                      </a:txBody>
                      <a:tcPr marL="0" marR="0" marT="0" marB="0" anchor="ctr">
                        <a:lnL w="12700" cmpd="sng">
                          <a:noFill/>
                        </a:lnL>
                        <a:lnR w="12700" cmpd="sng">
                          <a:noFill/>
                        </a:lnR>
                        <a:lnT w="12700" cmpd="sng">
                          <a:noFill/>
                        </a:lnT>
                        <a:lnB w="12700" cmpd="sng">
                          <a:noFill/>
                        </a:lnB>
                        <a:solidFill>
                          <a:srgbClr val="FFF4DC"/>
                        </a:solidFill>
                      </a:tcPr>
                    </a:tc>
                    <a:tc>
                      <a:txBody>
                        <a:bodyPr/>
                        <a:lstStyle/>
                        <a:p>
                          <a:pPr algn="ctr"/>
                          <a:r>
                            <a:rPr lang="en-US" sz="1800" dirty="0">
                              <a:solidFill>
                                <a:srgbClr val="000000"/>
                              </a:solidFill>
                            </a:rPr>
                            <a:t>0</a:t>
                          </a:r>
                        </a:p>
                      </a:txBody>
                      <a:tcPr marL="0" marR="0" marT="0" marB="0" anchor="ctr">
                        <a:lnL w="12700" cmpd="sng">
                          <a:noFill/>
                        </a:lnL>
                        <a:lnR w="12700" cmpd="sng">
                          <a:noFill/>
                        </a:lnR>
                        <a:lnT w="12700" cmpd="sng">
                          <a:noFill/>
                        </a:lnT>
                        <a:lnB w="12700" cmpd="sng">
                          <a:noFill/>
                        </a:lnB>
                        <a:solidFill>
                          <a:srgbClr val="FFF4DC"/>
                        </a:solidFill>
                      </a:tcPr>
                    </a:tc>
                    <a:tc>
                      <a:txBody>
                        <a:bodyPr/>
                        <a:lstStyle/>
                        <a:p>
                          <a:pPr algn="ctr"/>
                          <a:r>
                            <a:rPr lang="en-US" sz="1800" dirty="0">
                              <a:solidFill>
                                <a:srgbClr val="000000"/>
                              </a:solidFill>
                            </a:rPr>
                            <a:t>1</a:t>
                          </a:r>
                        </a:p>
                      </a:txBody>
                      <a:tcPr marL="0" marR="0" marT="0" marB="0" anchor="ctr">
                        <a:lnL w="12700" cmpd="sng">
                          <a:noFill/>
                        </a:lnL>
                        <a:lnR w="12700" cmpd="sng">
                          <a:noFill/>
                        </a:lnR>
                        <a:lnT w="12700" cmpd="sng">
                          <a:noFill/>
                        </a:lnT>
                        <a:lnB w="12700" cmpd="sng">
                          <a:noFill/>
                        </a:lnB>
                        <a:solidFill>
                          <a:srgbClr val="FFF4DC"/>
                        </a:solidFill>
                      </a:tcPr>
                    </a:tc>
                    <a:extLst>
                      <a:ext uri="{0D108BD9-81ED-4DB2-BD59-A6C34878D82A}">
                        <a16:rowId xmlns:a16="http://schemas.microsoft.com/office/drawing/2014/main" val="1206261071"/>
                      </a:ext>
                    </a:extLst>
                  </a:tr>
                </a:tbl>
              </a:graphicData>
            </a:graphic>
          </p:graphicFrame>
        </mc:Fallback>
      </mc:AlternateContent>
    </p:spTree>
    <p:extLst>
      <p:ext uri="{BB962C8B-B14F-4D97-AF65-F5344CB8AC3E}">
        <p14:creationId xmlns:p14="http://schemas.microsoft.com/office/powerpoint/2010/main" val="23816280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E7548-F8A1-8375-B154-C7625042A90E}"/>
              </a:ext>
            </a:extLst>
          </p:cNvPr>
          <p:cNvSpPr>
            <a:spLocks noGrp="1"/>
          </p:cNvSpPr>
          <p:nvPr>
            <p:ph type="title"/>
          </p:nvPr>
        </p:nvSpPr>
        <p:spPr/>
        <p:txBody>
          <a:bodyPr/>
          <a:lstStyle/>
          <a:p>
            <a:r>
              <a:rPr lang="en-US" sz="3200" dirty="0"/>
              <a:t>15.7 Interpretation of the Parameters for a Categorical Variable with Three Levels</a:t>
            </a:r>
          </a:p>
        </p:txBody>
      </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824741B2-F1FC-130D-DDDD-127DED70424A}"/>
                  </a:ext>
                </a:extLst>
              </p:cNvPr>
              <p:cNvSpPr>
                <a:spLocks noGrp="1"/>
              </p:cNvSpPr>
              <p:nvPr>
                <p:ph type="body" sz="quarter" idx="15"/>
              </p:nvPr>
            </p:nvSpPr>
            <p:spPr>
              <a:xfrm>
                <a:off x="743576" y="1639612"/>
                <a:ext cx="10711543" cy="4209393"/>
              </a:xfrm>
            </p:spPr>
            <p:txBody>
              <a:bodyPr/>
              <a:lstStyle/>
              <a:p>
                <a:pPr>
                  <a:lnSpc>
                    <a:spcPct val="100000"/>
                  </a:lnSpc>
                  <a:spcBef>
                    <a:spcPts val="600"/>
                  </a:spcBef>
                  <a:spcAft>
                    <a:spcPts val="600"/>
                  </a:spcAft>
                </a:pPr>
                <a:r>
                  <a:rPr lang="en-US" sz="2000" dirty="0"/>
                  <a:t>To interpret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0</m:t>
                        </m:r>
                      </m:sub>
                    </m:sSub>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2</m:t>
                        </m:r>
                      </m:sub>
                    </m:sSub>
                  </m:oMath>
                </a14:m>
                <a:r>
                  <a:rPr lang="en-US" sz="2000" dirty="0"/>
                  <a:t>, in the sales territory example, consider the following variations of the regression equation.</a:t>
                </a:r>
              </a:p>
              <a:p>
                <a:pPr marL="914400">
                  <a:lnSpc>
                    <a:spcPct val="100000"/>
                  </a:lnSpc>
                  <a:spcBef>
                    <a:spcPts val="600"/>
                  </a:spcBef>
                  <a:spcAft>
                    <a:spcPts val="600"/>
                  </a:spcAft>
                </a:pPr>
                <a14:m>
                  <m:oMath xmlns:m="http://schemas.openxmlformats.org/officeDocument/2006/math">
                    <m:r>
                      <a:rPr lang="en-US" sz="2000" i="1" dirty="0" smtClean="0">
                        <a:latin typeface="Cambria Math" panose="02040503050406030204" pitchFamily="18" charset="0"/>
                        <a:cs typeface="Arial" panose="020B0604020202020204" pitchFamily="34" charset="0"/>
                      </a:rPr>
                      <m:t>𝐸</m:t>
                    </m:r>
                    <m:d>
                      <m:dPr>
                        <m:sepChr m:val="∣"/>
                        <m:ctrlPr>
                          <a:rPr lang="en-US" sz="2000" i="1" dirty="0" smtClean="0">
                            <a:latin typeface="Cambria Math" panose="02040503050406030204" pitchFamily="18" charset="0"/>
                            <a:cs typeface="Arial" panose="020B0604020202020204" pitchFamily="34" charset="0"/>
                          </a:rPr>
                        </m:ctrlPr>
                      </m:dPr>
                      <m:e>
                        <m:r>
                          <a:rPr lang="en-US" sz="2000" i="1" dirty="0" err="1" smtClean="0">
                            <a:latin typeface="Cambria Math" panose="02040503050406030204" pitchFamily="18" charset="0"/>
                            <a:cs typeface="Arial" panose="020B0604020202020204" pitchFamily="34" charset="0"/>
                          </a:rPr>
                          <m:t>𝑦</m:t>
                        </m:r>
                      </m:e>
                      <m:e>
                        <m:r>
                          <m:rPr>
                            <m:nor/>
                          </m:rPr>
                          <a:rPr lang="en-US" sz="2000" b="0" i="0" smtClean="0">
                            <a:latin typeface="Cambria Math" panose="02040503050406030204" pitchFamily="18" charset="0"/>
                            <a:cs typeface="Arial" panose="020B0604020202020204" pitchFamily="34" charset="0"/>
                          </a:rPr>
                          <m:t>region</m:t>
                        </m:r>
                        <m:r>
                          <m:rPr>
                            <m:nor/>
                          </m:rPr>
                          <a:rPr lang="en-US" sz="2000" b="0" i="0" smtClean="0">
                            <a:latin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cs typeface="Arial" panose="020B0604020202020204" pitchFamily="34" charset="0"/>
                          </a:rPr>
                          <m:t>A</m:t>
                        </m:r>
                      </m:e>
                    </m:d>
                    <m:r>
                      <a:rPr lang="en-US" sz="2000" b="0" i="1" dirty="0"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0</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d>
                      <m:dPr>
                        <m:ctrlPr>
                          <a:rPr lang="en-US" sz="2000" i="1">
                            <a:latin typeface="Cambria Math" panose="02040503050406030204" pitchFamily="18" charset="0"/>
                          </a:rPr>
                        </m:ctrlPr>
                      </m:dPr>
                      <m:e>
                        <m:r>
                          <a:rPr lang="en-US" sz="2000" i="1">
                            <a:latin typeface="Cambria Math" panose="02040503050406030204" pitchFamily="18" charset="0"/>
                            <a:cs typeface="Arial" panose="020B0604020202020204" pitchFamily="34" charset="0"/>
                          </a:rPr>
                          <m:t>0</m:t>
                        </m:r>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cs typeface="Arial" panose="020B0604020202020204" pitchFamily="34" charset="0"/>
                          </a:rPr>
                          <m:t>0</m:t>
                        </m:r>
                      </m:e>
                    </m:d>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0</m:t>
                        </m:r>
                      </m:sub>
                    </m:sSub>
                  </m:oMath>
                </a14:m>
                <a:r>
                  <a:rPr lang="en-US" sz="2000" dirty="0"/>
                  <a:t> </a:t>
                </a:r>
              </a:p>
              <a:p>
                <a:pPr marL="914400">
                  <a:lnSpc>
                    <a:spcPct val="100000"/>
                  </a:lnSpc>
                  <a:spcBef>
                    <a:spcPts val="600"/>
                  </a:spcBef>
                  <a:spcAft>
                    <a:spcPts val="600"/>
                  </a:spcAft>
                </a:pPr>
                <a14:m>
                  <m:oMath xmlns:m="http://schemas.openxmlformats.org/officeDocument/2006/math">
                    <m:r>
                      <a:rPr lang="en-US" sz="2000" i="1" dirty="0" smtClean="0">
                        <a:latin typeface="Cambria Math" panose="02040503050406030204" pitchFamily="18" charset="0"/>
                        <a:cs typeface="Arial" panose="020B0604020202020204" pitchFamily="34" charset="0"/>
                      </a:rPr>
                      <m:t>𝐸</m:t>
                    </m:r>
                    <m:d>
                      <m:dPr>
                        <m:sepChr m:val="∣"/>
                        <m:ctrlPr>
                          <a:rPr lang="en-US" sz="2000" i="1" dirty="0" smtClean="0">
                            <a:latin typeface="Cambria Math" panose="02040503050406030204" pitchFamily="18" charset="0"/>
                            <a:cs typeface="Arial" panose="020B0604020202020204" pitchFamily="34" charset="0"/>
                          </a:rPr>
                        </m:ctrlPr>
                      </m:dPr>
                      <m:e>
                        <m:r>
                          <a:rPr lang="en-US" sz="2000" i="1" dirty="0" err="1" smtClean="0">
                            <a:latin typeface="Cambria Math" panose="02040503050406030204" pitchFamily="18" charset="0"/>
                            <a:cs typeface="Arial" panose="020B0604020202020204" pitchFamily="34" charset="0"/>
                          </a:rPr>
                          <m:t>𝑦</m:t>
                        </m:r>
                      </m:e>
                      <m:e>
                        <m:r>
                          <m:rPr>
                            <m:nor/>
                          </m:rPr>
                          <a:rPr lang="en-US" sz="2000" b="0" i="0" smtClean="0">
                            <a:latin typeface="Cambria Math" panose="02040503050406030204" pitchFamily="18" charset="0"/>
                            <a:cs typeface="Arial" panose="020B0604020202020204" pitchFamily="34" charset="0"/>
                          </a:rPr>
                          <m:t>region</m:t>
                        </m:r>
                        <m:r>
                          <m:rPr>
                            <m:nor/>
                          </m:rPr>
                          <a:rPr lang="en-US" sz="2000" b="0" i="0" smtClean="0">
                            <a:latin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cs typeface="Arial" panose="020B0604020202020204" pitchFamily="34" charset="0"/>
                          </a:rPr>
                          <m:t>B</m:t>
                        </m:r>
                      </m:e>
                    </m:d>
                    <m:r>
                      <a:rPr lang="en-US" sz="2000" b="0" i="1" dirty="0"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0</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d>
                      <m:dPr>
                        <m:ctrlPr>
                          <a:rPr lang="en-US" sz="2000" i="1">
                            <a:latin typeface="Cambria Math" panose="02040503050406030204" pitchFamily="18" charset="0"/>
                          </a:rPr>
                        </m:ctrlPr>
                      </m:dPr>
                      <m:e>
                        <m:r>
                          <a:rPr lang="en-US" sz="2000" b="0" i="1" smtClean="0">
                            <a:latin typeface="Cambria Math" panose="02040503050406030204" pitchFamily="18" charset="0"/>
                          </a:rPr>
                          <m:t>1</m:t>
                        </m:r>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cs typeface="Arial" panose="020B0604020202020204" pitchFamily="34" charset="0"/>
                          </a:rPr>
                          <m:t>0</m:t>
                        </m:r>
                      </m:e>
                    </m:d>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0</m:t>
                        </m:r>
                      </m:sub>
                    </m:sSub>
                    <m:r>
                      <a:rPr lang="en-US" sz="2000" b="0" i="1" smtClean="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oMath>
                </a14:m>
                <a:r>
                  <a:rPr lang="en-US" sz="2000" dirty="0"/>
                  <a:t> </a:t>
                </a:r>
              </a:p>
              <a:p>
                <a:pPr marL="914400">
                  <a:lnSpc>
                    <a:spcPct val="100000"/>
                  </a:lnSpc>
                  <a:spcBef>
                    <a:spcPts val="600"/>
                  </a:spcBef>
                  <a:spcAft>
                    <a:spcPts val="600"/>
                  </a:spcAft>
                </a:pPr>
                <a14:m>
                  <m:oMath xmlns:m="http://schemas.openxmlformats.org/officeDocument/2006/math">
                    <m:r>
                      <a:rPr lang="en-US" sz="2000" i="1" dirty="0" smtClean="0">
                        <a:latin typeface="Cambria Math" panose="02040503050406030204" pitchFamily="18" charset="0"/>
                        <a:cs typeface="Arial" panose="020B0604020202020204" pitchFamily="34" charset="0"/>
                      </a:rPr>
                      <m:t>𝐸</m:t>
                    </m:r>
                    <m:d>
                      <m:dPr>
                        <m:sepChr m:val="∣"/>
                        <m:ctrlPr>
                          <a:rPr lang="en-US" sz="2000" i="1" dirty="0" smtClean="0">
                            <a:latin typeface="Cambria Math" panose="02040503050406030204" pitchFamily="18" charset="0"/>
                            <a:cs typeface="Arial" panose="020B0604020202020204" pitchFamily="34" charset="0"/>
                          </a:rPr>
                        </m:ctrlPr>
                      </m:dPr>
                      <m:e>
                        <m:r>
                          <a:rPr lang="en-US" sz="2000" i="1" dirty="0" err="1" smtClean="0">
                            <a:latin typeface="Cambria Math" panose="02040503050406030204" pitchFamily="18" charset="0"/>
                            <a:cs typeface="Arial" panose="020B0604020202020204" pitchFamily="34" charset="0"/>
                          </a:rPr>
                          <m:t>𝑦</m:t>
                        </m:r>
                      </m:e>
                      <m:e>
                        <m:r>
                          <m:rPr>
                            <m:nor/>
                          </m:rPr>
                          <a:rPr lang="en-US" sz="2000" b="0" i="0" smtClean="0">
                            <a:latin typeface="Cambria Math" panose="02040503050406030204" pitchFamily="18" charset="0"/>
                            <a:cs typeface="Arial" panose="020B0604020202020204" pitchFamily="34" charset="0"/>
                          </a:rPr>
                          <m:t>region</m:t>
                        </m:r>
                        <m:r>
                          <m:rPr>
                            <m:nor/>
                          </m:rPr>
                          <a:rPr lang="en-US" sz="2000" b="0" i="0" smtClean="0">
                            <a:latin typeface="Cambria Math" panose="02040503050406030204" pitchFamily="18" charset="0"/>
                            <a:cs typeface="Arial" panose="020B0604020202020204" pitchFamily="34" charset="0"/>
                          </a:rPr>
                          <m:t> </m:t>
                        </m:r>
                        <m:r>
                          <m:rPr>
                            <m:nor/>
                          </m:rPr>
                          <a:rPr lang="en-US" sz="2000" b="0" i="0" smtClean="0">
                            <a:latin typeface="Cambria Math" panose="02040503050406030204" pitchFamily="18" charset="0"/>
                            <a:cs typeface="Arial" panose="020B0604020202020204" pitchFamily="34" charset="0"/>
                          </a:rPr>
                          <m:t>C</m:t>
                        </m:r>
                      </m:e>
                    </m:d>
                    <m:r>
                      <a:rPr lang="en-US" sz="2000" b="0" i="1" dirty="0"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0</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d>
                      <m:dPr>
                        <m:ctrlPr>
                          <a:rPr lang="en-US" sz="2000" i="1">
                            <a:latin typeface="Cambria Math" panose="02040503050406030204" pitchFamily="18" charset="0"/>
                          </a:rPr>
                        </m:ctrlPr>
                      </m:dPr>
                      <m:e>
                        <m:r>
                          <a:rPr lang="en-US" sz="2000" i="1">
                            <a:latin typeface="Cambria Math" panose="02040503050406030204" pitchFamily="18" charset="0"/>
                            <a:cs typeface="Arial" panose="020B0604020202020204" pitchFamily="34" charset="0"/>
                          </a:rPr>
                          <m:t>0</m:t>
                        </m:r>
                      </m:e>
                    </m:d>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2</m:t>
                        </m:r>
                      </m:sub>
                    </m:sSub>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e>
                    </m:d>
                    <m:r>
                      <a:rPr lang="en-US" sz="2000" b="0" i="1" smtClean="0">
                        <a:latin typeface="Cambria Math" panose="02040503050406030204" pitchFamily="18" charset="0"/>
                        <a:cs typeface="Arial" panose="020B0604020202020204" pitchFamily="34" charset="0"/>
                      </a:rPr>
                      <m:t>=</m:t>
                    </m:r>
                    <m:sSub>
                      <m:sSubPr>
                        <m:ctrlPr>
                          <a:rPr lang="en-US" sz="2000" i="1">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0</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2</m:t>
                        </m:r>
                      </m:sub>
                    </m:sSub>
                  </m:oMath>
                </a14:m>
                <a:r>
                  <a:rPr lang="en-US" sz="2000" dirty="0"/>
                  <a:t> </a:t>
                </a:r>
              </a:p>
              <a:p>
                <a:pPr>
                  <a:lnSpc>
                    <a:spcPct val="100000"/>
                  </a:lnSpc>
                  <a:spcBef>
                    <a:spcPts val="600"/>
                  </a:spcBef>
                </a:pPr>
                <a:r>
                  <a:rPr lang="en-US" sz="2000" dirty="0"/>
                  <a:t>Thus, the regression parameters are interpreted as follows.</a:t>
                </a:r>
              </a:p>
              <a:p>
                <a:pPr marL="914400">
                  <a:lnSpc>
                    <a:spcPct val="100000"/>
                  </a:lnSpc>
                  <a:spcBef>
                    <a:spcPts val="600"/>
                  </a:spcBef>
                </a:pPr>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0</m:t>
                        </m:r>
                      </m:sub>
                    </m:sSub>
                  </m:oMath>
                </a14:m>
                <a:r>
                  <a:rPr lang="en-US" sz="2000" dirty="0"/>
                  <a:t> is the mean or expected value of sales for region A.</a:t>
                </a:r>
              </a:p>
              <a:p>
                <a:pPr marL="914400">
                  <a:lnSpc>
                    <a:spcPct val="100000"/>
                  </a:lnSpc>
                  <a:spcBef>
                    <a:spcPts val="600"/>
                  </a:spcBef>
                </a:pPr>
                <a14:m>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𝛽</m:t>
                        </m:r>
                      </m:e>
                      <m:sub>
                        <m:r>
                          <a:rPr lang="en-US" sz="2000" i="1">
                            <a:latin typeface="Cambria Math" panose="02040503050406030204" pitchFamily="18" charset="0"/>
                          </a:rPr>
                          <m:t>1</m:t>
                        </m:r>
                      </m:sub>
                    </m:sSub>
                  </m:oMath>
                </a14:m>
                <a:r>
                  <a:rPr lang="en-US" sz="2000" dirty="0"/>
                  <a:t> is the difference between the mean number of units sold in region B and the mean number of units sold in region A.</a:t>
                </a:r>
              </a:p>
              <a:p>
                <a:pPr marL="914400">
                  <a:lnSpc>
                    <a:spcPct val="100000"/>
                  </a:lnSpc>
                  <a:spcBef>
                    <a:spcPts val="600"/>
                  </a:spcBef>
                </a:pP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𝛽</m:t>
                        </m:r>
                      </m:e>
                      <m:sub>
                        <m:r>
                          <a:rPr lang="en-US" sz="2000" b="0" i="1" smtClean="0">
                            <a:latin typeface="Cambria Math" panose="02040503050406030204" pitchFamily="18" charset="0"/>
                          </a:rPr>
                          <m:t>2</m:t>
                        </m:r>
                      </m:sub>
                    </m:sSub>
                  </m:oMath>
                </a14:m>
                <a:r>
                  <a:rPr lang="en-US" sz="2000" dirty="0"/>
                  <a:t> is the difference between the mean number of units sold in region C and the mean number of units sold in region A.</a:t>
                </a:r>
              </a:p>
            </p:txBody>
          </p:sp>
        </mc:Choice>
        <mc:Fallback xmlns="">
          <p:sp>
            <p:nvSpPr>
              <p:cNvPr id="7" name="Text Placeholder 6">
                <a:extLst>
                  <a:ext uri="{FF2B5EF4-FFF2-40B4-BE49-F238E27FC236}">
                    <a16:creationId xmlns:a16="http://schemas.microsoft.com/office/drawing/2014/main" id="{824741B2-F1FC-130D-DDDD-127DED70424A}"/>
                  </a:ext>
                </a:extLst>
              </p:cNvPr>
              <p:cNvSpPr>
                <a:spLocks noGrp="1" noRot="1" noChangeAspect="1" noMove="1" noResize="1" noEditPoints="1" noAdjustHandles="1" noChangeArrowheads="1" noChangeShapeType="1" noTextEdit="1"/>
              </p:cNvSpPr>
              <p:nvPr>
                <p:ph type="body" sz="quarter" idx="15"/>
              </p:nvPr>
            </p:nvSpPr>
            <p:spPr>
              <a:xfrm>
                <a:off x="743576" y="1639612"/>
                <a:ext cx="10711543" cy="4209393"/>
              </a:xfrm>
              <a:blipFill>
                <a:blip r:embed="rId2"/>
                <a:stretch>
                  <a:fillRect l="-1480" t="-1739" r="-1992" b="-3333"/>
                </a:stretch>
              </a:blipFill>
            </p:spPr>
            <p:txBody>
              <a:bodyPr/>
              <a:lstStyle/>
              <a:p>
                <a:r>
                  <a:rPr lang="en-US">
                    <a:noFill/>
                  </a:rPr>
                  <a:t> </a:t>
                </a:r>
              </a:p>
            </p:txBody>
          </p:sp>
        </mc:Fallback>
      </mc:AlternateContent>
    </p:spTree>
    <p:extLst>
      <p:ext uri="{BB962C8B-B14F-4D97-AF65-F5344CB8AC3E}">
        <p14:creationId xmlns:p14="http://schemas.microsoft.com/office/powerpoint/2010/main" val="19695960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D8791-3448-2344-71E5-2534D0CC6F5A}"/>
              </a:ext>
            </a:extLst>
          </p:cNvPr>
          <p:cNvSpPr>
            <a:spLocks noGrp="1"/>
          </p:cNvSpPr>
          <p:nvPr>
            <p:ph type="title"/>
          </p:nvPr>
        </p:nvSpPr>
        <p:spPr/>
        <p:txBody>
          <a:bodyPr/>
          <a:lstStyle/>
          <a:p>
            <a:r>
              <a:rPr lang="en-US" dirty="0">
                <a:solidFill>
                  <a:srgbClr val="D14B1E"/>
                </a:solidFill>
              </a:rPr>
              <a:t>15.8 Residual Analysis</a:t>
            </a:r>
            <a:endParaRPr lang="en-US" dirty="0"/>
          </a:p>
        </p:txBody>
      </p:sp>
      <p:sp>
        <p:nvSpPr>
          <p:cNvPr id="3" name="Text Placeholder 2">
            <a:extLst>
              <a:ext uri="{FF2B5EF4-FFF2-40B4-BE49-F238E27FC236}">
                <a16:creationId xmlns:a16="http://schemas.microsoft.com/office/drawing/2014/main" id="{38D82A88-7B6D-030E-5F2D-1DA29E82B579}"/>
              </a:ext>
            </a:extLst>
          </p:cNvPr>
          <p:cNvSpPr>
            <a:spLocks noGrp="1"/>
          </p:cNvSpPr>
          <p:nvPr>
            <p:ph type="body" sz="quarter" idx="15"/>
          </p:nvPr>
        </p:nvSpPr>
        <p:spPr>
          <a:xfrm>
            <a:off x="793194" y="1193007"/>
            <a:ext cx="10515600" cy="1378744"/>
          </a:xfrm>
        </p:spPr>
        <p:txBody>
          <a:bodyPr/>
          <a:lstStyle/>
          <a:p>
            <a:r>
              <a:rPr lang="en-US" dirty="0"/>
              <a:t>In Chapter 14, we showed how a residual plot against the independent variable 𝑥 can be used to validate the assumptions for a simple linear regression model. </a:t>
            </a:r>
          </a:p>
          <a:p>
            <a:r>
              <a:rPr lang="en-US" dirty="0"/>
              <a:t>Because multiple regression deals with two or more independent variables, we would have to examine a residual plot against each independent variable to use this approach.</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CB5308B6-A808-2ECE-826A-99D57A0AD7EE}"/>
                  </a:ext>
                </a:extLst>
              </p:cNvPr>
              <p:cNvSpPr>
                <a:spLocks noGrp="1"/>
              </p:cNvSpPr>
              <p:nvPr>
                <p:ph type="body" sz="quarter" idx="18"/>
              </p:nvPr>
            </p:nvSpPr>
            <p:spPr>
              <a:xfrm>
                <a:off x="786050" y="2643668"/>
                <a:ext cx="5929075" cy="3256222"/>
              </a:xfrm>
            </p:spPr>
            <p:txBody>
              <a:bodyPr/>
              <a:lstStyle/>
              <a:p>
                <a:r>
                  <a:rPr lang="en-US" dirty="0"/>
                  <a:t>The more common approach in multiple regression analysis is to develop a residual plot against the predicted values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𝑦</m:t>
                        </m:r>
                      </m:e>
                    </m:acc>
                  </m:oMath>
                </a14:m>
                <a:r>
                  <a:rPr lang="en-US" dirty="0"/>
                  <a:t>.</a:t>
                </a:r>
              </a:p>
              <a:p>
                <a:pPr>
                  <a:spcAft>
                    <a:spcPts val="600"/>
                  </a:spcAft>
                </a:pPr>
                <a:r>
                  <a:rPr lang="en-US" dirty="0"/>
                  <a:t>For the </a:t>
                </a:r>
                <a:r>
                  <a:rPr lang="en-US" dirty="0" err="1"/>
                  <a:t>ButlerTrucking</a:t>
                </a:r>
                <a:r>
                  <a:rPr lang="en-US" dirty="0"/>
                  <a:t> multiple regression example, the estimated regression equation that we developed using Excel (see Section 15.2) is</a:t>
                </a:r>
              </a:p>
              <a:p>
                <a:pPr/>
                <a14:m>
                  <m:oMathPara xmlns:m="http://schemas.openxmlformats.org/officeDocument/2006/math">
                    <m:oMathParaPr>
                      <m:jc m:val="centerGroup"/>
                    </m:oMathParaPr>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𝑦</m:t>
                          </m:r>
                        </m:e>
                      </m:acc>
                      <m:r>
                        <a:rPr lang="en-US" sz="2000" b="0" i="1" smtClean="0">
                          <a:latin typeface="Cambria Math" panose="02040503050406030204" pitchFamily="18" charset="0"/>
                        </a:rPr>
                        <m:t>=−0.8687+0.0611</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+0.9234</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oMath>
                  </m:oMathPara>
                </a14:m>
                <a:endParaRPr lang="en-US" dirty="0"/>
              </a:p>
              <a:p>
                <a:r>
                  <a:rPr lang="en-US" dirty="0"/>
                  <a:t>Based on this equation, we computed the residuals as shown in the table to the right.</a:t>
                </a:r>
              </a:p>
            </p:txBody>
          </p:sp>
        </mc:Choice>
        <mc:Fallback xmlns="">
          <p:sp>
            <p:nvSpPr>
              <p:cNvPr id="4" name="Text Placeholder 3">
                <a:extLst>
                  <a:ext uri="{FF2B5EF4-FFF2-40B4-BE49-F238E27FC236}">
                    <a16:creationId xmlns:a16="http://schemas.microsoft.com/office/drawing/2014/main" id="{CB5308B6-A808-2ECE-826A-99D57A0AD7EE}"/>
                  </a:ext>
                </a:extLst>
              </p:cNvPr>
              <p:cNvSpPr>
                <a:spLocks noGrp="1" noRot="1" noChangeAspect="1" noMove="1" noResize="1" noEditPoints="1" noAdjustHandles="1" noChangeArrowheads="1" noChangeShapeType="1" noTextEdit="1"/>
              </p:cNvSpPr>
              <p:nvPr>
                <p:ph type="body" sz="quarter" idx="18"/>
              </p:nvPr>
            </p:nvSpPr>
            <p:spPr>
              <a:xfrm>
                <a:off x="786050" y="2643668"/>
                <a:ext cx="5929075" cy="3256222"/>
              </a:xfrm>
              <a:blipFill>
                <a:blip r:embed="rId2"/>
                <a:stretch>
                  <a:fillRect l="-2672" t="-2247" r="-164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Placeholder 5">
                <a:extLst>
                  <a:ext uri="{FF2B5EF4-FFF2-40B4-BE49-F238E27FC236}">
                    <a16:creationId xmlns:a16="http://schemas.microsoft.com/office/drawing/2014/main" id="{7491F650-7CB1-1F9B-5205-EB7D8F6617ED}"/>
                  </a:ext>
                </a:extLst>
              </p:cNvPr>
              <p:cNvGraphicFramePr>
                <a:graphicFrameLocks noGrp="1"/>
              </p:cNvGraphicFramePr>
              <p:nvPr>
                <p:ph type="tbl" sz="quarter" idx="22"/>
                <p:extLst>
                  <p:ext uri="{D42A27DB-BD31-4B8C-83A1-F6EECF244321}">
                    <p14:modId xmlns:p14="http://schemas.microsoft.com/office/powerpoint/2010/main" val="2055911239"/>
                  </p:ext>
                </p:extLst>
              </p:nvPr>
            </p:nvGraphicFramePr>
            <p:xfrm>
              <a:off x="6845735" y="2643668"/>
              <a:ext cx="4470014" cy="3256222"/>
            </p:xfrm>
            <a:graphic>
              <a:graphicData uri="http://schemas.openxmlformats.org/drawingml/2006/table">
                <a:tbl>
                  <a:tblPr firstRow="1">
                    <a:tableStyleId>{5C22544A-7EE6-4342-B048-85BDC9FD1C3A}</a:tableStyleId>
                  </a:tblPr>
                  <a:tblGrid>
                    <a:gridCol w="950079">
                      <a:extLst>
                        <a:ext uri="{9D8B030D-6E8A-4147-A177-3AD203B41FA5}">
                          <a16:colId xmlns:a16="http://schemas.microsoft.com/office/drawing/2014/main" val="3987008154"/>
                        </a:ext>
                      </a:extLst>
                    </a:gridCol>
                    <a:gridCol w="950079">
                      <a:extLst>
                        <a:ext uri="{9D8B030D-6E8A-4147-A177-3AD203B41FA5}">
                          <a16:colId xmlns:a16="http://schemas.microsoft.com/office/drawing/2014/main" val="167466036"/>
                        </a:ext>
                      </a:extLst>
                    </a:gridCol>
                    <a:gridCol w="669698">
                      <a:extLst>
                        <a:ext uri="{9D8B030D-6E8A-4147-A177-3AD203B41FA5}">
                          <a16:colId xmlns:a16="http://schemas.microsoft.com/office/drawing/2014/main" val="2622058825"/>
                        </a:ext>
                      </a:extLst>
                    </a:gridCol>
                    <a:gridCol w="1000083">
                      <a:extLst>
                        <a:ext uri="{9D8B030D-6E8A-4147-A177-3AD203B41FA5}">
                          <a16:colId xmlns:a16="http://schemas.microsoft.com/office/drawing/2014/main" val="2144216621"/>
                        </a:ext>
                      </a:extLst>
                    </a:gridCol>
                    <a:gridCol w="900075">
                      <a:extLst>
                        <a:ext uri="{9D8B030D-6E8A-4147-A177-3AD203B41FA5}">
                          <a16:colId xmlns:a16="http://schemas.microsoft.com/office/drawing/2014/main" val="4209648873"/>
                        </a:ext>
                      </a:extLst>
                    </a:gridCol>
                  </a:tblGrid>
                  <a:tr h="227453">
                    <a:tc>
                      <a:txBody>
                        <a:bodyPr/>
                        <a:lstStyle/>
                        <a:p>
                          <a:pPr algn="ctr" fontAlgn="b"/>
                          <a:r>
                            <a:rPr lang="en-US" sz="1600" b="1" u="none" strike="noStrike" dirty="0">
                              <a:solidFill>
                                <a:srgbClr val="000000"/>
                              </a:solidFill>
                              <a:effectLst/>
                            </a:rPr>
                            <a:t>Miles </a:t>
                          </a:r>
                          <a:endParaRPr lang="en-US" sz="1600" b="1"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endParaRPr lang="en-US" sz="1600" b="1"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u="none" strike="noStrike" dirty="0">
                              <a:solidFill>
                                <a:srgbClr val="000000"/>
                              </a:solidFill>
                              <a:effectLst/>
                            </a:rPr>
                            <a:t>Travel </a:t>
                          </a:r>
                          <a:endParaRPr lang="en-US" sz="1600" b="1"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u="none" strike="noStrike" dirty="0">
                              <a:solidFill>
                                <a:srgbClr val="000000"/>
                              </a:solidFill>
                              <a:effectLst/>
                            </a:rPr>
                            <a:t>Predicted </a:t>
                          </a:r>
                          <a:endParaRPr lang="en-US" sz="1600" b="1"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endParaRPr lang="en-US" sz="1600" b="1"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574162373"/>
                      </a:ext>
                    </a:extLst>
                  </a:tr>
                  <a:tr h="227453">
                    <a:tc>
                      <a:txBody>
                        <a:bodyPr/>
                        <a:lstStyle/>
                        <a:p>
                          <a:pPr algn="ctr" fontAlgn="b"/>
                          <a:r>
                            <a:rPr lang="en-US" sz="1600" b="1" u="none" strike="noStrike" dirty="0">
                              <a:solidFill>
                                <a:srgbClr val="000000"/>
                              </a:solidFill>
                              <a:effectLst/>
                            </a:rPr>
                            <a:t>Traveled </a:t>
                          </a:r>
                          <a:endParaRPr lang="en-US" sz="1600" b="1" i="0" u="none" strike="noStrike" dirty="0">
                            <a:solidFill>
                              <a:srgbClr val="000000"/>
                            </a:solidFill>
                            <a:effectLst/>
                            <a:latin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u="none" strike="noStrike" dirty="0">
                              <a:solidFill>
                                <a:srgbClr val="000000"/>
                              </a:solidFill>
                              <a:effectLst/>
                            </a:rPr>
                            <a:t>Deliveries </a:t>
                          </a:r>
                          <a:endParaRPr lang="en-US" sz="1600" b="1" i="0" u="none" strike="noStrike" dirty="0">
                            <a:solidFill>
                              <a:srgbClr val="000000"/>
                            </a:solidFill>
                            <a:effectLst/>
                            <a:latin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u="none" strike="noStrike" dirty="0">
                              <a:solidFill>
                                <a:srgbClr val="000000"/>
                              </a:solidFill>
                              <a:effectLst/>
                            </a:rPr>
                            <a:t>Time </a:t>
                          </a:r>
                          <a:endParaRPr lang="en-US" sz="1600" b="1" i="0" u="none" strike="noStrike" dirty="0">
                            <a:solidFill>
                              <a:srgbClr val="000000"/>
                            </a:solidFill>
                            <a:effectLst/>
                            <a:latin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u="none" strike="noStrike" dirty="0">
                              <a:solidFill>
                                <a:srgbClr val="000000"/>
                              </a:solidFill>
                              <a:effectLst/>
                            </a:rPr>
                            <a:t>Value </a:t>
                          </a:r>
                          <a:endParaRPr lang="en-US" sz="1600" b="1" i="0" u="none" strike="noStrike" dirty="0">
                            <a:solidFill>
                              <a:srgbClr val="000000"/>
                            </a:solidFill>
                            <a:effectLst/>
                            <a:latin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u="none" strike="noStrike" dirty="0">
                              <a:solidFill>
                                <a:srgbClr val="000000"/>
                              </a:solidFill>
                              <a:effectLst/>
                            </a:rPr>
                            <a:t>Residual </a:t>
                          </a:r>
                          <a:endParaRPr lang="en-US" sz="1600" b="1" i="0" u="none" strike="noStrike" dirty="0">
                            <a:solidFill>
                              <a:srgbClr val="000000"/>
                            </a:solidFill>
                            <a:effectLst/>
                            <a:latin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734404217"/>
                      </a:ext>
                    </a:extLst>
                  </a:tr>
                  <a:tr h="266642">
                    <a:tc>
                      <a:txBody>
                        <a:bodyPr/>
                        <a:lstStyle/>
                        <a:p>
                          <a:pPr algn="ctr" fontAlgn="b"/>
                          <a:r>
                            <a:rPr lang="en-US" sz="1600" b="1" u="none" strike="noStrike" dirty="0">
                              <a:solidFill>
                                <a:srgbClr val="000000"/>
                              </a:solidFill>
                              <a:effectLst/>
                            </a:rPr>
                            <a:t>(</a:t>
                          </a:r>
                          <a:r>
                            <a:rPr lang="en-US" sz="1600" b="1" i="1" u="none" strike="noStrike" dirty="0">
                              <a:solidFill>
                                <a:srgbClr val="000000"/>
                              </a:solidFill>
                              <a:effectLst/>
                            </a:rPr>
                            <a:t>x</a:t>
                          </a:r>
                          <a:r>
                            <a:rPr lang="en-US" sz="1600" b="1" u="none" strike="noStrike" baseline="-25000" dirty="0">
                              <a:solidFill>
                                <a:srgbClr val="000000"/>
                              </a:solidFill>
                              <a:effectLst/>
                            </a:rPr>
                            <a:t>1</a:t>
                          </a:r>
                          <a:r>
                            <a:rPr lang="en-US" sz="1600" b="1" u="none" strike="noStrike" dirty="0">
                              <a:solidFill>
                                <a:srgbClr val="000000"/>
                              </a:solidFill>
                              <a:effectLst/>
                            </a:rPr>
                            <a:t>)</a:t>
                          </a:r>
                          <a:endParaRPr lang="en-US" sz="1600" b="1" i="0" u="none" strike="noStrike" dirty="0">
                            <a:solidFill>
                              <a:srgbClr val="000000"/>
                            </a:solidFill>
                            <a:effectLst/>
                            <a:latin typeface="Calibri" panose="020F0502020204030204" pitchFamily="34"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u="none" strike="noStrike" dirty="0">
                              <a:solidFill>
                                <a:srgbClr val="000000"/>
                              </a:solidFill>
                              <a:effectLst/>
                            </a:rPr>
                            <a:t>(</a:t>
                          </a:r>
                          <a:r>
                            <a:rPr lang="en-US" sz="1600" b="1" i="1" u="none" strike="noStrike" dirty="0">
                              <a:solidFill>
                                <a:srgbClr val="000000"/>
                              </a:solidFill>
                              <a:effectLst/>
                            </a:rPr>
                            <a:t>x</a:t>
                          </a:r>
                          <a:r>
                            <a:rPr lang="en-US" sz="1600" b="1" u="none" strike="noStrike" baseline="-25000" dirty="0">
                              <a:solidFill>
                                <a:srgbClr val="000000"/>
                              </a:solidFill>
                              <a:effectLst/>
                            </a:rPr>
                            <a:t>2</a:t>
                          </a:r>
                          <a:r>
                            <a:rPr lang="en-US" sz="1600" b="1" u="none" strike="noStrike" dirty="0">
                              <a:solidFill>
                                <a:srgbClr val="000000"/>
                              </a:solidFill>
                              <a:effectLst/>
                            </a:rPr>
                            <a:t>)</a:t>
                          </a:r>
                          <a:endParaRPr lang="en-US" sz="1600" b="1" i="0" u="none" strike="noStrike" dirty="0">
                            <a:solidFill>
                              <a:srgbClr val="000000"/>
                            </a:solidFill>
                            <a:effectLst/>
                            <a:latin typeface="Calibri" panose="020F0502020204030204" pitchFamily="34"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u="none" strike="noStrike" dirty="0">
                              <a:solidFill>
                                <a:srgbClr val="000000"/>
                              </a:solidFill>
                              <a:effectLst/>
                            </a:rPr>
                            <a:t>(</a:t>
                          </a:r>
                          <a:r>
                            <a:rPr lang="en-US" sz="1600" b="1" i="1" u="none" strike="noStrike" dirty="0">
                              <a:solidFill>
                                <a:srgbClr val="000000"/>
                              </a:solidFill>
                              <a:effectLst/>
                            </a:rPr>
                            <a:t>y</a:t>
                          </a:r>
                          <a:r>
                            <a:rPr lang="en-US" sz="1600" b="1" u="none" strike="noStrike" dirty="0">
                              <a:solidFill>
                                <a:srgbClr val="000000"/>
                              </a:solidFill>
                              <a:effectLst/>
                            </a:rPr>
                            <a:t>) </a:t>
                          </a:r>
                          <a:endParaRPr lang="en-US" sz="1600" b="1" i="0" u="none" strike="noStrike" dirty="0">
                            <a:solidFill>
                              <a:srgbClr val="000000"/>
                            </a:solidFill>
                            <a:effectLst/>
                            <a:latin typeface="Calibri" panose="020F0502020204030204" pitchFamily="34"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u="none" strike="noStrike" dirty="0">
                              <a:solidFill>
                                <a:srgbClr val="000000"/>
                              </a:solidFill>
                              <a:effectLst/>
                            </a:rPr>
                            <a:t>(</a:t>
                          </a:r>
                          <a14:m>
                            <m:oMath xmlns:m="http://schemas.openxmlformats.org/officeDocument/2006/math">
                              <m:acc>
                                <m:accPr>
                                  <m:chr m:val="̂"/>
                                  <m:ctrlPr>
                                    <a:rPr lang="en-US" sz="1600" b="1" i="1" u="none" strike="noStrike" smtClean="0">
                                      <a:solidFill>
                                        <a:srgbClr val="000000"/>
                                      </a:solidFill>
                                      <a:effectLst/>
                                      <a:latin typeface="Cambria Math" panose="02040503050406030204" pitchFamily="18" charset="0"/>
                                    </a:rPr>
                                  </m:ctrlPr>
                                </m:accPr>
                                <m:e>
                                  <m:r>
                                    <a:rPr lang="en-US" sz="1600" b="1" i="1" u="none" strike="noStrike" smtClean="0">
                                      <a:solidFill>
                                        <a:srgbClr val="000000"/>
                                      </a:solidFill>
                                      <a:effectLst/>
                                      <a:latin typeface="Cambria Math" panose="02040503050406030204" pitchFamily="18" charset="0"/>
                                    </a:rPr>
                                    <m:t>𝒚</m:t>
                                  </m:r>
                                </m:e>
                              </m:acc>
                            </m:oMath>
                          </a14:m>
                          <a:r>
                            <a:rPr lang="en-US" sz="1600" b="1" u="none" strike="noStrike" dirty="0">
                              <a:solidFill>
                                <a:srgbClr val="000000"/>
                              </a:solidFill>
                              <a:effectLst/>
                            </a:rPr>
                            <a:t>)</a:t>
                          </a:r>
                          <a:endParaRPr lang="en-US" sz="1600" b="1" i="0" u="none" strike="noStrike" dirty="0">
                            <a:solidFill>
                              <a:srgbClr val="000000"/>
                            </a:solidFill>
                            <a:effectLst/>
                            <a:latin typeface="Calibri" panose="020F0502020204030204" pitchFamily="34"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u="none" strike="noStrike" dirty="0">
                              <a:solidFill>
                                <a:srgbClr val="000000"/>
                              </a:solidFill>
                              <a:effectLst/>
                            </a:rPr>
                            <a:t>(</a:t>
                          </a:r>
                          <a14:m>
                            <m:oMath xmlns:m="http://schemas.openxmlformats.org/officeDocument/2006/math">
                              <m:r>
                                <a:rPr lang="en-US" sz="1600" b="1" i="1" u="none" strike="noStrike" smtClean="0">
                                  <a:solidFill>
                                    <a:srgbClr val="000000"/>
                                  </a:solidFill>
                                  <a:effectLst/>
                                  <a:latin typeface="Cambria Math" panose="02040503050406030204" pitchFamily="18" charset="0"/>
                                </a:rPr>
                                <m:t>𝒚</m:t>
                              </m:r>
                              <m:r>
                                <a:rPr lang="en-US" sz="1600" b="1" i="1" u="none" strike="noStrike" smtClean="0">
                                  <a:solidFill>
                                    <a:srgbClr val="000000"/>
                                  </a:solidFill>
                                  <a:effectLst/>
                                  <a:latin typeface="Cambria Math" panose="02040503050406030204" pitchFamily="18" charset="0"/>
                                </a:rPr>
                                <m:t>−</m:t>
                              </m:r>
                              <m:acc>
                                <m:accPr>
                                  <m:chr m:val="̂"/>
                                  <m:ctrlPr>
                                    <a:rPr lang="en-US" sz="1600" b="1" i="1" u="none" strike="noStrike" smtClean="0">
                                      <a:solidFill>
                                        <a:srgbClr val="000000"/>
                                      </a:solidFill>
                                      <a:effectLst/>
                                      <a:latin typeface="Cambria Math" panose="02040503050406030204" pitchFamily="18" charset="0"/>
                                    </a:rPr>
                                  </m:ctrlPr>
                                </m:accPr>
                                <m:e>
                                  <m:r>
                                    <a:rPr lang="en-US" sz="1600" b="1" i="1" u="none" strike="noStrike" smtClean="0">
                                      <a:solidFill>
                                        <a:srgbClr val="000000"/>
                                      </a:solidFill>
                                      <a:effectLst/>
                                      <a:latin typeface="Cambria Math" panose="02040503050406030204" pitchFamily="18" charset="0"/>
                                    </a:rPr>
                                    <m:t>𝒚</m:t>
                                  </m:r>
                                </m:e>
                              </m:acc>
                            </m:oMath>
                          </a14:m>
                          <a:r>
                            <a:rPr lang="en-US" sz="1600" b="1" u="none" strike="noStrike" dirty="0">
                              <a:solidFill>
                                <a:srgbClr val="000000"/>
                              </a:solidFill>
                              <a:effectLst/>
                            </a:rPr>
                            <a:t>)</a:t>
                          </a:r>
                          <a:endParaRPr lang="en-US" sz="1600" b="1" i="0" u="none" strike="noStrike" dirty="0">
                            <a:solidFill>
                              <a:srgbClr val="000000"/>
                            </a:solidFill>
                            <a:effectLst/>
                            <a:latin typeface="Calibri" panose="020F0502020204030204" pitchFamily="34"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119871306"/>
                      </a:ext>
                    </a:extLst>
                  </a:tr>
                  <a:tr h="233376">
                    <a:tc>
                      <a:txBody>
                        <a:bodyPr/>
                        <a:lstStyle/>
                        <a:p>
                          <a:pPr algn="l" fontAlgn="b">
                            <a:tabLst>
                              <a:tab pos="571500" algn="r"/>
                            </a:tabLst>
                          </a:pPr>
                          <a:r>
                            <a:rPr lang="en-US" sz="1600" u="none" strike="noStrike" dirty="0">
                              <a:solidFill>
                                <a:srgbClr val="000000"/>
                              </a:solidFill>
                              <a:effectLst/>
                            </a:rPr>
                            <a:t>	100</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4</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tabLst>
                              <a:tab pos="342900" algn="r"/>
                            </a:tabLst>
                          </a:pPr>
                          <a:r>
                            <a:rPr lang="en-US" sz="1600" u="none" strike="noStrike" dirty="0">
                              <a:solidFill>
                                <a:srgbClr val="000000"/>
                              </a:solidFill>
                              <a:effectLst/>
                            </a:rPr>
                            <a:t>9.3</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8.9385</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 pos="914400" algn="r"/>
                            </a:tabLst>
                          </a:pPr>
                          <a:r>
                            <a:rPr lang="en-US" sz="1600" u="none" strike="noStrike" dirty="0">
                              <a:solidFill>
                                <a:srgbClr val="000000"/>
                              </a:solidFill>
                              <a:effectLst/>
                            </a:rPr>
                            <a:t>	0.3615</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347849676"/>
                      </a:ext>
                    </a:extLst>
                  </a:tr>
                  <a:tr h="233376">
                    <a:tc>
                      <a:txBody>
                        <a:bodyPr/>
                        <a:lstStyle/>
                        <a:p>
                          <a:pPr algn="l" fontAlgn="b">
                            <a:tabLst>
                              <a:tab pos="571500" algn="r"/>
                            </a:tabLst>
                          </a:pPr>
                          <a:r>
                            <a:rPr lang="en-US" sz="1600" u="none" strike="noStrike" dirty="0">
                              <a:solidFill>
                                <a:srgbClr val="000000"/>
                              </a:solidFill>
                              <a:effectLst/>
                            </a:rPr>
                            <a:t>	50</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a:solidFill>
                                <a:srgbClr val="000000"/>
                              </a:solidFill>
                              <a:effectLst/>
                            </a:rPr>
                            <a:t>3</a:t>
                          </a:r>
                          <a:endParaRPr lang="en-US" sz="16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4.8</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4.9583</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 pos="914400" algn="r"/>
                            </a:tabLst>
                          </a:pPr>
                          <a:r>
                            <a:rPr lang="en-US" sz="1600" u="none" strike="noStrike" dirty="0">
                              <a:solidFill>
                                <a:srgbClr val="000000"/>
                              </a:solidFill>
                              <a:effectLst/>
                            </a:rPr>
                            <a:t>	-0.1583</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690812491"/>
                      </a:ext>
                    </a:extLst>
                  </a:tr>
                  <a:tr h="233376">
                    <a:tc>
                      <a:txBody>
                        <a:bodyPr/>
                        <a:lstStyle/>
                        <a:p>
                          <a:pPr algn="l" fontAlgn="b">
                            <a:tabLst>
                              <a:tab pos="571500" algn="r"/>
                            </a:tabLst>
                          </a:pPr>
                          <a:r>
                            <a:rPr lang="en-US" sz="1600" u="none" strike="noStrike" dirty="0">
                              <a:solidFill>
                                <a:srgbClr val="000000"/>
                              </a:solidFill>
                              <a:effectLst/>
                            </a:rPr>
                            <a:t>	100</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4</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8.9</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8.9385</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 pos="914400" algn="r"/>
                            </a:tabLst>
                          </a:pPr>
                          <a:r>
                            <a:rPr lang="en-US" sz="1600" u="none" strike="noStrike" dirty="0">
                              <a:solidFill>
                                <a:srgbClr val="000000"/>
                              </a:solidFill>
                              <a:effectLst/>
                            </a:rPr>
                            <a:t>	-0.0385 </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512291040"/>
                      </a:ext>
                    </a:extLst>
                  </a:tr>
                  <a:tr h="233376">
                    <a:tc>
                      <a:txBody>
                        <a:bodyPr/>
                        <a:lstStyle/>
                        <a:p>
                          <a:pPr algn="l" fontAlgn="b">
                            <a:tabLst>
                              <a:tab pos="571500" algn="r"/>
                            </a:tabLst>
                          </a:pPr>
                          <a:r>
                            <a:rPr lang="en-US" sz="1600" u="none" strike="noStrike" dirty="0">
                              <a:solidFill>
                                <a:srgbClr val="000000"/>
                              </a:solidFill>
                              <a:effectLst/>
                            </a:rPr>
                            <a:t>	100</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2</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6.5</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7.0916</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 pos="914400" algn="r"/>
                            </a:tabLst>
                          </a:pPr>
                          <a:r>
                            <a:rPr lang="en-US" sz="1600" u="none" strike="noStrike" dirty="0">
                              <a:solidFill>
                                <a:srgbClr val="000000"/>
                              </a:solidFill>
                              <a:effectLst/>
                            </a:rPr>
                            <a:t>	-0.5916</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835016460"/>
                      </a:ext>
                    </a:extLst>
                  </a:tr>
                  <a:tr h="233376">
                    <a:tc>
                      <a:txBody>
                        <a:bodyPr/>
                        <a:lstStyle/>
                        <a:p>
                          <a:pPr algn="l" fontAlgn="b">
                            <a:tabLst>
                              <a:tab pos="571500" algn="r"/>
                            </a:tabLst>
                          </a:pPr>
                          <a:r>
                            <a:rPr lang="en-US" sz="1600" u="none" strike="noStrike" dirty="0">
                              <a:solidFill>
                                <a:srgbClr val="000000"/>
                              </a:solidFill>
                              <a:effectLst/>
                            </a:rPr>
                            <a:t>	50</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2</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4.2</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4.0349</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 pos="914400" algn="r"/>
                            </a:tabLst>
                          </a:pPr>
                          <a:r>
                            <a:rPr lang="en-US" sz="1600" u="none" strike="noStrike" dirty="0">
                              <a:solidFill>
                                <a:srgbClr val="000000"/>
                              </a:solidFill>
                              <a:effectLst/>
                            </a:rPr>
                            <a:t>	0.1651</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074249738"/>
                      </a:ext>
                    </a:extLst>
                  </a:tr>
                  <a:tr h="233376">
                    <a:tc>
                      <a:txBody>
                        <a:bodyPr/>
                        <a:lstStyle/>
                        <a:p>
                          <a:pPr algn="l" fontAlgn="b">
                            <a:tabLst>
                              <a:tab pos="571500" algn="r"/>
                            </a:tabLst>
                          </a:pPr>
                          <a:r>
                            <a:rPr lang="en-US" sz="1600" u="none" strike="noStrike" dirty="0">
                              <a:solidFill>
                                <a:srgbClr val="000000"/>
                              </a:solidFill>
                              <a:effectLst/>
                            </a:rPr>
                            <a:t>	80</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2</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6.2</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5.8689</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 pos="914400" algn="r"/>
                            </a:tabLst>
                          </a:pPr>
                          <a:r>
                            <a:rPr lang="en-US" sz="1600" u="none" strike="noStrike" dirty="0">
                              <a:solidFill>
                                <a:srgbClr val="000000"/>
                              </a:solidFill>
                              <a:effectLst/>
                            </a:rPr>
                            <a:t>	0.3311</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745874318"/>
                      </a:ext>
                    </a:extLst>
                  </a:tr>
                  <a:tr h="233376">
                    <a:tc>
                      <a:txBody>
                        <a:bodyPr/>
                        <a:lstStyle/>
                        <a:p>
                          <a:pPr algn="l" fontAlgn="b">
                            <a:tabLst>
                              <a:tab pos="571500" algn="r"/>
                            </a:tabLst>
                          </a:pPr>
                          <a:r>
                            <a:rPr lang="en-US" sz="1600" u="none" strike="noStrike" dirty="0">
                              <a:solidFill>
                                <a:srgbClr val="000000"/>
                              </a:solidFill>
                              <a:effectLst/>
                            </a:rPr>
                            <a:t>	75</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3</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7.4</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6.4867</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 pos="914400" algn="r"/>
                            </a:tabLst>
                          </a:pPr>
                          <a:r>
                            <a:rPr lang="en-US" sz="1600" u="none" strike="noStrike" dirty="0">
                              <a:solidFill>
                                <a:srgbClr val="000000"/>
                              </a:solidFill>
                              <a:effectLst/>
                            </a:rPr>
                            <a:t>	0.9133</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188770970"/>
                      </a:ext>
                    </a:extLst>
                  </a:tr>
                  <a:tr h="233376">
                    <a:tc>
                      <a:txBody>
                        <a:bodyPr/>
                        <a:lstStyle/>
                        <a:p>
                          <a:pPr algn="l" fontAlgn="b">
                            <a:tabLst>
                              <a:tab pos="571500" algn="r"/>
                            </a:tabLst>
                          </a:pPr>
                          <a:r>
                            <a:rPr lang="en-US" sz="1600" u="none" strike="noStrike" dirty="0">
                              <a:solidFill>
                                <a:srgbClr val="000000"/>
                              </a:solidFill>
                              <a:effectLst/>
                            </a:rPr>
                            <a:t>	65</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4</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6.0</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6.7988</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 pos="914400" algn="r"/>
                            </a:tabLst>
                          </a:pPr>
                          <a:r>
                            <a:rPr lang="en-US" sz="1600" u="none" strike="noStrike" dirty="0">
                              <a:solidFill>
                                <a:srgbClr val="000000"/>
                              </a:solidFill>
                              <a:effectLst/>
                            </a:rPr>
                            <a:t>	-0.7987</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403496838"/>
                      </a:ext>
                    </a:extLst>
                  </a:tr>
                  <a:tr h="233376">
                    <a:tc>
                      <a:txBody>
                        <a:bodyPr/>
                        <a:lstStyle/>
                        <a:p>
                          <a:pPr algn="l" fontAlgn="b">
                            <a:tabLst>
                              <a:tab pos="571500" algn="r"/>
                            </a:tabLst>
                          </a:pPr>
                          <a:r>
                            <a:rPr lang="en-US" sz="1600" u="none" strike="noStrike" dirty="0">
                              <a:solidFill>
                                <a:srgbClr val="000000"/>
                              </a:solidFill>
                              <a:effectLst/>
                            </a:rPr>
                            <a:t>	90</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3</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7.6</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7.4037</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 pos="914400" algn="r"/>
                            </a:tabLst>
                          </a:pPr>
                          <a:r>
                            <a:rPr lang="en-US" sz="1600" u="none" strike="noStrike" dirty="0">
                              <a:solidFill>
                                <a:srgbClr val="000000"/>
                              </a:solidFill>
                              <a:effectLst/>
                            </a:rPr>
                            <a:t>	0.1963</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829066816"/>
                      </a:ext>
                    </a:extLst>
                  </a:tr>
                  <a:tr h="233376">
                    <a:tc>
                      <a:txBody>
                        <a:bodyPr/>
                        <a:lstStyle/>
                        <a:p>
                          <a:pPr algn="l" fontAlgn="b">
                            <a:tabLst>
                              <a:tab pos="571500" algn="r"/>
                            </a:tabLst>
                          </a:pPr>
                          <a:r>
                            <a:rPr lang="en-US" sz="1600" u="none" strike="noStrike" dirty="0">
                              <a:solidFill>
                                <a:srgbClr val="000000"/>
                              </a:solidFill>
                              <a:effectLst/>
                            </a:rPr>
                            <a:t>	90</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2</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6.1</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6.4803</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 pos="914400" algn="r"/>
                            </a:tabLst>
                          </a:pPr>
                          <a:r>
                            <a:rPr lang="en-US" sz="1600" u="none" strike="noStrike" dirty="0">
                              <a:solidFill>
                                <a:srgbClr val="000000"/>
                              </a:solidFill>
                              <a:effectLst/>
                            </a:rPr>
                            <a:t>	-0.3803</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130358171"/>
                      </a:ext>
                    </a:extLst>
                  </a:tr>
                </a:tbl>
              </a:graphicData>
            </a:graphic>
          </p:graphicFrame>
        </mc:Choice>
        <mc:Fallback xmlns="">
          <p:graphicFrame>
            <p:nvGraphicFramePr>
              <p:cNvPr id="6" name="Table Placeholder 5">
                <a:extLst>
                  <a:ext uri="{FF2B5EF4-FFF2-40B4-BE49-F238E27FC236}">
                    <a16:creationId xmlns:a16="http://schemas.microsoft.com/office/drawing/2014/main" id="{7491F650-7CB1-1F9B-5205-EB7D8F6617ED}"/>
                  </a:ext>
                </a:extLst>
              </p:cNvPr>
              <p:cNvGraphicFramePr>
                <a:graphicFrameLocks noGrp="1"/>
              </p:cNvGraphicFramePr>
              <p:nvPr>
                <p:ph type="tbl" sz="quarter" idx="22"/>
                <p:extLst>
                  <p:ext uri="{D42A27DB-BD31-4B8C-83A1-F6EECF244321}">
                    <p14:modId xmlns:p14="http://schemas.microsoft.com/office/powerpoint/2010/main" val="2055911239"/>
                  </p:ext>
                </p:extLst>
              </p:nvPr>
            </p:nvGraphicFramePr>
            <p:xfrm>
              <a:off x="6845735" y="2643668"/>
              <a:ext cx="4470014" cy="3256222"/>
            </p:xfrm>
            <a:graphic>
              <a:graphicData uri="http://schemas.openxmlformats.org/drawingml/2006/table">
                <a:tbl>
                  <a:tblPr firstRow="1">
                    <a:tableStyleId>{5C22544A-7EE6-4342-B048-85BDC9FD1C3A}</a:tableStyleId>
                  </a:tblPr>
                  <a:tblGrid>
                    <a:gridCol w="950079">
                      <a:extLst>
                        <a:ext uri="{9D8B030D-6E8A-4147-A177-3AD203B41FA5}">
                          <a16:colId xmlns:a16="http://schemas.microsoft.com/office/drawing/2014/main" val="3987008154"/>
                        </a:ext>
                      </a:extLst>
                    </a:gridCol>
                    <a:gridCol w="950079">
                      <a:extLst>
                        <a:ext uri="{9D8B030D-6E8A-4147-A177-3AD203B41FA5}">
                          <a16:colId xmlns:a16="http://schemas.microsoft.com/office/drawing/2014/main" val="167466036"/>
                        </a:ext>
                      </a:extLst>
                    </a:gridCol>
                    <a:gridCol w="669698">
                      <a:extLst>
                        <a:ext uri="{9D8B030D-6E8A-4147-A177-3AD203B41FA5}">
                          <a16:colId xmlns:a16="http://schemas.microsoft.com/office/drawing/2014/main" val="2622058825"/>
                        </a:ext>
                      </a:extLst>
                    </a:gridCol>
                    <a:gridCol w="1000083">
                      <a:extLst>
                        <a:ext uri="{9D8B030D-6E8A-4147-A177-3AD203B41FA5}">
                          <a16:colId xmlns:a16="http://schemas.microsoft.com/office/drawing/2014/main" val="2144216621"/>
                        </a:ext>
                      </a:extLst>
                    </a:gridCol>
                    <a:gridCol w="900075">
                      <a:extLst>
                        <a:ext uri="{9D8B030D-6E8A-4147-A177-3AD203B41FA5}">
                          <a16:colId xmlns:a16="http://schemas.microsoft.com/office/drawing/2014/main" val="4209648873"/>
                        </a:ext>
                      </a:extLst>
                    </a:gridCol>
                  </a:tblGrid>
                  <a:tr h="243840">
                    <a:tc>
                      <a:txBody>
                        <a:bodyPr/>
                        <a:lstStyle/>
                        <a:p>
                          <a:pPr algn="ctr" fontAlgn="b"/>
                          <a:r>
                            <a:rPr lang="en-US" sz="1600" b="1" u="none" strike="noStrike" dirty="0">
                              <a:solidFill>
                                <a:srgbClr val="000000"/>
                              </a:solidFill>
                              <a:effectLst/>
                            </a:rPr>
                            <a:t>Miles </a:t>
                          </a:r>
                          <a:endParaRPr lang="en-US" sz="1600" b="1"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endParaRPr lang="en-US" sz="1600" b="1"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u="none" strike="noStrike" dirty="0">
                              <a:solidFill>
                                <a:srgbClr val="000000"/>
                              </a:solidFill>
                              <a:effectLst/>
                            </a:rPr>
                            <a:t>Travel </a:t>
                          </a:r>
                          <a:endParaRPr lang="en-US" sz="1600" b="1"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u="none" strike="noStrike" dirty="0">
                              <a:solidFill>
                                <a:srgbClr val="000000"/>
                              </a:solidFill>
                              <a:effectLst/>
                            </a:rPr>
                            <a:t>Predicted </a:t>
                          </a:r>
                          <a:endParaRPr lang="en-US" sz="1600" b="1"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endParaRPr lang="en-US" sz="1600" b="1" i="0" u="none" strike="noStrike" dirty="0">
                            <a:solidFill>
                              <a:srgbClr val="000000"/>
                            </a:solidFill>
                            <a:effectLst/>
                            <a:latin typeface="Calibri" panose="020F0502020204030204" pitchFamily="34" charset="0"/>
                          </a:endParaRPr>
                        </a:p>
                      </a:txBody>
                      <a:tcPr marL="0" marR="0" marT="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574162373"/>
                      </a:ext>
                    </a:extLst>
                  </a:tr>
                  <a:tr h="243840">
                    <a:tc>
                      <a:txBody>
                        <a:bodyPr/>
                        <a:lstStyle/>
                        <a:p>
                          <a:pPr algn="ctr" fontAlgn="b"/>
                          <a:r>
                            <a:rPr lang="en-US" sz="1600" b="1" u="none" strike="noStrike" dirty="0">
                              <a:solidFill>
                                <a:srgbClr val="000000"/>
                              </a:solidFill>
                              <a:effectLst/>
                            </a:rPr>
                            <a:t>Traveled </a:t>
                          </a:r>
                          <a:endParaRPr lang="en-US" sz="1600" b="1" i="0" u="none" strike="noStrike" dirty="0">
                            <a:solidFill>
                              <a:srgbClr val="000000"/>
                            </a:solidFill>
                            <a:effectLst/>
                            <a:latin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u="none" strike="noStrike" dirty="0">
                              <a:solidFill>
                                <a:srgbClr val="000000"/>
                              </a:solidFill>
                              <a:effectLst/>
                            </a:rPr>
                            <a:t>Deliveries </a:t>
                          </a:r>
                          <a:endParaRPr lang="en-US" sz="1600" b="1" i="0" u="none" strike="noStrike" dirty="0">
                            <a:solidFill>
                              <a:srgbClr val="000000"/>
                            </a:solidFill>
                            <a:effectLst/>
                            <a:latin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u="none" strike="noStrike" dirty="0">
                              <a:solidFill>
                                <a:srgbClr val="000000"/>
                              </a:solidFill>
                              <a:effectLst/>
                            </a:rPr>
                            <a:t>Time </a:t>
                          </a:r>
                          <a:endParaRPr lang="en-US" sz="1600" b="1" i="0" u="none" strike="noStrike" dirty="0">
                            <a:solidFill>
                              <a:srgbClr val="000000"/>
                            </a:solidFill>
                            <a:effectLst/>
                            <a:latin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u="none" strike="noStrike" dirty="0">
                              <a:solidFill>
                                <a:srgbClr val="000000"/>
                              </a:solidFill>
                              <a:effectLst/>
                            </a:rPr>
                            <a:t>Value </a:t>
                          </a:r>
                          <a:endParaRPr lang="en-US" sz="1600" b="1" i="0" u="none" strike="noStrike" dirty="0">
                            <a:solidFill>
                              <a:srgbClr val="000000"/>
                            </a:solidFill>
                            <a:effectLst/>
                            <a:latin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u="none" strike="noStrike" dirty="0">
                              <a:solidFill>
                                <a:srgbClr val="000000"/>
                              </a:solidFill>
                              <a:effectLst/>
                            </a:rPr>
                            <a:t>Residual </a:t>
                          </a:r>
                          <a:endParaRPr lang="en-US" sz="1600" b="1" i="0" u="none" strike="noStrike" dirty="0">
                            <a:solidFill>
                              <a:srgbClr val="000000"/>
                            </a:solidFill>
                            <a:effectLst/>
                            <a:latin typeface="Calibri" panose="020F0502020204030204" pitchFamily="34" charset="0"/>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734404217"/>
                      </a:ext>
                    </a:extLst>
                  </a:tr>
                  <a:tr h="266642">
                    <a:tc>
                      <a:txBody>
                        <a:bodyPr/>
                        <a:lstStyle/>
                        <a:p>
                          <a:pPr algn="ctr" fontAlgn="b"/>
                          <a:r>
                            <a:rPr lang="en-US" sz="1600" b="1" u="none" strike="noStrike" dirty="0">
                              <a:solidFill>
                                <a:srgbClr val="000000"/>
                              </a:solidFill>
                              <a:effectLst/>
                            </a:rPr>
                            <a:t>(</a:t>
                          </a:r>
                          <a:r>
                            <a:rPr lang="en-US" sz="1600" b="1" i="1" u="none" strike="noStrike" dirty="0">
                              <a:solidFill>
                                <a:srgbClr val="000000"/>
                              </a:solidFill>
                              <a:effectLst/>
                            </a:rPr>
                            <a:t>x</a:t>
                          </a:r>
                          <a:r>
                            <a:rPr lang="en-US" sz="1600" b="1" u="none" strike="noStrike" baseline="-25000" dirty="0">
                              <a:solidFill>
                                <a:srgbClr val="000000"/>
                              </a:solidFill>
                              <a:effectLst/>
                            </a:rPr>
                            <a:t>1</a:t>
                          </a:r>
                          <a:r>
                            <a:rPr lang="en-US" sz="1600" b="1" u="none" strike="noStrike" dirty="0">
                              <a:solidFill>
                                <a:srgbClr val="000000"/>
                              </a:solidFill>
                              <a:effectLst/>
                            </a:rPr>
                            <a:t>)</a:t>
                          </a:r>
                          <a:endParaRPr lang="en-US" sz="1600" b="1" i="0" u="none" strike="noStrike" dirty="0">
                            <a:solidFill>
                              <a:srgbClr val="000000"/>
                            </a:solidFill>
                            <a:effectLst/>
                            <a:latin typeface="Calibri" panose="020F0502020204030204" pitchFamily="34"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u="none" strike="noStrike" dirty="0">
                              <a:solidFill>
                                <a:srgbClr val="000000"/>
                              </a:solidFill>
                              <a:effectLst/>
                            </a:rPr>
                            <a:t>(</a:t>
                          </a:r>
                          <a:r>
                            <a:rPr lang="en-US" sz="1600" b="1" i="1" u="none" strike="noStrike" dirty="0">
                              <a:solidFill>
                                <a:srgbClr val="000000"/>
                              </a:solidFill>
                              <a:effectLst/>
                            </a:rPr>
                            <a:t>x</a:t>
                          </a:r>
                          <a:r>
                            <a:rPr lang="en-US" sz="1600" b="1" u="none" strike="noStrike" baseline="-25000" dirty="0">
                              <a:solidFill>
                                <a:srgbClr val="000000"/>
                              </a:solidFill>
                              <a:effectLst/>
                            </a:rPr>
                            <a:t>2</a:t>
                          </a:r>
                          <a:r>
                            <a:rPr lang="en-US" sz="1600" b="1" u="none" strike="noStrike" dirty="0">
                              <a:solidFill>
                                <a:srgbClr val="000000"/>
                              </a:solidFill>
                              <a:effectLst/>
                            </a:rPr>
                            <a:t>)</a:t>
                          </a:r>
                          <a:endParaRPr lang="en-US" sz="1600" b="1" i="0" u="none" strike="noStrike" dirty="0">
                            <a:solidFill>
                              <a:srgbClr val="000000"/>
                            </a:solidFill>
                            <a:effectLst/>
                            <a:latin typeface="Calibri" panose="020F0502020204030204" pitchFamily="34"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b="1" u="none" strike="noStrike" dirty="0">
                              <a:solidFill>
                                <a:srgbClr val="000000"/>
                              </a:solidFill>
                              <a:effectLst/>
                            </a:rPr>
                            <a:t>(</a:t>
                          </a:r>
                          <a:r>
                            <a:rPr lang="en-US" sz="1600" b="1" i="1" u="none" strike="noStrike" dirty="0">
                              <a:solidFill>
                                <a:srgbClr val="000000"/>
                              </a:solidFill>
                              <a:effectLst/>
                            </a:rPr>
                            <a:t>y</a:t>
                          </a:r>
                          <a:r>
                            <a:rPr lang="en-US" sz="1600" b="1" u="none" strike="noStrike" dirty="0">
                              <a:solidFill>
                                <a:srgbClr val="000000"/>
                              </a:solidFill>
                              <a:effectLst/>
                            </a:rPr>
                            <a:t>) </a:t>
                          </a:r>
                          <a:endParaRPr lang="en-US" sz="1600" b="1" i="0" u="none" strike="noStrike" dirty="0">
                            <a:solidFill>
                              <a:srgbClr val="000000"/>
                            </a:solidFill>
                            <a:effectLst/>
                            <a:latin typeface="Calibri" panose="020F0502020204030204" pitchFamily="34" charset="0"/>
                          </a:endParaRPr>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endParaRPr lang="en-US"/>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257927" t="-202273" r="-90244" b="-981818"/>
                          </a:stretch>
                        </a:blipFill>
                      </a:tcPr>
                    </a:tc>
                    <a:tc>
                      <a:txBody>
                        <a:bodyPr/>
                        <a:lstStyle/>
                        <a:p>
                          <a:endParaRPr lang="en-US"/>
                        </a:p>
                      </a:txBody>
                      <a:tcPr marL="0" marR="0" marT="0" marB="0">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396622" t="-202273" b="-981818"/>
                          </a:stretch>
                        </a:blipFill>
                      </a:tcPr>
                    </a:tc>
                    <a:extLst>
                      <a:ext uri="{0D108BD9-81ED-4DB2-BD59-A6C34878D82A}">
                        <a16:rowId xmlns:a16="http://schemas.microsoft.com/office/drawing/2014/main" val="1119871306"/>
                      </a:ext>
                    </a:extLst>
                  </a:tr>
                  <a:tr h="250190">
                    <a:tc>
                      <a:txBody>
                        <a:bodyPr/>
                        <a:lstStyle/>
                        <a:p>
                          <a:pPr algn="l" fontAlgn="b">
                            <a:tabLst>
                              <a:tab pos="571500" algn="r"/>
                            </a:tabLst>
                          </a:pPr>
                          <a:r>
                            <a:rPr lang="en-US" sz="1600" u="none" strike="noStrike" dirty="0">
                              <a:solidFill>
                                <a:srgbClr val="000000"/>
                              </a:solidFill>
                              <a:effectLst/>
                            </a:rPr>
                            <a:t>	100</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4</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tabLst>
                              <a:tab pos="342900" algn="r"/>
                            </a:tabLst>
                          </a:pPr>
                          <a:r>
                            <a:rPr lang="en-US" sz="1600" u="none" strike="noStrike" dirty="0">
                              <a:solidFill>
                                <a:srgbClr val="000000"/>
                              </a:solidFill>
                              <a:effectLst/>
                            </a:rPr>
                            <a:t>9.3</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8.9385</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 pos="914400" algn="r"/>
                            </a:tabLst>
                          </a:pPr>
                          <a:r>
                            <a:rPr lang="en-US" sz="1600" u="none" strike="noStrike" dirty="0">
                              <a:solidFill>
                                <a:srgbClr val="000000"/>
                              </a:solidFill>
                              <a:effectLst/>
                            </a:rPr>
                            <a:t>	0.3615</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347849676"/>
                      </a:ext>
                    </a:extLst>
                  </a:tr>
                  <a:tr h="250190">
                    <a:tc>
                      <a:txBody>
                        <a:bodyPr/>
                        <a:lstStyle/>
                        <a:p>
                          <a:pPr algn="l" fontAlgn="b">
                            <a:tabLst>
                              <a:tab pos="571500" algn="r"/>
                            </a:tabLst>
                          </a:pPr>
                          <a:r>
                            <a:rPr lang="en-US" sz="1600" u="none" strike="noStrike" dirty="0">
                              <a:solidFill>
                                <a:srgbClr val="000000"/>
                              </a:solidFill>
                              <a:effectLst/>
                            </a:rPr>
                            <a:t>	50</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a:solidFill>
                                <a:srgbClr val="000000"/>
                              </a:solidFill>
                              <a:effectLst/>
                            </a:rPr>
                            <a:t>3</a:t>
                          </a:r>
                          <a:endParaRPr lang="en-US" sz="1600" b="0" i="0" u="none" strike="noStrike">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4.8</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4.9583</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 pos="914400" algn="r"/>
                            </a:tabLst>
                          </a:pPr>
                          <a:r>
                            <a:rPr lang="en-US" sz="1600" u="none" strike="noStrike" dirty="0">
                              <a:solidFill>
                                <a:srgbClr val="000000"/>
                              </a:solidFill>
                              <a:effectLst/>
                            </a:rPr>
                            <a:t>	-0.1583</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690812491"/>
                      </a:ext>
                    </a:extLst>
                  </a:tr>
                  <a:tr h="250190">
                    <a:tc>
                      <a:txBody>
                        <a:bodyPr/>
                        <a:lstStyle/>
                        <a:p>
                          <a:pPr algn="l" fontAlgn="b">
                            <a:tabLst>
                              <a:tab pos="571500" algn="r"/>
                            </a:tabLst>
                          </a:pPr>
                          <a:r>
                            <a:rPr lang="en-US" sz="1600" u="none" strike="noStrike" dirty="0">
                              <a:solidFill>
                                <a:srgbClr val="000000"/>
                              </a:solidFill>
                              <a:effectLst/>
                            </a:rPr>
                            <a:t>	100</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4</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8.9</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8.9385</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 pos="914400" algn="r"/>
                            </a:tabLst>
                          </a:pPr>
                          <a:r>
                            <a:rPr lang="en-US" sz="1600" u="none" strike="noStrike" dirty="0">
                              <a:solidFill>
                                <a:srgbClr val="000000"/>
                              </a:solidFill>
                              <a:effectLst/>
                            </a:rPr>
                            <a:t>	-0.0385 </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512291040"/>
                      </a:ext>
                    </a:extLst>
                  </a:tr>
                  <a:tr h="250190">
                    <a:tc>
                      <a:txBody>
                        <a:bodyPr/>
                        <a:lstStyle/>
                        <a:p>
                          <a:pPr algn="l" fontAlgn="b">
                            <a:tabLst>
                              <a:tab pos="571500" algn="r"/>
                            </a:tabLst>
                          </a:pPr>
                          <a:r>
                            <a:rPr lang="en-US" sz="1600" u="none" strike="noStrike" dirty="0">
                              <a:solidFill>
                                <a:srgbClr val="000000"/>
                              </a:solidFill>
                              <a:effectLst/>
                            </a:rPr>
                            <a:t>	100</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2</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6.5</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7.0916</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 pos="914400" algn="r"/>
                            </a:tabLst>
                          </a:pPr>
                          <a:r>
                            <a:rPr lang="en-US" sz="1600" u="none" strike="noStrike" dirty="0">
                              <a:solidFill>
                                <a:srgbClr val="000000"/>
                              </a:solidFill>
                              <a:effectLst/>
                            </a:rPr>
                            <a:t>	-0.5916</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835016460"/>
                      </a:ext>
                    </a:extLst>
                  </a:tr>
                  <a:tr h="250190">
                    <a:tc>
                      <a:txBody>
                        <a:bodyPr/>
                        <a:lstStyle/>
                        <a:p>
                          <a:pPr algn="l" fontAlgn="b">
                            <a:tabLst>
                              <a:tab pos="571500" algn="r"/>
                            </a:tabLst>
                          </a:pPr>
                          <a:r>
                            <a:rPr lang="en-US" sz="1600" u="none" strike="noStrike" dirty="0">
                              <a:solidFill>
                                <a:srgbClr val="000000"/>
                              </a:solidFill>
                              <a:effectLst/>
                            </a:rPr>
                            <a:t>	50</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2</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4.2</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4.0349</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 pos="914400" algn="r"/>
                            </a:tabLst>
                          </a:pPr>
                          <a:r>
                            <a:rPr lang="en-US" sz="1600" u="none" strike="noStrike" dirty="0">
                              <a:solidFill>
                                <a:srgbClr val="000000"/>
                              </a:solidFill>
                              <a:effectLst/>
                            </a:rPr>
                            <a:t>	0.1651</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3074249738"/>
                      </a:ext>
                    </a:extLst>
                  </a:tr>
                  <a:tr h="250190">
                    <a:tc>
                      <a:txBody>
                        <a:bodyPr/>
                        <a:lstStyle/>
                        <a:p>
                          <a:pPr algn="l" fontAlgn="b">
                            <a:tabLst>
                              <a:tab pos="571500" algn="r"/>
                            </a:tabLst>
                          </a:pPr>
                          <a:r>
                            <a:rPr lang="en-US" sz="1600" u="none" strike="noStrike" dirty="0">
                              <a:solidFill>
                                <a:srgbClr val="000000"/>
                              </a:solidFill>
                              <a:effectLst/>
                            </a:rPr>
                            <a:t>	80</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2</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6.2</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5.8689</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 pos="914400" algn="r"/>
                            </a:tabLst>
                          </a:pPr>
                          <a:r>
                            <a:rPr lang="en-US" sz="1600" u="none" strike="noStrike" dirty="0">
                              <a:solidFill>
                                <a:srgbClr val="000000"/>
                              </a:solidFill>
                              <a:effectLst/>
                            </a:rPr>
                            <a:t>	0.3311</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745874318"/>
                      </a:ext>
                    </a:extLst>
                  </a:tr>
                  <a:tr h="250190">
                    <a:tc>
                      <a:txBody>
                        <a:bodyPr/>
                        <a:lstStyle/>
                        <a:p>
                          <a:pPr algn="l" fontAlgn="b">
                            <a:tabLst>
                              <a:tab pos="571500" algn="r"/>
                            </a:tabLst>
                          </a:pPr>
                          <a:r>
                            <a:rPr lang="en-US" sz="1600" u="none" strike="noStrike" dirty="0">
                              <a:solidFill>
                                <a:srgbClr val="000000"/>
                              </a:solidFill>
                              <a:effectLst/>
                            </a:rPr>
                            <a:t>	75</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3</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7.4</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6.4867</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 pos="914400" algn="r"/>
                            </a:tabLst>
                          </a:pPr>
                          <a:r>
                            <a:rPr lang="en-US" sz="1600" u="none" strike="noStrike" dirty="0">
                              <a:solidFill>
                                <a:srgbClr val="000000"/>
                              </a:solidFill>
                              <a:effectLst/>
                            </a:rPr>
                            <a:t>	0.9133</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188770970"/>
                      </a:ext>
                    </a:extLst>
                  </a:tr>
                  <a:tr h="250190">
                    <a:tc>
                      <a:txBody>
                        <a:bodyPr/>
                        <a:lstStyle/>
                        <a:p>
                          <a:pPr algn="l" fontAlgn="b">
                            <a:tabLst>
                              <a:tab pos="571500" algn="r"/>
                            </a:tabLst>
                          </a:pPr>
                          <a:r>
                            <a:rPr lang="en-US" sz="1600" u="none" strike="noStrike" dirty="0">
                              <a:solidFill>
                                <a:srgbClr val="000000"/>
                              </a:solidFill>
                              <a:effectLst/>
                            </a:rPr>
                            <a:t>	65</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4</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6.0</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6.7988</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 pos="914400" algn="r"/>
                            </a:tabLst>
                          </a:pPr>
                          <a:r>
                            <a:rPr lang="en-US" sz="1600" u="none" strike="noStrike" dirty="0">
                              <a:solidFill>
                                <a:srgbClr val="000000"/>
                              </a:solidFill>
                              <a:effectLst/>
                            </a:rPr>
                            <a:t>	-0.7987</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403496838"/>
                      </a:ext>
                    </a:extLst>
                  </a:tr>
                  <a:tr h="250190">
                    <a:tc>
                      <a:txBody>
                        <a:bodyPr/>
                        <a:lstStyle/>
                        <a:p>
                          <a:pPr algn="l" fontAlgn="b">
                            <a:tabLst>
                              <a:tab pos="571500" algn="r"/>
                            </a:tabLst>
                          </a:pPr>
                          <a:r>
                            <a:rPr lang="en-US" sz="1600" u="none" strike="noStrike" dirty="0">
                              <a:solidFill>
                                <a:srgbClr val="000000"/>
                              </a:solidFill>
                              <a:effectLst/>
                            </a:rPr>
                            <a:t>	90</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3</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7.6</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7.4037</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 pos="914400" algn="r"/>
                            </a:tabLst>
                          </a:pPr>
                          <a:r>
                            <a:rPr lang="en-US" sz="1600" u="none" strike="noStrike" dirty="0">
                              <a:solidFill>
                                <a:srgbClr val="000000"/>
                              </a:solidFill>
                              <a:effectLst/>
                            </a:rPr>
                            <a:t>	0.1963</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829066816"/>
                      </a:ext>
                    </a:extLst>
                  </a:tr>
                  <a:tr h="250190">
                    <a:tc>
                      <a:txBody>
                        <a:bodyPr/>
                        <a:lstStyle/>
                        <a:p>
                          <a:pPr algn="l" fontAlgn="b">
                            <a:tabLst>
                              <a:tab pos="571500" algn="r"/>
                            </a:tabLst>
                          </a:pPr>
                          <a:r>
                            <a:rPr lang="en-US" sz="1600" u="none" strike="noStrike" dirty="0">
                              <a:solidFill>
                                <a:srgbClr val="000000"/>
                              </a:solidFill>
                              <a:effectLst/>
                            </a:rPr>
                            <a:t>	90</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2</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6.1</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ctr" fontAlgn="b"/>
                          <a:r>
                            <a:rPr lang="en-US" sz="1600" u="none" strike="noStrike" dirty="0">
                              <a:solidFill>
                                <a:srgbClr val="000000"/>
                              </a:solidFill>
                              <a:effectLst/>
                            </a:rPr>
                            <a:t>6.4803</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tc>
                      <a:txBody>
                        <a:bodyPr/>
                        <a:lstStyle/>
                        <a:p>
                          <a:pPr algn="l" fontAlgn="b">
                            <a:tabLst>
                              <a:tab pos="742950" algn="r"/>
                              <a:tab pos="914400" algn="r"/>
                            </a:tabLst>
                          </a:pPr>
                          <a:r>
                            <a:rPr lang="en-US" sz="1600" u="none" strike="noStrike" dirty="0">
                              <a:solidFill>
                                <a:srgbClr val="000000"/>
                              </a:solidFill>
                              <a:effectLst/>
                            </a:rPr>
                            <a:t>	-0.3803</a:t>
                          </a:r>
                          <a:endParaRPr lang="en-US" sz="1600" b="0" i="0" u="none" strike="noStrike" dirty="0">
                            <a:solidFill>
                              <a:srgbClr val="000000"/>
                            </a:solidFill>
                            <a:effectLst/>
                            <a:latin typeface="Calibri" panose="020F0502020204030204" pitchFamily="34" charset="0"/>
                          </a:endParaRPr>
                        </a:p>
                      </a:txBody>
                      <a:tcPr marL="6350" marR="6350" marT="6350" marB="0" anchor="b">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130358171"/>
                      </a:ext>
                    </a:extLst>
                  </a:tr>
                </a:tbl>
              </a:graphicData>
            </a:graphic>
          </p:graphicFrame>
        </mc:Fallback>
      </mc:AlternateContent>
    </p:spTree>
    <p:extLst>
      <p:ext uri="{BB962C8B-B14F-4D97-AF65-F5344CB8AC3E}">
        <p14:creationId xmlns:p14="http://schemas.microsoft.com/office/powerpoint/2010/main" val="29756535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AAE4728-6CC3-0571-40A6-356CC92C7318}"/>
                  </a:ext>
                </a:extLst>
              </p:cNvPr>
              <p:cNvSpPr>
                <a:spLocks noGrp="1"/>
              </p:cNvSpPr>
              <p:nvPr>
                <p:ph type="title"/>
              </p:nvPr>
            </p:nvSpPr>
            <p:spPr/>
            <p:txBody>
              <a:bodyPr/>
              <a:lstStyle/>
              <a:p>
                <a:r>
                  <a:rPr lang="en-US" dirty="0"/>
                  <a:t>15.8 Residual Plot Against </a:t>
                </a:r>
                <a14:m>
                  <m:oMath xmlns:m="http://schemas.openxmlformats.org/officeDocument/2006/math">
                    <m:acc>
                      <m:accPr>
                        <m:chr m:val="̂"/>
                        <m:ctrlPr>
                          <a:rPr lang="en-US" sz="3600" i="1" smtClean="0">
                            <a:latin typeface="Cambria Math" panose="02040503050406030204" pitchFamily="18" charset="0"/>
                          </a:rPr>
                        </m:ctrlPr>
                      </m:accPr>
                      <m:e>
                        <m:r>
                          <a:rPr lang="en-US" sz="3600" b="1" i="1" smtClean="0">
                            <a:latin typeface="Cambria Math" panose="02040503050406030204" pitchFamily="18" charset="0"/>
                          </a:rPr>
                          <m:t>𝒚</m:t>
                        </m:r>
                      </m:e>
                    </m:acc>
                  </m:oMath>
                </a14:m>
                <a:r>
                  <a:rPr lang="en-US" dirty="0"/>
                  <a:t> for Butler Trucking</a:t>
                </a:r>
              </a:p>
            </p:txBody>
          </p:sp>
        </mc:Choice>
        <mc:Fallback xmlns="">
          <p:sp>
            <p:nvSpPr>
              <p:cNvPr id="2" name="Title 1">
                <a:extLst>
                  <a:ext uri="{FF2B5EF4-FFF2-40B4-BE49-F238E27FC236}">
                    <a16:creationId xmlns:a16="http://schemas.microsoft.com/office/drawing/2014/main" id="{1AAE4728-6CC3-0571-40A6-356CC92C7318}"/>
                  </a:ext>
                </a:extLst>
              </p:cNvPr>
              <p:cNvSpPr>
                <a:spLocks noGrp="1" noRot="1" noChangeAspect="1" noMove="1" noResize="1" noEditPoints="1" noAdjustHandles="1" noChangeArrowheads="1" noChangeShapeType="1" noTextEdit="1"/>
              </p:cNvSpPr>
              <p:nvPr>
                <p:ph type="title"/>
              </p:nvPr>
            </p:nvSpPr>
            <p:spPr>
              <a:blipFill>
                <a:blip r:embed="rId3"/>
                <a:stretch>
                  <a:fillRect t="-26364"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D85F24F-2459-8D04-EE3F-0A53FCDF813A}"/>
                  </a:ext>
                </a:extLst>
              </p:cNvPr>
              <p:cNvSpPr>
                <a:spLocks noGrp="1"/>
              </p:cNvSpPr>
              <p:nvPr>
                <p:ph type="body" sz="quarter" idx="15"/>
              </p:nvPr>
            </p:nvSpPr>
            <p:spPr>
              <a:xfrm>
                <a:off x="743578" y="1282639"/>
                <a:ext cx="4264192" cy="4522516"/>
              </a:xfrm>
            </p:spPr>
            <p:txBody>
              <a:bodyPr/>
              <a:lstStyle/>
              <a:p>
                <a:pPr>
                  <a:spcAft>
                    <a:spcPts val="0"/>
                  </a:spcAft>
                </a:pPr>
                <a:r>
                  <a:rPr lang="en-US" sz="2000" dirty="0"/>
                  <a:t>The residual plot against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𝑦</m:t>
                        </m:r>
                      </m:e>
                    </m:acc>
                  </m:oMath>
                </a14:m>
                <a:r>
                  <a:rPr lang="en-US" sz="2000" dirty="0"/>
                  <a:t> for the Butler Trucking multiple regression example shown below does not indicate any unusual abnormalities. </a:t>
                </a:r>
              </a:p>
              <a:p>
                <a:pPr marL="457200" indent="-285750">
                  <a:spcAft>
                    <a:spcPts val="0"/>
                  </a:spcAft>
                  <a:buFont typeface="Arial" panose="020B0604020202020204" pitchFamily="34" charset="0"/>
                  <a:buChar char="•"/>
                </a:pPr>
                <a:r>
                  <a:rPr lang="en-US" sz="2000" dirty="0"/>
                  <a:t>Thus, we have no reason to question the assumptions about the error term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t>.</a:t>
                </a:r>
              </a:p>
              <a:p>
                <a:pPr>
                  <a:spcAft>
                    <a:spcPts val="0"/>
                  </a:spcAft>
                </a:pPr>
                <a:r>
                  <a:rPr lang="en-US" sz="2000" dirty="0"/>
                  <a:t>A normal probability plot can also be used to determine whether the distribution of </a:t>
                </a:r>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𝜖</m:t>
                    </m:r>
                  </m:oMath>
                </a14:m>
                <a:r>
                  <a:rPr lang="en-US" sz="2000" dirty="0"/>
                  <a:t> appears to be normal.</a:t>
                </a:r>
              </a:p>
              <a:p>
                <a:pPr>
                  <a:spcAft>
                    <a:spcPts val="0"/>
                  </a:spcAft>
                </a:pPr>
                <a:r>
                  <a:rPr lang="en-US" sz="2000" dirty="0"/>
                  <a:t>The same procedure to build a normal probability plot shown in Chapter 14 is also appropriate for multiple regression.</a:t>
                </a:r>
              </a:p>
            </p:txBody>
          </p:sp>
        </mc:Choice>
        <mc:Fallback xmlns="">
          <p:sp>
            <p:nvSpPr>
              <p:cNvPr id="3" name="Text Placeholder 2">
                <a:extLst>
                  <a:ext uri="{FF2B5EF4-FFF2-40B4-BE49-F238E27FC236}">
                    <a16:creationId xmlns:a16="http://schemas.microsoft.com/office/drawing/2014/main" id="{0D85F24F-2459-8D04-EE3F-0A53FCDF813A}"/>
                  </a:ext>
                </a:extLst>
              </p:cNvPr>
              <p:cNvSpPr>
                <a:spLocks noGrp="1" noRot="1" noChangeAspect="1" noMove="1" noResize="1" noEditPoints="1" noAdjustHandles="1" noChangeArrowheads="1" noChangeShapeType="1" noTextEdit="1"/>
              </p:cNvSpPr>
              <p:nvPr>
                <p:ph type="body" sz="quarter" idx="15"/>
              </p:nvPr>
            </p:nvSpPr>
            <p:spPr>
              <a:xfrm>
                <a:off x="743578" y="1282639"/>
                <a:ext cx="4264192" cy="4522516"/>
              </a:xfrm>
              <a:blipFill>
                <a:blip r:embed="rId4"/>
                <a:stretch>
                  <a:fillRect l="-3720" t="-1617" r="-3433" b="-2965"/>
                </a:stretch>
              </a:blipFill>
            </p:spPr>
            <p:txBody>
              <a:bodyPr/>
              <a:lstStyle/>
              <a:p>
                <a:r>
                  <a:rPr lang="en-US">
                    <a:noFill/>
                  </a:rPr>
                  <a:t> </a:t>
                </a:r>
              </a:p>
            </p:txBody>
          </p:sp>
        </mc:Fallback>
      </mc:AlternateContent>
      <p:pic>
        <p:nvPicPr>
          <p:cNvPr id="5" name="Picture Placeholder 7" descr="A residual plot against the predicted time y hat for Butler Trucking. The horizontal axis labeled Predicted Time ranges from 4 to 10 in increments of 1. The vertical axis labeled Residuals ranges from negative 1 to 1 in increments of 0.2. The coordinates of the plotted points are as follows: (4, 0.2), (5, negative 0.2), (5.8, negative 0.3), (6.5, 0.9), (6.5, negative 0.4), (6.7, negative 0.8), (7, negative 0.6), (7.4, 0.2), (9, 0.3) and (9, 0). All data are approximated.">
            <a:extLst>
              <a:ext uri="{FF2B5EF4-FFF2-40B4-BE49-F238E27FC236}">
                <a16:creationId xmlns:a16="http://schemas.microsoft.com/office/drawing/2014/main" id="{D12D7EDD-F01B-0A11-A34D-DB0D63460890}"/>
              </a:ext>
            </a:extLst>
          </p:cNvPr>
          <p:cNvPicPr>
            <a:picLocks noGrp="1" noChangeAspect="1"/>
          </p:cNvPicPr>
          <p:nvPr>
            <p:ph type="pic" sz="quarter" idx="16"/>
          </p:nvPr>
        </p:nvPicPr>
        <p:blipFill>
          <a:blip r:embed="rId5"/>
          <a:srcRect t="104" b="104"/>
          <a:stretch/>
        </p:blipFill>
        <p:spPr>
          <a:xfrm>
            <a:off x="5184147" y="1481734"/>
            <a:ext cx="6264275" cy="4124325"/>
          </a:xfrm>
        </p:spPr>
      </p:pic>
    </p:spTree>
    <p:extLst>
      <p:ext uri="{BB962C8B-B14F-4D97-AF65-F5344CB8AC3E}">
        <p14:creationId xmlns:p14="http://schemas.microsoft.com/office/powerpoint/2010/main" val="27698614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BD840-BE60-B376-A4F3-CBAAC3B0A3C7}"/>
              </a:ext>
            </a:extLst>
          </p:cNvPr>
          <p:cNvSpPr>
            <a:spLocks noGrp="1"/>
          </p:cNvSpPr>
          <p:nvPr>
            <p:ph type="title"/>
          </p:nvPr>
        </p:nvSpPr>
        <p:spPr/>
        <p:txBody>
          <a:bodyPr/>
          <a:lstStyle/>
          <a:p>
            <a:r>
              <a:rPr lang="en-US" dirty="0"/>
              <a:t>15.8 Detecting Outliers in Multiple Regression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D371133-070E-9C99-F3B5-5A3619717AAD}"/>
                  </a:ext>
                </a:extLst>
              </p:cNvPr>
              <p:cNvSpPr>
                <a:spLocks noGrp="1"/>
              </p:cNvSpPr>
              <p:nvPr>
                <p:ph type="body" sz="quarter" idx="15"/>
              </p:nvPr>
            </p:nvSpPr>
            <p:spPr>
              <a:xfrm>
                <a:off x="743576" y="1178789"/>
                <a:ext cx="10711543" cy="4729089"/>
              </a:xfrm>
            </p:spPr>
            <p:txBody>
              <a:bodyPr/>
              <a:lstStyle/>
              <a:p>
                <a:pPr>
                  <a:spcBef>
                    <a:spcPts val="600"/>
                  </a:spcBef>
                </a:pPr>
                <a:r>
                  <a:rPr lang="en-US" sz="2000" dirty="0"/>
                  <a:t>An </a:t>
                </a:r>
                <a:r>
                  <a:rPr lang="en-US" sz="2000" b="1" dirty="0"/>
                  <a:t>outlier</a:t>
                </a:r>
                <a:r>
                  <a:rPr lang="en-US" sz="2000" dirty="0"/>
                  <a:t> is a data point (observation) that does not fit the trend shown by the remaining data.</a:t>
                </a:r>
              </a:p>
              <a:p>
                <a:pPr marL="460375">
                  <a:spcBef>
                    <a:spcPts val="600"/>
                  </a:spcBef>
                </a:pPr>
                <a:r>
                  <a:rPr lang="en-US" sz="2000" i="1" dirty="0"/>
                  <a:t>An observation is classified as an outlier if the value of its standardized residual is less</a:t>
                </a:r>
              </a:p>
              <a:p>
                <a:pPr marL="460375">
                  <a:spcBef>
                    <a:spcPts val="0"/>
                  </a:spcBef>
                </a:pPr>
                <a:r>
                  <a:rPr lang="en-US" sz="2000" i="1" dirty="0"/>
                  <a:t>than −2 or greater than +2.</a:t>
                </a:r>
              </a:p>
              <a:p>
                <a:pPr marL="914400" indent="-342900">
                  <a:spcBef>
                    <a:spcPts val="600"/>
                  </a:spcBef>
                  <a:buFont typeface="Arial" panose="020B0604020202020204" pitchFamily="34" charset="0"/>
                  <a:buChar char="•"/>
                </a:pPr>
                <a:r>
                  <a:rPr lang="en-US" sz="2000" dirty="0"/>
                  <a:t>With normally distributed errors, standardized residuals should be outside these limits approximately 5% of the time.</a:t>
                </a:r>
              </a:p>
              <a:p>
                <a:pPr>
                  <a:spcBef>
                    <a:spcPts val="600"/>
                  </a:spcBef>
                </a:pPr>
                <a:r>
                  <a:rPr lang="en-US" sz="2000" dirty="0"/>
                  <a:t>In multiple regression analysis, the computation of the standardized residuals is too complex to be done by hand. </a:t>
                </a:r>
              </a:p>
              <a:p>
                <a:pPr>
                  <a:spcBef>
                    <a:spcPts val="600"/>
                  </a:spcBef>
                </a:pPr>
                <a:r>
                  <a:rPr lang="en-US" sz="2000" dirty="0"/>
                  <a:t>As we showed in Section 14.8, we use Excel’s Regression tool to compute the standard residuals as an approximation of the standardized residuals.</a:t>
                </a:r>
              </a:p>
              <a:p>
                <a:pPr>
                  <a:spcBef>
                    <a:spcPts val="600"/>
                  </a:spcBef>
                </a:pPr>
                <a:r>
                  <a:rPr lang="en-US" sz="2000" dirty="0"/>
                  <a:t>The next slide shows the standard residuals and the corresponding standardized residual plot against </a:t>
                </a:r>
                <a14:m>
                  <m:oMath xmlns:m="http://schemas.openxmlformats.org/officeDocument/2006/math">
                    <m:acc>
                      <m:accPr>
                        <m:chr m:val="̂"/>
                        <m:ctrlPr>
                          <a:rPr lang="en-US" sz="2000" i="1" smtClean="0">
                            <a:latin typeface="Cambria Math" panose="02040503050406030204" pitchFamily="18" charset="0"/>
                          </a:rPr>
                        </m:ctrlPr>
                      </m:accPr>
                      <m:e>
                        <m:r>
                          <a:rPr lang="en-US" sz="2000" b="0" i="1" smtClean="0">
                            <a:latin typeface="Cambria Math" panose="02040503050406030204" pitchFamily="18" charset="0"/>
                          </a:rPr>
                          <m:t>𝑦</m:t>
                        </m:r>
                      </m:e>
                    </m:acc>
                  </m:oMath>
                </a14:m>
                <a:r>
                  <a:rPr lang="en-US" sz="2000" dirty="0"/>
                  <a:t> (Predicted Time) for Butler Trucking developed using Excel’s Regression tool and Excel’s chart tools.</a:t>
                </a:r>
              </a:p>
              <a:p>
                <a:pPr marL="914400" indent="-342900">
                  <a:spcBef>
                    <a:spcPts val="600"/>
                  </a:spcBef>
                  <a:buFont typeface="Arial" panose="020B0604020202020204" pitchFamily="34" charset="0"/>
                  <a:buChar char="•"/>
                </a:pPr>
                <a:r>
                  <a:rPr lang="en-US" sz="2000" dirty="0"/>
                  <a:t>Applying the outlier rule to the standardized residual plot for the Butler Trucking example, we do not detect any outliers.</a:t>
                </a:r>
              </a:p>
            </p:txBody>
          </p:sp>
        </mc:Choice>
        <mc:Fallback xmlns="">
          <p:sp>
            <p:nvSpPr>
              <p:cNvPr id="3" name="Text Placeholder 2">
                <a:extLst>
                  <a:ext uri="{FF2B5EF4-FFF2-40B4-BE49-F238E27FC236}">
                    <a16:creationId xmlns:a16="http://schemas.microsoft.com/office/drawing/2014/main" id="{7D371133-070E-9C99-F3B5-5A3619717AAD}"/>
                  </a:ext>
                </a:extLst>
              </p:cNvPr>
              <p:cNvSpPr>
                <a:spLocks noGrp="1" noRot="1" noChangeAspect="1" noMove="1" noResize="1" noEditPoints="1" noAdjustHandles="1" noChangeArrowheads="1" noChangeShapeType="1" noTextEdit="1"/>
              </p:cNvSpPr>
              <p:nvPr>
                <p:ph type="body" sz="quarter" idx="15"/>
              </p:nvPr>
            </p:nvSpPr>
            <p:spPr>
              <a:xfrm>
                <a:off x="743576" y="1178789"/>
                <a:ext cx="10711543" cy="4729089"/>
              </a:xfrm>
              <a:blipFill>
                <a:blip r:embed="rId3"/>
                <a:stretch>
                  <a:fillRect l="-1480" t="-1546" r="-1366" b="-3351"/>
                </a:stretch>
              </a:blipFill>
            </p:spPr>
            <p:txBody>
              <a:bodyPr/>
              <a:lstStyle/>
              <a:p>
                <a:r>
                  <a:rPr lang="en-US">
                    <a:noFill/>
                  </a:rPr>
                  <a:t> </a:t>
                </a:r>
              </a:p>
            </p:txBody>
          </p:sp>
        </mc:Fallback>
      </mc:AlternateContent>
    </p:spTree>
    <p:extLst>
      <p:ext uri="{BB962C8B-B14F-4D97-AF65-F5344CB8AC3E}">
        <p14:creationId xmlns:p14="http://schemas.microsoft.com/office/powerpoint/2010/main" val="29608113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B542D65-AF2A-A171-3E0B-8EB60F5101E7}"/>
                  </a:ext>
                </a:extLst>
              </p:cNvPr>
              <p:cNvSpPr>
                <a:spLocks noGrp="1"/>
              </p:cNvSpPr>
              <p:nvPr>
                <p:ph type="title"/>
              </p:nvPr>
            </p:nvSpPr>
            <p:spPr/>
            <p:txBody>
              <a:bodyPr/>
              <a:lstStyle/>
              <a:p>
                <a:r>
                  <a:rPr lang="en-US" dirty="0"/>
                  <a:t>15.8 Standardized Residual Plot Against </a:t>
                </a:r>
                <a14:m>
                  <m:oMath xmlns:m="http://schemas.openxmlformats.org/officeDocument/2006/math">
                    <m:acc>
                      <m:accPr>
                        <m:chr m:val="̂"/>
                        <m:ctrlPr>
                          <a:rPr lang="en-US" sz="3200" i="1" smtClean="0">
                            <a:latin typeface="Cambria Math" panose="02040503050406030204" pitchFamily="18" charset="0"/>
                          </a:rPr>
                        </m:ctrlPr>
                      </m:accPr>
                      <m:e>
                        <m:r>
                          <a:rPr lang="en-US" sz="3200" b="1" i="1" smtClean="0">
                            <a:latin typeface="Cambria Math" panose="02040503050406030204" pitchFamily="18" charset="0"/>
                          </a:rPr>
                          <m:t>𝒚</m:t>
                        </m:r>
                      </m:e>
                    </m:acc>
                  </m:oMath>
                </a14:m>
                <a:r>
                  <a:rPr lang="en-US" dirty="0"/>
                  <a:t> </a:t>
                </a:r>
              </a:p>
            </p:txBody>
          </p:sp>
        </mc:Choice>
        <mc:Fallback xmlns="">
          <p:sp>
            <p:nvSpPr>
              <p:cNvPr id="2" name="Title 1">
                <a:extLst>
                  <a:ext uri="{FF2B5EF4-FFF2-40B4-BE49-F238E27FC236}">
                    <a16:creationId xmlns:a16="http://schemas.microsoft.com/office/drawing/2014/main" id="{2B542D65-AF2A-A171-3E0B-8EB60F5101E7}"/>
                  </a:ext>
                </a:extLst>
              </p:cNvPr>
              <p:cNvSpPr>
                <a:spLocks noGrp="1" noRot="1" noChangeAspect="1" noMove="1" noResize="1" noEditPoints="1" noAdjustHandles="1" noChangeArrowheads="1" noChangeShapeType="1" noTextEdit="1"/>
              </p:cNvSpPr>
              <p:nvPr>
                <p:ph type="title"/>
              </p:nvPr>
            </p:nvSpPr>
            <p:spPr>
              <a:blipFill>
                <a:blip r:embed="rId2"/>
                <a:stretch>
                  <a:fillRect t="-28182" b="-8182"/>
                </a:stretch>
              </a:blipFill>
            </p:spPr>
            <p:txBody>
              <a:bodyPr/>
              <a:lstStyle/>
              <a:p>
                <a:r>
                  <a:rPr lang="en-US">
                    <a:noFill/>
                  </a:rPr>
                  <a:t> </a:t>
                </a:r>
              </a:p>
            </p:txBody>
          </p:sp>
        </mc:Fallback>
      </mc:AlternateContent>
      <p:pic>
        <p:nvPicPr>
          <p:cNvPr id="5" name="Picture Placeholder 4" descr="A screenshot shows an Excel spreadsheet with two tables and a residual plot. In the first table, column A is labeled observation, column B is labeled predicted time, column C is labeled residuals, and column D is labeled standard residuals. The entries in rows 38 through 47 are as follows. Row 38. Observation: 1. Predicted time: 8.9385. Residuals: 0.3615. Standard residuals: 0.7153. Row 39. Observation: 2. Predicted time: 4.9583. Residuals: Negative 0.1583. Standard residuals: Negative 0.3132. Row 40. Observation: 3. Predicted time: 8.9385. Residuals: Negative 0.0385. Standard residuals: Negative 0.0761. Row 41. Observation: 4. Predicted time: 7.0916. Residuals: Negative 0.5916. Standard residuals: Negative 1.1704. Row 42. Observation: 5. Predicted time: 4.0349. Residuals: 0.1651. Standard residuals: 0.3267. Row 43. Observation: 6. Predicted time: 5.8689. Residuals: 0.3311. Standard residuals: 0.6550. Row 44. Observation: 7. Predicted time: 6.4867. Residuals: 0.9133. Standard residuals: 1.8069. Row 45. Observation: 8. Predicted time: 6.7987. Residuals: Negative 0.7987. Standard residuals: Negative 1.5802. Row 46. Observation: 9. Predicted time: 7.4037. Residuals: 0.1963. Standard residuals: 0.3884. Row 47. Observation: 10. Predicted time: 6.4803. Residuals: Negative 0.3803. Standard residuals: Negative 0.7523. In the second table, column F is labeled predicted time, and column G is labeled standard residuals. The entries in rows 38 through 47 are as follows. Row 38. Predicted time: 8.9385. Standard residuals: 0.7153. Row 39. Predicted time: 4.9583. Standard residuals: Negative 0.3132. Row 40. Predicted time: 8.9385. Standard residuals: Negative 0.0761. Row 41. Predicted time: 7.0916. Standard residuals: Negative 1.1704. Row 42. Predicted time: 4.0349. Standard residuals: 0.3267. Row 43. Predicted time: 5.8689. Standard residuals: 0.6550. Row 44. Predicted time: 6.4867. Standard residuals: 1.8069. Row 45. Predicted time: 6.7987. Standard residuals: Negative 1.5802. Row 46. Predicted time: 7.4037. Standard residuals: 0.3884. Row 47. Predicted time: 6.4803. Standard residuals: Negative 0.7523. In the residual plot, the horizontal axis is labeled predicted time, ranging from 4.0000 to 10.0000 in increments of 1.0000, and the vertical axis is labeled standardized residuals, ranging from negative 2.0000 to 2.0000 in increments of 0.5000. The plots are at (4.0349, 0.3267), (4.9583, negative 0.3132), (5.8689, 0.6550), (6.4803, negative 0.7523), (6.4867, 1.8069), (6.7987, negative 1.5802), (7.0916, negative 1.1704), (7.4037, 0.3884), (8.9385, negative 0.0761), and (8.9385, 0.7153).">
            <a:extLst>
              <a:ext uri="{FF2B5EF4-FFF2-40B4-BE49-F238E27FC236}">
                <a16:creationId xmlns:a16="http://schemas.microsoft.com/office/drawing/2014/main" id="{7E62DDDD-78B1-44E9-5CFF-A4C0850839BB}"/>
              </a:ext>
            </a:extLst>
          </p:cNvPr>
          <p:cNvPicPr>
            <a:picLocks noGrp="1" noChangeAspect="1"/>
          </p:cNvPicPr>
          <p:nvPr>
            <p:ph type="pic" sz="quarter" idx="10"/>
          </p:nvPr>
        </p:nvPicPr>
        <p:blipFill>
          <a:blip r:embed="rId3"/>
          <a:srcRect t="24" b="24"/>
          <a:stretch/>
        </p:blipFill>
        <p:spPr>
          <a:xfrm>
            <a:off x="998281" y="1259681"/>
            <a:ext cx="10195438" cy="4572000"/>
          </a:xfrm>
          <a:ln>
            <a:solidFill>
              <a:srgbClr val="000000"/>
            </a:solidFill>
          </a:ln>
        </p:spPr>
      </p:pic>
    </p:spTree>
    <p:extLst>
      <p:ext uri="{BB962C8B-B14F-4D97-AF65-F5344CB8AC3E}">
        <p14:creationId xmlns:p14="http://schemas.microsoft.com/office/powerpoint/2010/main" val="12988605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2E9DA-8EC1-BDCC-225E-5AF0A5DDA749}"/>
              </a:ext>
            </a:extLst>
          </p:cNvPr>
          <p:cNvSpPr>
            <a:spLocks noGrp="1"/>
          </p:cNvSpPr>
          <p:nvPr>
            <p:ph type="title"/>
          </p:nvPr>
        </p:nvSpPr>
        <p:spPr>
          <a:xfrm>
            <a:off x="790874" y="365125"/>
            <a:ext cx="10610224" cy="672105"/>
          </a:xfrm>
        </p:spPr>
        <p:txBody>
          <a:bodyPr/>
          <a:lstStyle/>
          <a:p>
            <a:r>
              <a:rPr lang="en-US" sz="3200" dirty="0">
                <a:solidFill>
                  <a:srgbClr val="D14B1E"/>
                </a:solidFill>
              </a:rPr>
              <a:t>15.9 Practical Advice: Big Data and Hypothesis Testing in Multiple Regression</a:t>
            </a:r>
          </a:p>
        </p:txBody>
      </p:sp>
      <p:sp>
        <p:nvSpPr>
          <p:cNvPr id="3" name="Text Placeholder 2">
            <a:extLst>
              <a:ext uri="{FF2B5EF4-FFF2-40B4-BE49-F238E27FC236}">
                <a16:creationId xmlns:a16="http://schemas.microsoft.com/office/drawing/2014/main" id="{1827DCC9-48E9-39AA-09BA-FE2089FB98DA}"/>
              </a:ext>
            </a:extLst>
          </p:cNvPr>
          <p:cNvSpPr>
            <a:spLocks noGrp="1"/>
          </p:cNvSpPr>
          <p:nvPr>
            <p:ph type="body" sz="quarter" idx="15"/>
          </p:nvPr>
        </p:nvSpPr>
        <p:spPr>
          <a:xfrm>
            <a:off x="743576" y="1596753"/>
            <a:ext cx="10711543" cy="4162097"/>
          </a:xfrm>
        </p:spPr>
        <p:txBody>
          <a:bodyPr/>
          <a:lstStyle/>
          <a:p>
            <a:pPr>
              <a:spcBef>
                <a:spcPts val="600"/>
              </a:spcBef>
              <a:spcAft>
                <a:spcPts val="0"/>
              </a:spcAft>
            </a:pPr>
            <a:r>
              <a:rPr lang="en-US" sz="2000" dirty="0"/>
              <a:t>In multiple regression, as the sample size increases,</a:t>
            </a:r>
          </a:p>
          <a:p>
            <a:pPr marL="685800" indent="-342900">
              <a:spcBef>
                <a:spcPts val="600"/>
              </a:spcBef>
              <a:spcAft>
                <a:spcPts val="0"/>
              </a:spcAft>
              <a:buFont typeface="Arial" panose="020B0604020202020204" pitchFamily="34" charset="0"/>
              <a:buChar char="•"/>
            </a:pPr>
            <a:r>
              <a:rPr lang="en-US" sz="2000" dirty="0"/>
              <a:t>the </a:t>
            </a:r>
            <a:r>
              <a:rPr lang="en-US" sz="2000" i="1" dirty="0"/>
              <a:t>p</a:t>
            </a:r>
            <a:r>
              <a:rPr lang="en-US" sz="2000" dirty="0"/>
              <a:t>-value for the </a:t>
            </a:r>
            <a:r>
              <a:rPr lang="en-US" sz="2000" dirty="0">
                <a:latin typeface="Arial" panose="020B0604020202020204" pitchFamily="34" charset="0"/>
                <a:cs typeface="Arial" panose="020B0604020202020204" pitchFamily="34" charset="0"/>
              </a:rPr>
              <a:t>𝐹</a:t>
            </a:r>
            <a:r>
              <a:rPr lang="en-US" sz="2000" dirty="0"/>
              <a:t> test, used to determine whether a significant relationship exists between the dependent variable and the set of all independent variables, decreases.</a:t>
            </a:r>
          </a:p>
          <a:p>
            <a:pPr marL="685800" indent="-342900">
              <a:spcBef>
                <a:spcPts val="600"/>
              </a:spcBef>
              <a:spcAft>
                <a:spcPts val="0"/>
              </a:spcAft>
              <a:buFont typeface="Arial" panose="020B0604020202020204" pitchFamily="34" charset="0"/>
              <a:buChar char="•"/>
            </a:pPr>
            <a:r>
              <a:rPr lang="en-US" sz="2000" dirty="0"/>
              <a:t>the </a:t>
            </a:r>
            <a:r>
              <a:rPr lang="en-US" sz="2000" i="1" dirty="0"/>
              <a:t>p</a:t>
            </a:r>
            <a:r>
              <a:rPr lang="en-US" sz="2000" dirty="0"/>
              <a:t>-value for each of </a:t>
            </a:r>
            <a:r>
              <a:rPr lang="en-US" sz="2000" i="1" dirty="0"/>
              <a:t>t</a:t>
            </a:r>
            <a:r>
              <a:rPr lang="en-US" sz="2000" dirty="0"/>
              <a:t> test used to determine whether a significant relationship exists between the dependent variable and an individual independent variable, decreases.</a:t>
            </a:r>
          </a:p>
          <a:p>
            <a:pPr marL="685800" indent="-342900">
              <a:spcBef>
                <a:spcPts val="600"/>
              </a:spcBef>
              <a:spcAft>
                <a:spcPts val="0"/>
              </a:spcAft>
              <a:buFont typeface="Arial" panose="020B0604020202020204" pitchFamily="34" charset="0"/>
              <a:buChar char="•"/>
            </a:pPr>
            <a:r>
              <a:rPr lang="en-US" sz="2000" dirty="0"/>
              <a:t>the confidence interval for the slope parameter associated with each individual independent variable narrows.</a:t>
            </a:r>
          </a:p>
          <a:p>
            <a:pPr marL="685800" indent="-342900">
              <a:spcBef>
                <a:spcPts val="600"/>
              </a:spcBef>
              <a:spcAft>
                <a:spcPts val="0"/>
              </a:spcAft>
              <a:buFont typeface="Arial" panose="020B0604020202020204" pitchFamily="34" charset="0"/>
              <a:buChar char="•"/>
            </a:pPr>
            <a:r>
              <a:rPr lang="en-US" sz="2000" dirty="0"/>
              <a:t>the confidence interval for the mean value of </a:t>
            </a:r>
            <a:r>
              <a:rPr lang="en-US" sz="2000" dirty="0">
                <a:latin typeface="Arial" panose="020B0604020202020204" pitchFamily="34" charset="0"/>
                <a:cs typeface="Arial" panose="020B0604020202020204" pitchFamily="34" charset="0"/>
              </a:rPr>
              <a:t>𝑦</a:t>
            </a:r>
            <a:r>
              <a:rPr lang="en-US" sz="2000" dirty="0"/>
              <a:t> narrows.</a:t>
            </a:r>
          </a:p>
          <a:p>
            <a:pPr marL="685800" indent="-342900">
              <a:spcBef>
                <a:spcPts val="600"/>
              </a:spcBef>
              <a:spcAft>
                <a:spcPts val="0"/>
              </a:spcAft>
              <a:buFont typeface="Arial" panose="020B0604020202020204" pitchFamily="34" charset="0"/>
              <a:buChar char="•"/>
            </a:pPr>
            <a:r>
              <a:rPr lang="en-US" sz="2000" dirty="0"/>
              <a:t>the prediction interval for an individual value of </a:t>
            </a:r>
            <a:r>
              <a:rPr lang="en-US" sz="2000" dirty="0">
                <a:latin typeface="Arial" panose="020B0604020202020204" pitchFamily="34" charset="0"/>
                <a:cs typeface="Arial" panose="020B0604020202020204" pitchFamily="34" charset="0"/>
              </a:rPr>
              <a:t>𝑦</a:t>
            </a:r>
            <a:r>
              <a:rPr lang="en-US" sz="2000" dirty="0"/>
              <a:t> narrows.</a:t>
            </a:r>
          </a:p>
          <a:p>
            <a:pPr>
              <a:spcBef>
                <a:spcPts val="600"/>
              </a:spcBef>
              <a:spcAft>
                <a:spcPts val="0"/>
              </a:spcAft>
            </a:pPr>
            <a:r>
              <a:rPr lang="en-US" sz="2000" dirty="0"/>
              <a:t>Besides the effects due to sample size and </a:t>
            </a:r>
            <a:r>
              <a:rPr lang="en-US" sz="2000" dirty="0" err="1"/>
              <a:t>nonsampling</a:t>
            </a:r>
            <a:r>
              <a:rPr lang="en-US" sz="2000" dirty="0"/>
              <a:t> error already introduced for simple linear regression, multicollinearity may also cause the estimated slope coefficients in multiple regression to be misleading.</a:t>
            </a:r>
          </a:p>
        </p:txBody>
      </p:sp>
    </p:spTree>
    <p:extLst>
      <p:ext uri="{BB962C8B-B14F-4D97-AF65-F5344CB8AC3E}">
        <p14:creationId xmlns:p14="http://schemas.microsoft.com/office/powerpoint/2010/main" val="1757364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03111-11D8-4FB8-BD21-A8C57EDF6315}"/>
              </a:ext>
            </a:extLst>
          </p:cNvPr>
          <p:cNvSpPr>
            <a:spLocks noGrp="1"/>
          </p:cNvSpPr>
          <p:nvPr>
            <p:ph type="title"/>
          </p:nvPr>
        </p:nvSpPr>
        <p:spPr/>
        <p:txBody>
          <a:bodyPr/>
          <a:lstStyle/>
          <a:p>
            <a:r>
              <a:rPr lang="en-US" dirty="0"/>
              <a:t>Summary</a:t>
            </a:r>
          </a:p>
        </p:txBody>
      </p:sp>
      <p:sp>
        <p:nvSpPr>
          <p:cNvPr id="3" name="Text Placeholder 2">
            <a:extLst>
              <a:ext uri="{FF2B5EF4-FFF2-40B4-BE49-F238E27FC236}">
                <a16:creationId xmlns:a16="http://schemas.microsoft.com/office/drawing/2014/main" id="{87C197FC-1825-404A-BE9E-EA5BA19058B7}"/>
              </a:ext>
            </a:extLst>
          </p:cNvPr>
          <p:cNvSpPr>
            <a:spLocks noGrp="1"/>
          </p:cNvSpPr>
          <p:nvPr>
            <p:ph type="body" sz="quarter" idx="17"/>
          </p:nvPr>
        </p:nvSpPr>
        <p:spPr>
          <a:xfrm>
            <a:off x="751069" y="1263931"/>
            <a:ext cx="10657500" cy="4439459"/>
          </a:xfrm>
        </p:spPr>
        <p:txBody>
          <a:bodyPr>
            <a:noAutofit/>
          </a:bodyPr>
          <a:lstStyle/>
          <a:p>
            <a:pPr>
              <a:lnSpc>
                <a:spcPct val="100000"/>
              </a:lnSpc>
              <a:spcBef>
                <a:spcPts val="600"/>
              </a:spcBef>
            </a:pPr>
            <a:r>
              <a:rPr lang="en-US" dirty="0">
                <a:latin typeface="Arial" panose="020B0604020202020204" pitchFamily="34" charset="0"/>
                <a:cs typeface="Arial" panose="020B0604020202020204" pitchFamily="34" charset="0"/>
              </a:rPr>
              <a:t>Multiple regression analysis enables us to understand how a dependent variable is related to two or more independent variables.</a:t>
            </a:r>
          </a:p>
          <a:p>
            <a:pPr>
              <a:lnSpc>
                <a:spcPct val="100000"/>
              </a:lnSpc>
              <a:spcBef>
                <a:spcPts val="600"/>
              </a:spcBef>
            </a:pPr>
            <a:r>
              <a:rPr lang="en-US" dirty="0">
                <a:latin typeface="Arial" panose="020B0604020202020204" pitchFamily="34" charset="0"/>
                <a:cs typeface="Arial" panose="020B0604020202020204" pitchFamily="34" charset="0"/>
              </a:rPr>
              <a:t>We introduced the multiple coefficient of determination as a measure of goodness of fit for multiple regression, and the adjusted multiple coefficient of determination that accounts for the impact of adding more independent variables to the model.</a:t>
            </a:r>
          </a:p>
          <a:p>
            <a:pPr>
              <a:lnSpc>
                <a:spcPct val="100000"/>
              </a:lnSpc>
              <a:spcBef>
                <a:spcPts val="600"/>
              </a:spcBef>
            </a:pPr>
            <a:r>
              <a:rPr lang="en-US" dirty="0">
                <a:latin typeface="Arial" panose="020B0604020202020204" pitchFamily="34" charset="0"/>
                <a:cs typeface="Arial" panose="020B0604020202020204" pitchFamily="34" charset="0"/>
              </a:rPr>
              <a:t>The </a:t>
            </a:r>
            <a:r>
              <a:rPr lang="en-US" sz="2000" dirty="0">
                <a:latin typeface="Arial" panose="020B0604020202020204" pitchFamily="34" charset="0"/>
                <a:cs typeface="Arial" panose="020B0604020202020204" pitchFamily="34" charset="0"/>
              </a:rPr>
              <a:t>𝐹</a:t>
            </a:r>
            <a:r>
              <a:rPr lang="en-US" dirty="0">
                <a:latin typeface="Arial" panose="020B0604020202020204" pitchFamily="34" charset="0"/>
                <a:cs typeface="Arial" panose="020B0604020202020204" pitchFamily="34" charset="0"/>
              </a:rPr>
              <a:t> test is used to determine the overall significance of the model, and the </a:t>
            </a:r>
            <a:r>
              <a:rPr lang="en-US" i="1" dirty="0">
                <a:latin typeface="Arial" panose="020B0604020202020204" pitchFamily="34" charset="0"/>
                <a:cs typeface="Arial" panose="020B0604020202020204" pitchFamily="34" charset="0"/>
              </a:rPr>
              <a:t>t</a:t>
            </a:r>
            <a:r>
              <a:rPr lang="en-US" dirty="0">
                <a:latin typeface="Arial" panose="020B0604020202020204" pitchFamily="34" charset="0"/>
                <a:cs typeface="Arial" panose="020B0604020202020204" pitchFamily="34" charset="0"/>
              </a:rPr>
              <a:t> test is used to determine whether an individual independent variable is significant.</a:t>
            </a:r>
          </a:p>
          <a:p>
            <a:pPr>
              <a:lnSpc>
                <a:spcPct val="100000"/>
              </a:lnSpc>
              <a:spcBef>
                <a:spcPts val="600"/>
              </a:spcBef>
            </a:pPr>
            <a:r>
              <a:rPr lang="en-US" dirty="0">
                <a:latin typeface="Arial" panose="020B0604020202020204" pitchFamily="34" charset="0"/>
                <a:cs typeface="Arial" panose="020B0604020202020204" pitchFamily="34" charset="0"/>
              </a:rPr>
              <a:t>Correlation among the independent variables, known as multicollinearity, was discussed.</a:t>
            </a:r>
          </a:p>
          <a:p>
            <a:pPr>
              <a:lnSpc>
                <a:spcPct val="100000"/>
              </a:lnSpc>
              <a:spcBef>
                <a:spcPts val="600"/>
              </a:spcBef>
            </a:pPr>
            <a:r>
              <a:rPr lang="en-US" dirty="0">
                <a:latin typeface="Arial" panose="020B0604020202020204" pitchFamily="34" charset="0"/>
                <a:cs typeface="Arial" panose="020B0604020202020204" pitchFamily="34" charset="0"/>
              </a:rPr>
              <a:t>We use dummy variables to incorporate categorical data into multiple regression analysis.</a:t>
            </a:r>
          </a:p>
          <a:p>
            <a:pPr>
              <a:lnSpc>
                <a:spcPct val="100000"/>
              </a:lnSpc>
              <a:spcBef>
                <a:spcPts val="600"/>
              </a:spcBef>
            </a:pPr>
            <a:r>
              <a:rPr lang="en-US" dirty="0">
                <a:latin typeface="Arial" panose="020B0604020202020204" pitchFamily="34" charset="0"/>
                <a:cs typeface="Arial" panose="020B0604020202020204" pitchFamily="34" charset="0"/>
              </a:rPr>
              <a:t>In residual analysis, standardized residuals, leverage, studentized deleted residuals, and Cook’s distance measure can be used to detect outliers and influential observations.</a:t>
            </a:r>
          </a:p>
        </p:txBody>
      </p:sp>
    </p:spTree>
    <p:extLst>
      <p:ext uri="{BB962C8B-B14F-4D97-AF65-F5344CB8AC3E}">
        <p14:creationId xmlns:p14="http://schemas.microsoft.com/office/powerpoint/2010/main" val="2999070165"/>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000000"/>
          </a:solidFill>
          <a:prstDash val="lgDash"/>
        </a:ln>
      </a:spPr>
      <a:bodyPr/>
      <a:lstStyle/>
      <a:style>
        <a:lnRef idx="1">
          <a:schemeClr val="dk1"/>
        </a:lnRef>
        <a:fillRef idx="0">
          <a:schemeClr val="dk1"/>
        </a:fillRef>
        <a:effectRef idx="0">
          <a:schemeClr val="dk1"/>
        </a:effectRef>
        <a:fontRef idx="minor">
          <a:schemeClr val="tx1"/>
        </a:fontRef>
      </a:style>
    </a:lnDef>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18" ma:contentTypeDescription="Create a new document." ma:contentTypeScope="" ma:versionID="6b2a7157397caa02a1ce799840706cf4">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f7ec463e446db2c0a3b7b3165a862926" ns2:_="" ns3:_="">
    <xsd:import namespace="c8ecdccd-e3b0-4392-94c4-49d90f16d1d5"/>
    <xsd:import namespace="cc1e726a-7c3b-4654-9122-87de3e28a51c"/>
    <xsd:element name="properties">
      <xsd:complexType>
        <xsd:sequence>
          <xsd:element name="documentManagement">
            <xsd:complexType>
              <xsd:all>
                <xsd:element ref="ns2:MediaServiceMetadata" minOccurs="0"/>
                <xsd:element ref="ns2:MediaServiceFastMetadata" minOccurs="0"/>
                <xsd:element ref="ns2:MediaServiceAutoTags" minOccurs="0"/>
                <xsd:element ref="ns2:Topic" minOccurs="0"/>
                <xsd:element ref="ns3:SharedWithUsers" minOccurs="0"/>
                <xsd:element ref="ns3:SharedWithDetails" minOccurs="0"/>
                <xsd:element ref="ns2:MediaServiceAutoKeyPoints" minOccurs="0"/>
                <xsd:element ref="ns2:MediaServiceKeyPoints" minOccurs="0"/>
                <xsd:element ref="ns2:MediaServiceDateTaken" minOccurs="0"/>
                <xsd:element ref="ns2:Owner" minOccurs="0"/>
                <xsd:element ref="ns2:Copy" minOccurs="0"/>
                <xsd:element ref="ns2:MasterLocation_x0028_ifCopy_x003d_Yes_x0029_" minOccurs="0"/>
                <xsd:element ref="ns2:Admin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Topic" ma:index="11" nillable="true" ma:displayName="Topic" ma:default="Unassigned" ma:format="Dropdown" ma:internalName="Topic">
      <xsd:simpleType>
        <xsd:restriction base="dms:Choice">
          <xsd:enumeration value="Accessibility"/>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Owner" ma:index="17"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CoE"/>
          <xsd:enumeration value="Manufacturing"/>
          <xsd:enumeration value="Strategic Sourcing"/>
        </xsd:restriction>
      </xsd:simpleType>
    </xsd:element>
    <xsd:element name="Copy" ma:index="18"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19"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CoE"/>
          <xsd:enumeration value="Strategic Sourcing"/>
          <xsd:enumeration value="VIP Documents"/>
          <xsd:enumeration value="n/a"/>
        </xsd:restriction>
      </xsd:simpleType>
    </xsd:element>
    <xsd:element name="AdminNotes" ma:index="20" nillable="true" ma:displayName="Admin Notes" ma:format="Dropdown" ma:internalName="AdminNotes">
      <xsd:simpleType>
        <xsd:union memberTypes="dms:Text">
          <xsd:simpleType>
            <xsd:restriction base="dms:Choice">
              <xsd:enumeration value="See Source Documents"/>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Topic xmlns="c8ecdccd-e3b0-4392-94c4-49d90f16d1d5">Accessibility</Topic>
    <Copy xmlns="c8ecdccd-e3b0-4392-94c4-49d90f16d1d5">true</Copy>
    <MasterLocation_x0028_ifCopy_x003d_Yes_x0029_ xmlns="c8ecdccd-e3b0-4392-94c4-49d90f16d1d5">LCoE</MasterLocation_x0028_ifCopy_x003d_Yes_x0029_>
    <Owner xmlns="c8ecdccd-e3b0-4392-94c4-49d90f16d1d5">LCoE</Owner>
  </documentManagement>
</p:properties>
</file>

<file path=customXml/itemProps1.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2.xml><?xml version="1.0" encoding="utf-8"?>
<ds:datastoreItem xmlns:ds="http://schemas.openxmlformats.org/officeDocument/2006/customXml" ds:itemID="{72CEB1C7-5C0A-4F1C-B184-5FA4EC6070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A9BA192-EF86-48DF-982C-2C526A268392}">
  <ds:schemaRefs>
    <ds:schemaRef ds:uri="http://purl.org/dc/elements/1.1/"/>
    <ds:schemaRef ds:uri="http://www.w3.org/XML/1998/namespace"/>
    <ds:schemaRef ds:uri="http://schemas.openxmlformats.org/package/2006/metadata/core-properties"/>
    <ds:schemaRef ds:uri="http://purl.org/dc/terms/"/>
    <ds:schemaRef ds:uri="cc1e726a-7c3b-4654-9122-87de3e28a51c"/>
    <ds:schemaRef ds:uri="http://schemas.microsoft.com/office/2006/documentManagement/types"/>
    <ds:schemaRef ds:uri="http://schemas.microsoft.com/office/2006/metadata/properties"/>
    <ds:schemaRef ds:uri="http://schemas.microsoft.com/office/infopath/2007/PartnerControls"/>
    <ds:schemaRef ds:uri="c8ecdccd-e3b0-4392-94c4-49d90f16d1d5"/>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101118</TotalTime>
  <Words>5842</Words>
  <Application>Microsoft Office PowerPoint</Application>
  <PresentationFormat>Widescreen</PresentationFormat>
  <Paragraphs>588</Paragraphs>
  <Slides>43</Slides>
  <Notes>35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Arial</vt:lpstr>
      <vt:lpstr>Arial</vt:lpstr>
      <vt:lpstr>Calibri</vt:lpstr>
      <vt:lpstr>Cambria Math</vt:lpstr>
      <vt:lpstr>Helvetica</vt:lpstr>
      <vt:lpstr>Open Sans</vt:lpstr>
      <vt:lpstr>Summer Font</vt:lpstr>
      <vt:lpstr>Times New Roman</vt:lpstr>
      <vt:lpstr>Office Theme</vt:lpstr>
      <vt:lpstr>PowerPoint Presentation</vt:lpstr>
      <vt:lpstr>Chapter Contents</vt:lpstr>
      <vt:lpstr>Chapter Objectives (1 of 2)</vt:lpstr>
      <vt:lpstr>Chapter Objectives (2 of 2)</vt:lpstr>
      <vt:lpstr>Introduction</vt:lpstr>
      <vt:lpstr>15.1 Multiple Regression Model</vt:lpstr>
      <vt:lpstr>15.1 Regression Model and Regression Equation</vt:lpstr>
      <vt:lpstr>15.1 The Estimation Process in Multiple Regression</vt:lpstr>
      <vt:lpstr>15.2 Least Squares Method</vt:lpstr>
      <vt:lpstr>15.2 The Butler Trucking Company Example</vt:lpstr>
      <vt:lpstr>15.2 Excel: Simple Linear Regression Output with One Independent Variable</vt:lpstr>
      <vt:lpstr>15.2 Excel: Regression Tool Dialog Box</vt:lpstr>
      <vt:lpstr>15.2 Excel: Multiple Regression Output with Two Independent Variables</vt:lpstr>
      <vt:lpstr>15.2 Interpreting Multiple Regression Coefficients</vt:lpstr>
      <vt:lpstr>15.3 Multiple Coefficient of Determination</vt:lpstr>
      <vt:lpstr>15.3 Adjusted Multiple Coefficient of Determination</vt:lpstr>
      <vt:lpstr>15.4 Model Assumptions</vt:lpstr>
      <vt:lpstr>15.4 Graphical Representation of a Multiple Regression Equation with Two Independent Variables</vt:lpstr>
      <vt:lpstr>15.4 Assumptions About the Error Term ϵ</vt:lpstr>
      <vt:lpstr>15.5 Testing for Significance</vt:lpstr>
      <vt:lpstr>15.5 F Test for Overall Significance</vt:lpstr>
      <vt:lpstr>15.5 F Test for the Butler Trucking Example</vt:lpstr>
      <vt:lpstr>15.5 Estimate of σ^2 in Multiple Regression</vt:lpstr>
      <vt:lpstr>15.5 ANOVA Table for Multiple Regression</vt:lpstr>
      <vt:lpstr>15.5 t Test for Individual Significance</vt:lpstr>
      <vt:lpstr>15.5 Individual t Tests for the Butler Trucking Example</vt:lpstr>
      <vt:lpstr>15.5 Excel: Testing for Significance on Regression Output</vt:lpstr>
      <vt:lpstr>15.5 Multicollinearity</vt:lpstr>
      <vt:lpstr>15.6 Using the Estimated Regression Equation for Estimation and Prediction</vt:lpstr>
      <vt:lpstr>15.6 The 95% Confidence and Prediction Intervals for the Butler Trucking Example</vt:lpstr>
      <vt:lpstr>15.7 Categorical Independent Variables</vt:lpstr>
      <vt:lpstr>15.7 An Example: Johnson Filtration, Inc.</vt:lpstr>
      <vt:lpstr>15.7 Adding a Dummy Variable</vt:lpstr>
      <vt:lpstr>15.7 Interpreting the Parameter of a Dummy Variable</vt:lpstr>
      <vt:lpstr>15.7 Interpreting the Parameters in the Johnson Filtration Example</vt:lpstr>
      <vt:lpstr>15.7 More Complex Categorical Variables</vt:lpstr>
      <vt:lpstr>15.7 Interpretation of the Parameters for a Categorical Variable with Three Levels</vt:lpstr>
      <vt:lpstr>15.8 Residual Analysis</vt:lpstr>
      <vt:lpstr>15.8 Residual Plot Against y ̂ for Butler Trucking</vt:lpstr>
      <vt:lpstr>15.8 Detecting Outliers in Multiple Regression</vt:lpstr>
      <vt:lpstr>15.8 Standardized Residual Plot Against y ̂ </vt:lpstr>
      <vt:lpstr>15.9 Practical Advice: Big Data and Hypothesis Testing in Multiple Regression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Cowan, Flannery</cp:lastModifiedBy>
  <cp:revision>2545</cp:revision>
  <cp:lastPrinted>2016-10-03T15:29:39Z</cp:lastPrinted>
  <dcterms:created xsi:type="dcterms:W3CDTF">2019-11-14T21:20:16Z</dcterms:created>
  <dcterms:modified xsi:type="dcterms:W3CDTF">2025-12-18T16:23:06Z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SP Reprints">
    <vt:bool>false</vt:bool>
  </property>
  <property fmtid="{D5CDD505-2E9C-101B-9397-08002B2CF9AE}" pid="13" name="_SourceUrl">
    <vt:lpwstr/>
  </property>
  <property fmtid="{D5CDD505-2E9C-101B-9397-08002B2CF9AE}" pid="14" name="_SharedFileIndex">
    <vt:lpwstr/>
  </property>
  <property fmtid="{D5CDD505-2E9C-101B-9397-08002B2CF9AE}" pid="15" name="SP Production">
    <vt:bool>false</vt:bool>
  </property>
  <property fmtid="{D5CDD505-2E9C-101B-9397-08002B2CF9AE}" pid="16" name="SP Content Authoring/Dev">
    <vt:bool>false</vt:bool>
  </property>
  <property fmtid="{D5CDD505-2E9C-101B-9397-08002B2CF9AE}" pid="17" name="SP E2E">
    <vt:bool>false</vt:bool>
  </property>
</Properties>
</file>