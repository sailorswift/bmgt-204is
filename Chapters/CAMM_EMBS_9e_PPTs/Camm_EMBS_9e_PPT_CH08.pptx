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673" r:id="rId5"/>
    <p:sldId id="524" r:id="rId6"/>
    <p:sldId id="548" r:id="rId7"/>
    <p:sldId id="659" r:id="rId8"/>
    <p:sldId id="596" r:id="rId9"/>
    <p:sldId id="660" r:id="rId10"/>
    <p:sldId id="616" r:id="rId11"/>
    <p:sldId id="617" r:id="rId12"/>
    <p:sldId id="619" r:id="rId13"/>
    <p:sldId id="662" r:id="rId14"/>
    <p:sldId id="667" r:id="rId15"/>
    <p:sldId id="621" r:id="rId16"/>
    <p:sldId id="622" r:id="rId17"/>
    <p:sldId id="663" r:id="rId18"/>
    <p:sldId id="658" r:id="rId19"/>
    <p:sldId id="670" r:id="rId20"/>
    <p:sldId id="669" r:id="rId21"/>
    <p:sldId id="671" r:id="rId22"/>
    <p:sldId id="626" r:id="rId23"/>
    <p:sldId id="664" r:id="rId24"/>
    <p:sldId id="665" r:id="rId25"/>
    <p:sldId id="629" r:id="rId26"/>
    <p:sldId id="630" r:id="rId27"/>
    <p:sldId id="672" r:id="rId28"/>
    <p:sldId id="631" r:id="rId29"/>
    <p:sldId id="666" r:id="rId30"/>
    <p:sldId id="632" r:id="rId31"/>
    <p:sldId id="523" r:id="rId3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FB7424-FDF1-8F6E-9596-ACB5A8234F08}" name="Lumina CE" initials="CE" userId="Lumina C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5894E"/>
    <a:srgbClr val="D14B1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58" d="100"/>
          <a:sy n="58" d="100"/>
        </p:scale>
        <p:origin x="36" y="68"/>
      </p:cViewPr>
      <p:guideLst>
        <p:guide orient="horz" pos="2160"/>
        <p:guide pos="3840"/>
      </p:guideLst>
    </p:cSldViewPr>
  </p:slideViewPr>
  <p:outlineViewPr>
    <p:cViewPr>
      <p:scale>
        <a:sx n="33" d="100"/>
        <a:sy n="33" d="100"/>
      </p:scale>
      <p:origin x="0" y="-31584"/>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449127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Times New Roman" panose="02020603050405020304" pitchFamily="18" charset="0"/>
              </a:rPr>
              <a:t>If the degrees of freedom exceed 100, the infinite degrees of freedom row of Table 2 in Appendix B can be used to approximate the actual t value; in other words, for more than 100 degrees of freedom, the standard normal </a:t>
            </a:r>
            <a:r>
              <a:rPr lang="en-US" b="0" i="1" dirty="0">
                <a:effectLst/>
                <a:latin typeface="Times New Roman" panose="02020603050405020304" pitchFamily="18" charset="0"/>
              </a:rPr>
              <a:t>z</a:t>
            </a:r>
            <a:r>
              <a:rPr lang="en-US" b="0" i="0" dirty="0">
                <a:effectLst/>
                <a:latin typeface="Times New Roman" panose="02020603050405020304" pitchFamily="18" charset="0"/>
              </a:rPr>
              <a:t> value provides a good approximation to the </a:t>
            </a:r>
            <a:r>
              <a:rPr lang="en-US" b="0" i="1" dirty="0">
                <a:effectLst/>
                <a:latin typeface="Times New Roman" panose="02020603050405020304" pitchFamily="18" charset="0"/>
              </a:rPr>
              <a:t>t</a:t>
            </a:r>
            <a:r>
              <a:rPr lang="en-US" b="0" i="0" dirty="0">
                <a:effectLst/>
                <a:latin typeface="Times New Roman" panose="02020603050405020304" pitchFamily="18" charset="0"/>
              </a:rPr>
              <a:t> value.</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1578676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Note:</a:t>
                </a:r>
                <a:r>
                  <a:rPr lang="en-US" sz="1200" baseline="0" dirty="0"/>
                  <a:t> d</a:t>
                </a:r>
                <a:r>
                  <a:rPr lang="en-US" sz="1200" dirty="0"/>
                  <a:t>egrees of freedom refer to the number of independent pieces of information (data points) that go in the computation of the sample standard deviation, </a:t>
                </a:r>
                <a:r>
                  <a:rPr lang="en-US" sz="1200" i="1" dirty="0"/>
                  <a:t>s</a:t>
                </a:r>
                <a:r>
                  <a:rPr lang="en-US" sz="1200" i="0" dirty="0"/>
                  <a:t>, and with the nth data point being “locked” by the computations of the sample mean, </a:t>
                </a:r>
                <a14:m>
                  <m:oMath xmlns:m="http://schemas.openxmlformats.org/officeDocument/2006/math">
                    <m:acc>
                      <m:accPr>
                        <m:chr m:val="̅"/>
                        <m:ctrlPr>
                          <a:rPr lang="en-US" sz="1200" i="1" dirty="0" smtClean="0">
                            <a:latin typeface="Cambria Math" panose="02040503050406030204" pitchFamily="18" charset="0"/>
                          </a:rPr>
                        </m:ctrlPr>
                      </m:accPr>
                      <m:e>
                        <m:r>
                          <a:rPr lang="en-US" sz="1200" b="0" i="1" dirty="0" smtClean="0">
                            <a:latin typeface="Cambria Math" panose="02040503050406030204" pitchFamily="18" charset="0"/>
                          </a:rPr>
                          <m:t>𝑥</m:t>
                        </m:r>
                      </m:e>
                    </m:acc>
                  </m:oMath>
                </a14:m>
                <a:r>
                  <a:rPr lang="en-US" sz="1200" i="0" dirty="0"/>
                  <a:t>, needed for the computation of </a:t>
                </a:r>
                <a:r>
                  <a:rPr lang="en-US" sz="1200" i="1" dirty="0"/>
                  <a:t>s</a:t>
                </a:r>
                <a:r>
                  <a:rPr lang="en-US" sz="1200" i="0" dirty="0"/>
                  <a:t>.</a:t>
                </a:r>
              </a:p>
              <a:p>
                <a:endParaRPr lang="en-US" dirty="0"/>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Note:</a:t>
                </a:r>
                <a:r>
                  <a:rPr lang="en-US" sz="1200" baseline="0" dirty="0"/>
                  <a:t> d</a:t>
                </a:r>
                <a:r>
                  <a:rPr lang="en-US" sz="1200" dirty="0"/>
                  <a:t>egrees of freedom refer to the number of independent pieces of information (data points) that go in the computation of the sample standard deviation, </a:t>
                </a:r>
                <a:r>
                  <a:rPr lang="en-US" sz="1200" i="1" dirty="0"/>
                  <a:t>s</a:t>
                </a:r>
                <a:r>
                  <a:rPr lang="en-US" sz="1200" i="0" dirty="0"/>
                  <a:t>, and with the nth data point being “locked” by the computations of the sample mean, </a:t>
                </a:r>
                <a:r>
                  <a:rPr lang="en-US" sz="1200" b="0" i="0" dirty="0">
                    <a:latin typeface="Cambria Math" panose="02040503050406030204" pitchFamily="18" charset="0"/>
                  </a:rPr>
                  <a:t>𝑥 ̅</a:t>
                </a:r>
                <a:r>
                  <a:rPr lang="en-US" sz="1200" i="0" dirty="0"/>
                  <a:t>, needed for the computation of </a:t>
                </a:r>
                <a:r>
                  <a:rPr lang="en-US" sz="1200" i="1" dirty="0"/>
                  <a:t>s</a:t>
                </a:r>
                <a:r>
                  <a:rPr lang="en-US" sz="1200" i="0" dirty="0"/>
                  <a:t>.</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3984559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2971344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 planning value of </a:t>
            </a:r>
            <a:r>
              <a:rPr lang="en-US" i="1" dirty="0"/>
              <a:t>p</a:t>
            </a:r>
            <a:r>
              <a:rPr lang="en-US" dirty="0"/>
              <a:t>* = 0.50 always produces the largest sample size because </a:t>
            </a:r>
            <a:r>
              <a:rPr lang="en-US" i="1" dirty="0"/>
              <a:t>p</a:t>
            </a:r>
            <a:r>
              <a:rPr lang="en-US" dirty="0"/>
              <a:t>* = 0.50 maximizes the expression </a:t>
            </a:r>
            <a:r>
              <a:rPr lang="en-US" i="1" dirty="0"/>
              <a:t>p</a:t>
            </a:r>
            <a:r>
              <a:rPr lang="en-US" dirty="0"/>
              <a:t>*(1 – </a:t>
            </a:r>
            <a:r>
              <a:rPr lang="en-US" i="1" dirty="0"/>
              <a:t>p*</a:t>
            </a:r>
            <a:r>
              <a:rPr lang="en-US" dirty="0"/>
              <a:t>):</a:t>
            </a:r>
          </a:p>
          <a:p>
            <a:r>
              <a:rPr lang="en-US" sz="1800" b="0" i="1" u="sng" strike="noStrike" dirty="0">
                <a:solidFill>
                  <a:srgbClr val="000000"/>
                </a:solidFill>
                <a:effectLst/>
                <a:latin typeface="Calibri" panose="020F0502020204030204" pitchFamily="34" charset="0"/>
              </a:rPr>
              <a:t> p</a:t>
            </a:r>
            <a:r>
              <a:rPr lang="en-US" sz="1800" b="0" i="0" u="sng" strike="noStrike" dirty="0">
                <a:solidFill>
                  <a:srgbClr val="000000"/>
                </a:solidFill>
                <a:effectLst/>
                <a:latin typeface="Calibri" panose="020F0502020204030204" pitchFamily="34" charset="0"/>
              </a:rPr>
              <a:t>*</a:t>
            </a:r>
            <a:r>
              <a:rPr lang="en-US" u="sng" dirty="0">
                <a:effectLst/>
              </a:rPr>
              <a:t> 	     </a:t>
            </a:r>
            <a:r>
              <a:rPr lang="en-US" sz="1800" b="0" i="1" u="sng" strike="noStrike" dirty="0">
                <a:solidFill>
                  <a:srgbClr val="000000"/>
                </a:solidFill>
                <a:effectLst/>
                <a:latin typeface="Calibri" panose="020F0502020204030204" pitchFamily="34" charset="0"/>
              </a:rPr>
              <a:t>p</a:t>
            </a:r>
            <a:r>
              <a:rPr lang="en-US" sz="1800" b="0" i="0" u="sng" strike="noStrike" dirty="0">
                <a:solidFill>
                  <a:srgbClr val="000000"/>
                </a:solidFill>
                <a:effectLst/>
                <a:latin typeface="Calibri" panose="020F0502020204030204" pitchFamily="34" charset="0"/>
              </a:rPr>
              <a:t>*(1 - </a:t>
            </a:r>
            <a:r>
              <a:rPr lang="en-US" sz="1800" b="0" i="1" u="sng" strike="noStrike" dirty="0">
                <a:solidFill>
                  <a:srgbClr val="000000"/>
                </a:solidFill>
                <a:effectLst/>
                <a:latin typeface="Calibri" panose="020F0502020204030204" pitchFamily="34" charset="0"/>
              </a:rPr>
              <a:t>p</a:t>
            </a:r>
            <a:r>
              <a:rPr lang="en-US" sz="1800" b="0" i="0" u="sng" strike="noStrike" dirty="0">
                <a:solidFill>
                  <a:srgbClr val="000000"/>
                </a:solidFill>
                <a:effectLst/>
                <a:latin typeface="Calibri" panose="020F0502020204030204" pitchFamily="34" charset="0"/>
              </a:rPr>
              <a:t>*)____      </a:t>
            </a:r>
            <a:r>
              <a:rPr lang="en-US" u="sng" dirty="0">
                <a:effectLst/>
              </a:rPr>
              <a:t> </a:t>
            </a:r>
          </a:p>
          <a:p>
            <a:r>
              <a:rPr lang="en-US" sz="1800" b="0" i="0" u="none" strike="noStrike" dirty="0">
                <a:solidFill>
                  <a:srgbClr val="000000"/>
                </a:solidFill>
                <a:effectLst/>
                <a:latin typeface="Calibri" panose="020F0502020204030204" pitchFamily="34" charset="0"/>
              </a:rPr>
              <a:t>0.1</a:t>
            </a:r>
            <a:r>
              <a:rPr lang="en-US" dirty="0"/>
              <a:t> 	</a:t>
            </a:r>
            <a:r>
              <a:rPr lang="en-US" sz="1800" b="0" i="0" u="none" strike="noStrike" dirty="0">
                <a:solidFill>
                  <a:srgbClr val="000000"/>
                </a:solidFill>
                <a:effectLst/>
                <a:latin typeface="Calibri" panose="020F0502020204030204" pitchFamily="34" charset="0"/>
              </a:rPr>
              <a:t>(0.1)(0.9) = 0.09</a:t>
            </a:r>
          </a:p>
          <a:p>
            <a:r>
              <a:rPr lang="en-US" sz="1800" b="0" i="0" u="none" strike="noStrike" dirty="0">
                <a:solidFill>
                  <a:srgbClr val="000000"/>
                </a:solidFill>
                <a:effectLst/>
                <a:latin typeface="Calibri" panose="020F0502020204030204" pitchFamily="34" charset="0"/>
              </a:rPr>
              <a:t>0.2</a:t>
            </a:r>
            <a:r>
              <a:rPr lang="en-US" dirty="0"/>
              <a:t> 	</a:t>
            </a:r>
            <a:r>
              <a:rPr lang="en-US" sz="1800" b="0" i="0" u="none" strike="noStrike" dirty="0">
                <a:solidFill>
                  <a:srgbClr val="000000"/>
                </a:solidFill>
                <a:effectLst/>
                <a:latin typeface="Calibri" panose="020F0502020204030204" pitchFamily="34" charset="0"/>
              </a:rPr>
              <a:t>(0.2)(0.8) = 0.16</a:t>
            </a:r>
            <a:r>
              <a:rPr lang="en-US" dirty="0"/>
              <a:t> </a:t>
            </a:r>
          </a:p>
          <a:p>
            <a:r>
              <a:rPr lang="en-US" sz="1800" b="0" i="0" u="none" strike="noStrike" dirty="0">
                <a:solidFill>
                  <a:srgbClr val="000000"/>
                </a:solidFill>
                <a:effectLst/>
                <a:latin typeface="Calibri" panose="020F0502020204030204" pitchFamily="34" charset="0"/>
              </a:rPr>
              <a:t>0.3</a:t>
            </a:r>
            <a:r>
              <a:rPr lang="en-US" dirty="0"/>
              <a:t> 	</a:t>
            </a:r>
            <a:r>
              <a:rPr lang="en-US" sz="1800" b="0" i="0" u="none" strike="noStrike" dirty="0">
                <a:solidFill>
                  <a:srgbClr val="000000"/>
                </a:solidFill>
                <a:effectLst/>
                <a:latin typeface="Calibri" panose="020F0502020204030204" pitchFamily="34" charset="0"/>
              </a:rPr>
              <a:t>(0.3)(0.7) = 0.21</a:t>
            </a:r>
            <a:r>
              <a:rPr lang="en-US" dirty="0"/>
              <a:t> </a:t>
            </a:r>
          </a:p>
          <a:p>
            <a:r>
              <a:rPr lang="en-US" sz="1800" b="0" i="0" u="none" strike="noStrike" dirty="0">
                <a:solidFill>
                  <a:srgbClr val="000000"/>
                </a:solidFill>
                <a:effectLst/>
                <a:latin typeface="Calibri" panose="020F0502020204030204" pitchFamily="34" charset="0"/>
              </a:rPr>
              <a:t>0.4</a:t>
            </a:r>
            <a:r>
              <a:rPr lang="en-US" dirty="0"/>
              <a:t> 	</a:t>
            </a:r>
            <a:r>
              <a:rPr lang="en-US" sz="1800" b="0" i="0" u="none" strike="noStrike" dirty="0">
                <a:solidFill>
                  <a:srgbClr val="000000"/>
                </a:solidFill>
                <a:effectLst/>
                <a:latin typeface="Calibri" panose="020F0502020204030204" pitchFamily="34" charset="0"/>
              </a:rPr>
              <a:t>(0.4)(0.6) = 0.24</a:t>
            </a:r>
            <a:r>
              <a:rPr lang="en-US" dirty="0"/>
              <a:t> </a:t>
            </a:r>
          </a:p>
          <a:p>
            <a:r>
              <a:rPr lang="en-US" sz="1800" b="0" i="0" u="none" strike="noStrike" dirty="0">
                <a:solidFill>
                  <a:srgbClr val="000000"/>
                </a:solidFill>
                <a:effectLst/>
                <a:latin typeface="Calibri" panose="020F0502020204030204" pitchFamily="34" charset="0"/>
              </a:rPr>
              <a:t>0.5</a:t>
            </a:r>
            <a:r>
              <a:rPr lang="en-US" dirty="0"/>
              <a:t> 	</a:t>
            </a:r>
            <a:r>
              <a:rPr lang="en-US" sz="1800" b="0" i="0" u="none" strike="noStrike" dirty="0">
                <a:solidFill>
                  <a:srgbClr val="000000"/>
                </a:solidFill>
                <a:effectLst/>
                <a:latin typeface="Calibri" panose="020F0502020204030204" pitchFamily="34" charset="0"/>
              </a:rPr>
              <a:t>(0.5)(0.5) = 0.25</a:t>
            </a:r>
            <a:r>
              <a:rPr lang="en-US" dirty="0"/>
              <a:t> </a:t>
            </a:r>
            <a:r>
              <a:rPr lang="en-US" sz="1800" b="0" i="0" u="none" strike="noStrike" dirty="0">
                <a:solidFill>
                  <a:srgbClr val="000000"/>
                </a:solidFill>
                <a:effectLst/>
                <a:latin typeface="Calibri" panose="020F0502020204030204" pitchFamily="34" charset="0"/>
              </a:rPr>
              <a:t>← largest value</a:t>
            </a:r>
            <a:r>
              <a:rPr lang="en-US" dirty="0"/>
              <a:t> </a:t>
            </a:r>
          </a:p>
          <a:p>
            <a:r>
              <a:rPr lang="en-US" sz="1800" b="0" i="0" u="none" strike="noStrike" dirty="0">
                <a:solidFill>
                  <a:srgbClr val="000000"/>
                </a:solidFill>
                <a:effectLst/>
                <a:latin typeface="Calibri" panose="020F0502020204030204" pitchFamily="34" charset="0"/>
              </a:rPr>
              <a:t>0.6</a:t>
            </a:r>
            <a:r>
              <a:rPr lang="en-US" dirty="0"/>
              <a:t> 	</a:t>
            </a:r>
            <a:r>
              <a:rPr lang="en-US" sz="1800" b="0" i="0" u="none" strike="noStrike" dirty="0">
                <a:solidFill>
                  <a:srgbClr val="000000"/>
                </a:solidFill>
                <a:effectLst/>
                <a:latin typeface="Calibri" panose="020F0502020204030204" pitchFamily="34" charset="0"/>
              </a:rPr>
              <a:t>(0.6)(0.4) = 0.24</a:t>
            </a:r>
            <a:r>
              <a:rPr lang="en-US" dirty="0"/>
              <a:t> </a:t>
            </a:r>
          </a:p>
          <a:p>
            <a:r>
              <a:rPr lang="en-US" sz="1800" b="0" i="0" u="none" strike="noStrike" dirty="0">
                <a:solidFill>
                  <a:srgbClr val="000000"/>
                </a:solidFill>
                <a:effectLst/>
                <a:latin typeface="Calibri" panose="020F0502020204030204" pitchFamily="34" charset="0"/>
              </a:rPr>
              <a:t>0.7</a:t>
            </a:r>
            <a:r>
              <a:rPr lang="en-US" dirty="0"/>
              <a:t> 	</a:t>
            </a:r>
            <a:r>
              <a:rPr lang="en-US" sz="1800" b="0" i="0" u="none" strike="noStrike" dirty="0">
                <a:solidFill>
                  <a:srgbClr val="000000"/>
                </a:solidFill>
                <a:effectLst/>
                <a:latin typeface="Calibri" panose="020F0502020204030204" pitchFamily="34" charset="0"/>
              </a:rPr>
              <a:t>(0.7)(0.3) = 0.21</a:t>
            </a:r>
            <a:r>
              <a:rPr lang="en-US" dirty="0"/>
              <a:t> </a:t>
            </a:r>
          </a:p>
          <a:p>
            <a:r>
              <a:rPr lang="en-US" sz="1800" b="0" i="0" u="none" strike="noStrike" dirty="0">
                <a:solidFill>
                  <a:srgbClr val="000000"/>
                </a:solidFill>
                <a:effectLst/>
                <a:latin typeface="Calibri" panose="020F0502020204030204" pitchFamily="34" charset="0"/>
              </a:rPr>
              <a:t>0.8</a:t>
            </a:r>
            <a:r>
              <a:rPr lang="en-US" dirty="0"/>
              <a:t> 	</a:t>
            </a:r>
            <a:r>
              <a:rPr lang="en-US" sz="1800" b="0" i="0" u="none" strike="noStrike" dirty="0">
                <a:solidFill>
                  <a:srgbClr val="000000"/>
                </a:solidFill>
                <a:effectLst/>
                <a:latin typeface="Calibri" panose="020F0502020204030204" pitchFamily="34" charset="0"/>
              </a:rPr>
              <a:t>(0.8)(0.2) = 0.16</a:t>
            </a:r>
            <a:r>
              <a:rPr lang="en-US" dirty="0"/>
              <a:t> </a:t>
            </a:r>
          </a:p>
          <a:p>
            <a:r>
              <a:rPr lang="en-US" sz="1800" b="0" i="0" u="none" strike="noStrike" dirty="0">
                <a:solidFill>
                  <a:srgbClr val="000000"/>
                </a:solidFill>
                <a:effectLst/>
                <a:latin typeface="Calibri" panose="020F0502020204030204" pitchFamily="34" charset="0"/>
              </a:rPr>
              <a:t>0.9</a:t>
            </a:r>
            <a:r>
              <a:rPr lang="en-US" dirty="0"/>
              <a:t> 	</a:t>
            </a:r>
            <a:r>
              <a:rPr lang="en-US" sz="1800" b="0" i="0" u="none" strike="noStrike" dirty="0">
                <a:solidFill>
                  <a:srgbClr val="000000"/>
                </a:solidFill>
                <a:effectLst/>
                <a:latin typeface="Calibri" panose="020F0502020204030204" pitchFamily="34" charset="0"/>
              </a:rPr>
              <a:t>(0.9)(0.1) = 0.09</a:t>
            </a:r>
            <a:r>
              <a:rPr lang="en-US" dirty="0"/>
              <a:t>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2857202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23595533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NUL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NULL"/></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NUL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CEA7EF-DDED-A0E2-E8CD-65619B0A4A98}"/>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F1970FD6-50ED-CC33-6A66-AA97B178581B}"/>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3090080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664494"/>
            <a:ext cx="10711543" cy="3571875"/>
          </a:xfrm>
        </p:spPr>
        <p:txBody>
          <a:bodyPr/>
          <a:lstStyle/>
          <a:p>
            <a:pPr marL="1371600" indent="-914400"/>
            <a:r>
              <a:rPr lang="en-US" sz="2000" dirty="0"/>
              <a:t>8.1	Population Mean: </a:t>
            </a:r>
            <a:r>
              <a:rPr lang="en-US" sz="2000" dirty="0">
                <a:latin typeface="Symbol" panose="05050102010706020507" pitchFamily="18" charset="2"/>
                <a:cs typeface="Arial" panose="020B0604020202020204" pitchFamily="34" charset="0"/>
              </a:rPr>
              <a:t>s</a:t>
            </a:r>
            <a:r>
              <a:rPr lang="en-US" sz="2000" dirty="0"/>
              <a:t> Known</a:t>
            </a:r>
          </a:p>
          <a:p>
            <a:pPr marL="1371600" indent="-914400"/>
            <a:r>
              <a:rPr lang="en-US" sz="2000" dirty="0"/>
              <a:t>8.2	Population Mean: </a:t>
            </a:r>
            <a:r>
              <a:rPr lang="en-US" sz="2000" dirty="0">
                <a:latin typeface="Symbol" panose="05050102010706020507" pitchFamily="18" charset="2"/>
                <a:cs typeface="Arial" panose="020B0604020202020204" pitchFamily="34" charset="0"/>
              </a:rPr>
              <a:t>s</a:t>
            </a:r>
            <a:r>
              <a:rPr lang="en-US" sz="2000" dirty="0"/>
              <a:t> Unknown</a:t>
            </a:r>
          </a:p>
          <a:p>
            <a:pPr marL="1371600" indent="-914400"/>
            <a:r>
              <a:rPr lang="en-US" sz="2000" dirty="0"/>
              <a:t>8.3	Determining the Sample Size</a:t>
            </a:r>
          </a:p>
          <a:p>
            <a:pPr marL="1371600" indent="-914400"/>
            <a:r>
              <a:rPr lang="en-US" sz="2000" dirty="0"/>
              <a:t>8.4	Population Proportion</a:t>
            </a:r>
          </a:p>
          <a:p>
            <a:pPr marL="1371600" indent="-914400"/>
            <a:r>
              <a:rPr lang="en-US" sz="2000" dirty="0"/>
              <a:t>8.5	Practical Advice: Big Data and Confidence Intervals</a:t>
            </a:r>
          </a:p>
          <a:p>
            <a:pPr marL="1371600" indent="-914400"/>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7" y="1681566"/>
            <a:ext cx="10610224" cy="3995223"/>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lvl="1" indent="-1371600">
              <a:spcBef>
                <a:spcPts val="1200"/>
              </a:spcBef>
              <a:buNone/>
            </a:pPr>
            <a:r>
              <a:rPr lang="en-US" sz="2000" dirty="0">
                <a:latin typeface="Arial" panose="020B0604020202020204" pitchFamily="34" charset="0"/>
                <a:cs typeface="Arial" panose="020B0604020202020204" pitchFamily="34" charset="0"/>
              </a:rPr>
              <a:t>LO 8-1 	Calculate and interpret the margin of error and the interval estimate at a given level of confidence for a mean when the population standard deviation </a:t>
            </a:r>
            <a:r>
              <a:rPr lang="en-US" sz="2000" dirty="0">
                <a:latin typeface="Symbol" panose="05050102010706020507" pitchFamily="18" charset="2"/>
                <a:cs typeface="Arial" panose="020B0604020202020204" pitchFamily="34" charset="0"/>
              </a:rPr>
              <a:t>s</a:t>
            </a:r>
            <a:r>
              <a:rPr lang="en-US" sz="2000" dirty="0">
                <a:latin typeface="Arial" panose="020B0604020202020204" pitchFamily="34" charset="0"/>
                <a:cs typeface="Arial" panose="020B0604020202020204" pitchFamily="34" charset="0"/>
              </a:rPr>
              <a:t> is known.</a:t>
            </a:r>
          </a:p>
          <a:p>
            <a:pPr marL="1828800" lvl="1" indent="-1371600">
              <a:spcBef>
                <a:spcPts val="1200"/>
              </a:spcBef>
              <a:buNone/>
            </a:pPr>
            <a:r>
              <a:rPr lang="en-US" sz="2000" dirty="0">
                <a:latin typeface="Arial" panose="020B0604020202020204" pitchFamily="34" charset="0"/>
                <a:cs typeface="Arial" panose="020B0604020202020204" pitchFamily="34" charset="0"/>
              </a:rPr>
              <a:t>LO 8-2 	Describe and explain the distribution form and parameters of the sampling distribution of the sample mean in the cases when the population standard deviation </a:t>
            </a:r>
            <a:r>
              <a:rPr lang="en-US" sz="2000" dirty="0">
                <a:latin typeface="Symbol" panose="05050102010706020507" pitchFamily="18" charset="2"/>
                <a:cs typeface="Arial" panose="020B0604020202020204" pitchFamily="34" charset="0"/>
              </a:rPr>
              <a:t>s </a:t>
            </a:r>
            <a:r>
              <a:rPr lang="en-US" sz="2000" dirty="0">
                <a:latin typeface="Arial" panose="020B0604020202020204" pitchFamily="34" charset="0"/>
                <a:cs typeface="Arial" panose="020B0604020202020204" pitchFamily="34" charset="0"/>
              </a:rPr>
              <a:t>is unknown. </a:t>
            </a:r>
          </a:p>
          <a:p>
            <a:pPr marL="1828800" lvl="1" indent="-1371600">
              <a:spcBef>
                <a:spcPts val="1200"/>
              </a:spcBef>
              <a:buNone/>
            </a:pPr>
            <a:r>
              <a:rPr lang="en-US" sz="2000" dirty="0">
                <a:latin typeface="Arial" panose="020B0604020202020204" pitchFamily="34" charset="0"/>
                <a:cs typeface="Arial" panose="020B0604020202020204" pitchFamily="34" charset="0"/>
              </a:rPr>
              <a:t>LO 8-3 	Calculate and interpret the margin of error and the interval estimate at a given level of confidence for a mean when the population standard deviation </a:t>
            </a:r>
            <a:r>
              <a:rPr lang="en-US" sz="2000" dirty="0">
                <a:latin typeface="Symbol" panose="05050102010706020507" pitchFamily="18" charset="2"/>
                <a:cs typeface="Arial" panose="020B0604020202020204" pitchFamily="34" charset="0"/>
              </a:rPr>
              <a:t>s</a:t>
            </a:r>
            <a:r>
              <a:rPr lang="en-US" sz="2000" dirty="0">
                <a:latin typeface="Arial" panose="020B0604020202020204" pitchFamily="34" charset="0"/>
                <a:cs typeface="Arial" panose="020B0604020202020204" pitchFamily="34" charset="0"/>
              </a:rPr>
              <a:t> is unknown.</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7" y="1681566"/>
            <a:ext cx="10610224" cy="3995223"/>
          </a:xfrm>
        </p:spPr>
        <p:txBody>
          <a:bodyPr/>
          <a:lstStyle/>
          <a:p>
            <a:pPr>
              <a:spcBef>
                <a:spcPts val="1200"/>
              </a:spcBef>
            </a:pPr>
            <a:endParaRPr lang="en-US" sz="2000" dirty="0">
              <a:latin typeface="Arial" panose="020B0604020202020204" pitchFamily="34" charset="0"/>
              <a:cs typeface="Arial" panose="020B0604020202020204" pitchFamily="34" charset="0"/>
            </a:endParaRPr>
          </a:p>
          <a:p>
            <a:pPr marL="1828800" lvl="1" indent="-1371600">
              <a:spcBef>
                <a:spcPts val="1200"/>
              </a:spcBef>
              <a:buNone/>
            </a:pPr>
            <a:r>
              <a:rPr lang="en-US" sz="2000" dirty="0">
                <a:latin typeface="Arial" panose="020B0604020202020204" pitchFamily="34" charset="0"/>
                <a:cs typeface="Arial" panose="020B0604020202020204" pitchFamily="34" charset="0"/>
              </a:rPr>
              <a:t>LO 8-4	Determine the sample size necessary to provide an interval estimate of the mean at a desired margin of error at a specified confidence level.</a:t>
            </a:r>
          </a:p>
          <a:p>
            <a:pPr marL="1828800" lvl="1" indent="-1371600">
              <a:spcBef>
                <a:spcPts val="1200"/>
              </a:spcBef>
              <a:buNone/>
            </a:pPr>
            <a:r>
              <a:rPr lang="en-US" sz="2000" dirty="0">
                <a:latin typeface="Arial" panose="020B0604020202020204" pitchFamily="34" charset="0"/>
                <a:cs typeface="Arial" panose="020B0604020202020204" pitchFamily="34" charset="0"/>
              </a:rPr>
              <a:t>LO 8-5	Calculate and interpret the margin of error, and the interval estimate at a given level of confidence for a proportion.</a:t>
            </a:r>
          </a:p>
          <a:p>
            <a:pPr marL="1828800" lvl="1" indent="-1371600">
              <a:spcBef>
                <a:spcPts val="1200"/>
              </a:spcBef>
              <a:buNone/>
            </a:pPr>
            <a:r>
              <a:rPr lang="en-US" sz="2000" dirty="0">
                <a:latin typeface="Arial" panose="020B0604020202020204" pitchFamily="34" charset="0"/>
                <a:cs typeface="Arial" panose="020B0604020202020204" pitchFamily="34" charset="0"/>
              </a:rPr>
              <a:t>LO 8-6	Determine the sample size necessary to provide an interval estimate of the proportion at a desired margin of error at a specified confidence level.</a:t>
            </a:r>
          </a:p>
        </p:txBody>
      </p:sp>
    </p:spTree>
    <p:extLst>
      <p:ext uri="{BB962C8B-B14F-4D97-AF65-F5344CB8AC3E}">
        <p14:creationId xmlns:p14="http://schemas.microsoft.com/office/powerpoint/2010/main" val="230846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853647" y="1456272"/>
                <a:ext cx="10515601" cy="4138615"/>
              </a:xfrm>
            </p:spPr>
            <p:txBody>
              <a:bodyPr/>
              <a:lstStyle/>
              <a:p>
                <a:pPr>
                  <a:lnSpc>
                    <a:spcPct val="100000"/>
                  </a:lnSpc>
                  <a:spcBef>
                    <a:spcPts val="600"/>
                  </a:spcBef>
                </a:pPr>
                <a:r>
                  <a:rPr lang="en-US" sz="2000" dirty="0"/>
                  <a:t>A point estimator is a sample statistic used to estimate a population parameter. </a:t>
                </a:r>
              </a:p>
              <a:p>
                <a:pPr marL="971550" lvl="1" indent="-285750">
                  <a:lnSpc>
                    <a:spcPct val="100000"/>
                  </a:lnSpc>
                  <a:spcBef>
                    <a:spcPts val="600"/>
                  </a:spcBef>
                  <a:buFont typeface="Arial" panose="020B0604020202020204" pitchFamily="34" charset="0"/>
                  <a:buChar char="•"/>
                </a:pPr>
                <a:r>
                  <a:rPr lang="en-US" sz="2000" dirty="0">
                    <a:latin typeface="Arial" charset="0"/>
                    <a:cs typeface="Arial" charset="0"/>
                  </a:rPr>
                  <a:t>The sample mean </a:t>
                </a:r>
                <a14:m>
                  <m:oMath xmlns:m="http://schemas.openxmlformats.org/officeDocument/2006/math">
                    <m:acc>
                      <m:accPr>
                        <m:chr m:val="̅"/>
                        <m:ctrlPr>
                          <a:rPr lang="en-US" sz="2000" i="1" dirty="0" smtClean="0">
                            <a:latin typeface="Cambria Math" panose="02040503050406030204" pitchFamily="18" charset="0"/>
                            <a:cs typeface="Arial" charset="0"/>
                          </a:rPr>
                        </m:ctrlPr>
                      </m:accPr>
                      <m:e>
                        <m:r>
                          <a:rPr lang="en-US" sz="2000" b="0" i="1" dirty="0" smtClean="0">
                            <a:latin typeface="Cambria Math" panose="02040503050406030204" pitchFamily="18" charset="0"/>
                            <a:cs typeface="Arial" charset="0"/>
                          </a:rPr>
                          <m:t>𝑥</m:t>
                        </m:r>
                      </m:e>
                    </m:acc>
                  </m:oMath>
                </a14:m>
                <a:r>
                  <a:rPr lang="en-US" sz="2000" dirty="0">
                    <a:latin typeface="Arial" charset="0"/>
                    <a:cs typeface="Arial" charset="0"/>
                  </a:rPr>
                  <a:t> is a point estimator of the population mean </a:t>
                </a:r>
                <a:r>
                  <a:rPr lang="en-US" sz="2000" i="1" dirty="0">
                    <a:latin typeface="Symbol" panose="05050102010706020507" pitchFamily="18" charset="2"/>
                    <a:cs typeface="Arial" charset="0"/>
                  </a:rPr>
                  <a:t>m</a:t>
                </a:r>
              </a:p>
              <a:p>
                <a:pPr marL="971550" lvl="1" indent="-285750">
                  <a:lnSpc>
                    <a:spcPct val="100000"/>
                  </a:lnSpc>
                  <a:spcBef>
                    <a:spcPts val="600"/>
                  </a:spcBef>
                  <a:buFont typeface="Arial" panose="020B0604020202020204" pitchFamily="34" charset="0"/>
                  <a:buChar char="•"/>
                </a:pPr>
                <a:r>
                  <a:rPr lang="en-US" sz="2000" dirty="0">
                    <a:latin typeface="Arial" charset="0"/>
                    <a:cs typeface="Arial" charset="0"/>
                  </a:rPr>
                  <a:t>The sample proportion </a:t>
                </a:r>
                <a14:m>
                  <m:oMath xmlns:m="http://schemas.openxmlformats.org/officeDocument/2006/math">
                    <m:acc>
                      <m:accPr>
                        <m:chr m:val="̅"/>
                        <m:ctrlPr>
                          <a:rPr lang="en-US" sz="2000" i="1" smtClean="0">
                            <a:latin typeface="Cambria Math" panose="02040503050406030204" pitchFamily="18" charset="0"/>
                            <a:cs typeface="Arial" charset="0"/>
                          </a:rPr>
                        </m:ctrlPr>
                      </m:accPr>
                      <m:e>
                        <m:r>
                          <a:rPr lang="en-US" sz="2000" b="0" i="1" smtClean="0">
                            <a:latin typeface="Cambria Math" panose="02040503050406030204" pitchFamily="18" charset="0"/>
                            <a:cs typeface="Arial" charset="0"/>
                          </a:rPr>
                          <m:t>𝑝</m:t>
                        </m:r>
                      </m:e>
                    </m:acc>
                  </m:oMath>
                </a14:m>
                <a:r>
                  <a:rPr lang="en-US" sz="2000" dirty="0">
                    <a:latin typeface="Arial Unicode MS"/>
                    <a:cs typeface="Arial" charset="0"/>
                  </a:rPr>
                  <a:t> </a:t>
                </a:r>
                <a:r>
                  <a:rPr lang="en-US" sz="2000" dirty="0">
                    <a:latin typeface="Arial" charset="0"/>
                    <a:cs typeface="Arial" charset="0"/>
                  </a:rPr>
                  <a:t>is a point estimator of the population proportion </a:t>
                </a:r>
                <a:r>
                  <a:rPr lang="en-US" sz="2000" i="1" dirty="0">
                    <a:latin typeface="Arial" charset="0"/>
                    <a:cs typeface="Arial" charset="0"/>
                  </a:rPr>
                  <a:t>p</a:t>
                </a:r>
                <a:endParaRPr lang="en-US" sz="2000" dirty="0">
                  <a:latin typeface="Arial" charset="0"/>
                  <a:cs typeface="Arial" charset="0"/>
                </a:endParaRPr>
              </a:p>
              <a:p>
                <a:pPr>
                  <a:lnSpc>
                    <a:spcPct val="100000"/>
                  </a:lnSpc>
                  <a:spcBef>
                    <a:spcPts val="600"/>
                  </a:spcBef>
                </a:pPr>
                <a:r>
                  <a:rPr lang="en-US" sz="2000" dirty="0"/>
                  <a:t>An </a:t>
                </a:r>
                <a:r>
                  <a:rPr lang="en-US" sz="2000" b="1" dirty="0"/>
                  <a:t>interval estimate </a:t>
                </a:r>
                <a:r>
                  <a:rPr lang="en-US" sz="2000" dirty="0"/>
                  <a:t>is computed by adding and subtracting a value, called the </a:t>
                </a:r>
                <a:r>
                  <a:rPr lang="en-US" sz="2000" b="1" dirty="0"/>
                  <a:t>margin of error</a:t>
                </a:r>
                <a:r>
                  <a:rPr lang="en-US" sz="2000" dirty="0"/>
                  <a:t>, to the point estimate. The general form of an interval estimate is:</a:t>
                </a:r>
              </a:p>
              <a:p>
                <a:pPr marL="914400">
                  <a:lnSpc>
                    <a:spcPct val="100000"/>
                  </a:lnSpc>
                  <a:spcBef>
                    <a:spcPts val="600"/>
                  </a:spcBef>
                </a:pPr>
                <a:r>
                  <a:rPr lang="en-US" sz="2000" dirty="0"/>
                  <a:t>Point estimate ± Margin of error</a:t>
                </a:r>
              </a:p>
              <a:p>
                <a:pPr>
                  <a:lnSpc>
                    <a:spcPct val="100000"/>
                  </a:lnSpc>
                  <a:spcBef>
                    <a:spcPts val="600"/>
                  </a:spcBef>
                </a:pPr>
                <a:r>
                  <a:rPr lang="en-US" sz="2000" dirty="0"/>
                  <a:t>The general form of an interval estimate of a population mean is:</a:t>
                </a:r>
              </a:p>
              <a:p>
                <a:pPr marL="914400">
                  <a:lnSpc>
                    <a:spcPct val="100000"/>
                  </a:lnSpc>
                  <a:spcBef>
                    <a:spcPts val="600"/>
                  </a:spcBef>
                </a:pPr>
                <a14:m>
                  <m:oMath xmlns:m="http://schemas.openxmlformats.org/officeDocument/2006/math">
                    <m:acc>
                      <m:accPr>
                        <m:chr m:val="̅"/>
                        <m:ctrlPr>
                          <a:rPr lang="en-US" sz="2000" i="1" dirty="0" smtClean="0">
                            <a:latin typeface="Cambria Math" panose="02040503050406030204" pitchFamily="18" charset="0"/>
                            <a:cs typeface="Arial" charset="0"/>
                          </a:rPr>
                        </m:ctrlPr>
                      </m:accPr>
                      <m:e>
                        <m:r>
                          <a:rPr lang="en-US" sz="2000" b="0" i="1" dirty="0" smtClean="0">
                            <a:latin typeface="Cambria Math" panose="02040503050406030204" pitchFamily="18" charset="0"/>
                            <a:cs typeface="Arial" charset="0"/>
                          </a:rPr>
                          <m:t>𝑥</m:t>
                        </m:r>
                      </m:e>
                    </m:acc>
                    <m:r>
                      <a:rPr lang="en-US" sz="2000" b="0" i="1" dirty="0" smtClean="0">
                        <a:latin typeface="Cambria Math" panose="02040503050406030204" pitchFamily="18" charset="0"/>
                        <a:cs typeface="Arial" charset="0"/>
                      </a:rPr>
                      <m:t> </m:t>
                    </m:r>
                  </m:oMath>
                </a14:m>
                <a:r>
                  <a:rPr lang="en-US" sz="2000" dirty="0"/>
                  <a:t>± Margin of error</a:t>
                </a:r>
              </a:p>
              <a:p>
                <a:pPr>
                  <a:lnSpc>
                    <a:spcPct val="100000"/>
                  </a:lnSpc>
                  <a:spcBef>
                    <a:spcPts val="600"/>
                  </a:spcBef>
                </a:pPr>
                <a:r>
                  <a:rPr lang="en-US" sz="2000" dirty="0"/>
                  <a:t>And the general form of an interval estimate of a population proportion is:</a:t>
                </a:r>
              </a:p>
              <a:p>
                <a:pPr marL="914400">
                  <a:lnSpc>
                    <a:spcPct val="100000"/>
                  </a:lnSpc>
                  <a:spcBef>
                    <a:spcPts val="600"/>
                  </a:spcBef>
                </a:pPr>
                <a14:m>
                  <m:oMath xmlns:m="http://schemas.openxmlformats.org/officeDocument/2006/math">
                    <m:acc>
                      <m:accPr>
                        <m:chr m:val="̅"/>
                        <m:ctrlPr>
                          <a:rPr lang="en-US" sz="2000" i="1" smtClean="0">
                            <a:latin typeface="Cambria Math" panose="02040503050406030204" pitchFamily="18" charset="0"/>
                            <a:cs typeface="Arial" charset="0"/>
                          </a:rPr>
                        </m:ctrlPr>
                      </m:accPr>
                      <m:e>
                        <m:r>
                          <a:rPr lang="en-US" sz="2000" b="0" i="1" smtClean="0">
                            <a:latin typeface="Cambria Math" panose="02040503050406030204" pitchFamily="18" charset="0"/>
                            <a:cs typeface="Arial" charset="0"/>
                          </a:rPr>
                          <m:t>𝑝</m:t>
                        </m:r>
                      </m:e>
                    </m:acc>
                    <m:r>
                      <a:rPr lang="en-US" sz="2000" b="0" i="1" smtClean="0">
                        <a:latin typeface="Cambria Math" panose="02040503050406030204" pitchFamily="18" charset="0"/>
                        <a:cs typeface="Arial" charset="0"/>
                      </a:rPr>
                      <m:t> </m:t>
                    </m:r>
                  </m:oMath>
                </a14:m>
                <a:r>
                  <a:rPr lang="en-US" sz="2000" dirty="0"/>
                  <a:t> ± Margin of error</a:t>
                </a:r>
              </a:p>
              <a:p>
                <a:pPr>
                  <a:spcBef>
                    <a:spcPts val="600"/>
                  </a:spcBef>
                </a:pPr>
                <a:r>
                  <a:rPr lang="en-US" sz="2000" dirty="0"/>
                  <a:t>The sampling distributions of </a:t>
                </a:r>
                <a14:m>
                  <m:oMath xmlns:m="http://schemas.openxmlformats.org/officeDocument/2006/math">
                    <m:acc>
                      <m:accPr>
                        <m:chr m:val="̅"/>
                        <m:ctrlPr>
                          <a:rPr lang="en-US" sz="2000" i="1" dirty="0" smtClean="0">
                            <a:latin typeface="Cambria Math" panose="02040503050406030204" pitchFamily="18" charset="0"/>
                            <a:cs typeface="Arial" charset="0"/>
                          </a:rPr>
                        </m:ctrlPr>
                      </m:accPr>
                      <m:e>
                        <m:r>
                          <a:rPr lang="en-US" sz="2000" b="0" i="1" dirty="0" smtClean="0">
                            <a:latin typeface="Cambria Math" panose="02040503050406030204" pitchFamily="18" charset="0"/>
                            <a:cs typeface="Arial" charset="0"/>
                          </a:rPr>
                          <m:t>𝑥</m:t>
                        </m:r>
                      </m:e>
                    </m:acc>
                  </m:oMath>
                </a14:m>
                <a:r>
                  <a:rPr lang="en-US" sz="2000" dirty="0"/>
                  <a:t> and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oMath>
                </a14:m>
                <a:r>
                  <a:rPr lang="en-US" sz="2000" dirty="0"/>
                  <a:t> play key roles in computing these interval estimates.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853647" y="1456272"/>
                <a:ext cx="10515601" cy="4138615"/>
              </a:xfrm>
              <a:blipFill>
                <a:blip r:embed="rId2"/>
                <a:stretch>
                  <a:fillRect l="-1449" t="-1767" b="-1325"/>
                </a:stretch>
              </a:blipFill>
            </p:spPr>
            <p:txBody>
              <a:bodyPr/>
              <a:lstStyle/>
              <a:p>
                <a:r>
                  <a:rPr lang="en-US">
                    <a:noFill/>
                  </a:rPr>
                  <a:t> </a:t>
                </a:r>
              </a:p>
            </p:txBody>
          </p:sp>
        </mc:Fallback>
      </mc:AlternateContent>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24ADA-49A8-A791-D5F3-8013CE61D194}"/>
              </a:ext>
            </a:extLst>
          </p:cNvPr>
          <p:cNvSpPr>
            <a:spLocks noGrp="1"/>
          </p:cNvSpPr>
          <p:nvPr>
            <p:ph type="title"/>
          </p:nvPr>
        </p:nvSpPr>
        <p:spPr/>
        <p:txBody>
          <a:bodyPr/>
          <a:lstStyle/>
          <a:p>
            <a:r>
              <a:rPr lang="en-US" dirty="0">
                <a:solidFill>
                  <a:srgbClr val="D14B1E"/>
                </a:solidFill>
              </a:rPr>
              <a:t>8.1 Population Mean: </a:t>
            </a:r>
            <a:r>
              <a:rPr lang="en-US" i="1" dirty="0">
                <a:solidFill>
                  <a:srgbClr val="D14B1E"/>
                </a:solidFill>
                <a:latin typeface="Symbol" panose="05050102010706020507" pitchFamily="18" charset="2"/>
              </a:rPr>
              <a:t>s</a:t>
            </a:r>
            <a:r>
              <a:rPr lang="en-US" dirty="0">
                <a:solidFill>
                  <a:srgbClr val="D14B1E"/>
                </a:solidFill>
              </a:rPr>
              <a:t> Known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47E6B0B6-DE8A-C1D7-11EC-102B28AA908F}"/>
                  </a:ext>
                </a:extLst>
              </p:cNvPr>
              <p:cNvSpPr>
                <a:spLocks noGrp="1"/>
              </p:cNvSpPr>
              <p:nvPr>
                <p:ph type="body" sz="quarter" idx="15"/>
              </p:nvPr>
            </p:nvSpPr>
            <p:spPr>
              <a:xfrm>
                <a:off x="740228" y="1312931"/>
                <a:ext cx="10711543" cy="4405944"/>
              </a:xfrm>
            </p:spPr>
            <p:txBody>
              <a:bodyPr>
                <a:noAutofit/>
              </a:bodyPr>
              <a:lstStyle/>
              <a:p>
                <a:pPr>
                  <a:spcBef>
                    <a:spcPts val="600"/>
                  </a:spcBef>
                </a:pPr>
                <a:r>
                  <a:rPr lang="en-US" sz="2000" dirty="0">
                    <a:latin typeface="Arial" panose="020B0604020202020204" pitchFamily="34" charset="0"/>
                    <a:cs typeface="Arial" panose="020B0604020202020204" pitchFamily="34" charset="0"/>
                  </a:rPr>
                  <a:t>To estimate a population mean, we compute the margin of error using either:</a:t>
                </a:r>
              </a:p>
              <a:p>
                <a:pPr marL="631825" lvl="1" indent="-290513">
                  <a:lnSpc>
                    <a:spcPct val="100000"/>
                  </a:lnSpc>
                  <a:spcBef>
                    <a:spcPts val="600"/>
                  </a:spcBef>
                  <a:buFont typeface="Arial" panose="020B0604020202020204" pitchFamily="34" charset="0"/>
                  <a:buChar char="•"/>
                </a:pPr>
                <a:r>
                  <a:rPr lang="en-US" sz="2000" dirty="0">
                    <a:latin typeface="Arial" panose="020B0604020202020204" pitchFamily="34" charset="0"/>
                    <a:cs typeface="Arial" panose="020B0604020202020204" pitchFamily="34" charset="0"/>
                  </a:rPr>
                  <a:t>The population standard deviation,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𝜎</m:t>
                    </m:r>
                  </m:oMath>
                </a14:m>
                <a:endParaRPr lang="en-US" sz="2000" dirty="0">
                  <a:latin typeface="Arial" panose="020B0604020202020204" pitchFamily="34" charset="0"/>
                  <a:cs typeface="Arial" panose="020B0604020202020204" pitchFamily="34" charset="0"/>
                </a:endParaRPr>
              </a:p>
              <a:p>
                <a:pPr marL="631825" lvl="1" indent="-290513">
                  <a:lnSpc>
                    <a:spcPct val="100000"/>
                  </a:lnSpc>
                  <a:spcBef>
                    <a:spcPts val="600"/>
                  </a:spcBef>
                  <a:buFont typeface="Arial" panose="020B0604020202020204" pitchFamily="34" charset="0"/>
                  <a:buChar char="•"/>
                </a:pPr>
                <a:r>
                  <a:rPr lang="en-US" sz="2000" dirty="0">
                    <a:latin typeface="Arial" panose="020B0604020202020204" pitchFamily="34" charset="0"/>
                    <a:cs typeface="Arial" panose="020B0604020202020204" pitchFamily="34" charset="0"/>
                  </a:rPr>
                  <a:t>The sample standard deviation, </a:t>
                </a:r>
                <a14:m>
                  <m:oMath xmlns:m="http://schemas.openxmlformats.org/officeDocument/2006/math">
                    <m:r>
                      <a:rPr lang="en-US" sz="2000" i="1" dirty="0" smtClean="0">
                        <a:latin typeface="Cambria Math" panose="02040503050406030204" pitchFamily="18" charset="0"/>
                        <a:cs typeface="Arial" panose="020B0604020202020204" pitchFamily="34" charset="0"/>
                      </a:rPr>
                      <m:t>𝑠</m:t>
                    </m:r>
                  </m:oMath>
                </a14:m>
                <a:endParaRPr lang="en-US" sz="2000" i="1" dirty="0">
                  <a:latin typeface="Arial" panose="020B0604020202020204" pitchFamily="34" charset="0"/>
                  <a:cs typeface="Arial" panose="020B0604020202020204" pitchFamily="34" charset="0"/>
                </a:endParaRPr>
              </a:p>
              <a:p>
                <a:pPr>
                  <a:spcBef>
                    <a:spcPts val="600"/>
                  </a:spcBef>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𝜎</m:t>
                    </m:r>
                  </m:oMath>
                </a14:m>
                <a:r>
                  <a:rPr lang="en-US" sz="2000" dirty="0">
                    <a:latin typeface="Arial" panose="020B0604020202020204" pitchFamily="34" charset="0"/>
                    <a:cs typeface="Arial" panose="020B0604020202020204" pitchFamily="34" charset="0"/>
                  </a:rPr>
                  <a:t> is seldom known, but a good estimate can often be obtained based on historical data or other information. We refer to such cases as the </a:t>
                </a:r>
                <a14:m>
                  <m:oMath xmlns:m="http://schemas.openxmlformats.org/officeDocument/2006/math">
                    <m:r>
                      <a:rPr lang="en-US" sz="2000" b="1" i="1">
                        <a:latin typeface="Cambria Math" panose="02040503050406030204" pitchFamily="18" charset="0"/>
                        <a:ea typeface="Cambria Math" panose="02040503050406030204" pitchFamily="18" charset="0"/>
                        <a:cs typeface="Arial" panose="020B0604020202020204" pitchFamily="34" charset="0"/>
                      </a:rPr>
                      <m:t>𝝈</m:t>
                    </m:r>
                  </m:oMath>
                </a14:m>
                <a:r>
                  <a:rPr lang="en-US" sz="2000" b="1" dirty="0">
                    <a:latin typeface="Arial" panose="020B0604020202020204" pitchFamily="34" charset="0"/>
                    <a:cs typeface="Arial" panose="020B0604020202020204" pitchFamily="34" charset="0"/>
                  </a:rPr>
                  <a:t> known </a:t>
                </a:r>
                <a:r>
                  <a:rPr lang="en-US" sz="2000" dirty="0">
                    <a:latin typeface="Arial" panose="020B0604020202020204" pitchFamily="34" charset="0"/>
                    <a:cs typeface="Arial" panose="020B0604020202020204" pitchFamily="34" charset="0"/>
                  </a:rPr>
                  <a:t>case.</a:t>
                </a:r>
              </a:p>
              <a:p>
                <a:pPr>
                  <a:spcBef>
                    <a:spcPts val="600"/>
                  </a:spcBef>
                </a:pPr>
                <a:r>
                  <a:rPr lang="en-US" sz="2000" dirty="0">
                    <a:latin typeface="Arial" panose="020B0604020202020204" pitchFamily="34" charset="0"/>
                    <a:cs typeface="Arial" panose="020B0604020202020204" pitchFamily="34" charset="0"/>
                  </a:rPr>
                  <a:t>Let us construct an interval estimate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𝜇</m:t>
                    </m:r>
                  </m:oMath>
                </a14:m>
                <a:r>
                  <a:rPr lang="en-US" sz="2000" dirty="0">
                    <a:latin typeface="Arial" panose="020B0604020202020204" pitchFamily="34" charset="0"/>
                    <a:cs typeface="Arial" panose="020B0604020202020204" pitchFamily="34" charset="0"/>
                  </a:rPr>
                  <a:t>, the mean amount spent per shopping trip for the population of Lloyd’s customers, in a case for which it is reasonable to treat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𝜎</m:t>
                    </m:r>
                  </m:oMath>
                </a14:m>
                <a:r>
                  <a:rPr lang="en-US" sz="2000" dirty="0">
                    <a:latin typeface="Arial" panose="020B0604020202020204" pitchFamily="34" charset="0"/>
                    <a:cs typeface="Arial" panose="020B0604020202020204" pitchFamily="34" charset="0"/>
                  </a:rPr>
                  <a:t> as known, given:</a:t>
                </a:r>
              </a:p>
              <a:p>
                <a:pPr marL="914400">
                  <a:spcBef>
                    <a:spcPts val="600"/>
                  </a:spcBef>
                </a:pP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=100</m:t>
                    </m:r>
                  </m:oMath>
                </a14:m>
                <a:r>
                  <a:rPr lang="en-US" sz="2000" dirty="0">
                    <a:latin typeface="Arial" panose="020B0604020202020204" pitchFamily="34" charset="0"/>
                    <a:cs typeface="Arial" panose="020B0604020202020204" pitchFamily="34" charset="0"/>
                  </a:rPr>
                  <a:t> customers, a simple random sample</a:t>
                </a:r>
              </a:p>
              <a:p>
                <a:pPr marL="914400">
                  <a:spcBef>
                    <a:spcPts val="600"/>
                  </a:spcBef>
                </a:pPr>
                <a14:m>
                  <m:oMath xmlns:m="http://schemas.openxmlformats.org/officeDocument/2006/math">
                    <m:r>
                      <a:rPr lang="en-US" sz="2000" i="1" dirty="0" smtClean="0">
                        <a:latin typeface="Cambria Math" panose="02040503050406030204" pitchFamily="18" charset="0"/>
                        <a:cs typeface="Arial" panose="020B0604020202020204" pitchFamily="34" charset="0"/>
                      </a:rPr>
                      <m:t>𝑥</m:t>
                    </m:r>
                    <m:r>
                      <a:rPr lang="en-US" sz="2000" i="1" dirty="0" smtClean="0">
                        <a:latin typeface="Cambria Math" panose="02040503050406030204" pitchFamily="18" charset="0"/>
                        <a:cs typeface="Arial" panose="020B0604020202020204" pitchFamily="34" charset="0"/>
                      </a:rPr>
                      <m:t>=</m:t>
                    </m:r>
                  </m:oMath>
                </a14:m>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amount spent per shopping trip</a:t>
                </a:r>
              </a:p>
              <a:p>
                <a:pPr marL="914400">
                  <a:spcBef>
                    <a:spcPts val="600"/>
                  </a:spcBef>
                </a:pP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r>
                      <a:rPr lang="en-US" sz="2000" i="1">
                        <a:latin typeface="Cambria Math" panose="02040503050406030204" pitchFamily="18" charset="0"/>
                        <a:ea typeface="Cambria Math" panose="02040503050406030204" pitchFamily="18" charset="0"/>
                        <a:cs typeface="Arial" panose="020B0604020202020204" pitchFamily="34" charset="0"/>
                      </a:rPr>
                      <m:t> </m:t>
                    </m:r>
                    <m:r>
                      <a:rPr lang="en-US" sz="2000" i="1" dirty="0" smtClean="0">
                        <a:latin typeface="Cambria Math" panose="02040503050406030204" pitchFamily="18" charset="0"/>
                        <a:cs typeface="Arial" panose="020B0604020202020204" pitchFamily="34" charset="0"/>
                      </a:rPr>
                      <m:t>=$20</m:t>
                    </m:r>
                  </m:oMath>
                </a14:m>
                <a:r>
                  <a:rPr lang="en-US" sz="2000" dirty="0">
                    <a:latin typeface="Arial" panose="020B0604020202020204" pitchFamily="34" charset="0"/>
                    <a:cs typeface="Arial" panose="020B0604020202020204" pitchFamily="34" charset="0"/>
                  </a:rPr>
                  <a:t>, based on historical data</a:t>
                </a:r>
              </a:p>
              <a:p>
                <a:pPr marL="914400">
                  <a:spcBef>
                    <a:spcPts val="600"/>
                  </a:spcBef>
                </a:pPr>
                <a:r>
                  <a:rPr lang="en-US" sz="2000" dirty="0">
                    <a:latin typeface="Arial" panose="020B0604020202020204" pitchFamily="34" charset="0"/>
                    <a:cs typeface="Arial" panose="020B0604020202020204" pitchFamily="34" charset="0"/>
                  </a:rPr>
                  <a:t>The population follows a normal distribution</a:t>
                </a:r>
              </a:p>
              <a:p>
                <a:pPr>
                  <a:spcBef>
                    <a:spcPts val="600"/>
                  </a:spcBef>
                </a:pPr>
                <a:r>
                  <a:rPr lang="en-US" sz="2000" dirty="0">
                    <a:latin typeface="Arial" panose="020B0604020202020204" pitchFamily="34" charset="0"/>
                    <a:cs typeface="Arial" panose="020B0604020202020204" pitchFamily="34" charset="0"/>
                  </a:rPr>
                  <a:t>Calculations reveal that the sample mean, a point estimate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𝜇</m:t>
                    </m:r>
                  </m:oMath>
                </a14:m>
                <a:r>
                  <a:rPr lang="en-US" sz="2000" dirty="0">
                    <a:latin typeface="Arial" panose="020B0604020202020204" pitchFamily="34" charset="0"/>
                    <a:cs typeface="Arial" panose="020B0604020202020204" pitchFamily="34" charset="0"/>
                  </a:rPr>
                  <a:t>, is: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𝑥</m:t>
                        </m:r>
                      </m:e>
                    </m:acc>
                  </m:oMath>
                </a14:m>
                <a:r>
                  <a:rPr lang="en-US" sz="2000" dirty="0">
                    <a:latin typeface="Arial" panose="020B0604020202020204" pitchFamily="34" charset="0"/>
                    <a:cs typeface="Arial" panose="020B0604020202020204" pitchFamily="34" charset="0"/>
                  </a:rPr>
                  <a:t> = $82.</a:t>
                </a:r>
              </a:p>
            </p:txBody>
          </p:sp>
        </mc:Choice>
        <mc:Fallback xmlns="">
          <p:sp>
            <p:nvSpPr>
              <p:cNvPr id="4" name="Text Placeholder 3">
                <a:extLst>
                  <a:ext uri="{FF2B5EF4-FFF2-40B4-BE49-F238E27FC236}">
                    <a16:creationId xmlns:a16="http://schemas.microsoft.com/office/drawing/2014/main" id="{47E6B0B6-DE8A-C1D7-11EC-102B28AA908F}"/>
                  </a:ext>
                </a:extLst>
              </p:cNvPr>
              <p:cNvSpPr>
                <a:spLocks noGrp="1" noRot="1" noChangeAspect="1" noMove="1" noResize="1" noEditPoints="1" noAdjustHandles="1" noChangeArrowheads="1" noChangeShapeType="1" noTextEdit="1"/>
              </p:cNvSpPr>
              <p:nvPr>
                <p:ph type="body" sz="quarter" idx="15"/>
              </p:nvPr>
            </p:nvSpPr>
            <p:spPr>
              <a:xfrm>
                <a:off x="740228" y="1312931"/>
                <a:ext cx="10711543" cy="4405944"/>
              </a:xfrm>
              <a:blipFill>
                <a:blip r:embed="rId4"/>
                <a:stretch>
                  <a:fillRect l="-1422" t="-1660" r="-1763" b="-2213"/>
                </a:stretch>
              </a:blipFill>
            </p:spPr>
            <p:txBody>
              <a:bodyPr/>
              <a:lstStyle/>
              <a:p>
                <a:r>
                  <a:rPr lang="en-IN">
                    <a:noFill/>
                  </a:rPr>
                  <a:t> </a:t>
                </a:r>
              </a:p>
            </p:txBody>
          </p:sp>
        </mc:Fallback>
      </mc:AlternateContent>
    </p:spTree>
    <p:extLst>
      <p:ext uri="{BB962C8B-B14F-4D97-AF65-F5344CB8AC3E}">
        <p14:creationId xmlns:p14="http://schemas.microsoft.com/office/powerpoint/2010/main" val="3102242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7E955-DCC1-BAD3-93DE-23303F9550FE}"/>
              </a:ext>
            </a:extLst>
          </p:cNvPr>
          <p:cNvSpPr>
            <a:spLocks noGrp="1"/>
          </p:cNvSpPr>
          <p:nvPr>
            <p:ph type="title"/>
          </p:nvPr>
        </p:nvSpPr>
        <p:spPr/>
        <p:txBody>
          <a:bodyPr/>
          <a:lstStyle/>
          <a:p>
            <a:r>
              <a:rPr lang="en-US" dirty="0"/>
              <a:t>8.1 Sampling Distribution for the Sample Mean</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82EBEEA7-D4F4-7F06-0E67-DB4D81EC3681}"/>
                  </a:ext>
                </a:extLst>
              </p:cNvPr>
              <p:cNvSpPr>
                <a:spLocks noGrp="1"/>
              </p:cNvSpPr>
              <p:nvPr>
                <p:ph type="body" sz="quarter" idx="15"/>
              </p:nvPr>
            </p:nvSpPr>
            <p:spPr>
              <a:xfrm>
                <a:off x="743575" y="1430237"/>
                <a:ext cx="10610223" cy="576794"/>
              </a:xfrm>
            </p:spPr>
            <p:txBody>
              <a:bodyPr/>
              <a:lstStyle/>
              <a:p>
                <a:pPr>
                  <a:spcBef>
                    <a:spcPts val="1000"/>
                  </a:spcBef>
                  <a:spcAft>
                    <a:spcPts val="1000"/>
                  </a:spcAft>
                </a:pPr>
                <a:r>
                  <a:rPr lang="en-US" sz="2000" dirty="0"/>
                  <a:t>We can conclude that the sampling distribution of </a:t>
                </a:r>
                <a14:m>
                  <m:oMath xmlns:m="http://schemas.openxmlformats.org/officeDocument/2006/math">
                    <m:acc>
                      <m:accPr>
                        <m:chr m:val="̅"/>
                        <m:ctrlPr>
                          <a:rPr lang="en-US" sz="2000" i="1" dirty="0" smtClean="0">
                            <a:latin typeface="Cambria Math" panose="02040503050406030204" pitchFamily="18" charset="0"/>
                            <a:cs typeface="Arial" charset="0"/>
                          </a:rPr>
                        </m:ctrlPr>
                      </m:accPr>
                      <m:e>
                        <m:r>
                          <a:rPr lang="en-US" sz="2000" b="0" i="1" dirty="0" smtClean="0">
                            <a:latin typeface="Cambria Math" panose="02040503050406030204" pitchFamily="18" charset="0"/>
                            <a:cs typeface="Arial" charset="0"/>
                          </a:rPr>
                          <m:t>𝑥</m:t>
                        </m:r>
                      </m:e>
                    </m:acc>
                  </m:oMath>
                </a14:m>
                <a:r>
                  <a:rPr lang="en-US" sz="2000" dirty="0"/>
                  <a:t> follows a normal distribution with a standard error of</a:t>
                </a:r>
              </a:p>
            </p:txBody>
          </p:sp>
        </mc:Choice>
        <mc:Fallback xmlns="">
          <p:sp>
            <p:nvSpPr>
              <p:cNvPr id="5" name="Text Placeholder 4">
                <a:extLst>
                  <a:ext uri="{FF2B5EF4-FFF2-40B4-BE49-F238E27FC236}">
                    <a16:creationId xmlns:a16="http://schemas.microsoft.com/office/drawing/2014/main" id="{82EBEEA7-D4F4-7F06-0E67-DB4D81EC3681}"/>
                  </a:ext>
                </a:extLst>
              </p:cNvPr>
              <p:cNvSpPr>
                <a:spLocks noGrp="1" noRot="1" noChangeAspect="1" noMove="1" noResize="1" noEditPoints="1" noAdjustHandles="1" noChangeArrowheads="1" noChangeShapeType="1" noTextEdit="1"/>
              </p:cNvSpPr>
              <p:nvPr>
                <p:ph type="body" sz="quarter" idx="15"/>
              </p:nvPr>
            </p:nvSpPr>
            <p:spPr>
              <a:xfrm>
                <a:off x="743575" y="1430237"/>
                <a:ext cx="10610223" cy="576794"/>
              </a:xfrm>
              <a:blipFill>
                <a:blip r:embed="rId2"/>
                <a:stretch>
                  <a:fillRect l="-1494" t="-12766" b="-34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E202B55A-370A-1A37-B08F-EB7322177B87}"/>
                  </a:ext>
                </a:extLst>
              </p:cNvPr>
              <p:cNvSpPr>
                <a:spLocks noGrp="1"/>
              </p:cNvSpPr>
              <p:nvPr>
                <p:ph type="body" sz="quarter" idx="17"/>
              </p:nvPr>
            </p:nvSpPr>
            <p:spPr>
              <a:xfrm>
                <a:off x="743577" y="2100019"/>
                <a:ext cx="4897806" cy="3448373"/>
              </a:xfrm>
            </p:spPr>
            <p:txBody>
              <a:bodyPr/>
              <a:lstStyle/>
              <a:p>
                <a:pPr marL="457200">
                  <a:spcAft>
                    <a:spcPts val="600"/>
                  </a:spcAft>
                </a:pPr>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$20</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100</m:t>
                              </m:r>
                            </m:e>
                          </m:rad>
                        </m:den>
                      </m:f>
                      <m:r>
                        <a:rPr lang="en-US" sz="2000" i="1">
                          <a:latin typeface="Cambria Math" panose="02040503050406030204" pitchFamily="18" charset="0"/>
                        </a:rPr>
                        <m:t>=2</m:t>
                      </m:r>
                    </m:oMath>
                  </m:oMathPara>
                </a14:m>
                <a:endParaRPr lang="en-US" sz="2000" dirty="0"/>
              </a:p>
              <a:p>
                <a:pPr>
                  <a:spcAft>
                    <a:spcPts val="0"/>
                  </a:spcAft>
                </a:pPr>
                <a:r>
                  <a:rPr lang="en-US" sz="2000" dirty="0"/>
                  <a:t>This sampling distribution, shown to the right, depicts how values of </a:t>
                </a:r>
                <a14:m>
                  <m:oMath xmlns:m="http://schemas.openxmlformats.org/officeDocument/2006/math">
                    <m:acc>
                      <m:accPr>
                        <m:chr m:val="̅"/>
                        <m:ctrlPr>
                          <a:rPr lang="en-US" sz="2000" i="1" dirty="0" smtClean="0">
                            <a:latin typeface="Cambria Math" panose="02040503050406030204" pitchFamily="18" charset="0"/>
                            <a:cs typeface="Arial" charset="0"/>
                          </a:rPr>
                        </m:ctrlPr>
                      </m:accPr>
                      <m:e>
                        <m:r>
                          <a:rPr lang="en-US" sz="2000" b="0" i="1" dirty="0" smtClean="0">
                            <a:latin typeface="Cambria Math" panose="02040503050406030204" pitchFamily="18" charset="0"/>
                            <a:cs typeface="Arial" charset="0"/>
                          </a:rPr>
                          <m:t>𝑥</m:t>
                        </m:r>
                      </m:e>
                    </m:acc>
                  </m:oMath>
                </a14:m>
                <a:r>
                  <a:rPr lang="en-US" sz="2000" dirty="0"/>
                  <a:t> are distributed around the population mean, </a:t>
                </a:r>
                <a:r>
                  <a:rPr lang="en-US" sz="2000" i="1" dirty="0">
                    <a:latin typeface="Symbol" panose="05050102010706020507" pitchFamily="18" charset="2"/>
                  </a:rPr>
                  <a:t>m</a:t>
                </a:r>
                <a:r>
                  <a:rPr lang="en-US" sz="2000" dirty="0"/>
                  <a:t>.</a:t>
                </a:r>
              </a:p>
              <a:p>
                <a:pPr>
                  <a:spcAft>
                    <a:spcPts val="600"/>
                  </a:spcAft>
                </a:pPr>
                <a:r>
                  <a:rPr lang="en-US" sz="2000" dirty="0"/>
                  <a:t>It follows that 95% of the values of the normally distributed </a:t>
                </a:r>
                <a14:m>
                  <m:oMath xmlns:m="http://schemas.openxmlformats.org/officeDocument/2006/math">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𝑥</m:t>
                        </m:r>
                      </m:e>
                    </m:acc>
                  </m:oMath>
                </a14:m>
                <a:r>
                  <a:rPr lang="en-US" sz="2000" dirty="0"/>
                  <a:t> random variable falls within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1.96</m:t>
                    </m:r>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𝜎</m:t>
                        </m:r>
                      </m:e>
                      <m:sub>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sub>
                    </m:sSub>
                  </m:oMath>
                </a14:m>
                <a:r>
                  <a:rPr lang="en-US" sz="2000" dirty="0"/>
                  <a:t> standard deviations of the mean, or within</a:t>
                </a:r>
              </a:p>
              <a:p>
                <a:pPr marL="460375">
                  <a:spcAft>
                    <a:spcPts val="0"/>
                  </a:spcAft>
                </a:pPr>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1.96</m:t>
                      </m:r>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𝜎</m:t>
                          </m:r>
                        </m:e>
                        <m:sub>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sub>
                      </m:sSub>
                      <m:r>
                        <a:rPr lang="en-U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±1.96</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rPr>
                            <m:t>2</m:t>
                          </m:r>
                        </m:e>
                      </m:d>
                      <m:r>
                        <a:rPr lang="en-U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3.92</m:t>
                      </m:r>
                    </m:oMath>
                  </m:oMathPara>
                </a14:m>
                <a:endParaRPr lang="en-US" sz="2000" dirty="0"/>
              </a:p>
            </p:txBody>
          </p:sp>
        </mc:Choice>
        <mc:Fallback xmlns="">
          <p:sp>
            <p:nvSpPr>
              <p:cNvPr id="4" name="Text Placeholder 3">
                <a:extLst>
                  <a:ext uri="{FF2B5EF4-FFF2-40B4-BE49-F238E27FC236}">
                    <a16:creationId xmlns:a16="http://schemas.microsoft.com/office/drawing/2014/main" id="{E202B55A-370A-1A37-B08F-EB7322177B87}"/>
                  </a:ext>
                </a:extLst>
              </p:cNvPr>
              <p:cNvSpPr>
                <a:spLocks noGrp="1" noRot="1" noChangeAspect="1" noMove="1" noResize="1" noEditPoints="1" noAdjustHandles="1" noChangeArrowheads="1" noChangeShapeType="1" noTextEdit="1"/>
              </p:cNvSpPr>
              <p:nvPr>
                <p:ph type="body" sz="quarter" idx="17"/>
              </p:nvPr>
            </p:nvSpPr>
            <p:spPr>
              <a:xfrm>
                <a:off x="743577" y="2100019"/>
                <a:ext cx="4897806" cy="3448373"/>
              </a:xfrm>
              <a:blipFill>
                <a:blip r:embed="rId3"/>
                <a:stretch>
                  <a:fillRect l="-3238" r="-3113" b="-530"/>
                </a:stretch>
              </a:blipFill>
            </p:spPr>
            <p:txBody>
              <a:bodyPr/>
              <a:lstStyle/>
              <a:p>
                <a:r>
                  <a:rPr lang="en-US">
                    <a:noFill/>
                  </a:rPr>
                  <a:t> </a:t>
                </a:r>
              </a:p>
            </p:txBody>
          </p:sp>
        </mc:Fallback>
      </mc:AlternateContent>
      <p:pic>
        <p:nvPicPr>
          <p:cNvPr id="9" name="Picture Placeholder 8" descr="A graph shows the sampling distribution of x-bar showing the location of sample means that are within 3.92 of mu. It shows x-bar along the horizontal axis. The point Mu is almost at the center of the horizontal axis. A bell-shaped curve emerging from the bottom left portion of the graph, peaks over mu, and ends in the lower right portion of the graph. A vertical line emerges from 3.92 on the left of Mu meeting the curve. A vertical line emerges from 3.92 on the right of Mu along the horizontal axis meeting the curve. The region between these two lines under the curve is shaded. This region is labeled 95 percent of all x-bar values. The value 3.92 corresponds to 1.96 sigma_x-bar. A text on the left of the ascending curve reads, Sampling distribution of x-bar. A text on the right of the descending curve reads, Sigma_x-bar = 2.&#10;">
            <a:extLst>
              <a:ext uri="{FF2B5EF4-FFF2-40B4-BE49-F238E27FC236}">
                <a16:creationId xmlns:a16="http://schemas.microsoft.com/office/drawing/2014/main" id="{59F5B121-38D7-BD75-B79E-9991E61A6476}"/>
              </a:ext>
            </a:extLst>
          </p:cNvPr>
          <p:cNvPicPr>
            <a:picLocks noGrp="1" noChangeAspect="1"/>
          </p:cNvPicPr>
          <p:nvPr>
            <p:ph type="pic" sz="quarter" idx="16"/>
          </p:nvPr>
        </p:nvPicPr>
        <p:blipFill rotWithShape="1">
          <a:blip r:embed="rId4"/>
          <a:srcRect l="5014" r="5014"/>
          <a:stretch/>
        </p:blipFill>
        <p:spPr>
          <a:xfrm>
            <a:off x="5845659" y="1909392"/>
            <a:ext cx="5422900" cy="3575050"/>
          </a:xfrm>
        </p:spPr>
      </p:pic>
    </p:spTree>
    <p:extLst>
      <p:ext uri="{BB962C8B-B14F-4D97-AF65-F5344CB8AC3E}">
        <p14:creationId xmlns:p14="http://schemas.microsoft.com/office/powerpoint/2010/main" val="1414881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7E955-DCC1-BAD3-93DE-23303F9550FE}"/>
              </a:ext>
            </a:extLst>
          </p:cNvPr>
          <p:cNvSpPr>
            <a:spLocks noGrp="1"/>
          </p:cNvSpPr>
          <p:nvPr>
            <p:ph type="title"/>
          </p:nvPr>
        </p:nvSpPr>
        <p:spPr/>
        <p:txBody>
          <a:bodyPr/>
          <a:lstStyle/>
          <a:p>
            <a:r>
              <a:rPr lang="en-US" dirty="0"/>
              <a:t>8.1 The Confidence Level</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5F512945-3C0E-B495-6E57-9112F875F9F3}"/>
                  </a:ext>
                </a:extLst>
              </p:cNvPr>
              <p:cNvSpPr>
                <a:spLocks noGrp="1"/>
              </p:cNvSpPr>
              <p:nvPr>
                <p:ph type="body" sz="quarter" idx="15"/>
              </p:nvPr>
            </p:nvSpPr>
            <p:spPr>
              <a:xfrm>
                <a:off x="743577" y="1278222"/>
                <a:ext cx="5694394" cy="4639358"/>
              </a:xfrm>
            </p:spPr>
            <p:txBody>
              <a:bodyPr/>
              <a:lstStyle/>
              <a:p>
                <a:pPr>
                  <a:spcAft>
                    <a:spcPts val="600"/>
                  </a:spcAft>
                </a:pPr>
                <a:r>
                  <a:rPr lang="en-US" sz="2000" dirty="0"/>
                  <a:t>Let us set the margin of error equal to 3.92 and compute the interval estimate of </a:t>
                </a:r>
                <a:r>
                  <a:rPr lang="en-US" sz="2000" i="1" dirty="0">
                    <a:latin typeface="Symbol" panose="05050102010706020507" pitchFamily="18" charset="2"/>
                  </a:rPr>
                  <a:t>m</a:t>
                </a:r>
                <a:r>
                  <a:rPr lang="en-US" sz="2000" dirty="0"/>
                  <a:t> using </a:t>
                </a:r>
                <a14:m>
                  <m:oMath xmlns:m="http://schemas.openxmlformats.org/officeDocument/2006/math">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3.92</m:t>
                    </m:r>
                  </m:oMath>
                </a14:m>
                <a:r>
                  <a:rPr lang="en-US" sz="2000" dirty="0"/>
                  <a:t>.</a:t>
                </a:r>
              </a:p>
              <a:p>
                <a:pPr>
                  <a:spcAft>
                    <a:spcPts val="600"/>
                  </a:spcAft>
                </a:pPr>
                <a:r>
                  <a:rPr lang="en-US" sz="2000" dirty="0"/>
                  <a:t>The figure shows what could happen if we took three separate samples of 100 Lloyd’s customers and built an interval estimate for each of them.</a:t>
                </a:r>
              </a:p>
              <a:p>
                <a:pPr>
                  <a:spcAft>
                    <a:spcPts val="600"/>
                  </a:spcAft>
                </a:pPr>
                <a:r>
                  <a:rPr lang="en-US" sz="2000" dirty="0"/>
                  <a:t>The first two intervals, built around the sample means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𝑥</m:t>
                            </m:r>
                          </m:e>
                        </m:acc>
                      </m:e>
                      <m:sub>
                        <m:r>
                          <a:rPr lang="en-US" sz="2000" b="0" i="1" smtClean="0">
                            <a:latin typeface="Cambria Math" panose="02040503050406030204" pitchFamily="18" charset="0"/>
                            <a:ea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𝑥</m:t>
                            </m:r>
                          </m:e>
                        </m:acc>
                      </m:e>
                      <m:sub>
                        <m:r>
                          <a:rPr lang="en-US" sz="2000" b="0" i="1" smtClean="0">
                            <a:latin typeface="Cambria Math" panose="02040503050406030204" pitchFamily="18" charset="0"/>
                            <a:ea typeface="Cambria Math" panose="02040503050406030204" pitchFamily="18" charset="0"/>
                          </a:rPr>
                          <m:t>2</m:t>
                        </m:r>
                      </m:sub>
                    </m:sSub>
                  </m:oMath>
                </a14:m>
                <a:r>
                  <a:rPr lang="en-US" sz="2000" dirty="0"/>
                  <a:t>, include the population mean, </a:t>
                </a:r>
                <a:r>
                  <a:rPr lang="en-US" sz="2000" i="1" dirty="0">
                    <a:latin typeface="Symbol" panose="05050102010706020507" pitchFamily="18" charset="2"/>
                  </a:rPr>
                  <a:t>m</a:t>
                </a:r>
                <a:r>
                  <a:rPr lang="en-US" sz="2000" dirty="0"/>
                  <a:t>, but the third one,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𝑥</m:t>
                            </m:r>
                          </m:e>
                        </m:acc>
                      </m:e>
                      <m:sub>
                        <m:r>
                          <a:rPr lang="en-US" sz="2000" b="0" i="1" smtClean="0">
                            <a:latin typeface="Cambria Math" panose="02040503050406030204" pitchFamily="18" charset="0"/>
                            <a:ea typeface="Cambria Math" panose="02040503050406030204" pitchFamily="18" charset="0"/>
                          </a:rPr>
                          <m:t>3</m:t>
                        </m:r>
                      </m:sub>
                    </m:sSub>
                  </m:oMath>
                </a14:m>
                <a:r>
                  <a:rPr lang="en-US" sz="2000" dirty="0"/>
                  <a:t>, does not.</a:t>
                </a:r>
              </a:p>
              <a:p>
                <a:pPr>
                  <a:spcAft>
                    <a:spcPts val="600"/>
                  </a:spcAft>
                </a:pPr>
                <a:r>
                  <a:rPr lang="en-US" sz="2000" dirty="0"/>
                  <a:t>It turns out that 95% of all intervals formed by subtracting 3.92 from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𝑥</m:t>
                        </m:r>
                      </m:e>
                    </m:acc>
                  </m:oMath>
                </a14:m>
                <a:r>
                  <a:rPr lang="en-US" sz="2000" dirty="0"/>
                  <a:t> and adding 3.92 to </a:t>
                </a:r>
                <a14:m>
                  <m:oMath xmlns:m="http://schemas.openxmlformats.org/officeDocument/2006/math">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oMath>
                </a14:m>
                <a:r>
                  <a:rPr lang="en-US" sz="2000" dirty="0"/>
                  <a:t> will include the population mean, </a:t>
                </a:r>
                <a:r>
                  <a:rPr lang="en-US" sz="2000" i="1" dirty="0">
                    <a:latin typeface="Symbol" panose="05050102010706020507" pitchFamily="18" charset="2"/>
                  </a:rPr>
                  <a:t>m</a:t>
                </a:r>
                <a:r>
                  <a:rPr lang="en-US" sz="2000" dirty="0"/>
                  <a:t>.</a:t>
                </a:r>
              </a:p>
              <a:p>
                <a:pPr>
                  <a:spcAft>
                    <a:spcPts val="600"/>
                  </a:spcAft>
                </a:pPr>
                <a:r>
                  <a:rPr lang="en-US" sz="2000" dirty="0"/>
                  <a:t>We call an interval built around </a:t>
                </a:r>
                <a14:m>
                  <m:oMath xmlns:m="http://schemas.openxmlformats.org/officeDocument/2006/math">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oMath>
                </a14:m>
                <a:r>
                  <a:rPr lang="en-US" sz="2000" dirty="0"/>
                  <a:t> a </a:t>
                </a:r>
                <a:r>
                  <a:rPr lang="en-US" sz="2000" b="1" dirty="0"/>
                  <a:t>confidence interval </a:t>
                </a:r>
                <a:r>
                  <a:rPr lang="en-US" sz="2000" dirty="0"/>
                  <a:t>established at the 95% </a:t>
                </a:r>
                <a:r>
                  <a:rPr lang="en-US" sz="2000" b="1" dirty="0"/>
                  <a:t>confidence level</a:t>
                </a:r>
                <a:r>
                  <a:rPr lang="en-US" sz="2000" dirty="0"/>
                  <a:t>.</a:t>
                </a:r>
              </a:p>
            </p:txBody>
          </p:sp>
        </mc:Choice>
        <mc:Fallback xmlns="">
          <p:sp>
            <p:nvSpPr>
              <p:cNvPr id="6" name="Text Placeholder 5">
                <a:extLst>
                  <a:ext uri="{FF2B5EF4-FFF2-40B4-BE49-F238E27FC236}">
                    <a16:creationId xmlns:a16="http://schemas.microsoft.com/office/drawing/2014/main" id="{5F512945-3C0E-B495-6E57-9112F875F9F3}"/>
                  </a:ext>
                </a:extLst>
              </p:cNvPr>
              <p:cNvSpPr>
                <a:spLocks noGrp="1" noRot="1" noChangeAspect="1" noMove="1" noResize="1" noEditPoints="1" noAdjustHandles="1" noChangeArrowheads="1" noChangeShapeType="1" noTextEdit="1"/>
              </p:cNvSpPr>
              <p:nvPr>
                <p:ph type="body" sz="quarter" idx="15"/>
              </p:nvPr>
            </p:nvSpPr>
            <p:spPr>
              <a:xfrm>
                <a:off x="743577" y="1278222"/>
                <a:ext cx="5694394" cy="4639358"/>
              </a:xfrm>
              <a:blipFill>
                <a:blip r:embed="rId2"/>
                <a:stretch>
                  <a:fillRect l="-2784" t="-1577" r="-2034" b="-1971"/>
                </a:stretch>
              </a:blipFill>
            </p:spPr>
            <p:txBody>
              <a:bodyPr/>
              <a:lstStyle/>
              <a:p>
                <a:r>
                  <a:rPr lang="en-US">
                    <a:noFill/>
                  </a:rPr>
                  <a:t> </a:t>
                </a:r>
              </a:p>
            </p:txBody>
          </p:sp>
        </mc:Fallback>
      </mc:AlternateContent>
      <p:pic>
        <p:nvPicPr>
          <p:cNvPr id="17" name="Picture Placeholder 16" descr="A graph shows the intervals formed from selected sample means at locations x_1-bar, x_2-bar, and x_3-bar. The point Mu, labeled the Population mean, is in the middle along the horizontal axis. A vertical line emerges from 3.92 on the left of Mu, meeting the curve. A vertical line emerges from 3.92 on the right of Mu along the horizontal axis, meeting the curve. The region between these two lines under the curve is shaded and labeled 95 percent of all x-bar values. A text on the left of the ascending curve reads, Sampling distribution of x-bar. A text on the right of the descending curve reads, Sigma_x-bar = 2. The length between a point to the left of Mu and the end of the curve on the right is labeled x_1-bar. An arrow pointing to x_1-bar reads, Interval based on x_1-bar plus-minus 3.92. The length between a point to the right of Mu and the beginning of the curve on the left is labeled x_2-bar. An arrow pointing to x_2-bar reads, Interval based on x_2-bar plus-minus 3.92. The length between the point to the right of Mu and a point beyond the curve on the right is labeled x_3-bar. An arrow pointing to x_3-bar reads, Interval based on x_3-bar plus-minus 3.92 (Note that this interval does not include mu). &#10;">
            <a:extLst>
              <a:ext uri="{FF2B5EF4-FFF2-40B4-BE49-F238E27FC236}">
                <a16:creationId xmlns:a16="http://schemas.microsoft.com/office/drawing/2014/main" id="{D17A401E-B821-8A1D-3821-A2A0A0A1A60C}"/>
              </a:ext>
            </a:extLst>
          </p:cNvPr>
          <p:cNvPicPr>
            <a:picLocks noGrp="1" noChangeAspect="1"/>
          </p:cNvPicPr>
          <p:nvPr>
            <p:ph type="pic" sz="quarter" idx="16"/>
          </p:nvPr>
        </p:nvPicPr>
        <p:blipFill rotWithShape="1">
          <a:blip r:embed="rId3"/>
          <a:srcRect t="53" b="53"/>
          <a:stretch/>
        </p:blipFill>
        <p:spPr>
          <a:xfrm>
            <a:off x="6324546" y="1405320"/>
            <a:ext cx="5095837" cy="4292972"/>
          </a:xfrm>
        </p:spPr>
      </p:pic>
    </p:spTree>
    <p:extLst>
      <p:ext uri="{BB962C8B-B14F-4D97-AF65-F5344CB8AC3E}">
        <p14:creationId xmlns:p14="http://schemas.microsoft.com/office/powerpoint/2010/main" val="2136217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535D4-24D7-0AB0-5F67-E1EBAC6096DB}"/>
              </a:ext>
            </a:extLst>
          </p:cNvPr>
          <p:cNvSpPr>
            <a:spLocks noGrp="1"/>
          </p:cNvSpPr>
          <p:nvPr>
            <p:ph type="title"/>
          </p:nvPr>
        </p:nvSpPr>
        <p:spPr/>
        <p:txBody>
          <a:bodyPr/>
          <a:lstStyle/>
          <a:p>
            <a:r>
              <a:rPr lang="en-US" dirty="0"/>
              <a:t>8.1 Margin of Error and the Interval Estimate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EF31AB8-971F-8C16-3852-C2DB49128CFD}"/>
                  </a:ext>
                </a:extLst>
              </p:cNvPr>
              <p:cNvSpPr>
                <a:spLocks noGrp="1"/>
              </p:cNvSpPr>
              <p:nvPr>
                <p:ph type="body" sz="quarter" idx="15"/>
              </p:nvPr>
            </p:nvSpPr>
            <p:spPr>
              <a:xfrm>
                <a:off x="743576" y="1491160"/>
                <a:ext cx="10711543" cy="4103727"/>
              </a:xfrm>
            </p:spPr>
            <p:txBody>
              <a:bodyPr>
                <a:noAutofit/>
              </a:bodyPr>
              <a:lstStyle/>
              <a:p>
                <a:pPr>
                  <a:spcBef>
                    <a:spcPts val="600"/>
                  </a:spcBef>
                  <a:spcAft>
                    <a:spcPts val="600"/>
                  </a:spcAft>
                </a:pPr>
                <a:r>
                  <a:rPr lang="en-US" sz="2000" dirty="0">
                    <a:latin typeface="Arial" panose="020B0604020202020204" pitchFamily="34" charset="0"/>
                    <a:cs typeface="Arial" panose="020B0604020202020204" pitchFamily="34" charset="0"/>
                  </a:rPr>
                  <a:t>An interval estimate of the population mean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𝜇</m:t>
                    </m:r>
                  </m:oMath>
                </a14:m>
                <a:r>
                  <a:rPr lang="en-US" sz="2000" dirty="0">
                    <a:latin typeface="Arial" panose="020B0604020202020204" pitchFamily="34" charset="0"/>
                    <a:cs typeface="Arial" panose="020B0604020202020204" pitchFamily="34" charset="0"/>
                  </a:rPr>
                  <a:t>, for the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𝜎</m:t>
                    </m:r>
                  </m:oMath>
                </a14:m>
                <a:r>
                  <a:rPr lang="en-US" sz="2000" dirty="0">
                    <a:latin typeface="Arial" panose="020B0604020202020204" pitchFamily="34" charset="0"/>
                    <a:cs typeface="Arial" panose="020B0604020202020204" pitchFamily="34" charset="0"/>
                  </a:rPr>
                  <a:t> known case, can be written as</a:t>
                </a:r>
                <a:endParaRPr lang="en-US" sz="2000" b="1" i="1" dirty="0">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𝒛</m:t>
                          </m:r>
                        </m:e>
                        <m:sub>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𝜶</m:t>
                              </m:r>
                            </m:num>
                            <m:den>
                              <m:r>
                                <a:rPr lang="en-US" sz="2000" b="1" i="1" smtClean="0">
                                  <a:latin typeface="Cambria Math" panose="02040503050406030204" pitchFamily="18" charset="0"/>
                                  <a:ea typeface="Cambria Math" panose="02040503050406030204" pitchFamily="18" charset="0"/>
                                </a:rPr>
                                <m:t>𝟐</m:t>
                              </m:r>
                            </m:den>
                          </m:f>
                        </m:sub>
                      </m:sSub>
                      <m:f>
                        <m:fPr>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𝝈</m:t>
                          </m:r>
                        </m:num>
                        <m:den>
                          <m:rad>
                            <m:radPr>
                              <m:degHide m:val="on"/>
                              <m:ctrlPr>
                                <a:rPr lang="en-US" sz="2000" b="1" i="1" smtClean="0">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𝒏</m:t>
                              </m:r>
                            </m:e>
                          </m:rad>
                        </m:den>
                      </m:f>
                    </m:oMath>
                  </m:oMathPara>
                </a14:m>
                <a:endParaRPr lang="en-US" sz="2000" b="1"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Where,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𝛼</m:t>
                    </m:r>
                  </m:oMath>
                </a14:m>
                <a:r>
                  <a:rPr lang="en-US" sz="2000" dirty="0">
                    <a:latin typeface="Arial" panose="020B0604020202020204" pitchFamily="34" charset="0"/>
                    <a:cs typeface="Arial" panose="020B0604020202020204" pitchFamily="34" charset="0"/>
                  </a:rPr>
                  <a:t> is the confidence coefficient,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oMath>
                </a14:m>
                <a:r>
                  <a:rPr lang="en-US" sz="2000" dirty="0">
                    <a:latin typeface="Arial" panose="020B0604020202020204" pitchFamily="34" charset="0"/>
                    <a:cs typeface="Arial" panose="020B0604020202020204" pitchFamily="34" charset="0"/>
                  </a:rPr>
                  <a:t> the </a:t>
                </a:r>
                <a14:m>
                  <m:oMath xmlns:m="http://schemas.openxmlformats.org/officeDocument/2006/math">
                    <m:r>
                      <a:rPr lang="en-US" sz="2000" i="1" dirty="0" smtClean="0">
                        <a:latin typeface="Cambria Math" panose="02040503050406030204" pitchFamily="18" charset="0"/>
                        <a:cs typeface="Arial" panose="020B0604020202020204" pitchFamily="34" charset="0"/>
                      </a:rPr>
                      <m:t>𝑧</m:t>
                    </m:r>
                  </m:oMath>
                </a14:m>
                <a:r>
                  <a:rPr lang="en-US" sz="2000" dirty="0">
                    <a:latin typeface="Arial" panose="020B0604020202020204" pitchFamily="34" charset="0"/>
                    <a:cs typeface="Arial" panose="020B0604020202020204" pitchFamily="34" charset="0"/>
                  </a:rPr>
                  <a:t> value providing an area of </a:t>
                </a:r>
                <a14:m>
                  <m:oMath xmlns:m="http://schemas.openxmlformats.org/officeDocument/2006/math">
                    <m:r>
                      <a:rPr lang="en-US" sz="2000" i="1" dirty="0" smtClean="0">
                        <a:latin typeface="Cambria Math" panose="02040503050406030204" pitchFamily="18" charset="0"/>
                        <a:cs typeface="Arial" panose="020B0604020202020204" pitchFamily="34" charset="0"/>
                      </a:rPr>
                      <m:t>𝛼</m:t>
                    </m:r>
                    <m:r>
                      <a:rPr lang="en-US" sz="2000" i="1" dirty="0" smtClean="0">
                        <a:latin typeface="Cambria Math" panose="02040503050406030204" pitchFamily="18" charset="0"/>
                        <a:cs typeface="Arial" panose="020B0604020202020204" pitchFamily="34" charset="0"/>
                      </a:rPr>
                      <m:t>/2</m:t>
                    </m:r>
                  </m:oMath>
                </a14:m>
                <a:r>
                  <a:rPr lang="en-US" sz="2000" dirty="0">
                    <a:latin typeface="Arial" panose="020B0604020202020204" pitchFamily="34" charset="0"/>
                    <a:cs typeface="Arial" panose="020B0604020202020204" pitchFamily="34" charset="0"/>
                  </a:rPr>
                  <a:t> in the upper tail of the standard normal probability distribution.</a:t>
                </a:r>
              </a:p>
              <a:p>
                <a:pPr>
                  <a:spcBef>
                    <a:spcPts val="600"/>
                  </a:spcBef>
                  <a:spcAft>
                    <a:spcPts val="0"/>
                  </a:spcAft>
                </a:pPr>
                <a:r>
                  <a:rPr lang="en-US" sz="2000" dirty="0">
                    <a:latin typeface="Arial" panose="020B0604020202020204" pitchFamily="34" charset="0"/>
                    <a:cs typeface="Arial" panose="020B0604020202020204" pitchFamily="34" charset="0"/>
                  </a:rPr>
                  <a:t>To construct a 95% confidence interval for the Lloyd’s example, we observe that,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=0.95</m:t>
                    </m:r>
                  </m:oMath>
                </a14:m>
                <a:r>
                  <a:rPr lang="en-US" sz="2000" dirty="0">
                    <a:latin typeface="Arial" panose="020B0604020202020204" pitchFamily="34" charset="0"/>
                    <a:cs typeface="Arial" panose="020B0604020202020204" pitchFamily="34" charset="0"/>
                    <a:sym typeface="Wingdings" panose="05000000000000000000" pitchFamily="2" charset="2"/>
                  </a:rPr>
                  <a:t>. </a:t>
                </a:r>
              </a:p>
              <a:p>
                <a:pPr>
                  <a:spcBef>
                    <a:spcPts val="600"/>
                  </a:spcBef>
                  <a:spcAft>
                    <a:spcPts val="0"/>
                  </a:spcAft>
                  <a:tabLst>
                    <a:tab pos="7145338" algn="l"/>
                  </a:tabLst>
                </a:pPr>
                <a:r>
                  <a:rPr lang="en-US" sz="2000" dirty="0">
                    <a:latin typeface="Arial" panose="020B0604020202020204" pitchFamily="34" charset="0"/>
                    <a:cs typeface="Arial" panose="020B0604020202020204" pitchFamily="34" charset="0"/>
                    <a:sym typeface="Wingdings" panose="05000000000000000000" pitchFamily="2" charset="2"/>
                  </a:rPr>
                  <a:t>Thus, we have</a:t>
                </a:r>
              </a:p>
              <a:p>
                <a:pPr marL="914400">
                  <a:spcBef>
                    <a:spcPts val="600"/>
                  </a:spcBef>
                  <a:spcAft>
                    <a:spcPts val="0"/>
                  </a:spcAft>
                  <a:tabLst>
                    <a:tab pos="7145338" algn="l"/>
                  </a:tabLst>
                </a:pPr>
                <a14:m>
                  <m:oMath xmlns:m="http://schemas.openxmlformats.org/officeDocument/2006/math">
                    <m:f>
                      <m:fPr>
                        <m:type m:val="lin"/>
                        <m:ctrlPr>
                          <a:rPr lang="en-US" sz="2000" b="0" i="1" smtClean="0">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ea typeface="Cambria Math" panose="02040503050406030204" pitchFamily="18" charset="0"/>
                          </a:rPr>
                          <m:t>2</m:t>
                        </m:r>
                      </m:den>
                    </m:f>
                    <m:r>
                      <a:rPr lang="en-US" sz="2000" b="0" i="1" smtClean="0">
                        <a:latin typeface="Cambria Math" panose="02040503050406030204" pitchFamily="18" charset="0"/>
                        <a:ea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1−0.95</m:t>
                            </m:r>
                          </m:e>
                        </m:d>
                      </m:num>
                      <m:den>
                        <m:r>
                          <a:rPr lang="en-US" sz="2000" b="0" i="1" smtClean="0">
                            <a:latin typeface="Cambria Math" panose="02040503050406030204" pitchFamily="18" charset="0"/>
                            <a:ea typeface="Cambria Math" panose="02040503050406030204" pitchFamily="18" charset="0"/>
                          </a:rPr>
                          <m:t>2</m:t>
                        </m:r>
                      </m:den>
                    </m:f>
                    <m:r>
                      <a:rPr lang="en-US" sz="2000" b="0" i="1" smtClean="0">
                        <a:latin typeface="Cambria Math" panose="02040503050406030204" pitchFamily="18" charset="0"/>
                        <a:ea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0.05</m:t>
                        </m:r>
                      </m:num>
                      <m:den>
                        <m:r>
                          <a:rPr lang="en-US" sz="2000" b="0" i="1" smtClean="0">
                            <a:latin typeface="Cambria Math" panose="02040503050406030204" pitchFamily="18" charset="0"/>
                            <a:ea typeface="Cambria Math" panose="02040503050406030204" pitchFamily="18" charset="0"/>
                          </a:rPr>
                          <m:t>2</m:t>
                        </m:r>
                      </m:den>
                    </m:f>
                    <m:r>
                      <a:rPr lang="en-US" sz="2000" b="0" i="1" smtClean="0">
                        <a:latin typeface="Cambria Math" panose="02040503050406030204" pitchFamily="18" charset="0"/>
                        <a:ea typeface="Cambria Math" panose="02040503050406030204" pitchFamily="18" charset="0"/>
                      </a:rPr>
                      <m:t>=0.025</m:t>
                    </m:r>
                  </m:oMath>
                </a14:m>
                <a:r>
                  <a:rPr lang="en-US" sz="2000" dirty="0">
                    <a:latin typeface="Arial" panose="020B0604020202020204" pitchFamily="34" charset="0"/>
                    <a:cs typeface="Arial" panose="020B0604020202020204" pitchFamily="34" charset="0"/>
                  </a:rPr>
                  <a:t>, and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f>
                          <m:fPr>
                            <m:type m:val="lin"/>
                            <m:ctrlPr>
                              <a:rPr lang="en-US" sz="2000" i="1" smtClean="0">
                                <a:latin typeface="Cambria Math" panose="02040503050406030204" pitchFamily="18" charset="0"/>
                                <a:ea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ea typeface="Cambria Math" panose="02040503050406030204" pitchFamily="18" charset="0"/>
                              </a:rPr>
                              <m:t>2</m:t>
                            </m:r>
                          </m:den>
                        </m:f>
                      </m:sub>
                    </m:sSub>
                    <m:r>
                      <a:rPr lang="en-US" sz="2000" b="0" i="1" smtClean="0">
                        <a:latin typeface="Cambria Math" panose="02040503050406030204" pitchFamily="18" charset="0"/>
                        <a:ea typeface="Cambria Math" panose="02040503050406030204" pitchFamily="18" charset="0"/>
                      </a:rPr>
                      <m:t>=1.96</m:t>
                    </m:r>
                  </m:oMath>
                </a14:m>
                <a:r>
                  <a:rPr lang="en-US" sz="2000" dirty="0">
                    <a:latin typeface="Arial" panose="020B0604020202020204" pitchFamily="34" charset="0"/>
                    <a:cs typeface="Arial" panose="020B0604020202020204" pitchFamily="34" charset="0"/>
                  </a:rPr>
                  <a:t>.</a:t>
                </a:r>
              </a:p>
              <a:p>
                <a:pPr>
                  <a:spcBef>
                    <a:spcPts val="600"/>
                  </a:spcBef>
                  <a:spcAft>
                    <a:spcPts val="600"/>
                  </a:spcAft>
                </a:pPr>
                <a:r>
                  <a:rPr lang="en-US" sz="2000" dirty="0">
                    <a:latin typeface="Arial" panose="020B0604020202020204" pitchFamily="34" charset="0"/>
                    <a:cs typeface="Arial" panose="020B0604020202020204" pitchFamily="34" charset="0"/>
                  </a:rPr>
                  <a:t>With, </a:t>
                </a:r>
                <a14:m>
                  <m:oMath xmlns:m="http://schemas.openxmlformats.org/officeDocument/2006/math">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r>
                      <a:rPr lang="en-US" sz="2000" b="0" i="0" smtClean="0">
                        <a:latin typeface="Cambria Math" panose="02040503050406030204" pitchFamily="18" charset="0"/>
                        <a:ea typeface="Cambria Math" panose="02040503050406030204" pitchFamily="18" charset="0"/>
                      </a:rPr>
                      <m:t>=82</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𝜎</m:t>
                    </m:r>
                    <m:r>
                      <a:rPr lang="en-US" sz="2000" b="0" i="1" smtClean="0">
                        <a:latin typeface="Cambria Math" panose="02040503050406030204" pitchFamily="18" charset="0"/>
                        <a:ea typeface="Cambria Math" panose="02040503050406030204" pitchFamily="18" charset="0"/>
                        <a:cs typeface="Arial" panose="020B0604020202020204" pitchFamily="34" charset="0"/>
                      </a:rPr>
                      <m:t>=20</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=100</m:t>
                    </m:r>
                  </m:oMath>
                </a14:m>
                <a:r>
                  <a:rPr lang="en-US" sz="2000" dirty="0">
                    <a:latin typeface="Arial" panose="020B0604020202020204" pitchFamily="34" charset="0"/>
                    <a:cs typeface="Arial" panose="020B0604020202020204" pitchFamily="34" charset="0"/>
                  </a:rPr>
                  <a:t>, we obtain</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rPr>
                        <m:t>8</m:t>
                      </m:r>
                      <m:r>
                        <a:rPr lang="en-US" sz="2000" b="0" i="1" smtClean="0">
                          <a:latin typeface="Cambria Math" panose="02040503050406030204" pitchFamily="18" charset="0"/>
                        </a:rPr>
                        <m:t>2</m:t>
                      </m:r>
                      <m:r>
                        <a:rPr lang="en-US" sz="200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.96</m:t>
                      </m:r>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20</m:t>
                          </m:r>
                        </m:num>
                        <m:den>
                          <m:rad>
                            <m:radPr>
                              <m:degHide m:val="on"/>
                              <m:ctrlPr>
                                <a:rPr lang="en-US" sz="200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100</m:t>
                              </m:r>
                            </m:e>
                          </m:rad>
                        </m:den>
                      </m:f>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82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3.92</m:t>
                      </m:r>
                    </m:oMath>
                  </m:oMathPara>
                </a14:m>
                <a:endParaRPr lang="en-US" sz="2000" dirty="0">
                  <a:latin typeface="Arial" panose="020B0604020202020204" pitchFamily="34" charset="0"/>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FEF31AB8-971F-8C16-3852-C2DB49128CFD}"/>
                  </a:ext>
                </a:extLst>
              </p:cNvPr>
              <p:cNvSpPr>
                <a:spLocks noGrp="1" noRot="1" noChangeAspect="1" noMove="1" noResize="1" noEditPoints="1" noAdjustHandles="1" noChangeArrowheads="1" noChangeShapeType="1" noTextEdit="1"/>
              </p:cNvSpPr>
              <p:nvPr>
                <p:ph type="body" sz="quarter" idx="15"/>
              </p:nvPr>
            </p:nvSpPr>
            <p:spPr>
              <a:xfrm>
                <a:off x="743576" y="1491160"/>
                <a:ext cx="10711543" cy="4103727"/>
              </a:xfrm>
              <a:blipFill>
                <a:blip r:embed="rId2"/>
                <a:stretch>
                  <a:fillRect l="-1480" t="-1783" r="-797"/>
                </a:stretch>
              </a:blipFill>
            </p:spPr>
            <p:txBody>
              <a:bodyPr/>
              <a:lstStyle/>
              <a:p>
                <a:r>
                  <a:rPr lang="en-US">
                    <a:noFill/>
                  </a:rPr>
                  <a:t> </a:t>
                </a:r>
              </a:p>
            </p:txBody>
          </p:sp>
        </mc:Fallback>
      </mc:AlternateContent>
    </p:spTree>
    <p:extLst>
      <p:ext uri="{BB962C8B-B14F-4D97-AF65-F5344CB8AC3E}">
        <p14:creationId xmlns:p14="http://schemas.microsoft.com/office/powerpoint/2010/main" val="1630670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535D4-24D7-0AB0-5F67-E1EBAC6096DB}"/>
              </a:ext>
            </a:extLst>
          </p:cNvPr>
          <p:cNvSpPr>
            <a:spLocks noGrp="1"/>
          </p:cNvSpPr>
          <p:nvPr>
            <p:ph type="title"/>
          </p:nvPr>
        </p:nvSpPr>
        <p:spPr/>
        <p:txBody>
          <a:bodyPr/>
          <a:lstStyle/>
          <a:p>
            <a:r>
              <a:rPr lang="en-US" dirty="0"/>
              <a:t>8.1 Commonly Used Confidence Levels</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E03B6C66-E2AE-1C96-0036-763B816AEE92}"/>
                  </a:ext>
                </a:extLst>
              </p:cNvPr>
              <p:cNvSpPr>
                <a:spLocks noGrp="1"/>
              </p:cNvSpPr>
              <p:nvPr>
                <p:ph type="body" sz="quarter" idx="15"/>
              </p:nvPr>
            </p:nvSpPr>
            <p:spPr>
              <a:xfrm>
                <a:off x="793193" y="1472080"/>
                <a:ext cx="10515599" cy="2294008"/>
              </a:xfrm>
            </p:spPr>
            <p:txBody>
              <a:bodyPr>
                <a:noAutofit/>
              </a:bodyPr>
              <a:lstStyle/>
              <a:p>
                <a:pPr>
                  <a:lnSpc>
                    <a:spcPct val="100000"/>
                  </a:lnSpc>
                  <a:spcBef>
                    <a:spcPts val="600"/>
                  </a:spcBef>
                  <a:spcAft>
                    <a:spcPts val="600"/>
                  </a:spcAft>
                </a:pPr>
                <a:r>
                  <a:rPr lang="en-US" sz="2000" dirty="0"/>
                  <a:t>In the calculation of the previous slide, we concluded that we are 95% confident the mean amount spent per shopping trip at Lloyd’s is between</a:t>
                </a:r>
              </a:p>
              <a:p>
                <a:pPr marL="457200">
                  <a:lnSpc>
                    <a:spcPct val="100000"/>
                  </a:lnSpc>
                  <a:spcBef>
                    <a:spcPts val="600"/>
                  </a:spcBef>
                  <a:spcAft>
                    <a:spcPts val="600"/>
                  </a:spcAft>
                </a:pPr>
                <a14:m>
                  <m:oMath xmlns:m="http://schemas.openxmlformats.org/officeDocument/2006/math">
                    <m:r>
                      <a:rPr lang="en-US" sz="2000" i="1" smtClean="0">
                        <a:latin typeface="Cambria Math" panose="02040503050406030204" pitchFamily="18" charset="0"/>
                      </a:rPr>
                      <m:t>82</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3.92=$78.08</m:t>
                    </m:r>
                  </m:oMath>
                </a14:m>
                <a:r>
                  <a:rPr lang="en-US" sz="2000" dirty="0"/>
                  <a:t> and </a:t>
                </a:r>
                <a14:m>
                  <m:oMath xmlns:m="http://schemas.openxmlformats.org/officeDocument/2006/math">
                    <m:r>
                      <a:rPr lang="en-US" sz="2000" i="1">
                        <a:latin typeface="Cambria Math" panose="02040503050406030204" pitchFamily="18" charset="0"/>
                      </a:rPr>
                      <m:t>82</m:t>
                    </m:r>
                    <m:r>
                      <a:rPr lang="en-U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3.92=</m:t>
                    </m:r>
                    <m:r>
                      <a:rPr lang="en-US" sz="2000" b="0" i="1" smtClean="0">
                        <a:latin typeface="Cambria Math" panose="02040503050406030204" pitchFamily="18" charset="0"/>
                        <a:ea typeface="Cambria Math" panose="02040503050406030204" pitchFamily="18" charset="0"/>
                      </a:rPr>
                      <m:t>$85</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92</m:t>
                    </m:r>
                  </m:oMath>
                </a14:m>
                <a:endParaRPr lang="en-US" sz="2000" b="0" dirty="0">
                  <a:ea typeface="Cambria Math" panose="02040503050406030204" pitchFamily="18" charset="0"/>
                </a:endParaRPr>
              </a:p>
              <a:p>
                <a:pPr>
                  <a:lnSpc>
                    <a:spcPct val="100000"/>
                  </a:lnSpc>
                  <a:spcBef>
                    <a:spcPts val="600"/>
                  </a:spcBef>
                  <a:spcAft>
                    <a:spcPts val="0"/>
                  </a:spcAft>
                </a:pPr>
                <a:r>
                  <a:rPr lang="en-US" sz="2000" dirty="0"/>
                  <a:t>Other confidence levels such as 90% and 99% may also be considered. The table shows the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f>
                          <m:fPr>
                            <m:type m:val="lin"/>
                            <m:ctrlPr>
                              <a:rPr lang="en-US" sz="2000" i="1" smtClean="0">
                                <a:latin typeface="Cambria Math" panose="02040503050406030204" pitchFamily="18" charset="0"/>
                                <a:ea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ea typeface="Cambria Math" panose="02040503050406030204" pitchFamily="18" charset="0"/>
                              </a:rPr>
                              <m:t>2</m:t>
                            </m:r>
                          </m:den>
                        </m:f>
                      </m:sub>
                    </m:sSub>
                  </m:oMath>
                </a14:m>
                <a:r>
                  <a:rPr lang="en-US" sz="2000" dirty="0"/>
                  <a:t> for 90%, 95%, and 99% confidence levels.</a:t>
                </a:r>
              </a:p>
              <a:p>
                <a:pPr>
                  <a:lnSpc>
                    <a:spcPct val="100000"/>
                  </a:lnSpc>
                  <a:spcBef>
                    <a:spcPts val="600"/>
                  </a:spcBef>
                  <a:spcAft>
                    <a:spcPts val="0"/>
                  </a:spcAft>
                </a:pPr>
                <a:r>
                  <a:rPr lang="en-US" sz="2000" dirty="0"/>
                  <a:t>For example, at a 90% confidence level,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f>
                          <m:fPr>
                            <m:type m:val="lin"/>
                            <m:ctrlPr>
                              <a:rPr lang="en-US" sz="2000" i="1" smtClean="0">
                                <a:latin typeface="Cambria Math" panose="02040503050406030204" pitchFamily="18" charset="0"/>
                                <a:ea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ea typeface="Cambria Math" panose="02040503050406030204" pitchFamily="18" charset="0"/>
                              </a:rPr>
                              <m:t>2</m:t>
                            </m:r>
                          </m:den>
                        </m:f>
                      </m:sub>
                    </m:sSub>
                    <m:r>
                      <a:rPr lang="en-US" sz="2000" b="0" i="1" smtClean="0">
                        <a:latin typeface="Cambria Math" panose="02040503050406030204" pitchFamily="18" charset="0"/>
                        <a:ea typeface="Cambria Math" panose="02040503050406030204" pitchFamily="18" charset="0"/>
                      </a:rPr>
                      <m:t>=1.645</m:t>
                    </m:r>
                  </m:oMath>
                </a14:m>
                <a:r>
                  <a:rPr lang="en-US" sz="2000" dirty="0"/>
                  <a:t>, and the confidence interval becomes</a:t>
                </a:r>
              </a:p>
            </p:txBody>
          </p:sp>
        </mc:Choice>
        <mc:Fallback xmlns="">
          <p:sp>
            <p:nvSpPr>
              <p:cNvPr id="6" name="Text Placeholder 5">
                <a:extLst>
                  <a:ext uri="{FF2B5EF4-FFF2-40B4-BE49-F238E27FC236}">
                    <a16:creationId xmlns:a16="http://schemas.microsoft.com/office/drawing/2014/main" id="{E03B6C66-E2AE-1C96-0036-763B816AEE92}"/>
                  </a:ext>
                </a:extLst>
              </p:cNvPr>
              <p:cNvSpPr>
                <a:spLocks noGrp="1" noRot="1" noChangeAspect="1" noMove="1" noResize="1" noEditPoints="1" noAdjustHandles="1" noChangeArrowheads="1" noChangeShapeType="1" noTextEdit="1"/>
              </p:cNvSpPr>
              <p:nvPr>
                <p:ph type="body" sz="quarter" idx="15"/>
              </p:nvPr>
            </p:nvSpPr>
            <p:spPr>
              <a:xfrm>
                <a:off x="793193" y="1472080"/>
                <a:ext cx="10515599" cy="2294008"/>
              </a:xfrm>
              <a:blipFill>
                <a:blip r:embed="rId2"/>
                <a:stretch>
                  <a:fillRect l="-1449" t="-3183" r="-1101" b="-244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53EC2C3-3F0B-A86B-945E-4033797F2396}"/>
                  </a:ext>
                </a:extLst>
              </p:cNvPr>
              <p:cNvSpPr>
                <a:spLocks noGrp="1"/>
              </p:cNvSpPr>
              <p:nvPr>
                <p:ph type="body" sz="quarter" idx="18"/>
              </p:nvPr>
            </p:nvSpPr>
            <p:spPr>
              <a:xfrm>
                <a:off x="793193" y="3830343"/>
                <a:ext cx="5530115" cy="1699152"/>
              </a:xfrm>
            </p:spPr>
            <p:txBody>
              <a:bodyPr/>
              <a:lstStyle/>
              <a:p>
                <a:pPr marL="457200">
                  <a:spcAft>
                    <a:spcPts val="0"/>
                  </a:spcAft>
                </a:pPr>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rPr>
                        <m:t>8</m:t>
                      </m:r>
                      <m:r>
                        <a:rPr lang="en-US" sz="2000" b="0" i="1" smtClean="0">
                          <a:latin typeface="Cambria Math" panose="02040503050406030204" pitchFamily="18" charset="0"/>
                        </a:rPr>
                        <m:t>2</m:t>
                      </m:r>
                      <m:r>
                        <a:rPr lang="en-US" sz="200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.645</m:t>
                      </m:r>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20</m:t>
                          </m:r>
                        </m:num>
                        <m:den>
                          <m:rad>
                            <m:radPr>
                              <m:degHide m:val="on"/>
                              <m:ctrlPr>
                                <a:rPr lang="en-US" sz="200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100</m:t>
                              </m:r>
                            </m:e>
                          </m:rad>
                        </m:den>
                      </m:f>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82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3.29</m:t>
                      </m:r>
                    </m:oMath>
                  </m:oMathPara>
                </a14:m>
                <a:endParaRPr lang="en-US" sz="2000" dirty="0"/>
              </a:p>
              <a:p>
                <a:pPr>
                  <a:spcAft>
                    <a:spcPts val="0"/>
                  </a:spcAft>
                </a:pPr>
                <a:r>
                  <a:rPr lang="en-US" sz="2000" dirty="0"/>
                  <a:t>Or between</a:t>
                </a:r>
              </a:p>
              <a:p>
                <a:pPr marL="457200">
                  <a:spcAft>
                    <a:spcPts val="0"/>
                  </a:spcAft>
                </a:pPr>
                <a14:m>
                  <m:oMath xmlns:m="http://schemas.openxmlformats.org/officeDocument/2006/math">
                    <m:r>
                      <a:rPr lang="en-US" sz="2000" i="1" smtClean="0">
                        <a:latin typeface="Cambria Math" panose="02040503050406030204" pitchFamily="18" charset="0"/>
                      </a:rPr>
                      <m:t>82</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3.29=$78.71</m:t>
                    </m:r>
                  </m:oMath>
                </a14:m>
                <a:r>
                  <a:rPr lang="en-US" sz="2000" dirty="0"/>
                  <a:t> and </a:t>
                </a:r>
                <a14:m>
                  <m:oMath xmlns:m="http://schemas.openxmlformats.org/officeDocument/2006/math">
                    <m:r>
                      <a:rPr lang="en-US" sz="2000" i="1">
                        <a:latin typeface="Cambria Math" panose="02040503050406030204" pitchFamily="18" charset="0"/>
                      </a:rPr>
                      <m:t>82</m:t>
                    </m:r>
                    <m:r>
                      <a:rPr lang="en-U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3.2</m:t>
                    </m:r>
                    <m:r>
                      <a:rPr lang="en-US" sz="2000" b="0" i="1" smtClean="0">
                        <a:latin typeface="Cambria Math" panose="02040503050406030204" pitchFamily="18" charset="0"/>
                        <a:ea typeface="Cambria Math" panose="02040503050406030204" pitchFamily="18" charset="0"/>
                      </a:rPr>
                      <m:t>9</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$85</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29</m:t>
                    </m:r>
                  </m:oMath>
                </a14:m>
                <a:endParaRPr lang="en-US" sz="2000" dirty="0"/>
              </a:p>
              <a:p>
                <a:endParaRPr lang="en-US" dirty="0"/>
              </a:p>
            </p:txBody>
          </p:sp>
        </mc:Choice>
        <mc:Fallback xmlns="">
          <p:sp>
            <p:nvSpPr>
              <p:cNvPr id="3" name="Text Placeholder 2">
                <a:extLst>
                  <a:ext uri="{FF2B5EF4-FFF2-40B4-BE49-F238E27FC236}">
                    <a16:creationId xmlns:a16="http://schemas.microsoft.com/office/drawing/2014/main" id="{553EC2C3-3F0B-A86B-945E-4033797F2396}"/>
                  </a:ext>
                </a:extLst>
              </p:cNvPr>
              <p:cNvSpPr>
                <a:spLocks noGrp="1" noRot="1" noChangeAspect="1" noMove="1" noResize="1" noEditPoints="1" noAdjustHandles="1" noChangeArrowheads="1" noChangeShapeType="1" noTextEdit="1"/>
              </p:cNvSpPr>
              <p:nvPr>
                <p:ph type="body" sz="quarter" idx="18"/>
              </p:nvPr>
            </p:nvSpPr>
            <p:spPr>
              <a:xfrm>
                <a:off x="793193" y="3830343"/>
                <a:ext cx="5530115" cy="1699152"/>
              </a:xfrm>
              <a:blipFill>
                <a:blip r:embed="rId3"/>
                <a:stretch>
                  <a:fillRect l="-2756" t="-717"/>
                </a:stretch>
              </a:blipFill>
            </p:spPr>
            <p:txBody>
              <a:bodyPr/>
              <a:lstStyle/>
              <a:p>
                <a:r>
                  <a:rPr lang="en-US">
                    <a:noFill/>
                  </a:rPr>
                  <a:t> </a:t>
                </a:r>
              </a:p>
            </p:txBody>
          </p:sp>
        </mc:Fallback>
      </mc:AlternateContent>
      <p:graphicFrame>
        <p:nvGraphicFramePr>
          <p:cNvPr id="8" name="Table 5">
            <a:extLst>
              <a:ext uri="{FF2B5EF4-FFF2-40B4-BE49-F238E27FC236}">
                <a16:creationId xmlns:a16="http://schemas.microsoft.com/office/drawing/2014/main" id="{E4B9C81C-5FCE-EEE0-0C8E-AE892EF6549A}"/>
              </a:ext>
            </a:extLst>
          </p:cNvPr>
          <p:cNvGraphicFramePr>
            <a:graphicFrameLocks noGrp="1"/>
          </p:cNvGraphicFramePr>
          <p:nvPr>
            <p:ph type="tbl" sz="quarter" idx="22"/>
          </p:nvPr>
        </p:nvGraphicFramePr>
        <p:xfrm>
          <a:off x="6400800" y="3830343"/>
          <a:ext cx="4812225" cy="1699152"/>
        </p:xfrm>
        <a:graphic>
          <a:graphicData uri="http://schemas.openxmlformats.org/drawingml/2006/table">
            <a:tbl>
              <a:tblPr firstRow="1" bandRow="1">
                <a:tableStyleId>{5C22544A-7EE6-4342-B048-85BDC9FD1C3A}</a:tableStyleId>
              </a:tblPr>
              <a:tblGrid>
                <a:gridCol w="2045776">
                  <a:extLst>
                    <a:ext uri="{9D8B030D-6E8A-4147-A177-3AD203B41FA5}">
                      <a16:colId xmlns:a16="http://schemas.microsoft.com/office/drawing/2014/main" val="3787936281"/>
                    </a:ext>
                  </a:extLst>
                </a:gridCol>
                <a:gridCol w="849187">
                  <a:extLst>
                    <a:ext uri="{9D8B030D-6E8A-4147-A177-3AD203B41FA5}">
                      <a16:colId xmlns:a16="http://schemas.microsoft.com/office/drawing/2014/main" val="3192677120"/>
                    </a:ext>
                  </a:extLst>
                </a:gridCol>
                <a:gridCol w="958631">
                  <a:extLst>
                    <a:ext uri="{9D8B030D-6E8A-4147-A177-3AD203B41FA5}">
                      <a16:colId xmlns:a16="http://schemas.microsoft.com/office/drawing/2014/main" val="11185033"/>
                    </a:ext>
                  </a:extLst>
                </a:gridCol>
                <a:gridCol w="958631">
                  <a:extLst>
                    <a:ext uri="{9D8B030D-6E8A-4147-A177-3AD203B41FA5}">
                      <a16:colId xmlns:a16="http://schemas.microsoft.com/office/drawing/2014/main" val="878999308"/>
                    </a:ext>
                  </a:extLst>
                </a:gridCol>
              </a:tblGrid>
              <a:tr h="510432">
                <a:tc>
                  <a:txBody>
                    <a:bodyPr/>
                    <a:lstStyle/>
                    <a:p>
                      <a:pPr marL="0" algn="ctr" defTabSz="914400" rtl="0" eaLnBrk="1" latinLnBrk="0" hangingPunct="1"/>
                      <a:r>
                        <a:rPr lang="en-US" sz="2000" b="1" kern="1200" dirty="0">
                          <a:solidFill>
                            <a:srgbClr val="000000"/>
                          </a:solidFill>
                          <a:latin typeface="Calibri" panose="020F0502020204030204" pitchFamily="34" charset="0"/>
                          <a:ea typeface="+mn-ea"/>
                          <a:cs typeface="Calibri" panose="020F0502020204030204" pitchFamily="34" charset="0"/>
                        </a:rPr>
                        <a:t>Confidence Level</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1" kern="1200" dirty="0">
                          <a:solidFill>
                            <a:srgbClr val="000000"/>
                          </a:solidFill>
                          <a:latin typeface="Symbol" panose="05050102010706020507" pitchFamily="18" charset="2"/>
                          <a:ea typeface="+mn-ea"/>
                          <a:cs typeface="Calibri" panose="020F0502020204030204" pitchFamily="34" charset="0"/>
                        </a:rPr>
                        <a:t>a</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1" kern="1200" dirty="0">
                          <a:solidFill>
                            <a:srgbClr val="000000"/>
                          </a:solidFill>
                          <a:latin typeface="Symbol" panose="05050102010706020507" pitchFamily="18" charset="2"/>
                          <a:ea typeface="+mn-ea"/>
                          <a:cs typeface="Calibri" panose="020F0502020204030204" pitchFamily="34" charset="0"/>
                        </a:rPr>
                        <a:t>a</a:t>
                      </a:r>
                      <a:r>
                        <a:rPr lang="en-US" sz="2000" b="1" kern="1200" dirty="0">
                          <a:solidFill>
                            <a:srgbClr val="000000"/>
                          </a:solidFill>
                          <a:latin typeface="Calibri" panose="020F0502020204030204" pitchFamily="34" charset="0"/>
                          <a:ea typeface="+mn-ea"/>
                          <a:cs typeface="Calibri" panose="020F0502020204030204" pitchFamily="34" charset="0"/>
                        </a:rPr>
                        <a:t>/2</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1" i="1" kern="1200" dirty="0">
                          <a:solidFill>
                            <a:srgbClr val="000000"/>
                          </a:solidFill>
                          <a:latin typeface="Calibri" panose="020F0502020204030204" pitchFamily="34" charset="0"/>
                          <a:ea typeface="+mn-ea"/>
                          <a:cs typeface="Calibri" panose="020F0502020204030204" pitchFamily="34" charset="0"/>
                        </a:rPr>
                        <a:t>z</a:t>
                      </a:r>
                      <a:r>
                        <a:rPr lang="en-US" sz="2000" b="1" kern="1200" baseline="-25000" dirty="0">
                          <a:solidFill>
                            <a:srgbClr val="000000"/>
                          </a:solidFill>
                          <a:latin typeface="Symbol" panose="05050102010706020507" pitchFamily="18" charset="2"/>
                          <a:ea typeface="+mn-ea"/>
                          <a:cs typeface="Calibri" panose="020F0502020204030204" pitchFamily="34" charset="0"/>
                        </a:rPr>
                        <a:t>a</a:t>
                      </a:r>
                      <a:r>
                        <a:rPr lang="en-US" sz="2000" b="1" kern="1200" baseline="-25000" dirty="0">
                          <a:solidFill>
                            <a:srgbClr val="000000"/>
                          </a:solidFill>
                          <a:latin typeface="Calibri" panose="020F0502020204030204" pitchFamily="34" charset="0"/>
                          <a:ea typeface="+mn-ea"/>
                          <a:cs typeface="Calibri" panose="020F0502020204030204" pitchFamily="34" charset="0"/>
                        </a:rPr>
                        <a:t>/2</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23937636"/>
                  </a:ext>
                </a:extLst>
              </a:tr>
              <a:tr h="370840">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90%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0.10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  0.05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1.645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566996754"/>
                  </a:ext>
                </a:extLst>
              </a:tr>
              <a:tr h="370840">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95%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0.05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0.025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1.960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58466504"/>
                  </a:ext>
                </a:extLst>
              </a:tr>
              <a:tr h="370840">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99%</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0.01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0.005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ctr" defTabSz="914400" rtl="0" eaLnBrk="1" latinLnBrk="0" hangingPunct="1"/>
                      <a:r>
                        <a:rPr lang="en-US" sz="2000" b="0" kern="1200" dirty="0">
                          <a:solidFill>
                            <a:srgbClr val="000000"/>
                          </a:solidFill>
                          <a:latin typeface="Calibri" panose="020F0502020204030204" pitchFamily="34" charset="0"/>
                          <a:ea typeface="+mn-ea"/>
                          <a:cs typeface="Calibri" panose="020F0502020204030204" pitchFamily="34" charset="0"/>
                        </a:rPr>
                        <a:t>2.576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458973031"/>
                  </a:ext>
                </a:extLst>
              </a:tr>
            </a:tbl>
          </a:graphicData>
        </a:graphic>
      </p:graphicFrame>
    </p:spTree>
    <p:extLst>
      <p:ext uri="{BB962C8B-B14F-4D97-AF65-F5344CB8AC3E}">
        <p14:creationId xmlns:p14="http://schemas.microsoft.com/office/powerpoint/2010/main" val="212297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8.1 Excel: Construct a 95% Confidence Interval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037230"/>
                <a:ext cx="10610223" cy="1441651"/>
              </a:xfrm>
            </p:spPr>
            <p:txBody>
              <a:bodyPr/>
              <a:lstStyle/>
              <a:p>
                <a:r>
                  <a:rPr lang="en-US" sz="2000" b="1" dirty="0"/>
                  <a:t>Enter/Access Data</a:t>
                </a:r>
                <a:r>
                  <a:rPr lang="en-US" sz="2000" dirty="0"/>
                  <a:t>: Open the file </a:t>
                </a:r>
                <a:r>
                  <a:rPr lang="en-US" sz="2000" i="1" dirty="0" err="1"/>
                  <a:t>lloyds</a:t>
                </a:r>
                <a:r>
                  <a:rPr lang="en-US" sz="2000" dirty="0"/>
                  <a:t>. The sales data are entered in cells A2:A101.</a:t>
                </a:r>
              </a:p>
              <a:p>
                <a:r>
                  <a:rPr lang="en-US" sz="2000" b="1" dirty="0"/>
                  <a:t>Enter Functions and Formulas</a:t>
                </a:r>
                <a:r>
                  <a:rPr lang="en-US" sz="2000" dirty="0"/>
                  <a:t>: The sample size and sample mean (the point estimate) are computed in cells C3:C4 using Excel’s COUNT and AVERAGE functions, respectively.</a:t>
                </a:r>
              </a:p>
              <a:p>
                <a:r>
                  <a:rPr lang="en-US" sz="2000" dirty="0"/>
                  <a:t>The level of significance, </a:t>
                </a:r>
                <a14:m>
                  <m:oMath xmlns:m="http://schemas.openxmlformats.org/officeDocument/2006/math">
                    <m:r>
                      <a:rPr lang="en-US" sz="2000" i="1" dirty="0" smtClean="0">
                        <a:latin typeface="Cambria Math" panose="02040503050406030204" pitchFamily="18" charset="0"/>
                      </a:rPr>
                      <m:t>𝑎𝑙𝑝h𝑎</m:t>
                    </m:r>
                  </m:oMath>
                </a14:m>
                <a:r>
                  <a:rPr lang="en-US" sz="2000" dirty="0"/>
                  <a:t>, is computed in cell C8 by entering the formula </a:t>
                </a:r>
                <a14:m>
                  <m:oMath xmlns:m="http://schemas.openxmlformats.org/officeDocument/2006/math">
                    <m:r>
                      <m:rPr>
                        <m:nor/>
                      </m:rPr>
                      <a:rPr lang="en-US" sz="2000" i="0" dirty="0" smtClean="0">
                        <a:latin typeface="Cambria Math" panose="02040503050406030204" pitchFamily="18" charset="0"/>
                      </a:rPr>
                      <m:t>=</m:t>
                    </m:r>
                    <m:r>
                      <a:rPr lang="en-US" sz="2000" i="1" dirty="0" smtClean="0">
                        <a:latin typeface="Cambria Math" panose="02040503050406030204" pitchFamily="18" charset="0"/>
                      </a:rPr>
                      <m:t>1−</m:t>
                    </m:r>
                    <m:r>
                      <a:rPr lang="en-US" sz="2000" i="1" dirty="0" smtClean="0">
                        <a:latin typeface="Cambria Math" panose="02040503050406030204" pitchFamily="18" charset="0"/>
                      </a:rPr>
                      <m:t>𝐶</m:t>
                    </m:r>
                    <m:r>
                      <a:rPr lang="en-US" sz="2000" i="1" dirty="0" smtClean="0">
                        <a:latin typeface="Cambria Math" panose="02040503050406030204" pitchFamily="18" charset="0"/>
                      </a:rPr>
                      <m:t>7</m:t>
                    </m:r>
                  </m:oMath>
                </a14:m>
                <a:r>
                  <a:rPr lang="en-US" sz="2000" dirty="0"/>
                  <a:t>.</a:t>
                </a:r>
              </a:p>
              <a:p>
                <a:endParaRPr lang="en-US" sz="2000" dirty="0"/>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43576" y="1037230"/>
                <a:ext cx="10610223" cy="1441651"/>
              </a:xfrm>
              <a:blipFill>
                <a:blip r:embed="rId2"/>
                <a:stretch>
                  <a:fillRect l="-1494" t="-5063" r="-287" b="-6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D16A1EC-8780-2A26-ACE2-AAD04145147E}"/>
                  </a:ext>
                </a:extLst>
              </p:cNvPr>
              <p:cNvSpPr>
                <a:spLocks noGrp="1"/>
              </p:cNvSpPr>
              <p:nvPr>
                <p:ph type="body" sz="quarter" idx="17"/>
              </p:nvPr>
            </p:nvSpPr>
            <p:spPr>
              <a:xfrm>
                <a:off x="743576" y="2486818"/>
                <a:ext cx="4671387" cy="3427416"/>
              </a:xfrm>
            </p:spPr>
            <p:txBody>
              <a:bodyPr/>
              <a:lstStyle/>
              <a:p>
                <a:pPr>
                  <a:spcAft>
                    <a:spcPts val="600"/>
                  </a:spcAft>
                </a:pPr>
                <a:r>
                  <a:rPr lang="en-US" sz="2000" dirty="0"/>
                  <a:t>The margin of error is computed in cell C10 using the function:</a:t>
                </a:r>
              </a:p>
              <a:p>
                <a:pPr marL="457200" indent="-285750"/>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𝐶𝑂𝑁𝐹𝐼𝐷𝐸𝑁𝐶𝐸</m:t>
                      </m:r>
                      <m:r>
                        <a:rPr lang="en-US" sz="2000" i="1" dirty="0" smtClean="0">
                          <a:latin typeface="Cambria Math" panose="02040503050406030204" pitchFamily="18" charset="0"/>
                        </a:rPr>
                        <m:t>.</m:t>
                      </m:r>
                      <m:r>
                        <a:rPr lang="en-US" sz="2000" i="1" dirty="0" smtClean="0">
                          <a:latin typeface="Cambria Math" panose="02040503050406030204" pitchFamily="18" charset="0"/>
                        </a:rPr>
                        <m:t>𝑁𝑂𝑅𝑀</m:t>
                      </m:r>
                      <m:r>
                        <a:rPr lang="en-US" sz="2000" i="1" dirty="0" smtClean="0">
                          <a:latin typeface="Cambria Math" panose="02040503050406030204" pitchFamily="18" charset="0"/>
                        </a:rPr>
                        <m:t>(</m:t>
                      </m:r>
                      <m:r>
                        <a:rPr lang="en-US" sz="2000" i="1" dirty="0" err="1" smtClean="0">
                          <a:latin typeface="Cambria Math" panose="02040503050406030204" pitchFamily="18" charset="0"/>
                        </a:rPr>
                        <m:t>𝑎𝑙𝑝h𝑎</m:t>
                      </m:r>
                      <m:r>
                        <a:rPr lang="en-US" sz="2000" i="1" dirty="0" err="1" smtClean="0">
                          <a:latin typeface="Cambria Math" panose="02040503050406030204" pitchFamily="18" charset="0"/>
                        </a:rPr>
                        <m:t>,  </m:t>
                      </m:r>
                    </m:oMath>
                  </m:oMathPara>
                </a14:m>
                <a:endParaRPr lang="en-US" sz="2000" b="0" i="1" dirty="0">
                  <a:latin typeface="Cambria Math" panose="02040503050406030204" pitchFamily="18" charset="0"/>
                </a:endParaRPr>
              </a:p>
              <a:p>
                <a:pPr marL="742950" indent="-457200">
                  <a:spcAft>
                    <a:spcPts val="600"/>
                  </a:spcAft>
                </a:pPr>
                <a14:m>
                  <m:oMathPara xmlns:m="http://schemas.openxmlformats.org/officeDocument/2006/math">
                    <m:oMathParaPr>
                      <m:jc m:val="left"/>
                    </m:oMathParaPr>
                    <m:oMath xmlns:m="http://schemas.openxmlformats.org/officeDocument/2006/math">
                      <m:r>
                        <a:rPr lang="en-US" sz="2000" i="1" dirty="0" err="1" smtClean="0">
                          <a:latin typeface="Cambria Math" panose="02040503050406030204" pitchFamily="18" charset="0"/>
                        </a:rPr>
                        <m:t>𝑠𝑡𝑎𝑛𝑑𝑎𝑟𝑑</m:t>
                      </m:r>
                      <m:r>
                        <a:rPr lang="en-US" sz="2000" i="1" dirty="0" err="1" smtClean="0">
                          <a:latin typeface="Cambria Math" panose="02040503050406030204" pitchFamily="18" charset="0"/>
                        </a:rPr>
                        <m:t>_</m:t>
                      </m:r>
                      <m:r>
                        <a:rPr lang="en-US" sz="2000" i="1" dirty="0" err="1" smtClean="0">
                          <a:latin typeface="Cambria Math" panose="02040503050406030204" pitchFamily="18" charset="0"/>
                        </a:rPr>
                        <m:t>𝑑𝑒𝑣</m:t>
                      </m:r>
                      <m:r>
                        <a:rPr lang="en-US" sz="2000" i="1" dirty="0" err="1" smtClean="0">
                          <a:latin typeface="Cambria Math" panose="02040503050406030204" pitchFamily="18" charset="0"/>
                        </a:rPr>
                        <m:t>,</m:t>
                      </m:r>
                      <m:r>
                        <a:rPr lang="en-US" sz="2000" i="1" dirty="0" err="1" smtClean="0">
                          <a:latin typeface="Cambria Math" panose="02040503050406030204" pitchFamily="18" charset="0"/>
                        </a:rPr>
                        <m:t>𝑠𝑖𝑧𝑒</m:t>
                      </m:r>
                      <m:r>
                        <a:rPr lang="en-US" sz="2000" i="1" dirty="0" smtClean="0">
                          <a:latin typeface="Cambria Math" panose="02040503050406030204" pitchFamily="18" charset="0"/>
                        </a:rPr>
                        <m:t>)</m:t>
                      </m:r>
                    </m:oMath>
                  </m:oMathPara>
                </a14:m>
                <a:endParaRPr lang="en-US" sz="2000" dirty="0"/>
              </a:p>
              <a:p>
                <a:pPr marL="457200"/>
                <a:r>
                  <a:rPr lang="en-US" sz="2000" dirty="0"/>
                  <a:t>With </a:t>
                </a:r>
                <a14:m>
                  <m:oMath xmlns:m="http://schemas.openxmlformats.org/officeDocument/2006/math">
                    <m:r>
                      <a:rPr lang="en-US" sz="2000" i="1" dirty="0" smtClean="0">
                        <a:latin typeface="Cambria Math" panose="02040503050406030204" pitchFamily="18" charset="0"/>
                      </a:rPr>
                      <m:t>𝑎𝑙𝑝h𝑎</m:t>
                    </m:r>
                  </m:oMath>
                </a14:m>
                <a:r>
                  <a:rPr lang="en-US" sz="2000" dirty="0"/>
                  <a:t> in cell C8, </a:t>
                </a:r>
                <a14:m>
                  <m:oMath xmlns:m="http://schemas.openxmlformats.org/officeDocument/2006/math">
                    <m:r>
                      <a:rPr lang="en-US" sz="2000" i="1" dirty="0" smtClean="0">
                        <a:latin typeface="Cambria Math" panose="02040503050406030204" pitchFamily="18" charset="0"/>
                      </a:rPr>
                      <m:t>𝑠𝑡𝑎𝑛𝑑𝑎𝑟𝑑</m:t>
                    </m:r>
                    <m:r>
                      <a:rPr lang="en-US" sz="2000" i="1" dirty="0" smtClean="0">
                        <a:latin typeface="Cambria Math" panose="02040503050406030204" pitchFamily="18" charset="0"/>
                      </a:rPr>
                      <m:t>_</m:t>
                    </m:r>
                    <m:r>
                      <a:rPr lang="en-US" sz="2000" i="1" dirty="0" smtClean="0">
                        <a:latin typeface="Cambria Math" panose="02040503050406030204" pitchFamily="18" charset="0"/>
                      </a:rPr>
                      <m:t>𝑑𝑒𝑣</m:t>
                    </m:r>
                  </m:oMath>
                </a14:m>
                <a:r>
                  <a:rPr lang="en-US" sz="2000" dirty="0"/>
                  <a:t> in cell C6, and </a:t>
                </a:r>
                <a14:m>
                  <m:oMath xmlns:m="http://schemas.openxmlformats.org/officeDocument/2006/math">
                    <m:r>
                      <a:rPr lang="en-US" sz="2000" i="1" dirty="0" smtClean="0">
                        <a:latin typeface="Cambria Math" panose="02040503050406030204" pitchFamily="18" charset="0"/>
                      </a:rPr>
                      <m:t>𝑠𝑖𝑧𝑒</m:t>
                    </m:r>
                  </m:oMath>
                </a14:m>
                <a:r>
                  <a:rPr lang="en-US" sz="2000" dirty="0"/>
                  <a:t> in cell C3.</a:t>
                </a:r>
              </a:p>
              <a:p>
                <a:r>
                  <a:rPr lang="en-US" sz="2000" dirty="0"/>
                  <a:t>The lower and upper limits of the confidence interval are computed in cells C13:C14 by subtracting and adding the margin of error from the point estimate.</a:t>
                </a:r>
              </a:p>
            </p:txBody>
          </p:sp>
        </mc:Choice>
        <mc:Fallback xmlns="">
          <p:sp>
            <p:nvSpPr>
              <p:cNvPr id="5" name="Text Placeholder 4">
                <a:extLst>
                  <a:ext uri="{FF2B5EF4-FFF2-40B4-BE49-F238E27FC236}">
                    <a16:creationId xmlns:a16="http://schemas.microsoft.com/office/drawing/2014/main" id="{ED16A1EC-8780-2A26-ACE2-AAD04145147E}"/>
                  </a:ext>
                </a:extLst>
              </p:cNvPr>
              <p:cNvSpPr>
                <a:spLocks noGrp="1" noRot="1" noChangeAspect="1" noMove="1" noResize="1" noEditPoints="1" noAdjustHandles="1" noChangeArrowheads="1" noChangeShapeType="1" noTextEdit="1"/>
              </p:cNvSpPr>
              <p:nvPr>
                <p:ph type="body" sz="quarter" idx="17"/>
              </p:nvPr>
            </p:nvSpPr>
            <p:spPr>
              <a:xfrm>
                <a:off x="743576" y="2486818"/>
                <a:ext cx="4671387" cy="3427416"/>
              </a:xfrm>
              <a:blipFill>
                <a:blip r:embed="rId4"/>
                <a:stretch>
                  <a:fillRect l="-3394" t="-2135" r="-3003" b="-2491"/>
                </a:stretch>
              </a:blipFill>
            </p:spPr>
            <p:txBody>
              <a:bodyPr/>
              <a:lstStyle/>
              <a:p>
                <a:r>
                  <a:rPr lang="en-US">
                    <a:noFill/>
                  </a:rPr>
                  <a:t> </a:t>
                </a:r>
              </a:p>
            </p:txBody>
          </p:sp>
        </mc:Fallback>
      </mc:AlternateContent>
      <p:pic>
        <p:nvPicPr>
          <p:cNvPr id="7" name="Picture Placeholder 6" descr="Two screenshots of Excel spreadsheets show the interval estimate of a population mean with a sigma known case. In both the spreadsheets, column A is labeled amount. The entries under the column are as follows. Row 2: 72. Row 3: 92. Row 4: 74. Row 5: 115. Row 6: 71. Row 7: 120. Row 8: 37. Row 9: 96. Row 10: 91. Row 11: 105. Row 12: 104. Row 13: 89. Row 14: 70. Row 15: 125. Row 16: 43. Row 17: 61. Row 100: 71. Row 101: 84. The entries under columns B and C in the first spreadsheet are as follows. B 3: Sample size. C 3: =COUNT(A1:A101). B 4: Sample mean. C 4: =AVERAGE(A1:A101). B 6: Population standard deviation. C 6: 20. B 7: Confidence coefficient. C 7: 0.95. B 8: Level of significance. C 8: = 1 minus C 7. B 10: Margin of error. C 10: =CONFIDENCE.NORM(C 8,C 6,C 3). B 12: Point estimate. C 12: =C 4. B 13: Lower limit. C 13: =C 12 minus C 10. B 14: Upper limit. C 14: C 12 + C 10. The entries under columns B and C in the first spreadsheet are as follows. B 3: Sample size. C 3: 100. B 4: Sample mean. C 4: 82. B 6: Population standard deviation. C 6: 20. B 7: Confidence coefficient. C 7: 0.95. B 8: Level of significance. C 8: 0.05. B 10: Margin of error. C 10: 3.92. B 12: Point estimate. C 12: 82. B 13: Lower limit. C 13: 78.08. B 14: Upper limit. C 14: 85.92.">
            <a:extLst>
              <a:ext uri="{FF2B5EF4-FFF2-40B4-BE49-F238E27FC236}">
                <a16:creationId xmlns:a16="http://schemas.microsoft.com/office/drawing/2014/main" id="{70A0F785-7F22-9B1B-E6A2-8B0110EBCAC1}"/>
              </a:ext>
            </a:extLst>
          </p:cNvPr>
          <p:cNvPicPr>
            <a:picLocks noGrp="1" noChangeAspect="1"/>
          </p:cNvPicPr>
          <p:nvPr>
            <p:ph type="pic" sz="quarter" idx="16"/>
          </p:nvPr>
        </p:nvPicPr>
        <p:blipFill>
          <a:blip r:embed="rId5"/>
          <a:srcRect t="40" b="40"/>
          <a:stretch/>
        </p:blipFill>
        <p:spPr>
          <a:xfrm>
            <a:off x="5486400" y="2543971"/>
            <a:ext cx="6016625" cy="3370263"/>
          </a:xfrm>
          <a:ln>
            <a:solidFill>
              <a:srgbClr val="000000"/>
            </a:solidFill>
          </a:ln>
        </p:spPr>
      </p:pic>
    </p:spTree>
    <p:extLst>
      <p:ext uri="{BB962C8B-B14F-4D97-AF65-F5344CB8AC3E}">
        <p14:creationId xmlns:p14="http://schemas.microsoft.com/office/powerpoint/2010/main" val="243278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4FBBD-99D4-81C7-4700-72D6BCC3F477}"/>
              </a:ext>
            </a:extLst>
          </p:cNvPr>
          <p:cNvSpPr>
            <a:spLocks noGrp="1"/>
          </p:cNvSpPr>
          <p:nvPr>
            <p:ph type="title"/>
          </p:nvPr>
        </p:nvSpPr>
        <p:spPr/>
        <p:txBody>
          <a:bodyPr/>
          <a:lstStyle/>
          <a:p>
            <a:r>
              <a:rPr lang="en-US" dirty="0"/>
              <a:t>8.1 Practical Advice</a:t>
            </a:r>
          </a:p>
        </p:txBody>
      </p:sp>
      <p:sp>
        <p:nvSpPr>
          <p:cNvPr id="3" name="Text Placeholder 2">
            <a:extLst>
              <a:ext uri="{FF2B5EF4-FFF2-40B4-BE49-F238E27FC236}">
                <a16:creationId xmlns:a16="http://schemas.microsoft.com/office/drawing/2014/main" id="{B9D7A92E-86C8-8EE0-A719-15B6D06C2757}"/>
              </a:ext>
            </a:extLst>
          </p:cNvPr>
          <p:cNvSpPr>
            <a:spLocks noGrp="1"/>
          </p:cNvSpPr>
          <p:nvPr>
            <p:ph type="body" sz="quarter" idx="15"/>
          </p:nvPr>
        </p:nvSpPr>
        <p:spPr>
          <a:xfrm>
            <a:off x="740228" y="1263930"/>
            <a:ext cx="10711543" cy="348047"/>
          </a:xfrm>
        </p:spPr>
        <p:txBody>
          <a:bodyPr/>
          <a:lstStyle/>
          <a:p>
            <a:r>
              <a:rPr lang="en-US" dirty="0"/>
              <a:t>Adequate Sample Size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4B79521-4103-D3FA-7030-6BA4EBA8BF58}"/>
                  </a:ext>
                </a:extLst>
              </p:cNvPr>
              <p:cNvSpPr>
                <a:spLocks noGrp="1"/>
              </p:cNvSpPr>
              <p:nvPr>
                <p:ph type="body" sz="quarter" idx="18"/>
              </p:nvPr>
            </p:nvSpPr>
            <p:spPr>
              <a:xfrm>
                <a:off x="740228" y="1687558"/>
                <a:ext cx="10711543" cy="3858320"/>
              </a:xfrm>
            </p:spPr>
            <p:txBody>
              <a:bodyPr/>
              <a:lstStyle/>
              <a:p>
                <a:r>
                  <a:rPr lang="en-US" sz="2000" dirty="0"/>
                  <a:t>The sampling distribution of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oMath>
                </a14:m>
                <a:r>
                  <a:rPr lang="en-US" sz="2000" dirty="0"/>
                  <a:t> is normal if the underlying population distribution is normal; otherwise, a sample size of </a:t>
                </a:r>
                <a:r>
                  <a:rPr lang="en-US" sz="2000" i="1" dirty="0"/>
                  <a:t>n</a:t>
                </a:r>
                <a:r>
                  <a:rPr lang="en-US" sz="2000" dirty="0"/>
                  <a:t> ≥ 30 is required.</a:t>
                </a:r>
              </a:p>
              <a:p>
                <a:r>
                  <a:rPr lang="en-US" sz="2000" dirty="0"/>
                  <a:t>If the population distribution is highly skewed or contains outliers, a sample size of 50 or more is recommended.</a:t>
                </a:r>
              </a:p>
              <a:p>
                <a:r>
                  <a:rPr lang="en-US" sz="2000" dirty="0"/>
                  <a:t>If the population is not normally distributed but is roughly symmetric, a sample size as small as 15 will suffice.</a:t>
                </a:r>
              </a:p>
              <a:p>
                <a:r>
                  <a:rPr lang="en-US" sz="2000" dirty="0"/>
                  <a:t>If the population is believed to be at least approximately normal, a sample size of less than 15 can be used.</a:t>
                </a:r>
              </a:p>
              <a:p>
                <a:r>
                  <a:rPr lang="en-US" sz="2000" dirty="0"/>
                  <a:t>For small sample sizes, a histogram of the sample data should be built to learn about the shape of the population distribution.</a:t>
                </a:r>
              </a:p>
            </p:txBody>
          </p:sp>
        </mc:Choice>
        <mc:Fallback xmlns="">
          <p:sp>
            <p:nvSpPr>
              <p:cNvPr id="4" name="Text Placeholder 3">
                <a:extLst>
                  <a:ext uri="{FF2B5EF4-FFF2-40B4-BE49-F238E27FC236}">
                    <a16:creationId xmlns:a16="http://schemas.microsoft.com/office/drawing/2014/main" id="{F4B79521-4103-D3FA-7030-6BA4EBA8BF58}"/>
                  </a:ext>
                </a:extLst>
              </p:cNvPr>
              <p:cNvSpPr>
                <a:spLocks noGrp="1" noRot="1" noChangeAspect="1" noMove="1" noResize="1" noEditPoints="1" noAdjustHandles="1" noChangeArrowheads="1" noChangeShapeType="1" noTextEdit="1"/>
              </p:cNvSpPr>
              <p:nvPr>
                <p:ph type="body" sz="quarter" idx="18"/>
              </p:nvPr>
            </p:nvSpPr>
            <p:spPr>
              <a:xfrm>
                <a:off x="740228" y="1687558"/>
                <a:ext cx="10711543" cy="3858320"/>
              </a:xfrm>
              <a:blipFill>
                <a:blip r:embed="rId2"/>
                <a:stretch>
                  <a:fillRect l="-1365" t="-2686" r="-967"/>
                </a:stretch>
              </a:blipFill>
            </p:spPr>
            <p:txBody>
              <a:bodyPr/>
              <a:lstStyle/>
              <a:p>
                <a:r>
                  <a:rPr lang="en-US">
                    <a:noFill/>
                  </a:rPr>
                  <a:t> </a:t>
                </a:r>
              </a:p>
            </p:txBody>
          </p:sp>
        </mc:Fallback>
      </mc:AlternateContent>
    </p:spTree>
    <p:extLst>
      <p:ext uri="{BB962C8B-B14F-4D97-AF65-F5344CB8AC3E}">
        <p14:creationId xmlns:p14="http://schemas.microsoft.com/office/powerpoint/2010/main" val="275328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5FDFC-2E16-E7E1-5FB8-E84FD8048286}"/>
              </a:ext>
            </a:extLst>
          </p:cNvPr>
          <p:cNvSpPr>
            <a:spLocks noGrp="1"/>
          </p:cNvSpPr>
          <p:nvPr>
            <p:ph type="title"/>
          </p:nvPr>
        </p:nvSpPr>
        <p:spPr/>
        <p:txBody>
          <a:bodyPr/>
          <a:lstStyle/>
          <a:p>
            <a:r>
              <a:rPr lang="en-US" dirty="0">
                <a:solidFill>
                  <a:srgbClr val="D14B1E"/>
                </a:solidFill>
              </a:rPr>
              <a:t>8.2 Population Mean: </a:t>
            </a:r>
            <a:r>
              <a:rPr lang="en-US" i="1" dirty="0">
                <a:solidFill>
                  <a:srgbClr val="D14B1E"/>
                </a:solidFill>
                <a:latin typeface="Symbol" panose="05050102010706020507" pitchFamily="18" charset="2"/>
              </a:rPr>
              <a:t>s</a:t>
            </a:r>
            <a:r>
              <a:rPr lang="en-US" dirty="0">
                <a:solidFill>
                  <a:srgbClr val="D14B1E"/>
                </a:solidFill>
              </a:rPr>
              <a:t> Unknown</a:t>
            </a:r>
          </a:p>
        </p:txBody>
      </p:sp>
      <p:sp>
        <p:nvSpPr>
          <p:cNvPr id="3" name="Text Placeholder 2">
            <a:extLst>
              <a:ext uri="{FF2B5EF4-FFF2-40B4-BE49-F238E27FC236}">
                <a16:creationId xmlns:a16="http://schemas.microsoft.com/office/drawing/2014/main" id="{A4E9327C-617B-6296-8FBF-4AACEA4C06C9}"/>
              </a:ext>
            </a:extLst>
          </p:cNvPr>
          <p:cNvSpPr>
            <a:spLocks noGrp="1"/>
          </p:cNvSpPr>
          <p:nvPr>
            <p:ph type="body" sz="quarter" idx="15"/>
          </p:nvPr>
        </p:nvSpPr>
        <p:spPr>
          <a:xfrm>
            <a:off x="743577" y="1570225"/>
            <a:ext cx="10771916" cy="4263838"/>
          </a:xfrm>
        </p:spPr>
        <p:txBody>
          <a:bodyPr/>
          <a:lstStyle/>
          <a:p>
            <a:r>
              <a:rPr lang="en-US" sz="2000" dirty="0"/>
              <a:t>If an estimate of the population standard deviation, </a:t>
            </a:r>
            <a:r>
              <a:rPr lang="en-US" sz="2000" i="1" dirty="0">
                <a:latin typeface="Symbol" panose="05050102010706020507" pitchFamily="18" charset="2"/>
              </a:rPr>
              <a:t>s</a:t>
            </a:r>
            <a:r>
              <a:rPr lang="en-US" sz="2000" dirty="0"/>
              <a:t>, cannot be developed prior to sampling, we use the sample standard deviation, </a:t>
            </a:r>
            <a:r>
              <a:rPr lang="en-US" sz="2000" i="1" dirty="0"/>
              <a:t>s</a:t>
            </a:r>
            <a:r>
              <a:rPr lang="en-US" sz="2000" dirty="0"/>
              <a:t>, instead. </a:t>
            </a:r>
          </a:p>
          <a:p>
            <a:r>
              <a:rPr lang="en-US" sz="2000" dirty="0"/>
              <a:t>This is referred to as the </a:t>
            </a:r>
            <a:r>
              <a:rPr lang="en-US" sz="2000" b="1" i="1" dirty="0">
                <a:latin typeface="Symbol" panose="05050102010706020507" pitchFamily="18" charset="2"/>
              </a:rPr>
              <a:t>s</a:t>
            </a:r>
            <a:r>
              <a:rPr lang="en-US" sz="2000" b="1" dirty="0"/>
              <a:t> unknown</a:t>
            </a:r>
            <a:r>
              <a:rPr lang="en-US" sz="2000" dirty="0"/>
              <a:t> case, with the interval estimate of </a:t>
            </a:r>
            <a:r>
              <a:rPr lang="en-US" sz="2000" i="1" dirty="0">
                <a:latin typeface="Symbol" panose="05050102010706020507" pitchFamily="18" charset="2"/>
              </a:rPr>
              <a:t>m</a:t>
            </a:r>
            <a:r>
              <a:rPr lang="en-US" sz="2000" dirty="0"/>
              <a:t> based on the </a:t>
            </a:r>
            <a:r>
              <a:rPr lang="en-US" sz="2000" b="1" i="1" dirty="0"/>
              <a:t>t</a:t>
            </a:r>
            <a:r>
              <a:rPr lang="en-US" sz="2000" b="1" dirty="0"/>
              <a:t> distribution</a:t>
            </a:r>
            <a:r>
              <a:rPr lang="en-US" sz="2000" dirty="0"/>
              <a:t>, a family of similar probability distributions depending on a parameter called the </a:t>
            </a:r>
            <a:r>
              <a:rPr lang="en-US" sz="2000" b="1" dirty="0"/>
              <a:t>degrees of freedom</a:t>
            </a:r>
            <a:r>
              <a:rPr lang="en-US" sz="2000" dirty="0"/>
              <a:t>.</a:t>
            </a:r>
          </a:p>
          <a:p>
            <a:r>
              <a:rPr lang="en-US" sz="2000" dirty="0"/>
              <a:t>A </a:t>
            </a:r>
            <a:r>
              <a:rPr lang="en-US" sz="2000" i="1" dirty="0"/>
              <a:t>t</a:t>
            </a:r>
            <a:r>
              <a:rPr lang="en-US" sz="2000" dirty="0"/>
              <a:t> distribution with more degrees of freedom has</a:t>
            </a:r>
          </a:p>
          <a:p>
            <a:pPr>
              <a:spcBef>
                <a:spcPts val="0"/>
              </a:spcBef>
            </a:pPr>
            <a:r>
              <a:rPr lang="en-US" sz="2000" dirty="0"/>
              <a:t>less dispersion.</a:t>
            </a:r>
          </a:p>
          <a:p>
            <a:r>
              <a:rPr lang="en-US" sz="2000" dirty="0"/>
              <a:t>As the degrees of freedom increase, the difference</a:t>
            </a:r>
          </a:p>
          <a:p>
            <a:pPr>
              <a:spcBef>
                <a:spcPts val="0"/>
              </a:spcBef>
            </a:pPr>
            <a:r>
              <a:rPr lang="en-US" sz="2000" dirty="0"/>
              <a:t>between the </a:t>
            </a:r>
            <a:r>
              <a:rPr lang="en-US" sz="2000" i="1" dirty="0"/>
              <a:t>t</a:t>
            </a:r>
            <a:r>
              <a:rPr lang="en-US" sz="2000" dirty="0"/>
              <a:t> distribution and the standard normal</a:t>
            </a:r>
          </a:p>
          <a:p>
            <a:pPr>
              <a:spcBef>
                <a:spcPts val="0"/>
              </a:spcBef>
            </a:pPr>
            <a:r>
              <a:rPr lang="en-US" sz="2000" dirty="0"/>
              <a:t>probability distribution becomes smaller.</a:t>
            </a:r>
          </a:p>
          <a:p>
            <a:r>
              <a:rPr lang="en-US" sz="2000" dirty="0"/>
              <a:t>For more than 100 degrees of freedom, the standard</a:t>
            </a:r>
          </a:p>
          <a:p>
            <a:pPr>
              <a:spcBef>
                <a:spcPts val="0"/>
              </a:spcBef>
            </a:pPr>
            <a:r>
              <a:rPr lang="en-US" sz="2000" dirty="0"/>
              <a:t>normal </a:t>
            </a:r>
            <a:r>
              <a:rPr lang="en-US" sz="2000" i="1" dirty="0"/>
              <a:t>z</a:t>
            </a:r>
            <a:r>
              <a:rPr lang="en-US" sz="2000" dirty="0"/>
              <a:t> value provides a good approximation to</a:t>
            </a:r>
          </a:p>
          <a:p>
            <a:pPr>
              <a:spcBef>
                <a:spcPts val="0"/>
              </a:spcBef>
            </a:pPr>
            <a:r>
              <a:rPr lang="en-US" sz="2000" dirty="0"/>
              <a:t>the </a:t>
            </a:r>
            <a:r>
              <a:rPr lang="en-US" sz="2000" i="1" dirty="0"/>
              <a:t>t</a:t>
            </a:r>
            <a:r>
              <a:rPr lang="en-US" sz="2000" dirty="0"/>
              <a:t> value (*see notes for additional details.)</a:t>
            </a:r>
          </a:p>
        </p:txBody>
      </p:sp>
      <p:pic>
        <p:nvPicPr>
          <p:cNvPr id="7" name="Picture Placeholder 6" descr="A graph shows the comparison of the standard normal distribution with t distributions having 10 and 20-degrees of freedom. It has z, t along the horizontal axis. Point 0 is almost at the center of the horizontal axis. A curve representing t distribution (10 degrees of freedom) emerges from the bottom left portion of the graph, has a peak corresponding to the middle portion of the horizontal axis, and ends at the bottom right portion of the curve. A curve representing t distribution (20 degrees of freedom) extends from the right of the first curve, reaches a peak above the first curve, and ends to the left of the first curve. A curve representing Standard normal distribution extends from the right of the second curve, reaches a peak above the first and second curves, and ends to the left of the second curve's end. &#10;">
            <a:extLst>
              <a:ext uri="{FF2B5EF4-FFF2-40B4-BE49-F238E27FC236}">
                <a16:creationId xmlns:a16="http://schemas.microsoft.com/office/drawing/2014/main" id="{C90215E4-D081-D9D7-B36E-733BB8809DEB}"/>
              </a:ext>
            </a:extLst>
          </p:cNvPr>
          <p:cNvPicPr>
            <a:picLocks noGrp="1" noChangeAspect="1"/>
          </p:cNvPicPr>
          <p:nvPr>
            <p:ph type="pic" sz="quarter" idx="16"/>
          </p:nvPr>
        </p:nvPicPr>
        <p:blipFill rotWithShape="1">
          <a:blip r:embed="rId3"/>
          <a:srcRect t="100" b="100"/>
          <a:stretch/>
        </p:blipFill>
        <p:spPr>
          <a:xfrm>
            <a:off x="6638925" y="3278188"/>
            <a:ext cx="4791075" cy="2555875"/>
          </a:xfrm>
        </p:spPr>
      </p:pic>
      <p:sp>
        <p:nvSpPr>
          <p:cNvPr id="5" name="Text Placeholder 4">
            <a:extLst>
              <a:ext uri="{FF2B5EF4-FFF2-40B4-BE49-F238E27FC236}">
                <a16:creationId xmlns:a16="http://schemas.microsoft.com/office/drawing/2014/main" id="{146B7D4D-E627-1B1B-9822-9E9368709DDC}"/>
              </a:ext>
            </a:extLst>
          </p:cNvPr>
          <p:cNvSpPr>
            <a:spLocks noGrp="1"/>
          </p:cNvSpPr>
          <p:nvPr>
            <p:ph type="body" sz="quarter" idx="17"/>
          </p:nvPr>
        </p:nvSpPr>
        <p:spPr>
          <a:xfrm>
            <a:off x="743577" y="1170140"/>
            <a:ext cx="10771916" cy="348047"/>
          </a:xfrm>
        </p:spPr>
        <p:txBody>
          <a:bodyPr/>
          <a:lstStyle/>
          <a:p>
            <a:r>
              <a:rPr lang="en-US" dirty="0"/>
              <a:t>The </a:t>
            </a:r>
            <a:r>
              <a:rPr lang="en-US" i="1" dirty="0"/>
              <a:t>t</a:t>
            </a:r>
            <a:r>
              <a:rPr lang="en-US" dirty="0"/>
              <a:t> Distribution</a:t>
            </a:r>
          </a:p>
        </p:txBody>
      </p:sp>
    </p:spTree>
    <p:extLst>
      <p:ext uri="{BB962C8B-B14F-4D97-AF65-F5344CB8AC3E}">
        <p14:creationId xmlns:p14="http://schemas.microsoft.com/office/powerpoint/2010/main" val="1469739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CEAE6-ECF1-4D5A-7E1F-0A6DDD3A10E9}"/>
              </a:ext>
            </a:extLst>
          </p:cNvPr>
          <p:cNvSpPr>
            <a:spLocks noGrp="1"/>
          </p:cNvSpPr>
          <p:nvPr>
            <p:ph type="title"/>
          </p:nvPr>
        </p:nvSpPr>
        <p:spPr/>
        <p:txBody>
          <a:bodyPr/>
          <a:lstStyle/>
          <a:p>
            <a:r>
              <a:rPr lang="en-US" dirty="0"/>
              <a:t>8.2 Interval Estimate of </a:t>
            </a:r>
            <a:r>
              <a:rPr lang="en-US" i="1" dirty="0">
                <a:latin typeface="Symbol" panose="05050102010706020507" pitchFamily="18" charset="2"/>
              </a:rPr>
              <a:t>m</a:t>
            </a:r>
            <a:r>
              <a:rPr lang="en-US" dirty="0"/>
              <a:t>: </a:t>
            </a:r>
            <a:r>
              <a:rPr lang="en-US" i="1" dirty="0">
                <a:latin typeface="Symbol" panose="05050102010706020507" pitchFamily="18" charset="2"/>
              </a:rPr>
              <a:t>s</a:t>
            </a:r>
            <a:r>
              <a:rPr lang="en-US" dirty="0"/>
              <a:t> Unknown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8A9EC2D-619D-8979-328C-14AA4FE84C44}"/>
                  </a:ext>
                </a:extLst>
              </p:cNvPr>
              <p:cNvSpPr>
                <a:spLocks noGrp="1"/>
              </p:cNvSpPr>
              <p:nvPr>
                <p:ph type="body" sz="quarter" idx="15"/>
              </p:nvPr>
            </p:nvSpPr>
            <p:spPr>
              <a:xfrm>
                <a:off x="743576" y="1366410"/>
                <a:ext cx="10610223" cy="1937408"/>
              </a:xfrm>
            </p:spPr>
            <p:txBody>
              <a:bodyPr>
                <a:noAutofit/>
              </a:bodyPr>
              <a:lstStyle/>
              <a:p>
                <a:pPr>
                  <a:lnSpc>
                    <a:spcPct val="100000"/>
                  </a:lnSpc>
                  <a:spcBef>
                    <a:spcPts val="600"/>
                  </a:spcBef>
                  <a:spcAft>
                    <a:spcPts val="600"/>
                  </a:spcAft>
                </a:pPr>
                <a:r>
                  <a:rPr lang="en-US" sz="2000" dirty="0">
                    <a:latin typeface="Arial" panose="020B0604020202020204" pitchFamily="34" charset="0"/>
                    <a:cs typeface="Arial" panose="020B0604020202020204" pitchFamily="34" charset="0"/>
                  </a:rPr>
                  <a:t>An interval estimate of the population mean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𝜇</m:t>
                    </m:r>
                  </m:oMath>
                </a14:m>
                <a:r>
                  <a:rPr lang="en-US" sz="2000" dirty="0">
                    <a:latin typeface="Arial" panose="020B0604020202020204" pitchFamily="34" charset="0"/>
                    <a:cs typeface="Arial" panose="020B0604020202020204" pitchFamily="34" charset="0"/>
                  </a:rPr>
                  <a:t>, for the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𝜎</m:t>
                    </m:r>
                  </m:oMath>
                </a14:m>
                <a:r>
                  <a:rPr lang="en-US" sz="2000" dirty="0">
                    <a:latin typeface="Arial" panose="020B0604020202020204" pitchFamily="34" charset="0"/>
                    <a:cs typeface="Arial" panose="020B0604020202020204" pitchFamily="34" charset="0"/>
                  </a:rPr>
                  <a:t> unknown case, can be written as</a:t>
                </a:r>
                <a:endParaRPr lang="en-US" sz="2000" b="1" i="1" dirty="0">
                  <a:latin typeface="Cambria Math" panose="02040503050406030204" pitchFamily="18" charset="0"/>
                </a:endParaRP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𝒕</m:t>
                          </m:r>
                        </m:e>
                        <m:sub>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𝜶</m:t>
                              </m:r>
                            </m:num>
                            <m:den>
                              <m:r>
                                <a:rPr lang="en-US" sz="2000" b="1" i="1" smtClean="0">
                                  <a:latin typeface="Cambria Math" panose="02040503050406030204" pitchFamily="18" charset="0"/>
                                  <a:ea typeface="Cambria Math" panose="02040503050406030204" pitchFamily="18" charset="0"/>
                                </a:rPr>
                                <m:t>𝟐</m:t>
                              </m:r>
                            </m:den>
                          </m:f>
                        </m:sub>
                      </m:sSub>
                      <m:f>
                        <m:fPr>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𝒔</m:t>
                          </m:r>
                        </m:num>
                        <m:den>
                          <m:rad>
                            <m:radPr>
                              <m:degHide m:val="on"/>
                              <m:ctrlPr>
                                <a:rPr lang="en-US" sz="2000" b="1" i="1" smtClean="0">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𝒏</m:t>
                              </m:r>
                            </m:e>
                          </m:rad>
                        </m:den>
                      </m:f>
                    </m:oMath>
                  </m:oMathPara>
                </a14:m>
                <a:endParaRPr lang="en-US" sz="2000" b="1" dirty="0"/>
              </a:p>
              <a:p>
                <a:pPr>
                  <a:lnSpc>
                    <a:spcPct val="100000"/>
                  </a:lnSpc>
                  <a:spcBef>
                    <a:spcPts val="600"/>
                  </a:spcBef>
                  <a:spcAft>
                    <a:spcPts val="600"/>
                  </a:spcAft>
                </a:pPr>
                <a:r>
                  <a:rPr lang="en-US" sz="2000" dirty="0"/>
                  <a:t>Where </a:t>
                </a:r>
                <a:r>
                  <a:rPr lang="en-US" sz="2000" i="1" dirty="0"/>
                  <a:t>s</a:t>
                </a:r>
                <a:r>
                  <a:rPr lang="en-US" sz="2000" dirty="0"/>
                  <a:t> is the sample standard deviation,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𝛼</m:t>
                    </m:r>
                  </m:oMath>
                </a14:m>
                <a:r>
                  <a:rPr lang="en-US" sz="2000" dirty="0"/>
                  <a:t> is the confidence coefficient,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𝑡</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oMath>
                </a14:m>
                <a:r>
                  <a:rPr lang="en-US" sz="2000" dirty="0"/>
                  <a:t> the </a:t>
                </a:r>
                <a:r>
                  <a:rPr lang="en-US" sz="2000" i="1" dirty="0"/>
                  <a:t>t</a:t>
                </a:r>
                <a:r>
                  <a:rPr lang="en-US" sz="2000" dirty="0"/>
                  <a:t> value providing an area of α/2 in the upper tail of a </a:t>
                </a:r>
                <a:r>
                  <a:rPr lang="en-US" sz="2000" i="1" dirty="0"/>
                  <a:t>t</a:t>
                </a:r>
                <a:r>
                  <a:rPr lang="en-US" sz="2000" dirty="0"/>
                  <a:t> distribution with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−1</m:t>
                    </m:r>
                  </m:oMath>
                </a14:m>
                <a:r>
                  <a:rPr lang="en-US" sz="2000" dirty="0"/>
                  <a:t> degrees of freedom (*see the notes for details.)</a:t>
                </a:r>
              </a:p>
            </p:txBody>
          </p:sp>
        </mc:Choice>
        <mc:Fallback xmlns="">
          <p:sp>
            <p:nvSpPr>
              <p:cNvPr id="3" name="Text Placeholder 2">
                <a:extLst>
                  <a:ext uri="{FF2B5EF4-FFF2-40B4-BE49-F238E27FC236}">
                    <a16:creationId xmlns:a16="http://schemas.microsoft.com/office/drawing/2014/main" id="{A8A9EC2D-619D-8979-328C-14AA4FE84C44}"/>
                  </a:ext>
                </a:extLst>
              </p:cNvPr>
              <p:cNvSpPr>
                <a:spLocks noGrp="1" noRot="1" noChangeAspect="1" noMove="1" noResize="1" noEditPoints="1" noAdjustHandles="1" noChangeArrowheads="1" noChangeShapeType="1" noTextEdit="1"/>
              </p:cNvSpPr>
              <p:nvPr>
                <p:ph type="body" sz="quarter" idx="15"/>
              </p:nvPr>
            </p:nvSpPr>
            <p:spPr>
              <a:xfrm>
                <a:off x="743576" y="1366410"/>
                <a:ext cx="10610223" cy="1937408"/>
              </a:xfrm>
              <a:blipFill>
                <a:blip r:embed="rId3"/>
                <a:stretch>
                  <a:fillRect l="-1494" t="-3774" r="-1494"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B205D4B4-A39D-6DB5-C03C-09E36CBB7839}"/>
                  </a:ext>
                </a:extLst>
              </p:cNvPr>
              <p:cNvSpPr>
                <a:spLocks noGrp="1"/>
              </p:cNvSpPr>
              <p:nvPr>
                <p:ph type="body" sz="quarter" idx="17"/>
              </p:nvPr>
            </p:nvSpPr>
            <p:spPr>
              <a:xfrm>
                <a:off x="743577" y="3455445"/>
                <a:ext cx="6005936" cy="2307075"/>
              </a:xfrm>
            </p:spPr>
            <p:txBody>
              <a:bodyPr/>
              <a:lstStyle/>
              <a:p>
                <a:pPr>
                  <a:lnSpc>
                    <a:spcPct val="100000"/>
                  </a:lnSpc>
                  <a:spcBef>
                    <a:spcPts val="600"/>
                  </a:spcBef>
                </a:pPr>
                <a:r>
                  <a:rPr lang="en-US" sz="2000" dirty="0"/>
                  <a:t>As an application, consider the estimate of the mean credit card debt,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𝜎</m:t>
                    </m:r>
                  </m:oMath>
                </a14:m>
                <a:r>
                  <a:rPr lang="en-US" sz="2000" dirty="0">
                    <a:latin typeface="Arial" panose="020B0604020202020204" pitchFamily="34" charset="0"/>
                    <a:cs typeface="Arial" panose="020B0604020202020204" pitchFamily="34" charset="0"/>
                  </a:rPr>
                  <a:t> unknown case,</a:t>
                </a:r>
                <a:r>
                  <a:rPr lang="en-US" sz="2000" dirty="0"/>
                  <a:t> for the population of U.S. households (</a:t>
                </a:r>
                <a:r>
                  <a:rPr lang="en-US" sz="2000" dirty="0" err="1"/>
                  <a:t>DATAfile</a:t>
                </a:r>
                <a:r>
                  <a:rPr lang="en-US" sz="2000" dirty="0"/>
                  <a:t>: </a:t>
                </a:r>
                <a:r>
                  <a:rPr lang="en-US" sz="2000" i="1" dirty="0" err="1"/>
                  <a:t>NewBalance</a:t>
                </a:r>
                <a:r>
                  <a:rPr lang="en-US" sz="2000" i="1" dirty="0"/>
                  <a:t>.)</a:t>
                </a:r>
              </a:p>
              <a:p>
                <a:pPr>
                  <a:lnSpc>
                    <a:spcPct val="100000"/>
                  </a:lnSpc>
                  <a:spcBef>
                    <a:spcPts val="600"/>
                  </a:spcBef>
                </a:pPr>
                <a:r>
                  <a:rPr lang="en-US" sz="2000" dirty="0"/>
                  <a:t>The data consists of the household credit card debt, </a:t>
                </a:r>
                <a14:m>
                  <m:oMath xmlns:m="http://schemas.openxmlformats.org/officeDocument/2006/math">
                    <m:r>
                      <a:rPr lang="en-US" sz="2000" i="1" dirty="0" smtClean="0">
                        <a:latin typeface="Cambria Math" panose="02040503050406030204" pitchFamily="18" charset="0"/>
                      </a:rPr>
                      <m:t>𝑥</m:t>
                    </m:r>
                  </m:oMath>
                </a14:m>
                <a:r>
                  <a:rPr lang="en-US" sz="2000" dirty="0"/>
                  <a:t>, for a simple random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=70</m:t>
                    </m:r>
                  </m:oMath>
                </a14:m>
                <a:r>
                  <a:rPr lang="en-US" sz="2000" dirty="0"/>
                  <a:t> households.</a:t>
                </a:r>
              </a:p>
              <a:p>
                <a:pPr>
                  <a:lnSpc>
                    <a:spcPct val="100000"/>
                  </a:lnSpc>
                  <a:spcBef>
                    <a:spcPts val="600"/>
                  </a:spcBef>
                </a:pPr>
                <a:r>
                  <a:rPr lang="en-US" sz="2000" dirty="0"/>
                  <a:t>Sample calculations reveal a sample mean </a:t>
                </a:r>
                <a14:m>
                  <m:oMath xmlns:m="http://schemas.openxmlformats.org/officeDocument/2006/math">
                    <m:acc>
                      <m:accPr>
                        <m:chr m:val="̅"/>
                        <m:ctrlPr>
                          <a:rPr lang="en-US" sz="2000" i="1" dirty="0" smtClean="0">
                            <a:latin typeface="Cambria Math" panose="02040503050406030204" pitchFamily="18" charset="0"/>
                            <a:cs typeface="Arial" charset="0"/>
                          </a:rPr>
                        </m:ctrlPr>
                      </m:accPr>
                      <m:e>
                        <m:r>
                          <a:rPr lang="en-US" sz="2000" b="0" i="1" dirty="0" smtClean="0">
                            <a:latin typeface="Cambria Math" panose="02040503050406030204" pitchFamily="18" charset="0"/>
                            <a:cs typeface="Arial" charset="0"/>
                          </a:rPr>
                          <m:t>𝑥</m:t>
                        </m:r>
                      </m:e>
                    </m:acc>
                    <m:r>
                      <a:rPr lang="en-US" sz="2000" b="0" i="1" dirty="0" smtClean="0">
                        <a:latin typeface="Cambria Math" panose="02040503050406030204" pitchFamily="18" charset="0"/>
                        <a:cs typeface="Arial" charset="0"/>
                      </a:rPr>
                      <m:t>=$9,312</m:t>
                    </m:r>
                  </m:oMath>
                </a14:m>
                <a:r>
                  <a:rPr lang="en-US" sz="2000" dirty="0">
                    <a:latin typeface="Arial" panose="020B0604020202020204" pitchFamily="34" charset="0"/>
                    <a:cs typeface="Arial" panose="020B0604020202020204" pitchFamily="34" charset="0"/>
                  </a:rPr>
                  <a:t>, and a sample standard deviation, </a:t>
                </a:r>
                <a14:m>
                  <m:oMath xmlns:m="http://schemas.openxmlformats.org/officeDocument/2006/math">
                    <m:r>
                      <a:rPr lang="en-US" sz="2000" i="1" dirty="0" smtClean="0">
                        <a:latin typeface="Cambria Math" panose="02040503050406030204" pitchFamily="18" charset="0"/>
                        <a:cs typeface="Arial" panose="020B0604020202020204" pitchFamily="34" charset="0"/>
                      </a:rPr>
                      <m:t>𝑠</m:t>
                    </m:r>
                    <m:r>
                      <a:rPr lang="en-US" sz="2000" i="1" dirty="0" smtClean="0">
                        <a:latin typeface="Cambria Math" panose="02040503050406030204" pitchFamily="18" charset="0"/>
                        <a:cs typeface="Arial" panose="020B0604020202020204" pitchFamily="34" charset="0"/>
                      </a:rPr>
                      <m:t>=$4,007</m:t>
                    </m:r>
                  </m:oMath>
                </a14:m>
                <a:r>
                  <a:rPr lang="en-US" sz="2000" dirty="0">
                    <a:latin typeface="Arial" panose="020B0604020202020204" pitchFamily="34" charset="0"/>
                    <a:cs typeface="Arial" panose="020B0604020202020204" pitchFamily="34" charset="0"/>
                  </a:rPr>
                  <a:t>.</a:t>
                </a:r>
              </a:p>
            </p:txBody>
          </p:sp>
        </mc:Choice>
        <mc:Fallback xmlns="">
          <p:sp>
            <p:nvSpPr>
              <p:cNvPr id="9" name="Text Placeholder 8">
                <a:extLst>
                  <a:ext uri="{FF2B5EF4-FFF2-40B4-BE49-F238E27FC236}">
                    <a16:creationId xmlns:a16="http://schemas.microsoft.com/office/drawing/2014/main" id="{B205D4B4-A39D-6DB5-C03C-09E36CBB7839}"/>
                  </a:ext>
                </a:extLst>
              </p:cNvPr>
              <p:cNvSpPr>
                <a:spLocks noGrp="1" noRot="1" noChangeAspect="1" noMove="1" noResize="1" noEditPoints="1" noAdjustHandles="1" noChangeArrowheads="1" noChangeShapeType="1" noTextEdit="1"/>
              </p:cNvSpPr>
              <p:nvPr>
                <p:ph type="body" sz="quarter" idx="17"/>
              </p:nvPr>
            </p:nvSpPr>
            <p:spPr>
              <a:xfrm>
                <a:off x="743577" y="3455445"/>
                <a:ext cx="6005936" cy="2307075"/>
              </a:xfrm>
              <a:blipFill>
                <a:blip r:embed="rId5"/>
                <a:stretch>
                  <a:fillRect l="-2640" t="-3175" r="-1929" b="-6085"/>
                </a:stretch>
              </a:blipFill>
            </p:spPr>
            <p:txBody>
              <a:bodyPr/>
              <a:lstStyle/>
              <a:p>
                <a:r>
                  <a:rPr lang="en-US">
                    <a:noFill/>
                  </a:rPr>
                  <a:t> </a:t>
                </a:r>
              </a:p>
            </p:txBody>
          </p:sp>
        </mc:Fallback>
      </mc:AlternateContent>
      <p:pic>
        <p:nvPicPr>
          <p:cNvPr id="11" name="Picture Placeholder 10" descr="A graph shows t Distribution with alpha/2 area or probability in the upper tail. It has t along the horizontal axis. A bell-shaped curve emerging from the bottom left portion of the graph reaches its peak over the middle portion and ends in the lower right portion of the graph. Point 0 is at the center of the horizontal axis. A vertical line emerges from a point t_alpha/2 to the right of 0 along the horizontal axis and touches the curve. The region under the curve between t_alpha/2 and the end of the curve on the right is shaded and labeled alpha/2.&#10;">
            <a:extLst>
              <a:ext uri="{FF2B5EF4-FFF2-40B4-BE49-F238E27FC236}">
                <a16:creationId xmlns:a16="http://schemas.microsoft.com/office/drawing/2014/main" id="{E8D90954-CB5C-7312-2453-C0D2849E3744}"/>
              </a:ext>
            </a:extLst>
          </p:cNvPr>
          <p:cNvPicPr>
            <a:picLocks noGrp="1" noChangeAspect="1"/>
          </p:cNvPicPr>
          <p:nvPr>
            <p:ph type="pic" sz="quarter" idx="16"/>
          </p:nvPr>
        </p:nvPicPr>
        <p:blipFill rotWithShape="1">
          <a:blip r:embed="rId6"/>
          <a:srcRect l="46" r="46"/>
          <a:stretch/>
        </p:blipFill>
        <p:spPr>
          <a:xfrm>
            <a:off x="7020732" y="3276536"/>
            <a:ext cx="4105275" cy="2570162"/>
          </a:xfrm>
        </p:spPr>
      </p:pic>
    </p:spTree>
    <p:extLst>
      <p:ext uri="{BB962C8B-B14F-4D97-AF65-F5344CB8AC3E}">
        <p14:creationId xmlns:p14="http://schemas.microsoft.com/office/powerpoint/2010/main" val="1971807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619932" y="393424"/>
            <a:ext cx="10952094" cy="672105"/>
          </a:xfrm>
        </p:spPr>
        <p:txBody>
          <a:bodyPr/>
          <a:lstStyle/>
          <a:p>
            <a:r>
              <a:rPr lang="en-US" sz="3200" dirty="0"/>
              <a:t>8.2 Estimate of the Population Mean Credit Card Balance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179" y="1399682"/>
                <a:ext cx="10515599" cy="988865"/>
              </a:xfrm>
            </p:spPr>
            <p:txBody>
              <a:bodyPr>
                <a:noAutofit/>
              </a:bodyPr>
              <a:lstStyle/>
              <a:p>
                <a:pPr>
                  <a:lnSpc>
                    <a:spcPct val="100000"/>
                  </a:lnSpc>
                  <a:spcBef>
                    <a:spcPts val="600"/>
                  </a:spcBef>
                </a:pPr>
                <a:r>
                  <a:rPr lang="en-US" sz="2000" dirty="0"/>
                  <a:t>With 95% confidence and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−1=69</m:t>
                    </m:r>
                  </m:oMath>
                </a14:m>
                <a:r>
                  <a:rPr lang="en-US" sz="2000" dirty="0"/>
                  <a:t> degrees of freedom, Table 2 in Appendix B can be used to obtain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𝑡</m:t>
                        </m:r>
                      </m:e>
                      <m:sub>
                        <m:r>
                          <a:rPr lang="en-US" sz="2000" i="1">
                            <a:latin typeface="Cambria Math" panose="02040503050406030204" pitchFamily="18" charset="0"/>
                            <a:ea typeface="Cambria Math" panose="02040503050406030204" pitchFamily="18" charset="0"/>
                          </a:rPr>
                          <m:t>0.025</m:t>
                        </m:r>
                      </m:sub>
                    </m:sSub>
                    <m:r>
                      <a:rPr lang="en-US" sz="2000" i="1">
                        <a:latin typeface="Cambria Math" panose="02040503050406030204" pitchFamily="18" charset="0"/>
                        <a:ea typeface="Cambria Math" panose="02040503050406030204" pitchFamily="18" charset="0"/>
                      </a:rPr>
                      <m:t>=1.995</m:t>
                    </m:r>
                  </m:oMath>
                </a14:m>
                <a:r>
                  <a:rPr lang="en-US" sz="2000" dirty="0"/>
                  <a:t>. We want the </a:t>
                </a:r>
                <a:r>
                  <a:rPr lang="en-US" sz="2000" i="1" dirty="0"/>
                  <a:t>t</a:t>
                </a:r>
                <a:r>
                  <a:rPr lang="en-US" sz="2000" dirty="0"/>
                  <a:t> value in the row with 69 degrees of freedom, and the column corresponding to 0.025 in the upper tail.</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179" y="1399682"/>
                <a:ext cx="10515599" cy="988865"/>
              </a:xfrm>
              <a:blipFill>
                <a:blip r:embed="rId3"/>
                <a:stretch>
                  <a:fillRect l="-1449" t="-7407" r="-1623" b="-86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699A4297-B870-E801-3AA1-756910434A14}"/>
                  </a:ext>
                </a:extLst>
              </p:cNvPr>
              <p:cNvGraphicFramePr>
                <a:graphicFrameLocks noGrp="1"/>
              </p:cNvGraphicFramePr>
              <p:nvPr>
                <p:ph type="tbl" sz="quarter" idx="22"/>
              </p:nvPr>
            </p:nvGraphicFramePr>
            <p:xfrm>
              <a:off x="2096429" y="2411855"/>
              <a:ext cx="5917455" cy="702789"/>
            </p:xfrm>
            <a:graphic>
              <a:graphicData uri="http://schemas.openxmlformats.org/drawingml/2006/table">
                <a:tbl>
                  <a:tblPr firstRow="1" bandRow="1">
                    <a:tableStyleId>{5C22544A-7EE6-4342-B048-85BDC9FD1C3A}</a:tableStyleId>
                  </a:tblPr>
                  <a:tblGrid>
                    <a:gridCol w="2076975">
                      <a:extLst>
                        <a:ext uri="{9D8B030D-6E8A-4147-A177-3AD203B41FA5}">
                          <a16:colId xmlns:a16="http://schemas.microsoft.com/office/drawing/2014/main" val="2911801945"/>
                        </a:ext>
                      </a:extLst>
                    </a:gridCol>
                    <a:gridCol w="640080">
                      <a:extLst>
                        <a:ext uri="{9D8B030D-6E8A-4147-A177-3AD203B41FA5}">
                          <a16:colId xmlns:a16="http://schemas.microsoft.com/office/drawing/2014/main" val="2232661565"/>
                        </a:ext>
                      </a:extLst>
                    </a:gridCol>
                    <a:gridCol w="640080">
                      <a:extLst>
                        <a:ext uri="{9D8B030D-6E8A-4147-A177-3AD203B41FA5}">
                          <a16:colId xmlns:a16="http://schemas.microsoft.com/office/drawing/2014/main" val="3297454400"/>
                        </a:ext>
                      </a:extLst>
                    </a:gridCol>
                    <a:gridCol w="640080">
                      <a:extLst>
                        <a:ext uri="{9D8B030D-6E8A-4147-A177-3AD203B41FA5}">
                          <a16:colId xmlns:a16="http://schemas.microsoft.com/office/drawing/2014/main" val="3078131080"/>
                        </a:ext>
                      </a:extLst>
                    </a:gridCol>
                    <a:gridCol w="640080">
                      <a:extLst>
                        <a:ext uri="{9D8B030D-6E8A-4147-A177-3AD203B41FA5}">
                          <a16:colId xmlns:a16="http://schemas.microsoft.com/office/drawing/2014/main" val="1873949250"/>
                        </a:ext>
                      </a:extLst>
                    </a:gridCol>
                    <a:gridCol w="640080">
                      <a:extLst>
                        <a:ext uri="{9D8B030D-6E8A-4147-A177-3AD203B41FA5}">
                          <a16:colId xmlns:a16="http://schemas.microsoft.com/office/drawing/2014/main" val="2859897543"/>
                        </a:ext>
                      </a:extLst>
                    </a:gridCol>
                    <a:gridCol w="640080">
                      <a:extLst>
                        <a:ext uri="{9D8B030D-6E8A-4147-A177-3AD203B41FA5}">
                          <a16:colId xmlns:a16="http://schemas.microsoft.com/office/drawing/2014/main" val="263716799"/>
                        </a:ext>
                      </a:extLst>
                    </a:gridCol>
                  </a:tblGrid>
                  <a:tr h="367509">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0.20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6674">
                    <a:tc>
                      <a:txBody>
                        <a:bodyPr/>
                        <a:lstStyle/>
                        <a:p>
                          <a:pPr algn="l"/>
                          <a:r>
                            <a:rPr lang="en-US" sz="1600" b="1" i="1" dirty="0">
                              <a:solidFill>
                                <a:srgbClr val="000000"/>
                              </a:solidFill>
                              <a:latin typeface="Arial" panose="020B0604020202020204" pitchFamily="34" charset="0"/>
                              <a:cs typeface="Arial" panose="020B0604020202020204" pitchFamily="34" charset="0"/>
                            </a:rPr>
                            <a:t>t</a:t>
                          </a:r>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𝟔𝟗</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.847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1.294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1.667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1.995</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2.382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2.649</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Choice>
        <mc:Fallback xmlns="">
          <p:graphicFrame>
            <p:nvGraphicFramePr>
              <p:cNvPr id="8" name="Table 8">
                <a:extLst>
                  <a:ext uri="{FF2B5EF4-FFF2-40B4-BE49-F238E27FC236}">
                    <a16:creationId xmlns:a16="http://schemas.microsoft.com/office/drawing/2014/main" id="{699A4297-B870-E801-3AA1-756910434A14}"/>
                  </a:ext>
                </a:extLst>
              </p:cNvPr>
              <p:cNvGraphicFramePr>
                <a:graphicFrameLocks noGrp="1"/>
              </p:cNvGraphicFramePr>
              <p:nvPr>
                <p:ph type="tbl" sz="quarter" idx="22"/>
                <p:extLst>
                  <p:ext uri="{D42A27DB-BD31-4B8C-83A1-F6EECF244321}">
                    <p14:modId xmlns:p14="http://schemas.microsoft.com/office/powerpoint/2010/main" val="349077952"/>
                  </p:ext>
                </p:extLst>
              </p:nvPr>
            </p:nvGraphicFramePr>
            <p:xfrm>
              <a:off x="2096429" y="2411855"/>
              <a:ext cx="5917455" cy="702789"/>
            </p:xfrm>
            <a:graphic>
              <a:graphicData uri="http://schemas.openxmlformats.org/drawingml/2006/table">
                <a:tbl>
                  <a:tblPr firstRow="1" bandRow="1">
                    <a:tableStyleId>{5C22544A-7EE6-4342-B048-85BDC9FD1C3A}</a:tableStyleId>
                  </a:tblPr>
                  <a:tblGrid>
                    <a:gridCol w="2076975">
                      <a:extLst>
                        <a:ext uri="{9D8B030D-6E8A-4147-A177-3AD203B41FA5}">
                          <a16:colId xmlns:a16="http://schemas.microsoft.com/office/drawing/2014/main" val="2911801945"/>
                        </a:ext>
                      </a:extLst>
                    </a:gridCol>
                    <a:gridCol w="640080">
                      <a:extLst>
                        <a:ext uri="{9D8B030D-6E8A-4147-A177-3AD203B41FA5}">
                          <a16:colId xmlns:a16="http://schemas.microsoft.com/office/drawing/2014/main" val="2232661565"/>
                        </a:ext>
                      </a:extLst>
                    </a:gridCol>
                    <a:gridCol w="640080">
                      <a:extLst>
                        <a:ext uri="{9D8B030D-6E8A-4147-A177-3AD203B41FA5}">
                          <a16:colId xmlns:a16="http://schemas.microsoft.com/office/drawing/2014/main" val="3297454400"/>
                        </a:ext>
                      </a:extLst>
                    </a:gridCol>
                    <a:gridCol w="640080">
                      <a:extLst>
                        <a:ext uri="{9D8B030D-6E8A-4147-A177-3AD203B41FA5}">
                          <a16:colId xmlns:a16="http://schemas.microsoft.com/office/drawing/2014/main" val="3078131080"/>
                        </a:ext>
                      </a:extLst>
                    </a:gridCol>
                    <a:gridCol w="640080">
                      <a:extLst>
                        <a:ext uri="{9D8B030D-6E8A-4147-A177-3AD203B41FA5}">
                          <a16:colId xmlns:a16="http://schemas.microsoft.com/office/drawing/2014/main" val="1873949250"/>
                        </a:ext>
                      </a:extLst>
                    </a:gridCol>
                    <a:gridCol w="640080">
                      <a:extLst>
                        <a:ext uri="{9D8B030D-6E8A-4147-A177-3AD203B41FA5}">
                          <a16:colId xmlns:a16="http://schemas.microsoft.com/office/drawing/2014/main" val="2859897543"/>
                        </a:ext>
                      </a:extLst>
                    </a:gridCol>
                    <a:gridCol w="640080">
                      <a:extLst>
                        <a:ext uri="{9D8B030D-6E8A-4147-A177-3AD203B41FA5}">
                          <a16:colId xmlns:a16="http://schemas.microsoft.com/office/drawing/2014/main" val="263716799"/>
                        </a:ext>
                      </a:extLst>
                    </a:gridCol>
                  </a:tblGrid>
                  <a:tr h="367509">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0.20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35280">
                    <a:tc>
                      <a:txBody>
                        <a:bodyPr/>
                        <a:lstStyle/>
                        <a:p>
                          <a:endParaRPr 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20000" r="-185337" b="-41818"/>
                          </a:stretch>
                        </a:blipFill>
                      </a:tcPr>
                    </a:tc>
                    <a:tc>
                      <a:txBody>
                        <a:bodyPr/>
                        <a:lstStyle/>
                        <a:p>
                          <a:pPr algn="ctr" fontAlgn="b"/>
                          <a:r>
                            <a:rPr lang="en-US" sz="1800" b="0" i="0" u="none" strike="noStrike" dirty="0">
                              <a:solidFill>
                                <a:srgbClr val="000000"/>
                              </a:solidFill>
                              <a:effectLst/>
                              <a:latin typeface="Calibri" panose="020F0502020204030204" pitchFamily="34" charset="0"/>
                            </a:rPr>
                            <a:t>.847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1.294</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1.667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1.995</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2.382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2.649</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198852"/>
                <a:ext cx="10484504" cy="2574267"/>
              </a:xfrm>
            </p:spPr>
            <p:txBody>
              <a:bodyPr>
                <a:noAutofit/>
              </a:bodyPr>
              <a:lstStyle/>
              <a:p>
                <a:pPr>
                  <a:lnSpc>
                    <a:spcPct val="100000"/>
                  </a:lnSpc>
                  <a:spcBef>
                    <a:spcPts val="600"/>
                  </a:spcBef>
                  <a:spcAft>
                    <a:spcPts val="0"/>
                  </a:spcAft>
                </a:pPr>
                <a:r>
                  <a:rPr lang="en-US" sz="2000" dirty="0"/>
                  <a:t>Alternatively, the Excel equation =T.INV(1−0.025,69) will also generate the value 1.995.</a:t>
                </a:r>
              </a:p>
              <a:p>
                <a:pPr>
                  <a:lnSpc>
                    <a:spcPct val="100000"/>
                  </a:lnSpc>
                  <a:spcBef>
                    <a:spcPts val="600"/>
                  </a:spcBef>
                  <a:spcAft>
                    <a:spcPts val="600"/>
                  </a:spcAft>
                </a:pPr>
                <a:r>
                  <a:rPr lang="en-US" sz="2000" dirty="0"/>
                  <a:t>We can now compute an interval estimate of the population mean credit card balance as: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rPr>
                        <m:t>9</m:t>
                      </m:r>
                      <m:r>
                        <a:rPr lang="en-US" sz="2000" b="0" i="1" smtClean="0">
                          <a:latin typeface="Cambria Math" panose="02040503050406030204" pitchFamily="18" charset="0"/>
                          <a:ea typeface="Cambria Math" panose="02040503050406030204" pitchFamily="18" charset="0"/>
                        </a:rPr>
                        <m:t>312</m:t>
                      </m:r>
                      <m:r>
                        <a:rPr lang="en-US" sz="200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.995</m:t>
                      </m:r>
                      <m:f>
                        <m:fPr>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4007</m:t>
                          </m:r>
                        </m:num>
                        <m:den>
                          <m:rad>
                            <m:radPr>
                              <m:degHide m:val="on"/>
                              <m:ctrlPr>
                                <a:rPr lang="en-US" sz="200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70</m:t>
                              </m:r>
                            </m:e>
                          </m:rad>
                        </m:den>
                      </m:f>
                      <m:r>
                        <a:rPr lang="en-US" sz="2000" b="0" i="1" smtClean="0">
                          <a:latin typeface="Cambria Math" panose="02040503050406030204" pitchFamily="18" charset="0"/>
                          <a:ea typeface="Cambria Math" panose="02040503050406030204" pitchFamily="18"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or</m:t>
                      </m:r>
                      <m:r>
                        <a:rPr lang="en-US" sz="2000" b="0" i="1" smtClean="0">
                          <a:latin typeface="Cambria Math" panose="02040503050406030204" pitchFamily="18" charset="0"/>
                          <a:ea typeface="Cambria Math" panose="02040503050406030204" pitchFamily="18" charset="0"/>
                        </a:rPr>
                        <m:t>    9312</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955</m:t>
                      </m:r>
                    </m:oMath>
                  </m:oMathPara>
                </a14:m>
                <a:endParaRPr lang="en-US" sz="2000" dirty="0"/>
              </a:p>
              <a:p>
                <a:pPr>
                  <a:lnSpc>
                    <a:spcPct val="100000"/>
                  </a:lnSpc>
                  <a:spcBef>
                    <a:spcPts val="600"/>
                  </a:spcBef>
                  <a:spcAft>
                    <a:spcPts val="0"/>
                  </a:spcAft>
                </a:pPr>
                <a:r>
                  <a:rPr lang="en-US" sz="2000" dirty="0"/>
                  <a:t>Where $9,312 is the point estimate of the population mean and $955 the margin of error.</a:t>
                </a:r>
              </a:p>
              <a:p>
                <a:pPr>
                  <a:lnSpc>
                    <a:spcPct val="100000"/>
                  </a:lnSpc>
                  <a:spcBef>
                    <a:spcPts val="600"/>
                  </a:spcBef>
                  <a:spcAft>
                    <a:spcPts val="0"/>
                  </a:spcAft>
                </a:pPr>
                <a:r>
                  <a:rPr lang="en-US" sz="2000" dirty="0"/>
                  <a:t>Thus, we are 95% confident that the mean credit card balance for the population of all households is between </a:t>
                </a:r>
                <a14:m>
                  <m:oMath xmlns:m="http://schemas.openxmlformats.org/officeDocument/2006/math">
                    <m:r>
                      <a:rPr lang="en-US" sz="2000" b="0" i="1" smtClean="0">
                        <a:latin typeface="Cambria Math" panose="02040503050406030204" pitchFamily="18" charset="0"/>
                        <a:ea typeface="Cambria Math" panose="02040503050406030204" pitchFamily="18" charset="0"/>
                      </a:rPr>
                      <m:t>9312−955=$8,357</m:t>
                    </m:r>
                  </m:oMath>
                </a14:m>
                <a:r>
                  <a:rPr lang="en-US" sz="2000" dirty="0"/>
                  <a:t> and </a:t>
                </a:r>
                <a14:m>
                  <m:oMath xmlns:m="http://schemas.openxmlformats.org/officeDocument/2006/math">
                    <m:r>
                      <a:rPr lang="en-US" sz="2000" i="1">
                        <a:latin typeface="Cambria Math" panose="02040503050406030204" pitchFamily="18" charset="0"/>
                        <a:ea typeface="Cambria Math" panose="02040503050406030204" pitchFamily="18" charset="0"/>
                      </a:rPr>
                      <m:t>9312</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955=$</m:t>
                    </m:r>
                    <m:r>
                      <a:rPr lang="en-US" sz="2000" b="0" i="1" smtClean="0">
                        <a:latin typeface="Cambria Math" panose="02040503050406030204" pitchFamily="18" charset="0"/>
                        <a:ea typeface="Cambria Math" panose="02040503050406030204" pitchFamily="18" charset="0"/>
                      </a:rPr>
                      <m:t>10,267</m:t>
                    </m:r>
                  </m:oMath>
                </a14:m>
                <a:r>
                  <a:rPr lang="en-US" sz="2000" dirty="0"/>
                  <a:t>.</a:t>
                </a: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198852"/>
                <a:ext cx="10484504" cy="2574267"/>
              </a:xfrm>
              <a:blipFill>
                <a:blip r:embed="rId5"/>
                <a:stretch>
                  <a:fillRect l="-1513" t="-2844" b="-4502"/>
                </a:stretch>
              </a:blipFill>
            </p:spPr>
            <p:txBody>
              <a:bodyPr/>
              <a:lstStyle/>
              <a:p>
                <a:r>
                  <a:rPr lang="en-US">
                    <a:noFill/>
                  </a:rPr>
                  <a:t> </a:t>
                </a:r>
              </a:p>
            </p:txBody>
          </p:sp>
        </mc:Fallback>
      </mc:AlternateContent>
    </p:spTree>
    <p:extLst>
      <p:ext uri="{BB962C8B-B14F-4D97-AF65-F5344CB8AC3E}">
        <p14:creationId xmlns:p14="http://schemas.microsoft.com/office/powerpoint/2010/main" val="2559412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sz="3200" dirty="0">
                <a:solidFill>
                  <a:srgbClr val="25894E"/>
                </a:solidFill>
              </a:rPr>
              <a:t>8.2 Excel: Compute a 95% Margin or Error Using the Descriptive Statistics Tool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7" y="1343025"/>
            <a:ext cx="10704846" cy="717635"/>
          </a:xfrm>
        </p:spPr>
        <p:txBody>
          <a:bodyPr/>
          <a:lstStyle/>
          <a:p>
            <a:r>
              <a:rPr lang="en-US" sz="2000" b="1" dirty="0"/>
              <a:t>Enter/Access Data</a:t>
            </a:r>
            <a:r>
              <a:rPr lang="en-US" sz="2000" dirty="0"/>
              <a:t>: Open the file </a:t>
            </a:r>
            <a:r>
              <a:rPr lang="en-US" sz="2000" i="1" dirty="0" err="1"/>
              <a:t>newbalance</a:t>
            </a:r>
            <a:r>
              <a:rPr lang="en-US" sz="2000" dirty="0"/>
              <a:t>.</a:t>
            </a:r>
          </a:p>
          <a:p>
            <a:r>
              <a:rPr lang="en-US" sz="2000" b="1" dirty="0"/>
              <a:t>Apply Tools</a:t>
            </a:r>
            <a:r>
              <a:rPr lang="en-US" sz="2000" dirty="0"/>
              <a:t>: Follow these steps in the Descriptive Statistics dialog box.</a:t>
            </a:r>
          </a:p>
        </p:txBody>
      </p:sp>
      <p:sp>
        <p:nvSpPr>
          <p:cNvPr id="4" name="Text Placeholder 3">
            <a:extLst>
              <a:ext uri="{FF2B5EF4-FFF2-40B4-BE49-F238E27FC236}">
                <a16:creationId xmlns:a16="http://schemas.microsoft.com/office/drawing/2014/main" id="{4792A5DD-B984-0EC7-2899-6D8CF34B94C3}"/>
              </a:ext>
            </a:extLst>
          </p:cNvPr>
          <p:cNvSpPr>
            <a:spLocks noGrp="1"/>
          </p:cNvSpPr>
          <p:nvPr>
            <p:ph type="body" sz="quarter" idx="17"/>
          </p:nvPr>
        </p:nvSpPr>
        <p:spPr>
          <a:xfrm>
            <a:off x="743576" y="2060660"/>
            <a:ext cx="6007267" cy="3959225"/>
          </a:xfrm>
        </p:spPr>
        <p:txBody>
          <a:bodyPr/>
          <a:lstStyle/>
          <a:p>
            <a:pPr marL="914400" indent="-800100"/>
            <a:r>
              <a:rPr lang="en-US" sz="1800" b="1" dirty="0"/>
              <a:t>Step 1</a:t>
            </a:r>
            <a:r>
              <a:rPr lang="en-US" sz="1800" dirty="0"/>
              <a:t>. Click the </a:t>
            </a:r>
            <a:r>
              <a:rPr lang="en-US" sz="1800" b="1" dirty="0"/>
              <a:t>Data</a:t>
            </a:r>
            <a:r>
              <a:rPr lang="en-US" sz="1800" dirty="0"/>
              <a:t> tab on the Ribbon</a:t>
            </a:r>
          </a:p>
          <a:p>
            <a:pPr marL="914400" indent="-800100">
              <a:spcBef>
                <a:spcPts val="300"/>
              </a:spcBef>
            </a:pPr>
            <a:r>
              <a:rPr lang="en-US" sz="1800" b="1" dirty="0"/>
              <a:t>Step 2</a:t>
            </a:r>
            <a:r>
              <a:rPr lang="en-US" sz="1800" dirty="0"/>
              <a:t>. In </a:t>
            </a:r>
            <a:r>
              <a:rPr lang="en-US" sz="1800"/>
              <a:t>the </a:t>
            </a:r>
            <a:r>
              <a:rPr lang="en-US" sz="1800" b="1"/>
              <a:t>Analyze</a:t>
            </a:r>
            <a:r>
              <a:rPr lang="en-US" sz="1800"/>
              <a:t> </a:t>
            </a:r>
            <a:r>
              <a:rPr lang="en-US" sz="1800" dirty="0"/>
              <a:t>group, click </a:t>
            </a:r>
            <a:r>
              <a:rPr lang="en-US" sz="1800" b="1" dirty="0"/>
              <a:t>Data Analysis</a:t>
            </a:r>
          </a:p>
          <a:p>
            <a:pPr marL="914400" indent="-800100">
              <a:spcBef>
                <a:spcPts val="300"/>
              </a:spcBef>
            </a:pPr>
            <a:r>
              <a:rPr lang="en-US" sz="1800" b="1" dirty="0"/>
              <a:t>Step 3</a:t>
            </a:r>
            <a:r>
              <a:rPr lang="en-US" sz="1800" dirty="0"/>
              <a:t>. Choose </a:t>
            </a:r>
            <a:r>
              <a:rPr lang="en-US" sz="1800" b="1" dirty="0"/>
              <a:t>Descriptive Statistics </a:t>
            </a:r>
            <a:r>
              <a:rPr lang="en-US" sz="1800" dirty="0"/>
              <a:t>from the list of </a:t>
            </a:r>
            <a:r>
              <a:rPr lang="en-US" sz="1800" b="1" dirty="0"/>
              <a:t>Analysis Tools</a:t>
            </a:r>
          </a:p>
          <a:p>
            <a:pPr marL="914400" indent="-800100">
              <a:spcBef>
                <a:spcPts val="300"/>
              </a:spcBef>
            </a:pPr>
            <a:r>
              <a:rPr lang="en-US" sz="1800" b="1" dirty="0"/>
              <a:t>Step 4</a:t>
            </a:r>
            <a:r>
              <a:rPr lang="en-US" sz="1800" dirty="0"/>
              <a:t>. In the </a:t>
            </a:r>
            <a:r>
              <a:rPr lang="en-US" sz="1800" b="1" dirty="0"/>
              <a:t>Descriptive Statistics </a:t>
            </a:r>
            <a:r>
              <a:rPr lang="en-US" sz="1800" dirty="0"/>
              <a:t>dialog box:</a:t>
            </a:r>
          </a:p>
          <a:p>
            <a:pPr marL="1143000">
              <a:spcBef>
                <a:spcPts val="300"/>
              </a:spcBef>
            </a:pPr>
            <a:r>
              <a:rPr lang="en-US" sz="1800" dirty="0"/>
              <a:t>Enter A1:A71 in the </a:t>
            </a:r>
            <a:r>
              <a:rPr lang="en-US" sz="1800" b="1" dirty="0"/>
              <a:t>Input Range: </a:t>
            </a:r>
            <a:r>
              <a:rPr lang="en-US" sz="1800" dirty="0"/>
              <a:t>box</a:t>
            </a:r>
          </a:p>
          <a:p>
            <a:pPr marL="1143000">
              <a:spcBef>
                <a:spcPts val="300"/>
              </a:spcBef>
            </a:pPr>
            <a:r>
              <a:rPr lang="en-US" sz="1800" dirty="0"/>
              <a:t>Select the check box for </a:t>
            </a:r>
            <a:r>
              <a:rPr lang="en-US" sz="1800" b="1" dirty="0"/>
              <a:t>Labels in First Row</a:t>
            </a:r>
            <a:endParaRPr lang="en-US" sz="1800" dirty="0"/>
          </a:p>
          <a:p>
            <a:pPr marL="1143000">
              <a:spcBef>
                <a:spcPts val="300"/>
              </a:spcBef>
            </a:pPr>
            <a:r>
              <a:rPr lang="en-US" sz="1800" dirty="0"/>
              <a:t>In the </a:t>
            </a:r>
            <a:r>
              <a:rPr lang="en-US" sz="1800" b="1" dirty="0"/>
              <a:t>Output Options </a:t>
            </a:r>
            <a:r>
              <a:rPr lang="en-US" sz="1800" dirty="0"/>
              <a:t>area:</a:t>
            </a:r>
          </a:p>
          <a:p>
            <a:pPr marL="1371600">
              <a:spcBef>
                <a:spcPts val="300"/>
              </a:spcBef>
            </a:pPr>
            <a:r>
              <a:rPr lang="en-US" sz="1800" dirty="0"/>
              <a:t>Select </a:t>
            </a:r>
            <a:r>
              <a:rPr lang="en-US" sz="1800" b="1" dirty="0"/>
              <a:t>Output Range</a:t>
            </a:r>
            <a:r>
              <a:rPr lang="en-US" sz="1800" dirty="0"/>
              <a:t>: and enter C1</a:t>
            </a:r>
          </a:p>
          <a:p>
            <a:pPr marL="1371600">
              <a:spcBef>
                <a:spcPts val="300"/>
              </a:spcBef>
            </a:pPr>
            <a:r>
              <a:rPr lang="en-US" sz="1800" dirty="0"/>
              <a:t>Select the check box for </a:t>
            </a:r>
            <a:r>
              <a:rPr lang="en-US" sz="1800" b="1" dirty="0"/>
              <a:t>Summary Statistics </a:t>
            </a:r>
            <a:r>
              <a:rPr lang="en-US" sz="1800" dirty="0"/>
              <a:t>Select the check box for </a:t>
            </a:r>
            <a:r>
              <a:rPr lang="en-US" sz="1800" b="1" dirty="0"/>
              <a:t>Confidence Level for Mean: </a:t>
            </a:r>
            <a:r>
              <a:rPr lang="en-US" sz="1800" dirty="0"/>
              <a:t>and enter 95</a:t>
            </a:r>
          </a:p>
          <a:p>
            <a:pPr marL="1371600">
              <a:spcBef>
                <a:spcPts val="300"/>
              </a:spcBef>
            </a:pPr>
            <a:r>
              <a:rPr lang="en-US" sz="1800" dirty="0"/>
              <a:t>Click </a:t>
            </a:r>
            <a:r>
              <a:rPr lang="en-US" sz="1800" b="1" dirty="0"/>
              <a:t>OK</a:t>
            </a:r>
          </a:p>
        </p:txBody>
      </p:sp>
      <p:pic>
        <p:nvPicPr>
          <p:cNvPr id="7" name="Picture Placeholder 6" descr="A Descriptive Statistics dialog box is opened to the right of the spreadsheet. In the Input tab, The text box for Input Range reads $A$1:$A$71. An increase button is to the right of the text box. The options for Grouped by are Columns and Rows. The columns option is selected. The checkbox for Labels in the first row is checked. Under Output options, there are three options Output Range, New Worksheet Ply, and New Workbook. The Output Range option is selected. The text box for Output Range reads $C$1. An increase button is to the right of the text box. The disabled text box for New Worksheet Ply is blank. There are four checkboxes below: Summary statistics, Confidence Level for Mean, Kth Largest, and Kth Smallest. The Summary statistics and Confidence Level for Mean checkboxs are checked. The disabled text boxes for Kth largest reads 1, and Kth smallest reads 1. There are three buttons at the top right: OK, Cancel, and Help. The OK button is selected.">
            <a:extLst>
              <a:ext uri="{FF2B5EF4-FFF2-40B4-BE49-F238E27FC236}">
                <a16:creationId xmlns:a16="http://schemas.microsoft.com/office/drawing/2014/main" id="{33A8F4C6-6134-75FD-9199-FA8C2855E044}"/>
              </a:ext>
            </a:extLst>
          </p:cNvPr>
          <p:cNvPicPr>
            <a:picLocks noGrp="1" noChangeAspect="1"/>
          </p:cNvPicPr>
          <p:nvPr>
            <p:ph type="pic" sz="quarter" idx="16"/>
          </p:nvPr>
        </p:nvPicPr>
        <p:blipFill>
          <a:blip r:embed="rId2"/>
          <a:srcRect t="59" b="59"/>
          <a:stretch/>
        </p:blipFill>
        <p:spPr>
          <a:xfrm>
            <a:off x="6811231" y="2185988"/>
            <a:ext cx="4542569" cy="3833897"/>
          </a:xfrm>
          <a:ln>
            <a:solidFill>
              <a:srgbClr val="000000"/>
            </a:solidFill>
          </a:ln>
        </p:spPr>
      </p:pic>
    </p:spTree>
    <p:extLst>
      <p:ext uri="{BB962C8B-B14F-4D97-AF65-F5344CB8AC3E}">
        <p14:creationId xmlns:p14="http://schemas.microsoft.com/office/powerpoint/2010/main" val="1635511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8.2 Excel: Construct a 95% Confidence Interval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8" y="1180496"/>
                <a:ext cx="5578642" cy="4737611"/>
              </a:xfrm>
            </p:spPr>
            <p:txBody>
              <a:bodyPr/>
              <a:lstStyle/>
              <a:p>
                <a:r>
                  <a:rPr lang="en-US" sz="2000" dirty="0"/>
                  <a:t>The Descriptive statistics tool provided the following statistics:</a:t>
                </a:r>
              </a:p>
              <a:p>
                <a:pPr marL="457200" indent="-342900">
                  <a:buFont typeface="Arial" panose="020B0604020202020204" pitchFamily="34" charset="0"/>
                  <a:buChar char="•"/>
                </a:pPr>
                <a:r>
                  <a:rPr lang="en-US" sz="2000" dirty="0"/>
                  <a:t>The sample mean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=9,312</m:t>
                    </m:r>
                  </m:oMath>
                </a14:m>
                <a:r>
                  <a:rPr lang="en-US" sz="2000" dirty="0"/>
                  <a:t>) in cell D3. </a:t>
                </a:r>
              </a:p>
              <a:p>
                <a:pPr marL="457200" indent="-342900">
                  <a:buFont typeface="Arial" panose="020B0604020202020204" pitchFamily="34" charset="0"/>
                  <a:buChar char="•"/>
                </a:pPr>
                <a:r>
                  <a:rPr lang="en-US" sz="2000" dirty="0"/>
                  <a:t>The margin of error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𝑡</m:t>
                        </m:r>
                      </m:e>
                      <m:sub>
                        <m:f>
                          <m:fPr>
                            <m:type m:val="lin"/>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ea typeface="Cambria Math" panose="02040503050406030204" pitchFamily="18" charset="0"/>
                              </a:rPr>
                              <m:t>2</m:t>
                            </m:r>
                          </m:den>
                        </m:f>
                      </m:sub>
                    </m:sSub>
                    <m:f>
                      <m:fPr>
                        <m:type m:val="lin"/>
                        <m:ctrlPr>
                          <a:rPr lang="en-US" sz="200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𝑠</m:t>
                        </m:r>
                      </m:num>
                      <m:den>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𝑛</m:t>
                            </m:r>
                          </m:e>
                        </m:rad>
                      </m:den>
                    </m:f>
                    <m:r>
                      <a:rPr lang="en-US" sz="2000" b="0" i="1" smtClean="0">
                        <a:latin typeface="Cambria Math" panose="02040503050406030204" pitchFamily="18" charset="0"/>
                        <a:ea typeface="Cambria Math" panose="02040503050406030204" pitchFamily="18" charset="0"/>
                      </a:rPr>
                      <m:t>=955.435</m:t>
                    </m:r>
                  </m:oMath>
                </a14:m>
                <a:r>
                  <a:rPr lang="en-US" sz="2000" dirty="0"/>
                  <a:t>), labeled Confidence Level (95%), in cell D16. </a:t>
                </a:r>
              </a:p>
              <a:p>
                <a:pPr marL="457200" indent="-342900">
                  <a:buFont typeface="Arial" panose="020B0604020202020204" pitchFamily="34" charset="0"/>
                  <a:buChar char="•"/>
                </a:pPr>
                <a:r>
                  <a:rPr lang="en-US" sz="2000" dirty="0"/>
                  <a:t>Because the point estimate is just the sample mean, the formula =D3 is entered in cell D18.</a:t>
                </a:r>
              </a:p>
              <a:p>
                <a:pPr>
                  <a:spcBef>
                    <a:spcPts val="1200"/>
                  </a:spcBef>
                </a:pPr>
                <a:r>
                  <a:rPr lang="en-US" sz="2000" b="1" dirty="0"/>
                  <a:t>Enter Functions and Formulas</a:t>
                </a:r>
                <a:r>
                  <a:rPr lang="en-US" sz="2000" dirty="0"/>
                  <a:t>: Cells D18:D20 provide the following values to compute the confidence interval:</a:t>
                </a:r>
              </a:p>
              <a:p>
                <a:pPr marL="457200" indent="-342900">
                  <a:buFont typeface="Arial" panose="020B0604020202020204" pitchFamily="34" charset="0"/>
                  <a:buChar char="•"/>
                </a:pPr>
                <a:r>
                  <a:rPr lang="en-US" sz="2000" dirty="0"/>
                  <a:t>The point estimate (9,312) in cell D18</a:t>
                </a:r>
              </a:p>
              <a:p>
                <a:pPr marL="457200" indent="-342900">
                  <a:buFont typeface="Arial" panose="020B0604020202020204" pitchFamily="34" charset="0"/>
                  <a:buChar char="•"/>
                </a:pPr>
                <a:r>
                  <a:rPr lang="en-US" sz="2000" dirty="0"/>
                  <a:t>The lower limit (8356.565) in cell D19</a:t>
                </a:r>
              </a:p>
              <a:p>
                <a:pPr marL="457200" indent="-342900">
                  <a:buFont typeface="Arial" panose="020B0604020202020204" pitchFamily="34" charset="0"/>
                  <a:buChar char="•"/>
                </a:pPr>
                <a:r>
                  <a:rPr lang="en-US" sz="2000" dirty="0"/>
                  <a:t>The upper limit (10267.435) in cell D20</a:t>
                </a:r>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43578" y="1180496"/>
                <a:ext cx="5578642" cy="4737611"/>
              </a:xfrm>
              <a:blipFill>
                <a:blip r:embed="rId2"/>
                <a:stretch>
                  <a:fillRect l="-2842" t="-1544" r="-3497" b="-386"/>
                </a:stretch>
              </a:blipFill>
            </p:spPr>
            <p:txBody>
              <a:bodyPr/>
              <a:lstStyle/>
              <a:p>
                <a:r>
                  <a:rPr lang="en-US">
                    <a:noFill/>
                  </a:rPr>
                  <a:t> </a:t>
                </a:r>
              </a:p>
            </p:txBody>
          </p:sp>
        </mc:Fallback>
      </mc:AlternateContent>
      <p:pic>
        <p:nvPicPr>
          <p:cNvPr id="8" name="Picture Placeholder 7" descr="Two screenshots of Excel spreadsheets show data for the new balance. In both spreadsheets, column A is labeled new balance. The row entries are as follows. Row 2: 9430. Row 3: 7535. Row 4: 4078. Row 5: 5604. Row 6: 5179. Row 7: 4416. Row 8: 10676. Row 9: 1627. Row 10: 10112. Row 11: 6567. Row 12: 13627. Row 13: 18719. Row 14: 14661. Row 15: 12195. Row 16: 10544. Row 17: 13659. Row 18: 7061. Row 19: 6245. Row 20: 13021. Row 70: 9743. Row 71: 10324. In the first spreadsheet, the data for new balance under columns C and D in rows 3 through 16 are as follows. Mean: 9312. Standard error: 478.928085819952. Median: 9466. Mode: 13627. Standard deviation: 4006.99984990035. Sample variance: 16056047.7971014. Kurtosis: Negative 0.296002497492274. Skewness: 0.187919587444176. Range: 18648. Minimum: 615. Maximum: 19263. Sum: 651840. Count: 70. Confidence level (95.0%): 955.435388972598. The entries under the table are as follows. C 18: Point estimate. D 18: =D 3. C 19: Lower limit. D 19: =D 18 minus D 16. C 20: Upper limit. D 20: =D 18 + D 16. In the second spreadsheet, the data for new balance under columns C and D in rows 3 through 16 are as follows. Mean: 9312. 9312 is labeled point estimate. Standard error: 478.9280858. Median: 9466. Mode: 13627. Standard deviation: 4006.99985. Sample variance: 16056047.8. Kurtosis: Negative 0.296002497. Skewness: 0.187919587. Range: 18648. Minimum: 615. Maximum: 19263. Sum: 651840. Count: 70. Confidence level (95.0%): 955.435389. This is labeled margin of error. The entries under the table are as follows. C 18: Point estimate. D 18: 9312. C 19: Lower limit. D 19: 8356.564611. C 20: Upper limit. D 20: 10267.43539.">
            <a:extLst>
              <a:ext uri="{FF2B5EF4-FFF2-40B4-BE49-F238E27FC236}">
                <a16:creationId xmlns:a16="http://schemas.microsoft.com/office/drawing/2014/main" id="{28011498-7960-3173-BE79-9E0D77A5F50F}"/>
              </a:ext>
            </a:extLst>
          </p:cNvPr>
          <p:cNvPicPr>
            <a:picLocks noGrp="1" noChangeAspect="1"/>
          </p:cNvPicPr>
          <p:nvPr>
            <p:ph type="pic" sz="quarter" idx="16"/>
          </p:nvPr>
        </p:nvPicPr>
        <p:blipFill>
          <a:blip r:embed="rId3"/>
          <a:srcRect l="16" r="16"/>
          <a:stretch/>
        </p:blipFill>
        <p:spPr>
          <a:xfrm>
            <a:off x="6479381" y="1180496"/>
            <a:ext cx="4874419" cy="4750703"/>
          </a:xfrm>
          <a:ln>
            <a:solidFill>
              <a:srgbClr val="000000"/>
            </a:solidFill>
          </a:ln>
        </p:spPr>
      </p:pic>
    </p:spTree>
    <p:extLst>
      <p:ext uri="{BB962C8B-B14F-4D97-AF65-F5344CB8AC3E}">
        <p14:creationId xmlns:p14="http://schemas.microsoft.com/office/powerpoint/2010/main" val="2348971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4FBBD-99D4-81C7-4700-72D6BCC3F477}"/>
              </a:ext>
            </a:extLst>
          </p:cNvPr>
          <p:cNvSpPr>
            <a:spLocks noGrp="1"/>
          </p:cNvSpPr>
          <p:nvPr>
            <p:ph type="title"/>
          </p:nvPr>
        </p:nvSpPr>
        <p:spPr/>
        <p:txBody>
          <a:bodyPr/>
          <a:lstStyle/>
          <a:p>
            <a:r>
              <a:rPr lang="en-US" dirty="0"/>
              <a:t>8.2 Practical Advice</a:t>
            </a:r>
          </a:p>
        </p:txBody>
      </p:sp>
      <p:sp>
        <p:nvSpPr>
          <p:cNvPr id="3" name="Text Placeholder 2">
            <a:extLst>
              <a:ext uri="{FF2B5EF4-FFF2-40B4-BE49-F238E27FC236}">
                <a16:creationId xmlns:a16="http://schemas.microsoft.com/office/drawing/2014/main" id="{B9D7A92E-86C8-8EE0-A719-15B6D06C2757}"/>
              </a:ext>
            </a:extLst>
          </p:cNvPr>
          <p:cNvSpPr>
            <a:spLocks noGrp="1"/>
          </p:cNvSpPr>
          <p:nvPr>
            <p:ph type="body" sz="quarter" idx="15"/>
          </p:nvPr>
        </p:nvSpPr>
        <p:spPr>
          <a:xfrm>
            <a:off x="740228" y="1263930"/>
            <a:ext cx="10711543" cy="348047"/>
          </a:xfrm>
        </p:spPr>
        <p:txBody>
          <a:bodyPr/>
          <a:lstStyle/>
          <a:p>
            <a:r>
              <a:rPr lang="en-US" dirty="0"/>
              <a:t>Adequate Sample Size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4B79521-4103-D3FA-7030-6BA4EBA8BF58}"/>
                  </a:ext>
                </a:extLst>
              </p:cNvPr>
              <p:cNvSpPr>
                <a:spLocks noGrp="1"/>
              </p:cNvSpPr>
              <p:nvPr>
                <p:ph type="body" sz="quarter" idx="18"/>
              </p:nvPr>
            </p:nvSpPr>
            <p:spPr>
              <a:xfrm>
                <a:off x="740228" y="1687558"/>
                <a:ext cx="10711543" cy="3858320"/>
              </a:xfrm>
            </p:spPr>
            <p:txBody>
              <a:bodyPr/>
              <a:lstStyle/>
              <a:p>
                <a:r>
                  <a:rPr lang="en-US" sz="2000" dirty="0"/>
                  <a:t>The sampling distribution of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oMath>
                </a14:m>
                <a:r>
                  <a:rPr lang="en-US" sz="2000" dirty="0"/>
                  <a:t> is normal if the underlying population distribution is normal; otherwise, a sample size of </a:t>
                </a:r>
                <a:r>
                  <a:rPr lang="en-US" sz="2000" i="1" dirty="0"/>
                  <a:t>n</a:t>
                </a:r>
                <a:r>
                  <a:rPr lang="en-US" sz="2000" dirty="0"/>
                  <a:t> ≥ 30 is required.</a:t>
                </a:r>
              </a:p>
              <a:p>
                <a:r>
                  <a:rPr lang="en-US" sz="2000" dirty="0"/>
                  <a:t>If the population distribution is highly skewed or contains outliers, a sample size of 50 or more is recommended.</a:t>
                </a:r>
              </a:p>
              <a:p>
                <a:r>
                  <a:rPr lang="en-US" sz="2000" dirty="0"/>
                  <a:t>If the population is not normally distributed but is roughly symmetric, a sample size as small as 15 will suffice.</a:t>
                </a:r>
              </a:p>
              <a:p>
                <a:r>
                  <a:rPr lang="en-US" sz="2000" dirty="0"/>
                  <a:t>If the population is believed to be at least approximately normal, a sample size of less than 15 can be used.</a:t>
                </a:r>
              </a:p>
              <a:p>
                <a:r>
                  <a:rPr lang="en-US" sz="2000" dirty="0"/>
                  <a:t>For small sample sizes, a histogram of the sample data should be built to learn about the shape of the population distribution.</a:t>
                </a:r>
              </a:p>
            </p:txBody>
          </p:sp>
        </mc:Choice>
        <mc:Fallback xmlns="">
          <p:sp>
            <p:nvSpPr>
              <p:cNvPr id="4" name="Text Placeholder 3">
                <a:extLst>
                  <a:ext uri="{FF2B5EF4-FFF2-40B4-BE49-F238E27FC236}">
                    <a16:creationId xmlns:a16="http://schemas.microsoft.com/office/drawing/2014/main" id="{F4B79521-4103-D3FA-7030-6BA4EBA8BF58}"/>
                  </a:ext>
                </a:extLst>
              </p:cNvPr>
              <p:cNvSpPr>
                <a:spLocks noGrp="1" noRot="1" noChangeAspect="1" noMove="1" noResize="1" noEditPoints="1" noAdjustHandles="1" noChangeArrowheads="1" noChangeShapeType="1" noTextEdit="1"/>
              </p:cNvSpPr>
              <p:nvPr>
                <p:ph type="body" sz="quarter" idx="18"/>
              </p:nvPr>
            </p:nvSpPr>
            <p:spPr>
              <a:xfrm>
                <a:off x="740228" y="1687558"/>
                <a:ext cx="10711543" cy="3858320"/>
              </a:xfrm>
              <a:blipFill>
                <a:blip r:embed="rId2"/>
                <a:stretch>
                  <a:fillRect l="-1365" t="-2686" r="-967"/>
                </a:stretch>
              </a:blipFill>
            </p:spPr>
            <p:txBody>
              <a:bodyPr/>
              <a:lstStyle/>
              <a:p>
                <a:r>
                  <a:rPr lang="en-US">
                    <a:noFill/>
                  </a:rPr>
                  <a:t> </a:t>
                </a:r>
              </a:p>
            </p:txBody>
          </p:sp>
        </mc:Fallback>
      </mc:AlternateContent>
    </p:spTree>
    <p:extLst>
      <p:ext uri="{BB962C8B-B14F-4D97-AF65-F5344CB8AC3E}">
        <p14:creationId xmlns:p14="http://schemas.microsoft.com/office/powerpoint/2010/main" val="991636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78A2-7D01-F7EF-ACF8-4B9CA8DD9BBF}"/>
              </a:ext>
            </a:extLst>
          </p:cNvPr>
          <p:cNvSpPr>
            <a:spLocks noGrp="1"/>
          </p:cNvSpPr>
          <p:nvPr>
            <p:ph type="title"/>
          </p:nvPr>
        </p:nvSpPr>
        <p:spPr>
          <a:xfrm>
            <a:off x="683940" y="365125"/>
            <a:ext cx="10786043" cy="672105"/>
          </a:xfrm>
        </p:spPr>
        <p:txBody>
          <a:bodyPr/>
          <a:lstStyle/>
          <a:p>
            <a:r>
              <a:rPr lang="en-US" dirty="0"/>
              <a:t>8.2 Summary of Interval Estimation Procedures for </a:t>
            </a:r>
            <a:r>
              <a:rPr lang="en-US" i="1" dirty="0">
                <a:latin typeface="Symbol" panose="05050102010706020507" pitchFamily="18" charset="2"/>
              </a:rPr>
              <a:t>m</a:t>
            </a:r>
          </a:p>
        </p:txBody>
      </p:sp>
      <p:pic>
        <p:nvPicPr>
          <p:cNvPr id="5" name="Picture Placeholder 4" descr="A flowchart shows the summary of interval estimation procedures for a population mean with text. A diamond component, at the top center, shows the text, Can the population standard deviation sigma be assumed known? Two arrows from it point to two rectangles that read, in case of Yes and No. If yes, it points to a rectangle with the text, Use x-bar plus-minus z_alpha/2 (sigma/sqrt(n)). A text below reads Sigma known case. It no, it points to a rectangle with the text, Use the sample standard deviation s to estimate sigma. It points to another rectangle with the text, Use x-bar plus-minus t_alpha/2 (s/sqrt(n)). A text below reads Sigma unknown case.&#10;">
            <a:extLst>
              <a:ext uri="{FF2B5EF4-FFF2-40B4-BE49-F238E27FC236}">
                <a16:creationId xmlns:a16="http://schemas.microsoft.com/office/drawing/2014/main" id="{3B65831B-AC98-4F1F-DB0D-D6E443777664}"/>
              </a:ext>
            </a:extLst>
          </p:cNvPr>
          <p:cNvPicPr>
            <a:picLocks noGrp="1" noChangeAspect="1"/>
          </p:cNvPicPr>
          <p:nvPr>
            <p:ph type="pic" sz="quarter" idx="10"/>
          </p:nvPr>
        </p:nvPicPr>
        <p:blipFill rotWithShape="1">
          <a:blip r:embed="rId2"/>
          <a:srcRect l="11" r="11"/>
          <a:stretch/>
        </p:blipFill>
        <p:spPr>
          <a:xfrm>
            <a:off x="3197225" y="1246148"/>
            <a:ext cx="5797550" cy="4572000"/>
          </a:xfrm>
        </p:spPr>
      </p:pic>
    </p:spTree>
    <p:extLst>
      <p:ext uri="{BB962C8B-B14F-4D97-AF65-F5344CB8AC3E}">
        <p14:creationId xmlns:p14="http://schemas.microsoft.com/office/powerpoint/2010/main" val="3053519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59DC-6FC9-AFFD-8D5B-97CAD0B01525}"/>
              </a:ext>
            </a:extLst>
          </p:cNvPr>
          <p:cNvSpPr>
            <a:spLocks noGrp="1"/>
          </p:cNvSpPr>
          <p:nvPr>
            <p:ph type="title"/>
          </p:nvPr>
        </p:nvSpPr>
        <p:spPr>
          <a:xfrm>
            <a:off x="612828" y="365125"/>
            <a:ext cx="10966342" cy="672105"/>
          </a:xfrm>
        </p:spPr>
        <p:txBody>
          <a:bodyPr/>
          <a:lstStyle/>
          <a:p>
            <a:r>
              <a:rPr lang="en-US" dirty="0">
                <a:solidFill>
                  <a:srgbClr val="D14B1E"/>
                </a:solidFill>
              </a:rPr>
              <a:t>8.3 Determining the Sample Size</a:t>
            </a:r>
            <a:endParaRPr lang="en-US" i="1" dirty="0">
              <a:solidFill>
                <a:srgbClr val="D14B1E"/>
              </a:solidFill>
              <a:latin typeface="Symbol" panose="05050102010706020507" pitchFamily="18" charset="2"/>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69BB314-E737-AAC6-8961-545E7B21F547}"/>
                  </a:ext>
                </a:extLst>
              </p:cNvPr>
              <p:cNvSpPr>
                <a:spLocks noGrp="1"/>
              </p:cNvSpPr>
              <p:nvPr>
                <p:ph type="body" sz="quarter" idx="15"/>
              </p:nvPr>
            </p:nvSpPr>
            <p:spPr>
              <a:xfrm>
                <a:off x="740227" y="1460165"/>
                <a:ext cx="10711543" cy="4134723"/>
              </a:xfrm>
            </p:spPr>
            <p:txBody>
              <a:bodyPr>
                <a:normAutofit fontScale="25000" lnSpcReduction="20000"/>
              </a:bodyPr>
              <a:lstStyle/>
              <a:p>
                <a:pPr>
                  <a:lnSpc>
                    <a:spcPct val="120000"/>
                  </a:lnSpc>
                  <a:spcBef>
                    <a:spcPts val="600"/>
                  </a:spcBef>
                  <a:spcAft>
                    <a:spcPts val="0"/>
                  </a:spcAft>
                </a:pPr>
                <a:r>
                  <a:rPr lang="en-US" sz="8000" dirty="0"/>
                  <a:t>Given a desired the margin of error </a:t>
                </a:r>
                <a14:m>
                  <m:oMath xmlns:m="http://schemas.openxmlformats.org/officeDocument/2006/math">
                    <m:r>
                      <a:rPr lang="en-US" sz="8000" b="0" i="1" smtClean="0">
                        <a:latin typeface="Cambria Math" panose="02040503050406030204" pitchFamily="18" charset="0"/>
                      </a:rPr>
                      <m:t>𝐸</m:t>
                    </m:r>
                  </m:oMath>
                </a14:m>
                <a:r>
                  <a:rPr lang="en-US" sz="8000" dirty="0"/>
                  <a:t>, selected prior to sampling such that</a:t>
                </a:r>
              </a:p>
              <a:p>
                <a:pPr marL="914400">
                  <a:lnSpc>
                    <a:spcPct val="120000"/>
                  </a:lnSpc>
                  <a:spcBef>
                    <a:spcPts val="600"/>
                  </a:spcBef>
                  <a:spcAft>
                    <a:spcPts val="0"/>
                  </a:spcAft>
                </a:pPr>
                <a14:m>
                  <m:oMathPara xmlns:m="http://schemas.openxmlformats.org/officeDocument/2006/math">
                    <m:oMathParaPr>
                      <m:jc m:val="left"/>
                    </m:oMathParaPr>
                    <m:oMath xmlns:m="http://schemas.openxmlformats.org/officeDocument/2006/math">
                      <m:r>
                        <a:rPr lang="en-US" sz="8000" b="0" i="1" smtClean="0">
                          <a:latin typeface="Cambria Math" panose="02040503050406030204" pitchFamily="18" charset="0"/>
                        </a:rPr>
                        <m:t>𝐸</m:t>
                      </m:r>
                      <m:r>
                        <a:rPr lang="en-US" sz="8000" b="0" i="1" smtClean="0">
                          <a:latin typeface="Cambria Math" panose="02040503050406030204" pitchFamily="18" charset="0"/>
                        </a:rPr>
                        <m:t>=</m:t>
                      </m:r>
                      <m:sSub>
                        <m:sSubPr>
                          <m:ctrlPr>
                            <a:rPr lang="en-US" sz="8000" i="1">
                              <a:latin typeface="Cambria Math" panose="02040503050406030204" pitchFamily="18" charset="0"/>
                              <a:ea typeface="Cambria Math" panose="02040503050406030204" pitchFamily="18" charset="0"/>
                            </a:rPr>
                          </m:ctrlPr>
                        </m:sSubPr>
                        <m:e>
                          <m:r>
                            <a:rPr lang="en-US" sz="8000" i="1">
                              <a:latin typeface="Cambria Math" panose="02040503050406030204" pitchFamily="18" charset="0"/>
                              <a:ea typeface="Cambria Math" panose="02040503050406030204" pitchFamily="18" charset="0"/>
                            </a:rPr>
                            <m:t>𝑧</m:t>
                          </m:r>
                        </m:e>
                        <m:sub>
                          <m:f>
                            <m:fPr>
                              <m:type m:val="lin"/>
                              <m:ctrlPr>
                                <a:rPr lang="en-US" sz="8000" i="1">
                                  <a:latin typeface="Cambria Math" panose="02040503050406030204" pitchFamily="18" charset="0"/>
                                  <a:ea typeface="Cambria Math" panose="02040503050406030204" pitchFamily="18" charset="0"/>
                                </a:rPr>
                              </m:ctrlPr>
                            </m:fPr>
                            <m:num>
                              <m:r>
                                <a:rPr lang="en-US" sz="8000" i="1">
                                  <a:latin typeface="Cambria Math" panose="02040503050406030204" pitchFamily="18" charset="0"/>
                                  <a:ea typeface="Cambria Math" panose="02040503050406030204" pitchFamily="18" charset="0"/>
                                </a:rPr>
                                <m:t>𝛼</m:t>
                              </m:r>
                            </m:num>
                            <m:den>
                              <m:r>
                                <a:rPr lang="en-US" sz="8000" i="1">
                                  <a:latin typeface="Cambria Math" panose="02040503050406030204" pitchFamily="18" charset="0"/>
                                  <a:ea typeface="Cambria Math" panose="02040503050406030204" pitchFamily="18" charset="0"/>
                                </a:rPr>
                                <m:t>2</m:t>
                              </m:r>
                            </m:den>
                          </m:f>
                        </m:sub>
                      </m:sSub>
                      <m:f>
                        <m:fPr>
                          <m:ctrlPr>
                            <a:rPr lang="en-US" sz="8000" i="1">
                              <a:latin typeface="Cambria Math" panose="02040503050406030204" pitchFamily="18" charset="0"/>
                              <a:ea typeface="Cambria Math" panose="02040503050406030204" pitchFamily="18" charset="0"/>
                            </a:rPr>
                          </m:ctrlPr>
                        </m:fPr>
                        <m:num>
                          <m:r>
                            <a:rPr lang="en-US" sz="8000" i="1">
                              <a:latin typeface="Cambria Math" panose="02040503050406030204" pitchFamily="18" charset="0"/>
                              <a:ea typeface="Cambria Math" panose="02040503050406030204" pitchFamily="18" charset="0"/>
                            </a:rPr>
                            <m:t>𝜎</m:t>
                          </m:r>
                        </m:num>
                        <m:den>
                          <m:rad>
                            <m:radPr>
                              <m:degHide m:val="on"/>
                              <m:ctrlPr>
                                <a:rPr lang="en-US" sz="8000" i="1">
                                  <a:latin typeface="Cambria Math" panose="02040503050406030204" pitchFamily="18" charset="0"/>
                                  <a:ea typeface="Cambria Math" panose="02040503050406030204" pitchFamily="18" charset="0"/>
                                </a:rPr>
                              </m:ctrlPr>
                            </m:radPr>
                            <m:deg/>
                            <m:e>
                              <m:r>
                                <a:rPr lang="en-US" sz="8000" i="1">
                                  <a:latin typeface="Cambria Math" panose="02040503050406030204" pitchFamily="18" charset="0"/>
                                  <a:ea typeface="Cambria Math" panose="02040503050406030204" pitchFamily="18" charset="0"/>
                                </a:rPr>
                                <m:t>𝑛</m:t>
                              </m:r>
                            </m:e>
                          </m:rad>
                        </m:den>
                      </m:f>
                    </m:oMath>
                  </m:oMathPara>
                </a14:m>
                <a:endParaRPr lang="en-US" sz="8000" dirty="0"/>
              </a:p>
              <a:p>
                <a:pPr>
                  <a:lnSpc>
                    <a:spcPct val="120000"/>
                  </a:lnSpc>
                  <a:spcBef>
                    <a:spcPts val="600"/>
                  </a:spcBef>
                  <a:spcAft>
                    <a:spcPts val="0"/>
                  </a:spcAft>
                </a:pPr>
                <a:r>
                  <a:rPr lang="en-US" sz="8000" dirty="0"/>
                  <a:t>The sample size necessary for the desired margin of error can be determined solving for </a:t>
                </a:r>
                <a14:m>
                  <m:oMath xmlns:m="http://schemas.openxmlformats.org/officeDocument/2006/math">
                    <m:r>
                      <a:rPr lang="en-US" sz="8000" i="1" dirty="0" smtClean="0">
                        <a:latin typeface="Cambria Math" panose="02040503050406030204" pitchFamily="18" charset="0"/>
                      </a:rPr>
                      <m:t>𝑛</m:t>
                    </m:r>
                  </m:oMath>
                </a14:m>
                <a:endParaRPr lang="en-US" sz="8000" b="1" i="1" dirty="0">
                  <a:latin typeface="Cambria Math" panose="02040503050406030204" pitchFamily="18" charset="0"/>
                </a:endParaRPr>
              </a:p>
              <a:p>
                <a:pPr marL="914400">
                  <a:lnSpc>
                    <a:spcPct val="120000"/>
                  </a:lnSpc>
                  <a:spcBef>
                    <a:spcPts val="600"/>
                  </a:spcBef>
                  <a:spcAft>
                    <a:spcPts val="0"/>
                  </a:spcAft>
                </a:pPr>
                <a14:m>
                  <m:oMathPara xmlns:m="http://schemas.openxmlformats.org/officeDocument/2006/math">
                    <m:oMathParaPr>
                      <m:jc m:val="left"/>
                    </m:oMathParaPr>
                    <m:oMath xmlns:m="http://schemas.openxmlformats.org/officeDocument/2006/math">
                      <m:r>
                        <a:rPr lang="en-US" sz="8000" b="1" i="1" smtClean="0">
                          <a:latin typeface="Cambria Math" panose="02040503050406030204" pitchFamily="18" charset="0"/>
                        </a:rPr>
                        <m:t>𝒏</m:t>
                      </m:r>
                      <m:r>
                        <a:rPr lang="en-US" sz="8000" b="1" i="1" smtClean="0">
                          <a:latin typeface="Cambria Math" panose="02040503050406030204" pitchFamily="18" charset="0"/>
                        </a:rPr>
                        <m:t>=</m:t>
                      </m:r>
                      <m:f>
                        <m:fPr>
                          <m:ctrlPr>
                            <a:rPr lang="en-US" sz="8000" b="1" i="1" smtClean="0">
                              <a:latin typeface="Cambria Math" panose="02040503050406030204" pitchFamily="18" charset="0"/>
                            </a:rPr>
                          </m:ctrlPr>
                        </m:fPr>
                        <m:num>
                          <m:sSup>
                            <m:sSupPr>
                              <m:ctrlPr>
                                <a:rPr lang="en-US" sz="8000" b="1" i="1" smtClean="0">
                                  <a:latin typeface="Cambria Math" panose="02040503050406030204" pitchFamily="18" charset="0"/>
                                </a:rPr>
                              </m:ctrlPr>
                            </m:sSupPr>
                            <m:e>
                              <m:d>
                                <m:dPr>
                                  <m:ctrlPr>
                                    <a:rPr lang="en-US" sz="8000" b="1" i="1" smtClean="0">
                                      <a:latin typeface="Cambria Math" panose="02040503050406030204" pitchFamily="18" charset="0"/>
                                    </a:rPr>
                                  </m:ctrlPr>
                                </m:dPr>
                                <m:e>
                                  <m:sSub>
                                    <m:sSubPr>
                                      <m:ctrlPr>
                                        <a:rPr lang="en-US" sz="8000" b="1" i="1">
                                          <a:latin typeface="Cambria Math" panose="02040503050406030204" pitchFamily="18" charset="0"/>
                                          <a:ea typeface="Cambria Math" panose="02040503050406030204" pitchFamily="18" charset="0"/>
                                        </a:rPr>
                                      </m:ctrlPr>
                                    </m:sSubPr>
                                    <m:e>
                                      <m:r>
                                        <a:rPr lang="en-US" sz="8000" b="1" i="1">
                                          <a:latin typeface="Cambria Math" panose="02040503050406030204" pitchFamily="18" charset="0"/>
                                          <a:ea typeface="Cambria Math" panose="02040503050406030204" pitchFamily="18" charset="0"/>
                                        </a:rPr>
                                        <m:t>𝒛</m:t>
                                      </m:r>
                                    </m:e>
                                    <m:sub>
                                      <m:f>
                                        <m:fPr>
                                          <m:type m:val="lin"/>
                                          <m:ctrlPr>
                                            <a:rPr lang="en-US" sz="8000" b="1" i="1">
                                              <a:latin typeface="Cambria Math" panose="02040503050406030204" pitchFamily="18" charset="0"/>
                                              <a:ea typeface="Cambria Math" panose="02040503050406030204" pitchFamily="18" charset="0"/>
                                            </a:rPr>
                                          </m:ctrlPr>
                                        </m:fPr>
                                        <m:num>
                                          <m:r>
                                            <a:rPr lang="en-US" sz="8000" b="1" i="1">
                                              <a:latin typeface="Cambria Math" panose="02040503050406030204" pitchFamily="18" charset="0"/>
                                              <a:ea typeface="Cambria Math" panose="02040503050406030204" pitchFamily="18" charset="0"/>
                                            </a:rPr>
                                            <m:t>𝜶</m:t>
                                          </m:r>
                                        </m:num>
                                        <m:den>
                                          <m:r>
                                            <a:rPr lang="en-US" sz="8000" b="1" i="1">
                                              <a:latin typeface="Cambria Math" panose="02040503050406030204" pitchFamily="18" charset="0"/>
                                              <a:ea typeface="Cambria Math" panose="02040503050406030204" pitchFamily="18" charset="0"/>
                                            </a:rPr>
                                            <m:t>𝟐</m:t>
                                          </m:r>
                                        </m:den>
                                      </m:f>
                                    </m:sub>
                                  </m:sSub>
                                </m:e>
                              </m:d>
                            </m:e>
                            <m:sup>
                              <m:r>
                                <a:rPr lang="en-US" sz="8000" b="1" i="1" smtClean="0">
                                  <a:latin typeface="Cambria Math" panose="02040503050406030204" pitchFamily="18" charset="0"/>
                                </a:rPr>
                                <m:t>𝟐</m:t>
                              </m:r>
                            </m:sup>
                          </m:sSup>
                          <m:sSup>
                            <m:sSupPr>
                              <m:ctrlPr>
                                <a:rPr lang="en-US" sz="8000" b="1" i="1" smtClean="0">
                                  <a:latin typeface="Cambria Math" panose="02040503050406030204" pitchFamily="18" charset="0"/>
                                </a:rPr>
                              </m:ctrlPr>
                            </m:sSupPr>
                            <m:e>
                              <m:r>
                                <a:rPr lang="en-US" sz="8000" b="1" i="1">
                                  <a:latin typeface="Cambria Math" panose="02040503050406030204" pitchFamily="18" charset="0"/>
                                  <a:ea typeface="Cambria Math" panose="02040503050406030204" pitchFamily="18" charset="0"/>
                                </a:rPr>
                                <m:t>𝝈</m:t>
                              </m:r>
                            </m:e>
                            <m:sup>
                              <m:r>
                                <a:rPr lang="en-US" sz="8000" b="1" i="1" smtClean="0">
                                  <a:latin typeface="Cambria Math" panose="02040503050406030204" pitchFamily="18" charset="0"/>
                                </a:rPr>
                                <m:t>𝟐</m:t>
                              </m:r>
                            </m:sup>
                          </m:sSup>
                        </m:num>
                        <m:den>
                          <m:sSup>
                            <m:sSupPr>
                              <m:ctrlPr>
                                <a:rPr lang="en-US" sz="8000" b="1" i="1" smtClean="0">
                                  <a:latin typeface="Cambria Math" panose="02040503050406030204" pitchFamily="18" charset="0"/>
                                </a:rPr>
                              </m:ctrlPr>
                            </m:sSupPr>
                            <m:e>
                              <m:r>
                                <a:rPr lang="en-US" sz="8000" b="1" i="1" smtClean="0">
                                  <a:latin typeface="Cambria Math" panose="02040503050406030204" pitchFamily="18" charset="0"/>
                                </a:rPr>
                                <m:t>𝑬</m:t>
                              </m:r>
                            </m:e>
                            <m:sup>
                              <m:r>
                                <a:rPr lang="en-US" sz="8000" b="1" i="1" smtClean="0">
                                  <a:latin typeface="Cambria Math" panose="02040503050406030204" pitchFamily="18" charset="0"/>
                                </a:rPr>
                                <m:t>𝟐</m:t>
                              </m:r>
                            </m:sup>
                          </m:sSup>
                        </m:den>
                      </m:f>
                    </m:oMath>
                  </m:oMathPara>
                </a14:m>
                <a:endParaRPr lang="en-US" sz="8000" b="1" dirty="0"/>
              </a:p>
              <a:p>
                <a:pPr>
                  <a:lnSpc>
                    <a:spcPct val="120000"/>
                  </a:lnSpc>
                  <a:spcBef>
                    <a:spcPts val="600"/>
                  </a:spcBef>
                  <a:spcAft>
                    <a:spcPts val="0"/>
                  </a:spcAft>
                </a:pPr>
                <a:r>
                  <a:rPr lang="en-US" sz="8000" dirty="0"/>
                  <a:t>A preliminary or planning value for the unknown population standard deviation 𝜎, may be determined using:</a:t>
                </a:r>
              </a:p>
              <a:p>
                <a:pPr marL="457200" indent="-457200">
                  <a:lnSpc>
                    <a:spcPct val="120000"/>
                  </a:lnSpc>
                  <a:spcBef>
                    <a:spcPts val="600"/>
                  </a:spcBef>
                  <a:spcAft>
                    <a:spcPts val="0"/>
                  </a:spcAft>
                  <a:buFont typeface="+mj-lt"/>
                  <a:buAutoNum type="arabicPeriod"/>
                </a:pPr>
                <a:r>
                  <a:rPr lang="en-US" sz="8000" dirty="0"/>
                  <a:t>the estimate of the population standard deviation 𝜎, computed in a previous study.</a:t>
                </a:r>
              </a:p>
              <a:p>
                <a:pPr marL="457200" indent="-457200">
                  <a:lnSpc>
                    <a:spcPct val="120000"/>
                  </a:lnSpc>
                  <a:spcBef>
                    <a:spcPts val="600"/>
                  </a:spcBef>
                  <a:spcAft>
                    <a:spcPts val="0"/>
                  </a:spcAft>
                  <a:buFont typeface="+mj-lt"/>
                  <a:buAutoNum type="arabicPeriod"/>
                </a:pPr>
                <a:r>
                  <a:rPr lang="en-US" sz="8000" dirty="0"/>
                  <a:t>a preliminary sample and the sample standard deviation </a:t>
                </a:r>
                <a14:m>
                  <m:oMath xmlns:m="http://schemas.openxmlformats.org/officeDocument/2006/math">
                    <m:r>
                      <a:rPr lang="en-US" sz="8000" i="1" dirty="0" smtClean="0">
                        <a:latin typeface="Cambria Math" panose="02040503050406030204" pitchFamily="18" charset="0"/>
                      </a:rPr>
                      <m:t>𝑠</m:t>
                    </m:r>
                    <m:r>
                      <a:rPr lang="en-US" sz="8000" b="0" i="0" dirty="0" smtClean="0">
                        <a:latin typeface="Cambria Math" panose="02040503050406030204" pitchFamily="18" charset="0"/>
                      </a:rPr>
                      <m:t>,</m:t>
                    </m:r>
                  </m:oMath>
                </a14:m>
                <a:r>
                  <a:rPr lang="en-US" sz="8000" dirty="0"/>
                  <a:t> selected from a pilot study.</a:t>
                </a:r>
              </a:p>
              <a:p>
                <a:pPr marL="457200" indent="-457200">
                  <a:lnSpc>
                    <a:spcPct val="120000"/>
                  </a:lnSpc>
                  <a:spcBef>
                    <a:spcPts val="600"/>
                  </a:spcBef>
                  <a:spcAft>
                    <a:spcPts val="0"/>
                  </a:spcAft>
                  <a:buFont typeface="+mj-lt"/>
                  <a:buAutoNum type="arabicPeriod"/>
                </a:pPr>
                <a:r>
                  <a:rPr lang="en-US" sz="8000" dirty="0"/>
                  <a:t>judgment or a “best guess” for the value of the population standard deviation, </a:t>
                </a:r>
                <a:r>
                  <a:rPr lang="en-US" sz="8000" i="1" dirty="0">
                    <a:latin typeface="Symbol" panose="05050102010706020507" pitchFamily="18" charset="2"/>
                  </a:rPr>
                  <a:t>s</a:t>
                </a:r>
                <a:r>
                  <a:rPr lang="en-US" sz="8000" dirty="0"/>
                  <a:t>.</a:t>
                </a:r>
              </a:p>
            </p:txBody>
          </p:sp>
        </mc:Choice>
        <mc:Fallback xmlns="">
          <p:sp>
            <p:nvSpPr>
              <p:cNvPr id="3" name="Text Placeholder 2">
                <a:extLst>
                  <a:ext uri="{FF2B5EF4-FFF2-40B4-BE49-F238E27FC236}">
                    <a16:creationId xmlns:a16="http://schemas.microsoft.com/office/drawing/2014/main" id="{569BB314-E737-AAC6-8961-545E7B21F547}"/>
                  </a:ext>
                </a:extLst>
              </p:cNvPr>
              <p:cNvSpPr>
                <a:spLocks noGrp="1" noRot="1" noChangeAspect="1" noMove="1" noResize="1" noEditPoints="1" noAdjustHandles="1" noChangeArrowheads="1" noChangeShapeType="1" noTextEdit="1"/>
              </p:cNvSpPr>
              <p:nvPr>
                <p:ph type="body" sz="quarter" idx="15"/>
              </p:nvPr>
            </p:nvSpPr>
            <p:spPr>
              <a:xfrm>
                <a:off x="740227" y="1460165"/>
                <a:ext cx="10711543" cy="4134723"/>
              </a:xfrm>
              <a:blipFill>
                <a:blip r:embed="rId2"/>
                <a:stretch>
                  <a:fillRect l="-1422" t="-1770" b="-1622"/>
                </a:stretch>
              </a:blipFill>
            </p:spPr>
            <p:txBody>
              <a:bodyPr/>
              <a:lstStyle/>
              <a:p>
                <a:r>
                  <a:rPr lang="en-US">
                    <a:noFill/>
                  </a:rPr>
                  <a:t> </a:t>
                </a:r>
              </a:p>
            </p:txBody>
          </p:sp>
        </mc:Fallback>
      </mc:AlternateContent>
    </p:spTree>
    <p:extLst>
      <p:ext uri="{BB962C8B-B14F-4D97-AF65-F5344CB8AC3E}">
        <p14:creationId xmlns:p14="http://schemas.microsoft.com/office/powerpoint/2010/main" val="3970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59DC-6FC9-AFFD-8D5B-97CAD0B01525}"/>
              </a:ext>
            </a:extLst>
          </p:cNvPr>
          <p:cNvSpPr>
            <a:spLocks noGrp="1"/>
          </p:cNvSpPr>
          <p:nvPr>
            <p:ph type="title"/>
          </p:nvPr>
        </p:nvSpPr>
        <p:spPr/>
        <p:txBody>
          <a:bodyPr/>
          <a:lstStyle/>
          <a:p>
            <a:r>
              <a:rPr lang="en-US" dirty="0"/>
              <a:t>8.3 Application of Sample Size Determination</a:t>
            </a:r>
            <a:endParaRPr lang="en-US" i="1" dirty="0">
              <a:latin typeface="Symbol" panose="05050102010706020507" pitchFamily="18" charset="2"/>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69BB314-E737-AAC6-8961-545E7B21F547}"/>
                  </a:ext>
                </a:extLst>
              </p:cNvPr>
              <p:cNvSpPr>
                <a:spLocks noGrp="1"/>
              </p:cNvSpPr>
              <p:nvPr>
                <p:ph type="body" sz="quarter" idx="15"/>
              </p:nvPr>
            </p:nvSpPr>
            <p:spPr>
              <a:xfrm>
                <a:off x="743576" y="1441342"/>
                <a:ext cx="10711543" cy="4099302"/>
              </a:xfrm>
            </p:spPr>
            <p:txBody>
              <a:bodyPr>
                <a:noAutofit/>
              </a:bodyPr>
              <a:lstStyle/>
              <a:p>
                <a:pPr>
                  <a:lnSpc>
                    <a:spcPct val="100000"/>
                  </a:lnSpc>
                  <a:spcBef>
                    <a:spcPts val="600"/>
                  </a:spcBef>
                  <a:spcAft>
                    <a:spcPts val="0"/>
                  </a:spcAft>
                </a:pPr>
                <a:r>
                  <a:rPr lang="en-US" sz="2000" dirty="0"/>
                  <a:t>A previous study that investigated the cost of renting midsize automobiles found a mean cost of approximately $55 per day, with a standard deviation of $9.65.</a:t>
                </a:r>
              </a:p>
              <a:p>
                <a:pPr>
                  <a:spcBef>
                    <a:spcPts val="600"/>
                  </a:spcBef>
                  <a:spcAft>
                    <a:spcPts val="0"/>
                  </a:spcAft>
                </a:pPr>
                <a:r>
                  <a:rPr lang="en-US" sz="2000" dirty="0"/>
                  <a:t>Objective: conduct a new study to estimate the mean cost of renting midsize automobiles with a margin of error of </a:t>
                </a:r>
                <a14:m>
                  <m:oMath xmlns:m="http://schemas.openxmlformats.org/officeDocument/2006/math">
                    <m:r>
                      <a:rPr lang="en-US" sz="2000" i="1" smtClean="0">
                        <a:latin typeface="Cambria Math" panose="02040503050406030204" pitchFamily="18" charset="0"/>
                      </a:rPr>
                      <m:t>𝐸</m:t>
                    </m:r>
                    <m:r>
                      <a:rPr lang="en-US" sz="2000" b="0" i="1" smtClean="0">
                        <a:latin typeface="Cambria Math" panose="02040503050406030204" pitchFamily="18" charset="0"/>
                      </a:rPr>
                      <m:t>=$2</m:t>
                    </m:r>
                  </m:oMath>
                </a14:m>
                <a:r>
                  <a:rPr lang="en-US" sz="2000" dirty="0"/>
                  <a:t>, a 95% confidence level, and a planning value for the population standard deviation, </a:t>
                </a:r>
                <a14:m>
                  <m:oMath xmlns:m="http://schemas.openxmlformats.org/officeDocument/2006/math">
                    <m:r>
                      <a:rPr lang="en-US" sz="2000" i="1">
                        <a:latin typeface="Cambria Math" panose="02040503050406030204" pitchFamily="18" charset="0"/>
                        <a:ea typeface="Cambria Math" panose="02040503050406030204" pitchFamily="18" charset="0"/>
                      </a:rPr>
                      <m:t>𝜎</m:t>
                    </m:r>
                    <m:r>
                      <a:rPr lang="en-US" sz="2000" i="1">
                        <a:latin typeface="Cambria Math" panose="02040503050406030204" pitchFamily="18" charset="0"/>
                        <a:ea typeface="Cambria Math" panose="02040503050406030204" pitchFamily="18" charset="0"/>
                      </a:rPr>
                      <m:t>=9.65</m:t>
                    </m:r>
                  </m:oMath>
                </a14:m>
                <a:r>
                  <a:rPr lang="en-US" sz="2000" dirty="0"/>
                  <a:t>.</a:t>
                </a:r>
              </a:p>
              <a:p>
                <a:pPr>
                  <a:spcBef>
                    <a:spcPts val="600"/>
                  </a:spcBef>
                  <a:spcAft>
                    <a:spcPts val="0"/>
                  </a:spcAft>
                </a:pPr>
                <a:r>
                  <a:rPr lang="en-US" sz="2000" dirty="0"/>
                  <a:t>Thus, with a </a:t>
                </a:r>
                <a14:m>
                  <m:oMath xmlns:m="http://schemas.openxmlformats.org/officeDocument/2006/math">
                    <m:d>
                      <m:dPr>
                        <m:ctrlPr>
                          <a:rPr lang="en-US" sz="2000" i="1" dirty="0" smtClean="0">
                            <a:latin typeface="Cambria Math" panose="02040503050406030204" pitchFamily="18" charset="0"/>
                          </a:rPr>
                        </m:ctrlPr>
                      </m:dPr>
                      <m:e>
                        <m:r>
                          <a:rPr lang="en-US" sz="2000" i="1" dirty="0">
                            <a:latin typeface="Cambria Math" panose="02040503050406030204" pitchFamily="18" charset="0"/>
                          </a:rPr>
                          <m:t>1−</m:t>
                        </m:r>
                        <m:r>
                          <a:rPr lang="en-US" sz="2000" i="1" dirty="0">
                            <a:latin typeface="Cambria Math" panose="02040503050406030204" pitchFamily="18" charset="0"/>
                            <a:ea typeface="Cambria Math" panose="02040503050406030204" pitchFamily="18" charset="0"/>
                          </a:rPr>
                          <m:t>𝛼</m:t>
                        </m:r>
                      </m:e>
                    </m:d>
                    <m:r>
                      <a:rPr lang="en-US" sz="2000" i="1" dirty="0" smtClean="0">
                        <a:latin typeface="Cambria Math" panose="02040503050406030204" pitchFamily="18" charset="0"/>
                      </a:rPr>
                      <m:t>=0.95</m:t>
                    </m:r>
                  </m:oMath>
                </a14:m>
                <a:r>
                  <a:rPr lang="en-US" sz="2000" dirty="0"/>
                  <a:t> confidence coefficient, the </a:t>
                </a:r>
                <a14:m>
                  <m:oMath xmlns:m="http://schemas.openxmlformats.org/officeDocument/2006/math">
                    <m:r>
                      <a:rPr lang="en-US" sz="2000" i="1" dirty="0" smtClean="0">
                        <a:latin typeface="Cambria Math" panose="02040503050406030204" pitchFamily="18" charset="0"/>
                      </a:rPr>
                      <m:t>𝑧</m:t>
                    </m:r>
                  </m:oMath>
                </a14:m>
                <a:r>
                  <a:rPr lang="en-US" sz="2000" dirty="0"/>
                  <a:t> value is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0.025</m:t>
                        </m:r>
                      </m:sub>
                    </m:sSub>
                    <m:r>
                      <a:rPr lang="en-US" sz="2000" b="0" i="1" smtClean="0">
                        <a:latin typeface="Cambria Math" panose="02040503050406030204" pitchFamily="18" charset="0"/>
                        <a:ea typeface="Cambria Math" panose="02040503050406030204" pitchFamily="18" charset="0"/>
                      </a:rPr>
                      <m:t>=1.96</m:t>
                    </m:r>
                  </m:oMath>
                </a14:m>
                <a:r>
                  <a:rPr lang="en-US" sz="2000" dirty="0"/>
                  <a:t>.</a:t>
                </a:r>
              </a:p>
              <a:p>
                <a:pPr>
                  <a:lnSpc>
                    <a:spcPct val="100000"/>
                  </a:lnSpc>
                  <a:spcBef>
                    <a:spcPts val="600"/>
                  </a:spcBef>
                  <a:spcAft>
                    <a:spcPts val="600"/>
                  </a:spcAft>
                </a:pPr>
                <a:r>
                  <a:rPr lang="en-US" sz="2000" dirty="0"/>
                  <a:t>Plugging the values into the necessary sample size equation, we obtain</a:t>
                </a:r>
              </a:p>
              <a:p>
                <a:pPr marL="460375">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e>
                              </m:d>
                            </m:e>
                            <m:sup>
                              <m:r>
                                <a:rPr lang="en-US" sz="2000" b="0" i="1" smtClean="0">
                                  <a:latin typeface="Cambria Math" panose="02040503050406030204" pitchFamily="18" charset="0"/>
                                </a:rPr>
                                <m:t>2</m:t>
                              </m:r>
                            </m:sup>
                          </m:sSup>
                          <m:sSup>
                            <m:sSupPr>
                              <m:ctrlPr>
                                <a:rPr lang="en-US" sz="2000" b="0" i="1" smtClean="0">
                                  <a:latin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𝐸</m:t>
                              </m:r>
                            </m:e>
                            <m:sup>
                              <m:r>
                                <a:rPr lang="en-US" sz="2000" b="0" i="1" smtClean="0">
                                  <a:latin typeface="Cambria Math" panose="02040503050406030204" pitchFamily="18" charset="0"/>
                                </a:rPr>
                                <m:t>2</m:t>
                              </m:r>
                            </m:sup>
                          </m:sSup>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1.96</m:t>
                                  </m:r>
                                </m:e>
                              </m:d>
                            </m:e>
                            <m:sup>
                              <m:r>
                                <a:rPr lang="en-US" sz="2000" i="1">
                                  <a:latin typeface="Cambria Math" panose="02040503050406030204" pitchFamily="18" charset="0"/>
                                </a:rPr>
                                <m:t>2</m:t>
                              </m:r>
                            </m:sup>
                          </m:sSup>
                          <m:sSup>
                            <m:sSupPr>
                              <m:ctrlPr>
                                <a:rPr lang="en-US" sz="2000" i="1">
                                  <a:latin typeface="Cambria Math" panose="02040503050406030204" pitchFamily="18" charset="0"/>
                                </a:rPr>
                              </m:ctrlPr>
                            </m:sSupPr>
                            <m:e>
                              <m:d>
                                <m:dPr>
                                  <m:ctrlPr>
                                    <a:rPr lang="en-US" sz="2000" i="1" smtClean="0">
                                      <a:latin typeface="Cambria Math" panose="02040503050406030204" pitchFamily="18" charset="0"/>
                                    </a:rPr>
                                  </m:ctrlPr>
                                </m:dPr>
                                <m:e>
                                  <m:r>
                                    <a:rPr lang="en-US" sz="2000" b="0" i="1" smtClean="0">
                                      <a:latin typeface="Cambria Math" panose="02040503050406030204" pitchFamily="18" charset="0"/>
                                    </a:rPr>
                                    <m:t>9.65</m:t>
                                  </m:r>
                                </m:e>
                              </m:d>
                            </m:e>
                            <m:sup>
                              <m:r>
                                <a:rPr lang="en-US" sz="2000" i="1">
                                  <a:latin typeface="Cambria Math" panose="02040503050406030204" pitchFamily="18" charset="0"/>
                                </a:rPr>
                                <m:t>2</m:t>
                              </m:r>
                            </m:sup>
                          </m:sSup>
                        </m:num>
                        <m:den>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b="0" i="1" smtClean="0">
                                      <a:latin typeface="Cambria Math" panose="02040503050406030204" pitchFamily="18" charset="0"/>
                                    </a:rPr>
                                    <m:t>2</m:t>
                                  </m:r>
                                </m:e>
                              </m:d>
                            </m:e>
                            <m:sup>
                              <m:r>
                                <a:rPr lang="en-US" sz="2000" i="1">
                                  <a:latin typeface="Cambria Math" panose="02040503050406030204" pitchFamily="18" charset="0"/>
                                </a:rPr>
                                <m:t>2</m:t>
                              </m:r>
                            </m:sup>
                          </m:sSup>
                        </m:den>
                      </m:f>
                      <m:r>
                        <a:rPr lang="en-US" sz="2000" b="0" i="1" smtClean="0">
                          <a:latin typeface="Cambria Math" panose="02040503050406030204" pitchFamily="18" charset="0"/>
                        </a:rPr>
                        <m:t>=89.43</m:t>
                      </m:r>
                    </m:oMath>
                  </m:oMathPara>
                </a14:m>
                <a:endParaRPr lang="en-US" sz="2000" dirty="0"/>
              </a:p>
              <a:p>
                <a:pPr>
                  <a:lnSpc>
                    <a:spcPct val="100000"/>
                  </a:lnSpc>
                  <a:spcBef>
                    <a:spcPts val="600"/>
                  </a:spcBef>
                  <a:spcAft>
                    <a:spcPts val="0"/>
                  </a:spcAft>
                </a:pPr>
                <a:r>
                  <a:rPr lang="en-US" sz="2000" dirty="0"/>
                  <a:t>In cases where the computed </a:t>
                </a:r>
                <a14:m>
                  <m:oMath xmlns:m="http://schemas.openxmlformats.org/officeDocument/2006/math">
                    <m:r>
                      <a:rPr lang="en-US" sz="2000" i="1" dirty="0" smtClean="0">
                        <a:latin typeface="Cambria Math" panose="02040503050406030204" pitchFamily="18" charset="0"/>
                      </a:rPr>
                      <m:t>𝑛</m:t>
                    </m:r>
                  </m:oMath>
                </a14:m>
                <a:r>
                  <a:rPr lang="en-US" sz="2000" dirty="0"/>
                  <a:t> is not an integer, we round up to the next integer value.</a:t>
                </a:r>
              </a:p>
              <a:p>
                <a:pPr>
                  <a:lnSpc>
                    <a:spcPct val="100000"/>
                  </a:lnSpc>
                  <a:spcBef>
                    <a:spcPts val="600"/>
                  </a:spcBef>
                  <a:spcAft>
                    <a:spcPts val="0"/>
                  </a:spcAft>
                </a:pPr>
                <a:r>
                  <a:rPr lang="en-US" sz="2000" dirty="0"/>
                  <a:t>Hence, the recommended sample size is 90 midsize automobile rentals.</a:t>
                </a:r>
              </a:p>
            </p:txBody>
          </p:sp>
        </mc:Choice>
        <mc:Fallback xmlns="">
          <p:sp>
            <p:nvSpPr>
              <p:cNvPr id="3" name="Text Placeholder 2">
                <a:extLst>
                  <a:ext uri="{FF2B5EF4-FFF2-40B4-BE49-F238E27FC236}">
                    <a16:creationId xmlns:a16="http://schemas.microsoft.com/office/drawing/2014/main" id="{569BB314-E737-AAC6-8961-545E7B21F547}"/>
                  </a:ext>
                </a:extLst>
              </p:cNvPr>
              <p:cNvSpPr>
                <a:spLocks noGrp="1" noRot="1" noChangeAspect="1" noMove="1" noResize="1" noEditPoints="1" noAdjustHandles="1" noChangeArrowheads="1" noChangeShapeType="1" noTextEdit="1"/>
              </p:cNvSpPr>
              <p:nvPr>
                <p:ph type="body" sz="quarter" idx="15"/>
              </p:nvPr>
            </p:nvSpPr>
            <p:spPr>
              <a:xfrm>
                <a:off x="743576" y="1441342"/>
                <a:ext cx="10711543" cy="4099302"/>
              </a:xfrm>
              <a:blipFill>
                <a:blip r:embed="rId2"/>
                <a:stretch>
                  <a:fillRect l="-1480" t="-1783" r="-1707" b="-1783"/>
                </a:stretch>
              </a:blipFill>
            </p:spPr>
            <p:txBody>
              <a:bodyPr/>
              <a:lstStyle/>
              <a:p>
                <a:r>
                  <a:rPr lang="en-US">
                    <a:noFill/>
                  </a:rPr>
                  <a:t> </a:t>
                </a:r>
              </a:p>
            </p:txBody>
          </p:sp>
        </mc:Fallback>
      </mc:AlternateContent>
    </p:spTree>
    <p:extLst>
      <p:ext uri="{BB962C8B-B14F-4D97-AF65-F5344CB8AC3E}">
        <p14:creationId xmlns:p14="http://schemas.microsoft.com/office/powerpoint/2010/main" val="3820144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54A03-BBC1-442A-256A-6C94E17E0170}"/>
              </a:ext>
            </a:extLst>
          </p:cNvPr>
          <p:cNvSpPr>
            <a:spLocks noGrp="1"/>
          </p:cNvSpPr>
          <p:nvPr>
            <p:ph type="title"/>
          </p:nvPr>
        </p:nvSpPr>
        <p:spPr/>
        <p:txBody>
          <a:bodyPr/>
          <a:lstStyle/>
          <a:p>
            <a:r>
              <a:rPr lang="en-US" dirty="0">
                <a:solidFill>
                  <a:srgbClr val="D14B1E"/>
                </a:solidFill>
              </a:rPr>
              <a:t>8.4 Population Proportion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F420BFD-F9F4-ECC7-4AA4-1A67727F22DC}"/>
                  </a:ext>
                </a:extLst>
              </p:cNvPr>
              <p:cNvSpPr>
                <a:spLocks noGrp="1"/>
              </p:cNvSpPr>
              <p:nvPr>
                <p:ph type="body" sz="quarter" idx="15"/>
              </p:nvPr>
            </p:nvSpPr>
            <p:spPr>
              <a:xfrm>
                <a:off x="817917" y="1412487"/>
                <a:ext cx="10296130" cy="4458414"/>
              </a:xfrm>
            </p:spPr>
            <p:txBody>
              <a:bodyPr/>
              <a:lstStyle/>
              <a:p>
                <a:pPr>
                  <a:spcAft>
                    <a:spcPts val="0"/>
                  </a:spcAft>
                </a:pPr>
                <a:r>
                  <a:rPr lang="en-US" sz="2000" dirty="0"/>
                  <a:t>The general form of an interval estimate of a</a:t>
                </a:r>
              </a:p>
              <a:p>
                <a:pPr>
                  <a:spcBef>
                    <a:spcPts val="0"/>
                  </a:spcBef>
                  <a:spcAft>
                    <a:spcPts val="600"/>
                  </a:spcAft>
                </a:pPr>
                <a:r>
                  <a:rPr lang="en-US" sz="2000" dirty="0"/>
                  <a:t>population proportion is</a:t>
                </a:r>
              </a:p>
              <a:p>
                <a:pPr marL="914400"/>
                <a14:m>
                  <m:oMathPara xmlns:m="http://schemas.openxmlformats.org/officeDocument/2006/math">
                    <m:oMathParaPr>
                      <m:jc m:val="left"/>
                    </m:oMathParaPr>
                    <m:oMath xmlns:m="http://schemas.openxmlformats.org/officeDocument/2006/math">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𝒑</m:t>
                          </m:r>
                        </m:e>
                      </m:acc>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𝒛</m:t>
                          </m:r>
                        </m:e>
                        <m:sub>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𝜶</m:t>
                              </m:r>
                            </m:num>
                            <m:den>
                              <m:r>
                                <a:rPr lang="en-US" sz="2000" b="1" i="1" smtClean="0">
                                  <a:latin typeface="Cambria Math" panose="02040503050406030204" pitchFamily="18" charset="0"/>
                                  <a:ea typeface="Cambria Math" panose="02040503050406030204" pitchFamily="18" charset="0"/>
                                </a:rPr>
                                <m:t>𝟐</m:t>
                              </m:r>
                            </m:den>
                          </m:f>
                        </m:sub>
                      </m:sSub>
                      <m:rad>
                        <m:radPr>
                          <m:degHide m:val="on"/>
                          <m:ctrlPr>
                            <a:rPr lang="en-US" sz="2000" b="1" i="1" smtClean="0">
                              <a:latin typeface="Cambria Math" panose="02040503050406030204" pitchFamily="18" charset="0"/>
                              <a:ea typeface="Cambria Math" panose="02040503050406030204" pitchFamily="18" charset="0"/>
                            </a:rPr>
                          </m:ctrlPr>
                        </m:radPr>
                        <m:deg/>
                        <m:e>
                          <m:f>
                            <m:fPr>
                              <m:ctrlPr>
                                <a:rPr lang="en-US" sz="2000" b="1" i="1" smtClean="0">
                                  <a:latin typeface="Cambria Math" panose="02040503050406030204" pitchFamily="18" charset="0"/>
                                  <a:ea typeface="Cambria Math" panose="02040503050406030204" pitchFamily="18" charset="0"/>
                                </a:rPr>
                              </m:ctrlPr>
                            </m:fPr>
                            <m:num>
                              <m:acc>
                                <m:accPr>
                                  <m:chr m:val="̅"/>
                                  <m:ctrlPr>
                                    <a:rPr lang="en-US" sz="2000" b="1" i="1">
                                      <a:latin typeface="Cambria Math" panose="02040503050406030204" pitchFamily="18" charset="0"/>
                                    </a:rPr>
                                  </m:ctrlPr>
                                </m:accPr>
                                <m:e>
                                  <m:r>
                                    <a:rPr lang="en-US" sz="2000" b="1" i="1">
                                      <a:latin typeface="Cambria Math" panose="02040503050406030204" pitchFamily="18" charset="0"/>
                                    </a:rPr>
                                    <m:t>𝒑</m:t>
                                  </m:r>
                                </m:e>
                              </m:acc>
                              <m:d>
                                <m:dPr>
                                  <m:ctrlPr>
                                    <a:rPr lang="en-US" sz="2000" b="1" i="1">
                                      <a:latin typeface="Cambria Math" panose="02040503050406030204" pitchFamily="18" charset="0"/>
                                    </a:rPr>
                                  </m:ctrlPr>
                                </m:dPr>
                                <m:e>
                                  <m:r>
                                    <a:rPr lang="en-US" sz="2000" b="1" i="1">
                                      <a:latin typeface="Cambria Math" panose="02040503050406030204" pitchFamily="18" charset="0"/>
                                    </a:rPr>
                                    <m:t>𝟏</m:t>
                                  </m:r>
                                  <m:r>
                                    <a:rPr lang="en-US" sz="2000" b="1" i="1">
                                      <a:latin typeface="Cambria Math" panose="02040503050406030204" pitchFamily="18" charset="0"/>
                                    </a:rPr>
                                    <m:t>−</m:t>
                                  </m:r>
                                  <m:acc>
                                    <m:accPr>
                                      <m:chr m:val="̅"/>
                                      <m:ctrlPr>
                                        <a:rPr lang="en-US" sz="2000" b="1" i="1">
                                          <a:latin typeface="Cambria Math" panose="02040503050406030204" pitchFamily="18" charset="0"/>
                                        </a:rPr>
                                      </m:ctrlPr>
                                    </m:accPr>
                                    <m:e>
                                      <m:r>
                                        <a:rPr lang="en-US" sz="2000" b="1" i="1">
                                          <a:latin typeface="Cambria Math" panose="02040503050406030204" pitchFamily="18" charset="0"/>
                                        </a:rPr>
                                        <m:t>𝒑</m:t>
                                      </m:r>
                                    </m:e>
                                  </m:acc>
                                </m:e>
                              </m:d>
                            </m:num>
                            <m:den>
                              <m:r>
                                <a:rPr lang="en-US" sz="2000" b="1" i="1" smtClean="0">
                                  <a:latin typeface="Cambria Math" panose="02040503050406030204" pitchFamily="18" charset="0"/>
                                  <a:ea typeface="Cambria Math" panose="02040503050406030204" pitchFamily="18" charset="0"/>
                                </a:rPr>
                                <m:t>𝒏</m:t>
                              </m:r>
                            </m:den>
                          </m:f>
                        </m:e>
                      </m:rad>
                    </m:oMath>
                  </m:oMathPara>
                </a14:m>
                <a:endParaRPr lang="en-US" sz="2000" b="1" dirty="0"/>
              </a:p>
              <a:p>
                <a:pPr>
                  <a:spcBef>
                    <a:spcPts val="0"/>
                  </a:spcBef>
                </a:pPr>
                <a:r>
                  <a:rPr lang="en-US" sz="2000" dirty="0"/>
                  <a:t>Where, </a:t>
                </a:r>
                <a:endParaRPr lang="en-US" sz="2000" b="0" i="1" dirty="0">
                  <a:latin typeface="Cambria Math" panose="02040503050406030204" pitchFamily="18" charset="0"/>
                </a:endParaRPr>
              </a:p>
              <a:p>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𝛼</m:t>
                    </m:r>
                  </m:oMath>
                </a14:m>
                <a:r>
                  <a:rPr lang="en-US" sz="2000" dirty="0"/>
                  <a:t> is the confidence coefficient,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oMath>
                </a14:m>
                <a:r>
                  <a:rPr lang="en-US" sz="2000" dirty="0"/>
                  <a:t> the </a:t>
                </a:r>
                <a:r>
                  <a:rPr lang="en-US" sz="2000" i="1" dirty="0"/>
                  <a:t>z</a:t>
                </a:r>
                <a:endParaRPr lang="en-US" sz="2000" dirty="0"/>
              </a:p>
              <a:p>
                <a:pPr>
                  <a:spcBef>
                    <a:spcPts val="0"/>
                  </a:spcBef>
                </a:pPr>
                <a:r>
                  <a:rPr lang="en-US" sz="2000" dirty="0"/>
                  <a:t>value providing an area of α/2 in the upper tail</a:t>
                </a:r>
              </a:p>
              <a:p>
                <a:pPr>
                  <a:spcBef>
                    <a:spcPts val="0"/>
                  </a:spcBef>
                </a:pPr>
                <a:r>
                  <a:rPr lang="en-US" sz="2000" dirty="0"/>
                  <a:t>of the standard normal probability distribution, </a:t>
                </a:r>
              </a:p>
              <a:p>
                <a:pPr>
                  <a:spcBef>
                    <a:spcPts val="0"/>
                  </a:spcBef>
                </a:pPr>
                <a:r>
                  <a:rPr lang="en-US" sz="2000" dirty="0"/>
                  <a:t>and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oMath>
                </a14:m>
                <a:r>
                  <a:rPr lang="en-US" sz="2000" dirty="0"/>
                  <a:t> the sample proportion.</a:t>
                </a:r>
              </a:p>
              <a:p>
                <a:r>
                  <a:rPr lang="en-US" sz="2000" dirty="0"/>
                  <a:t>The sampling distribution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oMath>
                </a14:m>
                <a:r>
                  <a:rPr lang="en-US" sz="2000" dirty="0"/>
                  <a:t> plays a key role in computing the margin of error for the interval estimate, and it can be approximated by a normal distribution whenever </a:t>
                </a:r>
                <a14:m>
                  <m:oMath xmlns:m="http://schemas.openxmlformats.org/officeDocument/2006/math">
                    <m:r>
                      <a:rPr lang="en-US" sz="2000" b="0" i="1" smtClean="0">
                        <a:latin typeface="Cambria Math" panose="02040503050406030204" pitchFamily="18" charset="0"/>
                      </a:rPr>
                      <m:t>𝑛</m:t>
                    </m:r>
                    <m:acc>
                      <m:accPr>
                        <m:chr m:val="̅"/>
                        <m:ctrlPr>
                          <a:rPr lang="en-US" sz="2000" i="1" smtClean="0">
                            <a:latin typeface="Cambria Math" panose="02040503050406030204" pitchFamily="18" charset="0"/>
                          </a:rPr>
                        </m:ctrlPr>
                      </m:accPr>
                      <m:e>
                        <m:r>
                          <a:rPr lang="en-US" sz="2000" i="1">
                            <a:latin typeface="Cambria Math" panose="02040503050406030204" pitchFamily="18" charset="0"/>
                          </a:rPr>
                          <m:t>𝑝</m:t>
                        </m:r>
                      </m:e>
                    </m:acc>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5</m:t>
                    </m:r>
                  </m:oMath>
                </a14:m>
                <a:r>
                  <a:rPr lang="en-US" sz="2000" dirty="0"/>
                  <a:t> and </a:t>
                </a:r>
                <a14:m>
                  <m:oMath xmlns:m="http://schemas.openxmlformats.org/officeDocument/2006/math">
                    <m:r>
                      <a:rPr lang="en-US" sz="2000" i="1" smtClean="0">
                        <a:latin typeface="Cambria Math" panose="02040503050406030204" pitchFamily="18" charset="0"/>
                      </a:rPr>
                      <m:t>𝑛</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d>
                    <m:r>
                      <a:rPr lang="en-US" sz="2000" i="1">
                        <a:latin typeface="Cambria Math" panose="02040503050406030204" pitchFamily="18" charset="0"/>
                        <a:ea typeface="Cambria Math" panose="02040503050406030204" pitchFamily="18" charset="0"/>
                      </a:rPr>
                      <m:t>≥5</m:t>
                    </m:r>
                  </m:oMath>
                </a14:m>
                <a:r>
                  <a:rPr lang="en-US" sz="2000" dirty="0"/>
                  <a:t>.</a:t>
                </a:r>
              </a:p>
            </p:txBody>
          </p:sp>
        </mc:Choice>
        <mc:Fallback xmlns="">
          <p:sp>
            <p:nvSpPr>
              <p:cNvPr id="3" name="Text Placeholder 2">
                <a:extLst>
                  <a:ext uri="{FF2B5EF4-FFF2-40B4-BE49-F238E27FC236}">
                    <a16:creationId xmlns:a16="http://schemas.microsoft.com/office/drawing/2014/main" id="{2F420BFD-F9F4-ECC7-4AA4-1A67727F22DC}"/>
                  </a:ext>
                </a:extLst>
              </p:cNvPr>
              <p:cNvSpPr>
                <a:spLocks noGrp="1" noRot="1" noChangeAspect="1" noMove="1" noResize="1" noEditPoints="1" noAdjustHandles="1" noChangeArrowheads="1" noChangeShapeType="1" noTextEdit="1"/>
              </p:cNvSpPr>
              <p:nvPr>
                <p:ph type="body" sz="quarter" idx="15"/>
              </p:nvPr>
            </p:nvSpPr>
            <p:spPr>
              <a:xfrm>
                <a:off x="817917" y="1412487"/>
                <a:ext cx="10296130" cy="4458414"/>
              </a:xfrm>
              <a:blipFill>
                <a:blip r:embed="rId2"/>
                <a:stretch>
                  <a:fillRect l="-1480" t="-1642" r="-1717"/>
                </a:stretch>
              </a:blipFill>
            </p:spPr>
            <p:txBody>
              <a:bodyPr/>
              <a:lstStyle/>
              <a:p>
                <a:r>
                  <a:rPr lang="en-US">
                    <a:noFill/>
                  </a:rPr>
                  <a:t> </a:t>
                </a:r>
              </a:p>
            </p:txBody>
          </p:sp>
        </mc:Fallback>
      </mc:AlternateContent>
      <p:pic>
        <p:nvPicPr>
          <p:cNvPr id="6" name="Picture Placeholder 5" descr="A graph shows the normal approximation of the sampling distribution of p-bar. It has p-bar along the horizontal axis, with p at the center. A bell-shaped curve is above it, with its peak above the point p on the horizontal axis. A vertical line emerges at a point z_alpha/2 sigma_p-bar on the left of p, meeting the curve. The region to the left of this line, till the end of the curve on the left, is shaded. An arrow pointing to this region reads, alpha/2. A vertical line emerges at a point z_alpha/2 sigma_p-bar on the right of p, meeting the curve. The region to the right of this line, till the end of the curve on the right, is shaded. An arrow pointing to this region reads, alpha/2. A text reads, Sampling distribution of p-bar on the left of the ascending curve. An equation reads sigma_p-bar = sqrt(p(1 minus p)/n) on the right of the descending curve.&#10;">
            <a:extLst>
              <a:ext uri="{FF2B5EF4-FFF2-40B4-BE49-F238E27FC236}">
                <a16:creationId xmlns:a16="http://schemas.microsoft.com/office/drawing/2014/main" id="{6FE3AC21-3A56-1393-A11A-3AF0C5ABDFD4}"/>
              </a:ext>
            </a:extLst>
          </p:cNvPr>
          <p:cNvPicPr>
            <a:picLocks noGrp="1" noChangeAspect="1"/>
          </p:cNvPicPr>
          <p:nvPr>
            <p:ph type="pic" sz="quarter" idx="16"/>
          </p:nvPr>
        </p:nvPicPr>
        <p:blipFill rotWithShape="1">
          <a:blip r:embed="rId3"/>
          <a:srcRect t="40" b="40"/>
          <a:stretch/>
        </p:blipFill>
        <p:spPr>
          <a:xfrm>
            <a:off x="6144614" y="1442223"/>
            <a:ext cx="5211763" cy="3071813"/>
          </a:xfrm>
        </p:spPr>
      </p:pic>
    </p:spTree>
    <p:extLst>
      <p:ext uri="{BB962C8B-B14F-4D97-AF65-F5344CB8AC3E}">
        <p14:creationId xmlns:p14="http://schemas.microsoft.com/office/powerpoint/2010/main" val="1343996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56D85-95F6-F1CB-B681-441471AD1E66}"/>
              </a:ext>
            </a:extLst>
          </p:cNvPr>
          <p:cNvSpPr>
            <a:spLocks noGrp="1"/>
          </p:cNvSpPr>
          <p:nvPr>
            <p:ph type="title"/>
          </p:nvPr>
        </p:nvSpPr>
        <p:spPr>
          <a:xfrm>
            <a:off x="716597" y="365125"/>
            <a:ext cx="10711543" cy="672105"/>
          </a:xfrm>
        </p:spPr>
        <p:txBody>
          <a:bodyPr/>
          <a:lstStyle/>
          <a:p>
            <a:r>
              <a:rPr lang="en-US" dirty="0"/>
              <a:t>8.4 Application of Population Proportion Estimate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AEF42EA-9E4C-090E-8833-048346AE859B}"/>
                  </a:ext>
                </a:extLst>
              </p:cNvPr>
              <p:cNvSpPr>
                <a:spLocks noGrp="1"/>
              </p:cNvSpPr>
              <p:nvPr>
                <p:ph type="body" sz="quarter" idx="15"/>
              </p:nvPr>
            </p:nvSpPr>
            <p:spPr>
              <a:xfrm>
                <a:off x="743576" y="1278673"/>
                <a:ext cx="10711543" cy="4609171"/>
              </a:xfrm>
            </p:spPr>
            <p:txBody>
              <a:bodyPr/>
              <a:lstStyle/>
              <a:p>
                <a:pPr>
                  <a:spcBef>
                    <a:spcPts val="600"/>
                  </a:spcBef>
                </a:pPr>
                <a:r>
                  <a:rPr lang="en-US" sz="2000" dirty="0"/>
                  <a:t>A national survey of 900 randomly selected patients was conducted to assess the satisfaction with the wait times patients experienced in the medical system. </a:t>
                </a:r>
              </a:p>
              <a:p>
                <a:pPr>
                  <a:spcBef>
                    <a:spcPts val="600"/>
                  </a:spcBef>
                </a:pPr>
                <a:r>
                  <a:rPr lang="en-US" sz="2000" dirty="0"/>
                  <a:t>The survey found that 396 patients were satisfied with the wait times they experienced.</a:t>
                </a:r>
              </a:p>
              <a:p>
                <a:pPr>
                  <a:spcBef>
                    <a:spcPts val="600"/>
                  </a:spcBef>
                  <a:spcAft>
                    <a:spcPts val="600"/>
                  </a:spcAft>
                </a:pPr>
                <a:r>
                  <a:rPr lang="en-US" sz="2000" dirty="0"/>
                  <a:t>Thus, the point estimate of the proportion of the population of patients who are satisfied with the wait times they experienced is</a:t>
                </a:r>
              </a:p>
              <a:p>
                <a:pPr marL="914400">
                  <a:spcBef>
                    <a:spcPts val="600"/>
                  </a:spcBef>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396</m:t>
                          </m:r>
                        </m:num>
                        <m:den>
                          <m:r>
                            <a:rPr lang="en-US" sz="2000" b="0" i="1" smtClean="0">
                              <a:latin typeface="Cambria Math" panose="02040503050406030204" pitchFamily="18" charset="0"/>
                            </a:rPr>
                            <m:t>900</m:t>
                          </m:r>
                        </m:den>
                      </m:f>
                      <m:r>
                        <a:rPr lang="en-US" sz="2000" b="0" i="1" smtClean="0">
                          <a:latin typeface="Cambria Math" panose="02040503050406030204" pitchFamily="18" charset="0"/>
                        </a:rPr>
                        <m:t>=0.44</m:t>
                      </m:r>
                    </m:oMath>
                  </m:oMathPara>
                </a14:m>
                <a:endParaRPr lang="en-US" sz="2000" dirty="0"/>
              </a:p>
              <a:p>
                <a:pPr>
                  <a:spcBef>
                    <a:spcPts val="600"/>
                  </a:spcBef>
                </a:pPr>
                <a:r>
                  <a:rPr lang="en-US" sz="2000" dirty="0"/>
                  <a:t>Using the expression for the interval estimate of the population proportion at a 95% confidence level, we obtain</a:t>
                </a:r>
              </a:p>
              <a:p>
                <a:pPr marL="914400">
                  <a:spcBef>
                    <a:spcPts val="600"/>
                  </a:spcBef>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f>
                            <m:fPr>
                              <m:type m:val="lin"/>
                              <m:ctrlPr>
                                <a:rPr lang="en-US" sz="2000" i="1" smtClean="0">
                                  <a:latin typeface="Cambria Math" panose="02040503050406030204" pitchFamily="18" charset="0"/>
                                  <a:ea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ea typeface="Cambria Math" panose="02040503050406030204" pitchFamily="18" charset="0"/>
                                </a:rPr>
                                <m:t>2</m:t>
                              </m:r>
                            </m:den>
                          </m:f>
                        </m:sub>
                      </m:sSub>
                      <m:rad>
                        <m:radPr>
                          <m:degHide m:val="on"/>
                          <m:ctrlPr>
                            <a:rPr lang="en-US" sz="2000" b="0" i="1" smtClean="0">
                              <a:latin typeface="Cambria Math" panose="02040503050406030204" pitchFamily="18" charset="0"/>
                              <a:ea typeface="Cambria Math" panose="02040503050406030204" pitchFamily="18" charset="0"/>
                            </a:rPr>
                          </m:ctrlPr>
                        </m:radPr>
                        <m:deg/>
                        <m:e>
                          <m:f>
                            <m:fPr>
                              <m:ctrlPr>
                                <a:rPr lang="en-US" sz="2000" b="0" i="1" smtClean="0">
                                  <a:latin typeface="Cambria Math" panose="02040503050406030204" pitchFamily="18" charset="0"/>
                                  <a:ea typeface="Cambria Math" panose="02040503050406030204" pitchFamily="18"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d>
                                <m:dPr>
                                  <m:ctrlPr>
                                    <a:rPr lang="en-US" sz="2000" i="1">
                                      <a:latin typeface="Cambria Math" panose="02040503050406030204" pitchFamily="18" charset="0"/>
                                    </a:rPr>
                                  </m:ctrlPr>
                                </m:dPr>
                                <m:e>
                                  <m:r>
                                    <a:rPr lang="en-US" sz="2000" i="1">
                                      <a:latin typeface="Cambria Math" panose="02040503050406030204" pitchFamily="18" charset="0"/>
                                    </a:rPr>
                                    <m:t>1−</m:t>
                                  </m:r>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e>
                              </m:d>
                            </m:num>
                            <m:den>
                              <m:r>
                                <a:rPr lang="en-US" sz="2000" b="0" i="1" smtClean="0">
                                  <a:latin typeface="Cambria Math" panose="02040503050406030204" pitchFamily="18" charset="0"/>
                                  <a:ea typeface="Cambria Math" panose="02040503050406030204" pitchFamily="18" charset="0"/>
                                </a:rPr>
                                <m:t>𝑛</m:t>
                              </m:r>
                            </m:den>
                          </m:f>
                        </m:e>
                      </m:rad>
                      <m:r>
                        <a:rPr lang="en-US" sz="2000" b="0" i="1" smtClean="0">
                          <a:latin typeface="Cambria Math" panose="02040503050406030204" pitchFamily="18" charset="0"/>
                          <a:ea typeface="Cambria Math" panose="02040503050406030204" pitchFamily="18" charset="0"/>
                        </a:rPr>
                        <m:t>=0.44</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1.96</m:t>
                      </m:r>
                      <m:rad>
                        <m:radPr>
                          <m:degHide m:val="on"/>
                          <m:ctrlPr>
                            <a:rPr lang="en-US" sz="2000" b="0" i="1" smtClean="0">
                              <a:latin typeface="Cambria Math" panose="02040503050406030204" pitchFamily="18" charset="0"/>
                              <a:ea typeface="Cambria Math" panose="02040503050406030204" pitchFamily="18" charset="0"/>
                            </a:rPr>
                          </m:ctrlPr>
                        </m:radPr>
                        <m:deg/>
                        <m:e>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0.44(1−0.44)</m:t>
                              </m:r>
                            </m:num>
                            <m:den>
                              <m:r>
                                <a:rPr lang="en-US" sz="2000" b="0" i="1" smtClean="0">
                                  <a:latin typeface="Cambria Math" panose="02040503050406030204" pitchFamily="18" charset="0"/>
                                  <a:ea typeface="Cambria Math" panose="02040503050406030204" pitchFamily="18" charset="0"/>
                                </a:rPr>
                                <m:t>900</m:t>
                              </m:r>
                            </m:den>
                          </m:f>
                        </m:e>
                      </m:rad>
                      <m:r>
                        <a:rPr lang="en-US" sz="2000" b="0" i="1" smtClean="0">
                          <a:latin typeface="Cambria Math" panose="02040503050406030204" pitchFamily="18" charset="0"/>
                          <a:ea typeface="Cambria Math" panose="02040503050406030204" pitchFamily="18" charset="0"/>
                        </a:rPr>
                        <m:t>=0.44±0.0324</m:t>
                      </m:r>
                    </m:oMath>
                  </m:oMathPara>
                </a14:m>
                <a:endParaRPr lang="en-US" sz="2000" dirty="0"/>
              </a:p>
              <a:p>
                <a:pPr>
                  <a:spcBef>
                    <a:spcPts val="600"/>
                  </a:spcBef>
                </a:pPr>
                <a:r>
                  <a:rPr lang="en-US" sz="2000" dirty="0"/>
                  <a:t>Thus, we are 95% confident that between </a:t>
                </a:r>
                <a14:m>
                  <m:oMath xmlns:m="http://schemas.openxmlformats.org/officeDocument/2006/math">
                    <m:r>
                      <a:rPr lang="en-US" sz="2000" i="1" dirty="0" smtClean="0">
                        <a:latin typeface="Cambria Math" panose="02040503050406030204" pitchFamily="18" charset="0"/>
                      </a:rPr>
                      <m:t>0.44 –0.0324=0.4076=40.76%</m:t>
                    </m:r>
                  </m:oMath>
                </a14:m>
                <a:r>
                  <a:rPr lang="en-US" sz="2000" dirty="0"/>
                  <a:t> and </a:t>
                </a:r>
                <a14:m>
                  <m:oMath xmlns:m="http://schemas.openxmlformats.org/officeDocument/2006/math">
                    <m:r>
                      <a:rPr lang="en-US" sz="2000" i="1" dirty="0" smtClean="0">
                        <a:latin typeface="Cambria Math" panose="02040503050406030204" pitchFamily="18" charset="0"/>
                      </a:rPr>
                      <m:t>0.44+</m:t>
                    </m:r>
                    <m:r>
                      <a:rPr lang="en-US" sz="2000" b="0" i="1" dirty="0" smtClean="0">
                        <a:latin typeface="Cambria Math" panose="02040503050406030204" pitchFamily="18" charset="0"/>
                      </a:rPr>
                      <m:t>0</m:t>
                    </m:r>
                    <m:r>
                      <a:rPr lang="en-US" sz="2000" i="1" dirty="0" smtClean="0">
                        <a:latin typeface="Cambria Math" panose="02040503050406030204" pitchFamily="18" charset="0"/>
                      </a:rPr>
                      <m:t>.0324=0.4724=47.24% </m:t>
                    </m:r>
                  </m:oMath>
                </a14:m>
                <a:r>
                  <a:rPr lang="en-US" sz="2000" dirty="0"/>
                  <a:t>of all patients are satisfied with the wait times they experienced.</a:t>
                </a:r>
              </a:p>
            </p:txBody>
          </p:sp>
        </mc:Choice>
        <mc:Fallback xmlns="">
          <p:sp>
            <p:nvSpPr>
              <p:cNvPr id="3" name="Text Placeholder 2">
                <a:extLst>
                  <a:ext uri="{FF2B5EF4-FFF2-40B4-BE49-F238E27FC236}">
                    <a16:creationId xmlns:a16="http://schemas.microsoft.com/office/drawing/2014/main" id="{3AEF42EA-9E4C-090E-8833-048346AE859B}"/>
                  </a:ext>
                </a:extLst>
              </p:cNvPr>
              <p:cNvSpPr>
                <a:spLocks noGrp="1" noRot="1" noChangeAspect="1" noMove="1" noResize="1" noEditPoints="1" noAdjustHandles="1" noChangeArrowheads="1" noChangeShapeType="1" noTextEdit="1"/>
              </p:cNvSpPr>
              <p:nvPr>
                <p:ph type="body" sz="quarter" idx="15"/>
              </p:nvPr>
            </p:nvSpPr>
            <p:spPr>
              <a:xfrm>
                <a:off x="743576" y="1278673"/>
                <a:ext cx="10711543" cy="4609171"/>
              </a:xfrm>
              <a:blipFill>
                <a:blip r:embed="rId2"/>
                <a:stretch>
                  <a:fillRect l="-1480" t="-1587" r="-1081" b="-3307"/>
                </a:stretch>
              </a:blipFill>
            </p:spPr>
            <p:txBody>
              <a:bodyPr/>
              <a:lstStyle/>
              <a:p>
                <a:r>
                  <a:rPr lang="en-US">
                    <a:noFill/>
                  </a:rPr>
                  <a:t> </a:t>
                </a:r>
              </a:p>
            </p:txBody>
          </p:sp>
        </mc:Fallback>
      </mc:AlternateContent>
    </p:spTree>
    <p:extLst>
      <p:ext uri="{BB962C8B-B14F-4D97-AF65-F5344CB8AC3E}">
        <p14:creationId xmlns:p14="http://schemas.microsoft.com/office/powerpoint/2010/main" val="2737544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8.4 Excel: Construct a 95% Confidence Interval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037230"/>
                <a:ext cx="10610223" cy="1025035"/>
              </a:xfrm>
            </p:spPr>
            <p:txBody>
              <a:bodyPr/>
              <a:lstStyle/>
              <a:p>
                <a:r>
                  <a:rPr lang="en-US" sz="2000" b="1" dirty="0"/>
                  <a:t>Enter/Access Data</a:t>
                </a:r>
                <a:r>
                  <a:rPr lang="en-US" sz="2000" dirty="0"/>
                  <a:t>: Open the file </a:t>
                </a:r>
                <a:r>
                  <a:rPr lang="en-US" sz="2000" i="1" dirty="0" err="1"/>
                  <a:t>teetimes</a:t>
                </a:r>
                <a:r>
                  <a:rPr lang="en-US" sz="2000" dirty="0"/>
                  <a:t>. The sales data are entered in cells A2:A901.</a:t>
                </a:r>
              </a:p>
              <a:p>
                <a:r>
                  <a:rPr lang="en-US" sz="2000" b="1" dirty="0"/>
                  <a:t>Enter Functions and Formulas</a:t>
                </a:r>
                <a:r>
                  <a:rPr lang="en-US" sz="2000" dirty="0"/>
                  <a:t>: Cell D3 computes the sample size. Cell D4 is set to Yes.</a:t>
                </a:r>
              </a:p>
              <a:p>
                <a:r>
                  <a:rPr lang="en-US" sz="2000" dirty="0"/>
                  <a:t>Then, the count of responses is computed in cell D5 with function </a:t>
                </a:r>
                <a14:m>
                  <m:oMath xmlns:m="http://schemas.openxmlformats.org/officeDocument/2006/math">
                    <m:r>
                      <m:rPr>
                        <m:nor/>
                      </m:rPr>
                      <a:rPr lang="en-US" sz="2000" i="0" dirty="0" smtClean="0">
                        <a:latin typeface="Cambria Math" panose="02040503050406030204" pitchFamily="18" charset="0"/>
                      </a:rPr>
                      <m:t>=</m:t>
                    </m:r>
                    <m:r>
                      <a:rPr lang="en-US" sz="2000" i="1" dirty="0" smtClean="0">
                        <a:latin typeface="Cambria Math" panose="02040503050406030204" pitchFamily="18" charset="0"/>
                      </a:rPr>
                      <m:t>𝐶𝑂𝑈𝑁𝑇𝐼𝐹</m:t>
                    </m:r>
                    <m:r>
                      <a:rPr lang="en-US" sz="2000" i="1" dirty="0" smtClean="0">
                        <a:latin typeface="Cambria Math" panose="02040503050406030204" pitchFamily="18" charset="0"/>
                      </a:rPr>
                      <m:t>(</m:t>
                    </m:r>
                    <m:r>
                      <a:rPr lang="en-US" sz="2000" i="1" dirty="0" smtClean="0">
                        <a:latin typeface="Cambria Math" panose="02040503050406030204" pitchFamily="18" charset="0"/>
                      </a:rPr>
                      <m:t>𝑟𝑎𝑛𝑔𝑒</m:t>
                    </m:r>
                    <m:r>
                      <a:rPr lang="en-US" sz="2000" i="1" dirty="0" smtClean="0">
                        <a:latin typeface="Cambria Math" panose="02040503050406030204" pitchFamily="18" charset="0"/>
                      </a:rPr>
                      <m:t>, </m:t>
                    </m:r>
                  </m:oMath>
                </a14:m>
                <a:r>
                  <a:rPr lang="en-US" sz="2000" dirty="0"/>
                  <a:t>criteria).</a:t>
                </a:r>
              </a:p>
              <a:p>
                <a:r>
                  <a:rPr lang="en-US" sz="2000" dirty="0"/>
                  <a:t>Where, </a:t>
                </a:r>
                <a14:m>
                  <m:oMath xmlns:m="http://schemas.openxmlformats.org/officeDocument/2006/math">
                    <m:r>
                      <a:rPr lang="en-US" sz="2000" i="1" dirty="0" smtClean="0">
                        <a:latin typeface="Cambria Math" panose="02040503050406030204" pitchFamily="18" charset="0"/>
                      </a:rPr>
                      <m:t>𝑟𝑎𝑛𝑔𝑒</m:t>
                    </m:r>
                    <m:r>
                      <a:rPr lang="en-US" sz="2000" i="1" dirty="0" smtClean="0">
                        <a:latin typeface="Cambria Math" panose="02040503050406030204" pitchFamily="18" charset="0"/>
                      </a:rPr>
                      <m:t>=</m:t>
                    </m:r>
                    <m:r>
                      <a:rPr lang="en-US" sz="2000" i="1" dirty="0" smtClean="0">
                        <a:latin typeface="Cambria Math" panose="02040503050406030204" pitchFamily="18" charset="0"/>
                      </a:rPr>
                      <m:t>𝐴</m:t>
                    </m:r>
                    <m:r>
                      <a:rPr lang="en-US" sz="2000" i="1" dirty="0" smtClean="0">
                        <a:latin typeface="Cambria Math" panose="02040503050406030204" pitchFamily="18" charset="0"/>
                      </a:rPr>
                      <m:t>2:</m:t>
                    </m:r>
                    <m:r>
                      <a:rPr lang="en-US" sz="2000" i="1" dirty="0" smtClean="0">
                        <a:latin typeface="Cambria Math" panose="02040503050406030204" pitchFamily="18" charset="0"/>
                      </a:rPr>
                      <m:t>𝐴</m:t>
                    </m:r>
                    <m:r>
                      <a:rPr lang="en-US" sz="2000" i="1" dirty="0" smtClean="0">
                        <a:latin typeface="Cambria Math" panose="02040503050406030204" pitchFamily="18" charset="0"/>
                      </a:rPr>
                      <m:t>901</m:t>
                    </m:r>
                  </m:oMath>
                </a14:m>
                <a:r>
                  <a:rPr lang="en-US" sz="2000" dirty="0"/>
                  <a:t> and </a:t>
                </a:r>
                <a14:m>
                  <m:oMath xmlns:m="http://schemas.openxmlformats.org/officeDocument/2006/math">
                    <m:r>
                      <a:rPr lang="en-US" sz="2000" i="1" dirty="0" smtClean="0">
                        <a:latin typeface="Cambria Math" panose="02040503050406030204" pitchFamily="18" charset="0"/>
                      </a:rPr>
                      <m:t>𝑐𝑟𝑖𝑡𝑒𝑟𝑖𝑎</m:t>
                    </m:r>
                    <m:r>
                      <a:rPr lang="en-US" sz="2000" i="1" dirty="0" smtClean="0">
                        <a:latin typeface="Cambria Math" panose="02040503050406030204" pitchFamily="18" charset="0"/>
                      </a:rPr>
                      <m:t>=</m:t>
                    </m:r>
                    <m:r>
                      <a:rPr lang="en-US" sz="2000" i="1" dirty="0" smtClean="0">
                        <a:latin typeface="Cambria Math" panose="02040503050406030204" pitchFamily="18" charset="0"/>
                      </a:rPr>
                      <m:t>𝐷</m:t>
                    </m:r>
                    <m:r>
                      <a:rPr lang="en-US" sz="2000" i="1" dirty="0" smtClean="0">
                        <a:latin typeface="Cambria Math" panose="02040503050406030204" pitchFamily="18" charset="0"/>
                      </a:rPr>
                      <m:t>4</m:t>
                    </m:r>
                  </m:oMath>
                </a14:m>
                <a:r>
                  <a:rPr lang="en-US" sz="2000" dirty="0"/>
                  <a:t>.</a:t>
                </a:r>
              </a:p>
              <a:p>
                <a:endParaRPr lang="en-US" sz="2000" dirty="0"/>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43576" y="1037230"/>
                <a:ext cx="10610223" cy="1025035"/>
              </a:xfrm>
              <a:blipFill>
                <a:blip r:embed="rId2"/>
                <a:stretch>
                  <a:fillRect l="-1494" t="-7143" r="-575" b="-5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D16A1EC-8780-2A26-ACE2-AAD04145147E}"/>
                  </a:ext>
                </a:extLst>
              </p:cNvPr>
              <p:cNvSpPr>
                <a:spLocks noGrp="1"/>
              </p:cNvSpPr>
              <p:nvPr>
                <p:ph type="body" sz="quarter" idx="17"/>
              </p:nvPr>
            </p:nvSpPr>
            <p:spPr>
              <a:xfrm>
                <a:off x="743576" y="2550319"/>
                <a:ext cx="5157162" cy="3363914"/>
              </a:xfrm>
            </p:spPr>
            <p:txBody>
              <a:bodyPr/>
              <a:lstStyle/>
              <a:p>
                <a:pPr>
                  <a:spcAft>
                    <a:spcPts val="600"/>
                  </a:spcAft>
                </a:pPr>
                <a:r>
                  <a:rPr lang="en-US" sz="2000" dirty="0"/>
                  <a:t>The level of significance, </a:t>
                </a:r>
                <a14:m>
                  <m:oMath xmlns:m="http://schemas.openxmlformats.org/officeDocument/2006/math">
                    <m:r>
                      <a:rPr lang="en-US" sz="2000" i="1" dirty="0" smtClean="0">
                        <a:latin typeface="Cambria Math" panose="02040503050406030204" pitchFamily="18" charset="0"/>
                      </a:rPr>
                      <m:t>𝑎𝑙𝑝h𝑎</m:t>
                    </m:r>
                  </m:oMath>
                </a14:m>
                <a:r>
                  <a:rPr lang="en-US" sz="2000" dirty="0"/>
                  <a:t>, is computed in cell D9 by entering the formula </a:t>
                </a:r>
                <a14:m>
                  <m:oMath xmlns:m="http://schemas.openxmlformats.org/officeDocument/2006/math">
                    <m:r>
                      <m:rPr>
                        <m:nor/>
                      </m:rPr>
                      <a:rPr lang="en-US" sz="2000" i="0" dirty="0" smtClean="0">
                        <a:latin typeface="Cambria Math" panose="02040503050406030204" pitchFamily="18" charset="0"/>
                      </a:rPr>
                      <m:t>=</m:t>
                    </m:r>
                    <m:r>
                      <a:rPr lang="en-US" sz="2000" i="1" dirty="0" smtClean="0">
                        <a:latin typeface="Cambria Math" panose="02040503050406030204" pitchFamily="18" charset="0"/>
                      </a:rPr>
                      <m:t>1−</m:t>
                    </m:r>
                    <m:r>
                      <a:rPr lang="en-US" sz="2000" b="0" i="1" dirty="0" smtClean="0">
                        <a:latin typeface="Cambria Math" panose="02040503050406030204" pitchFamily="18" charset="0"/>
                      </a:rPr>
                      <m:t>𝐷</m:t>
                    </m:r>
                    <m:r>
                      <a:rPr lang="en-US" sz="2000" b="0" i="1" dirty="0" smtClean="0">
                        <a:latin typeface="Cambria Math" panose="02040503050406030204" pitchFamily="18" charset="0"/>
                      </a:rPr>
                      <m:t>8</m:t>
                    </m:r>
                  </m:oMath>
                </a14:m>
                <a:r>
                  <a:rPr lang="en-US" sz="2000" dirty="0"/>
                  <a:t>.</a:t>
                </a:r>
              </a:p>
              <a:p>
                <a:pPr>
                  <a:spcAft>
                    <a:spcPts val="600"/>
                  </a:spcAft>
                </a:pPr>
                <a:r>
                  <a:rPr lang="en-US" sz="2000" dirty="0"/>
                  <a:t>The margin of error in cell D13 is computed as the product of the </a:t>
                </a:r>
                <a14:m>
                  <m:oMath xmlns:m="http://schemas.openxmlformats.org/officeDocument/2006/math">
                    <m:r>
                      <a:rPr lang="en-US" sz="2000" i="1" dirty="0" smtClean="0">
                        <a:latin typeface="Cambria Math" panose="02040503050406030204" pitchFamily="18" charset="0"/>
                      </a:rPr>
                      <m:t>𝑧</m:t>
                    </m:r>
                  </m:oMath>
                </a14:m>
                <a:r>
                  <a:rPr lang="en-US" sz="2000" dirty="0"/>
                  <a:t> Value in cell D10 and the Standard Error in cell D12.</a:t>
                </a:r>
              </a:p>
              <a:p>
                <a:pPr>
                  <a:spcAft>
                    <a:spcPts val="600"/>
                  </a:spcAft>
                </a:pPr>
                <a:r>
                  <a:rPr lang="en-US" sz="2000" dirty="0"/>
                  <a:t>The lower and upper limits of the confidence interval are computed in cells D16:D17 by subtracting and adding the margin of error in cell D13 from the point estimate, set in cell D15 as </a:t>
                </a:r>
                <a14:m>
                  <m:oMath xmlns:m="http://schemas.openxmlformats.org/officeDocument/2006/math">
                    <m:r>
                      <m:rPr>
                        <m:nor/>
                      </m:rPr>
                      <a:rPr lang="en-US" sz="2000" i="0" dirty="0" smtClean="0">
                        <a:latin typeface="Cambria Math" panose="02040503050406030204" pitchFamily="18" charset="0"/>
                      </a:rPr>
                      <m:t>=</m:t>
                    </m:r>
                    <m:r>
                      <a:rPr lang="en-US" sz="2000" i="1" dirty="0" smtClean="0">
                        <a:latin typeface="Cambria Math" panose="02040503050406030204" pitchFamily="18" charset="0"/>
                      </a:rPr>
                      <m:t>𝐷</m:t>
                    </m:r>
                    <m:r>
                      <a:rPr lang="en-US" sz="2000" i="1" dirty="0" smtClean="0">
                        <a:latin typeface="Cambria Math" panose="02040503050406030204" pitchFamily="18" charset="0"/>
                      </a:rPr>
                      <m:t>6</m:t>
                    </m:r>
                  </m:oMath>
                </a14:m>
                <a:r>
                  <a:rPr lang="en-US" sz="2000" dirty="0"/>
                  <a:t>.</a:t>
                </a:r>
              </a:p>
            </p:txBody>
          </p:sp>
        </mc:Choice>
        <mc:Fallback xmlns="">
          <p:sp>
            <p:nvSpPr>
              <p:cNvPr id="5" name="Text Placeholder 4">
                <a:extLst>
                  <a:ext uri="{FF2B5EF4-FFF2-40B4-BE49-F238E27FC236}">
                    <a16:creationId xmlns:a16="http://schemas.microsoft.com/office/drawing/2014/main" id="{ED16A1EC-8780-2A26-ACE2-AAD04145147E}"/>
                  </a:ext>
                </a:extLst>
              </p:cNvPr>
              <p:cNvSpPr>
                <a:spLocks noGrp="1" noRot="1" noChangeAspect="1" noMove="1" noResize="1" noEditPoints="1" noAdjustHandles="1" noChangeArrowheads="1" noChangeShapeType="1" noTextEdit="1"/>
              </p:cNvSpPr>
              <p:nvPr>
                <p:ph type="body" sz="quarter" idx="17"/>
              </p:nvPr>
            </p:nvSpPr>
            <p:spPr>
              <a:xfrm>
                <a:off x="743576" y="2550319"/>
                <a:ext cx="5157162" cy="3363914"/>
              </a:xfrm>
              <a:blipFill>
                <a:blip r:embed="rId3"/>
                <a:stretch>
                  <a:fillRect l="-3073" t="-2174" r="-1537" b="-4529"/>
                </a:stretch>
              </a:blipFill>
            </p:spPr>
            <p:txBody>
              <a:bodyPr/>
              <a:lstStyle/>
              <a:p>
                <a:r>
                  <a:rPr lang="en-US">
                    <a:noFill/>
                  </a:rPr>
                  <a:t> </a:t>
                </a:r>
              </a:p>
            </p:txBody>
          </p:sp>
        </mc:Fallback>
      </mc:AlternateContent>
      <p:pic>
        <p:nvPicPr>
          <p:cNvPr id="8" name="Picture Placeholder 7" descr="Two screenshots of Excel spreadsheets for determining the interval estimate of a population. In both the spreadsheets, column A is labeled response. The row entries are as follows. Row 2: Yes. Row 3: No. Row 4: Yes. Row 5: Yes. Row 6: No. Row 7: No. Row 8: No. Row 9: Yes. Row 10: Yes. Row 11: Yes. Row 12: No. Row 13: No. Row 14: Yes. Row 15: No. Row 16: No. Row 17: Yes. Row 18: No. Row 900: Yes. Row 901: Yes. The entries under columns C and D in the first spreadsheet are as follows. C 3: Sample size. D 3: =COUNT A(A 2:A 901). C 4: Response of Interest. D 4: Yes. C 5: Count for Response. D 5: =COUNT IF(A 2:A 901,D 4). C 6: Sample Proportion. D 6: =D 5 over D 3. C 8: Confidence coefficient. D 8: 0.95. C 9: Level of significance (alpha). D 9: =1 minus D 8. C 10: z Value. D 10: =NORM.S.INV(1 minus D 9/2). C 12: Standard error. D 12: =SQRT(D 6*(1 minus D6)/D 3). C 13: Margin of error. D 13: =D 10*D 12. C 15: Point estimate. D 15: =D 6. C 16: Lower limit. D 16: =D 15 minus D 13. C 17: Upper limit. D 17: =D 15 + D 13. The entries under columns C and D in the second spreadsheet are as follows. C 3: Sample size. D 3: 900. C 4: Response of Interest. D 4: Yes. Text in a label reads, Enter yes as the response of interest. C 5: Count for Response. D 5: 396. C 6: Sample Proportion. D 6: 0.44. C 8: Confidence coefficient. D 8: 0.95. C 9: Level of significance (alpha). D 9: 0.05. C 10: z Value. D 10: 1.959964. C 12: Standard error. D 12: 0.0165. C 13: Margin of error. D 13: 0.0324. C 15: Point estimate. D 15: 0.44. C 16: Lower limit. D 16: 0.4076. C 17: Upper limit. D 17: 0.4724.">
            <a:extLst>
              <a:ext uri="{FF2B5EF4-FFF2-40B4-BE49-F238E27FC236}">
                <a16:creationId xmlns:a16="http://schemas.microsoft.com/office/drawing/2014/main" id="{14C3AA2D-884E-4644-4BE3-5C0DE0CAA283}"/>
              </a:ext>
            </a:extLst>
          </p:cNvPr>
          <p:cNvPicPr>
            <a:picLocks noGrp="1" noChangeAspect="1"/>
          </p:cNvPicPr>
          <p:nvPr>
            <p:ph type="pic" sz="quarter" idx="16"/>
          </p:nvPr>
        </p:nvPicPr>
        <p:blipFill>
          <a:blip r:embed="rId4"/>
          <a:srcRect l="5" r="5"/>
          <a:stretch/>
        </p:blipFill>
        <p:spPr>
          <a:xfrm>
            <a:off x="5986663" y="2178845"/>
            <a:ext cx="5367136" cy="3756821"/>
          </a:xfrm>
          <a:ln>
            <a:solidFill>
              <a:srgbClr val="000000"/>
            </a:solidFill>
          </a:ln>
        </p:spPr>
      </p:pic>
    </p:spTree>
    <p:extLst>
      <p:ext uri="{BB962C8B-B14F-4D97-AF65-F5344CB8AC3E}">
        <p14:creationId xmlns:p14="http://schemas.microsoft.com/office/powerpoint/2010/main" val="3550666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59DC-6FC9-AFFD-8D5B-97CAD0B01525}"/>
              </a:ext>
            </a:extLst>
          </p:cNvPr>
          <p:cNvSpPr>
            <a:spLocks noGrp="1"/>
          </p:cNvSpPr>
          <p:nvPr>
            <p:ph type="title"/>
          </p:nvPr>
        </p:nvSpPr>
        <p:spPr>
          <a:xfrm>
            <a:off x="605079" y="404786"/>
            <a:ext cx="10981841" cy="672105"/>
          </a:xfrm>
        </p:spPr>
        <p:txBody>
          <a:bodyPr/>
          <a:lstStyle/>
          <a:p>
            <a:r>
              <a:rPr lang="en-US" dirty="0"/>
              <a:t>8.4 Determining the Sample Size for the Estimate of </a:t>
            </a:r>
            <a:r>
              <a:rPr lang="en-US" i="1" dirty="0">
                <a:latin typeface="Arial" panose="020B0604020202020204" pitchFamily="34" charset="0"/>
                <a:cs typeface="Arial" panose="020B0604020202020204" pitchFamily="34" charset="0"/>
              </a:rPr>
              <a:t>p</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69BB314-E737-AAC6-8961-545E7B21F547}"/>
                  </a:ext>
                </a:extLst>
              </p:cNvPr>
              <p:cNvSpPr>
                <a:spLocks noGrp="1"/>
              </p:cNvSpPr>
              <p:nvPr>
                <p:ph type="body" sz="quarter" idx="15"/>
              </p:nvPr>
            </p:nvSpPr>
            <p:spPr>
              <a:xfrm>
                <a:off x="740228" y="1250937"/>
                <a:ext cx="10711543" cy="4529931"/>
              </a:xfrm>
            </p:spPr>
            <p:txBody>
              <a:bodyPr>
                <a:normAutofit/>
              </a:bodyPr>
              <a:lstStyle/>
              <a:p>
                <a:pPr>
                  <a:lnSpc>
                    <a:spcPct val="100000"/>
                  </a:lnSpc>
                  <a:spcBef>
                    <a:spcPts val="600"/>
                  </a:spcBef>
                  <a:spcAft>
                    <a:spcPts val="600"/>
                  </a:spcAft>
                </a:pPr>
                <a:r>
                  <a:rPr lang="en-US" sz="2000" dirty="0"/>
                  <a:t>Given a desired the margin of error </a:t>
                </a:r>
                <a14:m>
                  <m:oMath xmlns:m="http://schemas.openxmlformats.org/officeDocument/2006/math">
                    <m:r>
                      <a:rPr lang="en-US" sz="2000" b="0" i="1" smtClean="0">
                        <a:latin typeface="Cambria Math" panose="02040503050406030204" pitchFamily="18" charset="0"/>
                      </a:rPr>
                      <m:t>𝐸</m:t>
                    </m:r>
                  </m:oMath>
                </a14:m>
                <a:r>
                  <a:rPr lang="en-US" sz="2000" dirty="0"/>
                  <a:t>, selected prior to sampling such that</a:t>
                </a:r>
              </a:p>
              <a:p>
                <a:pPr marL="914400">
                  <a:lnSpc>
                    <a:spcPct val="100000"/>
                  </a:lnSpc>
                  <a:spcBef>
                    <a:spcPts val="600"/>
                  </a:spcBef>
                  <a:spcAft>
                    <a:spcPts val="600"/>
                  </a:spcAft>
                  <a:tabLst>
                    <a:tab pos="5889625" algn="l"/>
                  </a:tabLs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𝐸</m:t>
                      </m:r>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rad>
                        <m:radPr>
                          <m:degHide m:val="on"/>
                          <m:ctrlPr>
                            <a:rPr lang="en-US" sz="2000" i="1">
                              <a:latin typeface="Cambria Math" panose="02040503050406030204" pitchFamily="18" charset="0"/>
                              <a:ea typeface="Cambria Math" panose="02040503050406030204" pitchFamily="18" charset="0"/>
                            </a:rPr>
                          </m:ctrlPr>
                        </m:radPr>
                        <m:deg/>
                        <m:e>
                          <m:f>
                            <m:fPr>
                              <m:ctrlPr>
                                <a:rPr lang="en-US" sz="2000" i="1">
                                  <a:latin typeface="Cambria Math" panose="02040503050406030204" pitchFamily="18" charset="0"/>
                                  <a:ea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𝑝</m:t>
                                  </m:r>
                                </m:e>
                                <m:sup>
                                  <m:r>
                                    <a:rPr lang="en-US" sz="2000" i="1">
                                      <a:latin typeface="Cambria Math" panose="02040503050406030204" pitchFamily="18" charset="0"/>
                                    </a:rPr>
                                    <m:t>∗</m:t>
                                  </m:r>
                                </m:sup>
                              </m:sSup>
                              <m:d>
                                <m:dPr>
                                  <m:ctrlPr>
                                    <a:rPr lang="en-US" sz="2000" i="1">
                                      <a:latin typeface="Cambria Math" panose="02040503050406030204" pitchFamily="18" charset="0"/>
                                    </a:rPr>
                                  </m:ctrlPr>
                                </m:dPr>
                                <m:e>
                                  <m:r>
                                    <a:rPr lang="en-US" sz="2000" i="1">
                                      <a:latin typeface="Cambria Math" panose="02040503050406030204" pitchFamily="18" charset="0"/>
                                    </a:rPr>
                                    <m:t>1−</m:t>
                                  </m:r>
                                  <m:sSup>
                                    <m:sSupPr>
                                      <m:ctrlPr>
                                        <a:rPr lang="en-US" sz="2000" i="1">
                                          <a:latin typeface="Cambria Math" panose="02040503050406030204" pitchFamily="18" charset="0"/>
                                        </a:rPr>
                                      </m:ctrlPr>
                                    </m:sSupPr>
                                    <m:e>
                                      <m:r>
                                        <a:rPr lang="en-US" sz="2000" i="1">
                                          <a:latin typeface="Cambria Math" panose="02040503050406030204" pitchFamily="18" charset="0"/>
                                        </a:rPr>
                                        <m:t>𝑝</m:t>
                                      </m:r>
                                    </m:e>
                                    <m:sup>
                                      <m:r>
                                        <a:rPr lang="en-US" sz="2000" i="1">
                                          <a:latin typeface="Cambria Math" panose="02040503050406030204" pitchFamily="18" charset="0"/>
                                        </a:rPr>
                                        <m:t>∗</m:t>
                                      </m:r>
                                    </m:sup>
                                  </m:sSup>
                                </m:e>
                              </m:d>
                            </m:num>
                            <m:den>
                              <m:r>
                                <a:rPr lang="en-US" sz="2000" i="1">
                                  <a:latin typeface="Cambria Math" panose="02040503050406030204" pitchFamily="18" charset="0"/>
                                  <a:ea typeface="Cambria Math" panose="02040503050406030204" pitchFamily="18" charset="0"/>
                                </a:rPr>
                                <m:t>𝑛</m:t>
                              </m:r>
                            </m:den>
                          </m:f>
                        </m:e>
                      </m:rad>
                    </m:oMath>
                  </m:oMathPara>
                </a14:m>
                <a:endParaRPr lang="en-US" sz="2000" dirty="0"/>
              </a:p>
              <a:p>
                <a:pPr>
                  <a:lnSpc>
                    <a:spcPct val="100000"/>
                  </a:lnSpc>
                  <a:spcBef>
                    <a:spcPts val="600"/>
                  </a:spcBef>
                  <a:spcAft>
                    <a:spcPts val="600"/>
                  </a:spcAft>
                </a:pPr>
                <a:r>
                  <a:rPr lang="en-US" sz="2000" dirty="0"/>
                  <a:t>The sample size necessary for the desired margin of error can be determined solving for </a:t>
                </a:r>
                <a14:m>
                  <m:oMath xmlns:m="http://schemas.openxmlformats.org/officeDocument/2006/math">
                    <m:r>
                      <a:rPr lang="en-US" sz="2000" i="1" dirty="0">
                        <a:latin typeface="Cambria Math" panose="02040503050406030204" pitchFamily="18" charset="0"/>
                      </a:rPr>
                      <m:t>𝑛</m:t>
                    </m:r>
                  </m:oMath>
                </a14:m>
                <a:endParaRPr lang="en-US" sz="2000" b="1" i="1" dirty="0">
                  <a:latin typeface="Cambria Math" panose="02040503050406030204" pitchFamily="18" charset="0"/>
                </a:endParaRPr>
              </a:p>
              <a:p>
                <a:pPr marL="914400">
                  <a:lnSpc>
                    <a:spcPct val="100000"/>
                  </a:lnSpc>
                  <a:spcBef>
                    <a:spcPts val="600"/>
                  </a:spcBef>
                  <a:spcAft>
                    <a:spcPts val="600"/>
                  </a:spcAft>
                  <a:tabLst>
                    <a:tab pos="5889625" algn="l"/>
                  </a:tabLs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𝒏</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p>
                            <m:sSupPr>
                              <m:ctrlPr>
                                <a:rPr lang="en-US" sz="2000" b="1" i="1" smtClean="0">
                                  <a:latin typeface="Cambria Math" panose="02040503050406030204" pitchFamily="18" charset="0"/>
                                </a:rPr>
                              </m:ctrlPr>
                            </m:sSupPr>
                            <m:e>
                              <m:d>
                                <m:dPr>
                                  <m:ctrlPr>
                                    <a:rPr lang="en-US" sz="2000" b="1" i="1" smtClean="0">
                                      <a:latin typeface="Cambria Math" panose="02040503050406030204" pitchFamily="18" charset="0"/>
                                    </a:rPr>
                                  </m:ctrlPr>
                                </m:dPr>
                                <m:e>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𝒛</m:t>
                                      </m:r>
                                    </m:e>
                                    <m:sub>
                                      <m:f>
                                        <m:fPr>
                                          <m:type m:val="lin"/>
                                          <m:ctrlPr>
                                            <a:rPr lang="en-US" sz="2000" b="1" i="1">
                                              <a:latin typeface="Cambria Math" panose="02040503050406030204" pitchFamily="18" charset="0"/>
                                              <a:ea typeface="Cambria Math" panose="02040503050406030204" pitchFamily="18" charset="0"/>
                                            </a:rPr>
                                          </m:ctrlPr>
                                        </m:fPr>
                                        <m:num>
                                          <m:r>
                                            <a:rPr lang="en-US" sz="2000" b="1" i="1">
                                              <a:latin typeface="Cambria Math" panose="02040503050406030204" pitchFamily="18" charset="0"/>
                                              <a:ea typeface="Cambria Math" panose="02040503050406030204" pitchFamily="18" charset="0"/>
                                            </a:rPr>
                                            <m:t>𝜶</m:t>
                                          </m:r>
                                        </m:num>
                                        <m:den>
                                          <m:r>
                                            <a:rPr lang="en-US" sz="2000" b="1" i="1">
                                              <a:latin typeface="Cambria Math" panose="02040503050406030204" pitchFamily="18" charset="0"/>
                                              <a:ea typeface="Cambria Math" panose="02040503050406030204" pitchFamily="18" charset="0"/>
                                            </a:rPr>
                                            <m:t>𝟐</m:t>
                                          </m:r>
                                        </m:den>
                                      </m:f>
                                    </m:sub>
                                  </m:sSub>
                                </m:e>
                              </m:d>
                            </m:e>
                            <m:sup>
                              <m:r>
                                <a:rPr lang="en-US" sz="2000" b="1" i="1" smtClean="0">
                                  <a:latin typeface="Cambria Math" panose="02040503050406030204" pitchFamily="18" charset="0"/>
                                </a:rPr>
                                <m:t>𝟐</m:t>
                              </m:r>
                            </m:sup>
                          </m:sSup>
                          <m:sSup>
                            <m:sSupPr>
                              <m:ctrlPr>
                                <a:rPr lang="en-US" sz="2000" b="1" i="1">
                                  <a:latin typeface="Cambria Math" panose="02040503050406030204" pitchFamily="18" charset="0"/>
                                </a:rPr>
                              </m:ctrlPr>
                            </m:sSupPr>
                            <m:e>
                              <m:r>
                                <a:rPr lang="en-US" sz="2000" b="1" i="1">
                                  <a:latin typeface="Cambria Math" panose="02040503050406030204" pitchFamily="18" charset="0"/>
                                </a:rPr>
                                <m:t>𝒑</m:t>
                              </m:r>
                            </m:e>
                            <m:sup>
                              <m:r>
                                <a:rPr lang="en-US" sz="2000" b="1" i="1">
                                  <a:latin typeface="Cambria Math" panose="02040503050406030204" pitchFamily="18" charset="0"/>
                                </a:rPr>
                                <m:t>∗</m:t>
                              </m:r>
                            </m:sup>
                          </m:sSup>
                          <m:d>
                            <m:dPr>
                              <m:ctrlPr>
                                <a:rPr lang="en-US" sz="2000" b="1" i="1">
                                  <a:latin typeface="Cambria Math" panose="02040503050406030204" pitchFamily="18" charset="0"/>
                                </a:rPr>
                              </m:ctrlPr>
                            </m:dPr>
                            <m:e>
                              <m:r>
                                <a:rPr lang="en-US" sz="2000" b="1" i="1">
                                  <a:latin typeface="Cambria Math" panose="02040503050406030204" pitchFamily="18" charset="0"/>
                                </a:rPr>
                                <m:t>𝟏</m:t>
                              </m:r>
                              <m:r>
                                <a:rPr lang="en-US" sz="2000" b="1" i="1">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𝒑</m:t>
                                  </m:r>
                                </m:e>
                                <m:sup>
                                  <m:r>
                                    <a:rPr lang="en-US" sz="2000" b="1" i="1" smtClean="0">
                                      <a:latin typeface="Cambria Math" panose="02040503050406030204" pitchFamily="18" charset="0"/>
                                    </a:rPr>
                                    <m:t>∗</m:t>
                                  </m:r>
                                </m:sup>
                              </m:sSup>
                            </m:e>
                          </m:d>
                        </m:num>
                        <m:den>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𝑬</m:t>
                              </m:r>
                            </m:e>
                            <m:sup>
                              <m:r>
                                <a:rPr lang="en-US" sz="2000" b="1" i="1" smtClean="0">
                                  <a:latin typeface="Cambria Math" panose="02040503050406030204" pitchFamily="18" charset="0"/>
                                </a:rPr>
                                <m:t>𝟐</m:t>
                              </m:r>
                            </m:sup>
                          </m:sSup>
                        </m:den>
                      </m:f>
                    </m:oMath>
                  </m:oMathPara>
                </a14:m>
                <a:endParaRPr lang="en-US" sz="2000" b="1" dirty="0"/>
              </a:p>
              <a:p>
                <a:pPr>
                  <a:lnSpc>
                    <a:spcPct val="100000"/>
                  </a:lnSpc>
                  <a:spcBef>
                    <a:spcPts val="600"/>
                  </a:spcBef>
                </a:pPr>
                <a:r>
                  <a:rPr lang="en-US" sz="2000" dirty="0"/>
                  <a:t>The planning value </a:t>
                </a:r>
                <a14:m>
                  <m:oMath xmlns:m="http://schemas.openxmlformats.org/officeDocument/2006/math">
                    <m:sSup>
                      <m:sSupPr>
                        <m:ctrlPr>
                          <a:rPr lang="en-US" sz="2000" i="1" smtClean="0">
                            <a:latin typeface="Cambria Math" panose="02040503050406030204" pitchFamily="18" charset="0"/>
                          </a:rPr>
                        </m:ctrlPr>
                      </m:sSupPr>
                      <m:e>
                        <m:r>
                          <a:rPr lang="en-US" sz="2000" i="1">
                            <a:latin typeface="Cambria Math" panose="02040503050406030204" pitchFamily="18" charset="0"/>
                          </a:rPr>
                          <m:t>𝑝</m:t>
                        </m:r>
                      </m:e>
                      <m:sup>
                        <m:r>
                          <a:rPr lang="en-US" sz="2000" i="1">
                            <a:latin typeface="Cambria Math" panose="02040503050406030204" pitchFamily="18" charset="0"/>
                          </a:rPr>
                          <m:t>∗</m:t>
                        </m:r>
                      </m:sup>
                    </m:sSup>
                  </m:oMath>
                </a14:m>
                <a:r>
                  <a:rPr lang="en-US" sz="2000" dirty="0"/>
                  <a:t> replaces the unknown sample proportion,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oMath>
                </a14:m>
                <a:r>
                  <a:rPr lang="en-US" sz="2000" dirty="0"/>
                  <a:t>, and can be chosen using</a:t>
                </a:r>
              </a:p>
              <a:p>
                <a:pPr marL="457200" indent="-457200">
                  <a:lnSpc>
                    <a:spcPct val="100000"/>
                  </a:lnSpc>
                  <a:spcBef>
                    <a:spcPts val="600"/>
                  </a:spcBef>
                  <a:buFont typeface="+mj-lt"/>
                  <a:buAutoNum type="arabicPeriod"/>
                </a:pPr>
                <a:r>
                  <a:rPr lang="en-US" sz="2000" dirty="0"/>
                  <a:t>the sample proportion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oMath>
                </a14:m>
                <a:r>
                  <a:rPr lang="en-US" sz="2000" dirty="0"/>
                  <a:t> from a previous sample of the same or similar units.</a:t>
                </a:r>
              </a:p>
              <a:p>
                <a:pPr marL="457200" indent="-457200">
                  <a:spcBef>
                    <a:spcPts val="600"/>
                  </a:spcBef>
                  <a:buFont typeface="+mj-lt"/>
                  <a:buAutoNum type="arabicPeriod"/>
                </a:pPr>
                <a:r>
                  <a:rPr lang="en-US" sz="2000" dirty="0"/>
                  <a:t>the sample proportion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oMath>
                </a14:m>
                <a:r>
                  <a:rPr lang="en-US" sz="2000" dirty="0"/>
                  <a:t> from a preliminary study as the planning value,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m:t>
                        </m:r>
                      </m:sup>
                    </m:sSup>
                  </m:oMath>
                </a14:m>
                <a:r>
                  <a:rPr lang="en-US" sz="2000" dirty="0"/>
                  <a:t>.</a:t>
                </a:r>
              </a:p>
              <a:p>
                <a:pPr marL="457200" indent="-457200">
                  <a:lnSpc>
                    <a:spcPct val="100000"/>
                  </a:lnSpc>
                  <a:spcBef>
                    <a:spcPts val="600"/>
                  </a:spcBef>
                  <a:buFont typeface="+mj-lt"/>
                  <a:buAutoNum type="arabicPeriod"/>
                </a:pPr>
                <a:r>
                  <a:rPr lang="en-US" sz="2000" dirty="0"/>
                  <a:t>a “best guess” for the value of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m:t>
                        </m:r>
                      </m:sup>
                    </m:sSup>
                  </m:oMath>
                </a14:m>
                <a:r>
                  <a:rPr lang="en-US" sz="2000" dirty="0"/>
                  <a:t>.</a:t>
                </a:r>
              </a:p>
              <a:p>
                <a:pPr marL="457200" indent="-457200">
                  <a:lnSpc>
                    <a:spcPct val="100000"/>
                  </a:lnSpc>
                  <a:spcBef>
                    <a:spcPts val="600"/>
                  </a:spcBef>
                  <a:buFont typeface="+mj-lt"/>
                  <a:buAutoNum type="arabicPeriod"/>
                </a:pPr>
                <a:r>
                  <a:rPr lang="en-US" sz="2000" dirty="0"/>
                  <a:t>a planning value of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=0.50</m:t>
                    </m:r>
                  </m:oMath>
                </a14:m>
                <a:r>
                  <a:rPr lang="en-US" sz="2000" dirty="0"/>
                  <a:t>, if none of the preceding alternatives applies (*see notes.)</a:t>
                </a:r>
              </a:p>
            </p:txBody>
          </p:sp>
        </mc:Choice>
        <mc:Fallback xmlns="">
          <p:sp>
            <p:nvSpPr>
              <p:cNvPr id="3" name="Text Placeholder 2">
                <a:extLst>
                  <a:ext uri="{FF2B5EF4-FFF2-40B4-BE49-F238E27FC236}">
                    <a16:creationId xmlns:a16="http://schemas.microsoft.com/office/drawing/2014/main" id="{569BB314-E737-AAC6-8961-545E7B21F547}"/>
                  </a:ext>
                </a:extLst>
              </p:cNvPr>
              <p:cNvSpPr>
                <a:spLocks noGrp="1" noRot="1" noChangeAspect="1" noMove="1" noResize="1" noEditPoints="1" noAdjustHandles="1" noChangeArrowheads="1" noChangeShapeType="1" noTextEdit="1"/>
              </p:cNvSpPr>
              <p:nvPr>
                <p:ph type="body" sz="quarter" idx="15"/>
              </p:nvPr>
            </p:nvSpPr>
            <p:spPr>
              <a:xfrm>
                <a:off x="740228" y="1250937"/>
                <a:ext cx="10711543" cy="4529931"/>
              </a:xfrm>
              <a:blipFill>
                <a:blip r:embed="rId3"/>
                <a:stretch>
                  <a:fillRect l="-1422" t="-1615" b="-2826"/>
                </a:stretch>
              </a:blipFill>
            </p:spPr>
            <p:txBody>
              <a:bodyPr/>
              <a:lstStyle/>
              <a:p>
                <a:r>
                  <a:rPr lang="en-US">
                    <a:noFill/>
                  </a:rPr>
                  <a:t> </a:t>
                </a:r>
              </a:p>
            </p:txBody>
          </p:sp>
        </mc:Fallback>
      </mc:AlternateContent>
    </p:spTree>
    <p:extLst>
      <p:ext uri="{BB962C8B-B14F-4D97-AF65-F5344CB8AC3E}">
        <p14:creationId xmlns:p14="http://schemas.microsoft.com/office/powerpoint/2010/main" val="3930455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59DC-6FC9-AFFD-8D5B-97CAD0B01525}"/>
              </a:ext>
            </a:extLst>
          </p:cNvPr>
          <p:cNvSpPr>
            <a:spLocks noGrp="1"/>
          </p:cNvSpPr>
          <p:nvPr>
            <p:ph type="title"/>
          </p:nvPr>
        </p:nvSpPr>
        <p:spPr>
          <a:xfrm>
            <a:off x="490653" y="365125"/>
            <a:ext cx="11106615" cy="672105"/>
          </a:xfrm>
        </p:spPr>
        <p:txBody>
          <a:bodyPr/>
          <a:lstStyle/>
          <a:p>
            <a:r>
              <a:rPr lang="en-US" dirty="0"/>
              <a:t>8.4 Application of Sample Size Determination</a:t>
            </a:r>
            <a:endParaRPr lang="en-US" i="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69BB314-E737-AAC6-8961-545E7B21F547}"/>
                  </a:ext>
                </a:extLst>
              </p:cNvPr>
              <p:cNvSpPr>
                <a:spLocks noGrp="1"/>
              </p:cNvSpPr>
              <p:nvPr>
                <p:ph type="body" sz="quarter" idx="15"/>
              </p:nvPr>
            </p:nvSpPr>
            <p:spPr>
              <a:xfrm>
                <a:off x="798023" y="1270571"/>
                <a:ext cx="10595953" cy="4401809"/>
              </a:xfrm>
            </p:spPr>
            <p:txBody>
              <a:bodyPr>
                <a:noAutofit/>
              </a:bodyPr>
              <a:lstStyle/>
              <a:p>
                <a:pPr>
                  <a:lnSpc>
                    <a:spcPct val="100000"/>
                  </a:lnSpc>
                  <a:spcBef>
                    <a:spcPts val="600"/>
                  </a:spcBef>
                  <a:spcAft>
                    <a:spcPts val="0"/>
                  </a:spcAft>
                </a:pPr>
                <a:r>
                  <a:rPr lang="en-US" sz="2000" dirty="0"/>
                  <a:t>As an application of sample size determination, consider again the national survey conducted to assess the satisfaction with the wait times patients experienced in the medical system. </a:t>
                </a:r>
              </a:p>
              <a:p>
                <a:pPr>
                  <a:lnSpc>
                    <a:spcPct val="100000"/>
                  </a:lnSpc>
                  <a:spcBef>
                    <a:spcPts val="600"/>
                  </a:spcBef>
                  <a:spcAft>
                    <a:spcPts val="0"/>
                  </a:spcAft>
                </a:pPr>
                <a:r>
                  <a:rPr lang="en-US" sz="2000" dirty="0"/>
                  <a:t>In its preliminary version, we used a random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=900</m:t>
                    </m:r>
                  </m:oMath>
                </a14:m>
                <a:r>
                  <a:rPr lang="en-US" sz="2000" dirty="0"/>
                  <a:t> patients to estimate at a 95% confidence level the proportion of patients’ satisfaction with a 0.0324 margin of error.</a:t>
                </a:r>
              </a:p>
              <a:p>
                <a:pPr>
                  <a:lnSpc>
                    <a:spcPct val="100000"/>
                  </a:lnSpc>
                  <a:spcBef>
                    <a:spcPts val="600"/>
                  </a:spcBef>
                  <a:spcAft>
                    <a:spcPts val="300"/>
                  </a:spcAft>
                </a:pPr>
                <a:r>
                  <a:rPr lang="en-US" sz="2000" dirty="0"/>
                  <a:t>If the requirement on the margin of error is 0.025 and the confidence level still 95%, we have</a:t>
                </a:r>
              </a:p>
              <a:p>
                <a:pPr marL="914400">
                  <a:lnSpc>
                    <a:spcPct val="100000"/>
                  </a:lnSpc>
                  <a:spcBef>
                    <a:spcPts val="600"/>
                  </a:spcBef>
                  <a:spcAft>
                    <a:spcPts val="3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r>
                        <a:rPr lang="en-US" sz="2000" b="0" i="1" smtClean="0">
                          <a:latin typeface="Cambria Math" panose="02040503050406030204" pitchFamily="18" charset="0"/>
                          <a:ea typeface="Cambria Math" panose="02040503050406030204" pitchFamily="18" charset="0"/>
                        </a:rPr>
                        <m:t>=1.96</m:t>
                      </m:r>
                    </m:oMath>
                  </m:oMathPara>
                </a14:m>
                <a:endParaRPr lang="en-US" sz="2000" dirty="0"/>
              </a:p>
              <a:p>
                <a:pPr marL="914400">
                  <a:lnSpc>
                    <a:spcPct val="100000"/>
                  </a:lnSpc>
                  <a:spcBef>
                    <a:spcPts val="600"/>
                  </a:spcBef>
                  <a:spcAft>
                    <a:spcPts val="300"/>
                  </a:spcAft>
                </a:pPr>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rPr>
                        <m:t>𝐸</m:t>
                      </m:r>
                      <m:r>
                        <a:rPr lang="en-US" sz="2000" i="1" dirty="0" smtClean="0">
                          <a:latin typeface="Cambria Math" panose="02040503050406030204" pitchFamily="18" charset="0"/>
                        </a:rPr>
                        <m:t>=0.025</m:t>
                      </m:r>
                    </m:oMath>
                  </m:oMathPara>
                </a14:m>
                <a:endParaRPr lang="en-US" sz="2000" dirty="0"/>
              </a:p>
              <a:p>
                <a:pPr marL="914400">
                  <a:lnSpc>
                    <a:spcPct val="100000"/>
                  </a:lnSpc>
                  <a:spcBef>
                    <a:spcPts val="600"/>
                  </a:spcBef>
                  <a:spcAft>
                    <a:spcPts val="300"/>
                  </a:spcAft>
                </a:pPr>
                <a14:m>
                  <m:oMathPara xmlns:m="http://schemas.openxmlformats.org/officeDocument/2006/math">
                    <m:oMathParaPr>
                      <m:jc m:val="left"/>
                    </m:oMathParaPr>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r>
                        <a:rPr lang="en-US" sz="2000" i="1">
                          <a:latin typeface="Cambria Math" panose="02040503050406030204" pitchFamily="18" charset="0"/>
                        </a:rPr>
                        <m:t>=0.44</m:t>
                      </m:r>
                      <m:r>
                        <a:rPr lang="en-US" sz="2000" b="0" i="1" smtClean="0">
                          <a:latin typeface="Cambria Math" panose="02040503050406030204" pitchFamily="18" charset="0"/>
                        </a:rPr>
                        <m:t> </m:t>
                      </m:r>
                      <m:r>
                        <m:rPr>
                          <m:nor/>
                        </m:rPr>
                        <a:rPr lang="en-US" sz="2000" b="0" i="0" smtClean="0">
                          <a:latin typeface="Arial" panose="020B0604020202020204" pitchFamily="34" charset="0"/>
                          <a:cs typeface="Arial" panose="020B0604020202020204" pitchFamily="34" charset="0"/>
                        </a:rPr>
                        <m:t>from</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the</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preliminary</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study</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of</m:t>
                      </m:r>
                      <m:r>
                        <m:rPr>
                          <m:nor/>
                        </m:rPr>
                        <a:rPr lang="en-US" sz="2000" b="0" i="0" smtClean="0">
                          <a:latin typeface="Arial" panose="020B0604020202020204" pitchFamily="34" charset="0"/>
                          <a:cs typeface="Arial" panose="020B0604020202020204" pitchFamily="34" charset="0"/>
                        </a:rPr>
                        <m:t> </m:t>
                      </m:r>
                      <m:r>
                        <a:rPr lang="en-US" sz="2000" b="0" i="1" smtClean="0">
                          <a:latin typeface="Cambria Math" panose="02040503050406030204" pitchFamily="18" charset="0"/>
                        </a:rPr>
                        <m:t>𝑛</m:t>
                      </m:r>
                      <m:r>
                        <a:rPr lang="en-US" sz="2000" b="0" i="1" smtClean="0">
                          <a:latin typeface="Cambria Math" panose="02040503050406030204" pitchFamily="18" charset="0"/>
                        </a:rPr>
                        <m:t>=900 </m:t>
                      </m:r>
                      <m:r>
                        <m:rPr>
                          <m:nor/>
                        </m:rPr>
                        <a:rPr lang="en-US" sz="2000" b="0" i="0" smtClean="0">
                          <a:latin typeface="Arial" panose="020B0604020202020204" pitchFamily="34" charset="0"/>
                          <a:cs typeface="Arial" panose="020B0604020202020204" pitchFamily="34" charset="0"/>
                        </a:rPr>
                        <m:t>patients</m:t>
                      </m:r>
                    </m:oMath>
                  </m:oMathPara>
                </a14:m>
                <a:endParaRPr lang="en-US" sz="2000" dirty="0">
                  <a:latin typeface="Arial" panose="020B0604020202020204" pitchFamily="34" charset="0"/>
                  <a:cs typeface="Arial" panose="020B0604020202020204" pitchFamily="34" charset="0"/>
                </a:endParaRPr>
              </a:p>
              <a:p>
                <a:pPr>
                  <a:lnSpc>
                    <a:spcPct val="100000"/>
                  </a:lnSpc>
                  <a:spcBef>
                    <a:spcPts val="600"/>
                  </a:spcBef>
                  <a:spcAft>
                    <a:spcPts val="600"/>
                  </a:spcAft>
                </a:pPr>
                <a:r>
                  <a:rPr lang="en-US" sz="2000" dirty="0"/>
                  <a:t>The required sample size to estimate the proportion of patients’ wait times is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f>
                                        <m:fPr>
                                          <m:type m:val="lin"/>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ea typeface="Cambria Math" panose="02040503050406030204" pitchFamily="18" charset="0"/>
                                            </a:rPr>
                                            <m:t>2</m:t>
                                          </m:r>
                                        </m:den>
                                      </m:f>
                                    </m:sub>
                                  </m:sSub>
                                </m:e>
                              </m:d>
                            </m:e>
                            <m:sup>
                              <m:r>
                                <a:rPr lang="en-US" sz="2000" b="0" i="1" smtClean="0">
                                  <a:latin typeface="Cambria Math" panose="02040503050406030204" pitchFamily="18" charset="0"/>
                                </a:rPr>
                                <m:t>2</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𝑝</m:t>
                              </m:r>
                            </m:e>
                            <m:sup>
                              <m:r>
                                <a:rPr lang="en-US" sz="2000" i="1">
                                  <a:latin typeface="Cambria Math" panose="02040503050406030204" pitchFamily="18" charset="0"/>
                                </a:rPr>
                                <m:t>∗</m:t>
                              </m:r>
                            </m:sup>
                          </m:sSup>
                          <m:d>
                            <m:dPr>
                              <m:ctrlPr>
                                <a:rPr lang="en-US" sz="2000" i="1">
                                  <a:latin typeface="Cambria Math" panose="02040503050406030204" pitchFamily="18" charset="0"/>
                                </a:rPr>
                              </m:ctrlPr>
                            </m:dPr>
                            <m:e>
                              <m:r>
                                <a:rPr lang="en-US" sz="2000" i="1">
                                  <a:latin typeface="Cambria Math" panose="02040503050406030204" pitchFamily="18" charset="0"/>
                                </a:rPr>
                                <m:t>1−</m:t>
                              </m:r>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m:t>
                                  </m:r>
                                </m:sup>
                              </m:sSup>
                            </m:e>
                          </m:d>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𝐸</m:t>
                              </m:r>
                            </m:e>
                            <m:sup>
                              <m:r>
                                <a:rPr lang="en-US" sz="2000" b="0" i="1" smtClean="0">
                                  <a:latin typeface="Cambria Math" panose="02040503050406030204" pitchFamily="18" charset="0"/>
                                </a:rPr>
                                <m:t>2</m:t>
                              </m:r>
                            </m:sup>
                          </m:sSup>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1.96</m:t>
                                  </m:r>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0.44(1−0.44)</m:t>
                          </m:r>
                        </m:num>
                        <m:den>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i="1">
                                      <a:latin typeface="Cambria Math" panose="02040503050406030204" pitchFamily="18" charset="0"/>
                                    </a:rPr>
                                    <m:t>0.025</m:t>
                                  </m:r>
                                </m:e>
                              </m:d>
                            </m:e>
                            <m:sup>
                              <m:r>
                                <a:rPr lang="en-US" sz="2000" b="0" i="1" smtClean="0">
                                  <a:latin typeface="Cambria Math" panose="02040503050406030204" pitchFamily="18" charset="0"/>
                                </a:rPr>
                                <m:t>2</m:t>
                              </m:r>
                            </m:sup>
                          </m:sSup>
                        </m:den>
                      </m:f>
                      <m:r>
                        <a:rPr lang="en-US" sz="2000" b="0" i="1" smtClean="0">
                          <a:latin typeface="Cambria Math" panose="02040503050406030204" pitchFamily="18" charset="0"/>
                        </a:rPr>
                        <m:t>=1,514.5</m:t>
                      </m:r>
                      <m:r>
                        <a:rPr lang="en-US" sz="2000" b="0" i="1" smtClean="0">
                          <a:latin typeface="Cambria Math" panose="02040503050406030204" pitchFamily="18" charset="0"/>
                          <a:ea typeface="Cambria Math" panose="02040503050406030204" pitchFamily="18" charset="0"/>
                        </a:rPr>
                        <m:t>≈1,515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patients</m:t>
                      </m:r>
                    </m:oMath>
                  </m:oMathPara>
                </a14:m>
                <a:endParaRPr lang="en-US" sz="2000" dirty="0">
                  <a:latin typeface="Arial" panose="020B0604020202020204" pitchFamily="34" charset="0"/>
                  <a:cs typeface="Arial" panose="020B0604020202020204" pitchFamily="34" charset="0"/>
                </a:endParaRPr>
              </a:p>
              <a:p>
                <a:pPr>
                  <a:lnSpc>
                    <a:spcPct val="100000"/>
                  </a:lnSpc>
                  <a:spcBef>
                    <a:spcPts val="600"/>
                  </a:spcBef>
                  <a:spcAft>
                    <a:spcPts val="1200"/>
                  </a:spcAft>
                </a:pPr>
                <a:r>
                  <a:rPr lang="en-US" sz="2000" dirty="0">
                    <a:latin typeface="Arial" panose="020B0604020202020204" pitchFamily="34" charset="0"/>
                    <a:cs typeface="Arial" panose="020B0604020202020204" pitchFamily="34" charset="0"/>
                  </a:rPr>
                  <a:t>Thus, we need to survey an additional </a:t>
                </a:r>
                <a14:m>
                  <m:oMath xmlns:m="http://schemas.openxmlformats.org/officeDocument/2006/math">
                    <m:r>
                      <a:rPr lang="en-US" sz="2000" i="1" dirty="0" smtClean="0">
                        <a:latin typeface="Cambria Math" panose="02040503050406030204" pitchFamily="18" charset="0"/>
                        <a:cs typeface="Arial" panose="020B0604020202020204" pitchFamily="34" charset="0"/>
                      </a:rPr>
                      <m:t>1</m:t>
                    </m:r>
                    <m:r>
                      <a:rPr lang="en-US" sz="2000" b="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515−900=615</m:t>
                    </m:r>
                  </m:oMath>
                </a14:m>
                <a:r>
                  <a:rPr lang="en-US" sz="2000" dirty="0">
                    <a:latin typeface="Arial" panose="020B0604020202020204" pitchFamily="34" charset="0"/>
                    <a:cs typeface="Arial" panose="020B0604020202020204" pitchFamily="34" charset="0"/>
                  </a:rPr>
                  <a:t> patients.</a:t>
                </a:r>
              </a:p>
            </p:txBody>
          </p:sp>
        </mc:Choice>
        <mc:Fallback xmlns="">
          <p:sp>
            <p:nvSpPr>
              <p:cNvPr id="3" name="Text Placeholder 2">
                <a:extLst>
                  <a:ext uri="{FF2B5EF4-FFF2-40B4-BE49-F238E27FC236}">
                    <a16:creationId xmlns:a16="http://schemas.microsoft.com/office/drawing/2014/main" id="{569BB314-E737-AAC6-8961-545E7B21F547}"/>
                  </a:ext>
                </a:extLst>
              </p:cNvPr>
              <p:cNvSpPr>
                <a:spLocks noGrp="1" noRot="1" noChangeAspect="1" noMove="1" noResize="1" noEditPoints="1" noAdjustHandles="1" noChangeArrowheads="1" noChangeShapeType="1" noTextEdit="1"/>
              </p:cNvSpPr>
              <p:nvPr>
                <p:ph type="body" sz="quarter" idx="15"/>
              </p:nvPr>
            </p:nvSpPr>
            <p:spPr>
              <a:xfrm>
                <a:off x="798023" y="1270571"/>
                <a:ext cx="10595953" cy="4401809"/>
              </a:xfrm>
              <a:blipFill>
                <a:blip r:embed="rId3"/>
                <a:stretch>
                  <a:fillRect l="-1496" t="-1660" r="-921" b="-3734"/>
                </a:stretch>
              </a:blipFill>
            </p:spPr>
            <p:txBody>
              <a:bodyPr/>
              <a:lstStyle/>
              <a:p>
                <a:r>
                  <a:rPr lang="en-US">
                    <a:noFill/>
                  </a:rPr>
                  <a:t> </a:t>
                </a:r>
              </a:p>
            </p:txBody>
          </p:sp>
        </mc:Fallback>
      </mc:AlternateContent>
    </p:spTree>
    <p:extLst>
      <p:ext uri="{BB962C8B-B14F-4D97-AF65-F5344CB8AC3E}">
        <p14:creationId xmlns:p14="http://schemas.microsoft.com/office/powerpoint/2010/main" val="4103155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5310B-3FFE-9BD4-7514-BCC7D5EDF464}"/>
              </a:ext>
            </a:extLst>
          </p:cNvPr>
          <p:cNvSpPr>
            <a:spLocks noGrp="1"/>
          </p:cNvSpPr>
          <p:nvPr>
            <p:ph type="title"/>
          </p:nvPr>
        </p:nvSpPr>
        <p:spPr>
          <a:xfrm>
            <a:off x="756559" y="365125"/>
            <a:ext cx="10711543" cy="672105"/>
          </a:xfrm>
        </p:spPr>
        <p:txBody>
          <a:bodyPr/>
          <a:lstStyle/>
          <a:p>
            <a:r>
              <a:rPr lang="en-US" sz="3200" dirty="0">
                <a:solidFill>
                  <a:srgbClr val="D14B1E"/>
                </a:solidFill>
              </a:rPr>
              <a:t>8.5 Practical Advice: Big Data and Confidence Intervals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FD57F79-BD0F-A876-426D-39312AB76304}"/>
                  </a:ext>
                </a:extLst>
              </p:cNvPr>
              <p:cNvSpPr>
                <a:spLocks noGrp="1"/>
              </p:cNvSpPr>
              <p:nvPr>
                <p:ph type="body" sz="quarter" idx="15"/>
              </p:nvPr>
            </p:nvSpPr>
            <p:spPr>
              <a:xfrm>
                <a:off x="743576" y="1371598"/>
                <a:ext cx="10711543" cy="4207793"/>
              </a:xfrm>
            </p:spPr>
            <p:txBody>
              <a:bodyPr/>
              <a:lstStyle/>
              <a:p>
                <a:r>
                  <a:rPr lang="en-US" sz="2000" dirty="0"/>
                  <a:t>A review of the equations for the calculations of confidence intervals for the population mean </a:t>
                </a:r>
                <a:r>
                  <a:rPr lang="en-US" sz="2000" i="1" dirty="0">
                    <a:latin typeface="Symbol" panose="05050102010706020507" pitchFamily="18" charset="2"/>
                  </a:rPr>
                  <a:t>m</a:t>
                </a:r>
                <a:r>
                  <a:rPr lang="en-US" sz="2000" dirty="0"/>
                  <a:t> and population proportion </a:t>
                </a:r>
                <a:r>
                  <a:rPr lang="en-US" sz="2000" i="1" dirty="0"/>
                  <a:t>p </a:t>
                </a:r>
                <a:r>
                  <a:rPr lang="en-US" sz="2000" dirty="0"/>
                  <a:t>reveals that the sampling error decreases as the sample size increases.</a:t>
                </a:r>
              </a:p>
              <a:p>
                <a:r>
                  <a:rPr lang="en-US" sz="2000" dirty="0"/>
                  <a:t>This is due to the presence of </a:t>
                </a:r>
                <a14:m>
                  <m:oMath xmlns:m="http://schemas.openxmlformats.org/officeDocument/2006/math">
                    <m:rad>
                      <m:radPr>
                        <m:degHide m:val="on"/>
                        <m:ctrlPr>
                          <a:rPr lang="en-US" sz="2000" i="1" smtClean="0">
                            <a:latin typeface="Cambria Math" panose="02040503050406030204" pitchFamily="18" charset="0"/>
                          </a:rPr>
                        </m:ctrlPr>
                      </m:radPr>
                      <m:deg/>
                      <m:e>
                        <m:r>
                          <a:rPr lang="en-US" sz="2000" b="0" i="1" smtClean="0">
                            <a:latin typeface="Cambria Math" panose="02040503050406030204" pitchFamily="18" charset="0"/>
                          </a:rPr>
                          <m:t>𝑛</m:t>
                        </m:r>
                      </m:e>
                    </m:rad>
                  </m:oMath>
                </a14:m>
                <a:r>
                  <a:rPr lang="en-US" sz="2000" dirty="0"/>
                  <a:t> at the denominator of the standard error in the equations of the confidence intervals. </a:t>
                </a:r>
              </a:p>
              <a:p>
                <a:r>
                  <a:rPr lang="en-US" sz="2000" dirty="0"/>
                  <a:t>As the sample size becomes arbitrarily large, the margin of error becomes smaller and smaller and the resulting confidence intervals become so extremely narrow to have no longer any </a:t>
                </a:r>
                <a:r>
                  <a:rPr lang="en-US" sz="2000" b="1" dirty="0"/>
                  <a:t>practical significance</a:t>
                </a:r>
                <a:r>
                  <a:rPr lang="en-US" sz="2000" dirty="0"/>
                  <a:t>.</a:t>
                </a:r>
              </a:p>
              <a:p>
                <a:r>
                  <a:rPr lang="en-US" sz="2000" dirty="0"/>
                  <a:t>However, no interval estimate, no matter how precise, will accurately reflect the parameter being estimated unless the sample is relatively free of </a:t>
                </a:r>
                <a:r>
                  <a:rPr lang="en-US" sz="2000" dirty="0" err="1"/>
                  <a:t>nonsampling</a:t>
                </a:r>
                <a:r>
                  <a:rPr lang="en-US" sz="2000" dirty="0"/>
                  <a:t> error. </a:t>
                </a:r>
              </a:p>
              <a:p>
                <a:r>
                  <a:rPr lang="en-US" sz="2000" dirty="0"/>
                  <a:t>Therefore, when using interval estimation, it is always important to carefully consider whether a random sample of the population of interest has been taken.</a:t>
                </a:r>
              </a:p>
            </p:txBody>
          </p:sp>
        </mc:Choice>
        <mc:Fallback xmlns="">
          <p:sp>
            <p:nvSpPr>
              <p:cNvPr id="3" name="Text Placeholder 2">
                <a:extLst>
                  <a:ext uri="{FF2B5EF4-FFF2-40B4-BE49-F238E27FC236}">
                    <a16:creationId xmlns:a16="http://schemas.microsoft.com/office/drawing/2014/main" id="{CFD57F79-BD0F-A876-426D-39312AB76304}"/>
                  </a:ext>
                </a:extLst>
              </p:cNvPr>
              <p:cNvSpPr>
                <a:spLocks noGrp="1" noRot="1" noChangeAspect="1" noMove="1" noResize="1" noEditPoints="1" noAdjustHandles="1" noChangeArrowheads="1" noChangeShapeType="1" noTextEdit="1"/>
              </p:cNvSpPr>
              <p:nvPr>
                <p:ph type="body" sz="quarter" idx="15"/>
              </p:nvPr>
            </p:nvSpPr>
            <p:spPr>
              <a:xfrm>
                <a:off x="743576" y="1371598"/>
                <a:ext cx="10711543" cy="4207793"/>
              </a:xfrm>
              <a:blipFill>
                <a:blip r:embed="rId2"/>
                <a:stretch>
                  <a:fillRect l="-1480" t="-1884" r="-1480" b="-2754"/>
                </a:stretch>
              </a:blipFill>
            </p:spPr>
            <p:txBody>
              <a:bodyPr/>
              <a:lstStyle/>
              <a:p>
                <a:r>
                  <a:rPr lang="en-US">
                    <a:noFill/>
                  </a:rPr>
                  <a:t> </a:t>
                </a:r>
              </a:p>
            </p:txBody>
          </p:sp>
        </mc:Fallback>
      </mc:AlternateContent>
    </p:spTree>
    <p:extLst>
      <p:ext uri="{BB962C8B-B14F-4D97-AF65-F5344CB8AC3E}">
        <p14:creationId xmlns:p14="http://schemas.microsoft.com/office/powerpoint/2010/main" val="7425979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228725"/>
                <a:ext cx="10657500" cy="4544394"/>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presented methods for developing interval estimates of a population mean and a population proportion in the form of point estimate ± margin of error.</a:t>
                </a:r>
              </a:p>
              <a:p>
                <a:pPr>
                  <a:lnSpc>
                    <a:spcPct val="100000"/>
                  </a:lnSpc>
                  <a:spcBef>
                    <a:spcPts val="600"/>
                  </a:spcBef>
                </a:pPr>
                <a:r>
                  <a:rPr lang="en-US" dirty="0">
                    <a:latin typeface="Arial" panose="020B0604020202020204" pitchFamily="34" charset="0"/>
                    <a:cs typeface="Arial" panose="020B0604020202020204" pitchFamily="34" charset="0"/>
                  </a:rPr>
                  <a:t>We presented interval estimates for a population mean for two cases.</a:t>
                </a:r>
              </a:p>
              <a:p>
                <a:pPr lvl="1">
                  <a:lnSpc>
                    <a:spcPct val="100000"/>
                  </a:lnSpc>
                  <a:spcBef>
                    <a:spcPts val="600"/>
                  </a:spcBef>
                </a:pPr>
                <a:r>
                  <a:rPr lang="en-US" i="1" dirty="0">
                    <a:latin typeface="Symbol" panose="05050102010706020507" pitchFamily="18" charset="2"/>
                    <a:cs typeface="Arial" panose="020B0604020202020204" pitchFamily="34" charset="0"/>
                  </a:rPr>
                  <a:t>s</a:t>
                </a:r>
                <a:r>
                  <a:rPr lang="en-US" dirty="0">
                    <a:latin typeface="Arial" panose="020B0604020202020204" pitchFamily="34" charset="0"/>
                    <a:cs typeface="Arial" panose="020B0604020202020204" pitchFamily="34" charset="0"/>
                  </a:rPr>
                  <a:t> known: historical data or other information is used to develop an estimate of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𝜎</m:t>
                    </m:r>
                  </m:oMath>
                </a14:m>
                <a:r>
                  <a:rPr lang="en-US" dirty="0">
                    <a:latin typeface="Arial" panose="020B0604020202020204" pitchFamily="34" charset="0"/>
                    <a:cs typeface="Arial" panose="020B0604020202020204" pitchFamily="34" charset="0"/>
                  </a:rPr>
                  <a:t> prior to taking a sample, and a confidence interval is built using the standard normal distribution</a:t>
                </a:r>
              </a:p>
              <a:p>
                <a:pPr lvl="1">
                  <a:lnSpc>
                    <a:spcPct val="100000"/>
                  </a:lnSpc>
                  <a:spcBef>
                    <a:spcPts val="600"/>
                  </a:spcBef>
                </a:pPr>
                <a:r>
                  <a:rPr lang="en-US" i="1" dirty="0">
                    <a:latin typeface="Symbol" panose="05050102010706020507" pitchFamily="18" charset="2"/>
                    <a:cs typeface="Arial" panose="020B0604020202020204" pitchFamily="34" charset="0"/>
                  </a:rPr>
                  <a:t>s</a:t>
                </a:r>
                <a:r>
                  <a:rPr lang="en-US" dirty="0">
                    <a:latin typeface="Arial" panose="020B0604020202020204" pitchFamily="34" charset="0"/>
                    <a:cs typeface="Arial" panose="020B0604020202020204" pitchFamily="34" charset="0"/>
                  </a:rPr>
                  <a:t> unknown: sample data are used to estimate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𝜎</m:t>
                    </m:r>
                  </m:oMath>
                </a14:m>
                <a:r>
                  <a:rPr lang="en-US" dirty="0">
                    <a:latin typeface="Arial" panose="020B0604020202020204" pitchFamily="34" charset="0"/>
                    <a:cs typeface="Arial" panose="020B0604020202020204" pitchFamily="34" charset="0"/>
                  </a:rPr>
                  <a:t>, and a confidence interval is built using a </a:t>
                </a:r>
                <a14:m>
                  <m:oMath xmlns:m="http://schemas.openxmlformats.org/officeDocument/2006/math">
                    <m:r>
                      <a:rPr lang="en-US" i="1" dirty="0" smtClean="0">
                        <a:latin typeface="Cambria Math" panose="02040503050406030204" pitchFamily="18" charset="0"/>
                        <a:cs typeface="Arial" panose="020B0604020202020204" pitchFamily="34" charset="0"/>
                      </a:rPr>
                      <m:t>𝑡</m:t>
                    </m:r>
                  </m:oMath>
                </a14:m>
                <a:r>
                  <a:rPr lang="en-US" dirty="0">
                    <a:latin typeface="Arial" panose="020B0604020202020204" pitchFamily="34" charset="0"/>
                    <a:cs typeface="Arial" panose="020B0604020202020204" pitchFamily="34" charset="0"/>
                  </a:rPr>
                  <a:t> distribution with </a:t>
                </a:r>
                <a14:m>
                  <m:oMath xmlns:m="http://schemas.openxmlformats.org/officeDocument/2006/math">
                    <m:r>
                      <a:rPr lang="en-US" i="1" dirty="0" smtClean="0">
                        <a:latin typeface="Cambria Math" panose="02040503050406030204" pitchFamily="18" charset="0"/>
                        <a:cs typeface="Arial" panose="020B0604020202020204" pitchFamily="34" charset="0"/>
                      </a:rPr>
                      <m:t>𝑛</m:t>
                    </m:r>
                    <m:r>
                      <a:rPr lang="en-US" i="1" dirty="0" smtClean="0">
                        <a:latin typeface="Cambria Math" panose="02040503050406030204" pitchFamily="18" charset="0"/>
                        <a:cs typeface="Arial" panose="020B0604020202020204" pitchFamily="34" charset="0"/>
                      </a:rPr>
                      <m:t>–1</m:t>
                    </m:r>
                  </m:oMath>
                </a14:m>
                <a:r>
                  <a:rPr lang="en-US" dirty="0">
                    <a:latin typeface="Arial" panose="020B0604020202020204" pitchFamily="34" charset="0"/>
                    <a:cs typeface="Arial" panose="020B0604020202020204" pitchFamily="34" charset="0"/>
                  </a:rPr>
                  <a:t> degrees of freedom.</a:t>
                </a:r>
              </a:p>
              <a:p>
                <a:pPr lvl="1">
                  <a:lnSpc>
                    <a:spcPct val="100000"/>
                  </a:lnSpc>
                  <a:spcBef>
                    <a:spcPts val="600"/>
                  </a:spcBef>
                </a:pPr>
                <a:r>
                  <a:rPr lang="en-US" dirty="0">
                    <a:latin typeface="Arial" panose="020B0604020202020204" pitchFamily="34" charset="0"/>
                    <a:cs typeface="Arial" panose="020B0604020202020204" pitchFamily="34" charset="0"/>
                  </a:rPr>
                  <a:t>Practical advice about the sample size necessary to obtain good approximations was also included. In most cases, a sample size of at least 30 suffices.</a:t>
                </a:r>
              </a:p>
              <a:p>
                <a:pPr>
                  <a:lnSpc>
                    <a:spcPct val="100000"/>
                  </a:lnSpc>
                  <a:spcBef>
                    <a:spcPts val="600"/>
                  </a:spcBef>
                </a:pPr>
                <a:r>
                  <a:rPr lang="en-US" dirty="0">
                    <a:latin typeface="Arial" panose="020B0604020202020204" pitchFamily="34" charset="0"/>
                    <a:cs typeface="Arial" panose="020B0604020202020204" pitchFamily="34" charset="0"/>
                  </a:rPr>
                  <a:t>The general form of the interval estimate for a population proportion based on the standard normal distribution was also given.</a:t>
                </a:r>
              </a:p>
              <a:p>
                <a:pPr>
                  <a:lnSpc>
                    <a:spcPct val="100000"/>
                  </a:lnSpc>
                  <a:spcBef>
                    <a:spcPts val="600"/>
                  </a:spcBef>
                </a:pPr>
                <a:r>
                  <a:rPr lang="en-US" dirty="0">
                    <a:latin typeface="Arial" panose="020B0604020202020204" pitchFamily="34" charset="0"/>
                    <a:cs typeface="Arial" panose="020B0604020202020204" pitchFamily="34" charset="0"/>
                  </a:rPr>
                  <a:t>Finally, we discussed the ramifications of extremely large samples on the precision of confidence interval estimates of the mean and proportion.</a:t>
                </a:r>
              </a:p>
            </p:txBody>
          </p:sp>
        </mc:Choice>
        <mc:Fallback xmlns="">
          <p:sp>
            <p:nvSpPr>
              <p:cNvPr id="3" name="Text Placeholder 2">
                <a:extLst>
                  <a:ext uri="{FF2B5EF4-FFF2-40B4-BE49-F238E27FC236}">
                    <a16:creationId xmlns:a16="http://schemas.microsoft.com/office/drawing/2014/main" id="{87C197FC-1825-404A-BE9E-EA5BA19058B7}"/>
                  </a:ext>
                </a:extLst>
              </p:cNvPr>
              <p:cNvSpPr>
                <a:spLocks noGrp="1" noRot="1" noChangeAspect="1" noMove="1" noResize="1" noEditPoints="1" noAdjustHandles="1" noChangeArrowheads="1" noChangeShapeType="1" noTextEdit="1"/>
              </p:cNvSpPr>
              <p:nvPr>
                <p:ph type="body" sz="quarter" idx="17"/>
              </p:nvPr>
            </p:nvSpPr>
            <p:spPr>
              <a:xfrm>
                <a:off x="751069" y="1228725"/>
                <a:ext cx="10657500" cy="4544394"/>
              </a:xfrm>
              <a:blipFill>
                <a:blip r:embed="rId2"/>
                <a:stretch>
                  <a:fillRect l="-1373" t="-1611" r="-858" b="-805"/>
                </a:stretch>
              </a:blipFill>
            </p:spPr>
            <p:txBody>
              <a:bodyPr/>
              <a:lstStyle/>
              <a:p>
                <a:r>
                  <a:rPr lang="en-US">
                    <a:noFill/>
                  </a:rPr>
                  <a:t> </a:t>
                </a:r>
              </a:p>
            </p:txBody>
          </p:sp>
        </mc:Fallback>
      </mc:AlternateContent>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3.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99983</TotalTime>
  <Words>3652</Words>
  <Application>Microsoft Office PowerPoint</Application>
  <PresentationFormat>Widescreen</PresentationFormat>
  <Paragraphs>266</Paragraphs>
  <Slides>28</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arial</vt:lpstr>
      <vt:lpstr>arial</vt:lpstr>
      <vt:lpstr>Arial Unicode MS</vt:lpstr>
      <vt:lpstr>Calibri</vt:lpstr>
      <vt:lpstr>Cambria Math</vt:lpstr>
      <vt:lpstr>Helvetica</vt:lpstr>
      <vt:lpstr>Open Sans</vt:lpstr>
      <vt:lpstr>Summer Font</vt:lpstr>
      <vt:lpstr>Symbol</vt:lpstr>
      <vt:lpstr>Times New Roman</vt:lpstr>
      <vt:lpstr>Office Theme</vt:lpstr>
      <vt:lpstr>PowerPoint Presentation</vt:lpstr>
      <vt:lpstr>Chapter Contents</vt:lpstr>
      <vt:lpstr>Chapter Objectives (1 of 2)</vt:lpstr>
      <vt:lpstr>Chapter Objectives (2 of 2)</vt:lpstr>
      <vt:lpstr>Introduction</vt:lpstr>
      <vt:lpstr>8.1 Population Mean: s Known</vt:lpstr>
      <vt:lpstr>8.1 Sampling Distribution for the Sample Mean</vt:lpstr>
      <vt:lpstr>8.1 The Confidence Level</vt:lpstr>
      <vt:lpstr>8.1 Margin of Error and the Interval Estimate</vt:lpstr>
      <vt:lpstr>8.1 Commonly Used Confidence Levels</vt:lpstr>
      <vt:lpstr>8.1 Excel: Construct a 95% Confidence Interval</vt:lpstr>
      <vt:lpstr>8.1 Practical Advice</vt:lpstr>
      <vt:lpstr>8.2 Population Mean: s Unknown</vt:lpstr>
      <vt:lpstr>8.2 Interval Estimate of m: s Unknown</vt:lpstr>
      <vt:lpstr>8.2 Estimate of the Population Mean Credit Card Balance</vt:lpstr>
      <vt:lpstr>8.2 Excel: Compute a 95% Margin or Error Using the Descriptive Statistics Tool</vt:lpstr>
      <vt:lpstr>8.2 Excel: Construct a 95% Confidence Interval</vt:lpstr>
      <vt:lpstr>8.2 Practical Advice</vt:lpstr>
      <vt:lpstr>8.2 Summary of Interval Estimation Procedures for m</vt:lpstr>
      <vt:lpstr>8.3 Determining the Sample Size</vt:lpstr>
      <vt:lpstr>8.3 Application of Sample Size Determination</vt:lpstr>
      <vt:lpstr>8.4 Population Proportion</vt:lpstr>
      <vt:lpstr>8.4 Application of Population Proportion Estimate</vt:lpstr>
      <vt:lpstr>8.4 Excel: Construct a 95% Confidence Interval</vt:lpstr>
      <vt:lpstr>8.4 Determining the Sample Size for the Estimate of p</vt:lpstr>
      <vt:lpstr>8.4 Application of Sample Size Determination</vt:lpstr>
      <vt:lpstr>8.5 Practical Advice: Big Data and Confidence Intervals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2498</cp:revision>
  <cp:lastPrinted>2016-10-03T15:29:39Z</cp:lastPrinted>
  <dcterms:created xsi:type="dcterms:W3CDTF">2019-11-14T21:20:16Z</dcterms:created>
  <dcterms:modified xsi:type="dcterms:W3CDTF">2025-12-18T16:09:56Z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