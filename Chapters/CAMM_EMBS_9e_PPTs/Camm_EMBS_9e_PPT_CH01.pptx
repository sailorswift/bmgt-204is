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621" r:id="rId5"/>
    <p:sldId id="524" r:id="rId6"/>
    <p:sldId id="548" r:id="rId7"/>
    <p:sldId id="596" r:id="rId8"/>
    <p:sldId id="599" r:id="rId9"/>
    <p:sldId id="601" r:id="rId10"/>
    <p:sldId id="616" r:id="rId11"/>
    <p:sldId id="598" r:id="rId12"/>
    <p:sldId id="602" r:id="rId13"/>
    <p:sldId id="604" r:id="rId14"/>
    <p:sldId id="605" r:id="rId15"/>
    <p:sldId id="606" r:id="rId16"/>
    <p:sldId id="607" r:id="rId17"/>
    <p:sldId id="608" r:id="rId18"/>
    <p:sldId id="617" r:id="rId19"/>
    <p:sldId id="610" r:id="rId20"/>
    <p:sldId id="611" r:id="rId21"/>
    <p:sldId id="614" r:id="rId22"/>
    <p:sldId id="618" r:id="rId23"/>
    <p:sldId id="612" r:id="rId24"/>
    <p:sldId id="620" r:id="rId25"/>
    <p:sldId id="619" r:id="rId26"/>
    <p:sldId id="613" r:id="rId27"/>
    <p:sldId id="615" r:id="rId28"/>
    <p:sldId id="523" r:id="rId2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DFB7424-FDF1-8F6E-9596-ACB5A8234F08}" name="Lumina CE" initials="CE" userId="Lumina C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25894E"/>
    <a:srgbClr val="FFF4DE"/>
    <a:srgbClr val="CDC800"/>
    <a:srgbClr val="006699"/>
    <a:srgbClr val="2A601F"/>
    <a:srgbClr val="FF6300"/>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56" autoAdjust="0"/>
    <p:restoredTop sz="86070" autoAdjust="0"/>
  </p:normalViewPr>
  <p:slideViewPr>
    <p:cSldViewPr snapToGrid="0" snapToObjects="1">
      <p:cViewPr varScale="1">
        <p:scale>
          <a:sx n="54" d="100"/>
          <a:sy n="54" d="100"/>
        </p:scale>
        <p:origin x="152" y="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403961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1619117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799151F-D46B-4326-E6E9-DC7B9AE557E9}"/>
              </a:ext>
            </a:extLst>
          </p:cNvPr>
          <p:cNvSpPr>
            <a:spLocks noGrp="1"/>
          </p:cNvSpPr>
          <p:nvPr>
            <p:ph type="title"/>
          </p:nvPr>
        </p:nvSpPr>
        <p:spPr>
          <a:xfrm>
            <a:off x="838200" y="365125"/>
            <a:ext cx="10515600" cy="672105"/>
          </a:xfrm>
        </p:spPr>
        <p:txBody>
          <a:bodyPr/>
          <a:lstStyle/>
          <a:p>
            <a:endParaRPr lang="en-US"/>
          </a:p>
        </p:txBody>
      </p:sp>
      <p:pic>
        <p:nvPicPr>
          <p:cNvPr id="4" name="Content Placeholder 3">
            <a:extLst>
              <a:ext uri="{FF2B5EF4-FFF2-40B4-BE49-F238E27FC236}">
                <a16:creationId xmlns:a16="http://schemas.microsoft.com/office/drawing/2014/main" id="{46D99BC4-CADC-087B-3565-3E3CB28D927C}"/>
              </a:ext>
            </a:extLst>
          </p:cNvPr>
          <p:cNvPicPr>
            <a:picLocks noGrp="1" noChangeAspect="1"/>
          </p:cNvPicPr>
          <p:nvPr>
            <p:ph sz="quarter" idx="13"/>
          </p:nvPr>
        </p:nvPicPr>
        <p:blipFill>
          <a:blip r:embed="rId2"/>
          <a:stretch>
            <a:fillRect/>
          </a:stretch>
        </p:blipFill>
        <p:spPr>
          <a:xfrm>
            <a:off x="0" y="0"/>
            <a:ext cx="12191999" cy="7006442"/>
          </a:xfrm>
          <a:prstGeom prst="rect">
            <a:avLst/>
          </a:prstGeom>
        </p:spPr>
      </p:pic>
    </p:spTree>
    <p:extLst>
      <p:ext uri="{BB962C8B-B14F-4D97-AF65-F5344CB8AC3E}">
        <p14:creationId xmlns:p14="http://schemas.microsoft.com/office/powerpoint/2010/main" val="2240902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387366"/>
            <a:ext cx="10711543" cy="4414344"/>
          </a:xfrm>
        </p:spPr>
        <p:txBody>
          <a:bodyPr/>
          <a:lstStyle/>
          <a:p>
            <a:pPr marL="1371600" indent="-914400"/>
            <a:r>
              <a:rPr lang="en-US" sz="2000" dirty="0"/>
              <a:t>1.1	Applications in Business and Economics</a:t>
            </a:r>
          </a:p>
          <a:p>
            <a:pPr marL="1371600" indent="-914400"/>
            <a:r>
              <a:rPr lang="en-US" sz="2000" dirty="0"/>
              <a:t>1.2	Data</a:t>
            </a:r>
          </a:p>
          <a:p>
            <a:pPr marL="1371600" indent="-914400"/>
            <a:r>
              <a:rPr lang="en-US" sz="2000" dirty="0"/>
              <a:t>1.3	Data Sources</a:t>
            </a:r>
          </a:p>
          <a:p>
            <a:pPr marL="1371600" indent="-914400"/>
            <a:r>
              <a:rPr lang="en-US" sz="2000" dirty="0"/>
              <a:t>1.4	Descriptive Statistics</a:t>
            </a:r>
          </a:p>
          <a:p>
            <a:pPr marL="1371600" indent="-914400"/>
            <a:r>
              <a:rPr lang="en-US" sz="2000" dirty="0"/>
              <a:t>1.5	Statistical Inference</a:t>
            </a:r>
          </a:p>
          <a:p>
            <a:pPr marL="1371600" indent="-914400"/>
            <a:r>
              <a:rPr lang="en-US" sz="2000" dirty="0"/>
              <a:t>1.6	Statistical Analysis Using Microsoft Excel</a:t>
            </a:r>
          </a:p>
          <a:p>
            <a:pPr marL="1371600" indent="-914400"/>
            <a:r>
              <a:rPr lang="en-US" sz="2000" dirty="0"/>
              <a:t>1.7	Analytics</a:t>
            </a:r>
          </a:p>
          <a:p>
            <a:pPr marL="1371600" indent="-914400"/>
            <a:r>
              <a:rPr lang="en-US" sz="2000" dirty="0"/>
              <a:t>1.8	Big Data and Data Mining</a:t>
            </a:r>
          </a:p>
          <a:p>
            <a:pPr marL="1371600" indent="-914400"/>
            <a:r>
              <a:rPr lang="en-US" sz="2000" dirty="0"/>
              <a:t>1.9	Ethical Guidelines for Statistical Practice</a:t>
            </a:r>
          </a:p>
          <a:p>
            <a:pPr marL="1371600" indent="-914400"/>
            <a:r>
              <a:rPr lang="en-US" sz="2000" dirty="0"/>
              <a:t>	Summary</a:t>
            </a:r>
          </a:p>
          <a:p>
            <a:pPr marL="914400" indent="-914400">
              <a:spcBef>
                <a:spcPts val="600"/>
              </a:spcBef>
            </a:pPr>
            <a:endParaRPr lang="en-US" sz="1800" dirty="0"/>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a:xfrm>
            <a:off x="743577" y="1324305"/>
            <a:ext cx="10610224" cy="4659113"/>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1-1	Identify the elements, variables, and observations in a data set.</a:t>
            </a:r>
          </a:p>
          <a:p>
            <a:pPr marL="1828800" lvl="1" indent="-1371600">
              <a:spcBef>
                <a:spcPts val="1200"/>
              </a:spcBef>
              <a:buNone/>
            </a:pPr>
            <a:r>
              <a:rPr lang="en-US" sz="2000" dirty="0">
                <a:latin typeface="Arial" panose="020B0604020202020204" pitchFamily="34" charset="0"/>
                <a:cs typeface="Arial" panose="020B0604020202020204" pitchFamily="34" charset="0"/>
              </a:rPr>
              <a:t>LO 1-2	Identify categorical, quantitative, cross-sectional, and time-series data and their scale of measurement.</a:t>
            </a:r>
          </a:p>
          <a:p>
            <a:pPr marL="1828800" lvl="1" indent="-1371600">
              <a:spcBef>
                <a:spcPts val="1200"/>
              </a:spcBef>
              <a:buNone/>
            </a:pPr>
            <a:r>
              <a:rPr lang="en-US" sz="2000" dirty="0">
                <a:latin typeface="Arial" panose="020B0604020202020204" pitchFamily="34" charset="0"/>
                <a:cs typeface="Arial" panose="020B0604020202020204" pitchFamily="34" charset="0"/>
              </a:rPr>
              <a:t>LO 1-3	Identify and create descriptive statistics of a data set.</a:t>
            </a:r>
          </a:p>
          <a:p>
            <a:pPr marL="1828800" lvl="1" indent="-1371600">
              <a:spcBef>
                <a:spcPts val="1200"/>
              </a:spcBef>
              <a:buNone/>
            </a:pPr>
            <a:r>
              <a:rPr lang="en-US" sz="2000" dirty="0">
                <a:latin typeface="Arial" panose="020B0604020202020204" pitchFamily="34" charset="0"/>
                <a:cs typeface="Arial" panose="020B0604020202020204" pitchFamily="34" charset="0"/>
              </a:rPr>
              <a:t>LO 1-4	Distinguish between a population and a sample and identify the population being studied.</a:t>
            </a:r>
          </a:p>
          <a:p>
            <a:pPr marL="1828800" lvl="1" indent="-1371600">
              <a:spcBef>
                <a:spcPts val="1200"/>
              </a:spcBef>
              <a:buNone/>
            </a:pPr>
            <a:r>
              <a:rPr lang="en-US" sz="2000" dirty="0">
                <a:latin typeface="Arial" panose="020B0604020202020204" pitchFamily="34" charset="0"/>
                <a:cs typeface="Arial" panose="020B0604020202020204" pitchFamily="34" charset="0"/>
              </a:rPr>
              <a:t>LO 1-5	Distinguish between data generated from a survey versus an experiment and when each is appropriate.</a:t>
            </a:r>
          </a:p>
          <a:p>
            <a:pPr marL="1828800" lvl="1" indent="-1371600">
              <a:spcBef>
                <a:spcPts val="1200"/>
              </a:spcBef>
              <a:buNone/>
            </a:pPr>
            <a:r>
              <a:rPr lang="en-US" sz="2000" dirty="0">
                <a:latin typeface="Arial" panose="020B0604020202020204" pitchFamily="34" charset="0"/>
                <a:cs typeface="Arial" panose="020B0604020202020204" pitchFamily="34" charset="0"/>
              </a:rPr>
              <a:t>LO 1-6	Describe the data and sources of data that might be needed to answer a question.</a:t>
            </a:r>
          </a:p>
          <a:p>
            <a:pPr marL="1828800" lvl="1" indent="-1371600">
              <a:spcBef>
                <a:spcPts val="1200"/>
              </a:spcBef>
              <a:buNone/>
            </a:pPr>
            <a:r>
              <a:rPr lang="en-US" sz="2000" dirty="0">
                <a:latin typeface="Arial" panose="020B0604020202020204" pitchFamily="34" charset="0"/>
                <a:cs typeface="Arial" panose="020B0604020202020204" pitchFamily="34" charset="0"/>
              </a:rPr>
              <a:t>LO 1-7	Make an inference based on descriptive statistics.</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253359"/>
            <a:ext cx="10711543" cy="4551093"/>
          </a:xfrm>
        </p:spPr>
        <p:txBody>
          <a:bodyPr/>
          <a:lstStyle/>
          <a:p>
            <a:pPr>
              <a:lnSpc>
                <a:spcPct val="100000"/>
              </a:lnSpc>
              <a:spcBef>
                <a:spcPts val="600"/>
              </a:spcBef>
            </a:pPr>
            <a:r>
              <a:rPr lang="en-US" sz="2000" dirty="0"/>
              <a:t>The term </a:t>
            </a:r>
            <a:r>
              <a:rPr lang="en-US" sz="2000" b="1" dirty="0"/>
              <a:t>statistics</a:t>
            </a:r>
            <a:r>
              <a:rPr lang="en-US" sz="2000" dirty="0"/>
              <a:t> refers to numerical facts such as averages, medians, percentages, and maximums that help us understand a variety of business and economic situations.</a:t>
            </a:r>
          </a:p>
          <a:p>
            <a:pPr>
              <a:lnSpc>
                <a:spcPct val="100000"/>
              </a:lnSpc>
              <a:spcBef>
                <a:spcPts val="600"/>
              </a:spcBef>
            </a:pPr>
            <a:r>
              <a:rPr lang="en-US" sz="2000" dirty="0"/>
              <a:t>Statistics can also refer to the art and science of collecting, analyzing, presenting, and interpreting data.</a:t>
            </a:r>
          </a:p>
          <a:p>
            <a:pPr>
              <a:lnSpc>
                <a:spcPct val="100000"/>
              </a:lnSpc>
              <a:spcBef>
                <a:spcPts val="600"/>
              </a:spcBef>
            </a:pPr>
            <a:r>
              <a:rPr lang="en-US" sz="2000" dirty="0"/>
              <a:t>In this text, we emphasize the use of statistics for business and economic decision-making.</a:t>
            </a:r>
          </a:p>
          <a:p>
            <a:pPr marL="684213" indent="-287338">
              <a:lnSpc>
                <a:spcPct val="100000"/>
              </a:lnSpc>
              <a:spcBef>
                <a:spcPts val="600"/>
              </a:spcBef>
              <a:buFont typeface="Arial" panose="020B0604020202020204" pitchFamily="34" charset="0"/>
              <a:buChar char="•"/>
            </a:pPr>
            <a:r>
              <a:rPr lang="en-US" sz="2000" dirty="0"/>
              <a:t>Section 1.1 begins by introducing applications of statistics in business and economics. </a:t>
            </a:r>
          </a:p>
          <a:p>
            <a:pPr marL="684213" indent="-287338">
              <a:lnSpc>
                <a:spcPct val="100000"/>
              </a:lnSpc>
              <a:spcBef>
                <a:spcPts val="600"/>
              </a:spcBef>
              <a:buFont typeface="Arial" panose="020B0604020202020204" pitchFamily="34" charset="0"/>
              <a:buChar char="•"/>
            </a:pPr>
            <a:r>
              <a:rPr lang="en-US" sz="2000" dirty="0"/>
              <a:t>In Section 1.2, we define the term data and introduce the concept of a data set and how it is characterized.</a:t>
            </a:r>
          </a:p>
          <a:p>
            <a:pPr marL="684213" indent="-287338">
              <a:lnSpc>
                <a:spcPct val="100000"/>
              </a:lnSpc>
              <a:spcBef>
                <a:spcPts val="600"/>
              </a:spcBef>
              <a:buFont typeface="Arial" panose="020B0604020202020204" pitchFamily="34" charset="0"/>
              <a:buChar char="•"/>
            </a:pPr>
            <a:r>
              <a:rPr lang="en-US" sz="2000" dirty="0"/>
              <a:t>Section 1.3 discusses how data can be obtained from existing sources or through surveys and experimental studies designed to obtain new data.</a:t>
            </a:r>
          </a:p>
          <a:p>
            <a:pPr marL="684213" indent="-287338">
              <a:lnSpc>
                <a:spcPct val="100000"/>
              </a:lnSpc>
              <a:spcBef>
                <a:spcPts val="600"/>
              </a:spcBef>
              <a:buFont typeface="Arial" panose="020B0604020202020204" pitchFamily="34" charset="0"/>
              <a:buChar char="•"/>
            </a:pPr>
            <a:r>
              <a:rPr lang="en-US" sz="2000" dirty="0"/>
              <a:t>Sections 1.4 and 1.5 describe the uses of data in developing descriptive statistics and making statistical inferences.</a:t>
            </a:r>
          </a:p>
          <a:p>
            <a:pPr marL="684213" indent="-287338">
              <a:lnSpc>
                <a:spcPct val="100000"/>
              </a:lnSpc>
              <a:spcBef>
                <a:spcPts val="600"/>
              </a:spcBef>
              <a:buFont typeface="Arial" panose="020B0604020202020204" pitchFamily="34" charset="0"/>
              <a:buChar char="•"/>
            </a:pPr>
            <a:r>
              <a:rPr lang="en-US" sz="2000" dirty="0"/>
              <a:t>The chapter closes with miscellaneous introductory topics in statistics. </a:t>
            </a:r>
          </a:p>
        </p:txBody>
      </p:sp>
    </p:spTree>
    <p:extLst>
      <p:ext uri="{BB962C8B-B14F-4D97-AF65-F5344CB8AC3E}">
        <p14:creationId xmlns:p14="http://schemas.microsoft.com/office/powerpoint/2010/main" val="257581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1.1 Applications in Business and Economics</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3576" y="1471352"/>
            <a:ext cx="10711543" cy="4065352"/>
          </a:xfrm>
        </p:spPr>
        <p:txBody>
          <a:bodyPr/>
          <a:lstStyle/>
          <a:p>
            <a:pPr>
              <a:spcBef>
                <a:spcPts val="600"/>
              </a:spcBef>
            </a:pPr>
            <a:r>
              <a:rPr lang="en-US" sz="2000" b="1" dirty="0"/>
              <a:t>Accounting</a:t>
            </a:r>
            <a:r>
              <a:rPr lang="en-US" sz="2000" dirty="0"/>
              <a:t>: public accounting firms use statistical sampling procedures when conducting audits for their clients.</a:t>
            </a:r>
          </a:p>
          <a:p>
            <a:pPr>
              <a:spcBef>
                <a:spcPts val="600"/>
              </a:spcBef>
            </a:pPr>
            <a:r>
              <a:rPr lang="en-US" sz="2000" b="1" dirty="0"/>
              <a:t>Economics</a:t>
            </a:r>
            <a:r>
              <a:rPr lang="en-US" sz="2000" dirty="0"/>
              <a:t>: economists use statistical information in making forecasts about the future of the economy or some aspect of it.</a:t>
            </a:r>
          </a:p>
          <a:p>
            <a:pPr>
              <a:spcBef>
                <a:spcPts val="600"/>
              </a:spcBef>
            </a:pPr>
            <a:r>
              <a:rPr lang="en-US" sz="2000" b="1" dirty="0"/>
              <a:t>Finance</a:t>
            </a:r>
            <a:r>
              <a:rPr lang="en-US" sz="2000" dirty="0"/>
              <a:t>: financial advisors use price</a:t>
            </a:r>
            <a:r>
              <a:rPr lang="en-US" sz="2000" dirty="0">
                <a:solidFill>
                  <a:srgbClr val="FF0000"/>
                </a:solidFill>
              </a:rPr>
              <a:t>/</a:t>
            </a:r>
            <a:r>
              <a:rPr lang="en-US" sz="2000" dirty="0"/>
              <a:t>earnings ratios and dividend yields to guide their investment advice.</a:t>
            </a:r>
          </a:p>
          <a:p>
            <a:pPr>
              <a:spcBef>
                <a:spcPts val="600"/>
              </a:spcBef>
            </a:pPr>
            <a:r>
              <a:rPr lang="en-US" sz="2000" b="1" dirty="0"/>
              <a:t>Marketing</a:t>
            </a:r>
            <a:r>
              <a:rPr lang="en-US" sz="2000" dirty="0"/>
              <a:t>: electronic point-of-sale scanners at retail checkout counters are used to collect data for a variety of marketing research applications.</a:t>
            </a:r>
          </a:p>
          <a:p>
            <a:pPr>
              <a:spcBef>
                <a:spcPts val="600"/>
              </a:spcBef>
            </a:pPr>
            <a:r>
              <a:rPr lang="en-US" sz="2000" b="1" dirty="0"/>
              <a:t>Production</a:t>
            </a:r>
            <a:r>
              <a:rPr lang="en-US" sz="2000" dirty="0"/>
              <a:t>: a variety of statistical quality control charts are used to monitor the output of a production process.</a:t>
            </a:r>
          </a:p>
          <a:p>
            <a:pPr>
              <a:spcBef>
                <a:spcPts val="600"/>
              </a:spcBef>
            </a:pPr>
            <a:r>
              <a:rPr lang="en-US" sz="2000" b="1" dirty="0"/>
              <a:t>Information Systems</a:t>
            </a:r>
            <a:r>
              <a:rPr lang="en-US" sz="2000" dirty="0"/>
              <a:t>: a variety of statistical information helps administrators assess the performance of computer networks.</a:t>
            </a:r>
          </a:p>
        </p:txBody>
      </p:sp>
    </p:spTree>
    <p:extLst>
      <p:ext uri="{BB962C8B-B14F-4D97-AF65-F5344CB8AC3E}">
        <p14:creationId xmlns:p14="http://schemas.microsoft.com/office/powerpoint/2010/main" val="18855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D14B1E"/>
                </a:solidFill>
              </a:rPr>
              <a:t>1.2 Data</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0228" y="1632806"/>
            <a:ext cx="10711543" cy="3592387"/>
          </a:xfrm>
        </p:spPr>
        <p:txBody>
          <a:bodyPr/>
          <a:lstStyle/>
          <a:p>
            <a:r>
              <a:rPr lang="en-US" sz="2000" b="1" dirty="0"/>
              <a:t>Data</a:t>
            </a:r>
            <a:r>
              <a:rPr lang="en-US" sz="2000" dirty="0"/>
              <a:t> are the facts and figures collected, analyzed, and summarized for presentation and interpretation.</a:t>
            </a:r>
          </a:p>
          <a:p>
            <a:r>
              <a:rPr lang="en-US" sz="2000" b="1" dirty="0"/>
              <a:t>Elements</a:t>
            </a:r>
            <a:r>
              <a:rPr lang="en-US" sz="2000" dirty="0"/>
              <a:t> are the entities on which data are collected.</a:t>
            </a:r>
          </a:p>
          <a:p>
            <a:r>
              <a:rPr lang="en-US" sz="2000" dirty="0"/>
              <a:t>A </a:t>
            </a:r>
            <a:r>
              <a:rPr lang="en-US" sz="2000" b="1" dirty="0"/>
              <a:t>variable</a:t>
            </a:r>
            <a:r>
              <a:rPr lang="en-US" sz="2000" dirty="0"/>
              <a:t> is a characteristic of interest for the elements.</a:t>
            </a:r>
          </a:p>
          <a:p>
            <a:r>
              <a:rPr lang="en-US" sz="2000" dirty="0"/>
              <a:t>A </a:t>
            </a:r>
            <a:r>
              <a:rPr lang="en-US" sz="2000" b="1" dirty="0"/>
              <a:t>data set </a:t>
            </a:r>
            <a:r>
              <a:rPr lang="en-US" sz="2000" dirty="0"/>
              <a:t>consists of all the data collected for a particular study.</a:t>
            </a:r>
          </a:p>
          <a:p>
            <a:pPr marL="914400" indent="-342900">
              <a:buFont typeface="Arial" panose="020B0604020202020204" pitchFamily="34" charset="0"/>
              <a:buChar char="•"/>
            </a:pPr>
            <a:r>
              <a:rPr lang="en-US" sz="2000" dirty="0"/>
              <a:t>The total number of data values in a complete data set is the number of elements multiplied by the number of variables.</a:t>
            </a:r>
          </a:p>
          <a:p>
            <a:r>
              <a:rPr lang="en-US" sz="2000" dirty="0"/>
              <a:t>An </a:t>
            </a:r>
            <a:r>
              <a:rPr lang="en-US" sz="2000" b="1" dirty="0"/>
              <a:t>observation</a:t>
            </a:r>
            <a:r>
              <a:rPr lang="en-US" sz="2000" dirty="0"/>
              <a:t> is the set of </a:t>
            </a:r>
            <a:r>
              <a:rPr lang="en-US" sz="2000" b="1" dirty="0"/>
              <a:t>measurements</a:t>
            </a:r>
            <a:r>
              <a:rPr lang="en-US" sz="2000" dirty="0"/>
              <a:t> obtained for a particular element.</a:t>
            </a:r>
          </a:p>
          <a:p>
            <a:pPr marL="914400" indent="-342900">
              <a:buFont typeface="Arial" panose="020B0604020202020204" pitchFamily="34" charset="0"/>
              <a:buChar char="•"/>
            </a:pPr>
            <a:r>
              <a:rPr lang="en-US" sz="2000" dirty="0"/>
              <a:t>A data set with </a:t>
            </a:r>
            <a:r>
              <a:rPr lang="en-US" sz="2000" i="1" dirty="0"/>
              <a:t>n</a:t>
            </a:r>
            <a:r>
              <a:rPr lang="en-US" sz="2000" dirty="0"/>
              <a:t> elements contains </a:t>
            </a:r>
            <a:r>
              <a:rPr lang="en-US" sz="2000" i="1" dirty="0"/>
              <a:t>n</a:t>
            </a:r>
            <a:r>
              <a:rPr lang="en-US" sz="2000" dirty="0"/>
              <a:t> observations.</a:t>
            </a:r>
          </a:p>
        </p:txBody>
      </p:sp>
    </p:spTree>
    <p:extLst>
      <p:ext uri="{BB962C8B-B14F-4D97-AF65-F5344CB8AC3E}">
        <p14:creationId xmlns:p14="http://schemas.microsoft.com/office/powerpoint/2010/main" val="4106654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F38B-B090-05C5-EE58-F3DCEE66D2D5}"/>
              </a:ext>
            </a:extLst>
          </p:cNvPr>
          <p:cNvSpPr>
            <a:spLocks noGrp="1"/>
          </p:cNvSpPr>
          <p:nvPr>
            <p:ph type="title"/>
          </p:nvPr>
        </p:nvSpPr>
        <p:spPr/>
        <p:txBody>
          <a:bodyPr/>
          <a:lstStyle/>
          <a:p>
            <a:r>
              <a:rPr lang="en-US" sz="3200" dirty="0"/>
              <a:t>1.2 Data Set for 60 Nations in the World Trade Organization</a:t>
            </a:r>
          </a:p>
        </p:txBody>
      </p:sp>
      <p:sp>
        <p:nvSpPr>
          <p:cNvPr id="3" name="Text Placeholder 2">
            <a:extLst>
              <a:ext uri="{FF2B5EF4-FFF2-40B4-BE49-F238E27FC236}">
                <a16:creationId xmlns:a16="http://schemas.microsoft.com/office/drawing/2014/main" id="{1DA2B6DB-F772-BA54-0C10-D701EF16F693}"/>
              </a:ext>
            </a:extLst>
          </p:cNvPr>
          <p:cNvSpPr>
            <a:spLocks noGrp="1"/>
          </p:cNvSpPr>
          <p:nvPr>
            <p:ph type="body" sz="quarter" idx="15"/>
          </p:nvPr>
        </p:nvSpPr>
        <p:spPr>
          <a:xfrm>
            <a:off x="743576" y="1696120"/>
            <a:ext cx="10610223" cy="2518434"/>
          </a:xfrm>
        </p:spPr>
        <p:txBody>
          <a:bodyPr/>
          <a:lstStyle/>
          <a:p>
            <a:r>
              <a:rPr lang="en-US" sz="2000" dirty="0" err="1"/>
              <a:t>DATAfile</a:t>
            </a:r>
            <a:r>
              <a:rPr lang="en-US" sz="2000" dirty="0"/>
              <a:t>: </a:t>
            </a:r>
            <a:r>
              <a:rPr lang="en-US" sz="2000" i="1" dirty="0"/>
              <a:t>nations</a:t>
            </a:r>
          </a:p>
          <a:p>
            <a:r>
              <a:rPr lang="en-US" sz="2000" dirty="0"/>
              <a:t>Shown here are the first five nations out of 60 (rows) of a table including several variables (columns.)</a:t>
            </a:r>
          </a:p>
          <a:p>
            <a:pPr marL="685800" indent="-342900">
              <a:buFont typeface="Arial" panose="020B0604020202020204" pitchFamily="34" charset="0"/>
              <a:buChar char="•"/>
            </a:pPr>
            <a:r>
              <a:rPr lang="en-US" sz="2000" dirty="0"/>
              <a:t>Observation #1 (Armenia) contains the measurements: Member; 4,267; B+; and Stable.</a:t>
            </a:r>
          </a:p>
          <a:p>
            <a:pPr marL="685800" indent="-342900">
              <a:buFont typeface="Arial" panose="020B0604020202020204" pitchFamily="34" charset="0"/>
              <a:buChar char="•"/>
            </a:pPr>
            <a:r>
              <a:rPr lang="en-US" sz="2000" dirty="0"/>
              <a:t>Observation #2 (Australia) contains the measurements: Member; 51,812; AAA; and Negative.</a:t>
            </a:r>
          </a:p>
          <a:p>
            <a:pPr marL="685800" indent="-342900">
              <a:buFont typeface="Arial" panose="020B0604020202020204" pitchFamily="34" charset="0"/>
              <a:buChar char="•"/>
            </a:pPr>
            <a:r>
              <a:rPr lang="en-US" sz="2000" dirty="0"/>
              <a:t>And so on.</a:t>
            </a:r>
          </a:p>
        </p:txBody>
      </p:sp>
      <p:graphicFrame>
        <p:nvGraphicFramePr>
          <p:cNvPr id="7" name="Table 7">
            <a:extLst>
              <a:ext uri="{FF2B5EF4-FFF2-40B4-BE49-F238E27FC236}">
                <a16:creationId xmlns:a16="http://schemas.microsoft.com/office/drawing/2014/main" id="{52D6DF31-8060-F4D3-2422-A2F4439972A5}"/>
              </a:ext>
            </a:extLst>
          </p:cNvPr>
          <p:cNvGraphicFramePr>
            <a:graphicFrameLocks noGrp="1"/>
          </p:cNvGraphicFramePr>
          <p:nvPr>
            <p:ph type="tbl" sz="quarter" idx="16"/>
            <p:extLst>
              <p:ext uri="{D42A27DB-BD31-4B8C-83A1-F6EECF244321}">
                <p14:modId xmlns:p14="http://schemas.microsoft.com/office/powerpoint/2010/main" val="31298499"/>
              </p:ext>
            </p:extLst>
          </p:nvPr>
        </p:nvGraphicFramePr>
        <p:xfrm>
          <a:off x="3291840" y="3693621"/>
          <a:ext cx="5918662" cy="1941255"/>
        </p:xfrm>
        <a:graphic>
          <a:graphicData uri="http://schemas.openxmlformats.org/drawingml/2006/table">
            <a:tbl>
              <a:tblPr firstRow="1" bandRow="1">
                <a:tableStyleId>{5C22544A-7EE6-4342-B048-85BDC9FD1C3A}</a:tableStyleId>
              </a:tblPr>
              <a:tblGrid>
                <a:gridCol w="1047403">
                  <a:extLst>
                    <a:ext uri="{9D8B030D-6E8A-4147-A177-3AD203B41FA5}">
                      <a16:colId xmlns:a16="http://schemas.microsoft.com/office/drawing/2014/main" val="2516274376"/>
                    </a:ext>
                  </a:extLst>
                </a:gridCol>
                <a:gridCol w="1147157">
                  <a:extLst>
                    <a:ext uri="{9D8B030D-6E8A-4147-A177-3AD203B41FA5}">
                      <a16:colId xmlns:a16="http://schemas.microsoft.com/office/drawing/2014/main" val="4161655884"/>
                    </a:ext>
                  </a:extLst>
                </a:gridCol>
                <a:gridCol w="1019956">
                  <a:extLst>
                    <a:ext uri="{9D8B030D-6E8A-4147-A177-3AD203B41FA5}">
                      <a16:colId xmlns:a16="http://schemas.microsoft.com/office/drawing/2014/main" val="3353114135"/>
                    </a:ext>
                  </a:extLst>
                </a:gridCol>
                <a:gridCol w="365760">
                  <a:extLst>
                    <a:ext uri="{9D8B030D-6E8A-4147-A177-3AD203B41FA5}">
                      <a16:colId xmlns:a16="http://schemas.microsoft.com/office/drawing/2014/main" val="549159563"/>
                    </a:ext>
                  </a:extLst>
                </a:gridCol>
                <a:gridCol w="1124728">
                  <a:extLst>
                    <a:ext uri="{9D8B030D-6E8A-4147-A177-3AD203B41FA5}">
                      <a16:colId xmlns:a16="http://schemas.microsoft.com/office/drawing/2014/main" val="1164230467"/>
                    </a:ext>
                  </a:extLst>
                </a:gridCol>
                <a:gridCol w="1213658">
                  <a:extLst>
                    <a:ext uri="{9D8B030D-6E8A-4147-A177-3AD203B41FA5}">
                      <a16:colId xmlns:a16="http://schemas.microsoft.com/office/drawing/2014/main" val="4029719581"/>
                    </a:ext>
                  </a:extLst>
                </a:gridCol>
              </a:tblGrid>
              <a:tr h="289445">
                <a:tc>
                  <a:txBody>
                    <a:bodyPr/>
                    <a:lstStyle/>
                    <a:p>
                      <a:pPr algn="l" fontAlgn="ctr"/>
                      <a:r>
                        <a:rPr lang="en-US" sz="1600" b="1" i="0" u="none" strike="noStrike" dirty="0">
                          <a:solidFill>
                            <a:srgbClr val="000000"/>
                          </a:solidFill>
                          <a:effectLst/>
                          <a:latin typeface="Arial Unicode MS"/>
                        </a:rPr>
                        <a:t>Nation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1" i="0" u="none" strike="noStrike" dirty="0">
                          <a:solidFill>
                            <a:srgbClr val="000000"/>
                          </a:solidFill>
                          <a:effectLst/>
                          <a:latin typeface="Arial Unicode MS"/>
                        </a:rPr>
                        <a:t>WTO Status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Arial Unicode MS"/>
                        </a:rPr>
                        <a:t>Per Capita GDP (S)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ctr"/>
                      <a:endParaRPr lang="en-US" sz="1600" b="1" i="0" u="none" strike="noStrike" dirty="0">
                        <a:solidFill>
                          <a:srgbClr val="000000"/>
                        </a:solidFill>
                        <a:effectLst/>
                        <a:latin typeface="Arial Unicode MS"/>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Arial Unicode MS"/>
                        </a:rPr>
                        <a:t>Fitch  Rating</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1" i="0" u="none" strike="noStrike" dirty="0">
                          <a:solidFill>
                            <a:srgbClr val="000000"/>
                          </a:solidFill>
                          <a:effectLst/>
                          <a:latin typeface="Arial Unicode MS"/>
                        </a:rPr>
                        <a:t>Fitch Outlook</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39023616"/>
                  </a:ext>
                </a:extLst>
              </a:tr>
              <a:tr h="289445">
                <a:tc>
                  <a:txBody>
                    <a:bodyPr/>
                    <a:lstStyle/>
                    <a:p>
                      <a:pPr algn="l" fontAlgn="ctr"/>
                      <a:r>
                        <a:rPr lang="en-US" sz="1600" b="0" i="0" u="none" strike="noStrike" dirty="0">
                          <a:solidFill>
                            <a:srgbClr val="000000"/>
                          </a:solidFill>
                          <a:effectLst/>
                          <a:latin typeface="Arial Unicode MS"/>
                        </a:rPr>
                        <a:t>Armenia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Arial Unicode MS"/>
                        </a:rPr>
                        <a:t>Member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Arial Unicode MS"/>
                        </a:rPr>
                        <a:t>4,267</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endParaRPr lang="en-US" sz="1600" b="0" i="0" u="none" strike="noStrike" dirty="0">
                        <a:solidFill>
                          <a:srgbClr val="000000"/>
                        </a:solidFill>
                        <a:effectLst/>
                        <a:latin typeface="Arial Unicode MS"/>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B+</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Stable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057359581"/>
                  </a:ext>
                </a:extLst>
              </a:tr>
              <a:tr h="289445">
                <a:tc>
                  <a:txBody>
                    <a:bodyPr/>
                    <a:lstStyle/>
                    <a:p>
                      <a:pPr algn="l" fontAlgn="ctr"/>
                      <a:r>
                        <a:rPr lang="en-US" sz="1600" b="0" i="0" u="none" strike="noStrike" dirty="0">
                          <a:solidFill>
                            <a:srgbClr val="000000"/>
                          </a:solidFill>
                          <a:effectLst/>
                          <a:latin typeface="Arial Unicode MS"/>
                        </a:rPr>
                        <a:t>Australia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Arial Unicode MS"/>
                        </a:rPr>
                        <a:t>Member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Arial Unicode MS"/>
                        </a:rPr>
                        <a:t>51,812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endParaRPr lang="en-US" sz="1600" b="0" i="0" u="none" strike="noStrike" dirty="0">
                        <a:solidFill>
                          <a:srgbClr val="000000"/>
                        </a:solidFill>
                        <a:effectLst/>
                        <a:latin typeface="Arial Unicode MS"/>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AAA</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Negative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19309213"/>
                  </a:ext>
                </a:extLst>
              </a:tr>
              <a:tr h="289445">
                <a:tc>
                  <a:txBody>
                    <a:bodyPr/>
                    <a:lstStyle/>
                    <a:p>
                      <a:pPr algn="l" fontAlgn="ctr"/>
                      <a:r>
                        <a:rPr lang="en-US" sz="1600" b="0" i="0" u="none" strike="noStrike" dirty="0">
                          <a:solidFill>
                            <a:srgbClr val="000000"/>
                          </a:solidFill>
                          <a:effectLst/>
                          <a:latin typeface="Arial Unicode MS"/>
                        </a:rPr>
                        <a:t>Austria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Arial Unicode MS"/>
                        </a:rPr>
                        <a:t>Member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Arial Unicode MS"/>
                        </a:rPr>
                        <a:t>48,328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endParaRPr lang="en-US" sz="1600" b="0" i="0" u="none" strike="noStrike" dirty="0">
                        <a:solidFill>
                          <a:srgbClr val="000000"/>
                        </a:solidFill>
                        <a:effectLst/>
                        <a:latin typeface="Arial Unicode MS"/>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AA+</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Stable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92203106"/>
                  </a:ext>
                </a:extLst>
              </a:tr>
              <a:tr h="289445">
                <a:tc>
                  <a:txBody>
                    <a:bodyPr/>
                    <a:lstStyle/>
                    <a:p>
                      <a:pPr algn="l" fontAlgn="ctr"/>
                      <a:r>
                        <a:rPr lang="en-US" sz="1600" b="0" i="0" u="none" strike="noStrike" dirty="0">
                          <a:solidFill>
                            <a:srgbClr val="000000"/>
                          </a:solidFill>
                          <a:effectLst/>
                          <a:latin typeface="Arial Unicode MS"/>
                        </a:rPr>
                        <a:t>Azerbaijan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Arial Unicode MS"/>
                        </a:rPr>
                        <a:t>Observer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Arial Unicode MS"/>
                        </a:rPr>
                        <a:t>4,214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endParaRPr lang="en-US" sz="1600" b="0" i="0" u="none" strike="noStrike" dirty="0">
                        <a:solidFill>
                          <a:srgbClr val="000000"/>
                        </a:solidFill>
                        <a:effectLst/>
                        <a:latin typeface="Arial Unicode MS"/>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BB+</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Stable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59053218"/>
                  </a:ext>
                </a:extLst>
              </a:tr>
              <a:tr h="289445">
                <a:tc>
                  <a:txBody>
                    <a:bodyPr/>
                    <a:lstStyle/>
                    <a:p>
                      <a:pPr algn="l" fontAlgn="ctr"/>
                      <a:r>
                        <a:rPr lang="en-US" sz="1600" b="0" i="0" u="none" strike="noStrike" dirty="0">
                          <a:solidFill>
                            <a:srgbClr val="000000"/>
                          </a:solidFill>
                          <a:effectLst/>
                          <a:latin typeface="Arial Unicode MS"/>
                        </a:rPr>
                        <a:t>Bahrain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Arial Unicode MS"/>
                        </a:rPr>
                        <a:t>Member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ctr"/>
                      <a:r>
                        <a:rPr lang="en-US" sz="1600" b="0" i="0" u="none" strike="noStrike" dirty="0">
                          <a:solidFill>
                            <a:srgbClr val="000000"/>
                          </a:solidFill>
                          <a:effectLst/>
                          <a:latin typeface="Arial Unicode MS"/>
                        </a:rPr>
                        <a:t>28,608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endParaRPr lang="en-US" sz="1600" b="0" i="0" u="none" strike="noStrike" dirty="0">
                        <a:solidFill>
                          <a:srgbClr val="000000"/>
                        </a:solidFill>
                        <a:effectLst/>
                        <a:latin typeface="Arial Unicode MS"/>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B+</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600" b="0" i="0" u="none" strike="noStrike" dirty="0">
                          <a:solidFill>
                            <a:srgbClr val="000000"/>
                          </a:solidFill>
                          <a:effectLst/>
                          <a:latin typeface="Arial Unicode MS"/>
                        </a:rPr>
                        <a:t>Stable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90370955"/>
                  </a:ext>
                </a:extLst>
              </a:tr>
            </a:tbl>
          </a:graphicData>
        </a:graphic>
      </p:graphicFrame>
    </p:spTree>
    <p:extLst>
      <p:ext uri="{BB962C8B-B14F-4D97-AF65-F5344CB8AC3E}">
        <p14:creationId xmlns:p14="http://schemas.microsoft.com/office/powerpoint/2010/main" val="4032443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t>1.2 Nominal and Ordinal Scales of Measurement</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3576" y="1497724"/>
            <a:ext cx="10711543" cy="4319750"/>
          </a:xfrm>
        </p:spPr>
        <p:txBody>
          <a:bodyPr/>
          <a:lstStyle/>
          <a:p>
            <a:pPr>
              <a:spcBef>
                <a:spcPts val="600"/>
              </a:spcBef>
            </a:pPr>
            <a:r>
              <a:rPr lang="en-US" sz="2000" b="1" dirty="0"/>
              <a:t>Nominal scale</a:t>
            </a:r>
            <a:r>
              <a:rPr lang="en-US" sz="2000" dirty="0"/>
              <a:t>: the data are labels or names used to identify an attribute of the element.</a:t>
            </a:r>
          </a:p>
          <a:p>
            <a:pPr marL="457200">
              <a:spcBef>
                <a:spcPts val="600"/>
              </a:spcBef>
            </a:pPr>
            <a:r>
              <a:rPr lang="en-US" sz="2000" dirty="0"/>
              <a:t>Example: the WTO Status variable in the Nations table has a nominal scale of measurement because it uses the data “Member” and “Observer” are labels used to identify the status category for a nation.</a:t>
            </a:r>
          </a:p>
          <a:p>
            <a:pPr marL="457200">
              <a:spcBef>
                <a:spcPts val="600"/>
              </a:spcBef>
              <a:spcAft>
                <a:spcPts val="1200"/>
              </a:spcAft>
            </a:pPr>
            <a:r>
              <a:rPr lang="en-US" sz="2000" dirty="0"/>
              <a:t>Note: a numeric code may also be used. For example, we could use the label “1” to identify a “Member” status category and “2” to identify an “Observer” status category.</a:t>
            </a:r>
          </a:p>
          <a:p>
            <a:pPr>
              <a:spcBef>
                <a:spcPts val="600"/>
              </a:spcBef>
            </a:pPr>
            <a:r>
              <a:rPr lang="en-US" sz="2000" b="1" dirty="0"/>
              <a:t>Ordinal scale</a:t>
            </a:r>
            <a:r>
              <a:rPr lang="en-US" sz="2000" dirty="0"/>
              <a:t>: the data have the properties of nominal data, and the order or rank of the data is meaningful.</a:t>
            </a:r>
          </a:p>
          <a:p>
            <a:pPr marL="457200">
              <a:spcBef>
                <a:spcPts val="600"/>
              </a:spcBef>
            </a:pPr>
            <a:r>
              <a:rPr lang="en-US" sz="2000" dirty="0"/>
              <a:t>Example: the Fitch Rating variable in the Nations table has ordinal data because the labels, which range from AAA to F, are rank-ordered by credit rating.</a:t>
            </a:r>
          </a:p>
          <a:p>
            <a:pPr marL="457200">
              <a:spcBef>
                <a:spcPts val="600"/>
              </a:spcBef>
            </a:pPr>
            <a:r>
              <a:rPr lang="en-US" sz="2000" dirty="0"/>
              <a:t>Note: ordinal data can also be recorded by a numerical code, such as a student’s class rank in school.</a:t>
            </a:r>
          </a:p>
        </p:txBody>
      </p:sp>
    </p:spTree>
    <p:extLst>
      <p:ext uri="{BB962C8B-B14F-4D97-AF65-F5344CB8AC3E}">
        <p14:creationId xmlns:p14="http://schemas.microsoft.com/office/powerpoint/2010/main" val="4066691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t>1.2 Interval and Ratio Scales of Measurement</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3576" y="1497724"/>
            <a:ext cx="10711543" cy="4319750"/>
          </a:xfrm>
        </p:spPr>
        <p:txBody>
          <a:bodyPr/>
          <a:lstStyle/>
          <a:p>
            <a:pPr>
              <a:spcBef>
                <a:spcPts val="600"/>
              </a:spcBef>
            </a:pPr>
            <a:r>
              <a:rPr lang="en-US" sz="2000" b="1" dirty="0"/>
              <a:t>Interval scale</a:t>
            </a:r>
            <a:r>
              <a:rPr lang="en-US" sz="2000" dirty="0"/>
              <a:t>: the data have the properties of ordinal data, and the interval between observations is expressed in terms of a fixed unit of measure. Data with an interval scale of measurement are always numerical.</a:t>
            </a:r>
          </a:p>
          <a:p>
            <a:pPr marL="457200">
              <a:spcBef>
                <a:spcPts val="600"/>
              </a:spcBef>
            </a:pPr>
            <a:r>
              <a:rPr lang="en-US" sz="2000" dirty="0"/>
              <a:t>Example: College admission SAT scores have an interval scale of measurement.</a:t>
            </a:r>
          </a:p>
          <a:p>
            <a:pPr marL="457200">
              <a:spcBef>
                <a:spcPts val="600"/>
              </a:spcBef>
              <a:spcAft>
                <a:spcPts val="1200"/>
              </a:spcAft>
            </a:pPr>
            <a:r>
              <a:rPr lang="en-US" sz="2000" dirty="0"/>
              <a:t>Note: the difference between the values of a variable with an interval scale of measurement are always meaningful.</a:t>
            </a:r>
          </a:p>
          <a:p>
            <a:pPr>
              <a:spcBef>
                <a:spcPts val="600"/>
              </a:spcBef>
            </a:pPr>
            <a:r>
              <a:rPr lang="en-US" sz="2000" b="1" dirty="0"/>
              <a:t>Ratio scale</a:t>
            </a:r>
            <a:r>
              <a:rPr lang="en-US" sz="2000" dirty="0"/>
              <a:t>: the data have the properties of interval data, and the ratio of two values is meaningful.</a:t>
            </a:r>
          </a:p>
          <a:p>
            <a:pPr marL="457200">
              <a:spcBef>
                <a:spcPts val="600"/>
              </a:spcBef>
            </a:pPr>
            <a:r>
              <a:rPr lang="en-US" sz="2000" dirty="0"/>
              <a:t>Example: variables such as distance, height, weight, and time use the ratio scale of measurement.</a:t>
            </a:r>
          </a:p>
          <a:p>
            <a:pPr marL="457200">
              <a:spcBef>
                <a:spcPts val="600"/>
              </a:spcBef>
            </a:pPr>
            <a:r>
              <a:rPr lang="en-US" sz="2000" dirty="0"/>
              <a:t>Note: the ratio scale of measurement requires that a zero value be included to indicate that nothing exists for the variable at the zero point. </a:t>
            </a:r>
          </a:p>
        </p:txBody>
      </p:sp>
    </p:spTree>
    <p:extLst>
      <p:ext uri="{BB962C8B-B14F-4D97-AF65-F5344CB8AC3E}">
        <p14:creationId xmlns:p14="http://schemas.microsoft.com/office/powerpoint/2010/main" val="1986265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E0CA3-3905-D38A-3B85-ABBE844CF0FA}"/>
              </a:ext>
            </a:extLst>
          </p:cNvPr>
          <p:cNvSpPr>
            <a:spLocks noGrp="1"/>
          </p:cNvSpPr>
          <p:nvPr>
            <p:ph type="title"/>
          </p:nvPr>
        </p:nvSpPr>
        <p:spPr/>
        <p:txBody>
          <a:bodyPr/>
          <a:lstStyle/>
          <a:p>
            <a:r>
              <a:rPr lang="en-US" dirty="0"/>
              <a:t>1.2 Categorical and Quantitative Data</a:t>
            </a:r>
          </a:p>
        </p:txBody>
      </p:sp>
      <p:sp>
        <p:nvSpPr>
          <p:cNvPr id="7" name="Text Placeholder 6">
            <a:extLst>
              <a:ext uri="{FF2B5EF4-FFF2-40B4-BE49-F238E27FC236}">
                <a16:creationId xmlns:a16="http://schemas.microsoft.com/office/drawing/2014/main" id="{7E846425-584F-54CD-CDB1-8DA9A3959CA9}"/>
              </a:ext>
            </a:extLst>
          </p:cNvPr>
          <p:cNvSpPr>
            <a:spLocks noGrp="1"/>
          </p:cNvSpPr>
          <p:nvPr>
            <p:ph type="body" sz="quarter" idx="16"/>
          </p:nvPr>
        </p:nvSpPr>
        <p:spPr>
          <a:xfrm>
            <a:off x="740228" y="1399611"/>
            <a:ext cx="10711543" cy="1116760"/>
          </a:xfrm>
        </p:spPr>
        <p:txBody>
          <a:bodyPr/>
          <a:lstStyle/>
          <a:p>
            <a:pPr>
              <a:spcBef>
                <a:spcPts val="600"/>
              </a:spcBef>
            </a:pPr>
            <a:r>
              <a:rPr lang="en-US" sz="2000" dirty="0"/>
              <a:t>Data can be further classified as </a:t>
            </a:r>
            <a:r>
              <a:rPr lang="en-US" sz="2000" b="1" dirty="0"/>
              <a:t>categorical</a:t>
            </a:r>
            <a:r>
              <a:rPr lang="en-US" sz="2000" dirty="0"/>
              <a:t> or </a:t>
            </a:r>
            <a:r>
              <a:rPr lang="en-US" sz="2000" b="1" dirty="0"/>
              <a:t>quantitative</a:t>
            </a:r>
            <a:r>
              <a:rPr lang="en-US" sz="2000" dirty="0"/>
              <a:t>.</a:t>
            </a:r>
          </a:p>
          <a:p>
            <a:pPr>
              <a:spcBef>
                <a:spcPts val="600"/>
              </a:spcBef>
            </a:pPr>
            <a:r>
              <a:rPr lang="en-US" sz="2000" dirty="0"/>
              <a:t>The statistical analysis that is appropriate depends on whether the data for the variable are categorical or quantitative.</a:t>
            </a:r>
          </a:p>
        </p:txBody>
      </p:sp>
      <p:sp>
        <p:nvSpPr>
          <p:cNvPr id="3" name="Text Placeholder 2">
            <a:extLst>
              <a:ext uri="{FF2B5EF4-FFF2-40B4-BE49-F238E27FC236}">
                <a16:creationId xmlns:a16="http://schemas.microsoft.com/office/drawing/2014/main" id="{83243A6A-440A-D6E4-096A-F5067914905A}"/>
              </a:ext>
            </a:extLst>
          </p:cNvPr>
          <p:cNvSpPr>
            <a:spLocks noGrp="1"/>
          </p:cNvSpPr>
          <p:nvPr>
            <p:ph type="body" sz="quarter" idx="21"/>
          </p:nvPr>
        </p:nvSpPr>
        <p:spPr>
          <a:xfrm>
            <a:off x="743575" y="2556573"/>
            <a:ext cx="5200024" cy="396035"/>
          </a:xfrm>
        </p:spPr>
        <p:txBody>
          <a:bodyPr/>
          <a:lstStyle/>
          <a:p>
            <a:r>
              <a:rPr lang="en-US" dirty="0"/>
              <a:t>Categorical Data</a:t>
            </a:r>
          </a:p>
        </p:txBody>
      </p:sp>
      <p:sp>
        <p:nvSpPr>
          <p:cNvPr id="4" name="Text Placeholder 3">
            <a:extLst>
              <a:ext uri="{FF2B5EF4-FFF2-40B4-BE49-F238E27FC236}">
                <a16:creationId xmlns:a16="http://schemas.microsoft.com/office/drawing/2014/main" id="{FC27E05B-D12E-4EA0-33F6-E41E59F1B443}"/>
              </a:ext>
            </a:extLst>
          </p:cNvPr>
          <p:cNvSpPr>
            <a:spLocks noGrp="1"/>
          </p:cNvSpPr>
          <p:nvPr>
            <p:ph type="body" sz="quarter" idx="15"/>
          </p:nvPr>
        </p:nvSpPr>
        <p:spPr>
          <a:xfrm>
            <a:off x="743576" y="2954998"/>
            <a:ext cx="5054712" cy="2680255"/>
          </a:xfrm>
        </p:spPr>
        <p:txBody>
          <a:bodyPr>
            <a:normAutofit/>
          </a:bodyPr>
          <a:lstStyle/>
          <a:p>
            <a:r>
              <a:rPr lang="en-US" dirty="0"/>
              <a:t>A </a:t>
            </a:r>
            <a:r>
              <a:rPr lang="en-US" b="1" dirty="0"/>
              <a:t>categorical variable </a:t>
            </a:r>
            <a:r>
              <a:rPr lang="en-US" dirty="0"/>
              <a:t>is a variable with categorical data.</a:t>
            </a:r>
          </a:p>
          <a:p>
            <a:r>
              <a:rPr lang="en-US" dirty="0"/>
              <a:t>Statistical analyses are rather limited.</a:t>
            </a:r>
          </a:p>
          <a:p>
            <a:r>
              <a:rPr lang="en-US" dirty="0"/>
              <a:t>We can summarize categorical data by: </a:t>
            </a:r>
          </a:p>
          <a:p>
            <a:pPr marL="687388" lvl="1" indent="-290513">
              <a:buFont typeface="Arial" panose="020B0604020202020204" pitchFamily="34" charset="0"/>
              <a:buChar char="•"/>
            </a:pPr>
            <a:r>
              <a:rPr lang="en-US" sz="2000" dirty="0"/>
              <a:t>counting the number of observations in each category</a:t>
            </a:r>
          </a:p>
          <a:p>
            <a:pPr marL="687388" lvl="1" indent="-290513">
              <a:buFont typeface="Arial" panose="020B0604020202020204" pitchFamily="34" charset="0"/>
              <a:buChar char="•"/>
            </a:pPr>
            <a:r>
              <a:rPr lang="en-US" sz="2000" dirty="0"/>
              <a:t>computing the proportion of the observations in each category</a:t>
            </a:r>
          </a:p>
        </p:txBody>
      </p:sp>
      <p:sp>
        <p:nvSpPr>
          <p:cNvPr id="5" name="Text Placeholder 4">
            <a:extLst>
              <a:ext uri="{FF2B5EF4-FFF2-40B4-BE49-F238E27FC236}">
                <a16:creationId xmlns:a16="http://schemas.microsoft.com/office/drawing/2014/main" id="{1281D8BC-4CF9-5E21-79B6-771CFF11A18A}"/>
              </a:ext>
            </a:extLst>
          </p:cNvPr>
          <p:cNvSpPr>
            <a:spLocks noGrp="1"/>
          </p:cNvSpPr>
          <p:nvPr>
            <p:ph type="body" sz="quarter" idx="22"/>
          </p:nvPr>
        </p:nvSpPr>
        <p:spPr>
          <a:xfrm>
            <a:off x="6122680" y="2556572"/>
            <a:ext cx="5200024" cy="396035"/>
          </a:xfrm>
        </p:spPr>
        <p:txBody>
          <a:bodyPr/>
          <a:lstStyle/>
          <a:p>
            <a:r>
              <a:rPr lang="en-US" dirty="0"/>
              <a:t>Quantitative Data</a:t>
            </a:r>
          </a:p>
        </p:txBody>
      </p:sp>
      <p:sp>
        <p:nvSpPr>
          <p:cNvPr id="6" name="Text Placeholder 5">
            <a:extLst>
              <a:ext uri="{FF2B5EF4-FFF2-40B4-BE49-F238E27FC236}">
                <a16:creationId xmlns:a16="http://schemas.microsoft.com/office/drawing/2014/main" id="{491FCFA4-5312-6DEB-72C4-E7884BFA0402}"/>
              </a:ext>
            </a:extLst>
          </p:cNvPr>
          <p:cNvSpPr>
            <a:spLocks noGrp="1"/>
          </p:cNvSpPr>
          <p:nvPr>
            <p:ph type="body" sz="quarter" idx="18"/>
          </p:nvPr>
        </p:nvSpPr>
        <p:spPr>
          <a:xfrm>
            <a:off x="6122680" y="2954999"/>
            <a:ext cx="5200024" cy="2758226"/>
          </a:xfrm>
        </p:spPr>
        <p:txBody>
          <a:bodyPr>
            <a:normAutofit/>
          </a:bodyPr>
          <a:lstStyle/>
          <a:p>
            <a:r>
              <a:rPr lang="en-US" dirty="0"/>
              <a:t>A </a:t>
            </a:r>
            <a:r>
              <a:rPr lang="en-US" b="1" dirty="0"/>
              <a:t>quantitative variable </a:t>
            </a:r>
            <a:r>
              <a:rPr lang="en-US" dirty="0"/>
              <a:t>is a variable with quantitative data.</a:t>
            </a:r>
          </a:p>
          <a:p>
            <a:r>
              <a:rPr lang="en-US" dirty="0"/>
              <a:t>Quantitative data indicate </a:t>
            </a:r>
            <a:r>
              <a:rPr lang="en-US" i="1" dirty="0"/>
              <a:t>how many </a:t>
            </a:r>
            <a:r>
              <a:rPr lang="en-US" dirty="0"/>
              <a:t>or </a:t>
            </a:r>
            <a:r>
              <a:rPr lang="en-US" i="1" dirty="0"/>
              <a:t>how much</a:t>
            </a:r>
            <a:r>
              <a:rPr lang="en-US" dirty="0"/>
              <a:t> and are always numerical.</a:t>
            </a:r>
          </a:p>
          <a:p>
            <a:r>
              <a:rPr lang="en-US" dirty="0"/>
              <a:t>Ordinary arithmetic operations are meaningful for quantitative data.</a:t>
            </a:r>
          </a:p>
          <a:p>
            <a:r>
              <a:rPr lang="en-US" dirty="0"/>
              <a:t>More alternatives for statistical analysis are available when the data are quantitative.</a:t>
            </a:r>
          </a:p>
        </p:txBody>
      </p:sp>
    </p:spTree>
    <p:extLst>
      <p:ext uri="{BB962C8B-B14F-4D97-AF65-F5344CB8AC3E}">
        <p14:creationId xmlns:p14="http://schemas.microsoft.com/office/powerpoint/2010/main" val="1775282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53B21-19B5-47DD-4A36-E68F8B3FD737}"/>
              </a:ext>
            </a:extLst>
          </p:cNvPr>
          <p:cNvSpPr>
            <a:spLocks noGrp="1"/>
          </p:cNvSpPr>
          <p:nvPr>
            <p:ph type="title"/>
          </p:nvPr>
        </p:nvSpPr>
        <p:spPr/>
        <p:txBody>
          <a:bodyPr/>
          <a:lstStyle/>
          <a:p>
            <a:r>
              <a:rPr lang="en-US" dirty="0"/>
              <a:t>1.2 Cross-Sectional and Time Series Data</a:t>
            </a:r>
          </a:p>
        </p:txBody>
      </p:sp>
      <p:sp>
        <p:nvSpPr>
          <p:cNvPr id="6" name="Text Placeholder 5">
            <a:extLst>
              <a:ext uri="{FF2B5EF4-FFF2-40B4-BE49-F238E27FC236}">
                <a16:creationId xmlns:a16="http://schemas.microsoft.com/office/drawing/2014/main" id="{4B866299-B585-6D12-099C-48C18769236B}"/>
              </a:ext>
            </a:extLst>
          </p:cNvPr>
          <p:cNvSpPr>
            <a:spLocks noGrp="1"/>
          </p:cNvSpPr>
          <p:nvPr>
            <p:ph type="body" sz="quarter" idx="15"/>
          </p:nvPr>
        </p:nvSpPr>
        <p:spPr>
          <a:xfrm>
            <a:off x="743576" y="1366024"/>
            <a:ext cx="10610223" cy="1082978"/>
          </a:xfrm>
        </p:spPr>
        <p:txBody>
          <a:bodyPr/>
          <a:lstStyle/>
          <a:p>
            <a:r>
              <a:rPr lang="en-US" sz="2000" b="1" dirty="0"/>
              <a:t>Cross-sectional data </a:t>
            </a:r>
            <a:r>
              <a:rPr lang="en-US" sz="2000" dirty="0"/>
              <a:t>are collected at the same or approximately the same point in time.</a:t>
            </a:r>
          </a:p>
          <a:p>
            <a:pPr marL="457200"/>
            <a:r>
              <a:rPr lang="en-US" sz="2000" dirty="0"/>
              <a:t>Example: The data in the previously shown Nations data file are cross-sectional because they describe the five variables for the 60 WTO nations at the same point in time.</a:t>
            </a:r>
          </a:p>
        </p:txBody>
      </p:sp>
      <p:sp>
        <p:nvSpPr>
          <p:cNvPr id="8" name="Text Placeholder 7">
            <a:extLst>
              <a:ext uri="{FF2B5EF4-FFF2-40B4-BE49-F238E27FC236}">
                <a16:creationId xmlns:a16="http://schemas.microsoft.com/office/drawing/2014/main" id="{BB5C4749-F158-8778-28F9-20628386F620}"/>
              </a:ext>
            </a:extLst>
          </p:cNvPr>
          <p:cNvSpPr>
            <a:spLocks noGrp="1"/>
          </p:cNvSpPr>
          <p:nvPr>
            <p:ph type="body" sz="quarter" idx="17"/>
          </p:nvPr>
        </p:nvSpPr>
        <p:spPr>
          <a:xfrm>
            <a:off x="743576" y="2449002"/>
            <a:ext cx="4936793" cy="3237177"/>
          </a:xfrm>
        </p:spPr>
        <p:txBody>
          <a:bodyPr/>
          <a:lstStyle/>
          <a:p>
            <a:r>
              <a:rPr lang="en-US" sz="2000" b="1" dirty="0"/>
              <a:t>Time series data </a:t>
            </a:r>
            <a:r>
              <a:rPr lang="en-US" sz="2000" dirty="0"/>
              <a:t>are instead collected over several time periods.</a:t>
            </a:r>
          </a:p>
          <a:p>
            <a:r>
              <a:rPr lang="en-US" sz="2000" dirty="0"/>
              <a:t>Graphs of time series data, such as the U.S. average price per gallon of regular gasoline between 2015 and 2021 shown to the right, help understand:</a:t>
            </a:r>
          </a:p>
          <a:p>
            <a:pPr marL="628650" indent="-231775">
              <a:buFont typeface="Arial" panose="020B0604020202020204" pitchFamily="34" charset="0"/>
              <a:buChar char="•"/>
            </a:pPr>
            <a:r>
              <a:rPr lang="en-US" sz="2000" dirty="0"/>
              <a:t>what happened in the past</a:t>
            </a:r>
          </a:p>
          <a:p>
            <a:pPr marL="628650" indent="-231775">
              <a:buFont typeface="Arial" panose="020B0604020202020204" pitchFamily="34" charset="0"/>
              <a:buChar char="•"/>
            </a:pPr>
            <a:r>
              <a:rPr lang="en-US" sz="2000" dirty="0"/>
              <a:t>identify any trends over time</a:t>
            </a:r>
          </a:p>
          <a:p>
            <a:pPr marL="628650" indent="-231775">
              <a:buFont typeface="Arial" panose="020B0604020202020204" pitchFamily="34" charset="0"/>
              <a:buChar char="•"/>
            </a:pPr>
            <a:r>
              <a:rPr lang="en-US" sz="2000" dirty="0"/>
              <a:t>project future levels for the time series</a:t>
            </a:r>
          </a:p>
        </p:txBody>
      </p:sp>
      <p:pic>
        <p:nvPicPr>
          <p:cNvPr id="10" name="Picture Placeholder 9" descr="A line graph with one line plots average price per gallon versus date. The horizontal axis is labeled “Date” and ranges from January 15 to July 21 with tickmarks in increments of 6 months. The vertical axis is labeled “Average Price per Gallon” and ranges from 0.00 dollars to 3.50 dollars with tickmarks in increments of 0.50 dollars. The line passes through (January 15, 2.00), (July 15, 2.65), (January 16, 1.75), (July 16, 2.4), (January 17, 2.1), (July 17, 2.25), (January 18, 2.4), (July 18, 2.8), (January 19, 2.1), (July 19, 2.6), (January 20, 2.5), (July 20, 2), (January 21, 2), and (July 21, 3). All data are approximate. &#10;">
            <a:extLst>
              <a:ext uri="{FF2B5EF4-FFF2-40B4-BE49-F238E27FC236}">
                <a16:creationId xmlns:a16="http://schemas.microsoft.com/office/drawing/2014/main" id="{E88C5F96-B2F6-7DFB-0A55-00EB9D20F414}"/>
              </a:ext>
            </a:extLst>
          </p:cNvPr>
          <p:cNvPicPr>
            <a:picLocks noGrp="1" noChangeAspect="1"/>
          </p:cNvPicPr>
          <p:nvPr>
            <p:ph type="pic" sz="quarter" idx="16"/>
          </p:nvPr>
        </p:nvPicPr>
        <p:blipFill rotWithShape="1">
          <a:blip r:embed="rId2"/>
          <a:srcRect l="77" r="77"/>
          <a:stretch/>
        </p:blipFill>
        <p:spPr>
          <a:xfrm>
            <a:off x="5756744" y="2729951"/>
            <a:ext cx="5597056" cy="2956228"/>
          </a:xfrm>
        </p:spPr>
      </p:pic>
    </p:spTree>
    <p:extLst>
      <p:ext uri="{BB962C8B-B14F-4D97-AF65-F5344CB8AC3E}">
        <p14:creationId xmlns:p14="http://schemas.microsoft.com/office/powerpoint/2010/main" val="2603253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D14B1E"/>
                </a:solidFill>
              </a:rPr>
              <a:t>1.3 Data Sources</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838200" y="1229706"/>
            <a:ext cx="10616919" cy="4666598"/>
          </a:xfrm>
        </p:spPr>
        <p:txBody>
          <a:bodyPr/>
          <a:lstStyle/>
          <a:p>
            <a:pPr>
              <a:spcBef>
                <a:spcPts val="600"/>
              </a:spcBef>
            </a:pPr>
            <a:r>
              <a:rPr lang="en-US" sz="2000" dirty="0"/>
              <a:t>Data can be obtained</a:t>
            </a:r>
          </a:p>
          <a:p>
            <a:pPr marL="685800" indent="-284163">
              <a:spcBef>
                <a:spcPts val="600"/>
              </a:spcBef>
              <a:buFont typeface="Arial" panose="020B0604020202020204" pitchFamily="34" charset="0"/>
              <a:buChar char="•"/>
            </a:pPr>
            <a:r>
              <a:rPr lang="en-US" sz="2000" dirty="0"/>
              <a:t>from existing sources</a:t>
            </a:r>
          </a:p>
          <a:p>
            <a:pPr marL="685800" indent="-284163">
              <a:spcBef>
                <a:spcPts val="600"/>
              </a:spcBef>
              <a:buFont typeface="Arial" panose="020B0604020202020204" pitchFamily="34" charset="0"/>
              <a:buChar char="•"/>
            </a:pPr>
            <a:r>
              <a:rPr lang="en-US" sz="2000" dirty="0"/>
              <a:t>by conducting an observational study, or </a:t>
            </a:r>
          </a:p>
          <a:p>
            <a:pPr marL="685800" indent="-284163">
              <a:spcBef>
                <a:spcPts val="600"/>
              </a:spcBef>
              <a:buFont typeface="Arial" panose="020B0604020202020204" pitchFamily="34" charset="0"/>
              <a:buChar char="•"/>
            </a:pPr>
            <a:r>
              <a:rPr lang="en-US" sz="2000" dirty="0"/>
              <a:t>by conducting an experiment.</a:t>
            </a:r>
          </a:p>
          <a:p>
            <a:pPr>
              <a:spcBef>
                <a:spcPts val="1200"/>
              </a:spcBef>
            </a:pPr>
            <a:r>
              <a:rPr lang="en-US" sz="2000" dirty="0"/>
              <a:t>In some cases, data needed for a particular application already exist. </a:t>
            </a:r>
          </a:p>
          <a:p>
            <a:pPr>
              <a:spcBef>
                <a:spcPts val="600"/>
              </a:spcBef>
            </a:pPr>
            <a:r>
              <a:rPr lang="en-US" sz="2000" dirty="0"/>
              <a:t>The most important categories of existing data sources and related examples are:</a:t>
            </a:r>
          </a:p>
          <a:p>
            <a:pPr marL="684213" indent="-287338">
              <a:spcBef>
                <a:spcPts val="600"/>
              </a:spcBef>
              <a:buFont typeface="Arial" panose="020B0604020202020204" pitchFamily="34" charset="0"/>
              <a:buChar char="•"/>
            </a:pPr>
            <a:r>
              <a:rPr lang="en-US" sz="2000" dirty="0"/>
              <a:t>Internal company records</a:t>
            </a:r>
          </a:p>
          <a:p>
            <a:pPr marL="684213" indent="-287338">
              <a:spcBef>
                <a:spcPts val="600"/>
              </a:spcBef>
              <a:buFont typeface="Arial" panose="020B0604020202020204" pitchFamily="34" charset="0"/>
              <a:buChar char="•"/>
            </a:pPr>
            <a:r>
              <a:rPr lang="en-US" sz="2000" dirty="0"/>
              <a:t>Business database services</a:t>
            </a:r>
          </a:p>
          <a:p>
            <a:pPr marL="684213" indent="-287338">
              <a:spcBef>
                <a:spcPts val="600"/>
              </a:spcBef>
              <a:buFont typeface="Arial" panose="020B0604020202020204" pitchFamily="34" charset="0"/>
              <a:buChar char="•"/>
            </a:pPr>
            <a:r>
              <a:rPr lang="en-US" sz="2000" dirty="0"/>
              <a:t>Government agencies</a:t>
            </a:r>
          </a:p>
          <a:p>
            <a:pPr marL="684213" indent="-287338">
              <a:spcBef>
                <a:spcPts val="600"/>
              </a:spcBef>
              <a:buFont typeface="Arial" panose="020B0604020202020204" pitchFamily="34" charset="0"/>
              <a:buChar char="•"/>
            </a:pPr>
            <a:r>
              <a:rPr lang="en-US" sz="2000" dirty="0"/>
              <a:t>Industry associations</a:t>
            </a:r>
          </a:p>
          <a:p>
            <a:pPr marL="684213" indent="-287338">
              <a:spcBef>
                <a:spcPts val="600"/>
              </a:spcBef>
              <a:buFont typeface="Arial" panose="020B0604020202020204" pitchFamily="34" charset="0"/>
              <a:buChar char="•"/>
            </a:pPr>
            <a:r>
              <a:rPr lang="en-US" sz="2000" dirty="0"/>
              <a:t>Special-interest organizations</a:t>
            </a:r>
          </a:p>
          <a:p>
            <a:pPr marL="684213" indent="-287338">
              <a:spcBef>
                <a:spcPts val="600"/>
              </a:spcBef>
              <a:buFont typeface="Arial" panose="020B0604020202020204" pitchFamily="34" charset="0"/>
              <a:buChar char="•"/>
            </a:pPr>
            <a:r>
              <a:rPr lang="en-US" sz="2000" dirty="0"/>
              <a:t>Internet</a:t>
            </a:r>
          </a:p>
        </p:txBody>
      </p:sp>
    </p:spTree>
    <p:extLst>
      <p:ext uri="{BB962C8B-B14F-4D97-AF65-F5344CB8AC3E}">
        <p14:creationId xmlns:p14="http://schemas.microsoft.com/office/powerpoint/2010/main" val="3678262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E3AAA-C17E-4E7C-0C3A-4BFB0D044799}"/>
              </a:ext>
            </a:extLst>
          </p:cNvPr>
          <p:cNvSpPr>
            <a:spLocks noGrp="1"/>
          </p:cNvSpPr>
          <p:nvPr>
            <p:ph type="title"/>
          </p:nvPr>
        </p:nvSpPr>
        <p:spPr/>
        <p:txBody>
          <a:bodyPr/>
          <a:lstStyle/>
          <a:p>
            <a:r>
              <a:rPr lang="en-US" dirty="0"/>
              <a:t>1.3 Statistical Studies</a:t>
            </a:r>
          </a:p>
        </p:txBody>
      </p:sp>
      <p:sp>
        <p:nvSpPr>
          <p:cNvPr id="3" name="Text Placeholder 2">
            <a:extLst>
              <a:ext uri="{FF2B5EF4-FFF2-40B4-BE49-F238E27FC236}">
                <a16:creationId xmlns:a16="http://schemas.microsoft.com/office/drawing/2014/main" id="{DBBFEBF3-A02E-9953-0D70-889B6AC96AD2}"/>
              </a:ext>
            </a:extLst>
          </p:cNvPr>
          <p:cNvSpPr>
            <a:spLocks noGrp="1"/>
          </p:cNvSpPr>
          <p:nvPr>
            <p:ph type="body" sz="quarter" idx="21"/>
          </p:nvPr>
        </p:nvSpPr>
        <p:spPr>
          <a:xfrm>
            <a:off x="743575" y="1129057"/>
            <a:ext cx="5200024" cy="349023"/>
          </a:xfrm>
        </p:spPr>
        <p:txBody>
          <a:bodyPr/>
          <a:lstStyle/>
          <a:p>
            <a:r>
              <a:rPr lang="en-US" dirty="0"/>
              <a:t>Observational Study</a:t>
            </a:r>
          </a:p>
        </p:txBody>
      </p:sp>
      <p:sp>
        <p:nvSpPr>
          <p:cNvPr id="4" name="Text Placeholder 3">
            <a:extLst>
              <a:ext uri="{FF2B5EF4-FFF2-40B4-BE49-F238E27FC236}">
                <a16:creationId xmlns:a16="http://schemas.microsoft.com/office/drawing/2014/main" id="{FCEA51D5-7D81-9B07-C320-938B582AB5DA}"/>
              </a:ext>
            </a:extLst>
          </p:cNvPr>
          <p:cNvSpPr>
            <a:spLocks noGrp="1"/>
          </p:cNvSpPr>
          <p:nvPr>
            <p:ph type="body" sz="quarter" idx="15"/>
          </p:nvPr>
        </p:nvSpPr>
        <p:spPr>
          <a:xfrm>
            <a:off x="743575" y="1565226"/>
            <a:ext cx="5200024" cy="4067797"/>
          </a:xfrm>
        </p:spPr>
        <p:txBody>
          <a:bodyPr>
            <a:normAutofit/>
          </a:bodyPr>
          <a:lstStyle/>
          <a:p>
            <a:r>
              <a:rPr lang="en-US" sz="2000" dirty="0"/>
              <a:t>In </a:t>
            </a:r>
            <a:r>
              <a:rPr lang="en-US" sz="2000" i="1" dirty="0"/>
              <a:t>an observational</a:t>
            </a:r>
            <a:r>
              <a:rPr lang="en-US" sz="2000" dirty="0"/>
              <a:t> </a:t>
            </a:r>
            <a:r>
              <a:rPr lang="en-US" sz="2000" i="1" dirty="0"/>
              <a:t>study</a:t>
            </a:r>
            <a:r>
              <a:rPr lang="en-US" sz="2000" dirty="0"/>
              <a:t>, no attempt is made to control or influence the variables of interest.</a:t>
            </a:r>
          </a:p>
          <a:p>
            <a:r>
              <a:rPr lang="en-US" sz="2000" dirty="0"/>
              <a:t>Examples:</a:t>
            </a:r>
          </a:p>
          <a:p>
            <a:pPr marL="628650" indent="-231775">
              <a:buFont typeface="Arial" panose="020B0604020202020204" pitchFamily="34" charset="0"/>
              <a:buChar char="•"/>
            </a:pPr>
            <a:r>
              <a:rPr lang="en-US" sz="2000" dirty="0"/>
              <a:t>Recording data on demographics and shopping habits of a random group of Walmart customers.</a:t>
            </a:r>
          </a:p>
          <a:p>
            <a:pPr marL="628650" indent="-231775">
              <a:buFont typeface="Arial" panose="020B0604020202020204" pitchFamily="34" charset="0"/>
              <a:buChar char="•"/>
            </a:pPr>
            <a:r>
              <a:rPr lang="en-US" sz="2000" dirty="0"/>
              <a:t>Recording CEO gender and return on equity (ROE) for a sample of Fortune 500 companies to investigate the relationship between CEO gender and company performance.</a:t>
            </a:r>
          </a:p>
          <a:p>
            <a:pPr marL="628650" indent="-231775">
              <a:buFont typeface="Arial" panose="020B0604020202020204" pitchFamily="34" charset="0"/>
              <a:buChar char="•"/>
            </a:pPr>
            <a:r>
              <a:rPr lang="en-US" sz="2000" dirty="0"/>
              <a:t>Surveys and public opinion polls.</a:t>
            </a:r>
          </a:p>
        </p:txBody>
      </p:sp>
      <p:sp>
        <p:nvSpPr>
          <p:cNvPr id="5" name="Text Placeholder 4">
            <a:extLst>
              <a:ext uri="{FF2B5EF4-FFF2-40B4-BE49-F238E27FC236}">
                <a16:creationId xmlns:a16="http://schemas.microsoft.com/office/drawing/2014/main" id="{2EC27967-87E9-461F-E9C2-C20F1EB333C7}"/>
              </a:ext>
            </a:extLst>
          </p:cNvPr>
          <p:cNvSpPr>
            <a:spLocks noGrp="1"/>
          </p:cNvSpPr>
          <p:nvPr>
            <p:ph type="body" sz="quarter" idx="22"/>
          </p:nvPr>
        </p:nvSpPr>
        <p:spPr>
          <a:xfrm>
            <a:off x="6122680" y="1129056"/>
            <a:ext cx="5200024" cy="349023"/>
          </a:xfrm>
        </p:spPr>
        <p:txBody>
          <a:bodyPr/>
          <a:lstStyle/>
          <a:p>
            <a:r>
              <a:rPr lang="en-US" dirty="0"/>
              <a:t>Experiment</a:t>
            </a:r>
          </a:p>
        </p:txBody>
      </p:sp>
      <p:sp>
        <p:nvSpPr>
          <p:cNvPr id="6" name="Text Placeholder 5">
            <a:extLst>
              <a:ext uri="{FF2B5EF4-FFF2-40B4-BE49-F238E27FC236}">
                <a16:creationId xmlns:a16="http://schemas.microsoft.com/office/drawing/2014/main" id="{0E25234D-2383-56FA-626F-7C259926CAF2}"/>
              </a:ext>
            </a:extLst>
          </p:cNvPr>
          <p:cNvSpPr>
            <a:spLocks noGrp="1"/>
          </p:cNvSpPr>
          <p:nvPr>
            <p:ph type="body" sz="quarter" idx="18"/>
          </p:nvPr>
        </p:nvSpPr>
        <p:spPr>
          <a:xfrm>
            <a:off x="6095999" y="1565227"/>
            <a:ext cx="5226704" cy="4163718"/>
          </a:xfrm>
        </p:spPr>
        <p:txBody>
          <a:bodyPr>
            <a:normAutofit/>
          </a:bodyPr>
          <a:lstStyle/>
          <a:p>
            <a:r>
              <a:rPr lang="en-US" sz="2000" dirty="0"/>
              <a:t>Because an </a:t>
            </a:r>
            <a:r>
              <a:rPr lang="en-US" sz="2000" i="1" dirty="0"/>
              <a:t>experiment</a:t>
            </a:r>
            <a:r>
              <a:rPr lang="en-US" sz="2000" dirty="0"/>
              <a:t> is conducted under controlled conditions, its data can provide more information compared to data obtained from existing sources or observational studies.</a:t>
            </a:r>
          </a:p>
          <a:p>
            <a:r>
              <a:rPr lang="en-US" sz="2000" dirty="0"/>
              <a:t>In experiments, first, a variable of interest is identified, and then one or more other variables are identified and controlled. The collected data are then analyzed to investigate how they influence the variable of interest.</a:t>
            </a:r>
          </a:p>
          <a:p>
            <a:r>
              <a:rPr lang="en-US" sz="2000" dirty="0"/>
              <a:t>Example – a pharmaceutical company administers different dosages of a new drug to groups of randomly selected individuals and monitors how they are affected by it.</a:t>
            </a:r>
          </a:p>
        </p:txBody>
      </p:sp>
    </p:spTree>
    <p:extLst>
      <p:ext uri="{BB962C8B-B14F-4D97-AF65-F5344CB8AC3E}">
        <p14:creationId xmlns:p14="http://schemas.microsoft.com/office/powerpoint/2010/main" val="3812493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t>1.3 Considerations on Data Acquisition</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0228" y="1657847"/>
            <a:ext cx="10711543" cy="3542306"/>
          </a:xfrm>
        </p:spPr>
        <p:txBody>
          <a:bodyPr/>
          <a:lstStyle/>
          <a:p>
            <a:pPr>
              <a:spcBef>
                <a:spcPts val="600"/>
              </a:spcBef>
            </a:pPr>
            <a:r>
              <a:rPr lang="en-US" sz="2000" b="1" dirty="0"/>
              <a:t>Time Requirement</a:t>
            </a:r>
          </a:p>
          <a:p>
            <a:pPr marL="684213" indent="-287338">
              <a:spcBef>
                <a:spcPts val="600"/>
              </a:spcBef>
              <a:buFont typeface="Arial" panose="020B0604020202020204" pitchFamily="34" charset="0"/>
              <a:buChar char="•"/>
            </a:pPr>
            <a:r>
              <a:rPr lang="en-US" sz="2000" dirty="0"/>
              <a:t>Searching for information can be time-consuming.</a:t>
            </a:r>
          </a:p>
          <a:p>
            <a:pPr marL="684213" indent="-287338">
              <a:spcBef>
                <a:spcPts val="600"/>
              </a:spcBef>
              <a:buFont typeface="Arial" panose="020B0604020202020204" pitchFamily="34" charset="0"/>
              <a:buChar char="•"/>
            </a:pPr>
            <a:r>
              <a:rPr lang="en-US" sz="2000" dirty="0"/>
              <a:t>Information may no longer be useful by the time it is available.</a:t>
            </a:r>
          </a:p>
          <a:p>
            <a:pPr>
              <a:spcBef>
                <a:spcPts val="1200"/>
              </a:spcBef>
            </a:pPr>
            <a:r>
              <a:rPr lang="en-US" sz="2000" b="1" dirty="0"/>
              <a:t>Cost of Acquisition</a:t>
            </a:r>
          </a:p>
          <a:p>
            <a:pPr marL="684213" indent="-287338">
              <a:spcBef>
                <a:spcPts val="600"/>
              </a:spcBef>
              <a:buFont typeface="Arial" panose="020B0604020202020204" pitchFamily="34" charset="0"/>
              <a:buChar char="•"/>
            </a:pPr>
            <a:r>
              <a:rPr lang="en-US" sz="2000" dirty="0"/>
              <a:t>Organizations often charge for information even when it is not their primary business activity.</a:t>
            </a:r>
          </a:p>
          <a:p>
            <a:pPr>
              <a:spcBef>
                <a:spcPts val="1200"/>
              </a:spcBef>
            </a:pPr>
            <a:r>
              <a:rPr lang="en-US" sz="2000" b="1" dirty="0"/>
              <a:t>Data Errors</a:t>
            </a:r>
          </a:p>
          <a:p>
            <a:pPr marL="684213" indent="-287338">
              <a:spcBef>
                <a:spcPts val="600"/>
              </a:spcBef>
              <a:buFont typeface="Arial" panose="020B0604020202020204" pitchFamily="34" charset="0"/>
              <a:buChar char="•"/>
            </a:pPr>
            <a:r>
              <a:rPr lang="en-US" sz="2000" dirty="0"/>
              <a:t>Using any data that happen to be available.</a:t>
            </a:r>
          </a:p>
          <a:p>
            <a:pPr marL="684213" indent="-287338">
              <a:spcBef>
                <a:spcPts val="600"/>
              </a:spcBef>
              <a:buFont typeface="Arial" panose="020B0604020202020204" pitchFamily="34" charset="0"/>
              <a:buChar char="•"/>
            </a:pPr>
            <a:r>
              <a:rPr lang="en-US" sz="2000" dirty="0"/>
              <a:t>Data acquired with little care can lead to misleading information.</a:t>
            </a:r>
          </a:p>
        </p:txBody>
      </p:sp>
    </p:spTree>
    <p:extLst>
      <p:ext uri="{BB962C8B-B14F-4D97-AF65-F5344CB8AC3E}">
        <p14:creationId xmlns:p14="http://schemas.microsoft.com/office/powerpoint/2010/main" val="818427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7E5D4-5F02-C266-5491-38C7D05FDBED}"/>
              </a:ext>
            </a:extLst>
          </p:cNvPr>
          <p:cNvSpPr>
            <a:spLocks noGrp="1"/>
          </p:cNvSpPr>
          <p:nvPr>
            <p:ph type="title"/>
          </p:nvPr>
        </p:nvSpPr>
        <p:spPr/>
        <p:txBody>
          <a:bodyPr/>
          <a:lstStyle/>
          <a:p>
            <a:r>
              <a:rPr lang="en-US" dirty="0">
                <a:solidFill>
                  <a:srgbClr val="D14B1E"/>
                </a:solidFill>
              </a:rPr>
              <a:t>1.4 Descriptive Statistics</a:t>
            </a:r>
          </a:p>
        </p:txBody>
      </p:sp>
      <p:sp>
        <p:nvSpPr>
          <p:cNvPr id="3" name="Text Placeholder 2">
            <a:extLst>
              <a:ext uri="{FF2B5EF4-FFF2-40B4-BE49-F238E27FC236}">
                <a16:creationId xmlns:a16="http://schemas.microsoft.com/office/drawing/2014/main" id="{C56C4F6B-C112-24A1-9999-40856128E94E}"/>
              </a:ext>
            </a:extLst>
          </p:cNvPr>
          <p:cNvSpPr>
            <a:spLocks noGrp="1"/>
          </p:cNvSpPr>
          <p:nvPr>
            <p:ph type="body" sz="quarter" idx="15"/>
          </p:nvPr>
        </p:nvSpPr>
        <p:spPr>
          <a:xfrm>
            <a:off x="743576" y="1509204"/>
            <a:ext cx="5200024" cy="4312621"/>
          </a:xfrm>
        </p:spPr>
        <p:txBody>
          <a:bodyPr>
            <a:normAutofit/>
          </a:bodyPr>
          <a:lstStyle/>
          <a:p>
            <a:r>
              <a:rPr lang="en-US" sz="2000" dirty="0"/>
              <a:t>Most of the statistical information in publications consists of data that are summarized and presented in a form that is easy to understand.</a:t>
            </a:r>
          </a:p>
          <a:p>
            <a:r>
              <a:rPr lang="en-US" sz="2000" dirty="0"/>
              <a:t>Such summaries of data, which may be tabular, graphical, or numerical, are referred to as </a:t>
            </a:r>
            <a:r>
              <a:rPr lang="en-US" sz="2000" b="1" dirty="0"/>
              <a:t>descriptive statistics</a:t>
            </a:r>
            <a:r>
              <a:rPr lang="en-US" sz="2000" dirty="0"/>
              <a:t>.</a:t>
            </a:r>
          </a:p>
          <a:p>
            <a:r>
              <a:rPr lang="en-US" sz="2000" dirty="0"/>
              <a:t>Examples:</a:t>
            </a:r>
          </a:p>
          <a:p>
            <a:pPr marL="461963" indent="-231775">
              <a:buFont typeface="Arial" panose="020B0604020202020204" pitchFamily="34" charset="0"/>
              <a:buChar char="•"/>
            </a:pPr>
            <a:r>
              <a:rPr lang="en-US" sz="2000" dirty="0"/>
              <a:t>The variable Fitch Outlook in the WTO Nations table can be summarized as a table or bar chart.</a:t>
            </a:r>
          </a:p>
          <a:p>
            <a:pPr marL="461963" indent="-231775">
              <a:buFont typeface="Arial" panose="020B0604020202020204" pitchFamily="34" charset="0"/>
              <a:buChar char="•"/>
            </a:pPr>
            <a:r>
              <a:rPr lang="en-US" sz="2000" dirty="0"/>
              <a:t>Numerical descriptive statistics such as the mean (or average.)</a:t>
            </a:r>
          </a:p>
        </p:txBody>
      </p:sp>
      <p:graphicFrame>
        <p:nvGraphicFramePr>
          <p:cNvPr id="9" name="Table 9">
            <a:extLst>
              <a:ext uri="{FF2B5EF4-FFF2-40B4-BE49-F238E27FC236}">
                <a16:creationId xmlns:a16="http://schemas.microsoft.com/office/drawing/2014/main" id="{5D0AFE6D-0549-5AA3-49D2-5B7B692A3815}"/>
              </a:ext>
            </a:extLst>
          </p:cNvPr>
          <p:cNvGraphicFramePr>
            <a:graphicFrameLocks noGrp="1"/>
          </p:cNvGraphicFramePr>
          <p:nvPr>
            <p:ph type="tbl" sz="quarter" idx="22"/>
            <p:extLst>
              <p:ext uri="{D42A27DB-BD31-4B8C-83A1-F6EECF244321}">
                <p14:modId xmlns:p14="http://schemas.microsoft.com/office/powerpoint/2010/main" val="61795291"/>
              </p:ext>
            </p:extLst>
          </p:nvPr>
        </p:nvGraphicFramePr>
        <p:xfrm>
          <a:off x="6021532" y="1475064"/>
          <a:ext cx="5200650" cy="1228911"/>
        </p:xfrm>
        <a:graphic>
          <a:graphicData uri="http://schemas.openxmlformats.org/drawingml/2006/table">
            <a:tbl>
              <a:tblPr firstRow="1" bandRow="1">
                <a:tableStyleId>{5C22544A-7EE6-4342-B048-85BDC9FD1C3A}</a:tableStyleId>
              </a:tblPr>
              <a:tblGrid>
                <a:gridCol w="1393421">
                  <a:extLst>
                    <a:ext uri="{9D8B030D-6E8A-4147-A177-3AD203B41FA5}">
                      <a16:colId xmlns:a16="http://schemas.microsoft.com/office/drawing/2014/main" val="3922585225"/>
                    </a:ext>
                  </a:extLst>
                </a:gridCol>
                <a:gridCol w="1313411">
                  <a:extLst>
                    <a:ext uri="{9D8B030D-6E8A-4147-A177-3AD203B41FA5}">
                      <a16:colId xmlns:a16="http://schemas.microsoft.com/office/drawing/2014/main" val="1100799135"/>
                    </a:ext>
                  </a:extLst>
                </a:gridCol>
                <a:gridCol w="2493818">
                  <a:extLst>
                    <a:ext uri="{9D8B030D-6E8A-4147-A177-3AD203B41FA5}">
                      <a16:colId xmlns:a16="http://schemas.microsoft.com/office/drawing/2014/main" val="366373992"/>
                    </a:ext>
                  </a:extLst>
                </a:gridCol>
              </a:tblGrid>
              <a:tr h="365760">
                <a:tc>
                  <a:txBody>
                    <a:bodyPr/>
                    <a:lstStyle/>
                    <a:p>
                      <a:r>
                        <a:rPr lang="en-US" dirty="0">
                          <a:solidFill>
                            <a:srgbClr val="000000"/>
                          </a:solidFill>
                        </a:rPr>
                        <a:t>Fitch Outlook</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a:tabLst>
                          <a:tab pos="914400" algn="r"/>
                        </a:tabLst>
                      </a:pPr>
                      <a:r>
                        <a:rPr lang="en-US" dirty="0">
                          <a:solidFill>
                            <a:srgbClr val="000000"/>
                          </a:solidFill>
                        </a:rPr>
                        <a:t>Frequency</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a:r>
                        <a:rPr lang="en-US" dirty="0">
                          <a:solidFill>
                            <a:srgbClr val="000000"/>
                          </a:solidFill>
                        </a:rPr>
                        <a:t>Percent Frequency (%)</a:t>
                      </a:r>
                    </a:p>
                  </a:txBody>
                  <a:tcPr marL="0" marR="0" marT="0" marB="0">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83524449"/>
                  </a:ext>
                </a:extLst>
              </a:tr>
              <a:tr h="287717">
                <a:tc>
                  <a:txBody>
                    <a:bodyPr/>
                    <a:lstStyle/>
                    <a:p>
                      <a:r>
                        <a:rPr lang="en-US" dirty="0">
                          <a:solidFill>
                            <a:srgbClr val="000000"/>
                          </a:solidFill>
                        </a:rPr>
                        <a:t>Positive</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tabLst>
                          <a:tab pos="1030288" algn="r"/>
                        </a:tabLst>
                      </a:pPr>
                      <a:r>
                        <a:rPr lang="en-US" dirty="0">
                          <a:solidFill>
                            <a:srgbClr val="000000"/>
                          </a:solidFill>
                        </a:rPr>
                        <a:t>	3</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tabLst>
                          <a:tab pos="1604963" algn="r"/>
                        </a:tabLst>
                      </a:pPr>
                      <a:r>
                        <a:rPr lang="en-US" dirty="0">
                          <a:solidFill>
                            <a:srgbClr val="000000"/>
                          </a:solidFill>
                        </a:rPr>
                        <a:t>	5.0</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93639174"/>
                  </a:ext>
                </a:extLst>
              </a:tr>
              <a:tr h="287717">
                <a:tc>
                  <a:txBody>
                    <a:bodyPr/>
                    <a:lstStyle/>
                    <a:p>
                      <a:r>
                        <a:rPr lang="en-US" dirty="0">
                          <a:solidFill>
                            <a:srgbClr val="000000"/>
                          </a:solidFill>
                        </a:rPr>
                        <a:t>Stable</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tabLst>
                          <a:tab pos="1030288" algn="r"/>
                        </a:tabLst>
                      </a:pPr>
                      <a:r>
                        <a:rPr lang="en-US" dirty="0">
                          <a:solidFill>
                            <a:srgbClr val="000000"/>
                          </a:solidFill>
                        </a:rPr>
                        <a:t>	39</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tabLst>
                          <a:tab pos="1604963" algn="r"/>
                        </a:tabLst>
                      </a:pPr>
                      <a:r>
                        <a:rPr lang="en-US" dirty="0">
                          <a:solidFill>
                            <a:srgbClr val="000000"/>
                          </a:solidFill>
                        </a:rPr>
                        <a:t>	65.0</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600009420"/>
                  </a:ext>
                </a:extLst>
              </a:tr>
              <a:tr h="287717">
                <a:tc>
                  <a:txBody>
                    <a:bodyPr/>
                    <a:lstStyle/>
                    <a:p>
                      <a:r>
                        <a:rPr lang="en-US" dirty="0">
                          <a:solidFill>
                            <a:srgbClr val="000000"/>
                          </a:solidFill>
                        </a:rPr>
                        <a:t>Negative</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tabLst>
                          <a:tab pos="1030288" algn="r"/>
                        </a:tabLst>
                      </a:pPr>
                      <a:r>
                        <a:rPr lang="en-US" dirty="0">
                          <a:solidFill>
                            <a:srgbClr val="000000"/>
                          </a:solidFill>
                        </a:rPr>
                        <a:t>	18</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tabLst>
                          <a:tab pos="1604963" algn="r"/>
                        </a:tabLst>
                      </a:pPr>
                      <a:r>
                        <a:rPr lang="en-US" dirty="0">
                          <a:solidFill>
                            <a:srgbClr val="000000"/>
                          </a:solidFill>
                        </a:rPr>
                        <a:t>	30.0</a:t>
                      </a: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231672244"/>
                  </a:ext>
                </a:extLst>
              </a:tr>
            </a:tbl>
          </a:graphicData>
        </a:graphic>
      </p:graphicFrame>
      <p:pic>
        <p:nvPicPr>
          <p:cNvPr id="8" name="Picture Placeholder 16" descr="A bar chart with three vertical bars plots percentage frequency versus Fitch outlook. The horizontal axis is labeled “Fitch Outlook” and lists three different outlooks. The vertical axis is labeled “Percentage Frequency” and ranges from 0 to 70 with tickmarks in increments of 10. The data from the chart are as follows. Negative: 30. Stable: 65. Positive: 5. All data are approximate.">
            <a:extLst>
              <a:ext uri="{FF2B5EF4-FFF2-40B4-BE49-F238E27FC236}">
                <a16:creationId xmlns:a16="http://schemas.microsoft.com/office/drawing/2014/main" id="{43E6DC2F-FBB9-2B7E-2015-0206F5B35140}"/>
              </a:ext>
            </a:extLst>
          </p:cNvPr>
          <p:cNvPicPr>
            <a:picLocks noGrp="1" noChangeAspect="1"/>
          </p:cNvPicPr>
          <p:nvPr>
            <p:ph type="pic" sz="quarter" idx="23"/>
          </p:nvPr>
        </p:nvPicPr>
        <p:blipFill rotWithShape="1">
          <a:blip r:embed="rId3"/>
          <a:srcRect t="14" b="14"/>
          <a:stretch/>
        </p:blipFill>
        <p:spPr>
          <a:xfrm>
            <a:off x="6248402" y="2703975"/>
            <a:ext cx="4718050" cy="3117850"/>
          </a:xfrm>
        </p:spPr>
      </p:pic>
    </p:spTree>
    <p:extLst>
      <p:ext uri="{BB962C8B-B14F-4D97-AF65-F5344CB8AC3E}">
        <p14:creationId xmlns:p14="http://schemas.microsoft.com/office/powerpoint/2010/main" val="1387734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D14B1E"/>
                </a:solidFill>
              </a:rPr>
              <a:t>1.5 Statistical Inference</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3576" y="1447138"/>
            <a:ext cx="10711543" cy="4500438"/>
          </a:xfrm>
        </p:spPr>
        <p:txBody>
          <a:bodyPr/>
          <a:lstStyle/>
          <a:p>
            <a:pPr>
              <a:spcBef>
                <a:spcPts val="600"/>
              </a:spcBef>
              <a:spcAft>
                <a:spcPts val="600"/>
              </a:spcAft>
            </a:pPr>
            <a:r>
              <a:rPr lang="en-US" sz="2000" dirty="0"/>
              <a:t>When the collection of information about a large group of elements (individuals, companies, voters, households, products, customers, and so on) is not feasible because of time, cost, and other considerations, data can be collected from only a small portion of the group.</a:t>
            </a:r>
          </a:p>
          <a:p>
            <a:pPr>
              <a:spcBef>
                <a:spcPts val="600"/>
              </a:spcBef>
            </a:pPr>
            <a:r>
              <a:rPr lang="en-US" sz="2000" dirty="0"/>
              <a:t>Formally, we use the following definitions of the larger and smaller groups of elements:</a:t>
            </a:r>
          </a:p>
          <a:p>
            <a:pPr marL="461963">
              <a:spcBef>
                <a:spcPts val="600"/>
              </a:spcBef>
            </a:pPr>
            <a:r>
              <a:rPr lang="en-US" sz="2000" b="1" dirty="0"/>
              <a:t>Population</a:t>
            </a:r>
            <a:r>
              <a:rPr lang="en-US" sz="2000" dirty="0"/>
              <a:t>: the set of all elements of interest in a particular study</a:t>
            </a:r>
          </a:p>
          <a:p>
            <a:pPr marL="461963">
              <a:spcBef>
                <a:spcPts val="600"/>
              </a:spcBef>
              <a:spcAft>
                <a:spcPts val="600"/>
              </a:spcAft>
            </a:pPr>
            <a:r>
              <a:rPr lang="en-US" sz="2000" b="1" dirty="0"/>
              <a:t>Sample</a:t>
            </a:r>
            <a:r>
              <a:rPr lang="en-US" sz="2000" dirty="0"/>
              <a:t>: a subset of the population</a:t>
            </a:r>
          </a:p>
          <a:p>
            <a:pPr>
              <a:spcBef>
                <a:spcPts val="600"/>
              </a:spcBef>
            </a:pPr>
            <a:r>
              <a:rPr lang="en-US" sz="2000" dirty="0"/>
              <a:t>We also formally define the following statistical processes:</a:t>
            </a:r>
          </a:p>
          <a:p>
            <a:pPr marL="461963">
              <a:spcBef>
                <a:spcPts val="600"/>
              </a:spcBef>
            </a:pPr>
            <a:r>
              <a:rPr lang="en-US" sz="2000" b="1" dirty="0"/>
              <a:t>Statistical inference</a:t>
            </a:r>
            <a:r>
              <a:rPr lang="en-US" sz="2000" dirty="0"/>
              <a:t>: the process of using data obtained from a sample to make estimates and test hypotheses about the characteristics of a population</a:t>
            </a:r>
          </a:p>
          <a:p>
            <a:pPr marL="461963">
              <a:spcBef>
                <a:spcPts val="600"/>
              </a:spcBef>
            </a:pPr>
            <a:r>
              <a:rPr lang="en-US" sz="2000" b="1" dirty="0"/>
              <a:t>Census</a:t>
            </a:r>
            <a:r>
              <a:rPr lang="en-US" sz="2000" dirty="0"/>
              <a:t>: the process of collecting data for the entire population</a:t>
            </a:r>
          </a:p>
          <a:p>
            <a:pPr marL="461963">
              <a:spcBef>
                <a:spcPts val="600"/>
              </a:spcBef>
            </a:pPr>
            <a:r>
              <a:rPr lang="en-US" sz="2000" b="1" dirty="0"/>
              <a:t>Sample survey</a:t>
            </a:r>
            <a:r>
              <a:rPr lang="en-US" sz="2000" dirty="0"/>
              <a:t>: a process of collecting data for a sample</a:t>
            </a:r>
          </a:p>
        </p:txBody>
      </p:sp>
    </p:spTree>
    <p:extLst>
      <p:ext uri="{BB962C8B-B14F-4D97-AF65-F5344CB8AC3E}">
        <p14:creationId xmlns:p14="http://schemas.microsoft.com/office/powerpoint/2010/main" val="3121815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53B21-19B5-47DD-4A36-E68F8B3FD737}"/>
              </a:ext>
            </a:extLst>
          </p:cNvPr>
          <p:cNvSpPr>
            <a:spLocks noGrp="1"/>
          </p:cNvSpPr>
          <p:nvPr>
            <p:ph type="title"/>
          </p:nvPr>
        </p:nvSpPr>
        <p:spPr/>
        <p:txBody>
          <a:bodyPr/>
          <a:lstStyle/>
          <a:p>
            <a:r>
              <a:rPr lang="en-US" dirty="0"/>
              <a:t>1.5 The Rogers Industries Example</a:t>
            </a:r>
          </a:p>
        </p:txBody>
      </p:sp>
      <p:sp>
        <p:nvSpPr>
          <p:cNvPr id="6" name="Text Placeholder 5">
            <a:extLst>
              <a:ext uri="{FF2B5EF4-FFF2-40B4-BE49-F238E27FC236}">
                <a16:creationId xmlns:a16="http://schemas.microsoft.com/office/drawing/2014/main" id="{4B866299-B585-6D12-099C-48C18769236B}"/>
              </a:ext>
            </a:extLst>
          </p:cNvPr>
          <p:cNvSpPr>
            <a:spLocks noGrp="1"/>
          </p:cNvSpPr>
          <p:nvPr>
            <p:ph type="body" sz="quarter" idx="15"/>
          </p:nvPr>
        </p:nvSpPr>
        <p:spPr>
          <a:xfrm>
            <a:off x="743577" y="1431925"/>
            <a:ext cx="3534225" cy="4205288"/>
          </a:xfrm>
        </p:spPr>
        <p:txBody>
          <a:bodyPr/>
          <a:lstStyle/>
          <a:p>
            <a:r>
              <a:rPr lang="en-US" sz="2000" dirty="0" err="1"/>
              <a:t>DATAfile</a:t>
            </a:r>
            <a:r>
              <a:rPr lang="en-US" sz="2000" dirty="0"/>
              <a:t>: </a:t>
            </a:r>
            <a:r>
              <a:rPr lang="en-US" sz="2000" i="1" dirty="0"/>
              <a:t>rogers</a:t>
            </a:r>
          </a:p>
          <a:p>
            <a:r>
              <a:rPr lang="en-US" sz="2000" dirty="0"/>
              <a:t>Rogers Industries has developed a new solid-state lithium battery that should last longer and be safer to use. </a:t>
            </a:r>
          </a:p>
          <a:p>
            <a:r>
              <a:rPr lang="en-US" sz="2000" dirty="0"/>
              <a:t>Researchers want to evaluate the advantages of the new battery using statistical inference.</a:t>
            </a:r>
          </a:p>
          <a:p>
            <a:r>
              <a:rPr lang="en-US" sz="2000" dirty="0"/>
              <a:t>The sample average battery life of 18.84 hours can be used as an estimate (inference) of the population average.</a:t>
            </a:r>
          </a:p>
          <a:p>
            <a:endParaRPr lang="en-US" sz="2000" dirty="0"/>
          </a:p>
          <a:p>
            <a:endParaRPr lang="en-US" sz="2000" dirty="0"/>
          </a:p>
        </p:txBody>
      </p:sp>
      <p:pic>
        <p:nvPicPr>
          <p:cNvPr id="13" name="Picture Placeholder 12" descr="A cyclic diagram shows four steps in the process of statistical inference. The steps are as follows. 1. Population consists of all batteries manufactured with the new solid-state technology. Average lifetime is unknown. 2. A sample of 200 batteries is manufactured with the new solid-state technology. 3. The sample data provide a sample average lifetime of 18.84 hours per battery. 4. The sample average is used to estimate the population average. Step 1 leads to Step 2, which further leads to Step 3. Step 3 leads to Step 4, which leads to step 1 finally.">
            <a:extLst>
              <a:ext uri="{FF2B5EF4-FFF2-40B4-BE49-F238E27FC236}">
                <a16:creationId xmlns:a16="http://schemas.microsoft.com/office/drawing/2014/main" id="{6D5AB467-30DE-6EF6-ABFA-091BB5116190}"/>
              </a:ext>
            </a:extLst>
          </p:cNvPr>
          <p:cNvPicPr>
            <a:picLocks noGrp="1" noChangeAspect="1"/>
          </p:cNvPicPr>
          <p:nvPr>
            <p:ph type="pic" sz="quarter" idx="16"/>
          </p:nvPr>
        </p:nvPicPr>
        <p:blipFill rotWithShape="1">
          <a:blip r:embed="rId3"/>
          <a:srcRect t="21" b="21"/>
          <a:stretch/>
        </p:blipFill>
        <p:spPr>
          <a:xfrm>
            <a:off x="4445000" y="1431925"/>
            <a:ext cx="6858000" cy="4205288"/>
          </a:xfrm>
        </p:spPr>
      </p:pic>
    </p:spTree>
    <p:extLst>
      <p:ext uri="{BB962C8B-B14F-4D97-AF65-F5344CB8AC3E}">
        <p14:creationId xmlns:p14="http://schemas.microsoft.com/office/powerpoint/2010/main" val="2452154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6FB49-DC2F-88F9-F750-7AB0912EA2BE}"/>
              </a:ext>
            </a:extLst>
          </p:cNvPr>
          <p:cNvSpPr>
            <a:spLocks noGrp="1"/>
          </p:cNvSpPr>
          <p:nvPr>
            <p:ph type="title"/>
          </p:nvPr>
        </p:nvSpPr>
        <p:spPr/>
        <p:txBody>
          <a:bodyPr/>
          <a:lstStyle/>
          <a:p>
            <a:r>
              <a:rPr lang="en-US" dirty="0">
                <a:solidFill>
                  <a:srgbClr val="D14B1E"/>
                </a:solidFill>
              </a:rPr>
              <a:t>1.6 Statistical Analysis Using Microsoft Excel</a:t>
            </a:r>
          </a:p>
        </p:txBody>
      </p:sp>
      <p:sp>
        <p:nvSpPr>
          <p:cNvPr id="3" name="Text Placeholder 2">
            <a:extLst>
              <a:ext uri="{FF2B5EF4-FFF2-40B4-BE49-F238E27FC236}">
                <a16:creationId xmlns:a16="http://schemas.microsoft.com/office/drawing/2014/main" id="{402C2DEB-37DD-EB8D-1D3A-47819CEDD7DA}"/>
              </a:ext>
            </a:extLst>
          </p:cNvPr>
          <p:cNvSpPr>
            <a:spLocks noGrp="1"/>
          </p:cNvSpPr>
          <p:nvPr>
            <p:ph type="body" sz="quarter" idx="15"/>
          </p:nvPr>
        </p:nvSpPr>
        <p:spPr>
          <a:xfrm>
            <a:off x="743576" y="1150883"/>
            <a:ext cx="10711543" cy="4729655"/>
          </a:xfrm>
        </p:spPr>
        <p:txBody>
          <a:bodyPr/>
          <a:lstStyle/>
          <a:p>
            <a:r>
              <a:rPr lang="en-US" sz="2000" dirty="0"/>
              <a:t>Because statistical analysis typically involves working with large amounts of data, computer software is frequently used to conduct the analysis. </a:t>
            </a:r>
          </a:p>
          <a:p>
            <a:pPr marL="914400" indent="-342900">
              <a:spcBef>
                <a:spcPts val="600"/>
              </a:spcBef>
              <a:buFont typeface="Arial" panose="020B0604020202020204" pitchFamily="34" charset="0"/>
              <a:buChar char="•"/>
            </a:pPr>
            <a:r>
              <a:rPr lang="en-US" sz="2000" dirty="0"/>
              <a:t>This book shows how statistical analysis can be performed using Microsoft Excel.</a:t>
            </a:r>
          </a:p>
          <a:p>
            <a:r>
              <a:rPr lang="en-US" sz="2000" dirty="0"/>
              <a:t>This book is about statistics; it is not a book about spreadsheets. Our focus is on showing the appropriate statistical procedures for </a:t>
            </a:r>
          </a:p>
          <a:p>
            <a:pPr marL="914400" indent="-342900">
              <a:spcBef>
                <a:spcPts val="600"/>
              </a:spcBef>
              <a:buFont typeface="Arial" panose="020B0604020202020204" pitchFamily="34" charset="0"/>
              <a:buChar char="•"/>
            </a:pPr>
            <a:r>
              <a:rPr lang="en-US" sz="2000" dirty="0"/>
              <a:t>Collecting, analyzing, presenting, and interpreting data. </a:t>
            </a:r>
          </a:p>
          <a:p>
            <a:r>
              <a:rPr lang="en-US" sz="2000" dirty="0"/>
              <a:t>Because Excel is widely available in business organizations, you can expect to put the knowledge gained here to use in the setting where you currently, or soon will, work. </a:t>
            </a:r>
          </a:p>
          <a:p>
            <a:pPr marL="914400" indent="-342900">
              <a:buFont typeface="Arial" panose="020B0604020202020204" pitchFamily="34" charset="0"/>
              <a:buChar char="•"/>
            </a:pPr>
            <a:r>
              <a:rPr lang="en-US" sz="2000" dirty="0"/>
              <a:t>If, in the process of studying this material, you become more proficient with Excel, so much the better.</a:t>
            </a:r>
          </a:p>
          <a:p>
            <a:r>
              <a:rPr lang="en-US" sz="2000" dirty="0"/>
              <a:t>We begin most sections with an application scenario in which a statistical procedure is useful. </a:t>
            </a:r>
          </a:p>
          <a:p>
            <a:pPr marL="914400" indent="-342900">
              <a:spcBef>
                <a:spcPts val="600"/>
              </a:spcBef>
              <a:buFont typeface="Arial" panose="020B0604020202020204" pitchFamily="34" charset="0"/>
              <a:buChar char="•"/>
            </a:pPr>
            <a:r>
              <a:rPr lang="en-US" sz="2000" dirty="0"/>
              <a:t>After showing what the statistical procedure is and how it is used, we turn to showing how to implement the procedure using Excel.</a:t>
            </a:r>
          </a:p>
        </p:txBody>
      </p:sp>
    </p:spTree>
    <p:extLst>
      <p:ext uri="{BB962C8B-B14F-4D97-AF65-F5344CB8AC3E}">
        <p14:creationId xmlns:p14="http://schemas.microsoft.com/office/powerpoint/2010/main" val="3195100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53B21-19B5-47DD-4A36-E68F8B3FD737}"/>
              </a:ext>
            </a:extLst>
          </p:cNvPr>
          <p:cNvSpPr>
            <a:spLocks noGrp="1"/>
          </p:cNvSpPr>
          <p:nvPr>
            <p:ph type="title"/>
          </p:nvPr>
        </p:nvSpPr>
        <p:spPr/>
        <p:txBody>
          <a:bodyPr/>
          <a:lstStyle/>
          <a:p>
            <a:r>
              <a:rPr lang="en-US" dirty="0">
                <a:solidFill>
                  <a:srgbClr val="25894E"/>
                </a:solidFill>
              </a:rPr>
              <a:t>1.6 Excel: Data Sets and Worksheets</a:t>
            </a:r>
          </a:p>
        </p:txBody>
      </p:sp>
      <p:sp>
        <p:nvSpPr>
          <p:cNvPr id="6" name="Text Placeholder 5">
            <a:extLst>
              <a:ext uri="{FF2B5EF4-FFF2-40B4-BE49-F238E27FC236}">
                <a16:creationId xmlns:a16="http://schemas.microsoft.com/office/drawing/2014/main" id="{4B866299-B585-6D12-099C-48C18769236B}"/>
              </a:ext>
            </a:extLst>
          </p:cNvPr>
          <p:cNvSpPr>
            <a:spLocks noGrp="1"/>
          </p:cNvSpPr>
          <p:nvPr>
            <p:ph type="body" sz="quarter" idx="15"/>
          </p:nvPr>
        </p:nvSpPr>
        <p:spPr>
          <a:xfrm>
            <a:off x="743576" y="1195470"/>
            <a:ext cx="10610223" cy="672105"/>
          </a:xfrm>
        </p:spPr>
        <p:txBody>
          <a:bodyPr/>
          <a:lstStyle/>
          <a:p>
            <a:r>
              <a:rPr lang="en-US" sz="2000" dirty="0"/>
              <a:t>The figure below shows an Excel worksheet for the data set about the 60 nations participating in the World Trade Organization, shown in Section 1.2.</a:t>
            </a:r>
          </a:p>
        </p:txBody>
      </p:sp>
      <p:sp>
        <p:nvSpPr>
          <p:cNvPr id="8" name="Text Placeholder 7">
            <a:extLst>
              <a:ext uri="{FF2B5EF4-FFF2-40B4-BE49-F238E27FC236}">
                <a16:creationId xmlns:a16="http://schemas.microsoft.com/office/drawing/2014/main" id="{BB5C4749-F158-8778-28F9-20628386F620}"/>
              </a:ext>
            </a:extLst>
          </p:cNvPr>
          <p:cNvSpPr>
            <a:spLocks noGrp="1"/>
          </p:cNvSpPr>
          <p:nvPr>
            <p:ph type="body" sz="quarter" idx="17"/>
          </p:nvPr>
        </p:nvSpPr>
        <p:spPr>
          <a:xfrm>
            <a:off x="743576" y="1939598"/>
            <a:ext cx="4936793" cy="3793879"/>
          </a:xfrm>
        </p:spPr>
        <p:txBody>
          <a:bodyPr/>
          <a:lstStyle/>
          <a:p>
            <a:pPr marL="457200" indent="-342900">
              <a:buFont typeface="Arial" panose="020B0604020202020204" pitchFamily="34" charset="0"/>
              <a:buChar char="•"/>
            </a:pPr>
            <a:r>
              <a:rPr lang="en-US" sz="2000" dirty="0"/>
              <a:t>Row 1 and column A contain labels;</a:t>
            </a:r>
          </a:p>
          <a:p>
            <a:pPr marL="457200" indent="-342900">
              <a:buFont typeface="Arial" panose="020B0604020202020204" pitchFamily="34" charset="0"/>
              <a:buChar char="•"/>
            </a:pPr>
            <a:r>
              <a:rPr lang="en-US" sz="2000" dirty="0"/>
              <a:t>cells B1:E1 contain the variable names; </a:t>
            </a:r>
          </a:p>
          <a:p>
            <a:pPr marL="457200" indent="-342900">
              <a:buFont typeface="Arial" panose="020B0604020202020204" pitchFamily="34" charset="0"/>
              <a:buChar char="•"/>
            </a:pPr>
            <a:r>
              <a:rPr lang="en-US" sz="2000" dirty="0"/>
              <a:t>cells A2:A61 contain the observation names; and </a:t>
            </a:r>
          </a:p>
          <a:p>
            <a:pPr marL="457200" indent="-342900">
              <a:buFont typeface="Arial" panose="020B0604020202020204" pitchFamily="34" charset="0"/>
              <a:buChar char="•"/>
            </a:pPr>
            <a:r>
              <a:rPr lang="en-US" sz="2000" dirty="0"/>
              <a:t>cells B2:E61 contain the collected data.</a:t>
            </a:r>
          </a:p>
          <a:p>
            <a:pPr>
              <a:spcBef>
                <a:spcPts val="1000"/>
              </a:spcBef>
            </a:pPr>
            <a:r>
              <a:rPr lang="en-US" sz="2000" dirty="0"/>
              <a:t>Because displaying a worksheet with this many rows on a single page of a textbook is not practical, we will hide selected rows to conserve space.</a:t>
            </a:r>
          </a:p>
          <a:p>
            <a:pPr marL="457200" indent="-346075">
              <a:buFont typeface="Arial" panose="020B0604020202020204" pitchFamily="34" charset="0"/>
              <a:buChar char="•"/>
            </a:pPr>
            <a:r>
              <a:rPr lang="en-US" sz="2000" dirty="0"/>
              <a:t>In the example, we have hidden rows 15 through 54 to conserve space.</a:t>
            </a:r>
          </a:p>
          <a:p>
            <a:endParaRPr lang="en-US" sz="2000" dirty="0"/>
          </a:p>
        </p:txBody>
      </p:sp>
      <p:pic>
        <p:nvPicPr>
          <p:cNvPr id="4" name="Picture Placeholder 3" descr="A screenshot of an Excel spreadsheet shows the W T O status, per capita G D P, Fitch rating, and Fitch outlook of 60 countries. Column A is labeled nation, column B is labeled W T O status, column C is labeled per capita G D P (dollars), column D is labeled Fitch rating, and column E is labeled Fitch outlook. The entries in rows 2 through 61 are as follows. Row 2. Nation: Armenia. Status: Member. G D P: 4,267. Rating: B plus. Outlook: Stable. Row 3. Nation: Australia. Status: Member. G D P: 51,812. Rating: A A A. Outlook: Negative. Row 4. Nation: Austria. Status: Member. G D P: 48,328. Rating: A A plus. Outlook: Stable. Row 5. Nation: Azerbaijan. Status: Observer. G D P: 4,214. Rating: B B plus. Outlook: Stable. Row 6. Nation: Bahrain. Status: Member. G D P: 28,608. Rating: B plus. Outlook: Stable. Row 7. Nation: Belgium. Status: Member. G D P: 45,5974. Rating: A A minus. Outlook: Negative. Row 8. Nation: Brazil. Status: Member. G D P: 6,797. Rating: B B minus. Outlook: Negative. Row 9. Nation: Bulgaria. Status: Member. G D P: 9,976. Rating: B B B. Outlook: Positive. Row 10. Nation: Canada. Status: Member. G D P: 43,258. Rating: A A plus. Outlook: Stable. Row 11. Nation: Cape Verde. Status: Member. G D P: 43,258. Rating: B minus. Outlook: Stable. Row 12. Nation: Chile. Status: Member. G D P: 13,232. Rating: A minus. Outlook: Stable. Row 13. Nation: China. Status: Member. G D P: 10,500. Rating: A plus. Outlook: Stable. Row 14. Nation: Colombia. Status: Member. G D P: 5,333. Rating: B B B minus. Outlook: Negative. Row 55. Nation: Switzerland. Status: Member. G D P: 87,097. Rating: A A A. Outlook: Stable. Row 56. Nation: Thailand. Status: Member. G D P: 7,189. Rating: B B B plus. Outlook: Stable. Row 57. Nation: Turkey. Status: Member. G D P: 8,538. Rating: B B minus. Outlook: Stable. Row 58. Nation: United Kingdom. Status: Member. G D P: 40,285. Rating: A A minus. Outlook: Negative. Row 59. Nation: Uruguay. Status: Member. G D P: 15,438. Rating: B B B minus. Outlook: negative. Row 60. Nation: United States. Status: Member. G D P: 63,544. Rating: A A A. Outlook: Negative. Row 61. Nation: Vietnam. Status: Member. G D P: 2,786. Rating: B B. Outlook: Positive. ">
            <a:extLst>
              <a:ext uri="{FF2B5EF4-FFF2-40B4-BE49-F238E27FC236}">
                <a16:creationId xmlns:a16="http://schemas.microsoft.com/office/drawing/2014/main" id="{E2520C9B-3ACB-ADC6-991B-66AD3E0D24E6}"/>
              </a:ext>
            </a:extLst>
          </p:cNvPr>
          <p:cNvPicPr>
            <a:picLocks noGrp="1" noChangeAspect="1"/>
          </p:cNvPicPr>
          <p:nvPr>
            <p:ph type="pic" sz="quarter" idx="16"/>
          </p:nvPr>
        </p:nvPicPr>
        <p:blipFill>
          <a:blip r:embed="rId2"/>
          <a:srcRect l="92" r="92"/>
          <a:stretch/>
        </p:blipFill>
        <p:spPr>
          <a:xfrm>
            <a:off x="5770563" y="1939598"/>
            <a:ext cx="5583237" cy="3841750"/>
          </a:xfrm>
          <a:ln>
            <a:solidFill>
              <a:srgbClr val="000000"/>
            </a:solidFill>
          </a:ln>
        </p:spPr>
      </p:pic>
    </p:spTree>
    <p:extLst>
      <p:ext uri="{BB962C8B-B14F-4D97-AF65-F5344CB8AC3E}">
        <p14:creationId xmlns:p14="http://schemas.microsoft.com/office/powerpoint/2010/main" val="1231750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25894E"/>
                </a:solidFill>
              </a:rPr>
              <a:t>1.6 Excel: Statistical Analysis</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3576" y="1221828"/>
            <a:ext cx="10711543" cy="4627179"/>
          </a:xfrm>
        </p:spPr>
        <p:txBody>
          <a:bodyPr/>
          <a:lstStyle/>
          <a:p>
            <a:r>
              <a:rPr lang="en-US" sz="2000" dirty="0">
                <a:latin typeface="Arial" panose="020B0604020202020204" pitchFamily="34" charset="0"/>
                <a:cs typeface="Arial" panose="020B0604020202020204" pitchFamily="34" charset="0"/>
              </a:rPr>
              <a:t>To separate the discussion of a statistical procedure from the discussion of using Excel to implement the procedure, the material discussed using Excel will usually be set apart in sections with green headings, such as the one for this slide.</a:t>
            </a:r>
          </a:p>
          <a:p>
            <a:r>
              <a:rPr lang="en-US" sz="2000" dirty="0">
                <a:latin typeface="Arial" panose="020B0604020202020204" pitchFamily="34" charset="0"/>
                <a:cs typeface="Arial" panose="020B0604020202020204" pitchFamily="34" charset="0"/>
              </a:rPr>
              <a:t>In using Excel for statistical analysis, the following four tasks may be needed, but not necessarily all of them:</a:t>
            </a:r>
          </a:p>
          <a:p>
            <a:pPr marL="9144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Enter/Access Data </a:t>
            </a:r>
            <a:r>
              <a:rPr lang="en-US" sz="2000" dirty="0">
                <a:latin typeface="Arial" panose="020B0604020202020204" pitchFamily="34" charset="0"/>
                <a:cs typeface="Arial" panose="020B0604020202020204" pitchFamily="34" charset="0"/>
              </a:rPr>
              <a:t>(always needed): Select cell locations for the data and enter the data along with appropriate labels or open an existing Excel file such as one of the files that accompany the text.</a:t>
            </a:r>
          </a:p>
          <a:p>
            <a:pPr marL="9144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Enter Functions and Formulas</a:t>
            </a:r>
            <a:r>
              <a:rPr lang="en-US" sz="2000" dirty="0">
                <a:latin typeface="Arial" panose="020B0604020202020204" pitchFamily="34" charset="0"/>
                <a:cs typeface="Arial" panose="020B0604020202020204" pitchFamily="34" charset="0"/>
              </a:rPr>
              <a:t>: Select cell locations, enter Excel functions and formulas, and provide descriptive labels to identify the results.</a:t>
            </a:r>
          </a:p>
          <a:p>
            <a:pPr marL="9144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Apply Tools</a:t>
            </a:r>
            <a:r>
              <a:rPr lang="en-US" sz="2000" dirty="0">
                <a:latin typeface="Arial" panose="020B0604020202020204" pitchFamily="34" charset="0"/>
                <a:cs typeface="Arial" panose="020B0604020202020204" pitchFamily="34" charset="0"/>
              </a:rPr>
              <a:t>: Use Excel’s tools for data analysis and presentation.</a:t>
            </a:r>
          </a:p>
          <a:p>
            <a:pPr marL="9144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Editing Options</a:t>
            </a:r>
            <a:r>
              <a:rPr lang="en-US" sz="2000" dirty="0">
                <a:latin typeface="Arial" panose="020B0604020202020204" pitchFamily="34" charset="0"/>
                <a:cs typeface="Arial" panose="020B0604020202020204" pitchFamily="34" charset="0"/>
              </a:rPr>
              <a:t>: Edit the results to better identify the output or to create a different type of presentation. </a:t>
            </a:r>
          </a:p>
          <a:p>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1453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53B21-19B5-47DD-4A36-E68F8B3FD737}"/>
              </a:ext>
            </a:extLst>
          </p:cNvPr>
          <p:cNvSpPr>
            <a:spLocks noGrp="1"/>
          </p:cNvSpPr>
          <p:nvPr>
            <p:ph type="title"/>
          </p:nvPr>
        </p:nvSpPr>
        <p:spPr/>
        <p:txBody>
          <a:bodyPr/>
          <a:lstStyle/>
          <a:p>
            <a:r>
              <a:rPr lang="en-US" dirty="0">
                <a:solidFill>
                  <a:srgbClr val="25894E"/>
                </a:solidFill>
              </a:rPr>
              <a:t>1.6 Excel: AVERAGE and </a:t>
            </a:r>
            <a:r>
              <a:rPr lang="en-US">
                <a:solidFill>
                  <a:srgbClr val="25894E"/>
                </a:solidFill>
              </a:rPr>
              <a:t>MEDIAN Functions</a:t>
            </a:r>
            <a:endParaRPr lang="en-US" dirty="0">
              <a:solidFill>
                <a:srgbClr val="25894E"/>
              </a:solidFill>
            </a:endParaRPr>
          </a:p>
        </p:txBody>
      </p:sp>
      <p:sp>
        <p:nvSpPr>
          <p:cNvPr id="6" name="Text Placeholder 5">
            <a:extLst>
              <a:ext uri="{FF2B5EF4-FFF2-40B4-BE49-F238E27FC236}">
                <a16:creationId xmlns:a16="http://schemas.microsoft.com/office/drawing/2014/main" id="{4B866299-B585-6D12-099C-48C18769236B}"/>
              </a:ext>
            </a:extLst>
          </p:cNvPr>
          <p:cNvSpPr>
            <a:spLocks noGrp="1"/>
          </p:cNvSpPr>
          <p:nvPr>
            <p:ph type="body" sz="quarter" idx="15"/>
          </p:nvPr>
        </p:nvSpPr>
        <p:spPr>
          <a:xfrm>
            <a:off x="743576" y="1179703"/>
            <a:ext cx="10610223" cy="1311247"/>
          </a:xfrm>
        </p:spPr>
        <p:txBody>
          <a:bodyPr/>
          <a:lstStyle/>
          <a:p>
            <a:r>
              <a:rPr lang="en-US" sz="2000" dirty="0"/>
              <a:t>The two shown worksheets describe how to use Excel’s functions AVERAGE and MEDIAN to compute the average and median lifetime for the 200 batteries included in the </a:t>
            </a:r>
            <a:r>
              <a:rPr lang="en-US" sz="2000" dirty="0" err="1"/>
              <a:t>DATAfile</a:t>
            </a:r>
            <a:r>
              <a:rPr lang="en-US" sz="2000" dirty="0"/>
              <a:t> </a:t>
            </a:r>
            <a:r>
              <a:rPr lang="en-US" sz="2000" i="1" dirty="0"/>
              <a:t>rogers</a:t>
            </a:r>
            <a:r>
              <a:rPr lang="en-US" sz="2000" dirty="0"/>
              <a:t>.</a:t>
            </a:r>
          </a:p>
          <a:p>
            <a:pPr marL="457200" indent="-342900">
              <a:buFont typeface="Arial" panose="020B0604020202020204" pitchFamily="34" charset="0"/>
              <a:buChar char="•"/>
            </a:pPr>
            <a:r>
              <a:rPr lang="en-US" sz="2000" dirty="0"/>
              <a:t>The </a:t>
            </a:r>
            <a:r>
              <a:rPr lang="en-US" sz="2000" i="1" dirty="0"/>
              <a:t>value worksheet </a:t>
            </a:r>
            <a:r>
              <a:rPr lang="en-US" sz="2000" dirty="0"/>
              <a:t>in the foreground displays the data for the problem and shows the results of the analysis.</a:t>
            </a:r>
          </a:p>
        </p:txBody>
      </p:sp>
      <p:sp>
        <p:nvSpPr>
          <p:cNvPr id="8" name="Text Placeholder 7">
            <a:extLst>
              <a:ext uri="{FF2B5EF4-FFF2-40B4-BE49-F238E27FC236}">
                <a16:creationId xmlns:a16="http://schemas.microsoft.com/office/drawing/2014/main" id="{BB5C4749-F158-8778-28F9-20628386F620}"/>
              </a:ext>
            </a:extLst>
          </p:cNvPr>
          <p:cNvSpPr>
            <a:spLocks noGrp="1"/>
          </p:cNvSpPr>
          <p:nvPr>
            <p:ph type="body" sz="quarter" idx="17"/>
          </p:nvPr>
        </p:nvSpPr>
        <p:spPr>
          <a:xfrm>
            <a:off x="743577" y="2580809"/>
            <a:ext cx="3915134" cy="3291843"/>
          </a:xfrm>
        </p:spPr>
        <p:txBody>
          <a:bodyPr/>
          <a:lstStyle/>
          <a:p>
            <a:pPr marL="457200" indent="-342900">
              <a:buFont typeface="Arial" panose="020B0604020202020204" pitchFamily="34" charset="0"/>
              <a:buChar char="•"/>
            </a:pPr>
            <a:r>
              <a:rPr lang="en-US" sz="2000" dirty="0"/>
              <a:t>The </a:t>
            </a:r>
            <a:r>
              <a:rPr lang="en-US" sz="2000" i="1" dirty="0"/>
              <a:t>formula worksheet </a:t>
            </a:r>
            <a:r>
              <a:rPr lang="en-US" sz="2000" dirty="0"/>
              <a:t>in the background displays the Excel formula used to compute the average lifetime.</a:t>
            </a:r>
          </a:p>
          <a:p>
            <a:pPr>
              <a:spcBef>
                <a:spcPts val="1000"/>
              </a:spcBef>
            </a:pPr>
            <a:r>
              <a:rPr lang="en-US" sz="2000" dirty="0"/>
              <a:t>The following tasks are shown:</a:t>
            </a:r>
          </a:p>
          <a:p>
            <a:pPr marL="9144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Enter/Access Data</a:t>
            </a:r>
            <a:r>
              <a:rPr lang="en-US" sz="2000" dirty="0">
                <a:latin typeface="Arial" panose="020B0604020202020204" pitchFamily="34" charset="0"/>
                <a:cs typeface="Arial" panose="020B0604020202020204" pitchFamily="34" charset="0"/>
              </a:rPr>
              <a:t>. Open file </a:t>
            </a:r>
            <a:r>
              <a:rPr lang="en-US" sz="2000" i="1" dirty="0">
                <a:latin typeface="Arial" panose="020B0604020202020204" pitchFamily="34" charset="0"/>
                <a:cs typeface="Arial" panose="020B0604020202020204" pitchFamily="34" charset="0"/>
              </a:rPr>
              <a:t>rogers</a:t>
            </a:r>
            <a:r>
              <a:rPr lang="en-US" sz="2000" dirty="0">
                <a:latin typeface="Arial" panose="020B0604020202020204" pitchFamily="34" charset="0"/>
                <a:cs typeface="Arial" panose="020B0604020202020204" pitchFamily="34" charset="0"/>
              </a:rPr>
              <a:t>.</a:t>
            </a:r>
          </a:p>
          <a:p>
            <a:pPr marL="9144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Enter Functions and Formulas</a:t>
            </a:r>
            <a:r>
              <a:rPr lang="en-US" sz="2000" dirty="0">
                <a:latin typeface="Arial" panose="020B0604020202020204" pitchFamily="34" charset="0"/>
                <a:cs typeface="Arial" panose="020B0604020202020204" pitchFamily="34" charset="0"/>
              </a:rPr>
              <a:t>. Entered in cells E2 and E3.</a:t>
            </a:r>
            <a:endParaRPr lang="en-US" sz="2000" dirty="0"/>
          </a:p>
        </p:txBody>
      </p:sp>
      <p:pic>
        <p:nvPicPr>
          <p:cNvPr id="7" name="Picture Placeholder 6" descr="Two screenshots show Excel spreadsheets with a table and calculation of average lifetime and median lifetime. In both the spreadsheets, column A is labeled battery life (hours). The entries in rows 2 through 201 are as follows. Row 2: 19.49. Row 3: 19.08. Row 4: 19.11. Row 5: 19.55. Row 6: 18.81. Row 198: 18.41. Row 199: 17.97. Row 200: 18.90. Row 201: 19.54. In the first spreadsheet, the cell entries are as follows. D2: Average lifetime. E2: =AVERAGE(A2:A201). D3: Median lifetime. E3: =MEDIAN(A2:A201). In the second spreadsheet, the cell entries are as follows. D2: Average lifetime. E2: 18.84. D3: Median lifetime. E3: 18.84.">
            <a:extLst>
              <a:ext uri="{FF2B5EF4-FFF2-40B4-BE49-F238E27FC236}">
                <a16:creationId xmlns:a16="http://schemas.microsoft.com/office/drawing/2014/main" id="{B2B5B256-1B39-B786-CF16-B693DDEC6FA7}"/>
              </a:ext>
            </a:extLst>
          </p:cNvPr>
          <p:cNvPicPr>
            <a:picLocks noGrp="1" noChangeAspect="1"/>
          </p:cNvPicPr>
          <p:nvPr>
            <p:ph type="pic" sz="quarter" idx="16"/>
          </p:nvPr>
        </p:nvPicPr>
        <p:blipFill>
          <a:blip r:embed="rId2"/>
          <a:srcRect l="17" r="17"/>
          <a:stretch/>
        </p:blipFill>
        <p:spPr>
          <a:xfrm>
            <a:off x="4716461" y="2525631"/>
            <a:ext cx="6637338" cy="3136900"/>
          </a:xfrm>
          <a:ln>
            <a:noFill/>
          </a:ln>
        </p:spPr>
      </p:pic>
    </p:spTree>
    <p:extLst>
      <p:ext uri="{BB962C8B-B14F-4D97-AF65-F5344CB8AC3E}">
        <p14:creationId xmlns:p14="http://schemas.microsoft.com/office/powerpoint/2010/main" val="2895599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D14B1E"/>
                </a:solidFill>
              </a:rPr>
              <a:t>1.7 Analytics</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43576" y="1363066"/>
            <a:ext cx="10711543" cy="4131867"/>
          </a:xfrm>
        </p:spPr>
        <p:txBody>
          <a:bodyPr/>
          <a:lstStyle/>
          <a:p>
            <a:r>
              <a:rPr lang="en-US" sz="2000" b="1" dirty="0"/>
              <a:t>Analytics</a:t>
            </a:r>
            <a:r>
              <a:rPr lang="en-US" sz="2000" dirty="0"/>
              <a:t> is the scientific process of transforming data into insight for making better decisions. </a:t>
            </a:r>
          </a:p>
          <a:p>
            <a:pPr>
              <a:spcBef>
                <a:spcPts val="600"/>
              </a:spcBef>
            </a:pPr>
            <a:r>
              <a:rPr lang="en-US" sz="2000" dirty="0"/>
              <a:t>Analytics is now generally thought to comprise three broad categories of techniques: </a:t>
            </a:r>
          </a:p>
          <a:p>
            <a:pPr marL="461963">
              <a:spcBef>
                <a:spcPts val="1200"/>
              </a:spcBef>
            </a:pPr>
            <a:r>
              <a:rPr lang="en-US" sz="2000" b="1" dirty="0"/>
              <a:t>Descriptive analytics</a:t>
            </a:r>
            <a:r>
              <a:rPr lang="en-US" sz="2000" dirty="0"/>
              <a:t> describes what has happened in the past. </a:t>
            </a:r>
          </a:p>
          <a:p>
            <a:pPr marL="1147763" lvl="1">
              <a:spcBef>
                <a:spcPts val="600"/>
              </a:spcBef>
            </a:pPr>
            <a:r>
              <a:rPr lang="en-US" sz="2000" dirty="0">
                <a:latin typeface="Arial" panose="020B0604020202020204" pitchFamily="34" charset="0"/>
                <a:cs typeface="Arial" panose="020B0604020202020204" pitchFamily="34" charset="0"/>
              </a:rPr>
              <a:t>Examples – data queries, reports, descriptive statistics, data visualization, data dashboards, and basic what-if spreadsheet models</a:t>
            </a:r>
          </a:p>
          <a:p>
            <a:pPr marL="461963">
              <a:spcBef>
                <a:spcPts val="1200"/>
              </a:spcBef>
            </a:pPr>
            <a:r>
              <a:rPr lang="en-US" sz="2000" b="1" dirty="0">
                <a:latin typeface="Arial" panose="020B0604020202020204" pitchFamily="34" charset="0"/>
                <a:cs typeface="Arial" panose="020B0604020202020204" pitchFamily="34" charset="0"/>
              </a:rPr>
              <a:t>Predictive analytics</a:t>
            </a:r>
            <a:r>
              <a:rPr lang="en-US" sz="2000" dirty="0">
                <a:latin typeface="Arial" panose="020B0604020202020204" pitchFamily="34" charset="0"/>
                <a:cs typeface="Arial" panose="020B0604020202020204" pitchFamily="34" charset="0"/>
              </a:rPr>
              <a:t> uses models constructed from past data to predict the future or to assess the impact of one variable on another</a:t>
            </a:r>
          </a:p>
          <a:p>
            <a:pPr marL="1147763" lvl="1">
              <a:spcBef>
                <a:spcPts val="600"/>
              </a:spcBef>
            </a:pPr>
            <a:r>
              <a:rPr lang="en-US" sz="2000" dirty="0">
                <a:latin typeface="Arial" panose="020B0604020202020204" pitchFamily="34" charset="0"/>
                <a:cs typeface="Arial" panose="020B0604020202020204" pitchFamily="34" charset="0"/>
              </a:rPr>
              <a:t>Examples – linear regression, time series analysis, forecasting models, and simulation.</a:t>
            </a:r>
          </a:p>
          <a:p>
            <a:pPr marL="461963">
              <a:spcBef>
                <a:spcPts val="1200"/>
              </a:spcBef>
            </a:pPr>
            <a:r>
              <a:rPr lang="en-US" sz="2000" b="1" dirty="0">
                <a:latin typeface="Arial" panose="020B0604020202020204" pitchFamily="34" charset="0"/>
                <a:cs typeface="Arial" panose="020B0604020202020204" pitchFamily="34" charset="0"/>
              </a:rPr>
              <a:t>Prescriptive analytics</a:t>
            </a:r>
            <a:r>
              <a:rPr lang="en-US" sz="2000" dirty="0">
                <a:latin typeface="Arial" panose="020B0604020202020204" pitchFamily="34" charset="0"/>
                <a:cs typeface="Arial" panose="020B0604020202020204" pitchFamily="34" charset="0"/>
              </a:rPr>
              <a:t> yield the best course of action.</a:t>
            </a:r>
          </a:p>
          <a:p>
            <a:pPr marL="1147763" lvl="1">
              <a:spcBef>
                <a:spcPts val="600"/>
              </a:spcBef>
            </a:pPr>
            <a:r>
              <a:rPr lang="en-US" sz="2000" dirty="0">
                <a:latin typeface="Arial" panose="020B0604020202020204" pitchFamily="34" charset="0"/>
                <a:cs typeface="Arial" panose="020B0604020202020204" pitchFamily="34" charset="0"/>
              </a:rPr>
              <a:t>Examples – optimization models and decision analysis</a:t>
            </a:r>
          </a:p>
        </p:txBody>
      </p:sp>
    </p:spTree>
    <p:extLst>
      <p:ext uri="{BB962C8B-B14F-4D97-AF65-F5344CB8AC3E}">
        <p14:creationId xmlns:p14="http://schemas.microsoft.com/office/powerpoint/2010/main" val="41516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D14B1E"/>
                </a:solidFill>
              </a:rPr>
              <a:t>1.8 Big Data and Data Mining</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27810" y="1261241"/>
            <a:ext cx="10773134" cy="4635062"/>
          </a:xfrm>
        </p:spPr>
        <p:txBody>
          <a:bodyPr/>
          <a:lstStyle/>
          <a:p>
            <a:r>
              <a:rPr lang="en-US" sz="2000" b="1" dirty="0"/>
              <a:t>Big data </a:t>
            </a:r>
            <a:r>
              <a:rPr lang="en-US" sz="2000" dirty="0"/>
              <a:t>are larger and more complex data sets that cannot be managed, processed, or analyzed with commonly available software in a reasonable amount of time.</a:t>
            </a:r>
          </a:p>
          <a:p>
            <a:pPr>
              <a:spcBef>
                <a:spcPts val="600"/>
              </a:spcBef>
            </a:pPr>
            <a:r>
              <a:rPr lang="en-US" sz="2000" dirty="0"/>
              <a:t>Analysts often define </a:t>
            </a:r>
            <a:r>
              <a:rPr lang="en-US" sz="2000" i="1" dirty="0"/>
              <a:t>big data by </a:t>
            </a:r>
            <a:r>
              <a:rPr lang="en-US" sz="2000" dirty="0"/>
              <a:t>referring to the </a:t>
            </a:r>
            <a:r>
              <a:rPr lang="en-US" sz="2000" b="1" dirty="0"/>
              <a:t>Four V’s</a:t>
            </a:r>
            <a:r>
              <a:rPr lang="en-US" sz="2000" dirty="0"/>
              <a:t>:</a:t>
            </a:r>
          </a:p>
          <a:p>
            <a:pPr marL="574675" indent="-342900">
              <a:spcBef>
                <a:spcPts val="600"/>
              </a:spcBef>
              <a:buFont typeface="Arial" panose="020B0604020202020204" pitchFamily="34" charset="0"/>
              <a:buChar char="•"/>
            </a:pPr>
            <a:r>
              <a:rPr lang="en-US" sz="2000" i="1" dirty="0"/>
              <a:t>Volume</a:t>
            </a:r>
            <a:r>
              <a:rPr lang="en-US" sz="2000" dirty="0"/>
              <a:t>: the amount of available data; </a:t>
            </a:r>
            <a:r>
              <a:rPr lang="en-US" sz="2000" i="1" dirty="0"/>
              <a:t>velocity</a:t>
            </a:r>
            <a:r>
              <a:rPr lang="en-US" sz="2000" dirty="0"/>
              <a:t>: the speed at which data is collected and processed; </a:t>
            </a:r>
            <a:r>
              <a:rPr lang="en-US" sz="2000" i="1" dirty="0"/>
              <a:t>variety</a:t>
            </a:r>
            <a:r>
              <a:rPr lang="en-US" sz="2000" dirty="0"/>
              <a:t>: refers to different data types; </a:t>
            </a:r>
            <a:r>
              <a:rPr lang="en-US" sz="2000" i="1" dirty="0"/>
              <a:t>veracity</a:t>
            </a:r>
            <a:r>
              <a:rPr lang="en-US" sz="2000" dirty="0"/>
              <a:t>: refers to the reliability of the data generated.</a:t>
            </a:r>
          </a:p>
          <a:p>
            <a:r>
              <a:rPr lang="en-US" sz="2000" b="1" dirty="0"/>
              <a:t>Data warehousing </a:t>
            </a:r>
            <a:r>
              <a:rPr lang="en-US" sz="2000" dirty="0"/>
              <a:t>is the process of capturing, storing, and maintaining data.</a:t>
            </a:r>
          </a:p>
          <a:p>
            <a:pPr marL="574675" indent="-342900">
              <a:spcBef>
                <a:spcPts val="600"/>
              </a:spcBef>
              <a:buFont typeface="Arial" panose="020B0604020202020204" pitchFamily="34" charset="0"/>
              <a:buChar char="•"/>
            </a:pPr>
            <a:r>
              <a:rPr lang="en-US" sz="2000" dirty="0"/>
              <a:t>Computing power and data collection tools have reached the point where it is now feasible to store and retrieve extremely large quantities of data in seconds.</a:t>
            </a:r>
          </a:p>
          <a:p>
            <a:r>
              <a:rPr lang="en-US" sz="2000" b="1" dirty="0"/>
              <a:t>Data mining </a:t>
            </a:r>
            <a:r>
              <a:rPr lang="en-US" sz="2000" dirty="0"/>
              <a:t>methods help develop useful decision-making information from large databases.</a:t>
            </a:r>
          </a:p>
          <a:p>
            <a:pPr marL="574675" indent="-342900">
              <a:spcBef>
                <a:spcPts val="600"/>
              </a:spcBef>
              <a:buFont typeface="Arial" panose="020B0604020202020204" pitchFamily="34" charset="0"/>
              <a:buChar char="•"/>
            </a:pPr>
            <a:r>
              <a:rPr lang="en-US" sz="2000" dirty="0"/>
              <a:t>Analysts use a combination of automated procedures to “mine the data” and convert it into useful information. </a:t>
            </a:r>
          </a:p>
          <a:p>
            <a:pPr marL="574675" indent="-342900">
              <a:spcBef>
                <a:spcPts val="600"/>
              </a:spcBef>
              <a:buFont typeface="Arial" panose="020B0604020202020204" pitchFamily="34" charset="0"/>
              <a:buChar char="•"/>
            </a:pPr>
            <a:r>
              <a:rPr lang="en-US" sz="2000" dirty="0"/>
              <a:t>The most effective data mining procedures are multiple regression, logistic regression, and machine learning, which discover relationships in the data and predict future outcomes.</a:t>
            </a:r>
          </a:p>
        </p:txBody>
      </p:sp>
    </p:spTree>
    <p:extLst>
      <p:ext uri="{BB962C8B-B14F-4D97-AF65-F5344CB8AC3E}">
        <p14:creationId xmlns:p14="http://schemas.microsoft.com/office/powerpoint/2010/main" val="29352867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BFB0-A6FC-AAED-762A-09F1AC38925D}"/>
              </a:ext>
            </a:extLst>
          </p:cNvPr>
          <p:cNvSpPr>
            <a:spLocks noGrp="1"/>
          </p:cNvSpPr>
          <p:nvPr>
            <p:ph type="title"/>
          </p:nvPr>
        </p:nvSpPr>
        <p:spPr/>
        <p:txBody>
          <a:bodyPr/>
          <a:lstStyle/>
          <a:p>
            <a:r>
              <a:rPr lang="en-US" dirty="0">
                <a:solidFill>
                  <a:srgbClr val="D14B1E"/>
                </a:solidFill>
              </a:rPr>
              <a:t>1.9 Ethical Guidelines for Statistical Practice</a:t>
            </a:r>
          </a:p>
        </p:txBody>
      </p:sp>
      <p:sp>
        <p:nvSpPr>
          <p:cNvPr id="3" name="Text Placeholder 2">
            <a:extLst>
              <a:ext uri="{FF2B5EF4-FFF2-40B4-BE49-F238E27FC236}">
                <a16:creationId xmlns:a16="http://schemas.microsoft.com/office/drawing/2014/main" id="{2204E30D-D0A7-1ECD-AA8F-69CCF21DE760}"/>
              </a:ext>
            </a:extLst>
          </p:cNvPr>
          <p:cNvSpPr>
            <a:spLocks noGrp="1"/>
          </p:cNvSpPr>
          <p:nvPr>
            <p:ph type="body" sz="quarter" idx="15"/>
          </p:nvPr>
        </p:nvSpPr>
        <p:spPr>
          <a:xfrm>
            <a:off x="727810" y="1335197"/>
            <a:ext cx="10773134" cy="4334084"/>
          </a:xfrm>
        </p:spPr>
        <p:txBody>
          <a:bodyPr/>
          <a:lstStyle/>
          <a:p>
            <a:pPr>
              <a:spcBef>
                <a:spcPts val="600"/>
              </a:spcBef>
            </a:pPr>
            <a:r>
              <a:rPr lang="en-US" sz="2000" dirty="0"/>
              <a:t>In a statistical study, unethical behavior can take a variety of forms including:</a:t>
            </a:r>
          </a:p>
          <a:p>
            <a:pPr lvl="1">
              <a:lnSpc>
                <a:spcPct val="100000"/>
              </a:lnSpc>
              <a:spcBef>
                <a:spcPts val="600"/>
              </a:spcBef>
            </a:pPr>
            <a:r>
              <a:rPr lang="en-US" sz="2000" dirty="0">
                <a:latin typeface="Arial" charset="0"/>
                <a:cs typeface="Arial" charset="0"/>
              </a:rPr>
              <a:t>Improper sampling</a:t>
            </a:r>
          </a:p>
          <a:p>
            <a:pPr lvl="1">
              <a:lnSpc>
                <a:spcPct val="100000"/>
              </a:lnSpc>
              <a:spcBef>
                <a:spcPts val="600"/>
              </a:spcBef>
            </a:pPr>
            <a:r>
              <a:rPr lang="en-US" sz="2000" dirty="0">
                <a:latin typeface="Arial" charset="0"/>
                <a:cs typeface="Arial" charset="0"/>
              </a:rPr>
              <a:t>Inappropriate analysis of the data</a:t>
            </a:r>
          </a:p>
          <a:p>
            <a:pPr lvl="1">
              <a:lnSpc>
                <a:spcPct val="100000"/>
              </a:lnSpc>
              <a:spcBef>
                <a:spcPts val="600"/>
              </a:spcBef>
            </a:pPr>
            <a:r>
              <a:rPr lang="en-US" sz="2000" dirty="0">
                <a:latin typeface="Arial" charset="0"/>
                <a:cs typeface="Arial" charset="0"/>
              </a:rPr>
              <a:t>Development of misleading graphs</a:t>
            </a:r>
          </a:p>
          <a:p>
            <a:pPr lvl="1">
              <a:lnSpc>
                <a:spcPct val="100000"/>
              </a:lnSpc>
              <a:spcBef>
                <a:spcPts val="600"/>
              </a:spcBef>
            </a:pPr>
            <a:r>
              <a:rPr lang="en-US" sz="2000" dirty="0">
                <a:latin typeface="Arial" charset="0"/>
                <a:cs typeface="Arial" charset="0"/>
              </a:rPr>
              <a:t>Use of inappropriate summary statistics</a:t>
            </a:r>
          </a:p>
          <a:p>
            <a:pPr lvl="1">
              <a:lnSpc>
                <a:spcPct val="100000"/>
              </a:lnSpc>
              <a:spcBef>
                <a:spcPts val="600"/>
              </a:spcBef>
            </a:pPr>
            <a:r>
              <a:rPr lang="en-US" sz="2000" dirty="0">
                <a:latin typeface="Arial" charset="0"/>
                <a:cs typeface="Arial" charset="0"/>
              </a:rPr>
              <a:t>Biased interpretation of the statistical results</a:t>
            </a:r>
          </a:p>
          <a:p>
            <a:pPr>
              <a:spcBef>
                <a:spcPts val="600"/>
              </a:spcBef>
            </a:pPr>
            <a:r>
              <a:rPr lang="en-US" sz="2000" dirty="0"/>
              <a:t>One should strive to be fair, thorough, objective, and neutral in collecting, analyzing, and presenting data.</a:t>
            </a:r>
          </a:p>
          <a:p>
            <a:pPr>
              <a:spcBef>
                <a:spcPts val="600"/>
              </a:spcBef>
            </a:pPr>
            <a:r>
              <a:rPr lang="en-US" sz="2000" dirty="0"/>
              <a:t>Consumers of statistics should also be aware of the possibility of unethical behavior by others.</a:t>
            </a:r>
          </a:p>
          <a:p>
            <a:pPr>
              <a:spcBef>
                <a:spcPts val="600"/>
              </a:spcBef>
            </a:pPr>
            <a:r>
              <a:rPr lang="en-US" sz="2000" dirty="0"/>
              <a:t>The American Statistical Association developed a report on “Ethical Guidelines for Statistical Practice” that contains guidelines organized into 8 topic areas of professionalism and responsibilities that address the major stakeholders of statistical analysis and research.</a:t>
            </a:r>
          </a:p>
          <a:p>
            <a:endParaRPr lang="en-US" sz="2000" dirty="0"/>
          </a:p>
        </p:txBody>
      </p:sp>
    </p:spTree>
    <p:extLst>
      <p:ext uri="{BB962C8B-B14F-4D97-AF65-F5344CB8AC3E}">
        <p14:creationId xmlns:p14="http://schemas.microsoft.com/office/powerpoint/2010/main" val="4049408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143000"/>
            <a:ext cx="10657500" cy="4808483"/>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Statistics is the art and science of collecting, analyzing, presenting, and interpreting data.</a:t>
            </a:r>
          </a:p>
          <a:p>
            <a:pPr>
              <a:lnSpc>
                <a:spcPct val="100000"/>
              </a:lnSpc>
              <a:spcBef>
                <a:spcPts val="600"/>
              </a:spcBef>
            </a:pPr>
            <a:r>
              <a:rPr lang="en-US" dirty="0">
                <a:latin typeface="Arial" panose="020B0604020202020204" pitchFamily="34" charset="0"/>
                <a:cs typeface="Arial" panose="020B0604020202020204" pitchFamily="34" charset="0"/>
              </a:rPr>
              <a:t>Data consists of the facts and figures that are collected and analyzed. </a:t>
            </a:r>
          </a:p>
          <a:p>
            <a:pPr>
              <a:lnSpc>
                <a:spcPct val="100000"/>
              </a:lnSpc>
              <a:spcBef>
                <a:spcPts val="600"/>
              </a:spcBef>
            </a:pPr>
            <a:r>
              <a:rPr lang="en-US" dirty="0">
                <a:latin typeface="Arial" panose="020B0604020202020204" pitchFamily="34" charset="0"/>
                <a:cs typeface="Arial" panose="020B0604020202020204" pitchFamily="34" charset="0"/>
              </a:rPr>
              <a:t>The four scales of measurement used to obtain data on a particular variable include nominal, ordinal, interval, and ratio.</a:t>
            </a:r>
          </a:p>
          <a:p>
            <a:pPr>
              <a:lnSpc>
                <a:spcPct val="100000"/>
              </a:lnSpc>
              <a:spcBef>
                <a:spcPts val="600"/>
              </a:spcBef>
            </a:pPr>
            <a:r>
              <a:rPr lang="en-US" dirty="0">
                <a:latin typeface="Arial" panose="020B0604020202020204" pitchFamily="34" charset="0"/>
                <a:cs typeface="Arial" panose="020B0604020202020204" pitchFamily="34" charset="0"/>
              </a:rPr>
              <a:t>For purposes of statistical analysis, data can be classified as categorical or quantitative. </a:t>
            </a:r>
          </a:p>
          <a:p>
            <a:pPr lvl="1">
              <a:lnSpc>
                <a:spcPct val="100000"/>
              </a:lnSpc>
              <a:spcBef>
                <a:spcPts val="600"/>
              </a:spcBef>
            </a:pPr>
            <a:r>
              <a:rPr lang="en-US" dirty="0">
                <a:latin typeface="Arial" panose="020B0604020202020204" pitchFamily="34" charset="0"/>
                <a:cs typeface="Arial" panose="020B0604020202020204" pitchFamily="34" charset="0"/>
              </a:rPr>
              <a:t>Categorical data use labels or names to identify an attribute of each element and use either the nominal or ordinal scale of measurement.</a:t>
            </a:r>
          </a:p>
          <a:p>
            <a:pPr lvl="1">
              <a:lnSpc>
                <a:spcPct val="100000"/>
              </a:lnSpc>
              <a:spcBef>
                <a:spcPts val="600"/>
              </a:spcBef>
            </a:pPr>
            <a:r>
              <a:rPr lang="en-US" dirty="0">
                <a:latin typeface="Arial" panose="020B0604020202020204" pitchFamily="34" charset="0"/>
                <a:cs typeface="Arial" panose="020B0604020202020204" pitchFamily="34" charset="0"/>
              </a:rPr>
              <a:t>Quantitative data are numeric values that indicate how much or how many and use either the interval or ratio scale of measurement.</a:t>
            </a:r>
          </a:p>
          <a:p>
            <a:pPr>
              <a:lnSpc>
                <a:spcPct val="100000"/>
              </a:lnSpc>
              <a:spcBef>
                <a:spcPts val="600"/>
              </a:spcBef>
            </a:pPr>
            <a:r>
              <a:rPr lang="en-US" dirty="0">
                <a:latin typeface="Arial" panose="020B0604020202020204" pitchFamily="34" charset="0"/>
                <a:cs typeface="Arial" panose="020B0604020202020204" pitchFamily="34" charset="0"/>
              </a:rPr>
              <a:t>Descriptive statistics are the tabular, graphical, and numerical methods used to summarize data. The process of statistical inference uses data obtained from a sample to make estimates or test hypotheses about the characteristics of a population.</a:t>
            </a:r>
          </a:p>
          <a:p>
            <a:pPr>
              <a:lnSpc>
                <a:spcPct val="100000"/>
              </a:lnSpc>
              <a:spcBef>
                <a:spcPts val="600"/>
              </a:spcBef>
            </a:pPr>
            <a:r>
              <a:rPr lang="en-US" dirty="0">
                <a:latin typeface="Arial" panose="020B0604020202020204" pitchFamily="34" charset="0"/>
                <a:cs typeface="Arial" panose="020B0604020202020204" pitchFamily="34" charset="0"/>
              </a:rPr>
              <a:t>The last sections of the chapter introduced analytics, big data, data mining, the role of computers in statistical analysis, and a summary of ethical guidelines for statistical practice.</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98977</TotalTime>
  <Words>3005</Words>
  <Application>Microsoft Office PowerPoint</Application>
  <PresentationFormat>Widescreen</PresentationFormat>
  <Paragraphs>252</Paragraphs>
  <Slides>25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vt:lpstr>
      <vt:lpstr>Arial Unicode MS</vt:lpstr>
      <vt:lpstr>Calibri</vt:lpstr>
      <vt:lpstr>Helvetica</vt:lpstr>
      <vt:lpstr>Open Sans</vt:lpstr>
      <vt:lpstr>Summer Font</vt:lpstr>
      <vt:lpstr>Office Theme</vt:lpstr>
      <vt:lpstr>PowerPoint Presentation</vt:lpstr>
      <vt:lpstr>Chapter Contents</vt:lpstr>
      <vt:lpstr>Chapter Objectives</vt:lpstr>
      <vt:lpstr>Introduction</vt:lpstr>
      <vt:lpstr>1.1 Applications in Business and Economics</vt:lpstr>
      <vt:lpstr>1.2 Data</vt:lpstr>
      <vt:lpstr>1.2 Data Set for 60 Nations in the World Trade Organization</vt:lpstr>
      <vt:lpstr>1.2 Nominal and Ordinal Scales of Measurement</vt:lpstr>
      <vt:lpstr>1.2 Interval and Ratio Scales of Measurement</vt:lpstr>
      <vt:lpstr>1.2 Categorical and Quantitative Data</vt:lpstr>
      <vt:lpstr>1.2 Cross-Sectional and Time Series Data</vt:lpstr>
      <vt:lpstr>1.3 Data Sources</vt:lpstr>
      <vt:lpstr>1.3 Statistical Studies</vt:lpstr>
      <vt:lpstr>1.3 Considerations on Data Acquisition</vt:lpstr>
      <vt:lpstr>1.4 Descriptive Statistics</vt:lpstr>
      <vt:lpstr>1.5 Statistical Inference</vt:lpstr>
      <vt:lpstr>1.5 The Rogers Industries Example</vt:lpstr>
      <vt:lpstr>1.6 Statistical Analysis Using Microsoft Excel</vt:lpstr>
      <vt:lpstr>1.6 Excel: Data Sets and Worksheets</vt:lpstr>
      <vt:lpstr>1.6 Excel: Statistical Analysis</vt:lpstr>
      <vt:lpstr>1.6 Excel: AVERAGE and MEDIAN Functions</vt:lpstr>
      <vt:lpstr>1.7 Analytics</vt:lpstr>
      <vt:lpstr>1.8 Big Data and Data Mining</vt:lpstr>
      <vt:lpstr>1.9 Ethical Guidelines for Statistical Practice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2440</cp:revision>
  <cp:lastPrinted>2016-10-03T15:29:39Z</cp:lastPrinted>
  <dcterms:created xsi:type="dcterms:W3CDTF">2019-11-14T21:20:16Z</dcterms:created>
  <dcterms:modified xsi:type="dcterms:W3CDTF">2025-12-18T15:44:01Z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