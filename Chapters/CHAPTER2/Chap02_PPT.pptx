
<file path=[Content_Types].xml><?xml version="1.0" encoding="utf-8"?>
<Types xmlns="http://schemas.openxmlformats.org/package/2006/content-types">
  <Default Extension="bin" ContentType="application/vnd.openxmlformats-officedocument.oleObject"/>
  <Default Extension="emf" ContentType="image/x-emf"/>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3.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4.xml" ContentType="application/vnd.openxmlformats-officedocument.theme+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9" r:id="rId1"/>
    <p:sldMasterId id="2147483691" r:id="rId2"/>
    <p:sldMasterId id="2147483684" r:id="rId3"/>
    <p:sldMasterId id="2147483686" r:id="rId4"/>
    <p:sldMasterId id="2147483701" r:id="rId5"/>
  </p:sldMasterIdLst>
  <p:notesMasterIdLst>
    <p:notesMasterId r:id="rId72"/>
  </p:notesMasterIdLst>
  <p:sldIdLst>
    <p:sldId id="1609" r:id="rId6"/>
    <p:sldId id="1611" r:id="rId7"/>
    <p:sldId id="1675" r:id="rId8"/>
    <p:sldId id="1824" r:id="rId9"/>
    <p:sldId id="1774" r:id="rId10"/>
    <p:sldId id="1775" r:id="rId11"/>
    <p:sldId id="1751" r:id="rId12"/>
    <p:sldId id="1777" r:id="rId13"/>
    <p:sldId id="1776" r:id="rId14"/>
    <p:sldId id="1834" r:id="rId15"/>
    <p:sldId id="1835" r:id="rId16"/>
    <p:sldId id="1779" r:id="rId17"/>
    <p:sldId id="1780" r:id="rId18"/>
    <p:sldId id="1782" r:id="rId19"/>
    <p:sldId id="1783" r:id="rId20"/>
    <p:sldId id="1784" r:id="rId21"/>
    <p:sldId id="1785" r:id="rId22"/>
    <p:sldId id="1786" r:id="rId23"/>
    <p:sldId id="1787" r:id="rId24"/>
    <p:sldId id="1788" r:id="rId25"/>
    <p:sldId id="1790" r:id="rId26"/>
    <p:sldId id="1789" r:id="rId27"/>
    <p:sldId id="1791" r:id="rId28"/>
    <p:sldId id="1778" r:id="rId29"/>
    <p:sldId id="1794" r:id="rId30"/>
    <p:sldId id="1795" r:id="rId31"/>
    <p:sldId id="1796" r:id="rId32"/>
    <p:sldId id="1797" r:id="rId33"/>
    <p:sldId id="1798" r:id="rId34"/>
    <p:sldId id="1799" r:id="rId35"/>
    <p:sldId id="1833" r:id="rId36"/>
    <p:sldId id="1801" r:id="rId37"/>
    <p:sldId id="1802" r:id="rId38"/>
    <p:sldId id="1803" r:id="rId39"/>
    <p:sldId id="1804" r:id="rId40"/>
    <p:sldId id="1805" r:id="rId41"/>
    <p:sldId id="1806" r:id="rId42"/>
    <p:sldId id="1807" r:id="rId43"/>
    <p:sldId id="1808" r:id="rId44"/>
    <p:sldId id="1809" r:id="rId45"/>
    <p:sldId id="1810" r:id="rId46"/>
    <p:sldId id="1811" r:id="rId47"/>
    <p:sldId id="1812" r:id="rId48"/>
    <p:sldId id="1813" r:id="rId49"/>
    <p:sldId id="1754" r:id="rId50"/>
    <p:sldId id="1800" r:id="rId51"/>
    <p:sldId id="1815" r:id="rId52"/>
    <p:sldId id="1814" r:id="rId53"/>
    <p:sldId id="1817" r:id="rId54"/>
    <p:sldId id="1670" r:id="rId55"/>
    <p:sldId id="1759" r:id="rId56"/>
    <p:sldId id="1818" r:id="rId57"/>
    <p:sldId id="1819" r:id="rId58"/>
    <p:sldId id="1820" r:id="rId59"/>
    <p:sldId id="1821" r:id="rId60"/>
    <p:sldId id="1822" r:id="rId61"/>
    <p:sldId id="1823" r:id="rId62"/>
    <p:sldId id="1825" r:id="rId63"/>
    <p:sldId id="1826" r:id="rId64"/>
    <p:sldId id="1610" r:id="rId65"/>
    <p:sldId id="1569" r:id="rId66"/>
    <p:sldId id="1827" r:id="rId67"/>
    <p:sldId id="1828" r:id="rId68"/>
    <p:sldId id="1829" r:id="rId69"/>
    <p:sldId id="1830" r:id="rId70"/>
    <p:sldId id="1831" r:id="rId7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ain Content" id="{5973D931-3BAC-4F30-9C16-B7461F574E40}">
          <p14:sldIdLst>
            <p14:sldId id="1609"/>
            <p14:sldId id="1611"/>
            <p14:sldId id="1675"/>
            <p14:sldId id="1824"/>
            <p14:sldId id="1774"/>
            <p14:sldId id="1775"/>
            <p14:sldId id="1751"/>
            <p14:sldId id="1777"/>
            <p14:sldId id="1776"/>
            <p14:sldId id="1834"/>
            <p14:sldId id="1835"/>
            <p14:sldId id="1779"/>
            <p14:sldId id="1780"/>
            <p14:sldId id="1782"/>
            <p14:sldId id="1783"/>
            <p14:sldId id="1784"/>
            <p14:sldId id="1785"/>
            <p14:sldId id="1786"/>
            <p14:sldId id="1787"/>
            <p14:sldId id="1788"/>
            <p14:sldId id="1790"/>
            <p14:sldId id="1789"/>
            <p14:sldId id="1791"/>
            <p14:sldId id="1778"/>
            <p14:sldId id="1794"/>
            <p14:sldId id="1795"/>
            <p14:sldId id="1796"/>
            <p14:sldId id="1797"/>
            <p14:sldId id="1798"/>
            <p14:sldId id="1799"/>
            <p14:sldId id="1833"/>
            <p14:sldId id="1801"/>
            <p14:sldId id="1802"/>
            <p14:sldId id="1803"/>
            <p14:sldId id="1804"/>
            <p14:sldId id="1805"/>
            <p14:sldId id="1806"/>
            <p14:sldId id="1807"/>
            <p14:sldId id="1808"/>
            <p14:sldId id="1809"/>
            <p14:sldId id="1810"/>
            <p14:sldId id="1811"/>
            <p14:sldId id="1812"/>
            <p14:sldId id="1813"/>
            <p14:sldId id="1754"/>
            <p14:sldId id="1800"/>
            <p14:sldId id="1815"/>
            <p14:sldId id="1814"/>
            <p14:sldId id="1817"/>
            <p14:sldId id="1670"/>
            <p14:sldId id="1759"/>
            <p14:sldId id="1818"/>
            <p14:sldId id="1819"/>
            <p14:sldId id="1820"/>
            <p14:sldId id="1821"/>
            <p14:sldId id="1822"/>
            <p14:sldId id="1823"/>
            <p14:sldId id="1825"/>
            <p14:sldId id="1826"/>
            <p14:sldId id="1610"/>
          </p14:sldIdLst>
        </p14:section>
        <p14:section name="Appendix: Image Descriptions for Unsighted Students" id="{9EBB6D8D-1F61-4032-8D0A-73128414C993}">
          <p14:sldIdLst>
            <p14:sldId id="1569"/>
            <p14:sldId id="1827"/>
            <p14:sldId id="1828"/>
            <p14:sldId id="1829"/>
            <p14:sldId id="1830"/>
            <p14:sldId id="1831"/>
          </p14:sldIdLst>
        </p14:section>
      </p14:sectionLst>
    </p:ext>
    <p:ext uri="{EFAFB233-063F-42B5-8137-9DF3F51BA10A}">
      <p15:sldGuideLst xmlns:p15="http://schemas.microsoft.com/office/powerpoint/2012/main">
        <p15:guide id="2" pos="2904" userDrawn="1">
          <p15:clr>
            <a:srgbClr val="A4A3A4"/>
          </p15:clr>
        </p15:guide>
        <p15:guide id="3" orient="horz" pos="2184" userDrawn="1">
          <p15:clr>
            <a:srgbClr val="A4A3A4"/>
          </p15:clr>
        </p15:guide>
        <p15:guide id="4" pos="5664" userDrawn="1">
          <p15:clr>
            <a:srgbClr val="A4A3A4"/>
          </p15:clr>
        </p15:guide>
        <p15:guide id="5" pos="456" userDrawn="1">
          <p15:clr>
            <a:srgbClr val="A4A3A4"/>
          </p15:clr>
        </p15:guide>
        <p15:guide id="6" orient="horz" pos="768"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Ciporen, Laura" initials="CL" lastIdx="4" clrIdx="0">
    <p:extLst>
      <p:ext uri="{19B8F6BF-5375-455C-9EA6-DF929625EA0E}">
        <p15:presenceInfo xmlns:p15="http://schemas.microsoft.com/office/powerpoint/2012/main" userId="S-1-5-21-1645522239-1123561945-839522115-1006658" providerId="AD"/>
      </p:ext>
    </p:extLst>
  </p:cmAuthor>
  <p:cmAuthor id="2" name="Ciporen, Laura" initials="CL [2]" lastIdx="2" clrIdx="1">
    <p:extLst>
      <p:ext uri="{19B8F6BF-5375-455C-9EA6-DF929625EA0E}">
        <p15:presenceInfo xmlns:p15="http://schemas.microsoft.com/office/powerpoint/2012/main" userId="S::laura.ciporen@mheducation.com::567f631f-0624-4179-9d16-569ddce48823" providerId="AD"/>
      </p:ext>
    </p:extLst>
  </p:cmAuthor>
  <p:cmAuthor id="3" name="1769" initials="1" lastIdx="2" clrIdx="2">
    <p:extLst>
      <p:ext uri="{19B8F6BF-5375-455C-9EA6-DF929625EA0E}">
        <p15:presenceInfo xmlns:p15="http://schemas.microsoft.com/office/powerpoint/2012/main" userId="1769" providerId="None"/>
      </p:ext>
    </p:extLst>
  </p:cmAuthor>
  <p:cmAuthor id="4" name="Balamurugan  Yuvaraj" initials="BY" lastIdx="26" clrIdx="3">
    <p:extLst>
      <p:ext uri="{19B8F6BF-5375-455C-9EA6-DF929625EA0E}">
        <p15:presenceInfo xmlns:p15="http://schemas.microsoft.com/office/powerpoint/2012/main" userId="S::Balamurugan.Yuvaraj@straive.com::6e630b42-7441-45c3-911f-e1223e1b098a" providerId="AD"/>
      </p:ext>
    </p:extLst>
  </p:cmAuthor>
  <p:cmAuthor id="5" name="Michaelammal M" initials="MM" lastIdx="39" clrIdx="4">
    <p:extLst>
      <p:ext uri="{19B8F6BF-5375-455C-9EA6-DF929625EA0E}">
        <p15:presenceInfo xmlns:p15="http://schemas.microsoft.com/office/powerpoint/2012/main" userId="S::Michaelammal.Michael@straive.com::b485f173-2535-4c8e-aa94-fb9fb03f2278"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4CCCC"/>
    <a:srgbClr val="FAE7E8"/>
    <a:srgbClr val="A9131A"/>
    <a:srgbClr val="002060"/>
    <a:srgbClr val="008000"/>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1765" autoAdjust="0"/>
    <p:restoredTop sz="94061" autoAdjust="0"/>
  </p:normalViewPr>
  <p:slideViewPr>
    <p:cSldViewPr snapToGrid="0" showGuides="1">
      <p:cViewPr varScale="1">
        <p:scale>
          <a:sx n="90" d="100"/>
          <a:sy n="90" d="100"/>
        </p:scale>
        <p:origin x="950" y="29"/>
      </p:cViewPr>
      <p:guideLst>
        <p:guide pos="2904"/>
        <p:guide orient="horz" pos="2184"/>
        <p:guide pos="5664"/>
        <p:guide pos="456"/>
        <p:guide orient="horz" pos="768"/>
      </p:guideLst>
    </p:cSldViewPr>
  </p:slideViewPr>
  <p:outlineViewPr>
    <p:cViewPr>
      <p:scale>
        <a:sx n="33" d="100"/>
        <a:sy n="33" d="100"/>
      </p:scale>
      <p:origin x="0" y="-43986"/>
    </p:cViewPr>
  </p:outlineViewPr>
  <p:notesTextViewPr>
    <p:cViewPr>
      <p:scale>
        <a:sx n="100" d="100"/>
        <a:sy n="100" d="100"/>
      </p:scale>
      <p:origin x="0" y="0"/>
    </p:cViewPr>
  </p:notesTextViewPr>
  <p:sorterViewPr>
    <p:cViewPr>
      <p:scale>
        <a:sx n="100" d="100"/>
        <a:sy n="100" d="100"/>
      </p:scale>
      <p:origin x="0" y="0"/>
    </p:cViewPr>
  </p:sorterViewPr>
  <p:notesViewPr>
    <p:cSldViewPr snapToGrid="0">
      <p:cViewPr varScale="1">
        <p:scale>
          <a:sx n="80" d="100"/>
          <a:sy n="80" d="100"/>
        </p:scale>
        <p:origin x="3168" y="108"/>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1.xml"/><Relationship Id="rId21" Type="http://schemas.openxmlformats.org/officeDocument/2006/relationships/slide" Target="slides/slide16.xml"/><Relationship Id="rId42" Type="http://schemas.openxmlformats.org/officeDocument/2006/relationships/slide" Target="slides/slide37.xml"/><Relationship Id="rId47" Type="http://schemas.openxmlformats.org/officeDocument/2006/relationships/slide" Target="slides/slide42.xml"/><Relationship Id="rId63" Type="http://schemas.openxmlformats.org/officeDocument/2006/relationships/slide" Target="slides/slide58.xml"/><Relationship Id="rId68" Type="http://schemas.openxmlformats.org/officeDocument/2006/relationships/slide" Target="slides/slide63.xml"/><Relationship Id="rId16" Type="http://schemas.openxmlformats.org/officeDocument/2006/relationships/slide" Target="slides/slide1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slide" Target="slides/slide48.xml"/><Relationship Id="rId58" Type="http://schemas.openxmlformats.org/officeDocument/2006/relationships/slide" Target="slides/slide53.xml"/><Relationship Id="rId66" Type="http://schemas.openxmlformats.org/officeDocument/2006/relationships/slide" Target="slides/slide61.xml"/><Relationship Id="rId74" Type="http://schemas.openxmlformats.org/officeDocument/2006/relationships/presProps" Target="presProps.xml"/><Relationship Id="rId5" Type="http://schemas.openxmlformats.org/officeDocument/2006/relationships/slideMaster" Target="slideMasters/slideMaster5.xml"/><Relationship Id="rId61" Type="http://schemas.openxmlformats.org/officeDocument/2006/relationships/slide" Target="slides/slide56.xml"/><Relationship Id="rId19" Type="http://schemas.openxmlformats.org/officeDocument/2006/relationships/slide" Target="slides/slide1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slide" Target="slides/slide51.xml"/><Relationship Id="rId64" Type="http://schemas.openxmlformats.org/officeDocument/2006/relationships/slide" Target="slides/slide59.xml"/><Relationship Id="rId69" Type="http://schemas.openxmlformats.org/officeDocument/2006/relationships/slide" Target="slides/slide64.xml"/><Relationship Id="rId77" Type="http://schemas.openxmlformats.org/officeDocument/2006/relationships/tableStyles" Target="tableStyles.xml"/><Relationship Id="rId8" Type="http://schemas.openxmlformats.org/officeDocument/2006/relationships/slide" Target="slides/slide3.xml"/><Relationship Id="rId51" Type="http://schemas.openxmlformats.org/officeDocument/2006/relationships/slide" Target="slides/slide46.xml"/><Relationship Id="rId72" Type="http://schemas.openxmlformats.org/officeDocument/2006/relationships/notesMaster" Target="notesMasters/notesMaster1.xml"/><Relationship Id="rId3" Type="http://schemas.openxmlformats.org/officeDocument/2006/relationships/slideMaster" Target="slideMasters/slideMaster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slide" Target="slides/slide54.xml"/><Relationship Id="rId67" Type="http://schemas.openxmlformats.org/officeDocument/2006/relationships/slide" Target="slides/slide62.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slide" Target="slides/slide49.xml"/><Relationship Id="rId62" Type="http://schemas.openxmlformats.org/officeDocument/2006/relationships/slide" Target="slides/slide57.xml"/><Relationship Id="rId70" Type="http://schemas.openxmlformats.org/officeDocument/2006/relationships/slide" Target="slides/slide65.xml"/><Relationship Id="rId75"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slide" Target="slides/slide52.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slide" Target="slides/slide55.xml"/><Relationship Id="rId65" Type="http://schemas.openxmlformats.org/officeDocument/2006/relationships/slide" Target="slides/slide60.xml"/><Relationship Id="rId73" Type="http://schemas.openxmlformats.org/officeDocument/2006/relationships/commentAuthors" Target="commentAuthors.xml"/><Relationship Id="rId4" Type="http://schemas.openxmlformats.org/officeDocument/2006/relationships/slideMaster" Target="slideMasters/slideMaster4.xml"/><Relationship Id="rId9" Type="http://schemas.openxmlformats.org/officeDocument/2006/relationships/slide" Target="slides/slide4.xml"/><Relationship Id="rId13" Type="http://schemas.openxmlformats.org/officeDocument/2006/relationships/slide" Target="slides/slide8.xml"/><Relationship Id="rId18" Type="http://schemas.openxmlformats.org/officeDocument/2006/relationships/slide" Target="slides/slide13.xml"/><Relationship Id="rId39" Type="http://schemas.openxmlformats.org/officeDocument/2006/relationships/slide" Target="slides/slide34.xml"/><Relationship Id="rId34" Type="http://schemas.openxmlformats.org/officeDocument/2006/relationships/slide" Target="slides/slide29.xml"/><Relationship Id="rId50" Type="http://schemas.openxmlformats.org/officeDocument/2006/relationships/slide" Target="slides/slide45.xml"/><Relationship Id="rId55" Type="http://schemas.openxmlformats.org/officeDocument/2006/relationships/slide" Target="slides/slide50.xml"/><Relationship Id="rId76" Type="http://schemas.openxmlformats.org/officeDocument/2006/relationships/theme" Target="theme/theme1.xml"/><Relationship Id="rId7" Type="http://schemas.openxmlformats.org/officeDocument/2006/relationships/slide" Target="slides/slide2.xml"/><Relationship Id="rId71" Type="http://schemas.openxmlformats.org/officeDocument/2006/relationships/slide" Target="slides/slide66.xml"/><Relationship Id="rId2" Type="http://schemas.openxmlformats.org/officeDocument/2006/relationships/slideMaster" Target="slideMasters/slideMaster2.xml"/><Relationship Id="rId29" Type="http://schemas.openxmlformats.org/officeDocument/2006/relationships/slide" Target="slides/slide2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D0C1A02-B94D-44D6-8AA3-0DD14C84C13F}" type="datetimeFigureOut">
              <a:rPr lang="en-US" smtClean="0"/>
              <a:t>8/13/2026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69E8D09-9492-4554-9C8F-456CB81F32A8}" type="slidenum">
              <a:rPr lang="en-US" smtClean="0"/>
              <a:t>‹#›</a:t>
            </a:fld>
            <a:endParaRPr lang="en-US"/>
          </a:p>
        </p:txBody>
      </p:sp>
    </p:spTree>
    <p:extLst>
      <p:ext uri="{BB962C8B-B14F-4D97-AF65-F5344CB8AC3E}">
        <p14:creationId xmlns:p14="http://schemas.microsoft.com/office/powerpoint/2010/main" val="30201712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D9A7A27-C7DA-4E20-8877-F9D8D7F61956}" type="slidenum">
              <a:rPr lang="en-US" smtClean="0"/>
              <a:t>60</a:t>
            </a:fld>
            <a:endParaRPr lang="en-US"/>
          </a:p>
        </p:txBody>
      </p:sp>
    </p:spTree>
    <p:extLst>
      <p:ext uri="{BB962C8B-B14F-4D97-AF65-F5344CB8AC3E}">
        <p14:creationId xmlns:p14="http://schemas.microsoft.com/office/powerpoint/2010/main" val="400574142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969E8D09-9492-4554-9C8F-456CB81F32A8}" type="slidenum">
              <a:rPr lang="en-US" smtClean="0"/>
              <a:t>61</a:t>
            </a:fld>
            <a:endParaRPr lang="en-US"/>
          </a:p>
        </p:txBody>
      </p:sp>
    </p:spTree>
    <p:extLst>
      <p:ext uri="{BB962C8B-B14F-4D97-AF65-F5344CB8AC3E}">
        <p14:creationId xmlns:p14="http://schemas.microsoft.com/office/powerpoint/2010/main" val="135269945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Title Slide W/Cover">
    <p:spTree>
      <p:nvGrpSpPr>
        <p:cNvPr id="1" name=""/>
        <p:cNvGrpSpPr/>
        <p:nvPr/>
      </p:nvGrpSpPr>
      <p:grpSpPr>
        <a:xfrm>
          <a:off x="0" y="0"/>
          <a:ext cx="0" cy="0"/>
          <a:chOff x="0" y="0"/>
          <a:chExt cx="0" cy="0"/>
        </a:xfrm>
      </p:grpSpPr>
      <p:grpSp>
        <p:nvGrpSpPr>
          <p:cNvPr id="20" name="MHE Official Background, fixed">
            <a:extLst>
              <a:ext uri="{C183D7F6-B498-43B3-948B-1728B52AA6E4}">
                <adec:decorative xmlns:adec="http://schemas.microsoft.com/office/drawing/2017/decorative" val="1"/>
              </a:ext>
            </a:extLst>
          </p:cNvPr>
          <p:cNvGrpSpPr/>
          <p:nvPr userDrawn="1"/>
        </p:nvGrpSpPr>
        <p:grpSpPr>
          <a:xfrm>
            <a:off x="346105" y="2099014"/>
            <a:ext cx="3863458" cy="3863458"/>
            <a:chOff x="331115" y="2099014"/>
            <a:chExt cx="3863458" cy="3863458"/>
          </a:xfrm>
        </p:grpSpPr>
        <p:sp>
          <p:nvSpPr>
            <p:cNvPr id="13" name="Rectangle 12">
              <a:extLst>
                <a:ext uri="{FF2B5EF4-FFF2-40B4-BE49-F238E27FC236}">
                  <a16:creationId xmlns:a16="http://schemas.microsoft.com/office/drawing/2014/main" id="{FD9DDEA9-6897-2B48-BA6A-9075880AA615}"/>
                </a:ext>
              </a:extLst>
            </p:cNvPr>
            <p:cNvSpPr/>
            <p:nvPr userDrawn="1"/>
          </p:nvSpPr>
          <p:spPr>
            <a:xfrm>
              <a:off x="331115" y="2099014"/>
              <a:ext cx="3863458" cy="3863458"/>
            </a:xfrm>
            <a:prstGeom prst="rect">
              <a:avLst/>
            </a:prstGeom>
            <a:solidFill>
              <a:srgbClr val="720F1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52AD1ADE-6D88-5C48-9EEF-7E081C733011}"/>
                </a:ext>
              </a:extLst>
            </p:cNvPr>
            <p:cNvSpPr/>
            <p:nvPr userDrawn="1"/>
          </p:nvSpPr>
          <p:spPr>
            <a:xfrm>
              <a:off x="467612" y="2368353"/>
              <a:ext cx="3457621" cy="3457621"/>
            </a:xfrm>
            <a:prstGeom prst="rect">
              <a:avLst/>
            </a:prstGeom>
            <a:solidFill>
              <a:srgbClr val="9F224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AFE6DE48-1064-2849-AF2D-2E29711B1885}"/>
                </a:ext>
              </a:extLst>
            </p:cNvPr>
            <p:cNvSpPr/>
            <p:nvPr userDrawn="1"/>
          </p:nvSpPr>
          <p:spPr>
            <a:xfrm>
              <a:off x="599258" y="2898475"/>
              <a:ext cx="2793799" cy="2792652"/>
            </a:xfrm>
            <a:prstGeom prst="rect">
              <a:avLst/>
            </a:prstGeom>
            <a:solidFill>
              <a:srgbClr val="E21A23"/>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dirty="0"/>
            </a:p>
          </p:txBody>
        </p:sp>
      </p:grpSp>
      <p:sp>
        <p:nvSpPr>
          <p:cNvPr id="7" name="Title"/>
          <p:cNvSpPr>
            <a:spLocks noGrp="1"/>
          </p:cNvSpPr>
          <p:nvPr>
            <p:ph type="ctrTitle" hasCustomPrompt="1"/>
          </p:nvPr>
        </p:nvSpPr>
        <p:spPr>
          <a:xfrm>
            <a:off x="621792" y="3140014"/>
            <a:ext cx="2788920" cy="1157665"/>
          </a:xfrm>
          <a:prstGeom prst="rect">
            <a:avLst/>
          </a:prstGeom>
        </p:spPr>
        <p:txBody>
          <a:bodyPr anchor="b">
            <a:noAutofit/>
          </a:bodyPr>
          <a:lstStyle>
            <a:lvl1pPr algn="l">
              <a:lnSpc>
                <a:spcPct val="100000"/>
              </a:lnSpc>
              <a:defRPr sz="2600" b="1">
                <a:solidFill>
                  <a:schemeClr val="bg1"/>
                </a:solidFill>
              </a:defRPr>
            </a:lvl1pPr>
          </a:lstStyle>
          <a:p>
            <a:r>
              <a:rPr lang="en-US" dirty="0"/>
              <a:t>Presentation Title</a:t>
            </a:r>
          </a:p>
        </p:txBody>
      </p:sp>
      <p:sp>
        <p:nvSpPr>
          <p:cNvPr id="8" name="Subtitle"/>
          <p:cNvSpPr>
            <a:spLocks noGrp="1"/>
          </p:cNvSpPr>
          <p:nvPr>
            <p:ph type="subTitle" idx="1" hasCustomPrompt="1"/>
          </p:nvPr>
        </p:nvSpPr>
        <p:spPr>
          <a:xfrm>
            <a:off x="621792" y="4261103"/>
            <a:ext cx="2788920" cy="612821"/>
          </a:xfrm>
          <a:prstGeom prst="rect">
            <a:avLst/>
          </a:prstGeom>
        </p:spPr>
        <p:txBody>
          <a:bodyPr/>
          <a:lstStyle>
            <a:lvl1pPr marL="0" indent="0" algn="l">
              <a:buNone/>
              <a:defRPr sz="18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Presentation Subtitle</a:t>
            </a:r>
          </a:p>
        </p:txBody>
      </p:sp>
      <p:cxnSp>
        <p:nvCxnSpPr>
          <p:cNvPr id="9" name="MHE line separating subtitles from text">
            <a:extLst>
              <a:ext uri="{FF2B5EF4-FFF2-40B4-BE49-F238E27FC236}">
                <a16:creationId xmlns:a16="http://schemas.microsoft.com/office/drawing/2014/main" id="{EC86C884-D766-9149-B40E-B86A943DE6D1}"/>
              </a:ext>
              <a:ext uri="{C183D7F6-B498-43B3-948B-1728B52AA6E4}">
                <adec:decorative xmlns:adec="http://schemas.microsoft.com/office/drawing/2017/decorative" val="1"/>
              </a:ext>
            </a:extLst>
          </p:cNvPr>
          <p:cNvCxnSpPr>
            <a:cxnSpLocks/>
          </p:cNvCxnSpPr>
          <p:nvPr userDrawn="1"/>
        </p:nvCxnSpPr>
        <p:spPr>
          <a:xfrm>
            <a:off x="713232" y="4919472"/>
            <a:ext cx="2532888"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23" name="Text Placeholder"/>
          <p:cNvSpPr>
            <a:spLocks noGrp="1"/>
          </p:cNvSpPr>
          <p:nvPr>
            <p:ph type="body" sz="quarter" idx="10" hasCustomPrompt="1"/>
          </p:nvPr>
        </p:nvSpPr>
        <p:spPr>
          <a:xfrm>
            <a:off x="621792" y="5093208"/>
            <a:ext cx="2788920" cy="576185"/>
          </a:xfrm>
          <a:prstGeom prst="rect">
            <a:avLst/>
          </a:prstGeom>
        </p:spPr>
        <p:txBody>
          <a:bodyPr/>
          <a:lstStyle>
            <a:lvl1pPr>
              <a:spcBef>
                <a:spcPts val="0"/>
              </a:spcBef>
              <a:defRPr sz="1200" b="1">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Extra Text</a:t>
            </a:r>
          </a:p>
        </p:txBody>
      </p:sp>
      <p:sp>
        <p:nvSpPr>
          <p:cNvPr id="3" name="Cover Placeholder">
            <a:extLst>
              <a:ext uri="{FF2B5EF4-FFF2-40B4-BE49-F238E27FC236}">
                <a16:creationId xmlns:a16="http://schemas.microsoft.com/office/drawing/2014/main" id="{67C61915-1FDF-4DF1-95F4-8BAC894B4DC1}"/>
              </a:ext>
            </a:extLst>
          </p:cNvPr>
          <p:cNvSpPr>
            <a:spLocks noGrp="1"/>
          </p:cNvSpPr>
          <p:nvPr>
            <p:ph type="pic" sz="quarter" idx="11" hasCustomPrompt="1"/>
          </p:nvPr>
        </p:nvSpPr>
        <p:spPr>
          <a:xfrm>
            <a:off x="4572000" y="1450229"/>
            <a:ext cx="4229100" cy="4976453"/>
          </a:xfrm>
          <a:prstGeom prst="rect">
            <a:avLst/>
          </a:prstGeom>
        </p:spPr>
        <p:txBody>
          <a:bodyPr/>
          <a:lstStyle>
            <a:lvl1pPr>
              <a:defRPr/>
            </a:lvl1pPr>
          </a:lstStyle>
          <a:p>
            <a:r>
              <a:rPr lang="en-US" dirty="0"/>
              <a:t>Optional: Include Cover Here</a:t>
            </a:r>
          </a:p>
        </p:txBody>
      </p:sp>
      <p:sp>
        <p:nvSpPr>
          <p:cNvPr id="5" name="Text Placeholder 4"/>
          <p:cNvSpPr>
            <a:spLocks noGrp="1"/>
          </p:cNvSpPr>
          <p:nvPr>
            <p:ph type="body" sz="quarter" idx="12" hasCustomPrompt="1"/>
          </p:nvPr>
        </p:nvSpPr>
        <p:spPr>
          <a:xfrm>
            <a:off x="174625" y="6515100"/>
            <a:ext cx="8861425" cy="249238"/>
          </a:xfrm>
          <a:prstGeom prst="rect">
            <a:avLst/>
          </a:prstGeom>
        </p:spPr>
        <p:txBody>
          <a:bodyPr/>
          <a:lstStyle>
            <a:lvl1pPr>
              <a:defRPr sz="1200"/>
            </a:lvl1pPr>
          </a:lstStyle>
          <a:p>
            <a:pPr lvl="0"/>
            <a:r>
              <a:rPr lang="en-US" dirty="0"/>
              <a:t>© McGraw Hill LLC. All rights reserved. No reproduction or distribution without the prior written consent of McGraw Hill LLC.</a:t>
            </a:r>
          </a:p>
        </p:txBody>
      </p:sp>
    </p:spTree>
    <p:extLst>
      <p:ext uri="{BB962C8B-B14F-4D97-AF65-F5344CB8AC3E}">
        <p14:creationId xmlns:p14="http://schemas.microsoft.com/office/powerpoint/2010/main" val="1001655917"/>
      </p:ext>
    </p:extLst>
  </p:cSld>
  <p:clrMapOvr>
    <a:masterClrMapping/>
  </p:clrMapOvr>
  <p:extLst>
    <p:ext uri="{DCECCB84-F9BA-43D5-87BE-67443E8EF086}">
      <p15:sldGuideLst xmlns:p15="http://schemas.microsoft.com/office/powerpoint/2012/main">
        <p15:guide id="1" orient="horz" pos="957">
          <p15:clr>
            <a:srgbClr val="FBAE40"/>
          </p15:clr>
        </p15:guide>
        <p15:guide id="2" orient="horz" pos="4104">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Title Slide W/Cover">
    <p:spTree>
      <p:nvGrpSpPr>
        <p:cNvPr id="1" name=""/>
        <p:cNvGrpSpPr/>
        <p:nvPr/>
      </p:nvGrpSpPr>
      <p:grpSpPr>
        <a:xfrm>
          <a:off x="0" y="0"/>
          <a:ext cx="0" cy="0"/>
          <a:chOff x="0" y="0"/>
          <a:chExt cx="0" cy="0"/>
        </a:xfrm>
      </p:grpSpPr>
      <p:grpSp>
        <p:nvGrpSpPr>
          <p:cNvPr id="4" name="MHE Altered Background, fixed">
            <a:extLst>
              <a:ext uri="{FF2B5EF4-FFF2-40B4-BE49-F238E27FC236}">
                <a16:creationId xmlns:a16="http://schemas.microsoft.com/office/drawing/2014/main" id="{E2D8ACCF-E5FC-4FE9-9E84-B2A0A6B1EEBA}"/>
              </a:ext>
              <a:ext uri="{C183D7F6-B498-43B3-948B-1728B52AA6E4}">
                <adec:decorative xmlns:adec="http://schemas.microsoft.com/office/drawing/2017/decorative" val="1"/>
              </a:ext>
            </a:extLst>
          </p:cNvPr>
          <p:cNvGrpSpPr/>
          <p:nvPr userDrawn="1"/>
        </p:nvGrpSpPr>
        <p:grpSpPr>
          <a:xfrm>
            <a:off x="342900" y="2095500"/>
            <a:ext cx="3886199" cy="3886199"/>
            <a:chOff x="342900" y="2095500"/>
            <a:chExt cx="3886199" cy="3886199"/>
          </a:xfrm>
        </p:grpSpPr>
        <p:sp>
          <p:nvSpPr>
            <p:cNvPr id="14" name="Rectangle 13">
              <a:extLst>
                <a:ext uri="{FF2B5EF4-FFF2-40B4-BE49-F238E27FC236}">
                  <a16:creationId xmlns:a16="http://schemas.microsoft.com/office/drawing/2014/main" id="{52AD1ADE-6D88-5C48-9EEF-7E081C733011}"/>
                </a:ext>
              </a:extLst>
            </p:cNvPr>
            <p:cNvSpPr/>
            <p:nvPr userDrawn="1"/>
          </p:nvSpPr>
          <p:spPr>
            <a:xfrm>
              <a:off x="342900" y="2095500"/>
              <a:ext cx="3886199" cy="3886199"/>
            </a:xfrm>
            <a:prstGeom prst="rect">
              <a:avLst/>
            </a:prstGeom>
            <a:solidFill>
              <a:srgbClr val="9F224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AFE6DE48-1064-2849-AF2D-2E29711B1885}"/>
                </a:ext>
              </a:extLst>
            </p:cNvPr>
            <p:cNvSpPr/>
            <p:nvPr userDrawn="1"/>
          </p:nvSpPr>
          <p:spPr>
            <a:xfrm>
              <a:off x="495300" y="2362200"/>
              <a:ext cx="3429000" cy="3467100"/>
            </a:xfrm>
            <a:prstGeom prst="rect">
              <a:avLst/>
            </a:prstGeom>
            <a:solidFill>
              <a:srgbClr val="E21A23"/>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dirty="0"/>
            </a:p>
          </p:txBody>
        </p:sp>
      </p:grpSp>
      <p:sp>
        <p:nvSpPr>
          <p:cNvPr id="7" name="Title"/>
          <p:cNvSpPr>
            <a:spLocks noGrp="1"/>
          </p:cNvSpPr>
          <p:nvPr userDrawn="1">
            <p:ph type="ctrTitle" hasCustomPrompt="1"/>
          </p:nvPr>
        </p:nvSpPr>
        <p:spPr>
          <a:xfrm>
            <a:off x="621792" y="2608290"/>
            <a:ext cx="3035808" cy="1394084"/>
          </a:xfrm>
          <a:prstGeom prst="rect">
            <a:avLst/>
          </a:prstGeom>
        </p:spPr>
        <p:txBody>
          <a:bodyPr anchor="b">
            <a:noAutofit/>
          </a:bodyPr>
          <a:lstStyle>
            <a:lvl1pPr algn="l">
              <a:lnSpc>
                <a:spcPct val="100000"/>
              </a:lnSpc>
              <a:defRPr sz="2600" b="1">
                <a:solidFill>
                  <a:schemeClr val="bg1"/>
                </a:solidFill>
              </a:defRPr>
            </a:lvl1pPr>
          </a:lstStyle>
          <a:p>
            <a:r>
              <a:rPr lang="en-US" dirty="0"/>
              <a:t>Presentation Title</a:t>
            </a:r>
          </a:p>
        </p:txBody>
      </p:sp>
      <p:sp>
        <p:nvSpPr>
          <p:cNvPr id="8" name="Subtitle"/>
          <p:cNvSpPr>
            <a:spLocks noGrp="1"/>
          </p:cNvSpPr>
          <p:nvPr userDrawn="1">
            <p:ph type="subTitle" idx="1" hasCustomPrompt="1"/>
          </p:nvPr>
        </p:nvSpPr>
        <p:spPr>
          <a:xfrm>
            <a:off x="621792" y="4069830"/>
            <a:ext cx="3035808" cy="804094"/>
          </a:xfrm>
          <a:prstGeom prst="rect">
            <a:avLst/>
          </a:prstGeom>
        </p:spPr>
        <p:txBody>
          <a:bodyPr/>
          <a:lstStyle>
            <a:lvl1pPr marL="0" indent="0" algn="l">
              <a:buNone/>
              <a:defRPr sz="18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Presentation Subtitle</a:t>
            </a:r>
          </a:p>
        </p:txBody>
      </p:sp>
      <p:cxnSp>
        <p:nvCxnSpPr>
          <p:cNvPr id="9" name="MHE line separating subtitles from text">
            <a:extLst>
              <a:ext uri="{FF2B5EF4-FFF2-40B4-BE49-F238E27FC236}">
                <a16:creationId xmlns:a16="http://schemas.microsoft.com/office/drawing/2014/main" id="{EC86C884-D766-9149-B40E-B86A943DE6D1}"/>
              </a:ext>
              <a:ext uri="{C183D7F6-B498-43B3-948B-1728B52AA6E4}">
                <adec:decorative xmlns:adec="http://schemas.microsoft.com/office/drawing/2017/decorative" val="1"/>
              </a:ext>
            </a:extLst>
          </p:cNvPr>
          <p:cNvCxnSpPr>
            <a:cxnSpLocks/>
          </p:cNvCxnSpPr>
          <p:nvPr userDrawn="1"/>
        </p:nvCxnSpPr>
        <p:spPr>
          <a:xfrm>
            <a:off x="713232" y="4919472"/>
            <a:ext cx="2532888"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11" name="Content Placeholder 10">
            <a:extLst>
              <a:ext uri="{FF2B5EF4-FFF2-40B4-BE49-F238E27FC236}">
                <a16:creationId xmlns:a16="http://schemas.microsoft.com/office/drawing/2014/main" id="{0BEC4930-4E04-4FE8-BBF3-63ABA7AA5406}"/>
              </a:ext>
            </a:extLst>
          </p:cNvPr>
          <p:cNvSpPr>
            <a:spLocks noGrp="1"/>
          </p:cNvSpPr>
          <p:nvPr>
            <p:ph sz="quarter" idx="11"/>
          </p:nvPr>
        </p:nvSpPr>
        <p:spPr>
          <a:xfrm>
            <a:off x="342900" y="6535738"/>
            <a:ext cx="8616950" cy="21907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ext Placeholder 2">
            <a:extLst>
              <a:ext uri="{FF2B5EF4-FFF2-40B4-BE49-F238E27FC236}">
                <a16:creationId xmlns:a16="http://schemas.microsoft.com/office/drawing/2014/main" id="{7B48F83F-7684-4505-9311-CD91E36A5788}"/>
              </a:ext>
            </a:extLst>
          </p:cNvPr>
          <p:cNvSpPr>
            <a:spLocks noGrp="1"/>
          </p:cNvSpPr>
          <p:nvPr>
            <p:ph type="body" sz="quarter" idx="12"/>
          </p:nvPr>
        </p:nvSpPr>
        <p:spPr>
          <a:xfrm>
            <a:off x="622300" y="5094288"/>
            <a:ext cx="3035300" cy="41116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489068921"/>
      </p:ext>
    </p:extLst>
  </p:cSld>
  <p:clrMapOvr>
    <a:masterClrMapping/>
  </p:clrMapOvr>
  <p:extLst>
    <p:ext uri="{DCECCB84-F9BA-43D5-87BE-67443E8EF086}">
      <p15:sldGuideLst xmlns:p15="http://schemas.microsoft.com/office/powerpoint/2012/main">
        <p15:guide id="1" orient="horz" pos="1320">
          <p15:clr>
            <a:srgbClr val="FBAE40"/>
          </p15:clr>
        </p15:guide>
        <p15:guide id="2" orient="horz" pos="3768">
          <p15:clr>
            <a:srgbClr val="FBAE40"/>
          </p15:clr>
        </p15:guide>
        <p15:guide id="3" pos="2664">
          <p15:clr>
            <a:srgbClr val="FBAE40"/>
          </p15:clr>
        </p15:guide>
        <p15:guide id="4" pos="2880">
          <p15:clr>
            <a:srgbClr val="FBAE40"/>
          </p15:clr>
        </p15:guide>
        <p15:guide id="5" pos="2472">
          <p15:clr>
            <a:srgbClr val="FBAE40"/>
          </p15:clr>
        </p15:guide>
        <p15:guide id="6" pos="312">
          <p15:clr>
            <a:srgbClr val="FBAE40"/>
          </p15:clr>
        </p15:guide>
        <p15:guide id="7" orient="horz" pos="1488">
          <p15:clr>
            <a:srgbClr val="FBAE40"/>
          </p15:clr>
        </p15:guide>
        <p15:guide id="8" orient="horz" pos="3672">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Slide NO Cover">
    <p:spTree>
      <p:nvGrpSpPr>
        <p:cNvPr id="1" name=""/>
        <p:cNvGrpSpPr/>
        <p:nvPr/>
      </p:nvGrpSpPr>
      <p:grpSpPr>
        <a:xfrm>
          <a:off x="0" y="0"/>
          <a:ext cx="0" cy="0"/>
          <a:chOff x="0" y="0"/>
          <a:chExt cx="0" cy="0"/>
        </a:xfrm>
      </p:grpSpPr>
      <p:grpSp>
        <p:nvGrpSpPr>
          <p:cNvPr id="20" name="MHE Official Background, fixed">
            <a:extLst>
              <a:ext uri="{C183D7F6-B498-43B3-948B-1728B52AA6E4}">
                <adec:decorative xmlns:adec="http://schemas.microsoft.com/office/drawing/2017/decorative" val="1"/>
              </a:ext>
            </a:extLst>
          </p:cNvPr>
          <p:cNvGrpSpPr/>
          <p:nvPr userDrawn="1"/>
        </p:nvGrpSpPr>
        <p:grpSpPr>
          <a:xfrm>
            <a:off x="0" y="1452559"/>
            <a:ext cx="9144000" cy="4982750"/>
            <a:chOff x="0" y="1521567"/>
            <a:chExt cx="9144000" cy="4846438"/>
          </a:xfrm>
        </p:grpSpPr>
        <p:sp>
          <p:nvSpPr>
            <p:cNvPr id="11" name="Rectangle 10">
              <a:extLst>
                <a:ext uri="{FF2B5EF4-FFF2-40B4-BE49-F238E27FC236}">
                  <a16:creationId xmlns:a16="http://schemas.microsoft.com/office/drawing/2014/main" id="{23FD8DC8-1EF1-6B48-9F31-D9D254F85818}"/>
                </a:ext>
              </a:extLst>
            </p:cNvPr>
            <p:cNvSpPr/>
            <p:nvPr userDrawn="1"/>
          </p:nvSpPr>
          <p:spPr>
            <a:xfrm>
              <a:off x="0" y="1521567"/>
              <a:ext cx="9144000" cy="4846438"/>
            </a:xfrm>
            <a:prstGeom prst="rect">
              <a:avLst/>
            </a:prstGeom>
            <a:solidFill>
              <a:srgbClr val="720F1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9500492E-5EBE-C745-8EEE-F17D4BB4582E}"/>
                </a:ext>
              </a:extLst>
            </p:cNvPr>
            <p:cNvSpPr/>
            <p:nvPr userDrawn="1"/>
          </p:nvSpPr>
          <p:spPr>
            <a:xfrm>
              <a:off x="185629" y="2001422"/>
              <a:ext cx="8493233" cy="4166364"/>
            </a:xfrm>
            <a:prstGeom prst="rect">
              <a:avLst/>
            </a:prstGeom>
            <a:solidFill>
              <a:srgbClr val="9F224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6D976C39-0B94-D44F-9108-A52DD0916B5A}"/>
                </a:ext>
              </a:extLst>
            </p:cNvPr>
            <p:cNvSpPr/>
            <p:nvPr userDrawn="1"/>
          </p:nvSpPr>
          <p:spPr>
            <a:xfrm>
              <a:off x="364385" y="2475809"/>
              <a:ext cx="7858340" cy="3513221"/>
            </a:xfrm>
            <a:prstGeom prst="rect">
              <a:avLst/>
            </a:prstGeom>
            <a:solidFill>
              <a:srgbClr val="E21A23"/>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dirty="0"/>
            </a:p>
          </p:txBody>
        </p:sp>
      </p:grpSp>
      <p:sp>
        <p:nvSpPr>
          <p:cNvPr id="2" name="Title"/>
          <p:cNvSpPr>
            <a:spLocks noGrp="1"/>
          </p:cNvSpPr>
          <p:nvPr userDrawn="1">
            <p:ph type="ctrTitle"/>
          </p:nvPr>
        </p:nvSpPr>
        <p:spPr>
          <a:xfrm>
            <a:off x="777240" y="2985555"/>
            <a:ext cx="6521640" cy="873214"/>
          </a:xfrm>
          <a:prstGeom prst="rect">
            <a:avLst/>
          </a:prstGeom>
        </p:spPr>
        <p:txBody>
          <a:bodyPr anchor="t">
            <a:noAutofit/>
          </a:bodyPr>
          <a:lstStyle>
            <a:lvl1pPr algn="l">
              <a:lnSpc>
                <a:spcPct val="100000"/>
              </a:lnSpc>
              <a:defRPr sz="2600" b="1">
                <a:solidFill>
                  <a:schemeClr val="bg1"/>
                </a:solidFill>
              </a:defRPr>
            </a:lvl1pPr>
          </a:lstStyle>
          <a:p>
            <a:r>
              <a:rPr lang="en-US"/>
              <a:t>Click to edit Master title style</a:t>
            </a:r>
            <a:endParaRPr lang="en-US" dirty="0"/>
          </a:p>
        </p:txBody>
      </p:sp>
      <p:sp>
        <p:nvSpPr>
          <p:cNvPr id="3" name="Subtitle"/>
          <p:cNvSpPr>
            <a:spLocks noGrp="1"/>
          </p:cNvSpPr>
          <p:nvPr>
            <p:ph type="subTitle" idx="1"/>
          </p:nvPr>
        </p:nvSpPr>
        <p:spPr>
          <a:xfrm>
            <a:off x="782058" y="3986784"/>
            <a:ext cx="4297680" cy="517585"/>
          </a:xfrm>
          <a:prstGeom prst="rect">
            <a:avLst/>
          </a:prstGeom>
        </p:spPr>
        <p:txBody>
          <a:bodyPr/>
          <a:lstStyle>
            <a:lvl1pPr marL="0" indent="0" algn="l">
              <a:buNone/>
              <a:defRPr sz="18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cxnSp>
        <p:nvCxnSpPr>
          <p:cNvPr id="21" name="MHE line separating subtitles from text">
            <a:extLst>
              <a:ext uri="{FF2B5EF4-FFF2-40B4-BE49-F238E27FC236}">
                <a16:creationId xmlns:a16="http://schemas.microsoft.com/office/drawing/2014/main" id="{EC86C884-D766-9149-B40E-B86A943DE6D1}"/>
              </a:ext>
              <a:ext uri="{C183D7F6-B498-43B3-948B-1728B52AA6E4}">
                <adec:decorative xmlns:adec="http://schemas.microsoft.com/office/drawing/2017/decorative" val="1"/>
              </a:ext>
            </a:extLst>
          </p:cNvPr>
          <p:cNvCxnSpPr>
            <a:cxnSpLocks/>
          </p:cNvCxnSpPr>
          <p:nvPr userDrawn="1"/>
        </p:nvCxnSpPr>
        <p:spPr>
          <a:xfrm>
            <a:off x="867202" y="4650037"/>
            <a:ext cx="3574789"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3" name="Text Placeholder"/>
          <p:cNvSpPr>
            <a:spLocks noGrp="1"/>
          </p:cNvSpPr>
          <p:nvPr>
            <p:ph type="body" sz="quarter" idx="10"/>
          </p:nvPr>
        </p:nvSpPr>
        <p:spPr>
          <a:xfrm>
            <a:off x="777240" y="4718304"/>
            <a:ext cx="4443413" cy="576185"/>
          </a:xfrm>
          <a:prstGeom prst="rect">
            <a:avLst/>
          </a:prstGeom>
        </p:spPr>
        <p:txBody>
          <a:bodyPr/>
          <a:lstStyle>
            <a:lvl1pPr>
              <a:spcBef>
                <a:spcPts val="0"/>
              </a:spcBef>
              <a:defRPr sz="16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edit Master text styles</a:t>
            </a:r>
          </a:p>
        </p:txBody>
      </p:sp>
      <p:sp>
        <p:nvSpPr>
          <p:cNvPr id="6" name="Text Placeholder 5"/>
          <p:cNvSpPr>
            <a:spLocks noGrp="1"/>
          </p:cNvSpPr>
          <p:nvPr>
            <p:ph type="body" sz="quarter" idx="11" hasCustomPrompt="1"/>
          </p:nvPr>
        </p:nvSpPr>
        <p:spPr>
          <a:xfrm>
            <a:off x="185738" y="6515100"/>
            <a:ext cx="8662987" cy="288925"/>
          </a:xfrm>
          <a:prstGeom prst="rect">
            <a:avLst/>
          </a:prstGeom>
        </p:spPr>
        <p:txBody>
          <a:bodyPr/>
          <a:lstStyle>
            <a:lvl1pPr>
              <a:defRPr sz="1200">
                <a:solidFill>
                  <a:schemeClr val="tx2"/>
                </a:solidFill>
              </a:defRPr>
            </a:lvl1pPr>
          </a:lstStyle>
          <a:p>
            <a:pPr lvl="0"/>
            <a:r>
              <a:rPr lang="en-US" dirty="0"/>
              <a:t>© McGraw Hill LLC. All rights reserved. No reproduction or distribution without the prior written consent of McGraw Hill LLC.</a:t>
            </a:r>
          </a:p>
        </p:txBody>
      </p:sp>
    </p:spTree>
    <p:extLst>
      <p:ext uri="{BB962C8B-B14F-4D97-AF65-F5344CB8AC3E}">
        <p14:creationId xmlns:p14="http://schemas.microsoft.com/office/powerpoint/2010/main" val="380643474"/>
      </p:ext>
    </p:extLst>
  </p:cSld>
  <p:clrMapOvr>
    <a:masterClrMapping/>
  </p:clrMapOvr>
  <p:extLst>
    <p:ext uri="{DCECCB84-F9BA-43D5-87BE-67443E8EF086}">
      <p15:sldGuideLst xmlns:p15="http://schemas.microsoft.com/office/powerpoint/2012/main">
        <p15:guide id="1" orient="horz" pos="959">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Title Slide NO Cover">
    <p:spTree>
      <p:nvGrpSpPr>
        <p:cNvPr id="1" name=""/>
        <p:cNvGrpSpPr/>
        <p:nvPr/>
      </p:nvGrpSpPr>
      <p:grpSpPr>
        <a:xfrm>
          <a:off x="0" y="0"/>
          <a:ext cx="0" cy="0"/>
          <a:chOff x="0" y="0"/>
          <a:chExt cx="0" cy="0"/>
        </a:xfrm>
      </p:grpSpPr>
      <p:grpSp>
        <p:nvGrpSpPr>
          <p:cNvPr id="5" name="MHE altered Background, fixed">
            <a:extLst>
              <a:ext uri="{FF2B5EF4-FFF2-40B4-BE49-F238E27FC236}">
                <a16:creationId xmlns:a16="http://schemas.microsoft.com/office/drawing/2014/main" id="{7A14A7A9-A9D7-4A08-A24F-4D1C1F4C29CE}"/>
              </a:ext>
              <a:ext uri="{C183D7F6-B498-43B3-948B-1728B52AA6E4}">
                <adec:decorative xmlns:adec="http://schemas.microsoft.com/office/drawing/2017/decorative" val="1"/>
              </a:ext>
            </a:extLst>
          </p:cNvPr>
          <p:cNvGrpSpPr/>
          <p:nvPr userDrawn="1"/>
        </p:nvGrpSpPr>
        <p:grpSpPr>
          <a:xfrm>
            <a:off x="0" y="1446366"/>
            <a:ext cx="9143999" cy="4991100"/>
            <a:chOff x="0" y="1524000"/>
            <a:chExt cx="9143999" cy="4991100"/>
          </a:xfrm>
        </p:grpSpPr>
        <p:sp>
          <p:nvSpPr>
            <p:cNvPr id="12" name="Rectangle 11">
              <a:extLst>
                <a:ext uri="{FF2B5EF4-FFF2-40B4-BE49-F238E27FC236}">
                  <a16:creationId xmlns:a16="http://schemas.microsoft.com/office/drawing/2014/main" id="{9500492E-5EBE-C745-8EEE-F17D4BB4582E}"/>
                </a:ext>
              </a:extLst>
            </p:cNvPr>
            <p:cNvSpPr/>
            <p:nvPr userDrawn="1"/>
          </p:nvSpPr>
          <p:spPr>
            <a:xfrm>
              <a:off x="0" y="1524000"/>
              <a:ext cx="9143999" cy="4991100"/>
            </a:xfrm>
            <a:prstGeom prst="rect">
              <a:avLst/>
            </a:prstGeom>
            <a:solidFill>
              <a:srgbClr val="9F224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6D976C39-0B94-D44F-9108-A52DD0916B5A}"/>
                </a:ext>
              </a:extLst>
            </p:cNvPr>
            <p:cNvSpPr/>
            <p:nvPr userDrawn="1"/>
          </p:nvSpPr>
          <p:spPr>
            <a:xfrm>
              <a:off x="190500" y="2019300"/>
              <a:ext cx="8496300" cy="4267200"/>
            </a:xfrm>
            <a:prstGeom prst="rect">
              <a:avLst/>
            </a:prstGeom>
            <a:solidFill>
              <a:srgbClr val="E21A23"/>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dirty="0"/>
            </a:p>
          </p:txBody>
        </p:sp>
      </p:grpSp>
      <p:sp>
        <p:nvSpPr>
          <p:cNvPr id="2" name="Title"/>
          <p:cNvSpPr>
            <a:spLocks noGrp="1"/>
          </p:cNvSpPr>
          <p:nvPr userDrawn="1">
            <p:ph type="ctrTitle"/>
          </p:nvPr>
        </p:nvSpPr>
        <p:spPr>
          <a:xfrm>
            <a:off x="567378" y="2593298"/>
            <a:ext cx="6980170" cy="1130559"/>
          </a:xfrm>
          <a:prstGeom prst="rect">
            <a:avLst/>
          </a:prstGeom>
        </p:spPr>
        <p:txBody>
          <a:bodyPr anchor="t">
            <a:noAutofit/>
          </a:bodyPr>
          <a:lstStyle>
            <a:lvl1pPr algn="l">
              <a:lnSpc>
                <a:spcPct val="100000"/>
              </a:lnSpc>
              <a:defRPr sz="2600" b="1">
                <a:solidFill>
                  <a:schemeClr val="bg1"/>
                </a:solidFill>
              </a:defRPr>
            </a:lvl1pPr>
          </a:lstStyle>
          <a:p>
            <a:r>
              <a:rPr lang="en-US"/>
              <a:t>Click to edit Master title style</a:t>
            </a:r>
            <a:endParaRPr lang="en-US" dirty="0"/>
          </a:p>
        </p:txBody>
      </p:sp>
      <p:sp>
        <p:nvSpPr>
          <p:cNvPr id="3" name="Subtitle"/>
          <p:cNvSpPr>
            <a:spLocks noGrp="1"/>
          </p:cNvSpPr>
          <p:nvPr userDrawn="1">
            <p:ph type="subTitle" idx="1"/>
          </p:nvPr>
        </p:nvSpPr>
        <p:spPr>
          <a:xfrm>
            <a:off x="567378" y="3807503"/>
            <a:ext cx="4542020" cy="719352"/>
          </a:xfrm>
          <a:prstGeom prst="rect">
            <a:avLst/>
          </a:prstGeom>
        </p:spPr>
        <p:txBody>
          <a:bodyPr/>
          <a:lstStyle>
            <a:lvl1pPr marL="0" indent="0" algn="l">
              <a:buNone/>
              <a:defRPr sz="18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cxnSp>
        <p:nvCxnSpPr>
          <p:cNvPr id="21" name="MHE line separating subtitles from text">
            <a:extLst>
              <a:ext uri="{FF2B5EF4-FFF2-40B4-BE49-F238E27FC236}">
                <a16:creationId xmlns:a16="http://schemas.microsoft.com/office/drawing/2014/main" id="{EC86C884-D766-9149-B40E-B86A943DE6D1}"/>
              </a:ext>
              <a:ext uri="{C183D7F6-B498-43B3-948B-1728B52AA6E4}">
                <adec:decorative xmlns:adec="http://schemas.microsoft.com/office/drawing/2017/decorative" val="1"/>
              </a:ext>
            </a:extLst>
          </p:cNvPr>
          <p:cNvCxnSpPr>
            <a:cxnSpLocks/>
          </p:cNvCxnSpPr>
          <p:nvPr userDrawn="1"/>
        </p:nvCxnSpPr>
        <p:spPr>
          <a:xfrm>
            <a:off x="2784606" y="4665027"/>
            <a:ext cx="3574789"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3" name="Text Placeholder"/>
          <p:cNvSpPr>
            <a:spLocks noGrp="1"/>
          </p:cNvSpPr>
          <p:nvPr userDrawn="1">
            <p:ph type="body" sz="quarter" idx="10"/>
          </p:nvPr>
        </p:nvSpPr>
        <p:spPr>
          <a:xfrm>
            <a:off x="567378" y="4770769"/>
            <a:ext cx="4443413" cy="576185"/>
          </a:xfrm>
          <a:prstGeom prst="rect">
            <a:avLst/>
          </a:prstGeom>
        </p:spPr>
        <p:txBody>
          <a:bodyPr/>
          <a:lstStyle>
            <a:lvl1pPr>
              <a:spcBef>
                <a:spcPts val="0"/>
              </a:spcBef>
              <a:defRPr sz="16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edit Master text styles</a:t>
            </a:r>
          </a:p>
        </p:txBody>
      </p:sp>
      <p:sp>
        <p:nvSpPr>
          <p:cNvPr id="7" name="Text Placeholder 6"/>
          <p:cNvSpPr>
            <a:spLocks noGrp="1"/>
          </p:cNvSpPr>
          <p:nvPr>
            <p:ph type="body" sz="quarter" idx="11" hasCustomPrompt="1"/>
          </p:nvPr>
        </p:nvSpPr>
        <p:spPr>
          <a:xfrm>
            <a:off x="190500" y="6515100"/>
            <a:ext cx="8643938" cy="288925"/>
          </a:xfrm>
          <a:prstGeom prst="rect">
            <a:avLst/>
          </a:prstGeom>
        </p:spPr>
        <p:txBody>
          <a:bodyPr/>
          <a:lstStyle>
            <a:lvl1pPr>
              <a:defRPr sz="1200">
                <a:solidFill>
                  <a:schemeClr val="tx2"/>
                </a:solidFill>
              </a:defRPr>
            </a:lvl1pPr>
          </a:lstStyle>
          <a:p>
            <a:pPr lvl="0"/>
            <a:r>
              <a:rPr lang="en-US" dirty="0"/>
              <a:t>© McGraw Hill LLC. All rights reserved. No reproduction or distribution without the prior written consent of McGraw Hill LLC.</a:t>
            </a:r>
          </a:p>
        </p:txBody>
      </p:sp>
    </p:spTree>
    <p:extLst>
      <p:ext uri="{BB962C8B-B14F-4D97-AF65-F5344CB8AC3E}">
        <p14:creationId xmlns:p14="http://schemas.microsoft.com/office/powerpoint/2010/main" val="1233895555"/>
      </p:ext>
    </p:extLst>
  </p:cSld>
  <p:clrMapOvr>
    <a:masterClrMapping/>
  </p:clrMapOvr>
  <p:extLst>
    <p:ext uri="{DCECCB84-F9BA-43D5-87BE-67443E8EF086}">
      <p15:sldGuideLst xmlns:p15="http://schemas.microsoft.com/office/powerpoint/2012/main">
        <p15:guide id="1" orient="horz" pos="1272">
          <p15:clr>
            <a:srgbClr val="FBAE40"/>
          </p15:clr>
        </p15:guide>
        <p15:guide id="2" orient="horz" pos="3960">
          <p15:clr>
            <a:srgbClr val="FBAE40"/>
          </p15:clr>
        </p15:guide>
        <p15:guide id="3" pos="120">
          <p15:clr>
            <a:srgbClr val="FBAE40"/>
          </p15:clr>
        </p15:guide>
        <p15:guide id="4" pos="5472">
          <p15:clr>
            <a:srgbClr val="FBAE40"/>
          </p15:clr>
        </p15:guide>
        <p15:guide id="5" orient="horz" pos="226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One Main Placehol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192490"/>
            <a:ext cx="8458200" cy="903231"/>
          </a:xfrm>
          <a:prstGeom prst="rect">
            <a:avLst/>
          </a:prstGeom>
        </p:spPr>
        <p:txBody>
          <a:bodyPr anchor="ctr">
            <a:normAutofit/>
          </a:bodyPr>
          <a:lstStyle>
            <a:lvl1pPr>
              <a:defRPr sz="3600"/>
            </a:lvl1pPr>
          </a:lstStyle>
          <a:p>
            <a:r>
              <a:rPr lang="en-US" dirty="0"/>
              <a:t>Slide Title</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4971691"/>
          </a:xfrm>
          <a:prstGeom prst="rect">
            <a:avLst/>
          </a:prstGeom>
        </p:spPr>
        <p:txBody>
          <a:bodyPr>
            <a:noAutofit/>
          </a:bodyPr>
          <a:lstStyle>
            <a:lvl1pPr>
              <a:spcBef>
                <a:spcPts val="1000"/>
              </a:spcBef>
              <a:spcAft>
                <a:spcPts val="0"/>
              </a:spcAft>
              <a:defRPr/>
            </a:lvl1pPr>
            <a:lvl2pPr marL="292608" indent="-292608">
              <a:spcBef>
                <a:spcPts val="1000"/>
              </a:spcBef>
              <a:spcAft>
                <a:spcPts val="0"/>
              </a:spcAft>
              <a:defRPr/>
            </a:lvl2pPr>
          </a:lstStyle>
          <a:p>
            <a:pPr lvl="0"/>
            <a:r>
              <a:rPr lang="en-US" dirty="0"/>
              <a:t>Slide Content</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347" y="6324600"/>
            <a:ext cx="2405307"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099" y="6684963"/>
            <a:ext cx="6972301"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8" name="Slide Number Placeholder">
            <a:extLst>
              <a:ext uri="{FF2B5EF4-FFF2-40B4-BE49-F238E27FC236}">
                <a16:creationId xmlns:a16="http://schemas.microsoft.com/office/drawing/2014/main" id="{EF8D8291-5BF4-41AC-87CE-ED5DE4CB1B61}"/>
              </a:ext>
            </a:extLst>
          </p:cNvPr>
          <p:cNvSpPr>
            <a:spLocks noGrp="1"/>
          </p:cNvSpPr>
          <p:nvPr>
            <p:ph type="sldNum" sz="quarter" idx="4"/>
          </p:nvPr>
        </p:nvSpPr>
        <p:spPr>
          <a:xfrm>
            <a:off x="8626411" y="6646460"/>
            <a:ext cx="449349" cy="188467"/>
          </a:xfrm>
          <a:prstGeom prst="rect">
            <a:avLst/>
          </a:prstGeom>
        </p:spPr>
        <p:txBody>
          <a:bodyPr/>
          <a:lstStyle>
            <a:lvl1pPr>
              <a:defRPr sz="800"/>
            </a:lvl1pPr>
          </a:lstStyle>
          <a:p>
            <a:fld id="{68151E55-6873-49E2-B8D5-2F265E6F1973}" type="slidenum">
              <a:rPr lang="en-US" smtClean="0"/>
              <a:pPr/>
              <a:t>‹#›</a:t>
            </a:fld>
            <a:endParaRPr lang="en-US" dirty="0"/>
          </a:p>
        </p:txBody>
      </p:sp>
    </p:spTree>
    <p:extLst>
      <p:ext uri="{BB962C8B-B14F-4D97-AF65-F5344CB8AC3E}">
        <p14:creationId xmlns:p14="http://schemas.microsoft.com/office/powerpoint/2010/main" val="745085821"/>
      </p:ext>
    </p:extLst>
  </p:cSld>
  <p:clrMapOvr>
    <a:masterClrMapping/>
  </p:clrMapOvr>
  <p:extLst>
    <p:ext uri="{DCECCB84-F9BA-43D5-87BE-67443E8EF086}">
      <p15:sldGuideLst xmlns:p15="http://schemas.microsoft.com/office/powerpoint/2012/main">
        <p15:guide id="1" pos="2880" userDrawn="1">
          <p15:clr>
            <a:srgbClr val="FBAE40"/>
          </p15:clr>
        </p15:guide>
        <p15:guide id="2" orient="horz" pos="360" userDrawn="1">
          <p15:clr>
            <a:srgbClr val="FBAE40"/>
          </p15:clr>
        </p15:guide>
        <p15:guide id="3" pos="264" userDrawn="1">
          <p15:clr>
            <a:srgbClr val="FBAE40"/>
          </p15:clr>
        </p15:guide>
        <p15:guide id="4" orient="horz" pos="216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7_One Main Placeholder">
    <p:spTree>
      <p:nvGrpSpPr>
        <p:cNvPr id="1" name=""/>
        <p:cNvGrpSpPr/>
        <p:nvPr/>
      </p:nvGrpSpPr>
      <p:grpSpPr>
        <a:xfrm>
          <a:off x="0" y="0"/>
          <a:ext cx="0" cy="0"/>
          <a:chOff x="0" y="0"/>
          <a:chExt cx="0" cy="0"/>
        </a:xfrm>
      </p:grpSpPr>
      <p:sp>
        <p:nvSpPr>
          <p:cNvPr id="2" name="Slide Title 1">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192490"/>
            <a:ext cx="4229100" cy="903231"/>
          </a:xfrm>
          <a:prstGeom prst="rect">
            <a:avLst/>
          </a:prstGeom>
        </p:spPr>
        <p:txBody>
          <a:bodyPr anchor="ctr">
            <a:normAutofit/>
          </a:bodyPr>
          <a:lstStyle>
            <a:lvl1pPr>
              <a:defRPr sz="4000"/>
            </a:lvl1pPr>
          </a:lstStyle>
          <a:p>
            <a:r>
              <a:rPr lang="en-US" dirty="0"/>
              <a:t>Slide Title</a:t>
            </a:r>
          </a:p>
        </p:txBody>
      </p:sp>
      <p:sp>
        <p:nvSpPr>
          <p:cNvPr id="15" name="Slide Title 2">
            <a:extLst>
              <a:ext uri="{FF2B5EF4-FFF2-40B4-BE49-F238E27FC236}">
                <a16:creationId xmlns:a16="http://schemas.microsoft.com/office/drawing/2014/main" id="{B5BB26E5-AE57-4ED5-B8A8-BEE1BD13AD34}"/>
              </a:ext>
            </a:extLst>
          </p:cNvPr>
          <p:cNvSpPr>
            <a:spLocks noGrp="1"/>
          </p:cNvSpPr>
          <p:nvPr>
            <p:ph type="body" sz="quarter" idx="14" hasCustomPrompt="1"/>
          </p:nvPr>
        </p:nvSpPr>
        <p:spPr>
          <a:xfrm>
            <a:off x="4749800" y="192088"/>
            <a:ext cx="4051300" cy="903287"/>
          </a:xfrm>
        </p:spPr>
        <p:txBody>
          <a:bodyPr vert="horz" lIns="91440" tIns="45720" rIns="91440" bIns="45720" rtlCol="0" anchor="ctr">
            <a:normAutofit/>
          </a:bodyPr>
          <a:lstStyle>
            <a:lvl1pPr>
              <a:defRPr lang="en-IN" sz="4000" b="1" dirty="0">
                <a:latin typeface="+mj-lt"/>
                <a:ea typeface="+mj-ea"/>
                <a:cs typeface="+mj-cs"/>
              </a:defRPr>
            </a:lvl1pPr>
          </a:lstStyle>
          <a:p>
            <a:pPr lvl="0">
              <a:lnSpc>
                <a:spcPct val="90000"/>
              </a:lnSpc>
              <a:spcBef>
                <a:spcPct val="0"/>
              </a:spcBef>
            </a:pPr>
            <a:r>
              <a:rPr kumimoji="0" lang="en-US" sz="4000" b="1" i="0" u="none" strike="noStrike" kern="1200" cap="none" spc="0" normalizeH="0" baseline="0" noProof="0" dirty="0">
                <a:ln>
                  <a:noFill/>
                </a:ln>
                <a:solidFill>
                  <a:srgbClr val="000000"/>
                </a:solidFill>
                <a:effectLst/>
                <a:uLnTx/>
                <a:uFillTx/>
                <a:latin typeface="+mn-lt"/>
                <a:ea typeface="+mj-ea"/>
                <a:cs typeface="+mj-cs"/>
              </a:rPr>
              <a:t>Slide Title</a:t>
            </a:r>
            <a:endParaRPr lang="en-IN"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4971691"/>
          </a:xfrm>
          <a:prstGeom prst="rect">
            <a:avLst/>
          </a:prstGeom>
        </p:spPr>
        <p:txBody>
          <a:bodyPr/>
          <a:lstStyle>
            <a:lvl1pPr>
              <a:spcBef>
                <a:spcPts val="1000"/>
              </a:spcBef>
              <a:spcAft>
                <a:spcPts val="0"/>
              </a:spcAft>
              <a:defRPr/>
            </a:lvl1pPr>
            <a:lvl2pPr marL="292608" indent="-292608">
              <a:spcBef>
                <a:spcPts val="1000"/>
              </a:spcBef>
              <a:spcAft>
                <a:spcPts val="0"/>
              </a:spcAft>
              <a:defRPr/>
            </a:lvl2pPr>
          </a:lstStyle>
          <a:p>
            <a:pPr lvl="0"/>
            <a:r>
              <a:rPr lang="en-US" dirty="0"/>
              <a:t>Slide Content</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347" y="6324600"/>
            <a:ext cx="2405307"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099" y="6684963"/>
            <a:ext cx="6972301"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61396"/>
          </a:xfrm>
          <a:prstGeom prst="rect">
            <a:avLst/>
          </a:prstGeom>
        </p:spPr>
        <p:txBody>
          <a:bodyPr/>
          <a:lstStyle/>
          <a:p>
            <a:fld id="{68151E55-6873-49E2-B8D5-2F265E6F1973}" type="slidenum">
              <a:rPr lang="en-US" smtClean="0"/>
              <a:t>‹#›</a:t>
            </a:fld>
            <a:endParaRPr lang="en-US"/>
          </a:p>
        </p:txBody>
      </p:sp>
    </p:spTree>
    <p:extLst>
      <p:ext uri="{BB962C8B-B14F-4D97-AF65-F5344CB8AC3E}">
        <p14:creationId xmlns:p14="http://schemas.microsoft.com/office/powerpoint/2010/main" val="1296839023"/>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One Main Placehol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2632364" y="304800"/>
            <a:ext cx="6168736" cy="678611"/>
          </a:xfrm>
          <a:prstGeom prst="rect">
            <a:avLst/>
          </a:prstGeom>
        </p:spPr>
        <p:txBody>
          <a:bodyPr anchor="ctr"/>
          <a:lstStyle>
            <a:lvl1pPr>
              <a:defRPr sz="24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4971691"/>
          </a:xfrm>
          <a:prstGeom prst="rect">
            <a:avLst/>
          </a:prstGeom>
        </p:spPr>
        <p:txBody>
          <a:bodyPr/>
          <a:lstStyle>
            <a:lvl1pPr>
              <a:defRPr/>
            </a:lvl1pPr>
            <a:lvl2pPr marL="292608" indent="-292608">
              <a:spcBef>
                <a:spcPts val="1000"/>
              </a:spcBef>
              <a:spcAft>
                <a:spcPts val="0"/>
              </a:spcAft>
              <a:defRPr/>
            </a:lvl2pPr>
          </a:lstStyle>
          <a:p>
            <a:pPr lvl="0"/>
            <a:r>
              <a:rPr lang="en-US" dirty="0"/>
              <a:t>Slide Content</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347" y="6324600"/>
            <a:ext cx="2405307"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099" y="6684963"/>
            <a:ext cx="6972301"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61396"/>
          </a:xfrm>
          <a:prstGeom prst="rect">
            <a:avLst/>
          </a:prstGeom>
        </p:spPr>
        <p:txBody>
          <a:bodyPr/>
          <a:lstStyle/>
          <a:p>
            <a:fld id="{68151E55-6873-49E2-B8D5-2F265E6F1973}" type="slidenum">
              <a:rPr lang="en-US" smtClean="0"/>
              <a:t>‹#›</a:t>
            </a:fld>
            <a:endParaRPr lang="en-US"/>
          </a:p>
        </p:txBody>
      </p:sp>
      <p:pic>
        <p:nvPicPr>
          <p:cNvPr id="8" name="Picture 7" descr="Connecting through social media icon.">
            <a:extLst>
              <a:ext uri="{FF2B5EF4-FFF2-40B4-BE49-F238E27FC236}">
                <a16:creationId xmlns:a16="http://schemas.microsoft.com/office/drawing/2014/main" id="{48BB348F-12C6-489F-958D-1FDE88A9246E}"/>
              </a:ext>
            </a:extLst>
          </p:cNvPr>
          <p:cNvPicPr>
            <a:picLocks noChangeAspect="1"/>
          </p:cNvPicPr>
          <p:nvPr userDrawn="1"/>
        </p:nvPicPr>
        <p:blipFill>
          <a:blip r:embed="rId2"/>
          <a:stretch>
            <a:fillRect/>
          </a:stretch>
        </p:blipFill>
        <p:spPr>
          <a:xfrm>
            <a:off x="124695" y="298541"/>
            <a:ext cx="2438400" cy="669365"/>
          </a:xfrm>
          <a:prstGeom prst="rect">
            <a:avLst/>
          </a:prstGeom>
        </p:spPr>
      </p:pic>
    </p:spTree>
    <p:extLst>
      <p:ext uri="{BB962C8B-B14F-4D97-AF65-F5344CB8AC3E}">
        <p14:creationId xmlns:p14="http://schemas.microsoft.com/office/powerpoint/2010/main" val="1816512595"/>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4_One Main Placehol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2632364" y="304800"/>
            <a:ext cx="6168736" cy="678611"/>
          </a:xfrm>
          <a:prstGeom prst="rect">
            <a:avLst/>
          </a:prstGeom>
        </p:spPr>
        <p:txBody>
          <a:bodyPr anchor="ctr"/>
          <a:lstStyle>
            <a:lvl1pPr>
              <a:defRPr sz="24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4971691"/>
          </a:xfrm>
          <a:prstGeom prst="rect">
            <a:avLst/>
          </a:prstGeom>
        </p:spPr>
        <p:txBody>
          <a:bodyPr/>
          <a:lstStyle>
            <a:lvl1pPr>
              <a:defRPr/>
            </a:lvl1pPr>
            <a:lvl2pPr marL="292608" indent="-292608">
              <a:spcBef>
                <a:spcPts val="1000"/>
              </a:spcBef>
              <a:spcAft>
                <a:spcPts val="0"/>
              </a:spcAft>
              <a:defRPr/>
            </a:lvl2pPr>
          </a:lstStyle>
          <a:p>
            <a:pPr lvl="0"/>
            <a:r>
              <a:rPr lang="en-US" dirty="0"/>
              <a:t>Slide Content</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347" y="6324600"/>
            <a:ext cx="2405307"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099" y="6684963"/>
            <a:ext cx="6972301"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61396"/>
          </a:xfrm>
          <a:prstGeom prst="rect">
            <a:avLst/>
          </a:prstGeom>
        </p:spPr>
        <p:txBody>
          <a:bodyPr/>
          <a:lstStyle/>
          <a:p>
            <a:fld id="{68151E55-6873-49E2-B8D5-2F265E6F1973}" type="slidenum">
              <a:rPr lang="en-US" smtClean="0"/>
              <a:t>‹#›</a:t>
            </a:fld>
            <a:endParaRPr lang="en-US"/>
          </a:p>
        </p:txBody>
      </p:sp>
      <p:pic>
        <p:nvPicPr>
          <p:cNvPr id="10" name="Picture 9" descr="Making Ethical Decisions icon.">
            <a:extLst>
              <a:ext uri="{FF2B5EF4-FFF2-40B4-BE49-F238E27FC236}">
                <a16:creationId xmlns:a16="http://schemas.microsoft.com/office/drawing/2014/main" id="{35AB3571-1B64-4E5D-ADAB-A22232BBBD05}"/>
              </a:ext>
            </a:extLst>
          </p:cNvPr>
          <p:cNvPicPr>
            <a:picLocks noChangeAspect="1"/>
          </p:cNvPicPr>
          <p:nvPr userDrawn="1"/>
        </p:nvPicPr>
        <p:blipFill>
          <a:blip r:embed="rId2"/>
          <a:stretch>
            <a:fillRect/>
          </a:stretch>
        </p:blipFill>
        <p:spPr>
          <a:xfrm>
            <a:off x="0" y="312475"/>
            <a:ext cx="2498501" cy="663262"/>
          </a:xfrm>
          <a:prstGeom prst="rect">
            <a:avLst/>
          </a:prstGeom>
        </p:spPr>
      </p:pic>
    </p:spTree>
    <p:extLst>
      <p:ext uri="{BB962C8B-B14F-4D97-AF65-F5344CB8AC3E}">
        <p14:creationId xmlns:p14="http://schemas.microsoft.com/office/powerpoint/2010/main" val="2414323337"/>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_One Main Placehol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1" y="304800"/>
            <a:ext cx="2344882" cy="678611"/>
          </a:xfrm>
          <a:prstGeom prst="rect">
            <a:avLst/>
          </a:prstGeom>
        </p:spPr>
        <p:txBody>
          <a:bodyPr anchor="ctr"/>
          <a:lstStyle>
            <a:lvl1pPr>
              <a:defRPr sz="24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4971691"/>
          </a:xfrm>
          <a:prstGeom prst="rect">
            <a:avLst/>
          </a:prstGeom>
        </p:spPr>
        <p:txBody>
          <a:bodyPr/>
          <a:lstStyle>
            <a:lvl1pPr>
              <a:defRPr/>
            </a:lvl1pPr>
            <a:lvl2pPr marL="292608" indent="-292608">
              <a:spcBef>
                <a:spcPts val="1000"/>
              </a:spcBef>
              <a:spcAft>
                <a:spcPts val="0"/>
              </a:spcAft>
              <a:defRPr/>
            </a:lvl2pPr>
          </a:lstStyle>
          <a:p>
            <a:pPr lvl="0"/>
            <a:r>
              <a:rPr lang="en-US" dirty="0"/>
              <a:t>Slide Content</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347" y="6324600"/>
            <a:ext cx="2405307"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099" y="6684963"/>
            <a:ext cx="6972301"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61396"/>
          </a:xfrm>
          <a:prstGeom prst="rect">
            <a:avLst/>
          </a:prstGeom>
        </p:spPr>
        <p:txBody>
          <a:bodyPr/>
          <a:lstStyle/>
          <a:p>
            <a:fld id="{68151E55-6873-49E2-B8D5-2F265E6F1973}" type="slidenum">
              <a:rPr lang="en-US" smtClean="0"/>
              <a:t>‹#›</a:t>
            </a:fld>
            <a:endParaRPr lang="en-US"/>
          </a:p>
        </p:txBody>
      </p:sp>
      <p:pic>
        <p:nvPicPr>
          <p:cNvPr id="10" name="Picture 9">
            <a:extLst>
              <a:ext uri="{FF2B5EF4-FFF2-40B4-BE49-F238E27FC236}">
                <a16:creationId xmlns:a16="http://schemas.microsoft.com/office/drawing/2014/main" id="{23A00108-6ED3-416D-B7AC-3A9D6F2EF0AF}"/>
              </a:ext>
            </a:extLst>
          </p:cNvPr>
          <p:cNvPicPr>
            <a:picLocks noChangeAspect="1"/>
          </p:cNvPicPr>
          <p:nvPr userDrawn="1"/>
        </p:nvPicPr>
        <p:blipFill>
          <a:blip r:embed="rId2"/>
          <a:stretch>
            <a:fillRect/>
          </a:stretch>
        </p:blipFill>
        <p:spPr>
          <a:xfrm>
            <a:off x="4448193" y="489743"/>
            <a:ext cx="4352906" cy="239714"/>
          </a:xfrm>
          <a:prstGeom prst="rect">
            <a:avLst/>
          </a:prstGeom>
        </p:spPr>
      </p:pic>
    </p:spTree>
    <p:extLst>
      <p:ext uri="{BB962C8B-B14F-4D97-AF65-F5344CB8AC3E}">
        <p14:creationId xmlns:p14="http://schemas.microsoft.com/office/powerpoint/2010/main" val="43045211"/>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3_One Main Placehol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2632364" y="304800"/>
            <a:ext cx="6168736" cy="678611"/>
          </a:xfrm>
          <a:prstGeom prst="rect">
            <a:avLst/>
          </a:prstGeom>
        </p:spPr>
        <p:txBody>
          <a:bodyPr anchor="ctr"/>
          <a:lstStyle>
            <a:lvl1pPr>
              <a:defRPr sz="24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4971691"/>
          </a:xfrm>
          <a:prstGeom prst="rect">
            <a:avLst/>
          </a:prstGeom>
        </p:spPr>
        <p:txBody>
          <a:bodyPr/>
          <a:lstStyle>
            <a:lvl1pPr>
              <a:defRPr/>
            </a:lvl1pPr>
            <a:lvl2pPr marL="292608" indent="-292608">
              <a:spcBef>
                <a:spcPts val="1000"/>
              </a:spcBef>
              <a:spcAft>
                <a:spcPts val="0"/>
              </a:spcAft>
              <a:defRPr/>
            </a:lvl2pPr>
          </a:lstStyle>
          <a:p>
            <a:pPr lvl="0"/>
            <a:r>
              <a:rPr lang="en-US" dirty="0"/>
              <a:t>Slide Content</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347" y="6324600"/>
            <a:ext cx="2405307"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099" y="6684963"/>
            <a:ext cx="6972301"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61396"/>
          </a:xfrm>
          <a:prstGeom prst="rect">
            <a:avLst/>
          </a:prstGeom>
        </p:spPr>
        <p:txBody>
          <a:bodyPr/>
          <a:lstStyle/>
          <a:p>
            <a:fld id="{68151E55-6873-49E2-B8D5-2F265E6F1973}" type="slidenum">
              <a:rPr lang="en-US" smtClean="0"/>
              <a:t>‹#›</a:t>
            </a:fld>
            <a:endParaRPr lang="en-US"/>
          </a:p>
        </p:txBody>
      </p:sp>
      <p:pic>
        <p:nvPicPr>
          <p:cNvPr id="10" name="Picture 9" descr="Adapting to Change logo.">
            <a:extLst>
              <a:ext uri="{FF2B5EF4-FFF2-40B4-BE49-F238E27FC236}">
                <a16:creationId xmlns:a16="http://schemas.microsoft.com/office/drawing/2014/main" id="{A0A183BC-7319-45B8-B0D2-D92CDB14409F}"/>
              </a:ext>
            </a:extLst>
          </p:cNvPr>
          <p:cNvPicPr>
            <a:picLocks noChangeAspect="1"/>
          </p:cNvPicPr>
          <p:nvPr userDrawn="1"/>
        </p:nvPicPr>
        <p:blipFill>
          <a:blip r:embed="rId2"/>
          <a:stretch>
            <a:fillRect/>
          </a:stretch>
        </p:blipFill>
        <p:spPr>
          <a:xfrm>
            <a:off x="55420" y="207110"/>
            <a:ext cx="2472744" cy="824248"/>
          </a:xfrm>
          <a:prstGeom prst="rect">
            <a:avLst/>
          </a:prstGeom>
        </p:spPr>
      </p:pic>
    </p:spTree>
    <p:extLst>
      <p:ext uri="{BB962C8B-B14F-4D97-AF65-F5344CB8AC3E}">
        <p14:creationId xmlns:p14="http://schemas.microsoft.com/office/powerpoint/2010/main" val="624793107"/>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5_One Main Placehol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2632364" y="304800"/>
            <a:ext cx="6168736" cy="678611"/>
          </a:xfrm>
          <a:prstGeom prst="rect">
            <a:avLst/>
          </a:prstGeom>
        </p:spPr>
        <p:txBody>
          <a:bodyPr anchor="ctr"/>
          <a:lstStyle>
            <a:lvl1pPr>
              <a:defRPr sz="24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2886217"/>
          </a:xfrm>
          <a:prstGeom prst="rect">
            <a:avLst/>
          </a:prstGeom>
        </p:spPr>
        <p:txBody>
          <a:bodyPr/>
          <a:lstStyle>
            <a:lvl1pPr>
              <a:defRPr/>
            </a:lvl1pPr>
            <a:lvl2pPr marL="292608" indent="-292608">
              <a:spcBef>
                <a:spcPts val="1000"/>
              </a:spcBef>
              <a:spcAft>
                <a:spcPts val="0"/>
              </a:spcAft>
              <a:defRPr/>
            </a:lvl2pPr>
          </a:lstStyle>
          <a:p>
            <a:pPr lvl="0"/>
            <a:r>
              <a:rPr lang="en-US" dirty="0"/>
              <a:t>Slide Content</a:t>
            </a:r>
          </a:p>
          <a:p>
            <a:pPr lvl="1"/>
            <a:r>
              <a:rPr lang="en-US" dirty="0"/>
              <a:t>Second level</a:t>
            </a:r>
          </a:p>
          <a:p>
            <a:pPr lvl="2"/>
            <a:r>
              <a:rPr lang="en-US" dirty="0"/>
              <a:t>Third level</a:t>
            </a:r>
          </a:p>
        </p:txBody>
      </p:sp>
      <p:sp>
        <p:nvSpPr>
          <p:cNvPr id="8" name="Content Placeholder 1">
            <a:extLst>
              <a:ext uri="{FF2B5EF4-FFF2-40B4-BE49-F238E27FC236}">
                <a16:creationId xmlns:a16="http://schemas.microsoft.com/office/drawing/2014/main" id="{DFC2A6F8-97FC-43BF-92B6-FFCCF20D98D7}"/>
              </a:ext>
            </a:extLst>
          </p:cNvPr>
          <p:cNvSpPr>
            <a:spLocks noGrp="1"/>
          </p:cNvSpPr>
          <p:nvPr>
            <p:ph sz="quarter" idx="14" hasCustomPrompt="1"/>
          </p:nvPr>
        </p:nvSpPr>
        <p:spPr>
          <a:xfrm>
            <a:off x="342900" y="4275652"/>
            <a:ext cx="8458200" cy="1971327"/>
          </a:xfrm>
          <a:prstGeom prst="rect">
            <a:avLst/>
          </a:prstGeom>
        </p:spPr>
        <p:txBody>
          <a:bodyPr/>
          <a:lstStyle>
            <a:lvl1pPr>
              <a:defRPr/>
            </a:lvl1pPr>
            <a:lvl2pPr marL="292608" indent="-292608">
              <a:spcBef>
                <a:spcPts val="1000"/>
              </a:spcBef>
              <a:spcAft>
                <a:spcPts val="0"/>
              </a:spcAft>
              <a:defRPr/>
            </a:lvl2pPr>
          </a:lstStyle>
          <a:p>
            <a:pPr lvl="0"/>
            <a:r>
              <a:rPr lang="en-US" dirty="0"/>
              <a:t>Slide Content</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347" y="6324600"/>
            <a:ext cx="2405307"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099" y="6684963"/>
            <a:ext cx="6972301"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61396"/>
          </a:xfrm>
          <a:prstGeom prst="rect">
            <a:avLst/>
          </a:prstGeom>
        </p:spPr>
        <p:txBody>
          <a:bodyPr/>
          <a:lstStyle/>
          <a:p>
            <a:fld id="{68151E55-6873-49E2-B8D5-2F265E6F1973}" type="slidenum">
              <a:rPr lang="en-US" smtClean="0"/>
              <a:t>‹#›</a:t>
            </a:fld>
            <a:endParaRPr lang="en-US"/>
          </a:p>
        </p:txBody>
      </p:sp>
      <p:pic>
        <p:nvPicPr>
          <p:cNvPr id="10" name="Picture 9" descr="Adapting to Change logo.">
            <a:extLst>
              <a:ext uri="{FF2B5EF4-FFF2-40B4-BE49-F238E27FC236}">
                <a16:creationId xmlns:a16="http://schemas.microsoft.com/office/drawing/2014/main" id="{A0A183BC-7319-45B8-B0D2-D92CDB14409F}"/>
              </a:ext>
            </a:extLst>
          </p:cNvPr>
          <p:cNvPicPr>
            <a:picLocks noChangeAspect="1"/>
          </p:cNvPicPr>
          <p:nvPr userDrawn="1"/>
        </p:nvPicPr>
        <p:blipFill>
          <a:blip r:embed="rId2"/>
          <a:stretch>
            <a:fillRect/>
          </a:stretch>
        </p:blipFill>
        <p:spPr>
          <a:xfrm>
            <a:off x="55420" y="207110"/>
            <a:ext cx="2472744" cy="824248"/>
          </a:xfrm>
          <a:prstGeom prst="rect">
            <a:avLst/>
          </a:prstGeom>
        </p:spPr>
      </p:pic>
    </p:spTree>
    <p:extLst>
      <p:ext uri="{BB962C8B-B14F-4D97-AF65-F5344CB8AC3E}">
        <p14:creationId xmlns:p14="http://schemas.microsoft.com/office/powerpoint/2010/main" val="765222957"/>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6_One Main Placehol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2632364" y="304800"/>
            <a:ext cx="6168736" cy="678611"/>
          </a:xfrm>
          <a:prstGeom prst="rect">
            <a:avLst/>
          </a:prstGeom>
        </p:spPr>
        <p:txBody>
          <a:bodyPr anchor="ctr"/>
          <a:lstStyle>
            <a:lvl1pPr>
              <a:defRPr sz="24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4971691"/>
          </a:xfrm>
          <a:prstGeom prst="rect">
            <a:avLst/>
          </a:prstGeom>
        </p:spPr>
        <p:txBody>
          <a:bodyPr/>
          <a:lstStyle>
            <a:lvl1pPr>
              <a:defRPr/>
            </a:lvl1pPr>
            <a:lvl2pPr marL="292608" indent="-292608">
              <a:spcBef>
                <a:spcPts val="1000"/>
              </a:spcBef>
              <a:spcAft>
                <a:spcPts val="0"/>
              </a:spcAft>
              <a:defRPr/>
            </a:lvl2pPr>
          </a:lstStyle>
          <a:p>
            <a:pPr lvl="0"/>
            <a:r>
              <a:rPr lang="en-US" dirty="0"/>
              <a:t>Slide Content</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347" y="6324600"/>
            <a:ext cx="2405307"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099" y="6684963"/>
            <a:ext cx="6972301"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61396"/>
          </a:xfrm>
          <a:prstGeom prst="rect">
            <a:avLst/>
          </a:prstGeom>
        </p:spPr>
        <p:txBody>
          <a:bodyPr/>
          <a:lstStyle/>
          <a:p>
            <a:fld id="{68151E55-6873-49E2-B8D5-2F265E6F1973}" type="slidenum">
              <a:rPr lang="en-US" smtClean="0"/>
              <a:t>‹#›</a:t>
            </a:fld>
            <a:endParaRPr lang="en-US"/>
          </a:p>
        </p:txBody>
      </p:sp>
      <p:pic>
        <p:nvPicPr>
          <p:cNvPr id="12" name="Picture 11" descr="Reaching beyond our borders icon.">
            <a:extLst>
              <a:ext uri="{FF2B5EF4-FFF2-40B4-BE49-F238E27FC236}">
                <a16:creationId xmlns:a16="http://schemas.microsoft.com/office/drawing/2014/main" id="{6B5ACA4D-D63F-4493-A4F0-FFA2A5827540}"/>
              </a:ext>
            </a:extLst>
          </p:cNvPr>
          <p:cNvPicPr>
            <a:picLocks noChangeAspect="1"/>
          </p:cNvPicPr>
          <p:nvPr userDrawn="1"/>
        </p:nvPicPr>
        <p:blipFill>
          <a:blip r:embed="rId2"/>
          <a:stretch>
            <a:fillRect/>
          </a:stretch>
        </p:blipFill>
        <p:spPr>
          <a:xfrm>
            <a:off x="28124" y="217261"/>
            <a:ext cx="2514600" cy="803946"/>
          </a:xfrm>
          <a:prstGeom prst="rect">
            <a:avLst/>
          </a:prstGeom>
        </p:spPr>
      </p:pic>
    </p:spTree>
    <p:extLst>
      <p:ext uri="{BB962C8B-B14F-4D97-AF65-F5344CB8AC3E}">
        <p14:creationId xmlns:p14="http://schemas.microsoft.com/office/powerpoint/2010/main" val="2367333426"/>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wo Horizontal Mai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192490"/>
            <a:ext cx="8458200" cy="903231"/>
          </a:xfrm>
          <a:prstGeom prst="rect">
            <a:avLst/>
          </a:prstGeom>
        </p:spPr>
        <p:txBody>
          <a:bodyPr anchor="ctr">
            <a:normAutofit/>
          </a:bodyPr>
          <a:lstStyle>
            <a:lvl1pPr>
              <a:defRPr sz="4000"/>
            </a:lvl1pPr>
          </a:lstStyle>
          <a:p>
            <a:r>
              <a:rPr lang="en-US" dirty="0"/>
              <a:t>Slide Title</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2838091"/>
          </a:xfrm>
          <a:prstGeom prst="rect">
            <a:avLst/>
          </a:prstGeom>
        </p:spPr>
        <p:txBody>
          <a:bodyPr/>
          <a:lstStyle>
            <a:lvl1pPr>
              <a:defRPr sz="2400"/>
            </a:lvl1pPr>
            <a:lvl2pPr marL="292608" indent="-292608">
              <a:spcBef>
                <a:spcPts val="1000"/>
              </a:spcBef>
              <a:spcAft>
                <a:spcPts val="0"/>
              </a:spcAft>
              <a:defRPr/>
            </a:lvl2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342900" y="4343400"/>
            <a:ext cx="8458200" cy="1905000"/>
          </a:xfrm>
        </p:spPr>
        <p:txBody>
          <a:bodyPr/>
          <a:lstStyle>
            <a:lvl1pPr>
              <a:defRPr sz="2400"/>
            </a:lvl1pPr>
            <a:lvl2pPr marL="292608" indent="-292608">
              <a:spcBef>
                <a:spcPts val="1000"/>
              </a:spcBef>
              <a:spcAft>
                <a:spcPts val="0"/>
              </a:spcAft>
              <a:defRPr/>
            </a:lvl2pPr>
            <a:lvl4pPr marL="455613" indent="0">
              <a:buNone/>
              <a:defRPr/>
            </a:lvl4pPr>
          </a:lstStyle>
          <a:p>
            <a:pPr lvl="0"/>
            <a:r>
              <a:rPr lang="en-US" dirty="0"/>
              <a:t>Slide Content 2</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100" y="6684963"/>
            <a:ext cx="6972300" cy="173037"/>
          </a:xfrm>
        </p:spPr>
        <p:txBody>
          <a:bodyPr vert="horz" lIns="91440" tIns="45720" rIns="91440" bIns="45720" rtlCol="0" anchor="ctr">
            <a:noAutofit/>
          </a:bodyPr>
          <a:lstStyle>
            <a:lvl1pPr>
              <a:defRPr lang="en-US" sz="800" dirty="0">
                <a:solidFill>
                  <a:schemeClr val="tx1">
                    <a:lumMod val="65000"/>
                    <a:lumOff val="35000"/>
                  </a:schemeClr>
                </a:solidFill>
              </a:defRPr>
            </a:lvl1pPr>
          </a:lstStyle>
          <a:p>
            <a:pPr lvl="0" algn="r"/>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1" y="6646460"/>
            <a:ext cx="462997" cy="188467"/>
          </a:xfrm>
          <a:prstGeom prst="rect">
            <a:avLst/>
          </a:prstGeom>
        </p:spPr>
        <p:txBody>
          <a:bodyPr/>
          <a:lstStyle/>
          <a:p>
            <a:fld id="{68151E55-6873-49E2-B8D5-2F265E6F1973}" type="slidenum">
              <a:rPr lang="en-US" smtClean="0"/>
              <a:pPr/>
              <a:t>‹#›</a:t>
            </a:fld>
            <a:endParaRPr lang="en-US" dirty="0"/>
          </a:p>
        </p:txBody>
      </p:sp>
    </p:spTree>
    <p:extLst>
      <p:ext uri="{BB962C8B-B14F-4D97-AF65-F5344CB8AC3E}">
        <p14:creationId xmlns:p14="http://schemas.microsoft.com/office/powerpoint/2010/main" val="3422933013"/>
      </p:ext>
    </p:extLst>
  </p:cSld>
  <p:clrMapOvr>
    <a:masterClrMapping/>
  </p:clrMapOvr>
  <p:extLst>
    <p:ext uri="{DCECCB84-F9BA-43D5-87BE-67443E8EF086}">
      <p15:sldGuideLst xmlns:p15="http://schemas.microsoft.com/office/powerpoint/2012/main">
        <p15:guide id="1" orient="horz" pos="2592" userDrawn="1">
          <p15:clr>
            <a:srgbClr val="FBAE40"/>
          </p15:clr>
        </p15:guide>
        <p15:guide id="2" orient="horz" pos="2736"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_Two Horizontal Mai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192490"/>
            <a:ext cx="8458200" cy="903231"/>
          </a:xfrm>
          <a:prstGeom prst="rect">
            <a:avLst/>
          </a:prstGeom>
        </p:spPr>
        <p:txBody>
          <a:bodyPr anchor="ctr">
            <a:normAutofit/>
          </a:bodyPr>
          <a:lstStyle>
            <a:lvl1pPr>
              <a:defRPr sz="4000"/>
            </a:lvl1pPr>
          </a:lstStyle>
          <a:p>
            <a:r>
              <a:rPr lang="en-US" dirty="0"/>
              <a:t>Slide Title</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2885209" cy="4971691"/>
          </a:xfrm>
          <a:prstGeom prst="rect">
            <a:avLst/>
          </a:prstGeom>
        </p:spPr>
        <p:txBody>
          <a:bodyPr/>
          <a:lstStyle>
            <a:lvl1pPr>
              <a:defRPr/>
            </a:lvl1pPr>
            <a:lvl2pPr marL="292608" indent="-292608">
              <a:spcBef>
                <a:spcPts val="1000"/>
              </a:spcBef>
              <a:spcAft>
                <a:spcPts val="0"/>
              </a:spcAft>
              <a:defRPr/>
            </a:lvl2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5915890" y="1276709"/>
            <a:ext cx="2885209" cy="4971691"/>
          </a:xfrm>
        </p:spPr>
        <p:txBody>
          <a:bodyPr/>
          <a:lstStyle>
            <a:lvl1pPr>
              <a:defRPr/>
            </a:lvl1pPr>
            <a:lvl2pPr marL="292608" indent="-292608">
              <a:spcBef>
                <a:spcPts val="1000"/>
              </a:spcBef>
              <a:spcAft>
                <a:spcPts val="0"/>
              </a:spcAft>
              <a:defRPr/>
            </a:lvl2pPr>
            <a:lvl4pPr marL="455613" indent="0">
              <a:buNone/>
              <a:defRPr/>
            </a:lvl4pPr>
          </a:lstStyle>
          <a:p>
            <a:pPr lvl="0"/>
            <a:r>
              <a:rPr lang="en-US" dirty="0"/>
              <a:t>Slide Content 2</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100" y="6684963"/>
            <a:ext cx="6972300" cy="173037"/>
          </a:xfrm>
        </p:spPr>
        <p:txBody>
          <a:bodyPr vert="horz" lIns="91440" tIns="45720" rIns="91440" bIns="45720" rtlCol="0" anchor="ctr">
            <a:noAutofit/>
          </a:bodyPr>
          <a:lstStyle>
            <a:lvl1pPr>
              <a:defRPr lang="en-US" sz="800" dirty="0">
                <a:solidFill>
                  <a:schemeClr val="tx1">
                    <a:lumMod val="65000"/>
                    <a:lumOff val="35000"/>
                  </a:schemeClr>
                </a:solidFill>
              </a:defRPr>
            </a:lvl1pPr>
          </a:lstStyle>
          <a:p>
            <a:pPr lvl="0" algn="r"/>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61396"/>
          </a:xfrm>
          <a:prstGeom prst="rect">
            <a:avLst/>
          </a:prstGeom>
        </p:spPr>
        <p:txBody>
          <a:bodyPr/>
          <a:lstStyle/>
          <a:p>
            <a:fld id="{68151E55-6873-49E2-B8D5-2F265E6F1973}" type="slidenum">
              <a:rPr lang="en-US" smtClean="0"/>
              <a:t>‹#›</a:t>
            </a:fld>
            <a:endParaRPr lang="en-US"/>
          </a:p>
        </p:txBody>
      </p:sp>
      <p:sp>
        <p:nvSpPr>
          <p:cNvPr id="8" name="Content Placeholder 1">
            <a:extLst>
              <a:ext uri="{FF2B5EF4-FFF2-40B4-BE49-F238E27FC236}">
                <a16:creationId xmlns:a16="http://schemas.microsoft.com/office/drawing/2014/main" id="{AFC6CBC7-BAAC-424A-9874-C0A2733A2711}"/>
              </a:ext>
            </a:extLst>
          </p:cNvPr>
          <p:cNvSpPr>
            <a:spLocks noGrp="1"/>
          </p:cNvSpPr>
          <p:nvPr>
            <p:ph sz="quarter" idx="15" hasCustomPrompt="1"/>
          </p:nvPr>
        </p:nvSpPr>
        <p:spPr>
          <a:xfrm>
            <a:off x="2961419" y="1290559"/>
            <a:ext cx="2885209" cy="4971691"/>
          </a:xfrm>
          <a:prstGeom prst="rect">
            <a:avLst/>
          </a:prstGeom>
        </p:spPr>
        <p:txBody>
          <a:bodyPr/>
          <a:lstStyle>
            <a:lvl1pPr>
              <a:defRPr/>
            </a:lvl1pPr>
            <a:lvl2pPr marL="292608" indent="-292608">
              <a:spcBef>
                <a:spcPts val="1000"/>
              </a:spcBef>
              <a:spcAft>
                <a:spcPts val="0"/>
              </a:spcAft>
              <a:defRPr/>
            </a:lvl2pPr>
          </a:lstStyle>
          <a:p>
            <a:pPr lvl="0"/>
            <a:r>
              <a:rPr lang="en-US" dirty="0"/>
              <a:t>Slide Content</a:t>
            </a:r>
          </a:p>
          <a:p>
            <a:pPr lvl="1"/>
            <a:r>
              <a:rPr lang="en-US" dirty="0"/>
              <a:t>Second level</a:t>
            </a:r>
          </a:p>
          <a:p>
            <a:pPr lvl="2"/>
            <a:r>
              <a:rPr lang="en-US" dirty="0"/>
              <a:t>Third level</a:t>
            </a:r>
          </a:p>
        </p:txBody>
      </p:sp>
    </p:spTree>
    <p:extLst>
      <p:ext uri="{BB962C8B-B14F-4D97-AF65-F5344CB8AC3E}">
        <p14:creationId xmlns:p14="http://schemas.microsoft.com/office/powerpoint/2010/main" val="374121542"/>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Two Horizontal Mai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192490"/>
            <a:ext cx="8458200" cy="903231"/>
          </a:xfrm>
          <a:prstGeom prst="rect">
            <a:avLst/>
          </a:prstGeom>
        </p:spPr>
        <p:txBody>
          <a:bodyPr anchor="ctr">
            <a:normAutofit/>
          </a:bodyPr>
          <a:lstStyle>
            <a:lvl1pPr>
              <a:defRPr sz="4000"/>
            </a:lvl1pPr>
          </a:lstStyle>
          <a:p>
            <a:r>
              <a:rPr lang="en-US" dirty="0"/>
              <a:t>Slide Title</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1577327"/>
          </a:xfrm>
          <a:prstGeom prst="rect">
            <a:avLst/>
          </a:prstGeom>
        </p:spPr>
        <p:txBody>
          <a:bodyPr/>
          <a:lstStyle>
            <a:lvl1pPr>
              <a:defRPr/>
            </a:lvl1pPr>
            <a:lvl2pPr marL="292608" indent="-292608">
              <a:spcBef>
                <a:spcPts val="1000"/>
              </a:spcBef>
              <a:spcAft>
                <a:spcPts val="0"/>
              </a:spcAft>
              <a:defRPr/>
            </a:lvl2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342900" y="2916383"/>
            <a:ext cx="8458200" cy="1577327"/>
          </a:xfrm>
        </p:spPr>
        <p:txBody>
          <a:bodyPr/>
          <a:lstStyle>
            <a:lvl1pPr>
              <a:defRPr/>
            </a:lvl1pPr>
            <a:lvl2pPr marL="292608" indent="-292608">
              <a:spcBef>
                <a:spcPts val="1000"/>
              </a:spcBef>
              <a:spcAft>
                <a:spcPts val="0"/>
              </a:spcAft>
              <a:defRPr/>
            </a:lvl2pPr>
            <a:lvl4pPr marL="455613" indent="0">
              <a:buNone/>
              <a:defRPr/>
            </a:lvl4pPr>
          </a:lstStyle>
          <a:p>
            <a:pPr lvl="0"/>
            <a:r>
              <a:rPr lang="en-US" dirty="0"/>
              <a:t>Slide Content 2</a:t>
            </a:r>
          </a:p>
          <a:p>
            <a:pPr lvl="1"/>
            <a:r>
              <a:rPr lang="en-US" dirty="0"/>
              <a:t>Second level</a:t>
            </a:r>
          </a:p>
          <a:p>
            <a:pPr lvl="2"/>
            <a:r>
              <a:rPr lang="en-US" dirty="0"/>
              <a:t>Third level</a:t>
            </a:r>
          </a:p>
        </p:txBody>
      </p:sp>
      <p:sp>
        <p:nvSpPr>
          <p:cNvPr id="8" name="Content Placeholder 2">
            <a:extLst>
              <a:ext uri="{FF2B5EF4-FFF2-40B4-BE49-F238E27FC236}">
                <a16:creationId xmlns:a16="http://schemas.microsoft.com/office/drawing/2014/main" id="{7C02FDC4-9007-47FA-8867-BFB4513F337E}"/>
              </a:ext>
            </a:extLst>
          </p:cNvPr>
          <p:cNvSpPr>
            <a:spLocks noGrp="1"/>
          </p:cNvSpPr>
          <p:nvPr>
            <p:ph sz="quarter" idx="15" hasCustomPrompt="1"/>
          </p:nvPr>
        </p:nvSpPr>
        <p:spPr>
          <a:xfrm>
            <a:off x="356750" y="4648197"/>
            <a:ext cx="8458200" cy="1577327"/>
          </a:xfrm>
        </p:spPr>
        <p:txBody>
          <a:bodyPr/>
          <a:lstStyle>
            <a:lvl1pPr>
              <a:defRPr/>
            </a:lvl1pPr>
            <a:lvl2pPr marL="292608" indent="-292608">
              <a:spcBef>
                <a:spcPts val="1000"/>
              </a:spcBef>
              <a:spcAft>
                <a:spcPts val="0"/>
              </a:spcAft>
              <a:defRPr/>
            </a:lvl2pPr>
            <a:lvl4pPr marL="455613" indent="0">
              <a:buNone/>
              <a:defRPr/>
            </a:lvl4pPr>
          </a:lstStyle>
          <a:p>
            <a:pPr lvl="0"/>
            <a:r>
              <a:rPr lang="en-US" dirty="0"/>
              <a:t>Slide Content 2</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100" y="6684963"/>
            <a:ext cx="6972300" cy="173037"/>
          </a:xfrm>
        </p:spPr>
        <p:txBody>
          <a:bodyPr vert="horz" lIns="91440" tIns="45720" rIns="91440" bIns="45720" rtlCol="0" anchor="ctr">
            <a:noAutofit/>
          </a:bodyPr>
          <a:lstStyle>
            <a:lvl1pPr>
              <a:defRPr lang="en-US" sz="800" dirty="0">
                <a:solidFill>
                  <a:schemeClr val="tx1">
                    <a:lumMod val="65000"/>
                    <a:lumOff val="35000"/>
                  </a:schemeClr>
                </a:solidFill>
              </a:defRPr>
            </a:lvl1pPr>
          </a:lstStyle>
          <a:p>
            <a:pPr lvl="0" algn="r"/>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61396"/>
          </a:xfrm>
          <a:prstGeom prst="rect">
            <a:avLst/>
          </a:prstGeom>
        </p:spPr>
        <p:txBody>
          <a:bodyPr/>
          <a:lstStyle/>
          <a:p>
            <a:fld id="{68151E55-6873-49E2-B8D5-2F265E6F1973}" type="slidenum">
              <a:rPr lang="en-US" smtClean="0"/>
              <a:t>‹#›</a:t>
            </a:fld>
            <a:endParaRPr lang="en-US"/>
          </a:p>
        </p:txBody>
      </p:sp>
    </p:spTree>
    <p:extLst>
      <p:ext uri="{BB962C8B-B14F-4D97-AF65-F5344CB8AC3E}">
        <p14:creationId xmlns:p14="http://schemas.microsoft.com/office/powerpoint/2010/main" val="2620176990"/>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wo Compariso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192490"/>
            <a:ext cx="8458200" cy="903231"/>
          </a:xfrm>
          <a:prstGeom prst="rect">
            <a:avLst/>
          </a:prstGeom>
        </p:spPr>
        <p:txBody>
          <a:bodyPr anchor="ctr">
            <a:normAutofit/>
          </a:bodyPr>
          <a:lstStyle>
            <a:lvl1pPr>
              <a:defRPr sz="4000"/>
            </a:lvl1pPr>
          </a:lstStyle>
          <a:p>
            <a:r>
              <a:rPr lang="en-US" dirty="0"/>
              <a:t>Slide Title</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4076700" cy="4971691"/>
          </a:xfrm>
          <a:prstGeom prst="rect">
            <a:avLst/>
          </a:prstGeom>
        </p:spPr>
        <p:txBody>
          <a:bodyPr/>
          <a:lstStyle>
            <a:lvl1pPr>
              <a:defRPr/>
            </a:lvl1pPr>
            <a:lvl2pPr marL="292608" indent="-292608">
              <a:spcBef>
                <a:spcPts val="1000"/>
              </a:spcBef>
              <a:spcAft>
                <a:spcPts val="0"/>
              </a:spcAft>
              <a:defRPr/>
            </a:lvl2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4724400" y="1273051"/>
            <a:ext cx="4076700" cy="4991100"/>
          </a:xfrm>
        </p:spPr>
        <p:txBody>
          <a:bodyPr/>
          <a:lstStyle>
            <a:lvl1pPr>
              <a:defRPr/>
            </a:lvl1pPr>
            <a:lvl2pPr marL="292608" indent="-292608">
              <a:spcBef>
                <a:spcPts val="1000"/>
              </a:spcBef>
              <a:spcAft>
                <a:spcPts val="0"/>
              </a:spcAft>
              <a:defRPr/>
            </a:lvl2pPr>
          </a:lstStyle>
          <a:p>
            <a:pPr lvl="0"/>
            <a:r>
              <a:rPr lang="en-US" dirty="0"/>
              <a:t>Slide Content 2</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099" y="6684963"/>
            <a:ext cx="6972301"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61396"/>
          </a:xfrm>
          <a:prstGeom prst="rect">
            <a:avLst/>
          </a:prstGeom>
        </p:spPr>
        <p:txBody>
          <a:bodyPr/>
          <a:lstStyle/>
          <a:p>
            <a:fld id="{68151E55-6873-49E2-B8D5-2F265E6F1973}" type="slidenum">
              <a:rPr lang="en-US" smtClean="0"/>
              <a:t>‹#›</a:t>
            </a:fld>
            <a:endParaRPr lang="en-US"/>
          </a:p>
        </p:txBody>
      </p:sp>
    </p:spTree>
    <p:extLst>
      <p:ext uri="{BB962C8B-B14F-4D97-AF65-F5344CB8AC3E}">
        <p14:creationId xmlns:p14="http://schemas.microsoft.com/office/powerpoint/2010/main" val="478815702"/>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guide id="3" pos="2880">
          <p15:clr>
            <a:srgbClr val="FBAE40"/>
          </p15:clr>
        </p15:guide>
        <p15:guide id="4" pos="2976">
          <p15:clr>
            <a:srgbClr val="FBAE40"/>
          </p15:clr>
        </p15:guide>
        <p15:guide id="5" pos="2784">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_Two Compariso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2022764" y="192490"/>
            <a:ext cx="6778335" cy="903231"/>
          </a:xfrm>
          <a:prstGeom prst="rect">
            <a:avLst/>
          </a:prstGeom>
        </p:spPr>
        <p:txBody>
          <a:bodyPr anchor="ctr">
            <a:normAutofit/>
          </a:bodyPr>
          <a:lstStyle>
            <a:lvl1pPr>
              <a:defRPr sz="4000"/>
            </a:lvl1pPr>
          </a:lstStyle>
          <a:p>
            <a:r>
              <a:rPr lang="en-US" dirty="0"/>
              <a:t>Slide Title</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4971691"/>
          </a:xfrm>
          <a:prstGeom prst="rect">
            <a:avLst/>
          </a:prstGeom>
        </p:spPr>
        <p:txBody>
          <a:bodyPr/>
          <a:lstStyle>
            <a:lvl1pPr>
              <a:defRPr/>
            </a:lvl1pPr>
            <a:lvl2pPr marL="292608" indent="-292608">
              <a:spcBef>
                <a:spcPts val="1000"/>
              </a:spcBef>
              <a:spcAft>
                <a:spcPts val="0"/>
              </a:spcAft>
              <a:defRPr/>
            </a:lvl2pPr>
          </a:lstStyle>
          <a:p>
            <a:pPr lvl="0"/>
            <a:r>
              <a:rPr lang="en-US" dirty="0"/>
              <a:t>Slide Content</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099" y="6684963"/>
            <a:ext cx="6972301"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61396"/>
          </a:xfrm>
          <a:prstGeom prst="rect">
            <a:avLst/>
          </a:prstGeom>
        </p:spPr>
        <p:txBody>
          <a:bodyPr/>
          <a:lstStyle/>
          <a:p>
            <a:fld id="{68151E55-6873-49E2-B8D5-2F265E6F1973}" type="slidenum">
              <a:rPr lang="en-US" smtClean="0"/>
              <a:t>‹#›</a:t>
            </a:fld>
            <a:endParaRPr lang="en-US"/>
          </a:p>
        </p:txBody>
      </p:sp>
      <p:pic>
        <p:nvPicPr>
          <p:cNvPr id="4" name="Picture 3">
            <a:extLst>
              <a:ext uri="{FF2B5EF4-FFF2-40B4-BE49-F238E27FC236}">
                <a16:creationId xmlns:a16="http://schemas.microsoft.com/office/drawing/2014/main" id="{15A7E40D-2A6B-4B43-8474-A1C9EAF1D337}"/>
              </a:ext>
            </a:extLst>
          </p:cNvPr>
          <p:cNvPicPr>
            <a:picLocks noChangeAspect="1"/>
          </p:cNvPicPr>
          <p:nvPr userDrawn="1"/>
        </p:nvPicPr>
        <p:blipFill>
          <a:blip r:embed="rId2"/>
          <a:stretch>
            <a:fillRect/>
          </a:stretch>
        </p:blipFill>
        <p:spPr>
          <a:xfrm>
            <a:off x="342900" y="399540"/>
            <a:ext cx="1531522" cy="420120"/>
          </a:xfrm>
          <a:prstGeom prst="rect">
            <a:avLst/>
          </a:prstGeom>
        </p:spPr>
      </p:pic>
    </p:spTree>
    <p:extLst>
      <p:ext uri="{BB962C8B-B14F-4D97-AF65-F5344CB8AC3E}">
        <p14:creationId xmlns:p14="http://schemas.microsoft.com/office/powerpoint/2010/main" val="482981918"/>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guide id="3" pos="2880">
          <p15:clr>
            <a:srgbClr val="FBAE40"/>
          </p15:clr>
        </p15:guide>
        <p15:guide id="4" pos="2976">
          <p15:clr>
            <a:srgbClr val="FBAE40"/>
          </p15:clr>
        </p15:guide>
        <p15:guide id="5" pos="2784">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One Main One Secondary">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192490"/>
            <a:ext cx="8458200" cy="903231"/>
          </a:xfrm>
          <a:prstGeom prst="rect">
            <a:avLst/>
          </a:prstGeom>
        </p:spPr>
        <p:txBody>
          <a:bodyPr anchor="ctr"/>
          <a:lstStyle>
            <a:lvl1pPr>
              <a:defRPr sz="24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5791200" cy="4971691"/>
          </a:xfrm>
          <a:prstGeom prst="rect">
            <a:avLst/>
          </a:prstGeom>
        </p:spPr>
        <p:txBody>
          <a:bodyPr/>
          <a:lstStyle>
            <a:lvl1pPr>
              <a:defRPr/>
            </a:lvl1pPr>
            <a:lvl2pPr marL="292608" indent="-292608">
              <a:spcBef>
                <a:spcPts val="1000"/>
              </a:spcBef>
              <a:spcAft>
                <a:spcPts val="0"/>
              </a:spcAft>
              <a:defRPr/>
            </a:lvl2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6418052" y="1257300"/>
            <a:ext cx="2383047" cy="4991100"/>
          </a:xfrm>
        </p:spPr>
        <p:txBody>
          <a:bodyPr/>
          <a:lstStyle>
            <a:lvl1pPr>
              <a:defRPr/>
            </a:lvl1pPr>
            <a:lvl2pPr marL="292608" indent="-292608">
              <a:spcBef>
                <a:spcPts val="1000"/>
              </a:spcBef>
              <a:spcAft>
                <a:spcPts val="0"/>
              </a:spcAft>
              <a:defRPr/>
            </a:lvl2pPr>
          </a:lstStyle>
          <a:p>
            <a:pPr lvl="0"/>
            <a:r>
              <a:rPr lang="en-US" dirty="0"/>
              <a:t>Slide Content 2</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marL="0" marR="0" indent="0" algn="ctr" defTabSz="914400" rtl="0" eaLnBrk="1" fontAlgn="auto" latinLnBrk="0" hangingPunct="1">
              <a:lnSpc>
                <a:spcPct val="100000"/>
              </a:lnSpc>
              <a:spcBef>
                <a:spcPts val="0"/>
              </a:spcBef>
              <a:spcAft>
                <a:spcPts val="800"/>
              </a:spcAft>
              <a:buClrTx/>
              <a:buSzTx/>
              <a:buFont typeface="Arial" panose="020B0604020202020204" pitchFamily="34" charset="0"/>
              <a:buNone/>
              <a:tabLst/>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101" y="6684963"/>
            <a:ext cx="6972299"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61396"/>
          </a:xfrm>
          <a:prstGeom prst="rect">
            <a:avLst/>
          </a:prstGeom>
        </p:spPr>
        <p:txBody>
          <a:bodyPr/>
          <a:lstStyle/>
          <a:p>
            <a:fld id="{68151E55-6873-49E2-B8D5-2F265E6F1973}" type="slidenum">
              <a:rPr lang="en-US" smtClean="0"/>
              <a:t>‹#›</a:t>
            </a:fld>
            <a:endParaRPr lang="en-US"/>
          </a:p>
        </p:txBody>
      </p:sp>
    </p:spTree>
    <p:extLst>
      <p:ext uri="{BB962C8B-B14F-4D97-AF65-F5344CB8AC3E}">
        <p14:creationId xmlns:p14="http://schemas.microsoft.com/office/powerpoint/2010/main" val="1446962700"/>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guide id="4" pos="4032" userDrawn="1">
          <p15:clr>
            <a:srgbClr val="FBAE40"/>
          </p15:clr>
        </p15:guide>
        <p15:guide id="5" pos="3864" userDrawn="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hree with Third as Accent">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192490"/>
            <a:ext cx="8458200" cy="903231"/>
          </a:xfrm>
          <a:prstGeom prst="rect">
            <a:avLst/>
          </a:prstGeom>
        </p:spPr>
        <p:txBody>
          <a:bodyPr anchor="ctr"/>
          <a:lstStyle>
            <a:lvl1pPr>
              <a:defRPr sz="24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2838091"/>
          </a:xfrm>
          <a:prstGeom prst="rect">
            <a:avLst/>
          </a:prstGeom>
        </p:spPr>
        <p:txBody>
          <a:bodyPr/>
          <a:lstStyle>
            <a:lvl1pPr>
              <a:spcBef>
                <a:spcPts val="1000"/>
              </a:spcBef>
              <a:spcAft>
                <a:spcPts val="0"/>
              </a:spcAft>
              <a:defRPr/>
            </a:lvl1pPr>
            <a:lvl2pPr marL="292608" indent="-292608">
              <a:spcBef>
                <a:spcPts val="1000"/>
              </a:spcBef>
              <a:spcAft>
                <a:spcPts val="0"/>
              </a:spcAft>
              <a:defRPr/>
            </a:lvl2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342901" y="4343400"/>
            <a:ext cx="5791200" cy="1905000"/>
          </a:xfrm>
        </p:spPr>
        <p:txBody>
          <a:bodyPr/>
          <a:lstStyle>
            <a:lvl1pPr>
              <a:spcBef>
                <a:spcPts val="1000"/>
              </a:spcBef>
              <a:spcAft>
                <a:spcPts val="0"/>
              </a:spcAft>
              <a:defRPr/>
            </a:lvl1pPr>
            <a:lvl2pPr marL="292608" indent="-292608">
              <a:spcBef>
                <a:spcPts val="1000"/>
              </a:spcBef>
              <a:spcAft>
                <a:spcPts val="0"/>
              </a:spcAft>
              <a:defRPr/>
            </a:lvl2pPr>
          </a:lstStyle>
          <a:p>
            <a:pPr lvl="0"/>
            <a:r>
              <a:rPr lang="en-US" dirty="0"/>
              <a:t>Slide Content 2</a:t>
            </a:r>
          </a:p>
          <a:p>
            <a:pPr lvl="1"/>
            <a:r>
              <a:rPr lang="en-US" dirty="0"/>
              <a:t>Second level</a:t>
            </a:r>
          </a:p>
          <a:p>
            <a:pPr lvl="2"/>
            <a:r>
              <a:rPr lang="en-US" dirty="0"/>
              <a:t>Third level</a:t>
            </a:r>
          </a:p>
        </p:txBody>
      </p:sp>
      <p:sp>
        <p:nvSpPr>
          <p:cNvPr id="8" name="Content Placeholder 3">
            <a:extLst>
              <a:ext uri="{FF2B5EF4-FFF2-40B4-BE49-F238E27FC236}">
                <a16:creationId xmlns:a16="http://schemas.microsoft.com/office/drawing/2014/main" id="{22432755-BCF5-451F-968D-CFFD10D87BE2}"/>
              </a:ext>
            </a:extLst>
          </p:cNvPr>
          <p:cNvSpPr>
            <a:spLocks noGrp="1"/>
          </p:cNvSpPr>
          <p:nvPr>
            <p:ph sz="quarter" idx="15" hasCustomPrompt="1"/>
          </p:nvPr>
        </p:nvSpPr>
        <p:spPr>
          <a:xfrm>
            <a:off x="6400800" y="4343400"/>
            <a:ext cx="2400300" cy="1905000"/>
          </a:xfrm>
        </p:spPr>
        <p:txBody>
          <a:bodyPr/>
          <a:lstStyle>
            <a:lvl1pPr>
              <a:spcBef>
                <a:spcPts val="1000"/>
              </a:spcBef>
              <a:spcAft>
                <a:spcPts val="0"/>
              </a:spcAft>
              <a:defRPr/>
            </a:lvl1pPr>
            <a:lvl2pPr marL="292608" indent="-292608">
              <a:spcBef>
                <a:spcPts val="1000"/>
              </a:spcBef>
              <a:spcAft>
                <a:spcPts val="0"/>
              </a:spcAft>
              <a:defRPr/>
            </a:lvl2pPr>
          </a:lstStyle>
          <a:p>
            <a:pPr lvl="0"/>
            <a:r>
              <a:rPr lang="en-US" dirty="0"/>
              <a:t>Slide Content 3</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101" y="6684963"/>
            <a:ext cx="6972299"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61396"/>
          </a:xfrm>
          <a:prstGeom prst="rect">
            <a:avLst/>
          </a:prstGeom>
        </p:spPr>
        <p:txBody>
          <a:bodyPr/>
          <a:lstStyle/>
          <a:p>
            <a:fld id="{68151E55-6873-49E2-B8D5-2F265E6F1973}" type="slidenum">
              <a:rPr lang="en-US" smtClean="0"/>
              <a:t>‹#›</a:t>
            </a:fld>
            <a:endParaRPr lang="en-US"/>
          </a:p>
        </p:txBody>
      </p:sp>
    </p:spTree>
    <p:extLst>
      <p:ext uri="{BB962C8B-B14F-4D97-AF65-F5344CB8AC3E}">
        <p14:creationId xmlns:p14="http://schemas.microsoft.com/office/powerpoint/2010/main" val="4100005588"/>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guide id="4" pos="4032">
          <p15:clr>
            <a:srgbClr val="FBAE40"/>
          </p15:clr>
        </p15:guide>
        <p15:guide id="5" pos="3864">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ix Mai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192490"/>
            <a:ext cx="8458200" cy="903231"/>
          </a:xfrm>
          <a:prstGeom prst="rect">
            <a:avLst/>
          </a:prstGeom>
        </p:spPr>
        <p:txBody>
          <a:bodyPr anchor="ctr">
            <a:normAutofit/>
          </a:bodyPr>
          <a:lstStyle>
            <a:lvl1pPr>
              <a:defRPr sz="4000"/>
            </a:lvl1pPr>
          </a:lstStyle>
          <a:p>
            <a:r>
              <a:rPr lang="en-US" dirty="0"/>
              <a:t>Slide Title</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10"/>
            <a:ext cx="8458200" cy="612476"/>
          </a:xfrm>
          <a:prstGeom prst="rect">
            <a:avLst/>
          </a:prstGeom>
        </p:spPr>
        <p:txBody>
          <a:bodyPr/>
          <a:lstStyle>
            <a:lvl1pPr>
              <a:spcBef>
                <a:spcPts val="1000"/>
              </a:spcBef>
              <a:spcAft>
                <a:spcPts val="0"/>
              </a:spcAft>
              <a:defRPr/>
            </a:lvl1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342900" y="2070496"/>
            <a:ext cx="8458200" cy="649138"/>
          </a:xfrm>
        </p:spPr>
        <p:txBody>
          <a:bodyPr/>
          <a:lstStyle>
            <a:lvl1pPr>
              <a:spcBef>
                <a:spcPts val="1000"/>
              </a:spcBef>
              <a:spcAft>
                <a:spcPts val="0"/>
              </a:spcAft>
              <a:defRPr/>
            </a:lvl1pPr>
          </a:lstStyle>
          <a:p>
            <a:pPr lvl="0"/>
            <a:r>
              <a:rPr lang="en-US" dirty="0"/>
              <a:t>Slide Content 2</a:t>
            </a:r>
          </a:p>
          <a:p>
            <a:pPr lvl="1"/>
            <a:r>
              <a:rPr lang="en-US" dirty="0"/>
              <a:t>Second level</a:t>
            </a:r>
          </a:p>
          <a:p>
            <a:pPr lvl="2"/>
            <a:r>
              <a:rPr lang="en-US" dirty="0"/>
              <a:t>Third level</a:t>
            </a:r>
          </a:p>
        </p:txBody>
      </p:sp>
      <p:sp>
        <p:nvSpPr>
          <p:cNvPr id="8" name="Content Placeholder 3">
            <a:extLst>
              <a:ext uri="{FF2B5EF4-FFF2-40B4-BE49-F238E27FC236}">
                <a16:creationId xmlns:a16="http://schemas.microsoft.com/office/drawing/2014/main" id="{3356A590-66B5-4770-8441-82DC031F56EA}"/>
              </a:ext>
            </a:extLst>
          </p:cNvPr>
          <p:cNvSpPr>
            <a:spLocks noGrp="1"/>
          </p:cNvSpPr>
          <p:nvPr>
            <p:ph sz="quarter" idx="15" hasCustomPrompt="1"/>
          </p:nvPr>
        </p:nvSpPr>
        <p:spPr>
          <a:xfrm>
            <a:off x="342900" y="2900944"/>
            <a:ext cx="8458200" cy="673100"/>
          </a:xfrm>
        </p:spPr>
        <p:txBody>
          <a:bodyPr/>
          <a:lstStyle>
            <a:lvl1pPr>
              <a:spcBef>
                <a:spcPts val="1000"/>
              </a:spcBef>
              <a:spcAft>
                <a:spcPts val="0"/>
              </a:spcAft>
              <a:defRPr/>
            </a:lvl1pPr>
          </a:lstStyle>
          <a:p>
            <a:pPr lvl="0"/>
            <a:r>
              <a:rPr lang="en-US" dirty="0"/>
              <a:t>Slide Content 3</a:t>
            </a:r>
          </a:p>
          <a:p>
            <a:pPr lvl="1"/>
            <a:r>
              <a:rPr lang="en-US" dirty="0"/>
              <a:t>Second level</a:t>
            </a:r>
          </a:p>
          <a:p>
            <a:pPr lvl="2"/>
            <a:r>
              <a:rPr lang="en-US" dirty="0"/>
              <a:t>Third level</a:t>
            </a:r>
          </a:p>
        </p:txBody>
      </p:sp>
      <p:sp>
        <p:nvSpPr>
          <p:cNvPr id="11" name="Content Placeholder 4">
            <a:extLst>
              <a:ext uri="{FF2B5EF4-FFF2-40B4-BE49-F238E27FC236}">
                <a16:creationId xmlns:a16="http://schemas.microsoft.com/office/drawing/2014/main" id="{30BD29E5-BD7B-4CD0-9B09-8F8B24F89FBE}"/>
              </a:ext>
            </a:extLst>
          </p:cNvPr>
          <p:cNvSpPr>
            <a:spLocks noGrp="1"/>
          </p:cNvSpPr>
          <p:nvPr>
            <p:ph sz="quarter" idx="16" hasCustomPrompt="1"/>
          </p:nvPr>
        </p:nvSpPr>
        <p:spPr>
          <a:xfrm>
            <a:off x="342900" y="3755354"/>
            <a:ext cx="8458200" cy="698500"/>
          </a:xfrm>
        </p:spPr>
        <p:txBody>
          <a:bodyPr/>
          <a:lstStyle>
            <a:lvl1pPr>
              <a:spcBef>
                <a:spcPts val="1000"/>
              </a:spcBef>
              <a:spcAft>
                <a:spcPts val="0"/>
              </a:spcAft>
              <a:defRPr/>
            </a:lvl1pPr>
          </a:lstStyle>
          <a:p>
            <a:pPr lvl="0"/>
            <a:r>
              <a:rPr lang="en-US" dirty="0"/>
              <a:t>Slide Content 4</a:t>
            </a:r>
          </a:p>
          <a:p>
            <a:pPr lvl="1"/>
            <a:r>
              <a:rPr lang="en-US" dirty="0"/>
              <a:t>Second level</a:t>
            </a:r>
          </a:p>
          <a:p>
            <a:pPr lvl="2"/>
            <a:r>
              <a:rPr lang="en-US" dirty="0"/>
              <a:t>Third level</a:t>
            </a:r>
          </a:p>
        </p:txBody>
      </p:sp>
      <p:sp>
        <p:nvSpPr>
          <p:cNvPr id="13" name="Content Placeholder 5">
            <a:extLst>
              <a:ext uri="{FF2B5EF4-FFF2-40B4-BE49-F238E27FC236}">
                <a16:creationId xmlns:a16="http://schemas.microsoft.com/office/drawing/2014/main" id="{E908CA92-5DB2-4DC0-937B-1B178AA91781}"/>
              </a:ext>
            </a:extLst>
          </p:cNvPr>
          <p:cNvSpPr>
            <a:spLocks noGrp="1"/>
          </p:cNvSpPr>
          <p:nvPr>
            <p:ph sz="quarter" idx="17" hasCustomPrompt="1"/>
          </p:nvPr>
        </p:nvSpPr>
        <p:spPr>
          <a:xfrm>
            <a:off x="342900" y="4635164"/>
            <a:ext cx="8458200" cy="698500"/>
          </a:xfrm>
        </p:spPr>
        <p:txBody>
          <a:bodyPr/>
          <a:lstStyle>
            <a:lvl1pPr>
              <a:spcBef>
                <a:spcPts val="1000"/>
              </a:spcBef>
              <a:spcAft>
                <a:spcPts val="0"/>
              </a:spcAft>
              <a:defRPr/>
            </a:lvl1pPr>
          </a:lstStyle>
          <a:p>
            <a:pPr lvl="0"/>
            <a:r>
              <a:rPr lang="en-US" dirty="0"/>
              <a:t>Slide Content 5</a:t>
            </a:r>
          </a:p>
          <a:p>
            <a:pPr lvl="1"/>
            <a:r>
              <a:rPr lang="en-US" dirty="0"/>
              <a:t>Second level</a:t>
            </a:r>
          </a:p>
          <a:p>
            <a:pPr lvl="2"/>
            <a:r>
              <a:rPr lang="en-US" dirty="0"/>
              <a:t>Third level</a:t>
            </a:r>
          </a:p>
        </p:txBody>
      </p:sp>
      <p:sp>
        <p:nvSpPr>
          <p:cNvPr id="15" name="Content Placeholder 6">
            <a:extLst>
              <a:ext uri="{FF2B5EF4-FFF2-40B4-BE49-F238E27FC236}">
                <a16:creationId xmlns:a16="http://schemas.microsoft.com/office/drawing/2014/main" id="{8B728CCD-2639-461B-9841-57505AC13467}"/>
              </a:ext>
            </a:extLst>
          </p:cNvPr>
          <p:cNvSpPr>
            <a:spLocks noGrp="1"/>
          </p:cNvSpPr>
          <p:nvPr>
            <p:ph sz="quarter" idx="18" hasCustomPrompt="1"/>
          </p:nvPr>
        </p:nvSpPr>
        <p:spPr>
          <a:xfrm>
            <a:off x="342900" y="5514975"/>
            <a:ext cx="8458200" cy="733425"/>
          </a:xfrm>
        </p:spPr>
        <p:txBody>
          <a:bodyPr/>
          <a:lstStyle>
            <a:lvl1pPr>
              <a:spcBef>
                <a:spcPts val="1000"/>
              </a:spcBef>
              <a:spcAft>
                <a:spcPts val="0"/>
              </a:spcAft>
              <a:defRPr/>
            </a:lvl1pPr>
          </a:lstStyle>
          <a:p>
            <a:pPr lvl="0"/>
            <a:r>
              <a:rPr lang="en-US" dirty="0"/>
              <a:t>Slide Content 6</a:t>
            </a:r>
          </a:p>
          <a:p>
            <a:pPr lvl="1"/>
            <a:r>
              <a:rPr lang="en-US" dirty="0"/>
              <a:t>Second level</a:t>
            </a:r>
          </a:p>
          <a:p>
            <a:pPr lvl="2"/>
            <a:r>
              <a:rPr lang="en-US" dirty="0"/>
              <a:t>Third level</a:t>
            </a:r>
          </a:p>
        </p:txBody>
      </p:sp>
      <p:sp>
        <p:nvSpPr>
          <p:cNvPr id="12" name="Appendix Link">
            <a:extLst>
              <a:ext uri="{FF2B5EF4-FFF2-40B4-BE49-F238E27FC236}">
                <a16:creationId xmlns:a16="http://schemas.microsoft.com/office/drawing/2014/main" id="{E2028F98-0E10-413D-9110-D0B0D682EC9D}"/>
              </a:ext>
            </a:extLst>
          </p:cNvPr>
          <p:cNvSpPr>
            <a:spLocks noGrp="1"/>
          </p:cNvSpPr>
          <p:nvPr>
            <p:ph type="body" sz="quarter" idx="12" hasCustomPrompt="1"/>
          </p:nvPr>
        </p:nvSpPr>
        <p:spPr>
          <a:xfrm>
            <a:off x="3369564" y="6324600"/>
            <a:ext cx="2404872"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101" y="6684963"/>
            <a:ext cx="6972299"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46459"/>
            <a:ext cx="490292" cy="188467"/>
          </a:xfrm>
          <a:prstGeom prst="rect">
            <a:avLst/>
          </a:prstGeom>
        </p:spPr>
        <p:txBody>
          <a:bodyPr/>
          <a:lstStyle/>
          <a:p>
            <a:fld id="{68151E55-6873-49E2-B8D5-2F265E6F1973}" type="slidenum">
              <a:rPr lang="en-US" smtClean="0"/>
              <a:t>‹#›</a:t>
            </a:fld>
            <a:endParaRPr lang="en-US" dirty="0"/>
          </a:p>
        </p:txBody>
      </p:sp>
    </p:spTree>
    <p:extLst>
      <p:ext uri="{BB962C8B-B14F-4D97-AF65-F5344CB8AC3E}">
        <p14:creationId xmlns:p14="http://schemas.microsoft.com/office/powerpoint/2010/main" val="407061431"/>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Six Mai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192490"/>
            <a:ext cx="8458200" cy="903231"/>
          </a:xfrm>
          <a:prstGeom prst="rect">
            <a:avLst/>
          </a:prstGeom>
        </p:spPr>
        <p:txBody>
          <a:bodyPr anchor="ctr">
            <a:normAutofit/>
          </a:bodyPr>
          <a:lstStyle>
            <a:lvl1pPr>
              <a:defRPr sz="4000"/>
            </a:lvl1pPr>
          </a:lstStyle>
          <a:p>
            <a:r>
              <a:rPr lang="en-US" dirty="0"/>
              <a:t>Slide Title</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10"/>
            <a:ext cx="3915201" cy="612476"/>
          </a:xfrm>
          <a:prstGeom prst="rect">
            <a:avLst/>
          </a:prstGeom>
        </p:spPr>
        <p:txBody>
          <a:bodyPr/>
          <a:lstStyle>
            <a:lvl1pPr>
              <a:spcBef>
                <a:spcPts val="1000"/>
              </a:spcBef>
              <a:spcAft>
                <a:spcPts val="0"/>
              </a:spcAft>
              <a:defRPr/>
            </a:lvl1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342900" y="2070496"/>
            <a:ext cx="3915201" cy="649138"/>
          </a:xfrm>
        </p:spPr>
        <p:txBody>
          <a:bodyPr/>
          <a:lstStyle>
            <a:lvl1pPr>
              <a:spcBef>
                <a:spcPts val="1000"/>
              </a:spcBef>
              <a:spcAft>
                <a:spcPts val="0"/>
              </a:spcAft>
              <a:defRPr/>
            </a:lvl1pPr>
          </a:lstStyle>
          <a:p>
            <a:pPr lvl="0"/>
            <a:r>
              <a:rPr lang="en-US" dirty="0"/>
              <a:t>Slide Content 2</a:t>
            </a:r>
          </a:p>
          <a:p>
            <a:pPr lvl="1"/>
            <a:r>
              <a:rPr lang="en-US" dirty="0"/>
              <a:t>Second level</a:t>
            </a:r>
          </a:p>
          <a:p>
            <a:pPr lvl="2"/>
            <a:r>
              <a:rPr lang="en-US" dirty="0"/>
              <a:t>Third level</a:t>
            </a:r>
          </a:p>
        </p:txBody>
      </p:sp>
      <p:sp>
        <p:nvSpPr>
          <p:cNvPr id="8" name="Content Placeholder 3">
            <a:extLst>
              <a:ext uri="{FF2B5EF4-FFF2-40B4-BE49-F238E27FC236}">
                <a16:creationId xmlns:a16="http://schemas.microsoft.com/office/drawing/2014/main" id="{3356A590-66B5-4770-8441-82DC031F56EA}"/>
              </a:ext>
            </a:extLst>
          </p:cNvPr>
          <p:cNvSpPr>
            <a:spLocks noGrp="1"/>
          </p:cNvSpPr>
          <p:nvPr>
            <p:ph sz="quarter" idx="15" hasCustomPrompt="1"/>
          </p:nvPr>
        </p:nvSpPr>
        <p:spPr>
          <a:xfrm>
            <a:off x="342900" y="2900944"/>
            <a:ext cx="3915201" cy="673100"/>
          </a:xfrm>
        </p:spPr>
        <p:txBody>
          <a:bodyPr/>
          <a:lstStyle>
            <a:lvl1pPr>
              <a:spcBef>
                <a:spcPts val="1000"/>
              </a:spcBef>
              <a:spcAft>
                <a:spcPts val="0"/>
              </a:spcAft>
              <a:defRPr/>
            </a:lvl1pPr>
          </a:lstStyle>
          <a:p>
            <a:pPr lvl="0"/>
            <a:r>
              <a:rPr lang="en-US" dirty="0"/>
              <a:t>Slide Content 3</a:t>
            </a:r>
          </a:p>
          <a:p>
            <a:pPr lvl="1"/>
            <a:r>
              <a:rPr lang="en-US" dirty="0"/>
              <a:t>Second level</a:t>
            </a:r>
          </a:p>
          <a:p>
            <a:pPr lvl="2"/>
            <a:r>
              <a:rPr lang="en-US" dirty="0"/>
              <a:t>Third level</a:t>
            </a:r>
          </a:p>
        </p:txBody>
      </p:sp>
      <p:sp>
        <p:nvSpPr>
          <p:cNvPr id="11" name="Content Placeholder 4">
            <a:extLst>
              <a:ext uri="{FF2B5EF4-FFF2-40B4-BE49-F238E27FC236}">
                <a16:creationId xmlns:a16="http://schemas.microsoft.com/office/drawing/2014/main" id="{30BD29E5-BD7B-4CD0-9B09-8F8B24F89FBE}"/>
              </a:ext>
            </a:extLst>
          </p:cNvPr>
          <p:cNvSpPr>
            <a:spLocks noGrp="1"/>
          </p:cNvSpPr>
          <p:nvPr>
            <p:ph sz="quarter" idx="16" hasCustomPrompt="1"/>
          </p:nvPr>
        </p:nvSpPr>
        <p:spPr>
          <a:xfrm>
            <a:off x="342900" y="3755354"/>
            <a:ext cx="3915201" cy="698500"/>
          </a:xfrm>
        </p:spPr>
        <p:txBody>
          <a:bodyPr/>
          <a:lstStyle>
            <a:lvl1pPr>
              <a:spcBef>
                <a:spcPts val="1000"/>
              </a:spcBef>
              <a:spcAft>
                <a:spcPts val="0"/>
              </a:spcAft>
              <a:defRPr/>
            </a:lvl1pPr>
          </a:lstStyle>
          <a:p>
            <a:pPr lvl="0"/>
            <a:r>
              <a:rPr lang="en-US" dirty="0"/>
              <a:t>Slide Content 4</a:t>
            </a:r>
          </a:p>
          <a:p>
            <a:pPr lvl="1"/>
            <a:r>
              <a:rPr lang="en-US" dirty="0"/>
              <a:t>Second level</a:t>
            </a:r>
          </a:p>
          <a:p>
            <a:pPr lvl="2"/>
            <a:r>
              <a:rPr lang="en-US" dirty="0"/>
              <a:t>Third level</a:t>
            </a:r>
          </a:p>
        </p:txBody>
      </p:sp>
      <p:sp>
        <p:nvSpPr>
          <p:cNvPr id="13" name="Content Placeholder 5">
            <a:extLst>
              <a:ext uri="{FF2B5EF4-FFF2-40B4-BE49-F238E27FC236}">
                <a16:creationId xmlns:a16="http://schemas.microsoft.com/office/drawing/2014/main" id="{E908CA92-5DB2-4DC0-937B-1B178AA91781}"/>
              </a:ext>
            </a:extLst>
          </p:cNvPr>
          <p:cNvSpPr>
            <a:spLocks noGrp="1"/>
          </p:cNvSpPr>
          <p:nvPr>
            <p:ph sz="quarter" idx="17" hasCustomPrompt="1"/>
          </p:nvPr>
        </p:nvSpPr>
        <p:spPr>
          <a:xfrm>
            <a:off x="342900" y="4635164"/>
            <a:ext cx="3915201" cy="698500"/>
          </a:xfrm>
        </p:spPr>
        <p:txBody>
          <a:bodyPr/>
          <a:lstStyle>
            <a:lvl1pPr>
              <a:spcBef>
                <a:spcPts val="1000"/>
              </a:spcBef>
              <a:spcAft>
                <a:spcPts val="0"/>
              </a:spcAft>
              <a:defRPr/>
            </a:lvl1pPr>
          </a:lstStyle>
          <a:p>
            <a:pPr lvl="0"/>
            <a:r>
              <a:rPr lang="en-US" dirty="0"/>
              <a:t>Slide Content 5</a:t>
            </a:r>
          </a:p>
          <a:p>
            <a:pPr lvl="1"/>
            <a:r>
              <a:rPr lang="en-US" dirty="0"/>
              <a:t>Second level</a:t>
            </a:r>
          </a:p>
          <a:p>
            <a:pPr lvl="2"/>
            <a:r>
              <a:rPr lang="en-US" dirty="0"/>
              <a:t>Third level</a:t>
            </a:r>
          </a:p>
        </p:txBody>
      </p:sp>
      <p:sp>
        <p:nvSpPr>
          <p:cNvPr id="15" name="Content Placeholder 6">
            <a:extLst>
              <a:ext uri="{FF2B5EF4-FFF2-40B4-BE49-F238E27FC236}">
                <a16:creationId xmlns:a16="http://schemas.microsoft.com/office/drawing/2014/main" id="{8B728CCD-2639-461B-9841-57505AC13467}"/>
              </a:ext>
            </a:extLst>
          </p:cNvPr>
          <p:cNvSpPr>
            <a:spLocks noGrp="1"/>
          </p:cNvSpPr>
          <p:nvPr>
            <p:ph sz="quarter" idx="18" hasCustomPrompt="1"/>
          </p:nvPr>
        </p:nvSpPr>
        <p:spPr>
          <a:xfrm>
            <a:off x="342900" y="5514975"/>
            <a:ext cx="3915201" cy="733425"/>
          </a:xfrm>
        </p:spPr>
        <p:txBody>
          <a:bodyPr/>
          <a:lstStyle>
            <a:lvl1pPr>
              <a:spcBef>
                <a:spcPts val="1000"/>
              </a:spcBef>
              <a:spcAft>
                <a:spcPts val="0"/>
              </a:spcAft>
              <a:defRPr/>
            </a:lvl1pPr>
          </a:lstStyle>
          <a:p>
            <a:pPr lvl="0"/>
            <a:r>
              <a:rPr lang="en-US"/>
              <a:t>Slide Content 6</a:t>
            </a:r>
          </a:p>
          <a:p>
            <a:pPr lvl="1"/>
            <a:r>
              <a:rPr lang="en-US"/>
              <a:t>Second level</a:t>
            </a:r>
          </a:p>
          <a:p>
            <a:pPr lvl="2"/>
            <a:r>
              <a:rPr lang="en-US"/>
              <a:t>Third level</a:t>
            </a:r>
            <a:endParaRPr lang="en-US" dirty="0"/>
          </a:p>
        </p:txBody>
      </p:sp>
      <p:sp>
        <p:nvSpPr>
          <p:cNvPr id="12" name="Content Placeholder 6">
            <a:extLst>
              <a:ext uri="{FF2B5EF4-FFF2-40B4-BE49-F238E27FC236}">
                <a16:creationId xmlns:a16="http://schemas.microsoft.com/office/drawing/2014/main" id="{DB5446E9-DDFC-4F9F-AEF5-5E6061E5BD1A}"/>
              </a:ext>
            </a:extLst>
          </p:cNvPr>
          <p:cNvSpPr>
            <a:spLocks noGrp="1"/>
          </p:cNvSpPr>
          <p:nvPr>
            <p:ph sz="quarter" idx="19" hasCustomPrompt="1"/>
          </p:nvPr>
        </p:nvSpPr>
        <p:spPr>
          <a:xfrm>
            <a:off x="4619199" y="1255490"/>
            <a:ext cx="3915201" cy="612477"/>
          </a:xfrm>
        </p:spPr>
        <p:txBody>
          <a:bodyPr/>
          <a:lstStyle>
            <a:lvl1pPr>
              <a:spcBef>
                <a:spcPts val="1000"/>
              </a:spcBef>
              <a:spcAft>
                <a:spcPts val="0"/>
              </a:spcAft>
              <a:defRPr/>
            </a:lvl1pPr>
          </a:lstStyle>
          <a:p>
            <a:pPr lvl="0"/>
            <a:r>
              <a:rPr lang="en-US"/>
              <a:t>Slide Content 6</a:t>
            </a:r>
          </a:p>
          <a:p>
            <a:pPr lvl="1"/>
            <a:r>
              <a:rPr lang="en-US"/>
              <a:t>Second level</a:t>
            </a:r>
          </a:p>
          <a:p>
            <a:pPr lvl="2"/>
            <a:r>
              <a:rPr lang="en-US"/>
              <a:t>Third level</a:t>
            </a:r>
            <a:endParaRPr lang="en-US" dirty="0"/>
          </a:p>
        </p:txBody>
      </p:sp>
      <p:sp>
        <p:nvSpPr>
          <p:cNvPr id="14" name="Content Placeholder 6">
            <a:extLst>
              <a:ext uri="{FF2B5EF4-FFF2-40B4-BE49-F238E27FC236}">
                <a16:creationId xmlns:a16="http://schemas.microsoft.com/office/drawing/2014/main" id="{9BC59DB4-A285-4104-8DAD-21B49267AAD3}"/>
              </a:ext>
            </a:extLst>
          </p:cNvPr>
          <p:cNvSpPr>
            <a:spLocks noGrp="1"/>
          </p:cNvSpPr>
          <p:nvPr>
            <p:ph sz="quarter" idx="20" hasCustomPrompt="1"/>
          </p:nvPr>
        </p:nvSpPr>
        <p:spPr>
          <a:xfrm>
            <a:off x="4619199" y="1998291"/>
            <a:ext cx="3915201" cy="612477"/>
          </a:xfrm>
        </p:spPr>
        <p:txBody>
          <a:bodyPr/>
          <a:lstStyle>
            <a:lvl1pPr>
              <a:spcBef>
                <a:spcPts val="1000"/>
              </a:spcBef>
              <a:spcAft>
                <a:spcPts val="0"/>
              </a:spcAft>
              <a:defRPr/>
            </a:lvl1pPr>
          </a:lstStyle>
          <a:p>
            <a:pPr lvl="0"/>
            <a:r>
              <a:rPr lang="en-US"/>
              <a:t>Slide Content 6</a:t>
            </a:r>
          </a:p>
          <a:p>
            <a:pPr lvl="1"/>
            <a:r>
              <a:rPr lang="en-US"/>
              <a:t>Second level</a:t>
            </a:r>
          </a:p>
          <a:p>
            <a:pPr lvl="2"/>
            <a:r>
              <a:rPr lang="en-US"/>
              <a:t>Third level</a:t>
            </a:r>
            <a:endParaRPr lang="en-US" dirty="0"/>
          </a:p>
        </p:txBody>
      </p:sp>
      <p:sp>
        <p:nvSpPr>
          <p:cNvPr id="16" name="Content Placeholder 6">
            <a:extLst>
              <a:ext uri="{FF2B5EF4-FFF2-40B4-BE49-F238E27FC236}">
                <a16:creationId xmlns:a16="http://schemas.microsoft.com/office/drawing/2014/main" id="{FF319E46-D027-404B-8292-60A07B8E3C98}"/>
              </a:ext>
            </a:extLst>
          </p:cNvPr>
          <p:cNvSpPr>
            <a:spLocks noGrp="1"/>
          </p:cNvSpPr>
          <p:nvPr>
            <p:ph sz="quarter" idx="21" hasCustomPrompt="1"/>
          </p:nvPr>
        </p:nvSpPr>
        <p:spPr>
          <a:xfrm>
            <a:off x="4619198" y="2723530"/>
            <a:ext cx="3915201" cy="612477"/>
          </a:xfrm>
        </p:spPr>
        <p:txBody>
          <a:bodyPr/>
          <a:lstStyle>
            <a:lvl1pPr>
              <a:spcBef>
                <a:spcPts val="1000"/>
              </a:spcBef>
              <a:spcAft>
                <a:spcPts val="0"/>
              </a:spcAft>
              <a:defRPr/>
            </a:lvl1pPr>
          </a:lstStyle>
          <a:p>
            <a:pPr lvl="0"/>
            <a:r>
              <a:rPr lang="en-US"/>
              <a:t>Slide Content 6</a:t>
            </a:r>
          </a:p>
          <a:p>
            <a:pPr lvl="1"/>
            <a:r>
              <a:rPr lang="en-US"/>
              <a:t>Second level</a:t>
            </a:r>
          </a:p>
          <a:p>
            <a:pPr lvl="2"/>
            <a:r>
              <a:rPr lang="en-US"/>
              <a:t>Third level</a:t>
            </a:r>
            <a:endParaRPr lang="en-US" dirty="0"/>
          </a:p>
        </p:txBody>
      </p:sp>
      <p:sp>
        <p:nvSpPr>
          <p:cNvPr id="17" name="Content Placeholder 6">
            <a:extLst>
              <a:ext uri="{FF2B5EF4-FFF2-40B4-BE49-F238E27FC236}">
                <a16:creationId xmlns:a16="http://schemas.microsoft.com/office/drawing/2014/main" id="{E1FA65FE-4DFA-484E-A01C-9BF08B32C20A}"/>
              </a:ext>
            </a:extLst>
          </p:cNvPr>
          <p:cNvSpPr>
            <a:spLocks noGrp="1"/>
          </p:cNvSpPr>
          <p:nvPr>
            <p:ph sz="quarter" idx="22" hasCustomPrompt="1"/>
          </p:nvPr>
        </p:nvSpPr>
        <p:spPr>
          <a:xfrm>
            <a:off x="4619197" y="3528194"/>
            <a:ext cx="3915201" cy="612477"/>
          </a:xfrm>
        </p:spPr>
        <p:txBody>
          <a:bodyPr/>
          <a:lstStyle>
            <a:lvl1pPr>
              <a:spcBef>
                <a:spcPts val="1000"/>
              </a:spcBef>
              <a:spcAft>
                <a:spcPts val="0"/>
              </a:spcAft>
              <a:defRPr/>
            </a:lvl1pPr>
          </a:lstStyle>
          <a:p>
            <a:pPr lvl="0"/>
            <a:r>
              <a:rPr lang="en-US"/>
              <a:t>Slide Content 6</a:t>
            </a:r>
          </a:p>
          <a:p>
            <a:pPr lvl="1"/>
            <a:r>
              <a:rPr lang="en-US"/>
              <a:t>Second level</a:t>
            </a:r>
          </a:p>
          <a:p>
            <a:pPr lvl="2"/>
            <a:r>
              <a:rPr lang="en-US"/>
              <a:t>Third level</a:t>
            </a:r>
            <a:endParaRPr lang="en-US" dirty="0"/>
          </a:p>
        </p:txBody>
      </p:sp>
      <p:sp>
        <p:nvSpPr>
          <p:cNvPr id="18" name="Content Placeholder 6">
            <a:extLst>
              <a:ext uri="{FF2B5EF4-FFF2-40B4-BE49-F238E27FC236}">
                <a16:creationId xmlns:a16="http://schemas.microsoft.com/office/drawing/2014/main" id="{6FE7E90B-1DE9-4A55-9F1D-9EF5F50C09A3}"/>
              </a:ext>
            </a:extLst>
          </p:cNvPr>
          <p:cNvSpPr>
            <a:spLocks noGrp="1"/>
          </p:cNvSpPr>
          <p:nvPr>
            <p:ph sz="quarter" idx="23" hasCustomPrompt="1"/>
          </p:nvPr>
        </p:nvSpPr>
        <p:spPr>
          <a:xfrm>
            <a:off x="4619199" y="4351336"/>
            <a:ext cx="3915201" cy="612477"/>
          </a:xfrm>
        </p:spPr>
        <p:txBody>
          <a:bodyPr/>
          <a:lstStyle>
            <a:lvl1pPr>
              <a:spcBef>
                <a:spcPts val="1000"/>
              </a:spcBef>
              <a:spcAft>
                <a:spcPts val="0"/>
              </a:spcAft>
              <a:defRPr/>
            </a:lvl1pPr>
          </a:lstStyle>
          <a:p>
            <a:pPr lvl="0"/>
            <a:r>
              <a:rPr lang="en-US"/>
              <a:t>Slide Content 6</a:t>
            </a:r>
          </a:p>
          <a:p>
            <a:pPr lvl="1"/>
            <a:r>
              <a:rPr lang="en-US"/>
              <a:t>Second level</a:t>
            </a:r>
          </a:p>
          <a:p>
            <a:pPr lvl="2"/>
            <a:r>
              <a:rPr lang="en-US"/>
              <a:t>Third level</a:t>
            </a:r>
            <a:endParaRPr lang="en-US" dirty="0"/>
          </a:p>
        </p:txBody>
      </p:sp>
      <p:sp>
        <p:nvSpPr>
          <p:cNvPr id="19" name="Content Placeholder 6">
            <a:extLst>
              <a:ext uri="{FF2B5EF4-FFF2-40B4-BE49-F238E27FC236}">
                <a16:creationId xmlns:a16="http://schemas.microsoft.com/office/drawing/2014/main" id="{78067368-CA9E-4B15-AE6A-F50A1D1FEE7F}"/>
              </a:ext>
            </a:extLst>
          </p:cNvPr>
          <p:cNvSpPr>
            <a:spLocks noGrp="1"/>
          </p:cNvSpPr>
          <p:nvPr>
            <p:ph sz="quarter" idx="24" hasCustomPrompt="1"/>
          </p:nvPr>
        </p:nvSpPr>
        <p:spPr>
          <a:xfrm>
            <a:off x="4619199" y="5142672"/>
            <a:ext cx="3915201" cy="612477"/>
          </a:xfrm>
        </p:spPr>
        <p:txBody>
          <a:bodyPr/>
          <a:lstStyle>
            <a:lvl1pPr>
              <a:spcBef>
                <a:spcPts val="1000"/>
              </a:spcBef>
              <a:spcAft>
                <a:spcPts val="0"/>
              </a:spcAft>
              <a:defRPr/>
            </a:lvl1pPr>
          </a:lstStyle>
          <a:p>
            <a:pPr lvl="0"/>
            <a:r>
              <a:rPr lang="en-US"/>
              <a:t>Slide Content 6</a:t>
            </a:r>
          </a:p>
          <a:p>
            <a:pPr lvl="1"/>
            <a:r>
              <a:rPr lang="en-US"/>
              <a:t>Second level</a:t>
            </a:r>
          </a:p>
          <a:p>
            <a:pPr lvl="2"/>
            <a:r>
              <a:rPr lang="en-US"/>
              <a:t>Third level</a:t>
            </a:r>
            <a:endParaRPr lang="en-US" dirty="0"/>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101" y="6684963"/>
            <a:ext cx="6972299"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61396"/>
          </a:xfrm>
          <a:prstGeom prst="rect">
            <a:avLst/>
          </a:prstGeom>
        </p:spPr>
        <p:txBody>
          <a:bodyPr/>
          <a:lstStyle/>
          <a:p>
            <a:fld id="{68151E55-6873-49E2-B8D5-2F265E6F1973}" type="slidenum">
              <a:rPr lang="en-US" smtClean="0"/>
              <a:t>‹#›</a:t>
            </a:fld>
            <a:endParaRPr lang="en-US"/>
          </a:p>
        </p:txBody>
      </p:sp>
    </p:spTree>
    <p:extLst>
      <p:ext uri="{BB962C8B-B14F-4D97-AF65-F5344CB8AC3E}">
        <p14:creationId xmlns:p14="http://schemas.microsoft.com/office/powerpoint/2010/main" val="3908758658"/>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losingSlide">
    <p:spTree>
      <p:nvGrpSpPr>
        <p:cNvPr id="1" name=""/>
        <p:cNvGrpSpPr/>
        <p:nvPr/>
      </p:nvGrpSpPr>
      <p:grpSpPr>
        <a:xfrm>
          <a:off x="0" y="0"/>
          <a:ext cx="0" cy="0"/>
          <a:chOff x="0" y="0"/>
          <a:chExt cx="0" cy="0"/>
        </a:xfrm>
      </p:grpSpPr>
      <p:sp>
        <p:nvSpPr>
          <p:cNvPr id="2" name="Hidden Slide Title">
            <a:extLst>
              <a:ext uri="{FF2B5EF4-FFF2-40B4-BE49-F238E27FC236}">
                <a16:creationId xmlns:a16="http://schemas.microsoft.com/office/drawing/2014/main" id="{D3229D0C-04EF-482F-B26C-8D49CD33DBE3}"/>
              </a:ext>
            </a:extLst>
          </p:cNvPr>
          <p:cNvSpPr>
            <a:spLocks noGrp="1"/>
          </p:cNvSpPr>
          <p:nvPr>
            <p:ph type="title" hasCustomPrompt="1"/>
          </p:nvPr>
        </p:nvSpPr>
        <p:spPr>
          <a:xfrm>
            <a:off x="3425949" y="418391"/>
            <a:ext cx="2292103" cy="291823"/>
          </a:xfrm>
          <a:prstGeom prst="rect">
            <a:avLst/>
          </a:prstGeom>
        </p:spPr>
        <p:txBody>
          <a:bodyPr/>
          <a:lstStyle>
            <a:lvl1pPr>
              <a:defRPr>
                <a:solidFill>
                  <a:schemeClr val="tx1"/>
                </a:solidFill>
              </a:defRPr>
            </a:lvl1pPr>
          </a:lstStyle>
          <a:p>
            <a:r>
              <a:rPr lang="en-US" dirty="0"/>
              <a:t>Add hidden title here </a:t>
            </a:r>
          </a:p>
        </p:txBody>
      </p:sp>
      <p:pic>
        <p:nvPicPr>
          <p:cNvPr id="6" name="MGH Logo">
            <a:extLst>
              <a:ext uri="{FF2B5EF4-FFF2-40B4-BE49-F238E27FC236}">
                <a16:creationId xmlns:a16="http://schemas.microsoft.com/office/drawing/2014/main" id="{60DCFDF5-2A5B-440E-888A-BC0BFEF9FF5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350211" y="1005697"/>
            <a:ext cx="2443579" cy="2443579"/>
          </a:xfrm>
          <a:prstGeom prst="rect">
            <a:avLst/>
          </a:prstGeom>
        </p:spPr>
      </p:pic>
      <p:sp>
        <p:nvSpPr>
          <p:cNvPr id="3" name="Long Copyright">
            <a:extLst>
              <a:ext uri="{FF2B5EF4-FFF2-40B4-BE49-F238E27FC236}">
                <a16:creationId xmlns:a16="http://schemas.microsoft.com/office/drawing/2014/main" id="{9AB572CE-E262-4FA6-8D47-02F068ADD1BE}"/>
              </a:ext>
            </a:extLst>
          </p:cNvPr>
          <p:cNvSpPr>
            <a:spLocks noGrp="1"/>
          </p:cNvSpPr>
          <p:nvPr>
            <p:ph type="ftr" sz="quarter" idx="10"/>
          </p:nvPr>
        </p:nvSpPr>
        <p:spPr>
          <a:xfrm>
            <a:off x="0" y="6487064"/>
            <a:ext cx="9144000" cy="370936"/>
          </a:xfrm>
        </p:spPr>
        <p:txBody>
          <a:bodyPr/>
          <a:lstStyle>
            <a:lvl1pPr algn="ctr">
              <a:defRPr/>
            </a:lvl1pPr>
          </a:lstStyle>
          <a:p>
            <a:pPr defTabSz="457200">
              <a:spcBef>
                <a:spcPct val="20000"/>
              </a:spcBef>
              <a:defRPr/>
            </a:pPr>
            <a:r>
              <a:rPr lang="en-US" dirty="0"/>
              <a:t>© &lt; add the year&gt; McGraw Hill. All rights reserved. Authorized only for instructor use in the classroom.</a:t>
            </a:r>
          </a:p>
          <a:p>
            <a:pPr defTabSz="457200">
              <a:spcBef>
                <a:spcPct val="20000"/>
              </a:spcBef>
              <a:defRPr/>
            </a:pPr>
            <a:r>
              <a:rPr lang="en-US" dirty="0"/>
              <a:t>No reproduction or further distribution permitted without the prior written consent of McGraw Hill.</a:t>
            </a:r>
          </a:p>
        </p:txBody>
      </p:sp>
      <p:sp>
        <p:nvSpPr>
          <p:cNvPr id="9" name="MGH Tagline">
            <a:extLst>
              <a:ext uri="{FF2B5EF4-FFF2-40B4-BE49-F238E27FC236}">
                <a16:creationId xmlns:a16="http://schemas.microsoft.com/office/drawing/2014/main" id="{F040BF5C-A78D-440C-93DF-72F3F641F3F1}"/>
              </a:ext>
            </a:extLst>
          </p:cNvPr>
          <p:cNvSpPr txBox="1"/>
          <p:nvPr userDrawn="1"/>
        </p:nvSpPr>
        <p:spPr>
          <a:xfrm>
            <a:off x="1730746" y="3796682"/>
            <a:ext cx="5682508" cy="4690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40" normalizeH="0" baseline="0" noProof="0" dirty="0">
                <a:ln>
                  <a:noFill/>
                </a:ln>
                <a:solidFill>
                  <a:srgbClr val="000000"/>
                </a:solidFill>
                <a:effectLst/>
                <a:uLnTx/>
                <a:uFillTx/>
                <a:latin typeface="Arial" panose="020B0604020202020204" pitchFamily="34" charset="0"/>
                <a:ea typeface="Calibri" panose="020F0502020204030204" pitchFamily="34" charset="0"/>
                <a:cs typeface="+mn-cs"/>
              </a:rPr>
              <a:t>Because learning changes everything.</a:t>
            </a:r>
            <a:r>
              <a:rPr kumimoji="0" lang="en-US" sz="1400" b="0" i="0" u="none" strike="noStrike" kern="1200" cap="none" spc="40" normalizeH="0" baseline="60000" noProof="0" dirty="0">
                <a:ln>
                  <a:noFill/>
                </a:ln>
                <a:solidFill>
                  <a:srgbClr val="000000"/>
                </a:solidFill>
                <a:effectLst/>
                <a:uLnTx/>
                <a:uFillTx/>
                <a:latin typeface="Arial" panose="020B0604020202020204" pitchFamily="34" charset="0"/>
                <a:ea typeface="Calibri" panose="020F0502020204030204" pitchFamily="34" charset="0"/>
                <a:cs typeface="+mn-cs"/>
              </a:rPr>
              <a:t>®</a:t>
            </a:r>
            <a:endParaRPr kumimoji="0" lang="en-US" sz="2400" b="0" i="0" u="none" strike="noStrike" kern="1200" cap="none" spc="40" normalizeH="0" baseline="60000" noProof="0" dirty="0">
              <a:ln>
                <a:noFill/>
              </a:ln>
              <a:solidFill>
                <a:srgbClr val="000000"/>
              </a:solidFill>
              <a:effectLst/>
              <a:uLnTx/>
              <a:uFillTx/>
              <a:latin typeface="+mn-lt"/>
              <a:ea typeface="+mn-ea"/>
              <a:cs typeface="+mn-cs"/>
            </a:endParaRPr>
          </a:p>
        </p:txBody>
      </p:sp>
      <p:sp>
        <p:nvSpPr>
          <p:cNvPr id="10" name="MGH URL">
            <a:extLst>
              <a:ext uri="{FF2B5EF4-FFF2-40B4-BE49-F238E27FC236}">
                <a16:creationId xmlns:a16="http://schemas.microsoft.com/office/drawing/2014/main" id="{2215B5DD-E18E-478F-81B9-79BA83A9A251}"/>
              </a:ext>
            </a:extLst>
          </p:cNvPr>
          <p:cNvSpPr txBox="1"/>
          <p:nvPr userDrawn="1"/>
        </p:nvSpPr>
        <p:spPr>
          <a:xfrm>
            <a:off x="3269085" y="5329121"/>
            <a:ext cx="2605831"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mn-lt"/>
                <a:ea typeface="+mn-ea"/>
                <a:cs typeface="+mn-cs"/>
              </a:rPr>
              <a:t>www.mheducation.com</a:t>
            </a:r>
            <a:endParaRPr kumimoji="0" lang="en-US" sz="2000" b="0" i="0" u="none" strike="noStrike" kern="1200" cap="none" spc="0" normalizeH="0" baseline="0" noProof="0" dirty="0">
              <a:ln>
                <a:noFill/>
              </a:ln>
              <a:solidFill>
                <a:srgbClr val="000000"/>
              </a:solidFill>
              <a:effectLst/>
              <a:uLnTx/>
              <a:uFillTx/>
              <a:latin typeface="+mn-lt"/>
              <a:ea typeface="+mn-ea"/>
              <a:cs typeface="+mn-cs"/>
            </a:endParaRPr>
          </a:p>
        </p:txBody>
      </p:sp>
    </p:spTree>
    <p:extLst>
      <p:ext uri="{BB962C8B-B14F-4D97-AF65-F5344CB8AC3E}">
        <p14:creationId xmlns:p14="http://schemas.microsoft.com/office/powerpoint/2010/main" val="74436681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1_ClosingSlide">
    <p:spTree>
      <p:nvGrpSpPr>
        <p:cNvPr id="1" name=""/>
        <p:cNvGrpSpPr/>
        <p:nvPr/>
      </p:nvGrpSpPr>
      <p:grpSpPr>
        <a:xfrm>
          <a:off x="0" y="0"/>
          <a:ext cx="0" cy="0"/>
          <a:chOff x="0" y="0"/>
          <a:chExt cx="0" cy="0"/>
        </a:xfrm>
      </p:grpSpPr>
      <p:sp>
        <p:nvSpPr>
          <p:cNvPr id="2" name="Hidden Slide Title">
            <a:extLst>
              <a:ext uri="{FF2B5EF4-FFF2-40B4-BE49-F238E27FC236}">
                <a16:creationId xmlns:a16="http://schemas.microsoft.com/office/drawing/2014/main" id="{D3229D0C-04EF-482F-B26C-8D49CD33DBE3}"/>
              </a:ext>
            </a:extLst>
          </p:cNvPr>
          <p:cNvSpPr>
            <a:spLocks noGrp="1"/>
          </p:cNvSpPr>
          <p:nvPr>
            <p:ph type="title" hasCustomPrompt="1"/>
          </p:nvPr>
        </p:nvSpPr>
        <p:spPr>
          <a:xfrm>
            <a:off x="3425949" y="418391"/>
            <a:ext cx="2292103" cy="291823"/>
          </a:xfrm>
          <a:prstGeom prst="rect">
            <a:avLst/>
          </a:prstGeom>
        </p:spPr>
        <p:txBody>
          <a:bodyPr/>
          <a:lstStyle>
            <a:lvl1pPr>
              <a:defRPr>
                <a:solidFill>
                  <a:schemeClr val="tx1"/>
                </a:solidFill>
              </a:defRPr>
            </a:lvl1pPr>
          </a:lstStyle>
          <a:p>
            <a:r>
              <a:rPr lang="en-US" dirty="0"/>
              <a:t>Add hidden title here </a:t>
            </a:r>
          </a:p>
        </p:txBody>
      </p:sp>
      <p:pic>
        <p:nvPicPr>
          <p:cNvPr id="6" name="MGH Logo">
            <a:extLst>
              <a:ext uri="{FF2B5EF4-FFF2-40B4-BE49-F238E27FC236}">
                <a16:creationId xmlns:a16="http://schemas.microsoft.com/office/drawing/2014/main" id="{60DCFDF5-2A5B-440E-888A-BC0BFEF9FF5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350211" y="1005697"/>
            <a:ext cx="2443579" cy="2443579"/>
          </a:xfrm>
          <a:prstGeom prst="rect">
            <a:avLst/>
          </a:prstGeom>
        </p:spPr>
      </p:pic>
      <p:sp>
        <p:nvSpPr>
          <p:cNvPr id="9" name="MGH Tagline">
            <a:extLst>
              <a:ext uri="{FF2B5EF4-FFF2-40B4-BE49-F238E27FC236}">
                <a16:creationId xmlns:a16="http://schemas.microsoft.com/office/drawing/2014/main" id="{F040BF5C-A78D-440C-93DF-72F3F641F3F1}"/>
              </a:ext>
            </a:extLst>
          </p:cNvPr>
          <p:cNvSpPr txBox="1"/>
          <p:nvPr userDrawn="1"/>
        </p:nvSpPr>
        <p:spPr>
          <a:xfrm>
            <a:off x="1730746" y="3796682"/>
            <a:ext cx="5682508" cy="4690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40" normalizeH="0" baseline="0" noProof="0" dirty="0">
                <a:ln>
                  <a:noFill/>
                </a:ln>
                <a:solidFill>
                  <a:srgbClr val="000000"/>
                </a:solidFill>
                <a:effectLst/>
                <a:uLnTx/>
                <a:uFillTx/>
                <a:latin typeface="Arial" panose="020B0604020202020204" pitchFamily="34" charset="0"/>
                <a:ea typeface="Calibri" panose="020F0502020204030204" pitchFamily="34" charset="0"/>
                <a:cs typeface="+mn-cs"/>
              </a:rPr>
              <a:t>Because learning changes everything.</a:t>
            </a:r>
            <a:r>
              <a:rPr kumimoji="0" lang="en-US" sz="1400" b="0" i="0" u="none" strike="noStrike" kern="1200" cap="none" spc="40" normalizeH="0" baseline="60000" noProof="0" dirty="0">
                <a:ln>
                  <a:noFill/>
                </a:ln>
                <a:solidFill>
                  <a:srgbClr val="000000"/>
                </a:solidFill>
                <a:effectLst/>
                <a:uLnTx/>
                <a:uFillTx/>
                <a:latin typeface="Arial" panose="020B0604020202020204" pitchFamily="34" charset="0"/>
                <a:ea typeface="Calibri" panose="020F0502020204030204" pitchFamily="34" charset="0"/>
                <a:cs typeface="+mn-cs"/>
              </a:rPr>
              <a:t>®</a:t>
            </a:r>
            <a:endParaRPr kumimoji="0" lang="en-US" sz="2400" b="0" i="0" u="none" strike="noStrike" kern="1200" cap="none" spc="40" normalizeH="0" baseline="60000" noProof="0" dirty="0">
              <a:ln>
                <a:noFill/>
              </a:ln>
              <a:solidFill>
                <a:srgbClr val="000000"/>
              </a:solidFill>
              <a:effectLst/>
              <a:uLnTx/>
              <a:uFillTx/>
              <a:latin typeface="+mn-lt"/>
              <a:ea typeface="+mn-ea"/>
              <a:cs typeface="+mn-cs"/>
            </a:endParaRPr>
          </a:p>
        </p:txBody>
      </p:sp>
      <p:sp>
        <p:nvSpPr>
          <p:cNvPr id="10" name="MGH URL">
            <a:extLst>
              <a:ext uri="{FF2B5EF4-FFF2-40B4-BE49-F238E27FC236}">
                <a16:creationId xmlns:a16="http://schemas.microsoft.com/office/drawing/2014/main" id="{2215B5DD-E18E-478F-81B9-79BA83A9A251}"/>
              </a:ext>
            </a:extLst>
          </p:cNvPr>
          <p:cNvSpPr txBox="1"/>
          <p:nvPr userDrawn="1"/>
        </p:nvSpPr>
        <p:spPr>
          <a:xfrm>
            <a:off x="3269085" y="5329121"/>
            <a:ext cx="2605831"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mn-lt"/>
                <a:ea typeface="+mn-ea"/>
                <a:cs typeface="+mn-cs"/>
              </a:rPr>
              <a:t>www.mheducation.com</a:t>
            </a:r>
            <a:endParaRPr kumimoji="0" lang="en-US" sz="2000" b="0" i="0" u="none" strike="noStrike" kern="1200" cap="none" spc="0" normalizeH="0" baseline="0" noProof="0" dirty="0">
              <a:ln>
                <a:noFill/>
              </a:ln>
              <a:solidFill>
                <a:srgbClr val="000000"/>
              </a:solidFill>
              <a:effectLst/>
              <a:uLnTx/>
              <a:uFillTx/>
              <a:latin typeface="+mn-lt"/>
              <a:ea typeface="+mn-ea"/>
              <a:cs typeface="+mn-cs"/>
            </a:endParaRPr>
          </a:p>
        </p:txBody>
      </p:sp>
      <p:sp>
        <p:nvSpPr>
          <p:cNvPr id="5" name="Content Placeholder 4">
            <a:extLst>
              <a:ext uri="{FF2B5EF4-FFF2-40B4-BE49-F238E27FC236}">
                <a16:creationId xmlns:a16="http://schemas.microsoft.com/office/drawing/2014/main" id="{8352138A-1304-465B-AE03-541BDE0CCB45}"/>
              </a:ext>
            </a:extLst>
          </p:cNvPr>
          <p:cNvSpPr>
            <a:spLocks noGrp="1"/>
          </p:cNvSpPr>
          <p:nvPr>
            <p:ph sz="quarter" idx="10"/>
          </p:nvPr>
        </p:nvSpPr>
        <p:spPr>
          <a:xfrm>
            <a:off x="228600" y="6543675"/>
            <a:ext cx="8715375" cy="187325"/>
          </a:xfrm>
          <a:prstGeom prst="rect">
            <a:avLst/>
          </a:prstGeo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5638914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AppendixDivi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6CA9270-FD0E-4B64-B0D8-24095E6A2959}"/>
              </a:ext>
            </a:extLst>
          </p:cNvPr>
          <p:cNvSpPr>
            <a:spLocks noGrp="1"/>
          </p:cNvSpPr>
          <p:nvPr>
            <p:ph type="title" hasCustomPrompt="1"/>
          </p:nvPr>
        </p:nvSpPr>
        <p:spPr>
          <a:xfrm>
            <a:off x="342899" y="2366309"/>
            <a:ext cx="7696919" cy="526936"/>
          </a:xfrm>
          <a:prstGeom prst="rect">
            <a:avLst/>
          </a:prstGeom>
        </p:spPr>
        <p:txBody>
          <a:bodyPr anchor="ctr"/>
          <a:lstStyle>
            <a:lvl1pPr>
              <a:defRPr/>
            </a:lvl1pPr>
          </a:lstStyle>
          <a:p>
            <a:r>
              <a:rPr lang="en-US" dirty="0"/>
              <a:t>Accessibility Content: Text Alternatives for Images</a:t>
            </a:r>
          </a:p>
        </p:txBody>
      </p:sp>
    </p:spTree>
    <p:extLst>
      <p:ext uri="{BB962C8B-B14F-4D97-AF65-F5344CB8AC3E}">
        <p14:creationId xmlns:p14="http://schemas.microsoft.com/office/powerpoint/2010/main" val="132797195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AppendixDivi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6CA9270-FD0E-4B64-B0D8-24095E6A2959}"/>
              </a:ext>
            </a:extLst>
          </p:cNvPr>
          <p:cNvSpPr>
            <a:spLocks noGrp="1"/>
          </p:cNvSpPr>
          <p:nvPr>
            <p:ph type="title" hasCustomPrompt="1"/>
          </p:nvPr>
        </p:nvSpPr>
        <p:spPr>
          <a:xfrm>
            <a:off x="342899" y="2366309"/>
            <a:ext cx="7696919" cy="526936"/>
          </a:xfrm>
          <a:prstGeom prst="rect">
            <a:avLst/>
          </a:prstGeom>
        </p:spPr>
        <p:txBody>
          <a:bodyPr anchor="ctr"/>
          <a:lstStyle>
            <a:lvl1pPr>
              <a:defRPr/>
            </a:lvl1pPr>
          </a:lstStyle>
          <a:p>
            <a:r>
              <a:rPr lang="en-US" dirty="0"/>
              <a:t>Accessibility Content: Text Alternatives for Images</a:t>
            </a:r>
          </a:p>
        </p:txBody>
      </p:sp>
    </p:spTree>
    <p:extLst>
      <p:ext uri="{BB962C8B-B14F-4D97-AF65-F5344CB8AC3E}">
        <p14:creationId xmlns:p14="http://schemas.microsoft.com/office/powerpoint/2010/main" val="369257103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Misc. Divi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C0136BE0-3F2D-44D5-B125-B7A30D2C8896}"/>
              </a:ext>
            </a:extLst>
          </p:cNvPr>
          <p:cNvSpPr>
            <a:spLocks noGrp="1"/>
          </p:cNvSpPr>
          <p:nvPr>
            <p:ph type="title"/>
          </p:nvPr>
        </p:nvSpPr>
        <p:spPr>
          <a:xfrm>
            <a:off x="339450" y="117244"/>
            <a:ext cx="6065851" cy="730970"/>
          </a:xfrm>
          <a:prstGeom prst="rect">
            <a:avLst/>
          </a:prstGeom>
        </p:spPr>
        <p:txBody>
          <a:bodyPr/>
          <a:lstStyle/>
          <a:p>
            <a:r>
              <a:rPr lang="en-US" dirty="0"/>
              <a:t>Click to edit Master title style</a:t>
            </a:r>
          </a:p>
        </p:txBody>
      </p:sp>
      <p:sp>
        <p:nvSpPr>
          <p:cNvPr id="3" name="Slide Number Placeholder">
            <a:extLst>
              <a:ext uri="{FF2B5EF4-FFF2-40B4-BE49-F238E27FC236}">
                <a16:creationId xmlns:a16="http://schemas.microsoft.com/office/drawing/2014/main" id="{FA117DCA-6A6D-48B9-9002-DA1E4814BF99}"/>
              </a:ext>
            </a:extLst>
          </p:cNvPr>
          <p:cNvSpPr>
            <a:spLocks noGrp="1"/>
          </p:cNvSpPr>
          <p:nvPr>
            <p:ph type="sldNum" sz="quarter" idx="10"/>
          </p:nvPr>
        </p:nvSpPr>
        <p:spPr>
          <a:xfrm>
            <a:off x="8637202" y="6682314"/>
            <a:ext cx="342900" cy="143831"/>
          </a:xfrm>
          <a:prstGeom prst="rect">
            <a:avLst/>
          </a:prstGeom>
        </p:spPr>
        <p:txBody>
          <a:bodyPr/>
          <a:lstStyle/>
          <a:p>
            <a:fld id="{68151E55-6873-49E2-B8D5-2F265E6F1973}" type="slidenum">
              <a:rPr lang="en-US" smtClean="0"/>
              <a:pPr/>
              <a:t>‹#›</a:t>
            </a:fld>
            <a:endParaRPr lang="en-US" dirty="0"/>
          </a:p>
        </p:txBody>
      </p:sp>
      <p:sp>
        <p:nvSpPr>
          <p:cNvPr id="5" name="Content Placeholder">
            <a:extLst>
              <a:ext uri="{FF2B5EF4-FFF2-40B4-BE49-F238E27FC236}">
                <a16:creationId xmlns:a16="http://schemas.microsoft.com/office/drawing/2014/main" id="{DA8444E8-1445-4AB7-85DD-90449330C005}"/>
              </a:ext>
            </a:extLst>
          </p:cNvPr>
          <p:cNvSpPr>
            <a:spLocks noGrp="1"/>
          </p:cNvSpPr>
          <p:nvPr>
            <p:ph sz="quarter" idx="11" hasCustomPrompt="1"/>
          </p:nvPr>
        </p:nvSpPr>
        <p:spPr>
          <a:xfrm>
            <a:off x="342900" y="1973249"/>
            <a:ext cx="6477000" cy="4343400"/>
          </a:xfrm>
        </p:spPr>
        <p:txBody>
          <a:bodyPr/>
          <a:lstStyle>
            <a:lvl1pPr>
              <a:defRPr/>
            </a:lvl1pPr>
            <a:lvl2pPr marL="344488" indent="-342900">
              <a:buFont typeface="Arial" panose="020B0604020202020204" pitchFamily="34" charset="0"/>
              <a:buChar char="•"/>
              <a:defRPr/>
            </a:lvl2pPr>
            <a:lvl3pPr>
              <a:defRPr/>
            </a:lvl3pPr>
            <a:lvl4pPr>
              <a:defRPr/>
            </a:lvl4pPr>
          </a:lstStyle>
          <a:p>
            <a:pPr lvl="0"/>
            <a:r>
              <a:rPr lang="en-US" dirty="0"/>
              <a:t>Slide Content</a:t>
            </a:r>
          </a:p>
          <a:p>
            <a:pPr lvl="2"/>
            <a:r>
              <a:rPr lang="en-US" dirty="0"/>
              <a:t>Second level</a:t>
            </a:r>
          </a:p>
          <a:p>
            <a:pPr lvl="3"/>
            <a:r>
              <a:rPr lang="en-US" dirty="0"/>
              <a:t>Third level</a:t>
            </a:r>
          </a:p>
        </p:txBody>
      </p:sp>
    </p:spTree>
    <p:extLst>
      <p:ext uri="{BB962C8B-B14F-4D97-AF65-F5344CB8AC3E}">
        <p14:creationId xmlns:p14="http://schemas.microsoft.com/office/powerpoint/2010/main" val="44541601"/>
      </p:ext>
    </p:extLst>
  </p:cSld>
  <p:clrMapOvr>
    <a:masterClrMapping/>
  </p:clrMapOvr>
  <p:extLst>
    <p:ext uri="{DCECCB84-F9BA-43D5-87BE-67443E8EF086}">
      <p15:sldGuideLst xmlns:p15="http://schemas.microsoft.com/office/powerpoint/2012/main"/>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1_Appendix-One Placehol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lstStyle>
            <a:lvl1pPr>
              <a:defRPr sz="2400"/>
            </a:lvl1pPr>
          </a:lstStyle>
          <a:p>
            <a:r>
              <a:rPr lang="en-US" dirty="0"/>
              <a:t>Slide Title</a:t>
            </a:r>
            <a:br>
              <a:rPr lang="en-US" dirty="0"/>
            </a:br>
            <a:endParaRPr lang="en-US" dirty="0"/>
          </a:p>
        </p:txBody>
      </p:sp>
      <p:sp>
        <p:nvSpPr>
          <p:cNvPr id="6" name="Return to main slide Link 1">
            <a:extLst>
              <a:ext uri="{FF2B5EF4-FFF2-40B4-BE49-F238E27FC236}">
                <a16:creationId xmlns:a16="http://schemas.microsoft.com/office/drawing/2014/main" id="{F538FEEA-434F-404A-8A40-5F717D6CB596}"/>
              </a:ext>
            </a:extLst>
          </p:cNvPr>
          <p:cNvSpPr>
            <a:spLocks noGrp="1"/>
          </p:cNvSpPr>
          <p:nvPr>
            <p:ph type="body" sz="quarter" idx="14" hasCustomPrompt="1"/>
          </p:nvPr>
        </p:nvSpPr>
        <p:spPr>
          <a:xfrm>
            <a:off x="3081587" y="1068234"/>
            <a:ext cx="2980826" cy="225425"/>
          </a:xfrm>
        </p:spPr>
        <p:txBody>
          <a:bodyPr anchor="ctr">
            <a:noAutofit/>
          </a:bodyPr>
          <a:lstStyle>
            <a:lvl1pPr algn="ctr">
              <a:defRPr sz="1200"/>
            </a:lvl1pPr>
          </a:lstStyle>
          <a:p>
            <a:pPr lvl="0"/>
            <a:r>
              <a:rPr lang="en-US" dirty="0"/>
              <a:t>Return to parent-slide containing images.</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371601"/>
            <a:ext cx="8458200" cy="4876800"/>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10" name="Return to main slide Link 2">
            <a:extLst>
              <a:ext uri="{FF2B5EF4-FFF2-40B4-BE49-F238E27FC236}">
                <a16:creationId xmlns:a16="http://schemas.microsoft.com/office/drawing/2014/main" id="{D8AF3780-479B-4486-8AEE-B0E29BE2F870}"/>
              </a:ext>
            </a:extLst>
          </p:cNvPr>
          <p:cNvSpPr>
            <a:spLocks noGrp="1"/>
          </p:cNvSpPr>
          <p:nvPr>
            <p:ph type="body" sz="quarter" idx="15" hasCustomPrompt="1"/>
          </p:nvPr>
        </p:nvSpPr>
        <p:spPr>
          <a:xfrm>
            <a:off x="3092111" y="6350211"/>
            <a:ext cx="2959779" cy="228600"/>
          </a:xfrm>
        </p:spPr>
        <p:txBody>
          <a:bodyPr vert="horz" lIns="91440" tIns="45720" rIns="91440" bIns="45720" rtlCol="0" anchor="ctr">
            <a:noAutofit/>
          </a:bodyPr>
          <a:lstStyle>
            <a:lvl1pPr>
              <a:defRPr lang="en-US" sz="1200" dirty="0"/>
            </a:lvl1pPr>
          </a:lstStyle>
          <a:p>
            <a:pPr lvl="0" algn="ctr"/>
            <a:r>
              <a:rPr lang="en-US" dirty="0"/>
              <a:t>Return to parent-slide containing images.</a:t>
            </a:r>
          </a:p>
        </p:txBody>
      </p:sp>
    </p:spTree>
    <p:extLst>
      <p:ext uri="{BB962C8B-B14F-4D97-AF65-F5344CB8AC3E}">
        <p14:creationId xmlns:p14="http://schemas.microsoft.com/office/powerpoint/2010/main" val="544467532"/>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Appendix-One Placehol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lstStyle>
            <a:lvl1pPr>
              <a:defRPr sz="2400"/>
            </a:lvl1pPr>
          </a:lstStyle>
          <a:p>
            <a:r>
              <a:rPr lang="en-US" dirty="0"/>
              <a:t>Slide Title</a:t>
            </a:r>
            <a:br>
              <a:rPr lang="en-US" dirty="0"/>
            </a:br>
            <a:endParaRPr lang="en-US" dirty="0"/>
          </a:p>
        </p:txBody>
      </p:sp>
      <p:sp>
        <p:nvSpPr>
          <p:cNvPr id="6" name="Return to main slide Link 1">
            <a:extLst>
              <a:ext uri="{FF2B5EF4-FFF2-40B4-BE49-F238E27FC236}">
                <a16:creationId xmlns:a16="http://schemas.microsoft.com/office/drawing/2014/main" id="{F538FEEA-434F-404A-8A40-5F717D6CB596}"/>
              </a:ext>
            </a:extLst>
          </p:cNvPr>
          <p:cNvSpPr>
            <a:spLocks noGrp="1"/>
          </p:cNvSpPr>
          <p:nvPr>
            <p:ph type="body" sz="quarter" idx="14" hasCustomPrompt="1"/>
          </p:nvPr>
        </p:nvSpPr>
        <p:spPr>
          <a:xfrm>
            <a:off x="3081587" y="1068234"/>
            <a:ext cx="2980826" cy="225425"/>
          </a:xfrm>
        </p:spPr>
        <p:txBody>
          <a:bodyPr anchor="ctr">
            <a:noAutofit/>
          </a:bodyPr>
          <a:lstStyle>
            <a:lvl1pPr algn="ctr">
              <a:defRPr sz="1200"/>
            </a:lvl1pPr>
          </a:lstStyle>
          <a:p>
            <a:pPr lvl="0"/>
            <a:r>
              <a:rPr lang="en-US" dirty="0"/>
              <a:t>Return to parent-slide containing images.</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371601"/>
            <a:ext cx="8458200" cy="4876800"/>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10" name="Return to main slide Link 2">
            <a:extLst>
              <a:ext uri="{FF2B5EF4-FFF2-40B4-BE49-F238E27FC236}">
                <a16:creationId xmlns:a16="http://schemas.microsoft.com/office/drawing/2014/main" id="{D8AF3780-479B-4486-8AEE-B0E29BE2F870}"/>
              </a:ext>
            </a:extLst>
          </p:cNvPr>
          <p:cNvSpPr>
            <a:spLocks noGrp="1"/>
          </p:cNvSpPr>
          <p:nvPr>
            <p:ph type="body" sz="quarter" idx="15" hasCustomPrompt="1"/>
          </p:nvPr>
        </p:nvSpPr>
        <p:spPr>
          <a:xfrm>
            <a:off x="3092111" y="6350211"/>
            <a:ext cx="2959779" cy="228600"/>
          </a:xfrm>
        </p:spPr>
        <p:txBody>
          <a:bodyPr vert="horz" lIns="91440" tIns="45720" rIns="91440" bIns="45720" rtlCol="0" anchor="ctr">
            <a:noAutofit/>
          </a:bodyPr>
          <a:lstStyle>
            <a:lvl1pPr>
              <a:defRPr lang="en-US" sz="1200" dirty="0"/>
            </a:lvl1pPr>
          </a:lstStyle>
          <a:p>
            <a:pPr lvl="0" algn="ctr"/>
            <a:r>
              <a:rPr lang="en-US" dirty="0"/>
              <a:t>Return to parent-slide containing images.</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61396"/>
          </a:xfrm>
          <a:prstGeom prst="rect">
            <a:avLst/>
          </a:prstGeom>
        </p:spPr>
        <p:txBody>
          <a:bodyPr/>
          <a:lstStyle/>
          <a:p>
            <a:fld id="{68151E55-6873-49E2-B8D5-2F265E6F1973}" type="slidenum">
              <a:rPr lang="en-US" smtClean="0"/>
              <a:t>‹#›</a:t>
            </a:fld>
            <a:endParaRPr lang="en-US"/>
          </a:p>
        </p:txBody>
      </p:sp>
    </p:spTree>
    <p:extLst>
      <p:ext uri="{BB962C8B-B14F-4D97-AF65-F5344CB8AC3E}">
        <p14:creationId xmlns:p14="http://schemas.microsoft.com/office/powerpoint/2010/main" val="842702864"/>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Appendix-Two Comparison Placeholders With Identifi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lstStyle>
            <a:lvl1pPr>
              <a:defRPr sz="2400"/>
            </a:lvl1pPr>
          </a:lstStyle>
          <a:p>
            <a:r>
              <a:rPr lang="en-US" dirty="0"/>
              <a:t>Slide Title</a:t>
            </a:r>
            <a:br>
              <a:rPr lang="en-US" dirty="0"/>
            </a:br>
            <a:endParaRPr lang="en-US" dirty="0"/>
          </a:p>
        </p:txBody>
      </p:sp>
      <p:sp>
        <p:nvSpPr>
          <p:cNvPr id="9" name="Return to main slide Link 1">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3081528" y="1059828"/>
            <a:ext cx="2980944" cy="228600"/>
          </a:xfrm>
          <a:prstGeom prst="rect">
            <a:avLst/>
          </a:prstGeom>
        </p:spPr>
        <p:txBody>
          <a:bodyPr vert="horz" lIns="91440" tIns="45720" rIns="91440" bIns="45720" rtlCol="0" anchor="ctr">
            <a:noAutofit/>
          </a:bodyPr>
          <a:lstStyle>
            <a:lvl1pPr>
              <a:defRPr lang="en-US" sz="1200" dirty="0"/>
            </a:lvl1pPr>
          </a:lstStyle>
          <a:p>
            <a:pPr lvl="0" algn="ctr"/>
            <a:r>
              <a:rPr lang="en-US" dirty="0"/>
              <a:t>Return to parent-slide containing images.</a:t>
            </a:r>
          </a:p>
        </p:txBody>
      </p:sp>
      <p:sp>
        <p:nvSpPr>
          <p:cNvPr id="8" name="Image Identifier 1">
            <a:extLst>
              <a:ext uri="{FF2B5EF4-FFF2-40B4-BE49-F238E27FC236}">
                <a16:creationId xmlns:a16="http://schemas.microsoft.com/office/drawing/2014/main" id="{C828D23C-A7ED-420E-B199-2D8CCF24D6BE}"/>
              </a:ext>
            </a:extLst>
          </p:cNvPr>
          <p:cNvSpPr>
            <a:spLocks noGrp="1"/>
          </p:cNvSpPr>
          <p:nvPr>
            <p:ph type="body" sz="quarter" idx="15" hasCustomPrompt="1"/>
          </p:nvPr>
        </p:nvSpPr>
        <p:spPr>
          <a:xfrm>
            <a:off x="365125" y="1410562"/>
            <a:ext cx="4076700" cy="392112"/>
          </a:xfrm>
        </p:spPr>
        <p:txBody>
          <a:bodyPr/>
          <a:lstStyle>
            <a:lvl1pPr>
              <a:defRPr/>
            </a:lvl1pPr>
          </a:lstStyle>
          <a:p>
            <a:pPr lvl="0"/>
            <a:r>
              <a:rPr lang="en-US" dirty="0"/>
              <a:t>Image Identifier 1</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933303"/>
            <a:ext cx="4076700" cy="4315097"/>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11" name="Image Identifier 2">
            <a:extLst>
              <a:ext uri="{FF2B5EF4-FFF2-40B4-BE49-F238E27FC236}">
                <a16:creationId xmlns:a16="http://schemas.microsoft.com/office/drawing/2014/main" id="{7DBCEA22-E8D2-4B8A-B55C-3FFA6FAB317C}"/>
              </a:ext>
            </a:extLst>
          </p:cNvPr>
          <p:cNvSpPr>
            <a:spLocks noGrp="1"/>
          </p:cNvSpPr>
          <p:nvPr>
            <p:ph type="body" sz="quarter" idx="16" hasCustomPrompt="1"/>
          </p:nvPr>
        </p:nvSpPr>
        <p:spPr>
          <a:xfrm>
            <a:off x="4715145" y="1410562"/>
            <a:ext cx="4078224" cy="393192"/>
          </a:xfrm>
        </p:spPr>
        <p:txBody>
          <a:bodyPr/>
          <a:lstStyle>
            <a:lvl1pPr>
              <a:defRPr/>
            </a:lvl1pPr>
          </a:lstStyle>
          <a:p>
            <a:pPr lvl="0"/>
            <a:r>
              <a:rPr lang="en-US" dirty="0"/>
              <a:t>Image Identifier 2</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4724400" y="1933303"/>
            <a:ext cx="4076700" cy="4315097"/>
          </a:xfrm>
          <a:prstGeom prst="rect">
            <a:avLst/>
          </a:prstGeom>
        </p:spPr>
        <p:txBody>
          <a:bodyPr/>
          <a:lstStyle>
            <a:lvl1pPr>
              <a:defRPr/>
            </a:lvl1pPr>
          </a:lstStyle>
          <a:p>
            <a:pPr lvl="0"/>
            <a:r>
              <a:rPr lang="en-US" dirty="0"/>
              <a:t>Slide Content 2</a:t>
            </a:r>
          </a:p>
          <a:p>
            <a:pPr lvl="1"/>
            <a:r>
              <a:rPr lang="en-US" dirty="0"/>
              <a:t>Second level</a:t>
            </a:r>
          </a:p>
          <a:p>
            <a:pPr lvl="2"/>
            <a:r>
              <a:rPr lang="en-US" dirty="0"/>
              <a:t>Third level</a:t>
            </a:r>
          </a:p>
        </p:txBody>
      </p:sp>
      <p:sp>
        <p:nvSpPr>
          <p:cNvPr id="7" name="Return to main slide Link 2">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081528" y="6348550"/>
            <a:ext cx="2980944" cy="228600"/>
          </a:xfrm>
          <a:prstGeom prst="rect">
            <a:avLst/>
          </a:prstGeom>
        </p:spPr>
        <p:txBody>
          <a:bodyPr vert="horz" lIns="91440" tIns="45720" rIns="91440" bIns="45720" rtlCol="0" anchor="ctr">
            <a:noAutofit/>
          </a:bodyPr>
          <a:lstStyle>
            <a:lvl1pPr>
              <a:defRPr lang="en-US" sz="1200" dirty="0"/>
            </a:lvl1pPr>
          </a:lstStyle>
          <a:p>
            <a:pPr lvl="0" algn="ctr"/>
            <a:r>
              <a:rPr lang="en-US" dirty="0"/>
              <a:t>Return to parent-slide containing images.</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61396"/>
          </a:xfrm>
          <a:prstGeom prst="rect">
            <a:avLst/>
          </a:prstGeom>
        </p:spPr>
        <p:txBody>
          <a:bodyPr/>
          <a:lstStyle/>
          <a:p>
            <a:fld id="{68151E55-6873-49E2-B8D5-2F265E6F1973}" type="slidenum">
              <a:rPr lang="en-US" smtClean="0"/>
              <a:t>‹#›</a:t>
            </a:fld>
            <a:endParaRPr lang="en-US"/>
          </a:p>
        </p:txBody>
      </p:sp>
    </p:spTree>
    <p:extLst>
      <p:ext uri="{BB962C8B-B14F-4D97-AF65-F5344CB8AC3E}">
        <p14:creationId xmlns:p14="http://schemas.microsoft.com/office/powerpoint/2010/main" val="2505933215"/>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guide id="3" pos="2880">
          <p15:clr>
            <a:srgbClr val="FBAE40"/>
          </p15:clr>
        </p15:guide>
        <p15:guide id="4" pos="2976">
          <p15:clr>
            <a:srgbClr val="FBAE40"/>
          </p15:clr>
        </p15:guide>
        <p15:guide id="5" pos="2784">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2.xml"/><Relationship Id="rId13" Type="http://schemas.openxmlformats.org/officeDocument/2006/relationships/slideLayout" Target="../slideLayouts/slideLayout17.xml"/><Relationship Id="rId18" Type="http://schemas.openxmlformats.org/officeDocument/2006/relationships/theme" Target="../theme/theme2.xml"/><Relationship Id="rId3" Type="http://schemas.openxmlformats.org/officeDocument/2006/relationships/slideLayout" Target="../slideLayouts/slideLayout7.xml"/><Relationship Id="rId7" Type="http://schemas.openxmlformats.org/officeDocument/2006/relationships/slideLayout" Target="../slideLayouts/slideLayout11.xml"/><Relationship Id="rId12" Type="http://schemas.openxmlformats.org/officeDocument/2006/relationships/slideLayout" Target="../slideLayouts/slideLayout16.xml"/><Relationship Id="rId17" Type="http://schemas.openxmlformats.org/officeDocument/2006/relationships/slideLayout" Target="../slideLayouts/slideLayout21.xml"/><Relationship Id="rId2" Type="http://schemas.openxmlformats.org/officeDocument/2006/relationships/slideLayout" Target="../slideLayouts/slideLayout6.xml"/><Relationship Id="rId16" Type="http://schemas.openxmlformats.org/officeDocument/2006/relationships/slideLayout" Target="../slideLayouts/slideLayout20.xml"/><Relationship Id="rId1" Type="http://schemas.openxmlformats.org/officeDocument/2006/relationships/slideLayout" Target="../slideLayouts/slideLayout5.xml"/><Relationship Id="rId6" Type="http://schemas.openxmlformats.org/officeDocument/2006/relationships/slideLayout" Target="../slideLayouts/slideLayout10.xml"/><Relationship Id="rId11" Type="http://schemas.openxmlformats.org/officeDocument/2006/relationships/slideLayout" Target="../slideLayouts/slideLayout15.xml"/><Relationship Id="rId5" Type="http://schemas.openxmlformats.org/officeDocument/2006/relationships/slideLayout" Target="../slideLayouts/slideLayout9.xml"/><Relationship Id="rId15" Type="http://schemas.openxmlformats.org/officeDocument/2006/relationships/slideLayout" Target="../slideLayouts/slideLayout19.xml"/><Relationship Id="rId10" Type="http://schemas.openxmlformats.org/officeDocument/2006/relationships/slideLayout" Target="../slideLayouts/slideLayout14.xml"/><Relationship Id="rId4" Type="http://schemas.openxmlformats.org/officeDocument/2006/relationships/slideLayout" Target="../slideLayouts/slideLayout8.xml"/><Relationship Id="rId9" Type="http://schemas.openxmlformats.org/officeDocument/2006/relationships/slideLayout" Target="../slideLayouts/slideLayout13.xml"/><Relationship Id="rId14" Type="http://schemas.openxmlformats.org/officeDocument/2006/relationships/slideLayout" Target="../slideLayouts/slideLayout18.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24.xml"/><Relationship Id="rId2" Type="http://schemas.openxmlformats.org/officeDocument/2006/relationships/slideLayout" Target="../slideLayouts/slideLayout23.xml"/><Relationship Id="rId1" Type="http://schemas.openxmlformats.org/officeDocument/2006/relationships/slideLayout" Target="../slideLayouts/slideLayout22.xml"/><Relationship Id="rId4"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3" Type="http://schemas.openxmlformats.org/officeDocument/2006/relationships/slideLayout" Target="../slideLayouts/slideLayout27.xml"/><Relationship Id="rId2" Type="http://schemas.openxmlformats.org/officeDocument/2006/relationships/slideLayout" Target="../slideLayouts/slideLayout26.xml"/><Relationship Id="rId1" Type="http://schemas.openxmlformats.org/officeDocument/2006/relationships/slideLayout" Target="../slideLayouts/slideLayout25.xml"/><Relationship Id="rId4" Type="http://schemas.openxmlformats.org/officeDocument/2006/relationships/theme" Target="../theme/theme4.xml"/></Relationships>
</file>

<file path=ppt/slideMasters/_rels/slideMaster5.xml.rels><?xml version="1.0" encoding="UTF-8" standalone="yes"?>
<Relationships xmlns="http://schemas.openxmlformats.org/package/2006/relationships"><Relationship Id="rId3" Type="http://schemas.openxmlformats.org/officeDocument/2006/relationships/theme" Target="../theme/theme5.xml"/><Relationship Id="rId2" Type="http://schemas.openxmlformats.org/officeDocument/2006/relationships/slideLayout" Target="../slideLayouts/slideLayout29.xml"/><Relationship Id="rId1" Type="http://schemas.openxmlformats.org/officeDocument/2006/relationships/slideLayout" Target="../slideLayouts/slideLayout2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MGH logo">
            <a:extLst>
              <a:ext uri="{FF2B5EF4-FFF2-40B4-BE49-F238E27FC236}">
                <a16:creationId xmlns:a16="http://schemas.microsoft.com/office/drawing/2014/main" id="{BF372B49-B6F5-4826-B4F8-2F8A4FFF8894}"/>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294106" y="283845"/>
            <a:ext cx="999514" cy="999514"/>
          </a:xfrm>
          <a:prstGeom prst="rect">
            <a:avLst/>
          </a:prstGeom>
        </p:spPr>
      </p:pic>
      <p:sp>
        <p:nvSpPr>
          <p:cNvPr id="3" name="MGH Tagline">
            <a:extLst>
              <a:ext uri="{FF2B5EF4-FFF2-40B4-BE49-F238E27FC236}">
                <a16:creationId xmlns:a16="http://schemas.microsoft.com/office/drawing/2014/main" id="{70E12349-CEA7-4006-B6E3-3E283BDBD258}"/>
              </a:ext>
            </a:extLst>
          </p:cNvPr>
          <p:cNvSpPr txBox="1"/>
          <p:nvPr userDrawn="1"/>
        </p:nvSpPr>
        <p:spPr>
          <a:xfrm>
            <a:off x="5060273" y="337349"/>
            <a:ext cx="3873993" cy="338554"/>
          </a:xfrm>
          <a:prstGeom prst="rect">
            <a:avLst/>
          </a:prstGeom>
          <a:noFill/>
        </p:spPr>
        <p:txBody>
          <a:bodyPr wrap="square" lIns="45720" rIns="4572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spc="40" dirty="0">
                <a:effectLst/>
                <a:latin typeface="Arial" panose="020B0604020202020204" pitchFamily="34" charset="0"/>
                <a:ea typeface="Calibri" panose="020F0502020204030204" pitchFamily="34" charset="0"/>
              </a:rPr>
              <a:t>Because learning changes everything.</a:t>
            </a:r>
            <a:r>
              <a:rPr lang="en-US" sz="1050" spc="40" baseline="60000" dirty="0">
                <a:effectLst/>
                <a:latin typeface="Arial" panose="020B0604020202020204" pitchFamily="34" charset="0"/>
                <a:ea typeface="Calibri" panose="020F0502020204030204" pitchFamily="34" charset="0"/>
              </a:rPr>
              <a:t>®</a:t>
            </a:r>
            <a:endParaRPr lang="en-US" sz="1600" spc="40" baseline="60000" dirty="0"/>
          </a:p>
        </p:txBody>
      </p:sp>
      <p:sp>
        <p:nvSpPr>
          <p:cNvPr id="5" name="Long Copyright"/>
          <p:cNvSpPr>
            <a:spLocks noGrp="1"/>
          </p:cNvSpPr>
          <p:nvPr>
            <p:ph type="ftr" sz="quarter" idx="3"/>
          </p:nvPr>
        </p:nvSpPr>
        <p:spPr>
          <a:xfrm>
            <a:off x="0" y="6478439"/>
            <a:ext cx="9144000" cy="379562"/>
          </a:xfrm>
          <a:prstGeom prst="rect">
            <a:avLst/>
          </a:prstGeom>
        </p:spPr>
        <p:txBody>
          <a:bodyPr vert="horz" lIns="91440" tIns="45720" rIns="91440" bIns="45720" rtlCol="0" anchor="ctr"/>
          <a:lstStyle>
            <a:lvl1pPr algn="ctr">
              <a:defRPr sz="800">
                <a:solidFill>
                  <a:schemeClr val="tx1">
                    <a:lumMod val="50000"/>
                    <a:lumOff val="50000"/>
                  </a:schemeClr>
                </a:solidFill>
              </a:defRPr>
            </a:lvl1pPr>
          </a:lstStyle>
          <a:p>
            <a:pPr defTabSz="457200">
              <a:spcBef>
                <a:spcPct val="20000"/>
              </a:spcBef>
              <a:defRPr/>
            </a:pPr>
            <a:r>
              <a:rPr lang="en-US" dirty="0"/>
              <a:t>Add long copyright</a:t>
            </a:r>
          </a:p>
        </p:txBody>
      </p:sp>
      <p:sp>
        <p:nvSpPr>
          <p:cNvPr id="8" name="MGH Yellow Line">
            <a:extLst>
              <a:ext uri="{FF2B5EF4-FFF2-40B4-BE49-F238E27FC236}">
                <a16:creationId xmlns:a16="http://schemas.microsoft.com/office/drawing/2014/main" id="{86E6E250-D1F9-6444-A77C-4DC8C64A97D7}"/>
              </a:ext>
              <a:ext uri="{C183D7F6-B498-43B3-948B-1728B52AA6E4}">
                <adec:decorative xmlns:adec="http://schemas.microsoft.com/office/drawing/2017/decorative" val="1"/>
              </a:ext>
            </a:extLst>
          </p:cNvPr>
          <p:cNvSpPr/>
          <p:nvPr userDrawn="1"/>
        </p:nvSpPr>
        <p:spPr>
          <a:xfrm>
            <a:off x="0" y="6432547"/>
            <a:ext cx="9144000" cy="5459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895458715"/>
      </p:ext>
    </p:extLst>
  </p:cSld>
  <p:clrMap bg1="lt1" tx1="dk1" bg2="lt2" tx2="dk2" accent1="accent1" accent2="accent2" accent3="accent3" accent4="accent4" accent5="accent5" accent6="accent6" hlink="hlink" folHlink="folHlink"/>
  <p:sldLayoutIdLst>
    <p:sldLayoutId id="2147483680" r:id="rId1"/>
    <p:sldLayoutId id="2147483681" r:id="rId2"/>
    <p:sldLayoutId id="2147483682" r:id="rId3"/>
    <p:sldLayoutId id="2147483683" r:id="rId4"/>
  </p:sldLayoutIdLst>
  <p:hf hdr="0" dt="0"/>
  <p:txStyles>
    <p:titleStyle>
      <a:lvl1pPr algn="l" defTabSz="914400" rtl="0" eaLnBrk="1" latinLnBrk="0" hangingPunct="1">
        <a:lnSpc>
          <a:spcPct val="90000"/>
        </a:lnSpc>
        <a:spcBef>
          <a:spcPct val="0"/>
        </a:spcBef>
        <a:buNone/>
        <a:defRPr sz="2400" b="1" kern="1200">
          <a:solidFill>
            <a:schemeClr val="tx2"/>
          </a:solidFill>
          <a:latin typeface="+mj-lt"/>
          <a:ea typeface="+mj-ea"/>
          <a:cs typeface="+mj-cs"/>
        </a:defRPr>
      </a:lvl1pPr>
    </p:titleStyle>
    <p:bodyStyle>
      <a:lvl1pPr marL="0" marR="0" indent="0" algn="l" defTabSz="914400" rtl="0" eaLnBrk="1" fontAlgn="auto" latinLnBrk="0" hangingPunct="1">
        <a:lnSpc>
          <a:spcPct val="100000"/>
        </a:lnSpc>
        <a:spcBef>
          <a:spcPts val="1200"/>
        </a:spcBef>
        <a:spcAft>
          <a:spcPts val="0"/>
        </a:spcAft>
        <a:buClrTx/>
        <a:buSzTx/>
        <a:buFont typeface="Arial" panose="020B0604020202020204" pitchFamily="34" charset="0"/>
        <a:buNone/>
        <a:tabLst/>
        <a:defRPr sz="1400" kern="1200" baseline="0">
          <a:solidFill>
            <a:schemeClr val="tx2"/>
          </a:solidFill>
          <a:latin typeface="+mn-lt"/>
          <a:ea typeface="+mn-ea"/>
          <a:cs typeface="+mn-cs"/>
        </a:defRPr>
      </a:lvl1pPr>
      <a:lvl2pPr marL="230188" indent="-228600" algn="l" defTabSz="914400" rtl="0" eaLnBrk="1" latinLnBrk="0" hangingPunct="1">
        <a:lnSpc>
          <a:spcPct val="100000"/>
        </a:lnSpc>
        <a:spcBef>
          <a:spcPts val="800"/>
        </a:spcBef>
        <a:buClrTx/>
        <a:buFont typeface="Arial" panose="020B0604020202020204" pitchFamily="34" charset="0"/>
        <a:buChar char="•"/>
        <a:defRPr sz="2000" kern="1200">
          <a:solidFill>
            <a:schemeClr val="tx2"/>
          </a:solidFill>
          <a:latin typeface="+mn-lt"/>
          <a:ea typeface="+mn-ea"/>
          <a:cs typeface="+mn-cs"/>
        </a:defRPr>
      </a:lvl2pPr>
      <a:lvl3pPr marL="460375" indent="-228600" algn="l" defTabSz="914400" rtl="0" eaLnBrk="1" latinLnBrk="0" hangingPunct="1">
        <a:lnSpc>
          <a:spcPct val="100000"/>
        </a:lnSpc>
        <a:spcBef>
          <a:spcPts val="800"/>
        </a:spcBef>
        <a:buFont typeface="Arial" panose="020B0604020202020204" pitchFamily="34" charset="0"/>
        <a:buChar char="•"/>
        <a:defRPr sz="1800" kern="1200">
          <a:solidFill>
            <a:schemeClr val="tx2"/>
          </a:solidFill>
          <a:latin typeface="+mn-lt"/>
          <a:ea typeface="+mn-ea"/>
          <a:cs typeface="+mn-cs"/>
        </a:defRPr>
      </a:lvl3pPr>
      <a:lvl4pPr marL="455613"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60">
          <p15:clr>
            <a:srgbClr val="F26B43"/>
          </p15:clr>
        </p15:guide>
        <p15:guide id="2" orient="horz" pos="192">
          <p15:clr>
            <a:srgbClr val="F26B43"/>
          </p15:clr>
        </p15:guide>
        <p15:guide id="5" pos="2880">
          <p15:clr>
            <a:srgbClr val="F26B43"/>
          </p15:clr>
        </p15:guide>
        <p15:guide id="6" pos="216">
          <p15:clr>
            <a:srgbClr val="F26B43"/>
          </p15:clr>
        </p15:guide>
        <p15:guide id="7" pos="5544">
          <p15:clr>
            <a:srgbClr val="F26B43"/>
          </p15:clr>
        </p15:guide>
        <p15:guide id="9" orient="horz" pos="4211">
          <p15:clr>
            <a:srgbClr val="F26B43"/>
          </p15:clr>
        </p15:guide>
        <p15:guide id="10" orient="horz" pos="960">
          <p15:clr>
            <a:srgbClr val="F26B43"/>
          </p15:clr>
        </p15:guide>
        <p15:guide id="11" orient="horz" pos="4104">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itle Placeholder">
            <a:extLst>
              <a:ext uri="{FF2B5EF4-FFF2-40B4-BE49-F238E27FC236}">
                <a16:creationId xmlns:a16="http://schemas.microsoft.com/office/drawing/2014/main" id="{881C4C4E-EEEF-442A-AE3B-63C7E062F18C}"/>
              </a:ext>
            </a:extLst>
          </p:cNvPr>
          <p:cNvSpPr>
            <a:spLocks noGrp="1"/>
          </p:cNvSpPr>
          <p:nvPr>
            <p:ph type="title"/>
          </p:nvPr>
        </p:nvSpPr>
        <p:spPr>
          <a:xfrm>
            <a:off x="342900" y="136257"/>
            <a:ext cx="8458200" cy="685800"/>
          </a:xfrm>
          <a:prstGeom prst="rect">
            <a:avLst/>
          </a:prstGeom>
        </p:spPr>
        <p:txBody>
          <a:bodyPr vert="horz" lIns="91440" tIns="45720" rIns="91440" bIns="45720" rtlCol="0" anchor="ctr">
            <a:noAutofit/>
          </a:bodyPr>
          <a:lstStyle/>
          <a:p>
            <a:r>
              <a:rPr lang="en-US" dirty="0"/>
              <a:t>Title goes here</a:t>
            </a:r>
          </a:p>
        </p:txBody>
      </p:sp>
      <p:sp>
        <p:nvSpPr>
          <p:cNvPr id="5" name="Text Placeholder">
            <a:extLst>
              <a:ext uri="{FF2B5EF4-FFF2-40B4-BE49-F238E27FC236}">
                <a16:creationId xmlns:a16="http://schemas.microsoft.com/office/drawing/2014/main" id="{4F2C87DD-ADFA-433D-B7C8-4E9E42BC9E0F}"/>
              </a:ext>
            </a:extLst>
          </p:cNvPr>
          <p:cNvSpPr>
            <a:spLocks noGrp="1"/>
          </p:cNvSpPr>
          <p:nvPr>
            <p:ph type="body" idx="1"/>
          </p:nvPr>
        </p:nvSpPr>
        <p:spPr>
          <a:xfrm>
            <a:off x="342900" y="1273877"/>
            <a:ext cx="8458200" cy="4944374"/>
          </a:xfrm>
          <a:prstGeom prst="rect">
            <a:avLst/>
          </a:prstGeom>
        </p:spPr>
        <p:txBody>
          <a:bodyPr vert="horz" lIns="91440" tIns="45720" rIns="91440" bIns="45720" rtlCol="0">
            <a:noAutofit/>
          </a:bodyPr>
          <a:lstStyle/>
          <a:p>
            <a:pPr lvl="0"/>
            <a:r>
              <a:rPr lang="en-US" dirty="0"/>
              <a:t>Edit Master text styles</a:t>
            </a:r>
          </a:p>
          <a:p>
            <a:pPr lvl="1"/>
            <a:r>
              <a:rPr lang="en-US" dirty="0"/>
              <a:t>Second level</a:t>
            </a:r>
          </a:p>
          <a:p>
            <a:pPr lvl="2"/>
            <a:r>
              <a:rPr lang="en-US" dirty="0"/>
              <a:t>Third level</a:t>
            </a:r>
          </a:p>
        </p:txBody>
      </p:sp>
      <p:sp>
        <p:nvSpPr>
          <p:cNvPr id="8" name="MGH Yellow Line">
            <a:extLst>
              <a:ext uri="{FF2B5EF4-FFF2-40B4-BE49-F238E27FC236}">
                <a16:creationId xmlns:a16="http://schemas.microsoft.com/office/drawing/2014/main" id="{86E6E250-D1F9-6444-A77C-4DC8C64A97D7}"/>
              </a:ext>
              <a:ext uri="{C183D7F6-B498-43B3-948B-1728B52AA6E4}">
                <adec:decorative xmlns:adec="http://schemas.microsoft.com/office/drawing/2017/decorative" val="1"/>
              </a:ext>
            </a:extLst>
          </p:cNvPr>
          <p:cNvSpPr/>
          <p:nvPr userDrawn="1"/>
        </p:nvSpPr>
        <p:spPr>
          <a:xfrm>
            <a:off x="0" y="6622319"/>
            <a:ext cx="9144000" cy="5459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Short Copyright">
            <a:extLst>
              <a:ext uri="{FF2B5EF4-FFF2-40B4-BE49-F238E27FC236}">
                <a16:creationId xmlns:a16="http://schemas.microsoft.com/office/drawing/2014/main" id="{36838A37-515E-4F5C-BF9F-CE51891A9C27}"/>
              </a:ext>
            </a:extLst>
          </p:cNvPr>
          <p:cNvSpPr txBox="1"/>
          <p:nvPr userDrawn="1"/>
        </p:nvSpPr>
        <p:spPr>
          <a:xfrm>
            <a:off x="215658" y="6664280"/>
            <a:ext cx="1233578" cy="215444"/>
          </a:xfrm>
          <a:prstGeom prst="rect">
            <a:avLst/>
          </a:prstGeom>
          <a:noFill/>
        </p:spPr>
        <p:txBody>
          <a:bodyPr wrap="square" lIns="45720" rIns="45720" rtlCol="0" anchor="ctr">
            <a:spAutoFit/>
          </a:bodyPr>
          <a:lstStyle/>
          <a:p>
            <a:r>
              <a:rPr lang="en-US" sz="800" b="0" dirty="0">
                <a:solidFill>
                  <a:schemeClr val="tx1">
                    <a:lumMod val="65000"/>
                    <a:lumOff val="35000"/>
                  </a:schemeClr>
                </a:solidFill>
              </a:rPr>
              <a:t>© McGraw Hill</a:t>
            </a:r>
          </a:p>
        </p:txBody>
      </p:sp>
      <p:sp>
        <p:nvSpPr>
          <p:cNvPr id="10" name="Slide Number Placeholder">
            <a:extLst>
              <a:ext uri="{FF2B5EF4-FFF2-40B4-BE49-F238E27FC236}">
                <a16:creationId xmlns:a16="http://schemas.microsoft.com/office/drawing/2014/main" id="{A9994BA6-A29E-44A0-A7B3-164E7D8FE393}"/>
              </a:ext>
            </a:extLst>
          </p:cNvPr>
          <p:cNvSpPr>
            <a:spLocks noGrp="1"/>
          </p:cNvSpPr>
          <p:nvPr>
            <p:ph type="sldNum" sz="quarter" idx="4"/>
          </p:nvPr>
        </p:nvSpPr>
        <p:spPr>
          <a:xfrm>
            <a:off x="8626412" y="6673531"/>
            <a:ext cx="355840" cy="161396"/>
          </a:xfrm>
          <a:prstGeom prst="rect">
            <a:avLst/>
          </a:prstGeom>
        </p:spPr>
        <p:txBody>
          <a:bodyPr/>
          <a:lstStyle>
            <a:lvl1pPr>
              <a:defRPr sz="800"/>
            </a:lvl1pPr>
          </a:lstStyle>
          <a:p>
            <a:fld id="{68151E55-6873-49E2-B8D5-2F265E6F1973}" type="slidenum">
              <a:rPr lang="en-US" smtClean="0"/>
              <a:pPr/>
              <a:t>‹#›</a:t>
            </a:fld>
            <a:endParaRPr lang="en-US" dirty="0"/>
          </a:p>
        </p:txBody>
      </p:sp>
    </p:spTree>
    <p:extLst>
      <p:ext uri="{BB962C8B-B14F-4D97-AF65-F5344CB8AC3E}">
        <p14:creationId xmlns:p14="http://schemas.microsoft.com/office/powerpoint/2010/main" val="881564708"/>
      </p:ext>
    </p:extLst>
  </p:cSld>
  <p:clrMap bg1="lt1" tx1="dk1" bg2="lt2" tx2="dk2" accent1="accent1" accent2="accent2" accent3="accent3" accent4="accent4" accent5="accent5" accent6="accent6" hlink="hlink" folHlink="folHlink"/>
  <p:sldLayoutIdLst>
    <p:sldLayoutId id="2147483692" r:id="rId1"/>
    <p:sldLayoutId id="2147483717" r:id="rId2"/>
    <p:sldLayoutId id="2147483706" r:id="rId3"/>
    <p:sldLayoutId id="2147483709" r:id="rId4"/>
    <p:sldLayoutId id="2147483707" r:id="rId5"/>
    <p:sldLayoutId id="2147483708" r:id="rId6"/>
    <p:sldLayoutId id="2147483711" r:id="rId7"/>
    <p:sldLayoutId id="2147483716" r:id="rId8"/>
    <p:sldLayoutId id="2147483693" r:id="rId9"/>
    <p:sldLayoutId id="2147483719" r:id="rId10"/>
    <p:sldLayoutId id="2147483718" r:id="rId11"/>
    <p:sldLayoutId id="2147483699" r:id="rId12"/>
    <p:sldLayoutId id="2147483720" r:id="rId13"/>
    <p:sldLayoutId id="2147483695" r:id="rId14"/>
    <p:sldLayoutId id="2147483696" r:id="rId15"/>
    <p:sldLayoutId id="2147483697" r:id="rId16"/>
    <p:sldLayoutId id="2147483721" r:id="rId17"/>
  </p:sldLayoutIdLst>
  <p:hf hdr="0" dt="0"/>
  <p:txStyles>
    <p:titleStyle>
      <a:lvl1pPr algn="l" defTabSz="914400" rtl="0" eaLnBrk="1" latinLnBrk="0" hangingPunct="1">
        <a:lnSpc>
          <a:spcPct val="90000"/>
        </a:lnSpc>
        <a:spcBef>
          <a:spcPct val="0"/>
        </a:spcBef>
        <a:buNone/>
        <a:defRPr sz="3600" b="1" kern="1200">
          <a:solidFill>
            <a:schemeClr val="tx2"/>
          </a:solidFill>
          <a:latin typeface="+mj-lt"/>
          <a:ea typeface="+mj-ea"/>
          <a:cs typeface="+mj-cs"/>
        </a:defRPr>
      </a:lvl1pPr>
    </p:titleStyle>
    <p:body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2400" kern="1200">
          <a:solidFill>
            <a:schemeClr val="tx2"/>
          </a:solidFill>
          <a:latin typeface="+mn-lt"/>
          <a:ea typeface="+mn-ea"/>
          <a:cs typeface="+mn-cs"/>
        </a:defRPr>
      </a:lvl1pPr>
      <a:lvl2pPr marL="292608" indent="-292608" algn="l" defTabSz="914400" rtl="0" eaLnBrk="1" latinLnBrk="0" hangingPunct="1">
        <a:lnSpc>
          <a:spcPct val="100000"/>
        </a:lnSpc>
        <a:spcBef>
          <a:spcPts val="1000"/>
        </a:spcBef>
        <a:spcAft>
          <a:spcPts val="0"/>
        </a:spcAft>
        <a:buClrTx/>
        <a:buFont typeface="Arial" panose="020B0604020202020204" pitchFamily="34" charset="0"/>
        <a:buChar char="•"/>
        <a:defRPr sz="2400" kern="1200">
          <a:solidFill>
            <a:schemeClr val="tx2"/>
          </a:solidFill>
          <a:latin typeface="+mn-lt"/>
          <a:ea typeface="+mn-ea"/>
          <a:cs typeface="+mn-cs"/>
        </a:defRPr>
      </a:lvl2pPr>
      <a:lvl3pPr marL="622800" indent="-292608" algn="l" defTabSz="914400" rtl="0" eaLnBrk="1" latinLnBrk="0" hangingPunct="1">
        <a:lnSpc>
          <a:spcPct val="100000"/>
        </a:lnSpc>
        <a:spcBef>
          <a:spcPts val="1000"/>
        </a:spcBef>
        <a:spcAft>
          <a:spcPts val="0"/>
        </a:spcAft>
        <a:buFont typeface="Arial" panose="020B0604020202020204" pitchFamily="34" charset="0"/>
        <a:buChar char="•"/>
        <a:defRPr sz="2000" kern="1200">
          <a:solidFill>
            <a:schemeClr val="tx2"/>
          </a:solidFill>
          <a:latin typeface="+mn-lt"/>
          <a:ea typeface="+mn-ea"/>
          <a:cs typeface="+mn-cs"/>
        </a:defRPr>
      </a:lvl3pPr>
      <a:lvl4pPr marL="741363" indent="-285750" algn="l" defTabSz="914400" rtl="0" eaLnBrk="1" latinLnBrk="0" hangingPunct="1">
        <a:lnSpc>
          <a:spcPct val="100000"/>
        </a:lnSpc>
        <a:spcBef>
          <a:spcPts val="800"/>
        </a:spcBef>
        <a:spcAft>
          <a:spcPts val="800"/>
        </a:spcAft>
        <a:buFont typeface="Arial" panose="020B0604020202020204" pitchFamily="34" charset="0"/>
        <a:buChar char="•"/>
        <a:defRPr sz="1200" kern="1200">
          <a:solidFill>
            <a:schemeClr val="tx1"/>
          </a:solidFill>
          <a:latin typeface="+mn-lt"/>
          <a:ea typeface="+mn-ea"/>
          <a:cs typeface="+mn-cs"/>
        </a:defRPr>
      </a:lvl4pPr>
      <a:lvl5pPr marL="971550" indent="-285750" algn="l" defTabSz="914400" rtl="0" eaLnBrk="1" latinLnBrk="0" hangingPunct="1">
        <a:lnSpc>
          <a:spcPct val="100000"/>
        </a:lnSpc>
        <a:spcBef>
          <a:spcPts val="8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orient="horz" pos="192">
          <p15:clr>
            <a:srgbClr val="F26B43"/>
          </p15:clr>
        </p15:guide>
        <p15:guide id="6" pos="216">
          <p15:clr>
            <a:srgbClr val="F26B43"/>
          </p15:clr>
        </p15:guide>
        <p15:guide id="7" pos="5544">
          <p15:clr>
            <a:srgbClr val="F26B43"/>
          </p15:clr>
        </p15:guide>
        <p15:guide id="9" orient="horz" pos="4211">
          <p15:clr>
            <a:srgbClr val="F26B43"/>
          </p15:clr>
        </p15:guide>
        <p15:guide id="10" orient="horz" pos="624" userDrawn="1">
          <p15:clr>
            <a:srgbClr val="F26B43"/>
          </p15:clr>
        </p15:guide>
        <p15:guide id="11" orient="horz" pos="4104">
          <p15:clr>
            <a:srgbClr val="F26B43"/>
          </p15:clr>
        </p15:guide>
        <p15:guide id="12" orient="horz" pos="864" userDrawn="1">
          <p15:clr>
            <a:srgbClr val="F26B43"/>
          </p15:clr>
        </p15:guide>
        <p15:guide id="13" orient="horz" pos="360" userDrawn="1">
          <p15:clr>
            <a:srgbClr val="F26B43"/>
          </p15:clr>
        </p15:guide>
        <p15:guide id="14" orient="horz" pos="3936" userDrawn="1">
          <p15:clr>
            <a:srgbClr val="F26B43"/>
          </p15:clr>
        </p15:guide>
        <p15:guide id="15" pos="984" userDrawn="1">
          <p15:clr>
            <a:srgbClr val="F26B43"/>
          </p15:clr>
        </p15:guide>
        <p15:guide id="16" pos="5376" userDrawn="1">
          <p15:clr>
            <a:srgbClr val="F26B43"/>
          </p15:clr>
        </p15:guide>
        <p15:guide id="17" pos="264"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5" name="Footer Placeholder 4"/>
          <p:cNvSpPr>
            <a:spLocks noGrp="1"/>
          </p:cNvSpPr>
          <p:nvPr>
            <p:ph type="ftr" sz="quarter" idx="3"/>
          </p:nvPr>
        </p:nvSpPr>
        <p:spPr>
          <a:xfrm>
            <a:off x="0" y="6495691"/>
            <a:ext cx="9144000" cy="362309"/>
          </a:xfrm>
          <a:prstGeom prst="rect">
            <a:avLst/>
          </a:prstGeom>
        </p:spPr>
        <p:txBody>
          <a:bodyPr vert="horz" lIns="91440" tIns="45720" rIns="91440" bIns="45720" rtlCol="0" anchor="ctr"/>
          <a:lstStyle>
            <a:lvl1pPr algn="ctr">
              <a:defRPr sz="800">
                <a:solidFill>
                  <a:schemeClr val="tx1">
                    <a:lumMod val="50000"/>
                    <a:lumOff val="50000"/>
                  </a:schemeClr>
                </a:solidFill>
              </a:defRPr>
            </a:lvl1pPr>
          </a:lstStyle>
          <a:p>
            <a:r>
              <a:rPr lang="en-US" dirty="0"/>
              <a:t>Add long copyright line here</a:t>
            </a:r>
          </a:p>
        </p:txBody>
      </p:sp>
      <p:sp>
        <p:nvSpPr>
          <p:cNvPr id="6" name="MGH Yellow Line">
            <a:extLst>
              <a:ext uri="{FF2B5EF4-FFF2-40B4-BE49-F238E27FC236}">
                <a16:creationId xmlns:a16="http://schemas.microsoft.com/office/drawing/2014/main" id="{F20163A4-4644-4B17-9C8A-EF42A992331B}"/>
              </a:ext>
              <a:ext uri="{C183D7F6-B498-43B3-948B-1728B52AA6E4}">
                <adec:decorative xmlns:adec="http://schemas.microsoft.com/office/drawing/2017/decorative" val="1"/>
              </a:ext>
            </a:extLst>
          </p:cNvPr>
          <p:cNvSpPr/>
          <p:nvPr userDrawn="1"/>
        </p:nvSpPr>
        <p:spPr>
          <a:xfrm>
            <a:off x="0" y="6432547"/>
            <a:ext cx="9144000" cy="5459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437998185"/>
      </p:ext>
    </p:extLst>
  </p:cSld>
  <p:clrMap bg1="lt1" tx1="dk1" bg2="lt2" tx2="dk2" accent1="accent1" accent2="accent2" accent3="accent3" accent4="accent4" accent5="accent5" accent6="accent6" hlink="hlink" folHlink="folHlink"/>
  <p:sldLayoutIdLst>
    <p:sldLayoutId id="2147483685" r:id="rId1"/>
    <p:sldLayoutId id="2147483705" r:id="rId2"/>
    <p:sldLayoutId id="2147483723" r:id="rId3"/>
  </p:sldLayoutIdLst>
  <p:hf hdr="0" dt="0"/>
  <p:txStyles>
    <p:titleStyle>
      <a:lvl1pPr algn="ctr" defTabSz="914400" rtl="0" eaLnBrk="1" latinLnBrk="0" hangingPunct="1">
        <a:lnSpc>
          <a:spcPct val="90000"/>
        </a:lnSpc>
        <a:spcBef>
          <a:spcPct val="0"/>
        </a:spcBef>
        <a:buNone/>
        <a:defRPr sz="1600" b="0" kern="1200">
          <a:solidFill>
            <a:schemeClr val="tx2"/>
          </a:solidFill>
          <a:latin typeface="+mj-lt"/>
          <a:ea typeface="+mj-ea"/>
          <a:cs typeface="+mj-cs"/>
        </a:defRPr>
      </a:lvl1pPr>
    </p:titleStyle>
    <p:bodyStyle>
      <a:lvl1pPr marL="0" marR="0" indent="0" algn="ctr" defTabSz="914400" rtl="0" eaLnBrk="1" fontAlgn="auto" latinLnBrk="0" hangingPunct="1">
        <a:lnSpc>
          <a:spcPct val="100000"/>
        </a:lnSpc>
        <a:spcBef>
          <a:spcPts val="0"/>
        </a:spcBef>
        <a:spcAft>
          <a:spcPts val="0"/>
        </a:spcAft>
        <a:buClrTx/>
        <a:buSzTx/>
        <a:buFontTx/>
        <a:buNone/>
        <a:tabLst/>
        <a:defRPr sz="2000" kern="1200">
          <a:solidFill>
            <a:schemeClr val="tx2"/>
          </a:solidFill>
          <a:latin typeface="+mn-lt"/>
          <a:ea typeface="+mn-ea"/>
          <a:cs typeface="+mn-cs"/>
        </a:defRPr>
      </a:lvl1pPr>
      <a:lvl2pPr marL="230188" indent="-228600" algn="l" defTabSz="914400" rtl="0" eaLnBrk="1" latinLnBrk="0" hangingPunct="1">
        <a:lnSpc>
          <a:spcPct val="100000"/>
        </a:lnSpc>
        <a:spcBef>
          <a:spcPts val="800"/>
        </a:spcBef>
        <a:buClrTx/>
        <a:buFont typeface="Arial" panose="020B0604020202020204" pitchFamily="34" charset="0"/>
        <a:buChar char="•"/>
        <a:defRPr sz="2000" kern="1200">
          <a:solidFill>
            <a:schemeClr val="tx2"/>
          </a:solidFill>
          <a:latin typeface="+mn-lt"/>
          <a:ea typeface="+mn-ea"/>
          <a:cs typeface="+mn-cs"/>
        </a:defRPr>
      </a:lvl2pPr>
      <a:lvl3pPr marL="460375" indent="-228600" algn="l" defTabSz="914400" rtl="0" eaLnBrk="1" latinLnBrk="0" hangingPunct="1">
        <a:lnSpc>
          <a:spcPct val="100000"/>
        </a:lnSpc>
        <a:spcBef>
          <a:spcPts val="800"/>
        </a:spcBef>
        <a:buFont typeface="Arial" panose="020B0604020202020204" pitchFamily="34" charset="0"/>
        <a:buChar char="•"/>
        <a:defRPr sz="1800" kern="1200">
          <a:solidFill>
            <a:schemeClr val="tx2"/>
          </a:solidFill>
          <a:latin typeface="+mn-lt"/>
          <a:ea typeface="+mn-ea"/>
          <a:cs typeface="+mn-cs"/>
        </a:defRPr>
      </a:lvl3pPr>
      <a:lvl4pPr marL="455613"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60">
          <p15:clr>
            <a:srgbClr val="F26B43"/>
          </p15:clr>
        </p15:guide>
        <p15:guide id="2" orient="horz" pos="192">
          <p15:clr>
            <a:srgbClr val="F26B43"/>
          </p15:clr>
        </p15:guide>
        <p15:guide id="5" pos="2112" userDrawn="1">
          <p15:clr>
            <a:srgbClr val="F26B43"/>
          </p15:clr>
        </p15:guide>
        <p15:guide id="6" pos="216">
          <p15:clr>
            <a:srgbClr val="F26B43"/>
          </p15:clr>
        </p15:guide>
        <p15:guide id="7" pos="5544">
          <p15:clr>
            <a:srgbClr val="F26B43"/>
          </p15:clr>
        </p15:guide>
        <p15:guide id="9" orient="horz" pos="4211">
          <p15:clr>
            <a:srgbClr val="F26B43"/>
          </p15:clr>
        </p15:guide>
        <p15:guide id="10" orient="horz" pos="624" userDrawn="1">
          <p15:clr>
            <a:srgbClr val="F26B43"/>
          </p15:clr>
        </p15:guide>
        <p15:guide id="11" orient="horz" pos="4104">
          <p15:clr>
            <a:srgbClr val="F26B43"/>
          </p15:clr>
        </p15:guide>
        <p15:guide id="12" orient="horz" pos="2160" userDrawn="1">
          <p15:clr>
            <a:srgbClr val="F26B43"/>
          </p15:clr>
        </p15:guide>
        <p15:guide id="13" pos="3648" userDrawn="1">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4" name="Text Placeholder">
            <a:extLst>
              <a:ext uri="{FF2B5EF4-FFF2-40B4-BE49-F238E27FC236}">
                <a16:creationId xmlns:a16="http://schemas.microsoft.com/office/drawing/2014/main" id="{BEB99B55-73FB-42B4-93ED-C5E818675C31}"/>
              </a:ext>
            </a:extLst>
          </p:cNvPr>
          <p:cNvSpPr>
            <a:spLocks noGrp="1"/>
          </p:cNvSpPr>
          <p:nvPr>
            <p:ph type="body" idx="1"/>
          </p:nvPr>
        </p:nvSpPr>
        <p:spPr>
          <a:xfrm>
            <a:off x="342901" y="1976546"/>
            <a:ext cx="6480593" cy="4351338"/>
          </a:xfrm>
          <a:prstGeom prst="rect">
            <a:avLst/>
          </a:prstGeom>
        </p:spPr>
        <p:txBody>
          <a:bodyPr vert="horz" lIns="91440" tIns="45720" rIns="91440" bIns="45720" rtlCol="0">
            <a:normAutofit/>
          </a:bodyPr>
          <a:lstStyle/>
          <a:p>
            <a:pPr lvl="0"/>
            <a:r>
              <a:rPr lang="en-US" dirty="0"/>
              <a:t>Slide Content</a:t>
            </a:r>
          </a:p>
          <a:p>
            <a:pPr lvl="2"/>
            <a:r>
              <a:rPr lang="en-US" dirty="0"/>
              <a:t>Second level</a:t>
            </a:r>
          </a:p>
          <a:p>
            <a:pPr lvl="3"/>
            <a:r>
              <a:rPr lang="en-US" dirty="0"/>
              <a:t>Third level</a:t>
            </a:r>
          </a:p>
        </p:txBody>
      </p:sp>
      <p:sp>
        <p:nvSpPr>
          <p:cNvPr id="8" name="MGH Yellow Line">
            <a:extLst>
              <a:ext uri="{FF2B5EF4-FFF2-40B4-BE49-F238E27FC236}">
                <a16:creationId xmlns:a16="http://schemas.microsoft.com/office/drawing/2014/main" id="{86E6E250-D1F9-6444-A77C-4DC8C64A97D7}"/>
              </a:ext>
              <a:ext uri="{C183D7F6-B498-43B3-948B-1728B52AA6E4}">
                <adec:decorative xmlns:adec="http://schemas.microsoft.com/office/drawing/2017/decorative" val="1"/>
              </a:ext>
            </a:extLst>
          </p:cNvPr>
          <p:cNvSpPr/>
          <p:nvPr userDrawn="1"/>
        </p:nvSpPr>
        <p:spPr>
          <a:xfrm>
            <a:off x="0" y="6622319"/>
            <a:ext cx="9144000" cy="5459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Short Copyright">
            <a:extLst>
              <a:ext uri="{FF2B5EF4-FFF2-40B4-BE49-F238E27FC236}">
                <a16:creationId xmlns:a16="http://schemas.microsoft.com/office/drawing/2014/main" id="{36838A37-515E-4F5C-BF9F-CE51891A9C27}"/>
              </a:ext>
            </a:extLst>
          </p:cNvPr>
          <p:cNvSpPr txBox="1"/>
          <p:nvPr userDrawn="1"/>
        </p:nvSpPr>
        <p:spPr>
          <a:xfrm>
            <a:off x="224279" y="6660234"/>
            <a:ext cx="1285344" cy="215444"/>
          </a:xfrm>
          <a:prstGeom prst="rect">
            <a:avLst/>
          </a:prstGeom>
          <a:noFill/>
        </p:spPr>
        <p:txBody>
          <a:bodyPr wrap="square" lIns="45720" rIns="45720" rtlCol="0" anchor="ctr">
            <a:spAutoFit/>
          </a:bodyPr>
          <a:lstStyle/>
          <a:p>
            <a:r>
              <a:rPr lang="en-US" sz="800" b="0" dirty="0">
                <a:solidFill>
                  <a:schemeClr val="tx1">
                    <a:lumMod val="65000"/>
                    <a:lumOff val="35000"/>
                  </a:schemeClr>
                </a:solidFill>
              </a:rPr>
              <a:t>© McGraw Hill</a:t>
            </a:r>
          </a:p>
        </p:txBody>
      </p:sp>
      <p:grpSp>
        <p:nvGrpSpPr>
          <p:cNvPr id="6" name="MGH Shape">
            <a:extLst>
              <a:ext uri="{FF2B5EF4-FFF2-40B4-BE49-F238E27FC236}">
                <a16:creationId xmlns:a16="http://schemas.microsoft.com/office/drawing/2014/main" id="{B719ECBD-8119-4217-9D58-2638FA4365C1}"/>
              </a:ext>
              <a:ext uri="{C183D7F6-B498-43B3-948B-1728B52AA6E4}">
                <adec:decorative xmlns:adec="http://schemas.microsoft.com/office/drawing/2017/decorative" val="1"/>
              </a:ext>
            </a:extLst>
          </p:cNvPr>
          <p:cNvGrpSpPr/>
          <p:nvPr userDrawn="1"/>
        </p:nvGrpSpPr>
        <p:grpSpPr>
          <a:xfrm>
            <a:off x="6622742" y="0"/>
            <a:ext cx="2521258" cy="6623843"/>
            <a:chOff x="3491346" y="0"/>
            <a:chExt cx="2508933" cy="6367263"/>
          </a:xfrm>
        </p:grpSpPr>
        <p:sp>
          <p:nvSpPr>
            <p:cNvPr id="9" name="Freeform 11">
              <a:extLst>
                <a:ext uri="{FF2B5EF4-FFF2-40B4-BE49-F238E27FC236}">
                  <a16:creationId xmlns:a16="http://schemas.microsoft.com/office/drawing/2014/main" id="{FCAD01AC-30CD-4728-B0FD-543493B2CE55}"/>
                </a:ext>
              </a:extLst>
            </p:cNvPr>
            <p:cNvSpPr/>
            <p:nvPr/>
          </p:nvSpPr>
          <p:spPr>
            <a:xfrm rot="10800000">
              <a:off x="5468761" y="1352709"/>
              <a:ext cx="531517" cy="1821241"/>
            </a:xfrm>
            <a:custGeom>
              <a:avLst/>
              <a:gdLst>
                <a:gd name="connsiteX0" fmla="*/ 0 w 531517"/>
                <a:gd name="connsiteY0" fmla="*/ 1821241 h 1821241"/>
                <a:gd name="connsiteX1" fmla="*/ 0 w 531517"/>
                <a:gd name="connsiteY1" fmla="*/ 0 h 1821241"/>
                <a:gd name="connsiteX2" fmla="*/ 531517 w 531517"/>
                <a:gd name="connsiteY2" fmla="*/ 672400 h 1821241"/>
                <a:gd name="connsiteX3" fmla="*/ 0 w 531517"/>
                <a:gd name="connsiteY3" fmla="*/ 1821241 h 1821241"/>
              </a:gdLst>
              <a:ahLst/>
              <a:cxnLst>
                <a:cxn ang="0">
                  <a:pos x="connsiteX0" y="connsiteY0"/>
                </a:cxn>
                <a:cxn ang="0">
                  <a:pos x="connsiteX1" y="connsiteY1"/>
                </a:cxn>
                <a:cxn ang="0">
                  <a:pos x="connsiteX2" y="connsiteY2"/>
                </a:cxn>
                <a:cxn ang="0">
                  <a:pos x="connsiteX3" y="connsiteY3"/>
                </a:cxn>
              </a:cxnLst>
              <a:rect l="l" t="t" r="r" b="b"/>
              <a:pathLst>
                <a:path w="531517" h="1821241">
                  <a:moveTo>
                    <a:pt x="0" y="1821241"/>
                  </a:moveTo>
                  <a:lnTo>
                    <a:pt x="0" y="0"/>
                  </a:lnTo>
                  <a:lnTo>
                    <a:pt x="531517" y="672400"/>
                  </a:lnTo>
                  <a:lnTo>
                    <a:pt x="0" y="1821241"/>
                  </a:lnTo>
                  <a:close/>
                </a:path>
              </a:pathLst>
            </a:custGeom>
            <a:solidFill>
              <a:srgbClr val="9F224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2"/>
                </a:solidFill>
              </a:endParaRPr>
            </a:p>
          </p:txBody>
        </p:sp>
        <p:sp>
          <p:nvSpPr>
            <p:cNvPr id="10" name="Freeform 12">
              <a:extLst>
                <a:ext uri="{FF2B5EF4-FFF2-40B4-BE49-F238E27FC236}">
                  <a16:creationId xmlns:a16="http://schemas.microsoft.com/office/drawing/2014/main" id="{9A51DD71-B849-456F-A479-25728C0B26F4}"/>
                </a:ext>
              </a:extLst>
            </p:cNvPr>
            <p:cNvSpPr/>
            <p:nvPr/>
          </p:nvSpPr>
          <p:spPr>
            <a:xfrm rot="10800000">
              <a:off x="3491346" y="0"/>
              <a:ext cx="2508932" cy="2501550"/>
            </a:xfrm>
            <a:custGeom>
              <a:avLst/>
              <a:gdLst>
                <a:gd name="connsiteX0" fmla="*/ 2508932 w 2508932"/>
                <a:gd name="connsiteY0" fmla="*/ 2501550 h 2501550"/>
                <a:gd name="connsiteX1" fmla="*/ 0 w 2508932"/>
                <a:gd name="connsiteY1" fmla="*/ 2501550 h 2501550"/>
                <a:gd name="connsiteX2" fmla="*/ 0 w 2508932"/>
                <a:gd name="connsiteY2" fmla="*/ 1148841 h 2501550"/>
                <a:gd name="connsiteX3" fmla="*/ 531517 w 2508932"/>
                <a:gd name="connsiteY3" fmla="*/ 0 h 2501550"/>
                <a:gd name="connsiteX4" fmla="*/ 2508932 w 2508932"/>
                <a:gd name="connsiteY4" fmla="*/ 2501550 h 25015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08932" h="2501550">
                  <a:moveTo>
                    <a:pt x="2508932" y="2501550"/>
                  </a:moveTo>
                  <a:lnTo>
                    <a:pt x="0" y="2501550"/>
                  </a:lnTo>
                  <a:lnTo>
                    <a:pt x="0" y="1148841"/>
                  </a:lnTo>
                  <a:lnTo>
                    <a:pt x="531517" y="0"/>
                  </a:lnTo>
                  <a:lnTo>
                    <a:pt x="2508932" y="2501550"/>
                  </a:lnTo>
                  <a:close/>
                </a:path>
              </a:pathLst>
            </a:custGeom>
            <a:solidFill>
              <a:srgbClr val="E2DF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2"/>
                </a:solidFill>
              </a:endParaRPr>
            </a:p>
          </p:txBody>
        </p:sp>
        <p:sp>
          <p:nvSpPr>
            <p:cNvPr id="11" name="Freeform 13">
              <a:extLst>
                <a:ext uri="{FF2B5EF4-FFF2-40B4-BE49-F238E27FC236}">
                  <a16:creationId xmlns:a16="http://schemas.microsoft.com/office/drawing/2014/main" id="{CE349BEA-4244-4589-91D3-1DECC6AB1E90}"/>
                </a:ext>
              </a:extLst>
            </p:cNvPr>
            <p:cNvSpPr/>
            <p:nvPr/>
          </p:nvSpPr>
          <p:spPr>
            <a:xfrm rot="10800000">
              <a:off x="3680272" y="1352707"/>
              <a:ext cx="2320007" cy="5014556"/>
            </a:xfrm>
            <a:custGeom>
              <a:avLst/>
              <a:gdLst>
                <a:gd name="connsiteX0" fmla="*/ 0 w 2320007"/>
                <a:gd name="connsiteY0" fmla="*/ 5014556 h 5014556"/>
                <a:gd name="connsiteX1" fmla="*/ 0 w 2320007"/>
                <a:gd name="connsiteY1" fmla="*/ 0 h 5014556"/>
                <a:gd name="connsiteX2" fmla="*/ 2320007 w 2320007"/>
                <a:gd name="connsiteY2" fmla="*/ 0 h 5014556"/>
                <a:gd name="connsiteX3" fmla="*/ 531518 w 2320007"/>
                <a:gd name="connsiteY3" fmla="*/ 3865713 h 5014556"/>
                <a:gd name="connsiteX4" fmla="*/ 1 w 2320007"/>
                <a:gd name="connsiteY4" fmla="*/ 3193313 h 5014556"/>
                <a:gd name="connsiteX5" fmla="*/ 1 w 2320007"/>
                <a:gd name="connsiteY5" fmla="*/ 5014554 h 5014556"/>
                <a:gd name="connsiteX6" fmla="*/ 0 w 2320007"/>
                <a:gd name="connsiteY6" fmla="*/ 5014556 h 5014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20007" h="5014556">
                  <a:moveTo>
                    <a:pt x="0" y="5014556"/>
                  </a:moveTo>
                  <a:lnTo>
                    <a:pt x="0" y="0"/>
                  </a:lnTo>
                  <a:lnTo>
                    <a:pt x="2320007" y="0"/>
                  </a:lnTo>
                  <a:lnTo>
                    <a:pt x="531518" y="3865713"/>
                  </a:lnTo>
                  <a:lnTo>
                    <a:pt x="1" y="3193313"/>
                  </a:lnTo>
                  <a:lnTo>
                    <a:pt x="1" y="5014554"/>
                  </a:lnTo>
                  <a:lnTo>
                    <a:pt x="0" y="50145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2"/>
                </a:solidFill>
              </a:endParaRPr>
            </a:p>
          </p:txBody>
        </p:sp>
      </p:grpSp>
      <p:sp>
        <p:nvSpPr>
          <p:cNvPr id="13" name="Title Placeholder">
            <a:extLst>
              <a:ext uri="{FF2B5EF4-FFF2-40B4-BE49-F238E27FC236}">
                <a16:creationId xmlns:a16="http://schemas.microsoft.com/office/drawing/2014/main" id="{34622483-C344-43F3-82BE-D7AE2DFFFAB0}"/>
              </a:ext>
            </a:extLst>
          </p:cNvPr>
          <p:cNvSpPr>
            <a:spLocks noGrp="1"/>
          </p:cNvSpPr>
          <p:nvPr>
            <p:ph type="title"/>
          </p:nvPr>
        </p:nvSpPr>
        <p:spPr>
          <a:xfrm>
            <a:off x="342900" y="136257"/>
            <a:ext cx="6073803" cy="685800"/>
          </a:xfrm>
          <a:prstGeom prst="rect">
            <a:avLst/>
          </a:prstGeom>
        </p:spPr>
        <p:txBody>
          <a:bodyPr vert="horz" lIns="91440" tIns="45720" rIns="91440" bIns="45720" rtlCol="0" anchor="ctr">
            <a:normAutofit/>
          </a:bodyPr>
          <a:lstStyle/>
          <a:p>
            <a:r>
              <a:rPr lang="en-US" dirty="0"/>
              <a:t>Title goes here</a:t>
            </a:r>
          </a:p>
        </p:txBody>
      </p:sp>
    </p:spTree>
    <p:extLst>
      <p:ext uri="{BB962C8B-B14F-4D97-AF65-F5344CB8AC3E}">
        <p14:creationId xmlns:p14="http://schemas.microsoft.com/office/powerpoint/2010/main" val="3690558099"/>
      </p:ext>
    </p:extLst>
  </p:cSld>
  <p:clrMap bg1="lt1" tx1="dk1" bg2="lt2" tx2="dk2" accent1="accent1" accent2="accent2" accent3="accent3" accent4="accent4" accent5="accent5" accent6="accent6" hlink="hlink" folHlink="folHlink"/>
  <p:sldLayoutIdLst>
    <p:sldLayoutId id="2147483690" r:id="rId1"/>
    <p:sldLayoutId id="2147483698" r:id="rId2"/>
    <p:sldLayoutId id="2147483722" r:id="rId3"/>
  </p:sldLayoutIdLst>
  <p:hf hdr="0" dt="0"/>
  <p:txStyles>
    <p:titleStyle>
      <a:lvl1pPr algn="l" defTabSz="914400" rtl="0" eaLnBrk="1" latinLnBrk="0" hangingPunct="1">
        <a:lnSpc>
          <a:spcPct val="90000"/>
        </a:lnSpc>
        <a:spcBef>
          <a:spcPct val="0"/>
        </a:spcBef>
        <a:buNone/>
        <a:defRPr sz="2400" b="1" kern="1200">
          <a:solidFill>
            <a:schemeClr val="tx2"/>
          </a:solidFill>
          <a:latin typeface="+mj-lt"/>
          <a:ea typeface="+mj-ea"/>
          <a:cs typeface="+mj-cs"/>
        </a:defRPr>
      </a:lvl1pPr>
    </p:titleStyle>
    <p:body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2000" kern="1200">
          <a:solidFill>
            <a:schemeClr val="tx2"/>
          </a:solidFill>
          <a:latin typeface="+mn-lt"/>
          <a:ea typeface="+mn-ea"/>
          <a:cs typeface="+mn-cs"/>
        </a:defRPr>
      </a:lvl1pPr>
      <a:lvl2pPr marL="1588" indent="0" algn="l" defTabSz="914400" rtl="0" eaLnBrk="1" latinLnBrk="0" hangingPunct="1">
        <a:lnSpc>
          <a:spcPct val="100000"/>
        </a:lnSpc>
        <a:spcBef>
          <a:spcPts val="800"/>
        </a:spcBef>
        <a:buClrTx/>
        <a:buFont typeface="Arial" panose="020B0604020202020204" pitchFamily="34" charset="0"/>
        <a:buNone/>
        <a:defRPr sz="2000" kern="1200">
          <a:solidFill>
            <a:schemeClr val="tx2"/>
          </a:solidFill>
          <a:latin typeface="+mn-lt"/>
          <a:ea typeface="+mn-ea"/>
          <a:cs typeface="+mn-cs"/>
        </a:defRPr>
      </a:lvl2pPr>
      <a:lvl3pPr marL="517525" indent="-285750" algn="l" defTabSz="914400" rtl="0" eaLnBrk="1" latinLnBrk="0" hangingPunct="1">
        <a:lnSpc>
          <a:spcPct val="100000"/>
        </a:lnSpc>
        <a:spcBef>
          <a:spcPts val="800"/>
        </a:spcBef>
        <a:buFont typeface="Arial" panose="020B0604020202020204" pitchFamily="34" charset="0"/>
        <a:buChar char="•"/>
        <a:defRPr sz="2000" kern="1200">
          <a:solidFill>
            <a:schemeClr val="tx2"/>
          </a:solidFill>
          <a:latin typeface="+mn-lt"/>
          <a:ea typeface="+mn-ea"/>
          <a:cs typeface="+mn-cs"/>
        </a:defRPr>
      </a:lvl3pPr>
      <a:lvl4pPr marL="741363" indent="-28575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60">
          <p15:clr>
            <a:srgbClr val="F26B43"/>
          </p15:clr>
        </p15:guide>
        <p15:guide id="2" orient="horz" pos="192">
          <p15:clr>
            <a:srgbClr val="F26B43"/>
          </p15:clr>
        </p15:guide>
        <p15:guide id="5" pos="5544" userDrawn="1">
          <p15:clr>
            <a:srgbClr val="F26B43"/>
          </p15:clr>
        </p15:guide>
        <p15:guide id="6" pos="216">
          <p15:clr>
            <a:srgbClr val="F26B43"/>
          </p15:clr>
        </p15:guide>
        <p15:guide id="7" pos="4296" userDrawn="1">
          <p15:clr>
            <a:srgbClr val="F26B43"/>
          </p15:clr>
        </p15:guide>
        <p15:guide id="9" orient="horz" pos="4211">
          <p15:clr>
            <a:srgbClr val="F26B43"/>
          </p15:clr>
        </p15:guide>
        <p15:guide id="10" orient="horz" pos="1248" userDrawn="1">
          <p15:clr>
            <a:srgbClr val="F26B43"/>
          </p15:clr>
        </p15:guide>
        <p15:guide id="11" orient="horz" pos="3984" userDrawn="1">
          <p15:clr>
            <a:srgbClr val="F26B43"/>
          </p15:clr>
        </p15:guide>
        <p15:guide id="12" orient="horz" pos="1656" userDrawn="1">
          <p15:clr>
            <a:srgbClr val="F26B43"/>
          </p15:clr>
        </p15:guide>
        <p15:guide id="13" pos="2980">
          <p15:clr>
            <a:srgbClr val="F26B43"/>
          </p15:clr>
        </p15:guide>
        <p15:guide id="14" orient="horz" pos="2260" userDrawn="1">
          <p15:clr>
            <a:srgbClr val="F26B43"/>
          </p15:clr>
        </p15:guide>
        <p15:guide id="15" pos="264" userDrawn="1">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itle Placeholder">
            <a:extLst>
              <a:ext uri="{FF2B5EF4-FFF2-40B4-BE49-F238E27FC236}">
                <a16:creationId xmlns:a16="http://schemas.microsoft.com/office/drawing/2014/main" id="{881C4C4E-EEEF-442A-AE3B-63C7E062F18C}"/>
              </a:ext>
            </a:extLst>
          </p:cNvPr>
          <p:cNvSpPr>
            <a:spLocks noGrp="1"/>
          </p:cNvSpPr>
          <p:nvPr>
            <p:ph type="title"/>
          </p:nvPr>
        </p:nvSpPr>
        <p:spPr>
          <a:xfrm>
            <a:off x="342900" y="136257"/>
            <a:ext cx="8458200" cy="685800"/>
          </a:xfrm>
          <a:prstGeom prst="rect">
            <a:avLst/>
          </a:prstGeom>
        </p:spPr>
        <p:txBody>
          <a:bodyPr vert="horz" lIns="91440" tIns="45720" rIns="91440" bIns="45720" rtlCol="0" anchor="ctr">
            <a:normAutofit/>
          </a:bodyPr>
          <a:lstStyle/>
          <a:p>
            <a:r>
              <a:rPr lang="en-US" dirty="0"/>
              <a:t>Title goes here</a:t>
            </a:r>
          </a:p>
        </p:txBody>
      </p:sp>
      <p:sp>
        <p:nvSpPr>
          <p:cNvPr id="5" name="Text Placeholder">
            <a:extLst>
              <a:ext uri="{FF2B5EF4-FFF2-40B4-BE49-F238E27FC236}">
                <a16:creationId xmlns:a16="http://schemas.microsoft.com/office/drawing/2014/main" id="{4F2C87DD-ADFA-433D-B7C8-4E9E42BC9E0F}"/>
              </a:ext>
            </a:extLst>
          </p:cNvPr>
          <p:cNvSpPr>
            <a:spLocks noGrp="1"/>
          </p:cNvSpPr>
          <p:nvPr>
            <p:ph type="body" idx="1"/>
          </p:nvPr>
        </p:nvSpPr>
        <p:spPr>
          <a:xfrm>
            <a:off x="342900" y="1371599"/>
            <a:ext cx="8458200" cy="4876801"/>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p:txBody>
      </p:sp>
      <p:sp>
        <p:nvSpPr>
          <p:cNvPr id="8" name="MGH Yellow Line">
            <a:extLst>
              <a:ext uri="{FF2B5EF4-FFF2-40B4-BE49-F238E27FC236}">
                <a16:creationId xmlns:a16="http://schemas.microsoft.com/office/drawing/2014/main" id="{86E6E250-D1F9-6444-A77C-4DC8C64A97D7}"/>
              </a:ext>
              <a:ext uri="{C183D7F6-B498-43B3-948B-1728B52AA6E4}">
                <adec:decorative xmlns:adec="http://schemas.microsoft.com/office/drawing/2017/decorative" val="1"/>
              </a:ext>
            </a:extLst>
          </p:cNvPr>
          <p:cNvSpPr/>
          <p:nvPr userDrawn="1"/>
        </p:nvSpPr>
        <p:spPr>
          <a:xfrm>
            <a:off x="0" y="6622319"/>
            <a:ext cx="9144000" cy="5459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Short Copyright">
            <a:extLst>
              <a:ext uri="{FF2B5EF4-FFF2-40B4-BE49-F238E27FC236}">
                <a16:creationId xmlns:a16="http://schemas.microsoft.com/office/drawing/2014/main" id="{36838A37-515E-4F5C-BF9F-CE51891A9C27}"/>
              </a:ext>
            </a:extLst>
          </p:cNvPr>
          <p:cNvSpPr txBox="1"/>
          <p:nvPr userDrawn="1"/>
        </p:nvSpPr>
        <p:spPr>
          <a:xfrm>
            <a:off x="215658" y="6664280"/>
            <a:ext cx="1233578" cy="215444"/>
          </a:xfrm>
          <a:prstGeom prst="rect">
            <a:avLst/>
          </a:prstGeom>
          <a:noFill/>
        </p:spPr>
        <p:txBody>
          <a:bodyPr wrap="square" lIns="45720" rIns="45720" rtlCol="0" anchor="ctr">
            <a:spAutoFit/>
          </a:bodyPr>
          <a:lstStyle/>
          <a:p>
            <a:r>
              <a:rPr lang="en-US" sz="800" b="0" dirty="0">
                <a:solidFill>
                  <a:schemeClr val="tx1">
                    <a:lumMod val="65000"/>
                    <a:lumOff val="35000"/>
                  </a:schemeClr>
                </a:solidFill>
              </a:rPr>
              <a:t>© McGraw Hill</a:t>
            </a:r>
          </a:p>
        </p:txBody>
      </p:sp>
    </p:spTree>
    <p:extLst>
      <p:ext uri="{BB962C8B-B14F-4D97-AF65-F5344CB8AC3E}">
        <p14:creationId xmlns:p14="http://schemas.microsoft.com/office/powerpoint/2010/main" val="2924093042"/>
      </p:ext>
    </p:extLst>
  </p:cSld>
  <p:clrMap bg1="lt1" tx1="dk1" bg2="lt2" tx2="dk2" accent1="accent1" accent2="accent2" accent3="accent3" accent4="accent4" accent5="accent5" accent6="accent6" hlink="hlink" folHlink="folHlink"/>
  <p:sldLayoutIdLst>
    <p:sldLayoutId id="2147483702" r:id="rId1"/>
    <p:sldLayoutId id="2147483703" r:id="rId2"/>
  </p:sldLayoutIdLst>
  <p:hf hdr="0" dt="0"/>
  <p:txStyles>
    <p:titleStyle>
      <a:lvl1pPr algn="l" defTabSz="914400" rtl="0" eaLnBrk="1" latinLnBrk="0" hangingPunct="1">
        <a:lnSpc>
          <a:spcPct val="90000"/>
        </a:lnSpc>
        <a:spcBef>
          <a:spcPct val="0"/>
        </a:spcBef>
        <a:buNone/>
        <a:defRPr sz="2400" b="1" kern="1200">
          <a:solidFill>
            <a:schemeClr val="tx2"/>
          </a:solidFill>
          <a:latin typeface="+mj-lt"/>
          <a:ea typeface="+mj-ea"/>
          <a:cs typeface="+mj-cs"/>
        </a:defRPr>
      </a:lvl1pPr>
    </p:titleStyle>
    <p:body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sz="2000" kern="1200">
          <a:solidFill>
            <a:schemeClr val="tx2"/>
          </a:solidFill>
          <a:latin typeface="+mn-lt"/>
          <a:ea typeface="+mn-ea"/>
          <a:cs typeface="+mn-cs"/>
        </a:defRPr>
      </a:lvl1pPr>
      <a:lvl2pPr marL="344488" indent="-342900" algn="l" defTabSz="914400" rtl="0" eaLnBrk="1" latinLnBrk="0" hangingPunct="1">
        <a:lnSpc>
          <a:spcPct val="100000"/>
        </a:lnSpc>
        <a:spcBef>
          <a:spcPts val="800"/>
        </a:spcBef>
        <a:spcAft>
          <a:spcPts val="800"/>
        </a:spcAft>
        <a:buClrTx/>
        <a:buFont typeface="Arial" panose="020B0604020202020204" pitchFamily="34" charset="0"/>
        <a:buChar char="•"/>
        <a:defRPr sz="2000" kern="1200">
          <a:solidFill>
            <a:schemeClr val="tx2"/>
          </a:solidFill>
          <a:latin typeface="+mn-lt"/>
          <a:ea typeface="+mn-ea"/>
          <a:cs typeface="+mn-cs"/>
        </a:defRPr>
      </a:lvl2pPr>
      <a:lvl3pPr marL="517525" indent="-285750" algn="l" defTabSz="914400" rtl="0" eaLnBrk="1" latinLnBrk="0" hangingPunct="1">
        <a:lnSpc>
          <a:spcPct val="100000"/>
        </a:lnSpc>
        <a:spcBef>
          <a:spcPts val="800"/>
        </a:spcBef>
        <a:spcAft>
          <a:spcPts val="800"/>
        </a:spcAft>
        <a:buFont typeface="Arial" panose="020B0604020202020204" pitchFamily="34" charset="0"/>
        <a:buChar char="•"/>
        <a:defRPr sz="1800" kern="1200">
          <a:solidFill>
            <a:schemeClr val="tx2"/>
          </a:solidFill>
          <a:latin typeface="+mn-lt"/>
          <a:ea typeface="+mn-ea"/>
          <a:cs typeface="+mn-cs"/>
        </a:defRPr>
      </a:lvl3pPr>
      <a:lvl4pPr marL="741363" indent="-285750" algn="l" defTabSz="914400" rtl="0" eaLnBrk="1" latinLnBrk="0" hangingPunct="1">
        <a:lnSpc>
          <a:spcPct val="100000"/>
        </a:lnSpc>
        <a:spcBef>
          <a:spcPts val="800"/>
        </a:spcBef>
        <a:spcAft>
          <a:spcPts val="800"/>
        </a:spcAft>
        <a:buFont typeface="Arial" panose="020B0604020202020204" pitchFamily="34" charset="0"/>
        <a:buChar char="•"/>
        <a:defRPr sz="1200" kern="1200">
          <a:solidFill>
            <a:schemeClr val="tx1"/>
          </a:solidFill>
          <a:latin typeface="+mn-lt"/>
          <a:ea typeface="+mn-ea"/>
          <a:cs typeface="+mn-cs"/>
        </a:defRPr>
      </a:lvl4pPr>
      <a:lvl5pPr marL="971550" indent="-285750" algn="l" defTabSz="914400" rtl="0" eaLnBrk="1" latinLnBrk="0" hangingPunct="1">
        <a:lnSpc>
          <a:spcPct val="100000"/>
        </a:lnSpc>
        <a:spcBef>
          <a:spcPts val="8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orient="horz" pos="192">
          <p15:clr>
            <a:srgbClr val="F26B43"/>
          </p15:clr>
        </p15:guide>
        <p15:guide id="6" pos="216">
          <p15:clr>
            <a:srgbClr val="F26B43"/>
          </p15:clr>
        </p15:guide>
        <p15:guide id="7" pos="5544">
          <p15:clr>
            <a:srgbClr val="F26B43"/>
          </p15:clr>
        </p15:guide>
        <p15:guide id="9" orient="horz" pos="4211">
          <p15:clr>
            <a:srgbClr val="F26B43"/>
          </p15:clr>
        </p15:guide>
        <p15:guide id="10" orient="horz" pos="624">
          <p15:clr>
            <a:srgbClr val="F26B43"/>
          </p15:clr>
        </p15:guide>
        <p15:guide id="11" orient="horz" pos="4104">
          <p15:clr>
            <a:srgbClr val="F26B43"/>
          </p15:clr>
        </p15:guide>
        <p15:guide id="12" orient="horz" pos="864">
          <p15:clr>
            <a:srgbClr val="F26B43"/>
          </p15:clr>
        </p15:guide>
        <p15:guide id="13" orient="horz" pos="360">
          <p15:clr>
            <a:srgbClr val="F26B43"/>
          </p15:clr>
        </p15:guide>
        <p15:guide id="14" orient="horz" pos="3936">
          <p15:clr>
            <a:srgbClr val="F26B43"/>
          </p15:clr>
        </p15:guide>
        <p15:guide id="15" pos="984">
          <p15:clr>
            <a:srgbClr val="F26B43"/>
          </p15:clr>
        </p15:guide>
        <p15:guide id="16" pos="5376">
          <p15:clr>
            <a:srgbClr val="F26B43"/>
          </p15:clr>
        </p15:guide>
        <p15:guide id="17" pos="264">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slide" Target="slide62.xml"/><Relationship Id="rId2" Type="http://schemas.openxmlformats.org/officeDocument/2006/relationships/image" Target="../media/image9.png"/><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9.xml.rels><?xml version="1.0" encoding="UTF-8" standalone="yes"?>
<Relationships xmlns="http://schemas.openxmlformats.org/package/2006/relationships"><Relationship Id="rId3" Type="http://schemas.openxmlformats.org/officeDocument/2006/relationships/hyperlink" Target="http://www.abiworld.org" TargetMode="External"/><Relationship Id="rId2" Type="http://schemas.openxmlformats.org/officeDocument/2006/relationships/image" Target="../media/image10.png"/><Relationship Id="rId1" Type="http://schemas.openxmlformats.org/officeDocument/2006/relationships/slideLayout" Target="../slideLayouts/slideLayout20.xml"/><Relationship Id="rId4" Type="http://schemas.openxmlformats.org/officeDocument/2006/relationships/slide" Target="slide6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2.xml.rels><?xml version="1.0" encoding="UTF-8" standalone="yes"?>
<Relationships xmlns="http://schemas.openxmlformats.org/package/2006/relationships"><Relationship Id="rId3" Type="http://schemas.openxmlformats.org/officeDocument/2006/relationships/slide" Target="slide64.xml"/><Relationship Id="rId2" Type="http://schemas.openxmlformats.org/officeDocument/2006/relationships/image" Target="../media/image11.png"/><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3.xml"/><Relationship Id="rId4" Type="http://schemas.openxmlformats.org/officeDocument/2006/relationships/slide" Target="slide6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3" Type="http://schemas.openxmlformats.org/officeDocument/2006/relationships/image" Target="../media/image14.wmf"/><Relationship Id="rId2" Type="http://schemas.openxmlformats.org/officeDocument/2006/relationships/oleObject" Target="../embeddings/oleObject1.bin"/><Relationship Id="rId1" Type="http://schemas.openxmlformats.org/officeDocument/2006/relationships/slideLayout" Target="../slideLayouts/slideLayout20.xml"/><Relationship Id="rId5" Type="http://schemas.openxmlformats.org/officeDocument/2006/relationships/slide" Target="slide66.xml"/><Relationship Id="rId4" Type="http://schemas.openxmlformats.org/officeDocument/2006/relationships/image" Target="../media/image15.png"/></Relationships>
</file>

<file path=ppt/slides/_rels/slide25.xml.rels><?xml version="1.0" encoding="UTF-8" standalone="yes"?>
<Relationships xmlns="http://schemas.openxmlformats.org/package/2006/relationships"><Relationship Id="rId3" Type="http://schemas.openxmlformats.org/officeDocument/2006/relationships/image" Target="../media/image16.wmf"/><Relationship Id="rId2" Type="http://schemas.openxmlformats.org/officeDocument/2006/relationships/oleObject" Target="../embeddings/oleObject2.bin"/><Relationship Id="rId1" Type="http://schemas.openxmlformats.org/officeDocument/2006/relationships/slideLayout" Target="../slideLayouts/slideLayout2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30.xml.rels><?xml version="1.0" encoding="UTF-8" standalone="yes"?>
<Relationships xmlns="http://schemas.openxmlformats.org/package/2006/relationships"><Relationship Id="rId3" Type="http://schemas.openxmlformats.org/officeDocument/2006/relationships/image" Target="../media/image17.wmf"/><Relationship Id="rId2" Type="http://schemas.openxmlformats.org/officeDocument/2006/relationships/oleObject" Target="../embeddings/oleObject3.bin"/><Relationship Id="rId1" Type="http://schemas.openxmlformats.org/officeDocument/2006/relationships/slideLayout" Target="../slideLayouts/slideLayout21.xml"/><Relationship Id="rId5" Type="http://schemas.openxmlformats.org/officeDocument/2006/relationships/image" Target="../media/image18.wmf"/><Relationship Id="rId4" Type="http://schemas.openxmlformats.org/officeDocument/2006/relationships/oleObject" Target="../embeddings/oleObject4.bin"/></Relationships>
</file>

<file path=ppt/slides/_rels/slide31.xml.rels><?xml version="1.0" encoding="UTF-8" standalone="yes"?>
<Relationships xmlns="http://schemas.openxmlformats.org/package/2006/relationships"><Relationship Id="rId3" Type="http://schemas.openxmlformats.org/officeDocument/2006/relationships/image" Target="../media/image19.wmf"/><Relationship Id="rId2" Type="http://schemas.openxmlformats.org/officeDocument/2006/relationships/oleObject" Target="../embeddings/oleObject5.bin"/><Relationship Id="rId1" Type="http://schemas.openxmlformats.org/officeDocument/2006/relationships/slideLayout" Target="../slideLayouts/slideLayout21.xml"/><Relationship Id="rId4" Type="http://schemas.openxmlformats.org/officeDocument/2006/relationships/image" Target="../media/image20.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3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0.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44.xml.rels><?xml version="1.0" encoding="UTF-8" standalone="yes"?>
<Relationships xmlns="http://schemas.openxmlformats.org/package/2006/relationships"><Relationship Id="rId8" Type="http://schemas.openxmlformats.org/officeDocument/2006/relationships/hyperlink" Target="http://www.federalreserve.gov/" TargetMode="External"/><Relationship Id="rId13" Type="http://schemas.openxmlformats.org/officeDocument/2006/relationships/hyperlink" Target="http://www.usa.gov/statistics" TargetMode="External"/><Relationship Id="rId3" Type="http://schemas.openxmlformats.org/officeDocument/2006/relationships/hyperlink" Target="http://www.bjs.gov/" TargetMode="External"/><Relationship Id="rId7" Type="http://schemas.openxmlformats.org/officeDocument/2006/relationships/hyperlink" Target="http://www.epa.gov/" TargetMode="External"/><Relationship Id="rId12" Type="http://schemas.openxmlformats.org/officeDocument/2006/relationships/hyperlink" Target="http://www.census.gov/" TargetMode="External"/><Relationship Id="rId2" Type="http://schemas.openxmlformats.org/officeDocument/2006/relationships/hyperlink" Target="http://www.bea.gov/" TargetMode="External"/><Relationship Id="rId16" Type="http://schemas.openxmlformats.org/officeDocument/2006/relationships/hyperlink" Target="http://www.who.int/en" TargetMode="External"/><Relationship Id="rId1" Type="http://schemas.openxmlformats.org/officeDocument/2006/relationships/slideLayout" Target="../slideLayouts/slideLayout20.xml"/><Relationship Id="rId6" Type="http://schemas.openxmlformats.org/officeDocument/2006/relationships/hyperlink" Target="http://www.gpo.gov/erp" TargetMode="External"/><Relationship Id="rId11" Type="http://schemas.openxmlformats.org/officeDocument/2006/relationships/hyperlink" Target="http://www.cdc.gov/nchs" TargetMode="External"/><Relationship Id="rId5" Type="http://schemas.openxmlformats.org/officeDocument/2006/relationships/hyperlink" Target="http://www.cia.gov/" TargetMode="External"/><Relationship Id="rId15" Type="http://schemas.openxmlformats.org/officeDocument/2006/relationships/hyperlink" Target="http://www.demographia.com/" TargetMode="External"/><Relationship Id="rId10" Type="http://schemas.openxmlformats.org/officeDocument/2006/relationships/hyperlink" Target="http://www.nces.ed.gov/" TargetMode="External"/><Relationship Id="rId4" Type="http://schemas.openxmlformats.org/officeDocument/2006/relationships/hyperlink" Target="http://www.bls.gov/" TargetMode="External"/><Relationship Id="rId9" Type="http://schemas.openxmlformats.org/officeDocument/2006/relationships/hyperlink" Target="http://www.fda.gov/" TargetMode="External"/><Relationship Id="rId14" Type="http://schemas.openxmlformats.org/officeDocument/2006/relationships/hyperlink" Target="http://www.worldbank.org/" TargetMode="Externa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3.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5.xml"/></Relationships>
</file>

<file path=ppt/slides/_rels/slide62.xml.rels><?xml version="1.0" encoding="UTF-8" standalone="yes"?>
<Relationships xmlns="http://schemas.openxmlformats.org/package/2006/relationships"><Relationship Id="rId2" Type="http://schemas.openxmlformats.org/officeDocument/2006/relationships/slide" Target="slide6.xml"/><Relationship Id="rId1" Type="http://schemas.openxmlformats.org/officeDocument/2006/relationships/slideLayout" Target="../slideLayouts/slideLayout28.xml"/></Relationships>
</file>

<file path=ppt/slides/_rels/slide63.xml.rels><?xml version="1.0" encoding="UTF-8" standalone="yes"?>
<Relationships xmlns="http://schemas.openxmlformats.org/package/2006/relationships"><Relationship Id="rId2" Type="http://schemas.openxmlformats.org/officeDocument/2006/relationships/slide" Target="slide9.xml"/><Relationship Id="rId1" Type="http://schemas.openxmlformats.org/officeDocument/2006/relationships/slideLayout" Target="../slideLayouts/slideLayout28.xml"/></Relationships>
</file>

<file path=ppt/slides/_rels/slide64.xml.rels><?xml version="1.0" encoding="UTF-8" standalone="yes"?>
<Relationships xmlns="http://schemas.openxmlformats.org/package/2006/relationships"><Relationship Id="rId2" Type="http://schemas.openxmlformats.org/officeDocument/2006/relationships/slide" Target="slide12.xml"/><Relationship Id="rId1" Type="http://schemas.openxmlformats.org/officeDocument/2006/relationships/slideLayout" Target="../slideLayouts/slideLayout28.xml"/></Relationships>
</file>

<file path=ppt/slides/_rels/slide65.xml.rels><?xml version="1.0" encoding="UTF-8" standalone="yes"?>
<Relationships xmlns="http://schemas.openxmlformats.org/package/2006/relationships"><Relationship Id="rId2" Type="http://schemas.openxmlformats.org/officeDocument/2006/relationships/slide" Target="slide18.xml"/><Relationship Id="rId1" Type="http://schemas.openxmlformats.org/officeDocument/2006/relationships/slideLayout" Target="../slideLayouts/slideLayout28.xml"/></Relationships>
</file>

<file path=ppt/slides/_rels/slide66.xml.rels><?xml version="1.0" encoding="UTF-8" standalone="yes"?>
<Relationships xmlns="http://schemas.openxmlformats.org/package/2006/relationships"><Relationship Id="rId2" Type="http://schemas.openxmlformats.org/officeDocument/2006/relationships/slide" Target="slide24.xml"/><Relationship Id="rId1" Type="http://schemas.openxmlformats.org/officeDocument/2006/relationships/slideLayout" Target="../slideLayouts/slideLayout2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A24FE50-6B4A-5263-6376-3D1234935845}"/>
              </a:ext>
            </a:extLst>
          </p:cNvPr>
          <p:cNvSpPr>
            <a:spLocks noGrp="1"/>
          </p:cNvSpPr>
          <p:nvPr>
            <p:ph type="ctrTitle"/>
          </p:nvPr>
        </p:nvSpPr>
        <p:spPr/>
        <p:txBody>
          <a:bodyPr/>
          <a:lstStyle/>
          <a:p>
            <a:r>
              <a:rPr lang="en-US" noProof="0" dirty="0"/>
              <a:t>Chapter 2</a:t>
            </a:r>
            <a:endParaRPr lang="en-IN" dirty="0"/>
          </a:p>
        </p:txBody>
      </p:sp>
      <p:sp>
        <p:nvSpPr>
          <p:cNvPr id="8" name="Subtitle 7">
            <a:extLst>
              <a:ext uri="{FF2B5EF4-FFF2-40B4-BE49-F238E27FC236}">
                <a16:creationId xmlns:a16="http://schemas.microsoft.com/office/drawing/2014/main" id="{082C392C-971E-32B3-D291-271201953891}"/>
              </a:ext>
            </a:extLst>
          </p:cNvPr>
          <p:cNvSpPr>
            <a:spLocks noGrp="1"/>
          </p:cNvSpPr>
          <p:nvPr>
            <p:ph type="subTitle" idx="1"/>
          </p:nvPr>
        </p:nvSpPr>
        <p:spPr/>
        <p:txBody>
          <a:bodyPr/>
          <a:lstStyle/>
          <a:p>
            <a:r>
              <a:rPr lang="en-US" dirty="0"/>
              <a:t>Data Collection</a:t>
            </a:r>
            <a:endParaRPr lang="en-IN" dirty="0"/>
          </a:p>
        </p:txBody>
      </p:sp>
      <p:pic>
        <p:nvPicPr>
          <p:cNvPr id="4" name="Picture 3" descr="The cover page of the book, Applied Statistics in Business and Economics. By, David P Doane and Lori E Seward.">
            <a:extLst>
              <a:ext uri="{FF2B5EF4-FFF2-40B4-BE49-F238E27FC236}">
                <a16:creationId xmlns:a16="http://schemas.microsoft.com/office/drawing/2014/main" id="{0DE171F9-ED88-3DCC-407A-34CC7E33E254}"/>
              </a:ext>
            </a:extLst>
          </p:cNvPr>
          <p:cNvPicPr>
            <a:picLocks noChangeAspect="1"/>
          </p:cNvPicPr>
          <p:nvPr/>
        </p:nvPicPr>
        <p:blipFill>
          <a:blip r:embed="rId2"/>
          <a:stretch>
            <a:fillRect/>
          </a:stretch>
        </p:blipFill>
        <p:spPr>
          <a:xfrm>
            <a:off x="4860462" y="901903"/>
            <a:ext cx="3855516" cy="5242284"/>
          </a:xfrm>
          <a:prstGeom prst="rect">
            <a:avLst/>
          </a:prstGeom>
        </p:spPr>
      </p:pic>
      <p:sp>
        <p:nvSpPr>
          <p:cNvPr id="2" name="Content Placeholder 3">
            <a:extLst>
              <a:ext uri="{FF2B5EF4-FFF2-40B4-BE49-F238E27FC236}">
                <a16:creationId xmlns:a16="http://schemas.microsoft.com/office/drawing/2014/main" id="{42B796E9-022D-DD29-514E-232A567E275B}"/>
              </a:ext>
            </a:extLst>
          </p:cNvPr>
          <p:cNvSpPr>
            <a:spLocks noGrp="1"/>
          </p:cNvSpPr>
          <p:nvPr>
            <p:ph sz="quarter" idx="11"/>
          </p:nvPr>
        </p:nvSpPr>
        <p:spPr>
          <a:xfrm>
            <a:off x="202224" y="6540156"/>
            <a:ext cx="8739552" cy="242481"/>
          </a:xfrm>
        </p:spPr>
        <p:txBody>
          <a:bodyPr/>
          <a:lstStyle/>
          <a:p>
            <a:pPr algn="ctr"/>
            <a:r>
              <a:rPr lang="en-US" sz="1200" dirty="0">
                <a:solidFill>
                  <a:schemeClr val="tx1"/>
                </a:solidFill>
              </a:rPr>
              <a:t>© McGraw Hill LLC. All rights reserved. No reproduction or distribution without the prior written consent of McGraw Hill LLC.</a:t>
            </a:r>
            <a:endParaRPr lang="en-US" sz="1200" dirty="0"/>
          </a:p>
        </p:txBody>
      </p:sp>
    </p:spTree>
    <p:extLst>
      <p:ext uri="{BB962C8B-B14F-4D97-AF65-F5344CB8AC3E}">
        <p14:creationId xmlns:p14="http://schemas.microsoft.com/office/powerpoint/2010/main" val="23761304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C71A13-2AA0-EEDA-B43D-0A713ECB4B69}"/>
              </a:ext>
            </a:extLst>
          </p:cNvPr>
          <p:cNvSpPr>
            <a:spLocks noGrp="1"/>
          </p:cNvSpPr>
          <p:nvPr>
            <p:ph type="title"/>
          </p:nvPr>
        </p:nvSpPr>
        <p:spPr>
          <a:xfrm>
            <a:off x="342900" y="192490"/>
            <a:ext cx="7886700" cy="903231"/>
          </a:xfrm>
        </p:spPr>
        <p:txBody>
          <a:bodyPr>
            <a:normAutofit/>
          </a:bodyPr>
          <a:lstStyle/>
          <a:p>
            <a:r>
              <a:rPr lang="en-US" sz="3600" dirty="0">
                <a:solidFill>
                  <a:schemeClr val="tx1"/>
                </a:solidFill>
                <a:cs typeface="Arial" charset="0"/>
              </a:rPr>
              <a:t>Chapter </a:t>
            </a:r>
            <a:r>
              <a:rPr lang="en-IN" sz="3600" dirty="0"/>
              <a:t>Learning Objectives</a:t>
            </a:r>
          </a:p>
        </p:txBody>
      </p:sp>
      <p:sp>
        <p:nvSpPr>
          <p:cNvPr id="3" name="Content Placeholder 2">
            <a:extLst>
              <a:ext uri="{FF2B5EF4-FFF2-40B4-BE49-F238E27FC236}">
                <a16:creationId xmlns:a16="http://schemas.microsoft.com/office/drawing/2014/main" id="{CD3F1CEC-0C65-B2F1-1193-EB9504808912}"/>
              </a:ext>
            </a:extLst>
          </p:cNvPr>
          <p:cNvSpPr>
            <a:spLocks noGrp="1"/>
          </p:cNvSpPr>
          <p:nvPr>
            <p:ph sz="quarter" idx="11"/>
          </p:nvPr>
        </p:nvSpPr>
        <p:spPr>
          <a:xfrm>
            <a:off x="8625840" y="57509"/>
            <a:ext cx="449580" cy="1658169"/>
          </a:xfrm>
        </p:spPr>
        <p:txBody>
          <a:bodyPr vert="vert" rIns="0"/>
          <a:lstStyle/>
          <a:p>
            <a:pPr marL="1025525" indent="-1025525"/>
            <a:r>
              <a:rPr lang="en-IN" b="1" dirty="0"/>
              <a:t>Chapter 2</a:t>
            </a:r>
          </a:p>
        </p:txBody>
      </p:sp>
      <p:sp>
        <p:nvSpPr>
          <p:cNvPr id="7" name="Content Placeholder 6"/>
          <p:cNvSpPr>
            <a:spLocks noGrp="1"/>
          </p:cNvSpPr>
          <p:nvPr>
            <p:ph sz="quarter" idx="14"/>
          </p:nvPr>
        </p:nvSpPr>
        <p:spPr>
          <a:xfrm>
            <a:off x="342900" y="1260475"/>
            <a:ext cx="8191500" cy="5292725"/>
          </a:xfrm>
        </p:spPr>
        <p:txBody>
          <a:bodyPr/>
          <a:lstStyle/>
          <a:p>
            <a:pPr marL="900113" indent="-900113"/>
            <a:r>
              <a:rPr lang="en-IN" sz="2000" b="1" dirty="0"/>
              <a:t>L</a:t>
            </a:r>
            <a:r>
              <a:rPr lang="en-IN" sz="100" b="1" dirty="0"/>
              <a:t> </a:t>
            </a:r>
            <a:r>
              <a:rPr lang="en-IN" sz="2000" b="1" dirty="0"/>
              <a:t>O 2.1: </a:t>
            </a:r>
            <a:r>
              <a:rPr lang="en-IN" sz="2000" dirty="0"/>
              <a:t>Use basic terminology for describing data and samples.</a:t>
            </a:r>
          </a:p>
          <a:p>
            <a:pPr marL="900113" indent="-900113"/>
            <a:r>
              <a:rPr lang="en-IN" sz="2000" b="1" dirty="0"/>
              <a:t>L</a:t>
            </a:r>
            <a:r>
              <a:rPr lang="en-IN" sz="100" b="1" dirty="0"/>
              <a:t> </a:t>
            </a:r>
            <a:r>
              <a:rPr lang="en-IN" sz="2000" b="1" dirty="0"/>
              <a:t>O 2.2: </a:t>
            </a:r>
            <a:r>
              <a:rPr lang="en-IN" sz="2000" dirty="0"/>
              <a:t>Explain the difference between numerical and categorical data.</a:t>
            </a:r>
          </a:p>
          <a:p>
            <a:pPr marL="930275" indent="-930275"/>
            <a:r>
              <a:rPr lang="en-IN" sz="2000" b="1" dirty="0"/>
              <a:t>L</a:t>
            </a:r>
            <a:r>
              <a:rPr lang="en-IN" sz="100" b="1" dirty="0"/>
              <a:t> </a:t>
            </a:r>
            <a:r>
              <a:rPr lang="en-IN" sz="2000" b="1" dirty="0"/>
              <a:t>O 2.3: </a:t>
            </a:r>
            <a:r>
              <a:rPr lang="en-IN" sz="2000" dirty="0"/>
              <a:t>Explain the difference between time series and cross-sectional data.</a:t>
            </a:r>
          </a:p>
          <a:p>
            <a:pPr marL="930275" indent="-930275"/>
            <a:r>
              <a:rPr lang="en-IN" sz="2000" b="1" dirty="0"/>
              <a:t>L</a:t>
            </a:r>
            <a:r>
              <a:rPr lang="en-IN" sz="100" b="1" dirty="0"/>
              <a:t> </a:t>
            </a:r>
            <a:r>
              <a:rPr lang="en-IN" sz="2000" b="1" dirty="0"/>
              <a:t>O 2.4: </a:t>
            </a:r>
            <a:r>
              <a:rPr lang="en-IN" sz="2000" dirty="0"/>
              <a:t>Recognize levels of measurement in data and ways of coding data.</a:t>
            </a:r>
          </a:p>
          <a:p>
            <a:pPr marL="900113" indent="-900113"/>
            <a:r>
              <a:rPr lang="en-IN" sz="2000" b="1" dirty="0"/>
              <a:t>L</a:t>
            </a:r>
            <a:r>
              <a:rPr lang="en-IN" sz="100" b="1" dirty="0"/>
              <a:t> </a:t>
            </a:r>
            <a:r>
              <a:rPr lang="en-IN" sz="2000" b="1" dirty="0"/>
              <a:t>O 2.5: </a:t>
            </a:r>
            <a:r>
              <a:rPr lang="en-IN" sz="2000" dirty="0"/>
              <a:t>Recognize a Likert scale and know how to use it.</a:t>
            </a:r>
          </a:p>
          <a:p>
            <a:pPr marL="900113" indent="-900113"/>
            <a:r>
              <a:rPr lang="en-IN" sz="2000" b="1" dirty="0"/>
              <a:t>L</a:t>
            </a:r>
            <a:r>
              <a:rPr lang="en-IN" sz="100" b="1" dirty="0"/>
              <a:t> </a:t>
            </a:r>
            <a:r>
              <a:rPr lang="en-IN" sz="2000" b="1" dirty="0"/>
              <a:t>O 2.6: </a:t>
            </a:r>
            <a:r>
              <a:rPr lang="en-IN" sz="2000" dirty="0"/>
              <a:t>Use the correct terminology for samples and populations.</a:t>
            </a:r>
          </a:p>
          <a:p>
            <a:pPr marL="930275" indent="-930275"/>
            <a:r>
              <a:rPr lang="en-IN" sz="2000" b="1" dirty="0"/>
              <a:t>L</a:t>
            </a:r>
            <a:r>
              <a:rPr lang="en-IN" sz="100" b="1" dirty="0"/>
              <a:t> </a:t>
            </a:r>
            <a:r>
              <a:rPr lang="en-IN" sz="2000" b="1" dirty="0"/>
              <a:t>O 2.7: </a:t>
            </a:r>
            <a:r>
              <a:rPr lang="en-IN" sz="2000" dirty="0"/>
              <a:t>Explain the common sampling methods and how to implement them.</a:t>
            </a:r>
          </a:p>
          <a:p>
            <a:pPr marL="900113" indent="-900113"/>
            <a:r>
              <a:rPr lang="en-IN" sz="2000" b="1" dirty="0"/>
              <a:t>L</a:t>
            </a:r>
            <a:r>
              <a:rPr lang="en-IN" sz="100" b="1" dirty="0"/>
              <a:t> </a:t>
            </a:r>
            <a:r>
              <a:rPr lang="en-IN" sz="2000" b="1" dirty="0"/>
              <a:t>O 2.8: </a:t>
            </a:r>
            <a:r>
              <a:rPr lang="en-IN" sz="2000" dirty="0"/>
              <a:t>Find everyday print or electronic data sources.</a:t>
            </a:r>
          </a:p>
          <a:p>
            <a:pPr marL="930275" indent="-930275"/>
            <a:r>
              <a:rPr lang="en-IN" sz="2000" b="1" dirty="0"/>
              <a:t>L</a:t>
            </a:r>
            <a:r>
              <a:rPr lang="en-IN" sz="100" b="1" dirty="0"/>
              <a:t> </a:t>
            </a:r>
            <a:r>
              <a:rPr lang="en-IN" sz="2000" b="1" dirty="0"/>
              <a:t>O 2.9: </a:t>
            </a:r>
            <a:r>
              <a:rPr lang="en-IN" sz="2000" dirty="0"/>
              <a:t>Describe basic elements of survey types, survey designs, and response scales.</a:t>
            </a:r>
          </a:p>
        </p:txBody>
      </p:sp>
      <p:sp>
        <p:nvSpPr>
          <p:cNvPr id="6" name="Slide Number Placeholder 5">
            <a:extLst>
              <a:ext uri="{FF2B5EF4-FFF2-40B4-BE49-F238E27FC236}">
                <a16:creationId xmlns:a16="http://schemas.microsoft.com/office/drawing/2014/main" id="{67326E3F-FB89-A6CD-B325-2C20B157C418}"/>
              </a:ext>
            </a:extLst>
          </p:cNvPr>
          <p:cNvSpPr>
            <a:spLocks noGrp="1"/>
          </p:cNvSpPr>
          <p:nvPr>
            <p:ph type="sldNum" sz="quarter" idx="10"/>
          </p:nvPr>
        </p:nvSpPr>
        <p:spPr/>
        <p:txBody>
          <a:bodyPr/>
          <a:lstStyle/>
          <a:p>
            <a:fld id="{68151E55-6873-49E2-B8D5-2F265E6F1973}" type="slidenum">
              <a:rPr lang="en-US" smtClean="0"/>
              <a:pPr/>
              <a:t>2</a:t>
            </a:fld>
            <a:endParaRPr lang="en-US" dirty="0"/>
          </a:p>
        </p:txBody>
      </p:sp>
    </p:spTree>
    <p:extLst>
      <p:ext uri="{BB962C8B-B14F-4D97-AF65-F5344CB8AC3E}">
        <p14:creationId xmlns:p14="http://schemas.microsoft.com/office/powerpoint/2010/main" val="4506256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C71A13-2AA0-EEDA-B43D-0A713ECB4B69}"/>
              </a:ext>
            </a:extLst>
          </p:cNvPr>
          <p:cNvSpPr>
            <a:spLocks noGrp="1"/>
          </p:cNvSpPr>
          <p:nvPr>
            <p:ph type="title"/>
          </p:nvPr>
        </p:nvSpPr>
        <p:spPr>
          <a:xfrm>
            <a:off x="342900" y="192490"/>
            <a:ext cx="6739825" cy="903231"/>
          </a:xfrm>
        </p:spPr>
        <p:txBody>
          <a:bodyPr>
            <a:normAutofit/>
          </a:bodyPr>
          <a:lstStyle/>
          <a:p>
            <a:r>
              <a:rPr lang="en-IN" sz="3600" dirty="0"/>
              <a:t>Variables and Data </a:t>
            </a:r>
            <a:r>
              <a:rPr lang="en-IN" sz="1000" b="0" dirty="0"/>
              <a:t>1</a:t>
            </a:r>
          </a:p>
        </p:txBody>
      </p:sp>
      <p:sp>
        <p:nvSpPr>
          <p:cNvPr id="3" name="Content Placeholder 2">
            <a:extLst>
              <a:ext uri="{FF2B5EF4-FFF2-40B4-BE49-F238E27FC236}">
                <a16:creationId xmlns:a16="http://schemas.microsoft.com/office/drawing/2014/main" id="{CD3F1CEC-0C65-B2F1-1193-EB9504808912}"/>
              </a:ext>
            </a:extLst>
          </p:cNvPr>
          <p:cNvSpPr>
            <a:spLocks noGrp="1"/>
          </p:cNvSpPr>
          <p:nvPr>
            <p:ph sz="quarter" idx="11"/>
          </p:nvPr>
        </p:nvSpPr>
        <p:spPr>
          <a:xfrm>
            <a:off x="8625840" y="57510"/>
            <a:ext cx="449580" cy="1290524"/>
          </a:xfrm>
        </p:spPr>
        <p:txBody>
          <a:bodyPr vert="vert" rIns="0"/>
          <a:lstStyle/>
          <a:p>
            <a:pPr marL="1025525" indent="-1025525"/>
            <a:r>
              <a:rPr lang="en-US" b="1" dirty="0"/>
              <a:t>L</a:t>
            </a:r>
            <a:r>
              <a:rPr lang="en-US" sz="100" b="1" dirty="0"/>
              <a:t> </a:t>
            </a:r>
            <a:r>
              <a:rPr lang="en-US" b="1" dirty="0"/>
              <a:t>O 2.1</a:t>
            </a:r>
            <a:endParaRPr lang="en-IN" b="1" dirty="0"/>
          </a:p>
        </p:txBody>
      </p:sp>
      <p:sp>
        <p:nvSpPr>
          <p:cNvPr id="7" name="Content Placeholder 6"/>
          <p:cNvSpPr>
            <a:spLocks noGrp="1"/>
          </p:cNvSpPr>
          <p:nvPr>
            <p:ph sz="quarter" idx="14"/>
          </p:nvPr>
        </p:nvSpPr>
        <p:spPr>
          <a:xfrm>
            <a:off x="342900" y="1260475"/>
            <a:ext cx="8191500" cy="5292725"/>
          </a:xfrm>
        </p:spPr>
        <p:txBody>
          <a:bodyPr/>
          <a:lstStyle/>
          <a:p>
            <a:pPr marL="339725" indent="-339725">
              <a:buClr>
                <a:schemeClr val="accent1"/>
              </a:buClr>
              <a:defRPr/>
            </a:pPr>
            <a:r>
              <a:rPr lang="en-US" b="1" dirty="0"/>
              <a:t>Data Terminology:</a:t>
            </a:r>
          </a:p>
          <a:p>
            <a:pPr marL="292608" indent="-292608">
              <a:buFont typeface="Arial" panose="020B0604020202020204" pitchFamily="34" charset="0"/>
              <a:buChar char="•"/>
              <a:defRPr/>
            </a:pPr>
            <a:r>
              <a:rPr lang="en-US" b="1" dirty="0">
                <a:solidFill>
                  <a:schemeClr val="tx1"/>
                </a:solidFill>
              </a:rPr>
              <a:t>Observation: </a:t>
            </a:r>
            <a:r>
              <a:rPr lang="en-US" dirty="0">
                <a:solidFill>
                  <a:schemeClr val="tx1"/>
                </a:solidFill>
              </a:rPr>
              <a:t>a single member of a collection of items that we want to study, such as a person, firm, or region.</a:t>
            </a:r>
          </a:p>
          <a:p>
            <a:pPr marL="292608" indent="-292608">
              <a:buFont typeface="Arial" panose="020B0604020202020204" pitchFamily="34" charset="0"/>
              <a:buChar char="•"/>
              <a:defRPr/>
            </a:pPr>
            <a:r>
              <a:rPr lang="en-US" b="1" dirty="0">
                <a:solidFill>
                  <a:schemeClr val="tx1"/>
                </a:solidFill>
              </a:rPr>
              <a:t>Variable: </a:t>
            </a:r>
            <a:r>
              <a:rPr lang="en-US" dirty="0">
                <a:solidFill>
                  <a:schemeClr val="tx1"/>
                </a:solidFill>
              </a:rPr>
              <a:t>a characteristic of the subject or individual, such as an employee’s income or an invoice amount.</a:t>
            </a:r>
          </a:p>
          <a:p>
            <a:pPr marL="292608" indent="-292608">
              <a:buFont typeface="Arial" panose="020B0604020202020204" pitchFamily="34" charset="0"/>
              <a:buChar char="•"/>
              <a:defRPr/>
            </a:pPr>
            <a:r>
              <a:rPr lang="en-US" b="1" dirty="0">
                <a:solidFill>
                  <a:schemeClr val="tx1"/>
                </a:solidFill>
              </a:rPr>
              <a:t>Data set: </a:t>
            </a:r>
            <a:r>
              <a:rPr lang="en-US" dirty="0">
                <a:solidFill>
                  <a:schemeClr val="tx1"/>
                </a:solidFill>
              </a:rPr>
              <a:t>consists of all the values of all of the variables for all of the observations we have chosen to observe.</a:t>
            </a:r>
          </a:p>
        </p:txBody>
      </p:sp>
      <p:sp>
        <p:nvSpPr>
          <p:cNvPr id="6" name="Slide Number Placeholder 5">
            <a:extLst>
              <a:ext uri="{FF2B5EF4-FFF2-40B4-BE49-F238E27FC236}">
                <a16:creationId xmlns:a16="http://schemas.microsoft.com/office/drawing/2014/main" id="{67326E3F-FB89-A6CD-B325-2C20B157C418}"/>
              </a:ext>
            </a:extLst>
          </p:cNvPr>
          <p:cNvSpPr>
            <a:spLocks noGrp="1"/>
          </p:cNvSpPr>
          <p:nvPr>
            <p:ph type="sldNum" sz="quarter" idx="10"/>
          </p:nvPr>
        </p:nvSpPr>
        <p:spPr/>
        <p:txBody>
          <a:bodyPr/>
          <a:lstStyle/>
          <a:p>
            <a:fld id="{68151E55-6873-49E2-B8D5-2F265E6F1973}" type="slidenum">
              <a:rPr lang="en-US" smtClean="0"/>
              <a:pPr/>
              <a:t>3</a:t>
            </a:fld>
            <a:endParaRPr lang="en-US" dirty="0"/>
          </a:p>
        </p:txBody>
      </p:sp>
    </p:spTree>
    <p:extLst>
      <p:ext uri="{BB962C8B-B14F-4D97-AF65-F5344CB8AC3E}">
        <p14:creationId xmlns:p14="http://schemas.microsoft.com/office/powerpoint/2010/main" val="11622161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C71A13-2AA0-EEDA-B43D-0A713ECB4B69}"/>
              </a:ext>
            </a:extLst>
          </p:cNvPr>
          <p:cNvSpPr>
            <a:spLocks noGrp="1"/>
          </p:cNvSpPr>
          <p:nvPr>
            <p:ph type="title"/>
          </p:nvPr>
        </p:nvSpPr>
        <p:spPr>
          <a:xfrm>
            <a:off x="342900" y="192490"/>
            <a:ext cx="7065290" cy="903231"/>
          </a:xfrm>
        </p:spPr>
        <p:txBody>
          <a:bodyPr/>
          <a:lstStyle/>
          <a:p>
            <a:r>
              <a:rPr lang="en-IN" sz="3600" dirty="0"/>
              <a:t>Variables and Data </a:t>
            </a:r>
            <a:r>
              <a:rPr lang="en-IN" sz="1000" b="0" dirty="0"/>
              <a:t>2</a:t>
            </a:r>
          </a:p>
        </p:txBody>
      </p:sp>
      <p:sp>
        <p:nvSpPr>
          <p:cNvPr id="3" name="Content Placeholder 2">
            <a:extLst>
              <a:ext uri="{FF2B5EF4-FFF2-40B4-BE49-F238E27FC236}">
                <a16:creationId xmlns:a16="http://schemas.microsoft.com/office/drawing/2014/main" id="{CD3F1CEC-0C65-B2F1-1193-EB9504808912}"/>
              </a:ext>
            </a:extLst>
          </p:cNvPr>
          <p:cNvSpPr>
            <a:spLocks noGrp="1"/>
          </p:cNvSpPr>
          <p:nvPr>
            <p:ph sz="quarter" idx="11"/>
          </p:nvPr>
        </p:nvSpPr>
        <p:spPr>
          <a:xfrm>
            <a:off x="8625840" y="57510"/>
            <a:ext cx="449580" cy="1202966"/>
          </a:xfrm>
        </p:spPr>
        <p:txBody>
          <a:bodyPr vert="vert" rIns="0"/>
          <a:lstStyle/>
          <a:p>
            <a:pPr marL="1025525" indent="-1025525"/>
            <a:r>
              <a:rPr lang="en-US" b="1" dirty="0"/>
              <a:t>L</a:t>
            </a:r>
            <a:r>
              <a:rPr lang="en-US" sz="100" b="1" dirty="0"/>
              <a:t> </a:t>
            </a:r>
            <a:r>
              <a:rPr lang="en-US" b="1" dirty="0"/>
              <a:t>O 2.1</a:t>
            </a:r>
            <a:endParaRPr lang="en-IN" b="1" dirty="0"/>
          </a:p>
        </p:txBody>
      </p:sp>
      <p:sp>
        <p:nvSpPr>
          <p:cNvPr id="7" name="Content Placeholder 6"/>
          <p:cNvSpPr>
            <a:spLocks noGrp="1"/>
          </p:cNvSpPr>
          <p:nvPr>
            <p:ph sz="quarter" idx="14"/>
          </p:nvPr>
        </p:nvSpPr>
        <p:spPr>
          <a:xfrm>
            <a:off x="342900" y="1260475"/>
            <a:ext cx="8191500" cy="5292725"/>
          </a:xfrm>
        </p:spPr>
        <p:txBody>
          <a:bodyPr/>
          <a:lstStyle/>
          <a:p>
            <a:r>
              <a:rPr lang="en-IN" dirty="0"/>
              <a:t>A data set may consist of many variables.</a:t>
            </a:r>
          </a:p>
          <a:p>
            <a:r>
              <a:rPr lang="en-IN" dirty="0"/>
              <a:t>The questions that can be explored and the analytical techniques that can be used will depend upon the data type and the number of variables.</a:t>
            </a:r>
          </a:p>
          <a:p>
            <a:r>
              <a:rPr lang="en-IN" dirty="0"/>
              <a:t>This textbook covers:</a:t>
            </a:r>
          </a:p>
          <a:p>
            <a:pPr marL="292608" indent="-292608">
              <a:buFont typeface="Arial" panose="020B0604020202020204" pitchFamily="34" charset="0"/>
              <a:buChar char="•"/>
            </a:pPr>
            <a:r>
              <a:rPr lang="en-IN" dirty="0"/>
              <a:t>univariate data sets (one variable).</a:t>
            </a:r>
          </a:p>
          <a:p>
            <a:pPr marL="292608" indent="-292608">
              <a:buFont typeface="Arial" panose="020B0604020202020204" pitchFamily="34" charset="0"/>
              <a:buChar char="•"/>
            </a:pPr>
            <a:r>
              <a:rPr lang="en-IN" dirty="0"/>
              <a:t>bivariate data sets (two variables).</a:t>
            </a:r>
          </a:p>
          <a:p>
            <a:pPr marL="292608" indent="-292608">
              <a:buFont typeface="Arial" panose="020B0604020202020204" pitchFamily="34" charset="0"/>
              <a:buChar char="•"/>
            </a:pPr>
            <a:r>
              <a:rPr lang="en-IN" dirty="0"/>
              <a:t>multivariate data sets (more than two variables).</a:t>
            </a:r>
          </a:p>
        </p:txBody>
      </p:sp>
      <p:sp>
        <p:nvSpPr>
          <p:cNvPr id="6" name="Slide Number Placeholder 5">
            <a:extLst>
              <a:ext uri="{FF2B5EF4-FFF2-40B4-BE49-F238E27FC236}">
                <a16:creationId xmlns:a16="http://schemas.microsoft.com/office/drawing/2014/main" id="{67326E3F-FB89-A6CD-B325-2C20B157C418}"/>
              </a:ext>
            </a:extLst>
          </p:cNvPr>
          <p:cNvSpPr>
            <a:spLocks noGrp="1"/>
          </p:cNvSpPr>
          <p:nvPr>
            <p:ph type="sldNum" sz="quarter" idx="10"/>
          </p:nvPr>
        </p:nvSpPr>
        <p:spPr/>
        <p:txBody>
          <a:bodyPr/>
          <a:lstStyle/>
          <a:p>
            <a:fld id="{68151E55-6873-49E2-B8D5-2F265E6F1973}" type="slidenum">
              <a:rPr lang="en-US" smtClean="0"/>
              <a:pPr/>
              <a:t>4</a:t>
            </a:fld>
            <a:endParaRPr lang="en-US" dirty="0"/>
          </a:p>
        </p:txBody>
      </p:sp>
    </p:spTree>
    <p:extLst>
      <p:ext uri="{BB962C8B-B14F-4D97-AF65-F5344CB8AC3E}">
        <p14:creationId xmlns:p14="http://schemas.microsoft.com/office/powerpoint/2010/main" val="18678626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C71A13-2AA0-EEDA-B43D-0A713ECB4B69}"/>
              </a:ext>
            </a:extLst>
          </p:cNvPr>
          <p:cNvSpPr>
            <a:spLocks noGrp="1"/>
          </p:cNvSpPr>
          <p:nvPr>
            <p:ph type="title"/>
          </p:nvPr>
        </p:nvSpPr>
        <p:spPr>
          <a:xfrm>
            <a:off x="342900" y="192490"/>
            <a:ext cx="7855703" cy="903231"/>
          </a:xfrm>
        </p:spPr>
        <p:txBody>
          <a:bodyPr/>
          <a:lstStyle/>
          <a:p>
            <a:r>
              <a:rPr lang="en-IN" sz="3600" dirty="0"/>
              <a:t>Variables and Data </a:t>
            </a:r>
            <a:r>
              <a:rPr lang="en-IN" sz="1000" b="0" dirty="0"/>
              <a:t>3</a:t>
            </a:r>
          </a:p>
        </p:txBody>
      </p:sp>
      <p:sp>
        <p:nvSpPr>
          <p:cNvPr id="9" name="Content Placeholder 2">
            <a:extLst>
              <a:ext uri="{FF2B5EF4-FFF2-40B4-BE49-F238E27FC236}">
                <a16:creationId xmlns:a16="http://schemas.microsoft.com/office/drawing/2014/main" id="{8A2C05F7-92AD-776B-FB8A-87E40E87C68B}"/>
              </a:ext>
            </a:extLst>
          </p:cNvPr>
          <p:cNvSpPr>
            <a:spLocks noGrp="1"/>
          </p:cNvSpPr>
          <p:nvPr>
            <p:ph sz="quarter" idx="11"/>
          </p:nvPr>
        </p:nvSpPr>
        <p:spPr>
          <a:xfrm>
            <a:off x="8625840" y="57510"/>
            <a:ext cx="449580" cy="1247184"/>
          </a:xfrm>
        </p:spPr>
        <p:txBody>
          <a:bodyPr vert="vert" rIns="0"/>
          <a:lstStyle/>
          <a:p>
            <a:pPr marL="1025525" indent="-1025525"/>
            <a:r>
              <a:rPr lang="en-US" b="1" dirty="0"/>
              <a:t>L</a:t>
            </a:r>
            <a:r>
              <a:rPr lang="en-US" sz="100" b="1" dirty="0"/>
              <a:t> </a:t>
            </a:r>
            <a:r>
              <a:rPr lang="en-US" b="1" dirty="0"/>
              <a:t>O 2.1</a:t>
            </a:r>
            <a:endParaRPr lang="en-IN" b="1" dirty="0"/>
          </a:p>
        </p:txBody>
      </p:sp>
      <p:sp>
        <p:nvSpPr>
          <p:cNvPr id="7" name="Content Placeholder 6"/>
          <p:cNvSpPr>
            <a:spLocks noGrp="1"/>
          </p:cNvSpPr>
          <p:nvPr>
            <p:ph sz="quarter" idx="14"/>
          </p:nvPr>
        </p:nvSpPr>
        <p:spPr>
          <a:xfrm>
            <a:off x="342900" y="1219200"/>
            <a:ext cx="7855703" cy="498764"/>
          </a:xfrm>
        </p:spPr>
        <p:txBody>
          <a:bodyPr/>
          <a:lstStyle/>
          <a:p>
            <a:r>
              <a:rPr lang="en-IN" b="1" dirty="0"/>
              <a:t>Table 2.2: Number of Variables and Typical Tasks.</a:t>
            </a:r>
          </a:p>
        </p:txBody>
      </p:sp>
      <p:graphicFrame>
        <p:nvGraphicFramePr>
          <p:cNvPr id="8" name="Table 4">
            <a:extLst>
              <a:ext uri="{FF2B5EF4-FFF2-40B4-BE49-F238E27FC236}">
                <a16:creationId xmlns:a16="http://schemas.microsoft.com/office/drawing/2014/main" id="{723075EE-3AA1-49EF-850C-B14527C75E2E}"/>
              </a:ext>
            </a:extLst>
          </p:cNvPr>
          <p:cNvGraphicFramePr>
            <a:graphicFrameLocks noGrp="1"/>
          </p:cNvGraphicFramePr>
          <p:nvPr>
            <p:extLst>
              <p:ext uri="{D42A27DB-BD31-4B8C-83A1-F6EECF244321}">
                <p14:modId xmlns:p14="http://schemas.microsoft.com/office/powerpoint/2010/main" val="2566120921"/>
              </p:ext>
            </p:extLst>
          </p:nvPr>
        </p:nvGraphicFramePr>
        <p:xfrm>
          <a:off x="516193" y="1945640"/>
          <a:ext cx="7553387" cy="2021840"/>
        </p:xfrm>
        <a:graphic>
          <a:graphicData uri="http://schemas.openxmlformats.org/drawingml/2006/table">
            <a:tbl>
              <a:tblPr firstRow="1" bandRow="1">
                <a:tableStyleId>{5C22544A-7EE6-4342-B048-85BDC9FD1C3A}</a:tableStyleId>
              </a:tblPr>
              <a:tblGrid>
                <a:gridCol w="1401097">
                  <a:extLst>
                    <a:ext uri="{9D8B030D-6E8A-4147-A177-3AD203B41FA5}">
                      <a16:colId xmlns:a16="http://schemas.microsoft.com/office/drawing/2014/main" val="1867264329"/>
                    </a:ext>
                  </a:extLst>
                </a:gridCol>
                <a:gridCol w="1740310">
                  <a:extLst>
                    <a:ext uri="{9D8B030D-6E8A-4147-A177-3AD203B41FA5}">
                      <a16:colId xmlns:a16="http://schemas.microsoft.com/office/drawing/2014/main" val="682154467"/>
                    </a:ext>
                  </a:extLst>
                </a:gridCol>
                <a:gridCol w="1691640">
                  <a:extLst>
                    <a:ext uri="{9D8B030D-6E8A-4147-A177-3AD203B41FA5}">
                      <a16:colId xmlns:a16="http://schemas.microsoft.com/office/drawing/2014/main" val="2410967412"/>
                    </a:ext>
                  </a:extLst>
                </a:gridCol>
                <a:gridCol w="2720340">
                  <a:extLst>
                    <a:ext uri="{9D8B030D-6E8A-4147-A177-3AD203B41FA5}">
                      <a16:colId xmlns:a16="http://schemas.microsoft.com/office/drawing/2014/main" val="2830962049"/>
                    </a:ext>
                  </a:extLst>
                </a:gridCol>
              </a:tblGrid>
              <a:tr h="370840">
                <a:tc>
                  <a:txBody>
                    <a:bodyPr/>
                    <a:lstStyle/>
                    <a:p>
                      <a:pPr algn="l" fontAlgn="t"/>
                      <a:r>
                        <a:rPr lang="en-US" sz="1800" b="1" i="0" u="none" strike="noStrike" dirty="0">
                          <a:effectLst/>
                          <a:latin typeface="+mn-lt"/>
                          <a:cs typeface="Times New Roman" panose="02020603050405020304" pitchFamily="18" charset="0"/>
                        </a:rPr>
                        <a:t>Data Set</a:t>
                      </a:r>
                    </a:p>
                  </a:txBody>
                  <a:tcPr>
                    <a:solidFill>
                      <a:srgbClr val="C00000"/>
                    </a:solidFill>
                  </a:tcPr>
                </a:tc>
                <a:tc>
                  <a:txBody>
                    <a:bodyPr/>
                    <a:lstStyle/>
                    <a:p>
                      <a:pPr algn="l" fontAlgn="t"/>
                      <a:r>
                        <a:rPr lang="en-US" sz="1800" b="1" i="0" u="none" strike="noStrike" dirty="0">
                          <a:effectLst/>
                          <a:latin typeface="+mn-lt"/>
                          <a:cs typeface="Times New Roman" panose="02020603050405020304" pitchFamily="18" charset="0"/>
                        </a:rPr>
                        <a:t>Variables</a:t>
                      </a:r>
                    </a:p>
                  </a:txBody>
                  <a:tcPr>
                    <a:solidFill>
                      <a:srgbClr val="C00000"/>
                    </a:solidFill>
                  </a:tcPr>
                </a:tc>
                <a:tc>
                  <a:txBody>
                    <a:bodyPr/>
                    <a:lstStyle/>
                    <a:p>
                      <a:pPr algn="l" fontAlgn="t"/>
                      <a:r>
                        <a:rPr lang="en-US" sz="1800" b="1" i="0" u="none" strike="noStrike" dirty="0">
                          <a:effectLst/>
                          <a:latin typeface="+mn-lt"/>
                          <a:cs typeface="Times New Roman" panose="02020603050405020304" pitchFamily="18" charset="0"/>
                        </a:rPr>
                        <a:t>Example</a:t>
                      </a:r>
                    </a:p>
                  </a:txBody>
                  <a:tcPr>
                    <a:solidFill>
                      <a:srgbClr val="C00000"/>
                    </a:solidFill>
                  </a:tcPr>
                </a:tc>
                <a:tc>
                  <a:txBody>
                    <a:bodyPr/>
                    <a:lstStyle/>
                    <a:p>
                      <a:pPr algn="l" fontAlgn="t"/>
                      <a:r>
                        <a:rPr lang="en-US" sz="1800" b="1" i="0" u="none" strike="noStrike" dirty="0">
                          <a:effectLst/>
                          <a:latin typeface="+mn-lt"/>
                          <a:cs typeface="Times New Roman" panose="02020603050405020304" pitchFamily="18" charset="0"/>
                        </a:rPr>
                        <a:t>Typical Tasks</a:t>
                      </a:r>
                    </a:p>
                  </a:txBody>
                  <a:tcPr>
                    <a:solidFill>
                      <a:srgbClr val="C00000"/>
                    </a:solidFill>
                  </a:tcPr>
                </a:tc>
                <a:extLst>
                  <a:ext uri="{0D108BD9-81ED-4DB2-BD59-A6C34878D82A}">
                    <a16:rowId xmlns:a16="http://schemas.microsoft.com/office/drawing/2014/main" val="1957947005"/>
                  </a:ext>
                </a:extLst>
              </a:tr>
              <a:tr h="370840">
                <a:tc>
                  <a:txBody>
                    <a:bodyPr/>
                    <a:lstStyle/>
                    <a:p>
                      <a:pPr algn="l" fontAlgn="t"/>
                      <a:r>
                        <a:rPr lang="en-US" sz="1800" b="0" i="0" u="none" strike="noStrike" dirty="0">
                          <a:effectLst/>
                          <a:latin typeface="+mn-lt"/>
                          <a:cs typeface="Times New Roman" panose="02020603050405020304" pitchFamily="18" charset="0"/>
                        </a:rPr>
                        <a:t>Univariate</a:t>
                      </a:r>
                    </a:p>
                  </a:txBody>
                  <a:tcPr/>
                </a:tc>
                <a:tc>
                  <a:txBody>
                    <a:bodyPr/>
                    <a:lstStyle/>
                    <a:p>
                      <a:pPr algn="l" fontAlgn="t"/>
                      <a:r>
                        <a:rPr lang="en-US" sz="1800" b="0" i="0" u="none" strike="noStrike" dirty="0">
                          <a:effectLst/>
                          <a:latin typeface="+mn-lt"/>
                          <a:cs typeface="Times New Roman" panose="02020603050405020304" pitchFamily="18" charset="0"/>
                        </a:rPr>
                        <a:t>One</a:t>
                      </a:r>
                    </a:p>
                  </a:txBody>
                  <a:tcPr/>
                </a:tc>
                <a:tc>
                  <a:txBody>
                    <a:bodyPr/>
                    <a:lstStyle/>
                    <a:p>
                      <a:pPr algn="l" fontAlgn="t"/>
                      <a:r>
                        <a:rPr lang="en-US" sz="1800" b="0" i="0" u="none" strike="noStrike" dirty="0">
                          <a:effectLst/>
                          <a:latin typeface="+mn-lt"/>
                          <a:cs typeface="Times New Roman" panose="02020603050405020304" pitchFamily="18" charset="0"/>
                        </a:rPr>
                        <a:t>Income</a:t>
                      </a:r>
                    </a:p>
                  </a:txBody>
                  <a:tcPr/>
                </a:tc>
                <a:tc>
                  <a:txBody>
                    <a:bodyPr/>
                    <a:lstStyle/>
                    <a:p>
                      <a:pPr algn="l" fontAlgn="t"/>
                      <a:r>
                        <a:rPr lang="en-US" sz="1800" b="0" i="0" u="none" strike="noStrike" dirty="0">
                          <a:effectLst/>
                          <a:latin typeface="+mn-lt"/>
                          <a:cs typeface="Times New Roman" panose="02020603050405020304" pitchFamily="18" charset="0"/>
                        </a:rPr>
                        <a:t>Histograms, basic statistics</a:t>
                      </a:r>
                    </a:p>
                  </a:txBody>
                  <a:tcPr/>
                </a:tc>
                <a:extLst>
                  <a:ext uri="{0D108BD9-81ED-4DB2-BD59-A6C34878D82A}">
                    <a16:rowId xmlns:a16="http://schemas.microsoft.com/office/drawing/2014/main" val="778689391"/>
                  </a:ext>
                </a:extLst>
              </a:tr>
              <a:tr h="370840">
                <a:tc>
                  <a:txBody>
                    <a:bodyPr/>
                    <a:lstStyle/>
                    <a:p>
                      <a:pPr algn="l" fontAlgn="t"/>
                      <a:r>
                        <a:rPr lang="en-US" sz="1800" b="0" i="0" u="none" strike="noStrike" dirty="0">
                          <a:effectLst/>
                          <a:latin typeface="+mn-lt"/>
                          <a:cs typeface="Times New Roman" panose="02020603050405020304" pitchFamily="18" charset="0"/>
                        </a:rPr>
                        <a:t>Bivariate</a:t>
                      </a:r>
                    </a:p>
                  </a:txBody>
                  <a:tcPr/>
                </a:tc>
                <a:tc>
                  <a:txBody>
                    <a:bodyPr/>
                    <a:lstStyle/>
                    <a:p>
                      <a:pPr algn="l" fontAlgn="t"/>
                      <a:r>
                        <a:rPr lang="en-US" sz="1800" b="0" i="0" u="none" strike="noStrike" dirty="0">
                          <a:effectLst/>
                          <a:latin typeface="+mn-lt"/>
                          <a:cs typeface="Times New Roman" panose="02020603050405020304" pitchFamily="18" charset="0"/>
                        </a:rPr>
                        <a:t>Two</a:t>
                      </a:r>
                    </a:p>
                  </a:txBody>
                  <a:tcPr/>
                </a:tc>
                <a:tc>
                  <a:txBody>
                    <a:bodyPr/>
                    <a:lstStyle/>
                    <a:p>
                      <a:pPr algn="l" fontAlgn="t"/>
                      <a:r>
                        <a:rPr lang="en-US" sz="1800" b="0" i="0" u="none" strike="noStrike" dirty="0">
                          <a:effectLst/>
                          <a:latin typeface="+mn-lt"/>
                          <a:cs typeface="Times New Roman" panose="02020603050405020304" pitchFamily="18" charset="0"/>
                        </a:rPr>
                        <a:t>Income, Age</a:t>
                      </a:r>
                    </a:p>
                  </a:txBody>
                  <a:tcPr/>
                </a:tc>
                <a:tc>
                  <a:txBody>
                    <a:bodyPr/>
                    <a:lstStyle/>
                    <a:p>
                      <a:pPr algn="l" fontAlgn="t"/>
                      <a:r>
                        <a:rPr lang="en-US" sz="1800" b="0" i="0" u="none" strike="noStrike" dirty="0">
                          <a:effectLst/>
                          <a:latin typeface="+mn-lt"/>
                          <a:cs typeface="Times New Roman" panose="02020603050405020304" pitchFamily="18" charset="0"/>
                        </a:rPr>
                        <a:t>Scatter plots, correlation</a:t>
                      </a:r>
                    </a:p>
                  </a:txBody>
                  <a:tcPr/>
                </a:tc>
                <a:extLst>
                  <a:ext uri="{0D108BD9-81ED-4DB2-BD59-A6C34878D82A}">
                    <a16:rowId xmlns:a16="http://schemas.microsoft.com/office/drawing/2014/main" val="1466016145"/>
                  </a:ext>
                </a:extLst>
              </a:tr>
              <a:tr h="370840">
                <a:tc>
                  <a:txBody>
                    <a:bodyPr/>
                    <a:lstStyle/>
                    <a:p>
                      <a:pPr algn="l" fontAlgn="t"/>
                      <a:r>
                        <a:rPr lang="en-US" sz="1800" b="0" i="0" u="none" strike="noStrike" dirty="0">
                          <a:effectLst/>
                          <a:latin typeface="+mn-lt"/>
                          <a:cs typeface="Times New Roman" panose="02020603050405020304" pitchFamily="18" charset="0"/>
                        </a:rPr>
                        <a:t>Multivariate</a:t>
                      </a:r>
                    </a:p>
                  </a:txBody>
                  <a:tcPr/>
                </a:tc>
                <a:tc>
                  <a:txBody>
                    <a:bodyPr/>
                    <a:lstStyle/>
                    <a:p>
                      <a:pPr algn="l" fontAlgn="t"/>
                      <a:r>
                        <a:rPr lang="en-US" sz="1800" b="0" i="0" u="none" strike="noStrike" dirty="0">
                          <a:effectLst/>
                          <a:latin typeface="+mn-lt"/>
                          <a:cs typeface="Times New Roman" panose="02020603050405020304" pitchFamily="18" charset="0"/>
                        </a:rPr>
                        <a:t>More than two</a:t>
                      </a:r>
                    </a:p>
                  </a:txBody>
                  <a:tcPr/>
                </a:tc>
                <a:tc>
                  <a:txBody>
                    <a:bodyPr/>
                    <a:lstStyle/>
                    <a:p>
                      <a:pPr algn="l" fontAlgn="t"/>
                      <a:r>
                        <a:rPr lang="en-US" sz="1800" b="0" i="0" u="none" strike="noStrike" dirty="0">
                          <a:effectLst/>
                          <a:latin typeface="+mn-lt"/>
                          <a:cs typeface="Times New Roman" panose="02020603050405020304" pitchFamily="18" charset="0"/>
                        </a:rPr>
                        <a:t>Income, Age, Gender</a:t>
                      </a:r>
                    </a:p>
                  </a:txBody>
                  <a:tcPr/>
                </a:tc>
                <a:tc>
                  <a:txBody>
                    <a:bodyPr/>
                    <a:lstStyle/>
                    <a:p>
                      <a:pPr algn="l" fontAlgn="t"/>
                      <a:r>
                        <a:rPr lang="en-US" sz="1800" b="0" i="0" u="none" strike="noStrike" dirty="0">
                          <a:effectLst/>
                          <a:latin typeface="+mn-lt"/>
                          <a:cs typeface="Times New Roman" panose="02020603050405020304" pitchFamily="18" charset="0"/>
                        </a:rPr>
                        <a:t>Regression modeling</a:t>
                      </a:r>
                    </a:p>
                  </a:txBody>
                  <a:tcPr/>
                </a:tc>
                <a:extLst>
                  <a:ext uri="{0D108BD9-81ED-4DB2-BD59-A6C34878D82A}">
                    <a16:rowId xmlns:a16="http://schemas.microsoft.com/office/drawing/2014/main" val="1398290910"/>
                  </a:ext>
                </a:extLst>
              </a:tr>
            </a:tbl>
          </a:graphicData>
        </a:graphic>
      </p:graphicFrame>
      <p:sp>
        <p:nvSpPr>
          <p:cNvPr id="6" name="Slide Number Placeholder 5">
            <a:extLst>
              <a:ext uri="{FF2B5EF4-FFF2-40B4-BE49-F238E27FC236}">
                <a16:creationId xmlns:a16="http://schemas.microsoft.com/office/drawing/2014/main" id="{67326E3F-FB89-A6CD-B325-2C20B157C418}"/>
              </a:ext>
            </a:extLst>
          </p:cNvPr>
          <p:cNvSpPr>
            <a:spLocks noGrp="1"/>
          </p:cNvSpPr>
          <p:nvPr>
            <p:ph type="sldNum" sz="quarter" idx="10"/>
          </p:nvPr>
        </p:nvSpPr>
        <p:spPr/>
        <p:txBody>
          <a:bodyPr/>
          <a:lstStyle/>
          <a:p>
            <a:fld id="{68151E55-6873-49E2-B8D5-2F265E6F1973}" type="slidenum">
              <a:rPr lang="en-US" smtClean="0"/>
              <a:pPr/>
              <a:t>5</a:t>
            </a:fld>
            <a:endParaRPr lang="en-US" dirty="0"/>
          </a:p>
        </p:txBody>
      </p:sp>
    </p:spTree>
    <p:extLst>
      <p:ext uri="{BB962C8B-B14F-4D97-AF65-F5344CB8AC3E}">
        <p14:creationId xmlns:p14="http://schemas.microsoft.com/office/powerpoint/2010/main" val="37655306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C71A13-2AA0-EEDA-B43D-0A713ECB4B69}"/>
              </a:ext>
            </a:extLst>
          </p:cNvPr>
          <p:cNvSpPr>
            <a:spLocks noGrp="1"/>
          </p:cNvSpPr>
          <p:nvPr>
            <p:ph type="title"/>
          </p:nvPr>
        </p:nvSpPr>
        <p:spPr>
          <a:xfrm>
            <a:off x="342900" y="192490"/>
            <a:ext cx="7798617" cy="903231"/>
          </a:xfrm>
        </p:spPr>
        <p:txBody>
          <a:bodyPr>
            <a:normAutofit/>
          </a:bodyPr>
          <a:lstStyle/>
          <a:p>
            <a:r>
              <a:rPr lang="en-IN" sz="3600" dirty="0"/>
              <a:t>Categorical and Numerical Data</a:t>
            </a:r>
          </a:p>
        </p:txBody>
      </p:sp>
      <p:sp>
        <p:nvSpPr>
          <p:cNvPr id="12" name="Content Placeholder 2">
            <a:extLst>
              <a:ext uri="{FF2B5EF4-FFF2-40B4-BE49-F238E27FC236}">
                <a16:creationId xmlns:a16="http://schemas.microsoft.com/office/drawing/2014/main" id="{F27B82F9-5D5A-665E-501D-4BCF967C2452}"/>
              </a:ext>
            </a:extLst>
          </p:cNvPr>
          <p:cNvSpPr>
            <a:spLocks noGrp="1"/>
          </p:cNvSpPr>
          <p:nvPr>
            <p:ph sz="quarter" idx="11"/>
          </p:nvPr>
        </p:nvSpPr>
        <p:spPr>
          <a:xfrm>
            <a:off x="8625840" y="57509"/>
            <a:ext cx="449580" cy="1291789"/>
          </a:xfrm>
        </p:spPr>
        <p:txBody>
          <a:bodyPr vert="vert" rIns="0"/>
          <a:lstStyle/>
          <a:p>
            <a:pPr marL="1025525" indent="-1025525"/>
            <a:r>
              <a:rPr lang="en-US" b="1" dirty="0"/>
              <a:t>L</a:t>
            </a:r>
            <a:r>
              <a:rPr lang="en-US" sz="100" b="1" dirty="0"/>
              <a:t> </a:t>
            </a:r>
            <a:r>
              <a:rPr lang="en-US" b="1" dirty="0"/>
              <a:t>O 2.2</a:t>
            </a:r>
            <a:endParaRPr lang="en-IN" b="1" dirty="0"/>
          </a:p>
        </p:txBody>
      </p:sp>
      <p:sp>
        <p:nvSpPr>
          <p:cNvPr id="7" name="Content Placeholder 6"/>
          <p:cNvSpPr>
            <a:spLocks noGrp="1"/>
          </p:cNvSpPr>
          <p:nvPr>
            <p:ph sz="quarter" idx="14"/>
          </p:nvPr>
        </p:nvSpPr>
        <p:spPr>
          <a:xfrm>
            <a:off x="342900" y="1219200"/>
            <a:ext cx="8191500" cy="498764"/>
          </a:xfrm>
        </p:spPr>
        <p:txBody>
          <a:bodyPr/>
          <a:lstStyle/>
          <a:p>
            <a:r>
              <a:rPr lang="en-US" b="1" dirty="0"/>
              <a:t>Figure 2.1: Data Types and Examples.</a:t>
            </a:r>
          </a:p>
        </p:txBody>
      </p:sp>
      <p:pic>
        <p:nvPicPr>
          <p:cNvPr id="5" name="Picture 4" descr="Organization chart for the types of data.">
            <a:extLst>
              <a:ext uri="{FF2B5EF4-FFF2-40B4-BE49-F238E27FC236}">
                <a16:creationId xmlns:a16="http://schemas.microsoft.com/office/drawing/2014/main" id="{E3B9B000-46EB-4CF7-915D-218DD4780322}"/>
              </a:ext>
            </a:extLst>
          </p:cNvPr>
          <p:cNvPicPr>
            <a:picLocks noChangeAspect="1"/>
          </p:cNvPicPr>
          <p:nvPr/>
        </p:nvPicPr>
        <p:blipFill rotWithShape="1">
          <a:blip r:embed="rId2"/>
          <a:srcRect t="1275"/>
          <a:stretch/>
        </p:blipFill>
        <p:spPr>
          <a:xfrm>
            <a:off x="1002482" y="2326640"/>
            <a:ext cx="7139035" cy="3244138"/>
          </a:xfrm>
          <a:prstGeom prst="rect">
            <a:avLst/>
          </a:prstGeom>
        </p:spPr>
      </p:pic>
      <p:sp>
        <p:nvSpPr>
          <p:cNvPr id="9" name="Text Placeholder 8"/>
          <p:cNvSpPr>
            <a:spLocks noGrp="1"/>
          </p:cNvSpPr>
          <p:nvPr>
            <p:ph type="body" sz="quarter" idx="12"/>
          </p:nvPr>
        </p:nvSpPr>
        <p:spPr>
          <a:xfrm>
            <a:off x="3049524" y="6309359"/>
            <a:ext cx="3153156" cy="236221"/>
          </a:xfrm>
        </p:spPr>
        <p:txBody>
          <a:bodyPr/>
          <a:lstStyle/>
          <a:p>
            <a:r>
              <a:rPr lang="en-US" sz="1200" dirty="0">
                <a:hlinkClick r:id="rId3" action="ppaction://hlinksldjump"/>
              </a:rPr>
              <a:t>Access the text alternative for slide images.</a:t>
            </a:r>
            <a:endParaRPr lang="en-US" sz="1200" dirty="0"/>
          </a:p>
        </p:txBody>
      </p:sp>
      <p:sp>
        <p:nvSpPr>
          <p:cNvPr id="6" name="Slide Number Placeholder 5">
            <a:extLst>
              <a:ext uri="{FF2B5EF4-FFF2-40B4-BE49-F238E27FC236}">
                <a16:creationId xmlns:a16="http://schemas.microsoft.com/office/drawing/2014/main" id="{67326E3F-FB89-A6CD-B325-2C20B157C418}"/>
              </a:ext>
            </a:extLst>
          </p:cNvPr>
          <p:cNvSpPr>
            <a:spLocks noGrp="1"/>
          </p:cNvSpPr>
          <p:nvPr>
            <p:ph type="sldNum" sz="quarter" idx="10"/>
          </p:nvPr>
        </p:nvSpPr>
        <p:spPr/>
        <p:txBody>
          <a:bodyPr/>
          <a:lstStyle/>
          <a:p>
            <a:fld id="{68151E55-6873-49E2-B8D5-2F265E6F1973}" type="slidenum">
              <a:rPr lang="en-US" smtClean="0"/>
              <a:pPr/>
              <a:t>6</a:t>
            </a:fld>
            <a:endParaRPr lang="en-US" dirty="0"/>
          </a:p>
        </p:txBody>
      </p:sp>
    </p:spTree>
    <p:extLst>
      <p:ext uri="{BB962C8B-B14F-4D97-AF65-F5344CB8AC3E}">
        <p14:creationId xmlns:p14="http://schemas.microsoft.com/office/powerpoint/2010/main" val="26812292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2408DA-7088-49FD-A9F2-FA30ACCB8868}"/>
              </a:ext>
            </a:extLst>
          </p:cNvPr>
          <p:cNvSpPr>
            <a:spLocks noGrp="1"/>
          </p:cNvSpPr>
          <p:nvPr>
            <p:ph type="title"/>
          </p:nvPr>
        </p:nvSpPr>
        <p:spPr>
          <a:xfrm>
            <a:off x="342900" y="192490"/>
            <a:ext cx="7680983" cy="903231"/>
          </a:xfrm>
        </p:spPr>
        <p:txBody>
          <a:bodyPr>
            <a:normAutofit/>
          </a:bodyPr>
          <a:lstStyle/>
          <a:p>
            <a:r>
              <a:rPr lang="en-IN" sz="3600" dirty="0"/>
              <a:t>Time Series Data</a:t>
            </a:r>
            <a:endParaRPr lang="en-IN" sz="3600" b="0" dirty="0"/>
          </a:p>
        </p:txBody>
      </p:sp>
      <p:sp>
        <p:nvSpPr>
          <p:cNvPr id="3" name="Content Placeholder 2">
            <a:extLst>
              <a:ext uri="{FF2B5EF4-FFF2-40B4-BE49-F238E27FC236}">
                <a16:creationId xmlns:a16="http://schemas.microsoft.com/office/drawing/2014/main" id="{4C065CB2-E625-44CC-81FB-94A257AA3562}"/>
              </a:ext>
            </a:extLst>
          </p:cNvPr>
          <p:cNvSpPr>
            <a:spLocks noGrp="1"/>
          </p:cNvSpPr>
          <p:nvPr>
            <p:ph sz="quarter" idx="11"/>
          </p:nvPr>
        </p:nvSpPr>
        <p:spPr>
          <a:xfrm>
            <a:off x="8598957" y="54864"/>
            <a:ext cx="476295" cy="1295711"/>
          </a:xfrm>
        </p:spPr>
        <p:txBody>
          <a:bodyPr vert="vert" tIns="45720" rIns="0"/>
          <a:lstStyle/>
          <a:p>
            <a:pPr marL="1025525" indent="-1025525"/>
            <a:r>
              <a:rPr lang="en-US" b="1" dirty="0"/>
              <a:t>L</a:t>
            </a:r>
            <a:r>
              <a:rPr lang="en-US" sz="100" b="1" dirty="0"/>
              <a:t> </a:t>
            </a:r>
            <a:r>
              <a:rPr lang="en-US" b="1" dirty="0"/>
              <a:t>O 2.3</a:t>
            </a:r>
            <a:endParaRPr lang="en-IN" b="1" dirty="0"/>
          </a:p>
        </p:txBody>
      </p:sp>
      <p:sp>
        <p:nvSpPr>
          <p:cNvPr id="4" name="Content Placeholder 3">
            <a:extLst>
              <a:ext uri="{FF2B5EF4-FFF2-40B4-BE49-F238E27FC236}">
                <a16:creationId xmlns:a16="http://schemas.microsoft.com/office/drawing/2014/main" id="{53AA3923-E6FA-4CE2-89E3-2D6CF078E7F7}"/>
              </a:ext>
            </a:extLst>
          </p:cNvPr>
          <p:cNvSpPr>
            <a:spLocks noGrp="1"/>
          </p:cNvSpPr>
          <p:nvPr>
            <p:ph sz="quarter" idx="14"/>
          </p:nvPr>
        </p:nvSpPr>
        <p:spPr>
          <a:xfrm>
            <a:off x="342900" y="1274082"/>
            <a:ext cx="7694971" cy="2432554"/>
          </a:xfrm>
        </p:spPr>
        <p:txBody>
          <a:bodyPr/>
          <a:lstStyle/>
          <a:p>
            <a:pPr marL="292608" indent="-292608" defTabSz="457200" eaLnBrk="0" hangingPunct="0">
              <a:buClr>
                <a:schemeClr val="tx1"/>
              </a:buClr>
              <a:buSzPct val="100000"/>
              <a:buFont typeface="Arial" panose="020B0604020202020204" pitchFamily="34" charset="0"/>
              <a:buChar char="•"/>
              <a:defRPr/>
            </a:pPr>
            <a:r>
              <a:rPr lang="en-US" dirty="0">
                <a:solidFill>
                  <a:schemeClr val="tx1"/>
                </a:solidFill>
              </a:rPr>
              <a:t>Each observation in the sample represents a different equally spaced point in time (For example, years, months, days).</a:t>
            </a:r>
          </a:p>
          <a:p>
            <a:pPr marL="292608" indent="-292608" defTabSz="457200" eaLnBrk="0" hangingPunct="0">
              <a:buClr>
                <a:schemeClr val="tx1"/>
              </a:buClr>
              <a:buSzPct val="100000"/>
              <a:buFont typeface="Arial" panose="020B0604020202020204" pitchFamily="34" charset="0"/>
              <a:buChar char="•"/>
              <a:defRPr/>
            </a:pPr>
            <a:r>
              <a:rPr lang="en-US" dirty="0">
                <a:solidFill>
                  <a:schemeClr val="tx1"/>
                </a:solidFill>
              </a:rPr>
              <a:t>The </a:t>
            </a:r>
            <a:r>
              <a:rPr lang="en-US" i="1" dirty="0">
                <a:solidFill>
                  <a:schemeClr val="tx1"/>
                </a:solidFill>
              </a:rPr>
              <a:t>periodicity</a:t>
            </a:r>
            <a:r>
              <a:rPr lang="en-US" dirty="0">
                <a:solidFill>
                  <a:schemeClr val="tx1"/>
                </a:solidFill>
              </a:rPr>
              <a:t> is the time between observations (annual, quarterly, monthly, weekly, daily, hourly, and so on).</a:t>
            </a:r>
          </a:p>
        </p:txBody>
      </p:sp>
      <p:sp>
        <p:nvSpPr>
          <p:cNvPr id="5" name="Content Placeholder 4">
            <a:extLst>
              <a:ext uri="{FF2B5EF4-FFF2-40B4-BE49-F238E27FC236}">
                <a16:creationId xmlns:a16="http://schemas.microsoft.com/office/drawing/2014/main" id="{12D71DC9-9D4D-498C-92D5-611B71434CCC}"/>
              </a:ext>
            </a:extLst>
          </p:cNvPr>
          <p:cNvSpPr>
            <a:spLocks noGrp="1"/>
          </p:cNvSpPr>
          <p:nvPr>
            <p:ph sz="quarter" idx="15"/>
          </p:nvPr>
        </p:nvSpPr>
        <p:spPr>
          <a:xfrm>
            <a:off x="342900" y="3882553"/>
            <a:ext cx="3120390" cy="456344"/>
          </a:xfrm>
        </p:spPr>
        <p:txBody>
          <a:bodyPr/>
          <a:lstStyle/>
          <a:p>
            <a:r>
              <a:rPr lang="en-US" b="1" dirty="0"/>
              <a:t>Examples:</a:t>
            </a:r>
          </a:p>
        </p:txBody>
      </p:sp>
      <p:sp>
        <p:nvSpPr>
          <p:cNvPr id="6" name="Content Placeholder 5">
            <a:extLst>
              <a:ext uri="{FF2B5EF4-FFF2-40B4-BE49-F238E27FC236}">
                <a16:creationId xmlns:a16="http://schemas.microsoft.com/office/drawing/2014/main" id="{2EE7D978-3AB6-4DE0-8D86-E47FD62306F3}"/>
              </a:ext>
            </a:extLst>
          </p:cNvPr>
          <p:cNvSpPr>
            <a:spLocks noGrp="1"/>
          </p:cNvSpPr>
          <p:nvPr>
            <p:ph sz="quarter" idx="16"/>
          </p:nvPr>
        </p:nvSpPr>
        <p:spPr>
          <a:xfrm>
            <a:off x="342899" y="4514814"/>
            <a:ext cx="3569225" cy="1892064"/>
          </a:xfrm>
        </p:spPr>
        <p:txBody>
          <a:bodyPr/>
          <a:lstStyle/>
          <a:p>
            <a:pPr lvl="0"/>
            <a:r>
              <a:rPr lang="en-US" b="1" dirty="0"/>
              <a:t>Macroeconomics:</a:t>
            </a:r>
          </a:p>
          <a:p>
            <a:pPr lvl="1"/>
            <a:r>
              <a:rPr lang="en-US" dirty="0"/>
              <a:t>National Income.</a:t>
            </a:r>
          </a:p>
          <a:p>
            <a:pPr lvl="1"/>
            <a:r>
              <a:rPr lang="en-US" dirty="0"/>
              <a:t>Economic indicators.</a:t>
            </a:r>
          </a:p>
          <a:p>
            <a:pPr lvl="1"/>
            <a:r>
              <a:rPr lang="en-US" dirty="0"/>
              <a:t>Monetary data.</a:t>
            </a:r>
          </a:p>
        </p:txBody>
      </p:sp>
      <p:sp>
        <p:nvSpPr>
          <p:cNvPr id="7" name="Content Placeholder 6">
            <a:extLst>
              <a:ext uri="{FF2B5EF4-FFF2-40B4-BE49-F238E27FC236}">
                <a16:creationId xmlns:a16="http://schemas.microsoft.com/office/drawing/2014/main" id="{3097A638-B5BC-4DA7-9F95-6EEB4C2C1BA6}"/>
              </a:ext>
            </a:extLst>
          </p:cNvPr>
          <p:cNvSpPr>
            <a:spLocks noGrp="1"/>
          </p:cNvSpPr>
          <p:nvPr>
            <p:ph sz="quarter" idx="17"/>
          </p:nvPr>
        </p:nvSpPr>
        <p:spPr>
          <a:xfrm>
            <a:off x="4572000" y="4514814"/>
            <a:ext cx="3451883" cy="1875430"/>
          </a:xfrm>
        </p:spPr>
        <p:txBody>
          <a:bodyPr/>
          <a:lstStyle/>
          <a:p>
            <a:pPr lvl="0"/>
            <a:r>
              <a:rPr lang="en-US" b="1" dirty="0"/>
              <a:t>Microeconomics:</a:t>
            </a:r>
          </a:p>
          <a:p>
            <a:pPr lvl="1"/>
            <a:r>
              <a:rPr lang="en-US" dirty="0"/>
              <a:t>Sales.</a:t>
            </a:r>
          </a:p>
          <a:p>
            <a:pPr lvl="1"/>
            <a:r>
              <a:rPr lang="en-US" dirty="0"/>
              <a:t>Market share.</a:t>
            </a:r>
          </a:p>
          <a:p>
            <a:pPr lvl="1"/>
            <a:r>
              <a:rPr lang="en-US" dirty="0"/>
              <a:t>Inventory turnover.</a:t>
            </a:r>
          </a:p>
        </p:txBody>
      </p:sp>
      <p:sp>
        <p:nvSpPr>
          <p:cNvPr id="10" name="Slide Number Placeholder 9">
            <a:extLst>
              <a:ext uri="{FF2B5EF4-FFF2-40B4-BE49-F238E27FC236}">
                <a16:creationId xmlns:a16="http://schemas.microsoft.com/office/drawing/2014/main" id="{B024B0F4-BF34-49B8-B1F0-1C3B1F4220DB}"/>
              </a:ext>
            </a:extLst>
          </p:cNvPr>
          <p:cNvSpPr>
            <a:spLocks noGrp="1"/>
          </p:cNvSpPr>
          <p:nvPr>
            <p:ph type="sldNum" sz="quarter" idx="10"/>
          </p:nvPr>
        </p:nvSpPr>
        <p:spPr/>
        <p:txBody>
          <a:bodyPr/>
          <a:lstStyle/>
          <a:p>
            <a:fld id="{68151E55-6873-49E2-B8D5-2F265E6F1973}" type="slidenum">
              <a:rPr lang="en-US" smtClean="0"/>
              <a:t>7</a:t>
            </a:fld>
            <a:endParaRPr lang="en-US" dirty="0"/>
          </a:p>
        </p:txBody>
      </p:sp>
    </p:spTree>
    <p:extLst>
      <p:ext uri="{BB962C8B-B14F-4D97-AF65-F5344CB8AC3E}">
        <p14:creationId xmlns:p14="http://schemas.microsoft.com/office/powerpoint/2010/main" val="6414247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192490"/>
            <a:ext cx="7034293" cy="903231"/>
          </a:xfrm>
        </p:spPr>
        <p:txBody>
          <a:bodyPr/>
          <a:lstStyle/>
          <a:p>
            <a:r>
              <a:rPr lang="en-IN" sz="3600" dirty="0"/>
              <a:t>Cross-Sectional Data </a:t>
            </a:r>
            <a:r>
              <a:rPr lang="en-IN" sz="1000" b="0" baseline="0" dirty="0"/>
              <a:t>1</a:t>
            </a:r>
          </a:p>
        </p:txBody>
      </p:sp>
      <p:sp>
        <p:nvSpPr>
          <p:cNvPr id="8" name="Content Placeholder 2">
            <a:extLst>
              <a:ext uri="{FF2B5EF4-FFF2-40B4-BE49-F238E27FC236}">
                <a16:creationId xmlns:a16="http://schemas.microsoft.com/office/drawing/2014/main" id="{92F92816-2B77-8817-254B-B1C5F674286B}"/>
              </a:ext>
            </a:extLst>
          </p:cNvPr>
          <p:cNvSpPr>
            <a:spLocks noGrp="1"/>
          </p:cNvSpPr>
          <p:nvPr>
            <p:ph sz="quarter" idx="11"/>
          </p:nvPr>
        </p:nvSpPr>
        <p:spPr>
          <a:xfrm>
            <a:off x="8598957" y="54864"/>
            <a:ext cx="476295" cy="1295711"/>
          </a:xfrm>
        </p:spPr>
        <p:txBody>
          <a:bodyPr vert="vert" tIns="45720" rIns="0"/>
          <a:lstStyle/>
          <a:p>
            <a:pPr marL="1025525" indent="-1025525"/>
            <a:r>
              <a:rPr lang="en-US" b="1" dirty="0"/>
              <a:t>L</a:t>
            </a:r>
            <a:r>
              <a:rPr lang="en-US" sz="100" b="1" dirty="0"/>
              <a:t> </a:t>
            </a:r>
            <a:r>
              <a:rPr lang="en-US" b="1" dirty="0"/>
              <a:t>O 2.3</a:t>
            </a:r>
            <a:endParaRPr lang="en-IN" b="1" dirty="0"/>
          </a:p>
        </p:txBody>
      </p:sp>
      <p:sp>
        <p:nvSpPr>
          <p:cNvPr id="4" name="Content Placeholder 3"/>
          <p:cNvSpPr>
            <a:spLocks noGrp="1"/>
          </p:cNvSpPr>
          <p:nvPr>
            <p:ph sz="quarter" idx="14"/>
          </p:nvPr>
        </p:nvSpPr>
        <p:spPr>
          <a:xfrm>
            <a:off x="342900" y="1278015"/>
            <a:ext cx="8191500" cy="4123543"/>
          </a:xfrm>
        </p:spPr>
        <p:txBody>
          <a:bodyPr/>
          <a:lstStyle/>
          <a:p>
            <a:pPr>
              <a:spcAft>
                <a:spcPts val="600"/>
              </a:spcAft>
              <a:defRPr/>
            </a:pPr>
            <a:r>
              <a:rPr lang="en-IN" sz="2200" dirty="0"/>
              <a:t>Each observation represents a different individual unit (For example, person) at the same point in time (For example, monthly VISA balances).</a:t>
            </a:r>
          </a:p>
          <a:p>
            <a:pPr>
              <a:spcAft>
                <a:spcPts val="600"/>
              </a:spcAft>
              <a:defRPr/>
            </a:pPr>
            <a:r>
              <a:rPr lang="en-IN" sz="2200" dirty="0"/>
              <a:t>For cross-sectional data, we are interested in:</a:t>
            </a:r>
          </a:p>
          <a:p>
            <a:pPr marL="292608" indent="-292608">
              <a:spcAft>
                <a:spcPts val="600"/>
              </a:spcAft>
              <a:buFont typeface="Arial" panose="020B0604020202020204" pitchFamily="34" charset="0"/>
              <a:buChar char="•"/>
              <a:defRPr/>
            </a:pPr>
            <a:r>
              <a:rPr lang="en-IN" sz="2200" dirty="0"/>
              <a:t>Variation among observations.</a:t>
            </a:r>
          </a:p>
          <a:p>
            <a:pPr marL="621792" lvl="1" indent="-320040">
              <a:spcBef>
                <a:spcPts val="500"/>
              </a:spcBef>
              <a:spcAft>
                <a:spcPts val="600"/>
              </a:spcAft>
              <a:defRPr/>
            </a:pPr>
            <a:r>
              <a:rPr lang="en-IN" sz="2200" dirty="0"/>
              <a:t>Example: accounts receivable in 20 Subway franchises.</a:t>
            </a:r>
          </a:p>
          <a:p>
            <a:pPr marL="292608" indent="-292608">
              <a:spcAft>
                <a:spcPts val="600"/>
              </a:spcAft>
              <a:buFont typeface="Arial" panose="020B0604020202020204" pitchFamily="34" charset="0"/>
              <a:buChar char="•"/>
              <a:defRPr/>
            </a:pPr>
            <a:r>
              <a:rPr lang="en-IN" sz="2200" dirty="0"/>
              <a:t>Relationships.</a:t>
            </a:r>
          </a:p>
          <a:p>
            <a:pPr marL="621792" lvl="1" indent="-320040">
              <a:spcBef>
                <a:spcPts val="500"/>
              </a:spcBef>
              <a:spcAft>
                <a:spcPts val="600"/>
              </a:spcAft>
              <a:defRPr/>
            </a:pPr>
            <a:r>
              <a:rPr lang="en-IN" sz="2200" dirty="0"/>
              <a:t>Example: whether accounts receivable are related to sales volume in 20 Subway franchises as shown in Figure 2.2.</a:t>
            </a:r>
          </a:p>
        </p:txBody>
      </p:sp>
      <p:sp>
        <p:nvSpPr>
          <p:cNvPr id="5" name="Content Placeholder 4"/>
          <p:cNvSpPr>
            <a:spLocks noGrp="1"/>
          </p:cNvSpPr>
          <p:nvPr>
            <p:ph sz="quarter" idx="15"/>
          </p:nvPr>
        </p:nvSpPr>
        <p:spPr>
          <a:xfrm>
            <a:off x="342900" y="5579984"/>
            <a:ext cx="8283512" cy="750148"/>
          </a:xfrm>
        </p:spPr>
        <p:txBody>
          <a:bodyPr/>
          <a:lstStyle/>
          <a:p>
            <a:pPr eaLnBrk="0" hangingPunct="0">
              <a:spcBef>
                <a:spcPct val="20000"/>
              </a:spcBef>
              <a:buClr>
                <a:schemeClr val="bg2"/>
              </a:buClr>
              <a:buSzPct val="75000"/>
              <a:defRPr/>
            </a:pPr>
            <a:r>
              <a:rPr lang="en-US" sz="2200" dirty="0">
                <a:solidFill>
                  <a:schemeClr val="tx1"/>
                </a:solidFill>
              </a:rPr>
              <a:t>We can combine the two data types to get pooled cross-sectional and time series data.</a:t>
            </a:r>
          </a:p>
        </p:txBody>
      </p:sp>
      <p:sp>
        <p:nvSpPr>
          <p:cNvPr id="10" name="Slide Number Placeholder 9"/>
          <p:cNvSpPr>
            <a:spLocks noGrp="1"/>
          </p:cNvSpPr>
          <p:nvPr>
            <p:ph type="sldNum" sz="quarter" idx="10"/>
          </p:nvPr>
        </p:nvSpPr>
        <p:spPr/>
        <p:txBody>
          <a:bodyPr/>
          <a:lstStyle/>
          <a:p>
            <a:fld id="{68151E55-6873-49E2-B8D5-2F265E6F1973}" type="slidenum">
              <a:rPr lang="en-US" smtClean="0"/>
              <a:t>8</a:t>
            </a:fld>
            <a:endParaRPr lang="en-US" dirty="0"/>
          </a:p>
        </p:txBody>
      </p:sp>
    </p:spTree>
    <p:extLst>
      <p:ext uri="{BB962C8B-B14F-4D97-AF65-F5344CB8AC3E}">
        <p14:creationId xmlns:p14="http://schemas.microsoft.com/office/powerpoint/2010/main" val="11155114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2408DA-7088-49FD-A9F2-FA30ACCB8868}"/>
              </a:ext>
            </a:extLst>
          </p:cNvPr>
          <p:cNvSpPr>
            <a:spLocks noGrp="1"/>
          </p:cNvSpPr>
          <p:nvPr>
            <p:ph type="title"/>
          </p:nvPr>
        </p:nvSpPr>
        <p:spPr>
          <a:xfrm>
            <a:off x="342900" y="192490"/>
            <a:ext cx="7747215" cy="903231"/>
          </a:xfrm>
        </p:spPr>
        <p:txBody>
          <a:bodyPr/>
          <a:lstStyle/>
          <a:p>
            <a:r>
              <a:rPr lang="en-IN" sz="3600" dirty="0"/>
              <a:t>Cross-Sectional Data </a:t>
            </a:r>
            <a:r>
              <a:rPr lang="en-IN" sz="1000" b="0" dirty="0"/>
              <a:t>2</a:t>
            </a:r>
            <a:endParaRPr lang="en-IN" dirty="0"/>
          </a:p>
        </p:txBody>
      </p:sp>
      <p:sp>
        <p:nvSpPr>
          <p:cNvPr id="12" name="Content Placeholder 2">
            <a:extLst>
              <a:ext uri="{FF2B5EF4-FFF2-40B4-BE49-F238E27FC236}">
                <a16:creationId xmlns:a16="http://schemas.microsoft.com/office/drawing/2014/main" id="{0F352127-6592-79E6-5EB8-11C1973AEEA8}"/>
              </a:ext>
            </a:extLst>
          </p:cNvPr>
          <p:cNvSpPr>
            <a:spLocks noGrp="1"/>
          </p:cNvSpPr>
          <p:nvPr>
            <p:ph sz="quarter" idx="11"/>
          </p:nvPr>
        </p:nvSpPr>
        <p:spPr>
          <a:xfrm>
            <a:off x="8598957" y="54864"/>
            <a:ext cx="476295" cy="1295711"/>
          </a:xfrm>
        </p:spPr>
        <p:txBody>
          <a:bodyPr vert="vert" tIns="45720" rIns="0"/>
          <a:lstStyle/>
          <a:p>
            <a:pPr marL="1025525" indent="-1025525"/>
            <a:r>
              <a:rPr lang="en-US" b="1" dirty="0"/>
              <a:t>L</a:t>
            </a:r>
            <a:r>
              <a:rPr lang="en-US" sz="100" b="1" dirty="0"/>
              <a:t> </a:t>
            </a:r>
            <a:r>
              <a:rPr lang="en-US" b="1" dirty="0"/>
              <a:t>O 2.3</a:t>
            </a:r>
            <a:endParaRPr lang="en-IN" b="1" dirty="0"/>
          </a:p>
        </p:txBody>
      </p:sp>
      <p:sp>
        <p:nvSpPr>
          <p:cNvPr id="4" name="Content Placeholder 3">
            <a:extLst>
              <a:ext uri="{FF2B5EF4-FFF2-40B4-BE49-F238E27FC236}">
                <a16:creationId xmlns:a16="http://schemas.microsoft.com/office/drawing/2014/main" id="{53AA3923-E6FA-4CE2-89E3-2D6CF078E7F7}"/>
              </a:ext>
            </a:extLst>
          </p:cNvPr>
          <p:cNvSpPr>
            <a:spLocks noGrp="1"/>
          </p:cNvSpPr>
          <p:nvPr>
            <p:ph sz="quarter" idx="14"/>
          </p:nvPr>
        </p:nvSpPr>
        <p:spPr>
          <a:xfrm>
            <a:off x="342900" y="1274082"/>
            <a:ext cx="8183880" cy="421983"/>
          </a:xfrm>
        </p:spPr>
        <p:txBody>
          <a:bodyPr/>
          <a:lstStyle/>
          <a:p>
            <a:r>
              <a:rPr lang="en-US" sz="2000" b="1" dirty="0"/>
              <a:t>Figure 2.2: </a:t>
            </a:r>
            <a:r>
              <a:rPr lang="en-IN" sz="2000" b="1" dirty="0"/>
              <a:t>Examples of Time Series versus Cross-Sectional Data.</a:t>
            </a:r>
          </a:p>
        </p:txBody>
      </p:sp>
      <p:pic>
        <p:nvPicPr>
          <p:cNvPr id="9" name="Picture 8" descr="2 graphs show examples of time series data and cross-sectional data.">
            <a:extLst>
              <a:ext uri="{FF2B5EF4-FFF2-40B4-BE49-F238E27FC236}">
                <a16:creationId xmlns:a16="http://schemas.microsoft.com/office/drawing/2014/main" id="{D61AFF8E-0B94-4F76-A054-C6A840C66D4A}"/>
              </a:ext>
            </a:extLst>
          </p:cNvPr>
          <p:cNvPicPr>
            <a:picLocks noChangeAspect="1"/>
          </p:cNvPicPr>
          <p:nvPr/>
        </p:nvPicPr>
        <p:blipFill>
          <a:blip r:embed="rId2"/>
          <a:stretch>
            <a:fillRect/>
          </a:stretch>
        </p:blipFill>
        <p:spPr>
          <a:xfrm>
            <a:off x="682111" y="2103166"/>
            <a:ext cx="7016550" cy="2588254"/>
          </a:xfrm>
          <a:prstGeom prst="rect">
            <a:avLst/>
          </a:prstGeom>
        </p:spPr>
      </p:pic>
      <p:sp>
        <p:nvSpPr>
          <p:cNvPr id="5" name="Content Placeholder 4">
            <a:extLst>
              <a:ext uri="{FF2B5EF4-FFF2-40B4-BE49-F238E27FC236}">
                <a16:creationId xmlns:a16="http://schemas.microsoft.com/office/drawing/2014/main" id="{12D71DC9-9D4D-498C-92D5-611B71434CCC}"/>
              </a:ext>
            </a:extLst>
          </p:cNvPr>
          <p:cNvSpPr>
            <a:spLocks noGrp="1"/>
          </p:cNvSpPr>
          <p:nvPr>
            <p:ph sz="quarter" idx="15"/>
          </p:nvPr>
        </p:nvSpPr>
        <p:spPr>
          <a:xfrm>
            <a:off x="342900" y="4983152"/>
            <a:ext cx="6446519" cy="421983"/>
          </a:xfrm>
        </p:spPr>
        <p:txBody>
          <a:bodyPr/>
          <a:lstStyle/>
          <a:p>
            <a:r>
              <a:rPr lang="en-IN" sz="1600" dirty="0"/>
              <a:t>Source: American Bankruptcy Institute (</a:t>
            </a:r>
            <a:r>
              <a:rPr lang="en-IN" sz="1600" dirty="0">
                <a:hlinkClick r:id="rId3"/>
              </a:rPr>
              <a:t>www.abiworld.org).</a:t>
            </a:r>
          </a:p>
        </p:txBody>
      </p:sp>
      <p:sp>
        <p:nvSpPr>
          <p:cNvPr id="16" name="Text Placeholder 8">
            <a:extLst>
              <a:ext uri="{FF2B5EF4-FFF2-40B4-BE49-F238E27FC236}">
                <a16:creationId xmlns:a16="http://schemas.microsoft.com/office/drawing/2014/main" id="{917B728C-2704-4FDD-AA0B-7E2DF492742B}"/>
              </a:ext>
            </a:extLst>
          </p:cNvPr>
          <p:cNvSpPr txBox="1">
            <a:spLocks/>
          </p:cNvSpPr>
          <p:nvPr/>
        </p:nvSpPr>
        <p:spPr>
          <a:xfrm>
            <a:off x="3049524" y="6309359"/>
            <a:ext cx="3153156" cy="236221"/>
          </a:xfrm>
          <a:prstGeom prst="rect">
            <a:avLst/>
          </a:prstGeom>
        </p:spPr>
        <p:txBody>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2400" kern="1200">
                <a:solidFill>
                  <a:schemeClr val="tx2"/>
                </a:solidFill>
                <a:latin typeface="+mn-lt"/>
                <a:ea typeface="+mn-ea"/>
                <a:cs typeface="+mn-cs"/>
              </a:defRPr>
            </a:lvl1pPr>
            <a:lvl2pPr marL="292608" indent="-292608" algn="l" defTabSz="914400" rtl="0" eaLnBrk="1" latinLnBrk="0" hangingPunct="1">
              <a:lnSpc>
                <a:spcPct val="100000"/>
              </a:lnSpc>
              <a:spcBef>
                <a:spcPts val="1000"/>
              </a:spcBef>
              <a:spcAft>
                <a:spcPts val="0"/>
              </a:spcAft>
              <a:buClrTx/>
              <a:buFont typeface="Arial" panose="020B0604020202020204" pitchFamily="34" charset="0"/>
              <a:buChar char="•"/>
              <a:defRPr sz="2400" kern="1200">
                <a:solidFill>
                  <a:schemeClr val="tx2"/>
                </a:solidFill>
                <a:latin typeface="+mn-lt"/>
                <a:ea typeface="+mn-ea"/>
                <a:cs typeface="+mn-cs"/>
              </a:defRPr>
            </a:lvl2pPr>
            <a:lvl3pPr marL="622800" indent="-292608" algn="l" defTabSz="914400" rtl="0" eaLnBrk="1" latinLnBrk="0" hangingPunct="1">
              <a:lnSpc>
                <a:spcPct val="100000"/>
              </a:lnSpc>
              <a:spcBef>
                <a:spcPts val="1000"/>
              </a:spcBef>
              <a:spcAft>
                <a:spcPts val="0"/>
              </a:spcAft>
              <a:buFont typeface="Arial" panose="020B0604020202020204" pitchFamily="34" charset="0"/>
              <a:buChar char="•"/>
              <a:defRPr sz="2000" kern="1200">
                <a:solidFill>
                  <a:schemeClr val="tx2"/>
                </a:solidFill>
                <a:latin typeface="+mn-lt"/>
                <a:ea typeface="+mn-ea"/>
                <a:cs typeface="+mn-cs"/>
              </a:defRPr>
            </a:lvl3pPr>
            <a:lvl4pPr marL="741363" indent="-285750" algn="l" defTabSz="914400" rtl="0" eaLnBrk="1" latinLnBrk="0" hangingPunct="1">
              <a:lnSpc>
                <a:spcPct val="100000"/>
              </a:lnSpc>
              <a:spcBef>
                <a:spcPts val="800"/>
              </a:spcBef>
              <a:spcAft>
                <a:spcPts val="800"/>
              </a:spcAft>
              <a:buFont typeface="Arial" panose="020B0604020202020204" pitchFamily="34" charset="0"/>
              <a:buChar char="•"/>
              <a:defRPr sz="1200" kern="1200">
                <a:solidFill>
                  <a:schemeClr val="tx1"/>
                </a:solidFill>
                <a:latin typeface="+mn-lt"/>
                <a:ea typeface="+mn-ea"/>
                <a:cs typeface="+mn-cs"/>
              </a:defRPr>
            </a:lvl4pPr>
            <a:lvl5pPr marL="971550" indent="-285750" algn="l" defTabSz="914400" rtl="0" eaLnBrk="1" latinLnBrk="0" hangingPunct="1">
              <a:lnSpc>
                <a:spcPct val="100000"/>
              </a:lnSpc>
              <a:spcBef>
                <a:spcPts val="8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200" dirty="0">
                <a:hlinkClick r:id="rId4" action="ppaction://hlinksldjump"/>
              </a:rPr>
              <a:t>Access the text alternative for slide images.</a:t>
            </a:r>
            <a:endParaRPr lang="en-US" sz="1200" dirty="0"/>
          </a:p>
        </p:txBody>
      </p:sp>
      <p:sp>
        <p:nvSpPr>
          <p:cNvPr id="10" name="Slide Number Placeholder 9">
            <a:extLst>
              <a:ext uri="{FF2B5EF4-FFF2-40B4-BE49-F238E27FC236}">
                <a16:creationId xmlns:a16="http://schemas.microsoft.com/office/drawing/2014/main" id="{B024B0F4-BF34-49B8-B1F0-1C3B1F4220DB}"/>
              </a:ext>
            </a:extLst>
          </p:cNvPr>
          <p:cNvSpPr>
            <a:spLocks noGrp="1"/>
          </p:cNvSpPr>
          <p:nvPr>
            <p:ph type="sldNum" sz="quarter" idx="10"/>
          </p:nvPr>
        </p:nvSpPr>
        <p:spPr/>
        <p:txBody>
          <a:bodyPr/>
          <a:lstStyle/>
          <a:p>
            <a:fld id="{68151E55-6873-49E2-B8D5-2F265E6F1973}" type="slidenum">
              <a:rPr lang="en-US" smtClean="0"/>
              <a:t>9</a:t>
            </a:fld>
            <a:endParaRPr lang="en-US" dirty="0"/>
          </a:p>
        </p:txBody>
      </p:sp>
    </p:spTree>
    <p:extLst>
      <p:ext uri="{BB962C8B-B14F-4D97-AF65-F5344CB8AC3E}">
        <p14:creationId xmlns:p14="http://schemas.microsoft.com/office/powerpoint/2010/main" val="2782003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CA76F8-2540-5FA6-5CB6-A50F45BAD2F7}"/>
              </a:ext>
            </a:extLst>
          </p:cNvPr>
          <p:cNvSpPr>
            <a:spLocks noGrp="1"/>
          </p:cNvSpPr>
          <p:nvPr>
            <p:ph type="title"/>
          </p:nvPr>
        </p:nvSpPr>
        <p:spPr/>
        <p:txBody>
          <a:bodyPr>
            <a:normAutofit/>
          </a:bodyPr>
          <a:lstStyle/>
          <a:p>
            <a:r>
              <a:rPr lang="en-US" sz="2400" dirty="0"/>
              <a:t>What type of data (categorical, discrete numerical, or continuous numerical) is each of the following</a:t>
            </a:r>
          </a:p>
        </p:txBody>
      </p:sp>
      <p:sp>
        <p:nvSpPr>
          <p:cNvPr id="3" name="Content Placeholder 2">
            <a:extLst>
              <a:ext uri="{FF2B5EF4-FFF2-40B4-BE49-F238E27FC236}">
                <a16:creationId xmlns:a16="http://schemas.microsoft.com/office/drawing/2014/main" id="{D3CDCC3B-3365-0D4B-176C-D618E53F0FC1}"/>
              </a:ext>
            </a:extLst>
          </p:cNvPr>
          <p:cNvSpPr>
            <a:spLocks noGrp="1"/>
          </p:cNvSpPr>
          <p:nvPr>
            <p:ph sz="quarter" idx="11"/>
          </p:nvPr>
        </p:nvSpPr>
        <p:spPr/>
        <p:txBody>
          <a:bodyPr/>
          <a:lstStyle/>
          <a:p>
            <a:r>
              <a:rPr lang="en-US" dirty="0"/>
              <a:t>a. Length of a TV commercial.</a:t>
            </a:r>
          </a:p>
        </p:txBody>
      </p:sp>
      <p:sp>
        <p:nvSpPr>
          <p:cNvPr id="4" name="Content Placeholder 3">
            <a:extLst>
              <a:ext uri="{FF2B5EF4-FFF2-40B4-BE49-F238E27FC236}">
                <a16:creationId xmlns:a16="http://schemas.microsoft.com/office/drawing/2014/main" id="{00448032-F221-82BB-E1AC-8DFD946C7E01}"/>
              </a:ext>
            </a:extLst>
          </p:cNvPr>
          <p:cNvSpPr>
            <a:spLocks noGrp="1"/>
          </p:cNvSpPr>
          <p:nvPr>
            <p:ph sz="quarter" idx="14"/>
          </p:nvPr>
        </p:nvSpPr>
        <p:spPr/>
        <p:txBody>
          <a:bodyPr/>
          <a:lstStyle/>
          <a:p>
            <a:r>
              <a:rPr lang="en-US" dirty="0"/>
              <a:t>b. Number of peanuts in a can of Planter’s Mixed Nuts.</a:t>
            </a:r>
          </a:p>
        </p:txBody>
      </p:sp>
      <p:sp>
        <p:nvSpPr>
          <p:cNvPr id="5" name="Content Placeholder 4">
            <a:extLst>
              <a:ext uri="{FF2B5EF4-FFF2-40B4-BE49-F238E27FC236}">
                <a16:creationId xmlns:a16="http://schemas.microsoft.com/office/drawing/2014/main" id="{6E2AD848-3373-7436-AF2A-86AC9CCF7D29}"/>
              </a:ext>
            </a:extLst>
          </p:cNvPr>
          <p:cNvSpPr>
            <a:spLocks noGrp="1"/>
          </p:cNvSpPr>
          <p:nvPr>
            <p:ph sz="quarter" idx="15"/>
          </p:nvPr>
        </p:nvSpPr>
        <p:spPr/>
        <p:txBody>
          <a:bodyPr/>
          <a:lstStyle/>
          <a:p>
            <a:r>
              <a:rPr lang="en-US" dirty="0"/>
              <a:t>c. Occupation of a mortgage applicant.</a:t>
            </a:r>
          </a:p>
        </p:txBody>
      </p:sp>
      <p:sp>
        <p:nvSpPr>
          <p:cNvPr id="6" name="Content Placeholder 5">
            <a:extLst>
              <a:ext uri="{FF2B5EF4-FFF2-40B4-BE49-F238E27FC236}">
                <a16:creationId xmlns:a16="http://schemas.microsoft.com/office/drawing/2014/main" id="{293220DC-80CD-D853-FAFE-DFCD6C0260B2}"/>
              </a:ext>
            </a:extLst>
          </p:cNvPr>
          <p:cNvSpPr>
            <a:spLocks noGrp="1"/>
          </p:cNvSpPr>
          <p:nvPr>
            <p:ph sz="quarter" idx="16"/>
          </p:nvPr>
        </p:nvSpPr>
        <p:spPr/>
        <p:txBody>
          <a:bodyPr/>
          <a:lstStyle/>
          <a:p>
            <a:r>
              <a:rPr lang="en-US" dirty="0"/>
              <a:t>d. Flight time from London Heathrow to Chicago O’Hare.</a:t>
            </a:r>
          </a:p>
        </p:txBody>
      </p:sp>
      <p:sp>
        <p:nvSpPr>
          <p:cNvPr id="7" name="Content Placeholder 6">
            <a:extLst>
              <a:ext uri="{FF2B5EF4-FFF2-40B4-BE49-F238E27FC236}">
                <a16:creationId xmlns:a16="http://schemas.microsoft.com/office/drawing/2014/main" id="{DF5DC8BB-88B0-DE06-190A-A336245C004E}"/>
              </a:ext>
            </a:extLst>
          </p:cNvPr>
          <p:cNvSpPr>
            <a:spLocks noGrp="1"/>
          </p:cNvSpPr>
          <p:nvPr>
            <p:ph sz="quarter" idx="17"/>
          </p:nvPr>
        </p:nvSpPr>
        <p:spPr/>
        <p:txBody>
          <a:bodyPr/>
          <a:lstStyle/>
          <a:p>
            <a:r>
              <a:rPr lang="en-US" dirty="0"/>
              <a:t>e. The fat grams you ate for lunch yesterday.</a:t>
            </a:r>
          </a:p>
        </p:txBody>
      </p:sp>
      <p:sp>
        <p:nvSpPr>
          <p:cNvPr id="8" name="Content Placeholder 7">
            <a:extLst>
              <a:ext uri="{FF2B5EF4-FFF2-40B4-BE49-F238E27FC236}">
                <a16:creationId xmlns:a16="http://schemas.microsoft.com/office/drawing/2014/main" id="{7F26E8C8-6E5F-796E-CF24-5A04A71F6C79}"/>
              </a:ext>
            </a:extLst>
          </p:cNvPr>
          <p:cNvSpPr>
            <a:spLocks noGrp="1"/>
          </p:cNvSpPr>
          <p:nvPr>
            <p:ph sz="quarter" idx="18"/>
          </p:nvPr>
        </p:nvSpPr>
        <p:spPr/>
        <p:txBody>
          <a:bodyPr/>
          <a:lstStyle/>
          <a:p>
            <a:r>
              <a:rPr lang="en-US" dirty="0"/>
              <a:t>f. The name of the airline with the cheapest fare from New York to London.</a:t>
            </a:r>
          </a:p>
        </p:txBody>
      </p:sp>
      <p:sp>
        <p:nvSpPr>
          <p:cNvPr id="9" name="Text Placeholder 8">
            <a:extLst>
              <a:ext uri="{FF2B5EF4-FFF2-40B4-BE49-F238E27FC236}">
                <a16:creationId xmlns:a16="http://schemas.microsoft.com/office/drawing/2014/main" id="{C79D3123-2DCB-464A-4015-2A137A3572DD}"/>
              </a:ext>
            </a:extLst>
          </p:cNvPr>
          <p:cNvSpPr>
            <a:spLocks noGrp="1"/>
          </p:cNvSpPr>
          <p:nvPr>
            <p:ph type="body" sz="quarter" idx="12"/>
          </p:nvPr>
        </p:nvSpPr>
        <p:spPr/>
        <p:txBody>
          <a:bodyPr/>
          <a:lstStyle/>
          <a:p>
            <a:endParaRPr lang="en-US"/>
          </a:p>
        </p:txBody>
      </p:sp>
      <p:sp>
        <p:nvSpPr>
          <p:cNvPr id="10" name="Text Placeholder 9">
            <a:extLst>
              <a:ext uri="{FF2B5EF4-FFF2-40B4-BE49-F238E27FC236}">
                <a16:creationId xmlns:a16="http://schemas.microsoft.com/office/drawing/2014/main" id="{5D810AA9-D918-D6F8-FEF1-92F827E30524}"/>
              </a:ext>
            </a:extLst>
          </p:cNvPr>
          <p:cNvSpPr>
            <a:spLocks noGrp="1"/>
          </p:cNvSpPr>
          <p:nvPr>
            <p:ph type="body" sz="quarter" idx="13"/>
          </p:nvPr>
        </p:nvSpPr>
        <p:spPr/>
        <p:txBody>
          <a:bodyPr/>
          <a:lstStyle/>
          <a:p>
            <a:endParaRPr lang="en-US"/>
          </a:p>
        </p:txBody>
      </p:sp>
      <p:sp>
        <p:nvSpPr>
          <p:cNvPr id="11" name="Slide Number Placeholder 10">
            <a:extLst>
              <a:ext uri="{FF2B5EF4-FFF2-40B4-BE49-F238E27FC236}">
                <a16:creationId xmlns:a16="http://schemas.microsoft.com/office/drawing/2014/main" id="{E3383972-9326-D628-CFDC-A2F72641EC00}"/>
              </a:ext>
            </a:extLst>
          </p:cNvPr>
          <p:cNvSpPr>
            <a:spLocks noGrp="1"/>
          </p:cNvSpPr>
          <p:nvPr>
            <p:ph type="sldNum" sz="quarter" idx="10"/>
          </p:nvPr>
        </p:nvSpPr>
        <p:spPr/>
        <p:txBody>
          <a:bodyPr/>
          <a:lstStyle/>
          <a:p>
            <a:fld id="{68151E55-6873-49E2-B8D5-2F265E6F1973}" type="slidenum">
              <a:rPr lang="en-US" smtClean="0"/>
              <a:t>10</a:t>
            </a:fld>
            <a:endParaRPr lang="en-US" dirty="0"/>
          </a:p>
        </p:txBody>
      </p:sp>
    </p:spTree>
    <p:extLst>
      <p:ext uri="{BB962C8B-B14F-4D97-AF65-F5344CB8AC3E}">
        <p14:creationId xmlns:p14="http://schemas.microsoft.com/office/powerpoint/2010/main" val="26293014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711692-2B7A-7D06-E80B-F93D3AB86B06}"/>
              </a:ext>
            </a:extLst>
          </p:cNvPr>
          <p:cNvSpPr>
            <a:spLocks noGrp="1"/>
          </p:cNvSpPr>
          <p:nvPr>
            <p:ph type="title"/>
          </p:nvPr>
        </p:nvSpPr>
        <p:spPr/>
        <p:txBody>
          <a:bodyPr>
            <a:normAutofit/>
          </a:bodyPr>
          <a:lstStyle/>
          <a:p>
            <a:r>
              <a:rPr lang="en-US" sz="2800" dirty="0"/>
              <a:t>Which type of data (cross-sectional or time series) is each variable?</a:t>
            </a:r>
          </a:p>
        </p:txBody>
      </p:sp>
      <p:sp>
        <p:nvSpPr>
          <p:cNvPr id="3" name="Content Placeholder 2">
            <a:extLst>
              <a:ext uri="{FF2B5EF4-FFF2-40B4-BE49-F238E27FC236}">
                <a16:creationId xmlns:a16="http://schemas.microsoft.com/office/drawing/2014/main" id="{DEFB19D6-853F-24AC-C0E3-D507878A31F5}"/>
              </a:ext>
            </a:extLst>
          </p:cNvPr>
          <p:cNvSpPr>
            <a:spLocks noGrp="1"/>
          </p:cNvSpPr>
          <p:nvPr>
            <p:ph sz="quarter" idx="11"/>
          </p:nvPr>
        </p:nvSpPr>
        <p:spPr/>
        <p:txBody>
          <a:bodyPr/>
          <a:lstStyle/>
          <a:p>
            <a:r>
              <a:rPr lang="en-US" dirty="0"/>
              <a:t>a. Scores of 50 students on a midterm accounting exam last semester.</a:t>
            </a:r>
          </a:p>
        </p:txBody>
      </p:sp>
      <p:sp>
        <p:nvSpPr>
          <p:cNvPr id="4" name="Content Placeholder 3">
            <a:extLst>
              <a:ext uri="{FF2B5EF4-FFF2-40B4-BE49-F238E27FC236}">
                <a16:creationId xmlns:a16="http://schemas.microsoft.com/office/drawing/2014/main" id="{5EF67ABF-9C10-F62E-97DA-BEABE28F9B9F}"/>
              </a:ext>
            </a:extLst>
          </p:cNvPr>
          <p:cNvSpPr>
            <a:spLocks noGrp="1"/>
          </p:cNvSpPr>
          <p:nvPr>
            <p:ph sz="quarter" idx="14"/>
          </p:nvPr>
        </p:nvSpPr>
        <p:spPr/>
        <p:txBody>
          <a:bodyPr/>
          <a:lstStyle/>
          <a:p>
            <a:r>
              <a:rPr lang="en-US" dirty="0"/>
              <a:t>. Bob’s scores on 10 weekly accounting quizzes last semester.</a:t>
            </a:r>
          </a:p>
        </p:txBody>
      </p:sp>
      <p:sp>
        <p:nvSpPr>
          <p:cNvPr id="5" name="Content Placeholder 4">
            <a:extLst>
              <a:ext uri="{FF2B5EF4-FFF2-40B4-BE49-F238E27FC236}">
                <a16:creationId xmlns:a16="http://schemas.microsoft.com/office/drawing/2014/main" id="{3A3AA3A9-DA55-B394-F2E1-813FCCCD6FC1}"/>
              </a:ext>
            </a:extLst>
          </p:cNvPr>
          <p:cNvSpPr>
            <a:spLocks noGrp="1"/>
          </p:cNvSpPr>
          <p:nvPr>
            <p:ph sz="quarter" idx="15"/>
          </p:nvPr>
        </p:nvSpPr>
        <p:spPr/>
        <p:txBody>
          <a:bodyPr/>
          <a:lstStyle/>
          <a:p>
            <a:r>
              <a:rPr lang="en-US" dirty="0"/>
              <a:t>c. Average score by all takers of the state’s CPA exam for each of the last 10 years.</a:t>
            </a:r>
          </a:p>
        </p:txBody>
      </p:sp>
      <p:sp>
        <p:nvSpPr>
          <p:cNvPr id="6" name="Content Placeholder 5">
            <a:extLst>
              <a:ext uri="{FF2B5EF4-FFF2-40B4-BE49-F238E27FC236}">
                <a16:creationId xmlns:a16="http://schemas.microsoft.com/office/drawing/2014/main" id="{0C34885E-B573-7D21-C74F-A8B9C75C7BFC}"/>
              </a:ext>
            </a:extLst>
          </p:cNvPr>
          <p:cNvSpPr>
            <a:spLocks noGrp="1"/>
          </p:cNvSpPr>
          <p:nvPr>
            <p:ph sz="quarter" idx="16"/>
          </p:nvPr>
        </p:nvSpPr>
        <p:spPr/>
        <p:txBody>
          <a:bodyPr/>
          <a:lstStyle/>
          <a:p>
            <a:r>
              <a:rPr lang="en-US" dirty="0"/>
              <a:t>d. Number of years of accounting work experience for each of the 15 partners in a CPA firm.</a:t>
            </a:r>
          </a:p>
        </p:txBody>
      </p:sp>
      <p:sp>
        <p:nvSpPr>
          <p:cNvPr id="7" name="Content Placeholder 6">
            <a:extLst>
              <a:ext uri="{FF2B5EF4-FFF2-40B4-BE49-F238E27FC236}">
                <a16:creationId xmlns:a16="http://schemas.microsoft.com/office/drawing/2014/main" id="{22E68A3E-7E09-975D-F822-3CBB31721B08}"/>
              </a:ext>
            </a:extLst>
          </p:cNvPr>
          <p:cNvSpPr>
            <a:spLocks noGrp="1"/>
          </p:cNvSpPr>
          <p:nvPr>
            <p:ph sz="quarter" idx="17"/>
          </p:nvPr>
        </p:nvSpPr>
        <p:spPr/>
        <p:txBody>
          <a:bodyPr/>
          <a:lstStyle/>
          <a:p>
            <a:r>
              <a:rPr lang="en-US" dirty="0"/>
              <a:t>e. Dividends per share paid by General Electric common stock for the last 20 quarters.</a:t>
            </a:r>
          </a:p>
        </p:txBody>
      </p:sp>
      <p:sp>
        <p:nvSpPr>
          <p:cNvPr id="8" name="Content Placeholder 7">
            <a:extLst>
              <a:ext uri="{FF2B5EF4-FFF2-40B4-BE49-F238E27FC236}">
                <a16:creationId xmlns:a16="http://schemas.microsoft.com/office/drawing/2014/main" id="{AC7857C4-1C97-4DB6-2C9B-0CDCDE203BD9}"/>
              </a:ext>
            </a:extLst>
          </p:cNvPr>
          <p:cNvSpPr>
            <a:spLocks noGrp="1"/>
          </p:cNvSpPr>
          <p:nvPr>
            <p:ph sz="quarter" idx="18"/>
          </p:nvPr>
        </p:nvSpPr>
        <p:spPr/>
        <p:txBody>
          <a:bodyPr/>
          <a:lstStyle/>
          <a:p>
            <a:r>
              <a:rPr lang="en-US" dirty="0" err="1"/>
              <a:t>f.Latest</a:t>
            </a:r>
            <a:r>
              <a:rPr lang="en-US" dirty="0"/>
              <a:t> price/earnings ratios of 10 stocks in Bob’s retirement portfolio.</a:t>
            </a:r>
          </a:p>
        </p:txBody>
      </p:sp>
      <p:sp>
        <p:nvSpPr>
          <p:cNvPr id="9" name="Text Placeholder 8">
            <a:extLst>
              <a:ext uri="{FF2B5EF4-FFF2-40B4-BE49-F238E27FC236}">
                <a16:creationId xmlns:a16="http://schemas.microsoft.com/office/drawing/2014/main" id="{7D000C23-47D2-FBE5-7E8B-95E56D5095FA}"/>
              </a:ext>
            </a:extLst>
          </p:cNvPr>
          <p:cNvSpPr>
            <a:spLocks noGrp="1"/>
          </p:cNvSpPr>
          <p:nvPr>
            <p:ph type="body" sz="quarter" idx="12"/>
          </p:nvPr>
        </p:nvSpPr>
        <p:spPr/>
        <p:txBody>
          <a:bodyPr/>
          <a:lstStyle/>
          <a:p>
            <a:endParaRPr lang="en-US"/>
          </a:p>
        </p:txBody>
      </p:sp>
      <p:sp>
        <p:nvSpPr>
          <p:cNvPr id="10" name="Text Placeholder 9">
            <a:extLst>
              <a:ext uri="{FF2B5EF4-FFF2-40B4-BE49-F238E27FC236}">
                <a16:creationId xmlns:a16="http://schemas.microsoft.com/office/drawing/2014/main" id="{6B340EA9-06A1-65EB-E239-2117756B8102}"/>
              </a:ext>
            </a:extLst>
          </p:cNvPr>
          <p:cNvSpPr>
            <a:spLocks noGrp="1"/>
          </p:cNvSpPr>
          <p:nvPr>
            <p:ph type="body" sz="quarter" idx="13"/>
          </p:nvPr>
        </p:nvSpPr>
        <p:spPr/>
        <p:txBody>
          <a:bodyPr/>
          <a:lstStyle/>
          <a:p>
            <a:endParaRPr lang="en-US"/>
          </a:p>
        </p:txBody>
      </p:sp>
      <p:sp>
        <p:nvSpPr>
          <p:cNvPr id="11" name="Slide Number Placeholder 10">
            <a:extLst>
              <a:ext uri="{FF2B5EF4-FFF2-40B4-BE49-F238E27FC236}">
                <a16:creationId xmlns:a16="http://schemas.microsoft.com/office/drawing/2014/main" id="{49C5876E-F40B-A262-5E33-5F8866139318}"/>
              </a:ext>
            </a:extLst>
          </p:cNvPr>
          <p:cNvSpPr>
            <a:spLocks noGrp="1"/>
          </p:cNvSpPr>
          <p:nvPr>
            <p:ph type="sldNum" sz="quarter" idx="10"/>
          </p:nvPr>
        </p:nvSpPr>
        <p:spPr/>
        <p:txBody>
          <a:bodyPr/>
          <a:lstStyle/>
          <a:p>
            <a:fld id="{68151E55-6873-49E2-B8D5-2F265E6F1973}" type="slidenum">
              <a:rPr lang="en-US" smtClean="0"/>
              <a:t>11</a:t>
            </a:fld>
            <a:endParaRPr lang="en-US" dirty="0"/>
          </a:p>
        </p:txBody>
      </p:sp>
    </p:spTree>
    <p:extLst>
      <p:ext uri="{BB962C8B-B14F-4D97-AF65-F5344CB8AC3E}">
        <p14:creationId xmlns:p14="http://schemas.microsoft.com/office/powerpoint/2010/main" val="21436424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C71A13-2AA0-EEDA-B43D-0A713ECB4B69}"/>
              </a:ext>
            </a:extLst>
          </p:cNvPr>
          <p:cNvSpPr>
            <a:spLocks noGrp="1"/>
          </p:cNvSpPr>
          <p:nvPr>
            <p:ph type="title"/>
          </p:nvPr>
        </p:nvSpPr>
        <p:spPr>
          <a:xfrm>
            <a:off x="342901" y="192490"/>
            <a:ext cx="7854128" cy="903231"/>
          </a:xfrm>
        </p:spPr>
        <p:txBody>
          <a:bodyPr/>
          <a:lstStyle/>
          <a:p>
            <a:r>
              <a:rPr lang="en-IN" sz="3600" dirty="0"/>
              <a:t>Levels of Measurement </a:t>
            </a:r>
            <a:r>
              <a:rPr lang="en-IN" sz="1000" b="0" dirty="0"/>
              <a:t>1</a:t>
            </a:r>
          </a:p>
        </p:txBody>
      </p:sp>
      <p:sp>
        <p:nvSpPr>
          <p:cNvPr id="10" name="Content Placeholder 2">
            <a:extLst>
              <a:ext uri="{FF2B5EF4-FFF2-40B4-BE49-F238E27FC236}">
                <a16:creationId xmlns:a16="http://schemas.microsoft.com/office/drawing/2014/main" id="{45B7F1EC-D077-FB02-1626-020A7F0C0EEF}"/>
              </a:ext>
            </a:extLst>
          </p:cNvPr>
          <p:cNvSpPr>
            <a:spLocks noGrp="1"/>
          </p:cNvSpPr>
          <p:nvPr>
            <p:ph sz="quarter" idx="11"/>
          </p:nvPr>
        </p:nvSpPr>
        <p:spPr>
          <a:xfrm>
            <a:off x="8598957" y="54864"/>
            <a:ext cx="476295" cy="1295711"/>
          </a:xfrm>
        </p:spPr>
        <p:txBody>
          <a:bodyPr vert="vert" tIns="45720" rIns="0"/>
          <a:lstStyle/>
          <a:p>
            <a:pPr marL="1025525" indent="-1025525"/>
            <a:r>
              <a:rPr lang="en-US" b="1" dirty="0"/>
              <a:t>L</a:t>
            </a:r>
            <a:r>
              <a:rPr lang="en-US" sz="100" b="1" dirty="0"/>
              <a:t> </a:t>
            </a:r>
            <a:r>
              <a:rPr lang="en-US" b="1" dirty="0"/>
              <a:t>O 2.4</a:t>
            </a:r>
            <a:endParaRPr lang="en-IN" b="1" dirty="0"/>
          </a:p>
        </p:txBody>
      </p:sp>
      <p:sp>
        <p:nvSpPr>
          <p:cNvPr id="7" name="Content Placeholder 6"/>
          <p:cNvSpPr>
            <a:spLocks noGrp="1"/>
          </p:cNvSpPr>
          <p:nvPr>
            <p:ph sz="quarter" idx="14"/>
          </p:nvPr>
        </p:nvSpPr>
        <p:spPr>
          <a:xfrm>
            <a:off x="342900" y="1219200"/>
            <a:ext cx="8065809" cy="498764"/>
          </a:xfrm>
        </p:spPr>
        <p:txBody>
          <a:bodyPr/>
          <a:lstStyle/>
          <a:p>
            <a:r>
              <a:rPr lang="en-US" b="1" dirty="0"/>
              <a:t>Figure 2.3: Determining the Measurement Level.</a:t>
            </a:r>
          </a:p>
        </p:txBody>
      </p:sp>
      <p:pic>
        <p:nvPicPr>
          <p:cNvPr id="4" name="Picture 3" descr="A flow chart shows the levels of measurement.&#10;">
            <a:extLst>
              <a:ext uri="{FF2B5EF4-FFF2-40B4-BE49-F238E27FC236}">
                <a16:creationId xmlns:a16="http://schemas.microsoft.com/office/drawing/2014/main" id="{7CE464E9-5D25-40E6-9037-1C4D52B1DBA6}"/>
              </a:ext>
            </a:extLst>
          </p:cNvPr>
          <p:cNvPicPr>
            <a:picLocks noChangeAspect="1"/>
          </p:cNvPicPr>
          <p:nvPr/>
        </p:nvPicPr>
        <p:blipFill>
          <a:blip r:embed="rId2"/>
          <a:stretch>
            <a:fillRect/>
          </a:stretch>
        </p:blipFill>
        <p:spPr>
          <a:xfrm>
            <a:off x="769989" y="2070472"/>
            <a:ext cx="7427039" cy="3509778"/>
          </a:xfrm>
          <a:prstGeom prst="rect">
            <a:avLst/>
          </a:prstGeom>
        </p:spPr>
      </p:pic>
      <p:sp>
        <p:nvSpPr>
          <p:cNvPr id="9" name="Text Placeholder 8"/>
          <p:cNvSpPr>
            <a:spLocks noGrp="1"/>
          </p:cNvSpPr>
          <p:nvPr>
            <p:ph type="body" sz="quarter" idx="12"/>
          </p:nvPr>
        </p:nvSpPr>
        <p:spPr>
          <a:xfrm>
            <a:off x="3049524" y="6309359"/>
            <a:ext cx="3153156" cy="236221"/>
          </a:xfrm>
        </p:spPr>
        <p:txBody>
          <a:bodyPr/>
          <a:lstStyle/>
          <a:p>
            <a:r>
              <a:rPr lang="en-US" sz="1200" dirty="0">
                <a:hlinkClick r:id="rId3" action="ppaction://hlinksldjump"/>
              </a:rPr>
              <a:t>Access the text alternative for slide images.</a:t>
            </a:r>
            <a:endParaRPr lang="en-US" sz="1200" dirty="0"/>
          </a:p>
        </p:txBody>
      </p:sp>
      <p:sp>
        <p:nvSpPr>
          <p:cNvPr id="6" name="Slide Number Placeholder 5">
            <a:extLst>
              <a:ext uri="{FF2B5EF4-FFF2-40B4-BE49-F238E27FC236}">
                <a16:creationId xmlns:a16="http://schemas.microsoft.com/office/drawing/2014/main" id="{67326E3F-FB89-A6CD-B325-2C20B157C418}"/>
              </a:ext>
            </a:extLst>
          </p:cNvPr>
          <p:cNvSpPr>
            <a:spLocks noGrp="1"/>
          </p:cNvSpPr>
          <p:nvPr>
            <p:ph type="sldNum" sz="quarter" idx="10"/>
          </p:nvPr>
        </p:nvSpPr>
        <p:spPr/>
        <p:txBody>
          <a:bodyPr/>
          <a:lstStyle/>
          <a:p>
            <a:fld id="{68151E55-6873-49E2-B8D5-2F265E6F1973}" type="slidenum">
              <a:rPr lang="en-US" smtClean="0"/>
              <a:pPr/>
              <a:t>12</a:t>
            </a:fld>
            <a:endParaRPr lang="en-US" dirty="0"/>
          </a:p>
        </p:txBody>
      </p:sp>
    </p:spTree>
    <p:extLst>
      <p:ext uri="{BB962C8B-B14F-4D97-AF65-F5344CB8AC3E}">
        <p14:creationId xmlns:p14="http://schemas.microsoft.com/office/powerpoint/2010/main" val="25533537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C71A13-2AA0-EEDA-B43D-0A713ECB4B69}"/>
              </a:ext>
            </a:extLst>
          </p:cNvPr>
          <p:cNvSpPr>
            <a:spLocks noGrp="1"/>
          </p:cNvSpPr>
          <p:nvPr>
            <p:ph type="title"/>
          </p:nvPr>
        </p:nvSpPr>
        <p:spPr>
          <a:xfrm>
            <a:off x="342901" y="192490"/>
            <a:ext cx="7864577" cy="903231"/>
          </a:xfrm>
        </p:spPr>
        <p:txBody>
          <a:bodyPr/>
          <a:lstStyle/>
          <a:p>
            <a:r>
              <a:rPr lang="en-IN" sz="3600" dirty="0"/>
              <a:t>Levels of Measurement </a:t>
            </a:r>
            <a:r>
              <a:rPr lang="en-IN" sz="1000" b="0" dirty="0"/>
              <a:t>2</a:t>
            </a:r>
          </a:p>
        </p:txBody>
      </p:sp>
      <p:sp>
        <p:nvSpPr>
          <p:cNvPr id="7" name="Content Placeholder 2">
            <a:extLst>
              <a:ext uri="{FF2B5EF4-FFF2-40B4-BE49-F238E27FC236}">
                <a16:creationId xmlns:a16="http://schemas.microsoft.com/office/drawing/2014/main" id="{FD0BE8A7-F5F7-5C20-021E-52A3D92DB8E3}"/>
              </a:ext>
            </a:extLst>
          </p:cNvPr>
          <p:cNvSpPr>
            <a:spLocks noGrp="1"/>
          </p:cNvSpPr>
          <p:nvPr>
            <p:ph sz="quarter" idx="11"/>
          </p:nvPr>
        </p:nvSpPr>
        <p:spPr>
          <a:xfrm>
            <a:off x="8598957" y="54864"/>
            <a:ext cx="476295" cy="1295711"/>
          </a:xfrm>
        </p:spPr>
        <p:txBody>
          <a:bodyPr vert="vert" tIns="45720" rIns="0"/>
          <a:lstStyle/>
          <a:p>
            <a:pPr marL="1025525" indent="-1025525"/>
            <a:r>
              <a:rPr lang="en-US" b="1" dirty="0"/>
              <a:t>L</a:t>
            </a:r>
            <a:r>
              <a:rPr lang="en-US" sz="100" b="1" dirty="0"/>
              <a:t> </a:t>
            </a:r>
            <a:r>
              <a:rPr lang="en-US" b="1" dirty="0"/>
              <a:t>O 2.4</a:t>
            </a:r>
            <a:endParaRPr lang="en-IN" b="1" dirty="0"/>
          </a:p>
        </p:txBody>
      </p:sp>
      <p:graphicFrame>
        <p:nvGraphicFramePr>
          <p:cNvPr id="12" name="Table 12">
            <a:extLst>
              <a:ext uri="{FF2B5EF4-FFF2-40B4-BE49-F238E27FC236}">
                <a16:creationId xmlns:a16="http://schemas.microsoft.com/office/drawing/2014/main" id="{BE0B045E-0088-4BEA-8321-763CCE349B68}"/>
              </a:ext>
            </a:extLst>
          </p:cNvPr>
          <p:cNvGraphicFramePr>
            <a:graphicFrameLocks noGrp="1"/>
          </p:cNvGraphicFramePr>
          <p:nvPr>
            <p:extLst>
              <p:ext uri="{D42A27DB-BD31-4B8C-83A1-F6EECF244321}">
                <p14:modId xmlns:p14="http://schemas.microsoft.com/office/powerpoint/2010/main" val="3789862734"/>
              </p:ext>
            </p:extLst>
          </p:nvPr>
        </p:nvGraphicFramePr>
        <p:xfrm>
          <a:off x="936522" y="1728825"/>
          <a:ext cx="7270956" cy="3533700"/>
        </p:xfrm>
        <a:graphic>
          <a:graphicData uri="http://schemas.openxmlformats.org/drawingml/2006/table">
            <a:tbl>
              <a:tblPr firstRow="1" bandRow="1">
                <a:tableStyleId>{5C22544A-7EE6-4342-B048-85BDC9FD1C3A}</a:tableStyleId>
              </a:tblPr>
              <a:tblGrid>
                <a:gridCol w="1822901">
                  <a:extLst>
                    <a:ext uri="{9D8B030D-6E8A-4147-A177-3AD203B41FA5}">
                      <a16:colId xmlns:a16="http://schemas.microsoft.com/office/drawing/2014/main" val="4275865278"/>
                    </a:ext>
                  </a:extLst>
                </a:gridCol>
                <a:gridCol w="3143250">
                  <a:extLst>
                    <a:ext uri="{9D8B030D-6E8A-4147-A177-3AD203B41FA5}">
                      <a16:colId xmlns:a16="http://schemas.microsoft.com/office/drawing/2014/main" val="1099713672"/>
                    </a:ext>
                  </a:extLst>
                </a:gridCol>
                <a:gridCol w="2304805">
                  <a:extLst>
                    <a:ext uri="{9D8B030D-6E8A-4147-A177-3AD203B41FA5}">
                      <a16:colId xmlns:a16="http://schemas.microsoft.com/office/drawing/2014/main" val="3758664498"/>
                    </a:ext>
                  </a:extLst>
                </a:gridCol>
              </a:tblGrid>
              <a:tr h="517962">
                <a:tc>
                  <a:txBody>
                    <a:bodyPr/>
                    <a:lstStyle/>
                    <a:p>
                      <a:pPr marL="0" marR="0" lvl="0" indent="0" algn="l" defTabSz="914400" rtl="0" eaLnBrk="1" fontAlgn="base" latinLnBrk="0" hangingPunct="1">
                        <a:lnSpc>
                          <a:spcPct val="100000"/>
                        </a:lnSpc>
                        <a:spcBef>
                          <a:spcPct val="0"/>
                        </a:spcBef>
                        <a:spcAft>
                          <a:spcPct val="0"/>
                        </a:spcAft>
                        <a:buClrTx/>
                        <a:buSzPct val="90000"/>
                        <a:buFontTx/>
                        <a:buNone/>
                        <a:tabLst/>
                      </a:pPr>
                      <a:r>
                        <a:rPr kumimoji="0" lang="en-US" sz="1800" b="1" u="none" strike="noStrike" cap="none" normalizeH="0" baseline="0" dirty="0">
                          <a:ln>
                            <a:noFill/>
                          </a:ln>
                          <a:effectLst/>
                        </a:rPr>
                        <a:t>Level of Measurement</a:t>
                      </a:r>
                      <a:endParaRPr kumimoji="0" lang="en-US" sz="1800" b="1" i="0" u="none" strike="noStrike" cap="none" normalizeH="0" baseline="0" dirty="0">
                        <a:ln>
                          <a:noFill/>
                        </a:ln>
                        <a:solidFill>
                          <a:schemeClr val="tx1"/>
                        </a:solidFill>
                        <a:effectLst/>
                        <a:latin typeface="Arial" charset="0"/>
                      </a:endParaRPr>
                    </a:p>
                  </a:txBody>
                  <a:tcPr marL="103236" marR="103236" marT="51618" marB="51618" horzOverflow="overflow">
                    <a:solidFill>
                      <a:srgbClr val="C00000"/>
                    </a:solidFill>
                  </a:tcPr>
                </a:tc>
                <a:tc>
                  <a:txBody>
                    <a:bodyPr/>
                    <a:lstStyle/>
                    <a:p>
                      <a:pPr marL="0" marR="0" lvl="0" indent="0" algn="l" defTabSz="914400" rtl="0" eaLnBrk="1" fontAlgn="base" latinLnBrk="0" hangingPunct="1">
                        <a:lnSpc>
                          <a:spcPct val="100000"/>
                        </a:lnSpc>
                        <a:spcBef>
                          <a:spcPct val="0"/>
                        </a:spcBef>
                        <a:spcAft>
                          <a:spcPct val="0"/>
                        </a:spcAft>
                        <a:buClrTx/>
                        <a:buSzPct val="90000"/>
                        <a:buFontTx/>
                        <a:buNone/>
                        <a:tabLst/>
                      </a:pPr>
                      <a:r>
                        <a:rPr kumimoji="0" lang="en-US" sz="1800" b="1" u="none" strike="noStrike" cap="none" normalizeH="0" baseline="0" dirty="0">
                          <a:ln>
                            <a:noFill/>
                          </a:ln>
                          <a:effectLst/>
                        </a:rPr>
                        <a:t>Characteristics</a:t>
                      </a:r>
                      <a:endParaRPr kumimoji="0" lang="en-US" sz="1800" b="1" i="0" u="none" strike="noStrike" cap="none" normalizeH="0" baseline="0" dirty="0">
                        <a:ln>
                          <a:noFill/>
                        </a:ln>
                        <a:solidFill>
                          <a:schemeClr val="tx1"/>
                        </a:solidFill>
                        <a:effectLst/>
                        <a:latin typeface="Arial" charset="0"/>
                      </a:endParaRPr>
                    </a:p>
                  </a:txBody>
                  <a:tcPr marL="103236" marR="103236" marT="51618" marB="51618" anchor="ctr" horzOverflow="overflow">
                    <a:solidFill>
                      <a:srgbClr val="C00000"/>
                    </a:solidFill>
                  </a:tcPr>
                </a:tc>
                <a:tc>
                  <a:txBody>
                    <a:bodyPr/>
                    <a:lstStyle/>
                    <a:p>
                      <a:pPr marL="0" marR="0" lvl="0" indent="0" algn="l" defTabSz="914400" rtl="0" eaLnBrk="1" fontAlgn="base" latinLnBrk="0" hangingPunct="1">
                        <a:lnSpc>
                          <a:spcPct val="100000"/>
                        </a:lnSpc>
                        <a:spcBef>
                          <a:spcPct val="0"/>
                        </a:spcBef>
                        <a:spcAft>
                          <a:spcPct val="0"/>
                        </a:spcAft>
                        <a:buClrTx/>
                        <a:buSzPct val="90000"/>
                        <a:buFontTx/>
                        <a:buNone/>
                        <a:tabLst/>
                      </a:pPr>
                      <a:r>
                        <a:rPr kumimoji="0" lang="en-US" sz="1800" b="1" u="none" strike="noStrike" cap="none" normalizeH="0" baseline="0" dirty="0">
                          <a:ln>
                            <a:noFill/>
                          </a:ln>
                          <a:effectLst/>
                        </a:rPr>
                        <a:t>Example</a:t>
                      </a:r>
                      <a:endParaRPr kumimoji="0" lang="en-US" sz="1800" b="1" i="0" u="none" strike="noStrike" cap="none" normalizeH="0" baseline="0" dirty="0">
                        <a:ln>
                          <a:noFill/>
                        </a:ln>
                        <a:solidFill>
                          <a:schemeClr val="tx1"/>
                        </a:solidFill>
                        <a:effectLst/>
                        <a:latin typeface="Arial" charset="0"/>
                      </a:endParaRPr>
                    </a:p>
                  </a:txBody>
                  <a:tcPr marL="103236" marR="103236" marT="51618" marB="51618" anchor="ctr" horzOverflow="overflow">
                    <a:solidFill>
                      <a:srgbClr val="C00000"/>
                    </a:solidFill>
                  </a:tcPr>
                </a:tc>
                <a:extLst>
                  <a:ext uri="{0D108BD9-81ED-4DB2-BD59-A6C34878D82A}">
                    <a16:rowId xmlns:a16="http://schemas.microsoft.com/office/drawing/2014/main" val="1034157500"/>
                  </a:ext>
                </a:extLst>
              </a:tr>
              <a:tr h="517962">
                <a:tc>
                  <a:txBody>
                    <a:bodyPr/>
                    <a:lstStyle/>
                    <a:p>
                      <a:pPr marL="0" marR="0" lvl="0" indent="0" algn="l" defTabSz="914400" rtl="0" eaLnBrk="1" fontAlgn="base" latinLnBrk="0" hangingPunct="1">
                        <a:lnSpc>
                          <a:spcPct val="100000"/>
                        </a:lnSpc>
                        <a:spcBef>
                          <a:spcPct val="0"/>
                        </a:spcBef>
                        <a:spcAft>
                          <a:spcPct val="0"/>
                        </a:spcAft>
                        <a:buClrTx/>
                        <a:buSzPct val="90000"/>
                        <a:buFontTx/>
                        <a:buNone/>
                        <a:tabLst/>
                      </a:pPr>
                      <a:r>
                        <a:rPr kumimoji="0" lang="en-US" sz="1800" b="1" u="none" strike="noStrike" cap="none" normalizeH="0" baseline="0" dirty="0">
                          <a:ln>
                            <a:noFill/>
                          </a:ln>
                          <a:effectLst/>
                        </a:rPr>
                        <a:t>Nominal</a:t>
                      </a:r>
                      <a:endParaRPr kumimoji="0" lang="en-US" sz="1800" b="1" i="0" u="none" strike="noStrike" cap="none" normalizeH="0" baseline="0" dirty="0">
                        <a:ln>
                          <a:noFill/>
                        </a:ln>
                        <a:solidFill>
                          <a:srgbClr val="990000"/>
                        </a:solidFill>
                        <a:effectLst/>
                        <a:latin typeface="Arial" charset="0"/>
                      </a:endParaRPr>
                    </a:p>
                  </a:txBody>
                  <a:tcPr marL="103236" marR="103236" marT="51618" marB="51618" anchor="ctr" horzOverflow="overflow"/>
                </a:tc>
                <a:tc>
                  <a:txBody>
                    <a:bodyPr/>
                    <a:lstStyle/>
                    <a:p>
                      <a:pPr marL="0" marR="0" lvl="0" indent="0" algn="l" defTabSz="914400" rtl="0" eaLnBrk="1" fontAlgn="base" latinLnBrk="0" hangingPunct="1">
                        <a:lnSpc>
                          <a:spcPct val="100000"/>
                        </a:lnSpc>
                        <a:spcBef>
                          <a:spcPct val="0"/>
                        </a:spcBef>
                        <a:spcAft>
                          <a:spcPct val="0"/>
                        </a:spcAft>
                        <a:buClrTx/>
                        <a:buSzPct val="90000"/>
                        <a:buFontTx/>
                        <a:buNone/>
                        <a:tabLst/>
                      </a:pPr>
                      <a:r>
                        <a:rPr kumimoji="0" lang="en-US" sz="1800" u="none" strike="noStrike" cap="none" normalizeH="0" baseline="0" dirty="0">
                          <a:ln>
                            <a:noFill/>
                          </a:ln>
                          <a:effectLst/>
                        </a:rPr>
                        <a:t>Categories only</a:t>
                      </a:r>
                      <a:endParaRPr kumimoji="0" lang="en-US" sz="1800" b="0" i="0" u="none" strike="noStrike" cap="none" normalizeH="0" baseline="0" dirty="0">
                        <a:ln>
                          <a:noFill/>
                        </a:ln>
                        <a:solidFill>
                          <a:srgbClr val="002060"/>
                        </a:solidFill>
                        <a:effectLst/>
                        <a:latin typeface="Arial" charset="0"/>
                      </a:endParaRPr>
                    </a:p>
                  </a:txBody>
                  <a:tcPr marL="103236" marR="103236" marT="51618" marB="51618" anchor="ctr" horzOverflow="overflow"/>
                </a:tc>
                <a:tc>
                  <a:txBody>
                    <a:bodyPr/>
                    <a:lstStyle/>
                    <a:p>
                      <a:pPr marL="0" marR="0" lvl="0" indent="0" algn="l" defTabSz="914400" rtl="0" eaLnBrk="1" fontAlgn="base" latinLnBrk="0" hangingPunct="1">
                        <a:lnSpc>
                          <a:spcPct val="100000"/>
                        </a:lnSpc>
                        <a:spcBef>
                          <a:spcPct val="0"/>
                        </a:spcBef>
                        <a:spcAft>
                          <a:spcPct val="0"/>
                        </a:spcAft>
                        <a:buClrTx/>
                        <a:buSzPct val="90000"/>
                        <a:buFontTx/>
                        <a:buNone/>
                        <a:tabLst/>
                      </a:pPr>
                      <a:r>
                        <a:rPr kumimoji="0" lang="en-US" sz="1800" u="none" strike="noStrike" cap="none" normalizeH="0" baseline="0" dirty="0">
                          <a:ln>
                            <a:noFill/>
                          </a:ln>
                          <a:effectLst/>
                        </a:rPr>
                        <a:t>Eye color (blue, brown, green, etc.)</a:t>
                      </a:r>
                      <a:endParaRPr kumimoji="0" lang="en-US" sz="1800" b="0" i="0" u="none" strike="noStrike" cap="none" normalizeH="0" baseline="0" dirty="0">
                        <a:ln>
                          <a:noFill/>
                        </a:ln>
                        <a:solidFill>
                          <a:schemeClr val="tx1"/>
                        </a:solidFill>
                        <a:effectLst/>
                        <a:latin typeface="Arial" charset="0"/>
                      </a:endParaRPr>
                    </a:p>
                  </a:txBody>
                  <a:tcPr marL="103236" marR="103236" marT="51618" marB="51618" anchor="ctr" horzOverflow="overflow"/>
                </a:tc>
                <a:extLst>
                  <a:ext uri="{0D108BD9-81ED-4DB2-BD59-A6C34878D82A}">
                    <a16:rowId xmlns:a16="http://schemas.microsoft.com/office/drawing/2014/main" val="138195294"/>
                  </a:ext>
                </a:extLst>
              </a:tr>
              <a:tr h="517962">
                <a:tc>
                  <a:txBody>
                    <a:bodyPr/>
                    <a:lstStyle/>
                    <a:p>
                      <a:pPr marL="0" marR="0" lvl="0" indent="0" algn="l" defTabSz="914400" rtl="0" eaLnBrk="1" fontAlgn="base" latinLnBrk="0" hangingPunct="1">
                        <a:lnSpc>
                          <a:spcPct val="100000"/>
                        </a:lnSpc>
                        <a:spcBef>
                          <a:spcPct val="0"/>
                        </a:spcBef>
                        <a:spcAft>
                          <a:spcPct val="0"/>
                        </a:spcAft>
                        <a:buClrTx/>
                        <a:buSzPct val="90000"/>
                        <a:buFontTx/>
                        <a:buNone/>
                        <a:tabLst/>
                      </a:pPr>
                      <a:r>
                        <a:rPr kumimoji="0" lang="en-US" sz="1800" b="1" u="none" strike="noStrike" cap="none" normalizeH="0" baseline="0" dirty="0">
                          <a:ln>
                            <a:noFill/>
                          </a:ln>
                          <a:effectLst/>
                        </a:rPr>
                        <a:t>Ordinal</a:t>
                      </a:r>
                      <a:endParaRPr kumimoji="0" lang="en-US" sz="1800" b="1" i="0" u="none" strike="noStrike" cap="none" normalizeH="0" baseline="0" dirty="0">
                        <a:ln>
                          <a:noFill/>
                        </a:ln>
                        <a:solidFill>
                          <a:srgbClr val="990000"/>
                        </a:solidFill>
                        <a:effectLst/>
                        <a:latin typeface="Arial" charset="0"/>
                      </a:endParaRPr>
                    </a:p>
                  </a:txBody>
                  <a:tcPr marL="103236" marR="103236" marT="51618" marB="51618" anchor="ctr" horzOverflow="overflow"/>
                </a:tc>
                <a:tc>
                  <a:txBody>
                    <a:bodyPr/>
                    <a:lstStyle/>
                    <a:p>
                      <a:pPr marL="0" marR="0" lvl="0" indent="0" algn="l" defTabSz="914400" rtl="0" eaLnBrk="1" fontAlgn="base" latinLnBrk="0" hangingPunct="1">
                        <a:lnSpc>
                          <a:spcPct val="100000"/>
                        </a:lnSpc>
                        <a:spcBef>
                          <a:spcPct val="0"/>
                        </a:spcBef>
                        <a:spcAft>
                          <a:spcPct val="0"/>
                        </a:spcAft>
                        <a:buClrTx/>
                        <a:buSzPct val="90000"/>
                        <a:buFontTx/>
                        <a:buNone/>
                        <a:tabLst/>
                      </a:pPr>
                      <a:r>
                        <a:rPr kumimoji="0" lang="en-US" sz="1800" u="none" strike="noStrike" cap="none" normalizeH="0" baseline="0" dirty="0">
                          <a:ln>
                            <a:noFill/>
                          </a:ln>
                          <a:effectLst/>
                        </a:rPr>
                        <a:t>Rank has meaning.</a:t>
                      </a:r>
                    </a:p>
                    <a:p>
                      <a:pPr marL="0" marR="0" lvl="0" indent="0" algn="l" defTabSz="914400" rtl="0" eaLnBrk="1" fontAlgn="base" latinLnBrk="0" hangingPunct="1">
                        <a:lnSpc>
                          <a:spcPct val="100000"/>
                        </a:lnSpc>
                        <a:spcBef>
                          <a:spcPct val="0"/>
                        </a:spcBef>
                        <a:spcAft>
                          <a:spcPct val="0"/>
                        </a:spcAft>
                        <a:buClrTx/>
                        <a:buSzPct val="90000"/>
                        <a:buFontTx/>
                        <a:buNone/>
                        <a:tabLst/>
                      </a:pPr>
                      <a:r>
                        <a:rPr kumimoji="0" lang="en-US" sz="1800" u="none" strike="noStrike" cap="none" normalizeH="0" baseline="0" dirty="0">
                          <a:ln>
                            <a:noFill/>
                          </a:ln>
                          <a:effectLst/>
                        </a:rPr>
                        <a:t>No clear meaning to distance</a:t>
                      </a:r>
                      <a:endParaRPr kumimoji="0" lang="en-US" sz="1800" b="0" i="0" u="none" strike="noStrike" cap="none" normalizeH="0" baseline="0" dirty="0">
                        <a:ln>
                          <a:noFill/>
                        </a:ln>
                        <a:solidFill>
                          <a:srgbClr val="002060"/>
                        </a:solidFill>
                        <a:effectLst/>
                        <a:latin typeface="Arial" charset="0"/>
                      </a:endParaRPr>
                    </a:p>
                  </a:txBody>
                  <a:tcPr marL="103236" marR="103236" marT="51618" marB="51618" anchor="ctr" horzOverflow="overflow"/>
                </a:tc>
                <a:tc>
                  <a:txBody>
                    <a:bodyPr/>
                    <a:lstStyle/>
                    <a:p>
                      <a:pPr marL="0" marR="0" lvl="0" indent="0" algn="l" defTabSz="914400" rtl="0" eaLnBrk="1" fontAlgn="base" latinLnBrk="0" hangingPunct="1">
                        <a:lnSpc>
                          <a:spcPct val="100000"/>
                        </a:lnSpc>
                        <a:spcBef>
                          <a:spcPct val="0"/>
                        </a:spcBef>
                        <a:spcAft>
                          <a:spcPct val="0"/>
                        </a:spcAft>
                        <a:buClrTx/>
                        <a:buSzPct val="90000"/>
                        <a:buFontTx/>
                        <a:buNone/>
                        <a:tabLst/>
                      </a:pPr>
                      <a:r>
                        <a:rPr kumimoji="0" lang="en-US" sz="1800" u="none" strike="noStrike" cap="none" normalizeH="0" baseline="0" dirty="0">
                          <a:ln>
                            <a:noFill/>
                          </a:ln>
                          <a:effectLst/>
                        </a:rPr>
                        <a:t>Rarely, never</a:t>
                      </a:r>
                      <a:endParaRPr kumimoji="0" lang="en-US" sz="1800" b="0" i="0" u="none" strike="noStrike" cap="none" normalizeH="0" baseline="0" dirty="0">
                        <a:ln>
                          <a:noFill/>
                        </a:ln>
                        <a:solidFill>
                          <a:srgbClr val="002060"/>
                        </a:solidFill>
                        <a:effectLst/>
                        <a:latin typeface="Arial" charset="0"/>
                      </a:endParaRPr>
                    </a:p>
                  </a:txBody>
                  <a:tcPr marL="103236" marR="103236" marT="51618" marB="51618" anchor="ctr" horzOverflow="overflow"/>
                </a:tc>
                <a:extLst>
                  <a:ext uri="{0D108BD9-81ED-4DB2-BD59-A6C34878D82A}">
                    <a16:rowId xmlns:a16="http://schemas.microsoft.com/office/drawing/2014/main" val="1980220569"/>
                  </a:ext>
                </a:extLst>
              </a:tr>
              <a:tr h="517962">
                <a:tc>
                  <a:txBody>
                    <a:bodyPr/>
                    <a:lstStyle/>
                    <a:p>
                      <a:pPr marL="0" marR="0" lvl="0" indent="0" algn="l" defTabSz="914400" rtl="0" eaLnBrk="1" fontAlgn="base" latinLnBrk="0" hangingPunct="1">
                        <a:lnSpc>
                          <a:spcPct val="100000"/>
                        </a:lnSpc>
                        <a:spcBef>
                          <a:spcPct val="0"/>
                        </a:spcBef>
                        <a:spcAft>
                          <a:spcPct val="0"/>
                        </a:spcAft>
                        <a:buClrTx/>
                        <a:buSzPct val="90000"/>
                        <a:buFontTx/>
                        <a:buNone/>
                        <a:tabLst/>
                      </a:pPr>
                      <a:r>
                        <a:rPr kumimoji="0" lang="en-US" sz="1800" b="1" u="none" strike="noStrike" cap="none" normalizeH="0" baseline="0" dirty="0">
                          <a:ln>
                            <a:noFill/>
                          </a:ln>
                          <a:effectLst/>
                        </a:rPr>
                        <a:t>Interval</a:t>
                      </a:r>
                      <a:endParaRPr kumimoji="0" lang="en-US" sz="1800" b="1" i="0" u="none" strike="noStrike" cap="none" normalizeH="0" baseline="0" dirty="0">
                        <a:ln>
                          <a:noFill/>
                        </a:ln>
                        <a:solidFill>
                          <a:srgbClr val="990000"/>
                        </a:solidFill>
                        <a:effectLst/>
                        <a:latin typeface="Arial" charset="0"/>
                      </a:endParaRPr>
                    </a:p>
                  </a:txBody>
                  <a:tcPr marL="103236" marR="103236" marT="51618" marB="51618" anchor="ctr" horzOverflow="overflow"/>
                </a:tc>
                <a:tc>
                  <a:txBody>
                    <a:bodyPr/>
                    <a:lstStyle/>
                    <a:p>
                      <a:pPr marL="0" marR="0" lvl="0" indent="0" algn="l" defTabSz="914400" rtl="0" eaLnBrk="1" fontAlgn="base" latinLnBrk="0" hangingPunct="1">
                        <a:lnSpc>
                          <a:spcPct val="100000"/>
                        </a:lnSpc>
                        <a:spcBef>
                          <a:spcPct val="0"/>
                        </a:spcBef>
                        <a:spcAft>
                          <a:spcPct val="0"/>
                        </a:spcAft>
                        <a:buClrTx/>
                        <a:buSzPct val="90000"/>
                        <a:buFontTx/>
                        <a:buNone/>
                        <a:tabLst/>
                      </a:pPr>
                      <a:r>
                        <a:rPr kumimoji="0" lang="en-US" sz="1800" u="none" strike="noStrike" cap="none" normalizeH="0" baseline="0" dirty="0">
                          <a:ln>
                            <a:noFill/>
                          </a:ln>
                          <a:effectLst/>
                        </a:rPr>
                        <a:t>Distance has meaning</a:t>
                      </a:r>
                      <a:endParaRPr kumimoji="0" lang="en-US" sz="1800" b="0" i="0" u="none" strike="noStrike" cap="none" normalizeH="0" baseline="0" dirty="0">
                        <a:ln>
                          <a:noFill/>
                        </a:ln>
                        <a:solidFill>
                          <a:srgbClr val="002060"/>
                        </a:solidFill>
                        <a:effectLst/>
                        <a:latin typeface="Arial" charset="0"/>
                      </a:endParaRPr>
                    </a:p>
                  </a:txBody>
                  <a:tcPr marL="103236" marR="103236" marT="51618" marB="51618" anchor="ctr" horzOverflow="overflow"/>
                </a:tc>
                <a:tc>
                  <a:txBody>
                    <a:bodyPr/>
                    <a:lstStyle/>
                    <a:p>
                      <a:pPr marL="0" marR="0" lvl="0" indent="0" algn="l" defTabSz="914400" rtl="0" eaLnBrk="1" fontAlgn="base" latinLnBrk="0" hangingPunct="1">
                        <a:lnSpc>
                          <a:spcPct val="100000"/>
                        </a:lnSpc>
                        <a:spcBef>
                          <a:spcPct val="0"/>
                        </a:spcBef>
                        <a:spcAft>
                          <a:spcPct val="0"/>
                        </a:spcAft>
                        <a:buClrTx/>
                        <a:buSzPct val="90000"/>
                        <a:buFontTx/>
                        <a:buNone/>
                        <a:tabLst/>
                      </a:pPr>
                      <a:r>
                        <a:rPr kumimoji="0" lang="en-US" sz="1800" u="none" strike="noStrike" cap="none" normalizeH="0" baseline="0" dirty="0">
                          <a:ln>
                            <a:noFill/>
                          </a:ln>
                          <a:effectLst/>
                        </a:rPr>
                        <a:t>Temperature (57° Celsius)</a:t>
                      </a:r>
                      <a:endParaRPr kumimoji="0" lang="en-US" sz="1800" b="0" i="0" u="none" strike="noStrike" cap="none" normalizeH="0" baseline="0" dirty="0">
                        <a:ln>
                          <a:noFill/>
                        </a:ln>
                        <a:solidFill>
                          <a:srgbClr val="002060"/>
                        </a:solidFill>
                        <a:effectLst/>
                        <a:latin typeface="Arial" charset="0"/>
                      </a:endParaRPr>
                    </a:p>
                  </a:txBody>
                  <a:tcPr marL="103236" marR="103236" marT="51618" marB="51618" anchor="ctr" horzOverflow="overflow"/>
                </a:tc>
                <a:extLst>
                  <a:ext uri="{0D108BD9-81ED-4DB2-BD59-A6C34878D82A}">
                    <a16:rowId xmlns:a16="http://schemas.microsoft.com/office/drawing/2014/main" val="1404664727"/>
                  </a:ext>
                </a:extLst>
              </a:tr>
              <a:tr h="517962">
                <a:tc>
                  <a:txBody>
                    <a:bodyPr/>
                    <a:lstStyle/>
                    <a:p>
                      <a:pPr marL="0" marR="0" lvl="0" indent="0" algn="l" defTabSz="914400" rtl="0" eaLnBrk="1" fontAlgn="base" latinLnBrk="0" hangingPunct="1">
                        <a:lnSpc>
                          <a:spcPct val="100000"/>
                        </a:lnSpc>
                        <a:spcBef>
                          <a:spcPct val="0"/>
                        </a:spcBef>
                        <a:spcAft>
                          <a:spcPct val="0"/>
                        </a:spcAft>
                        <a:buClrTx/>
                        <a:buSzPct val="90000"/>
                        <a:buFontTx/>
                        <a:buNone/>
                        <a:tabLst/>
                      </a:pPr>
                      <a:r>
                        <a:rPr kumimoji="0" lang="en-US" sz="1800" b="1" u="none" strike="noStrike" cap="none" normalizeH="0" baseline="0" dirty="0">
                          <a:ln>
                            <a:noFill/>
                          </a:ln>
                          <a:effectLst/>
                        </a:rPr>
                        <a:t>Ratio</a:t>
                      </a:r>
                      <a:endParaRPr kumimoji="0" lang="en-US" sz="1800" b="1" i="0" u="none" strike="noStrike" cap="none" normalizeH="0" baseline="0" dirty="0">
                        <a:ln>
                          <a:noFill/>
                        </a:ln>
                        <a:solidFill>
                          <a:srgbClr val="990000"/>
                        </a:solidFill>
                        <a:effectLst/>
                        <a:latin typeface="Arial" charset="0"/>
                      </a:endParaRPr>
                    </a:p>
                  </a:txBody>
                  <a:tcPr marL="103236" marR="103236" marT="51618" marB="51618" anchor="ctr" horzOverflow="overflow"/>
                </a:tc>
                <a:tc>
                  <a:txBody>
                    <a:bodyPr/>
                    <a:lstStyle/>
                    <a:p>
                      <a:pPr marL="0" marR="0" lvl="0" indent="0" algn="l" defTabSz="914400" rtl="0" eaLnBrk="1" fontAlgn="base" latinLnBrk="0" hangingPunct="1">
                        <a:lnSpc>
                          <a:spcPct val="100000"/>
                        </a:lnSpc>
                        <a:spcBef>
                          <a:spcPct val="0"/>
                        </a:spcBef>
                        <a:spcAft>
                          <a:spcPct val="0"/>
                        </a:spcAft>
                        <a:buClrTx/>
                        <a:buSzPct val="90000"/>
                        <a:buFontTx/>
                        <a:buNone/>
                        <a:tabLst/>
                      </a:pPr>
                      <a:r>
                        <a:rPr kumimoji="0" lang="en-US" sz="1800" u="none" strike="noStrike" cap="none" normalizeH="0" baseline="0" dirty="0">
                          <a:ln>
                            <a:noFill/>
                          </a:ln>
                          <a:effectLst/>
                        </a:rPr>
                        <a:t>Meaningful zero exists</a:t>
                      </a:r>
                      <a:endParaRPr kumimoji="0" lang="en-US" sz="1800" b="0" i="0" u="none" strike="noStrike" cap="none" normalizeH="0" baseline="0" dirty="0">
                        <a:ln>
                          <a:noFill/>
                        </a:ln>
                        <a:solidFill>
                          <a:srgbClr val="002060"/>
                        </a:solidFill>
                        <a:effectLst/>
                        <a:latin typeface="Arial" charset="0"/>
                      </a:endParaRPr>
                    </a:p>
                  </a:txBody>
                  <a:tcPr marL="103236" marR="103236" marT="51618" marB="51618" anchor="ctr" horzOverflow="overflow"/>
                </a:tc>
                <a:tc>
                  <a:txBody>
                    <a:bodyPr/>
                    <a:lstStyle/>
                    <a:p>
                      <a:pPr marL="0" marR="0" lvl="0" indent="0" algn="l" defTabSz="914400" rtl="0" eaLnBrk="1" fontAlgn="base" latinLnBrk="0" hangingPunct="1">
                        <a:lnSpc>
                          <a:spcPct val="100000"/>
                        </a:lnSpc>
                        <a:spcBef>
                          <a:spcPct val="0"/>
                        </a:spcBef>
                        <a:spcAft>
                          <a:spcPct val="0"/>
                        </a:spcAft>
                        <a:buClrTx/>
                        <a:buSzPct val="90000"/>
                        <a:buFontTx/>
                        <a:buNone/>
                        <a:tabLst/>
                      </a:pPr>
                      <a:r>
                        <a:rPr kumimoji="0" lang="en-US" sz="1800" u="none" strike="noStrike" cap="none" normalizeH="0" baseline="0" dirty="0">
                          <a:ln>
                            <a:noFill/>
                          </a:ln>
                          <a:effectLst/>
                        </a:rPr>
                        <a:t>Accounts payable ($21.7 million)</a:t>
                      </a:r>
                      <a:endParaRPr kumimoji="0" lang="en-US" sz="1800" b="0" i="0" u="none" strike="noStrike" cap="none" normalizeH="0" baseline="0" dirty="0">
                        <a:ln>
                          <a:noFill/>
                        </a:ln>
                        <a:solidFill>
                          <a:srgbClr val="002060"/>
                        </a:solidFill>
                        <a:effectLst/>
                        <a:latin typeface="Arial" charset="0"/>
                      </a:endParaRPr>
                    </a:p>
                  </a:txBody>
                  <a:tcPr marL="103236" marR="103236" marT="51618" marB="51618" anchor="ctr" horzOverflow="overflow"/>
                </a:tc>
                <a:extLst>
                  <a:ext uri="{0D108BD9-81ED-4DB2-BD59-A6C34878D82A}">
                    <a16:rowId xmlns:a16="http://schemas.microsoft.com/office/drawing/2014/main" val="2359717488"/>
                  </a:ext>
                </a:extLst>
              </a:tr>
            </a:tbl>
          </a:graphicData>
        </a:graphic>
      </p:graphicFrame>
      <p:sp>
        <p:nvSpPr>
          <p:cNvPr id="6" name="Slide Number Placeholder 5">
            <a:extLst>
              <a:ext uri="{FF2B5EF4-FFF2-40B4-BE49-F238E27FC236}">
                <a16:creationId xmlns:a16="http://schemas.microsoft.com/office/drawing/2014/main" id="{67326E3F-FB89-A6CD-B325-2C20B157C418}"/>
              </a:ext>
            </a:extLst>
          </p:cNvPr>
          <p:cNvSpPr>
            <a:spLocks noGrp="1"/>
          </p:cNvSpPr>
          <p:nvPr>
            <p:ph type="sldNum" sz="quarter" idx="10"/>
          </p:nvPr>
        </p:nvSpPr>
        <p:spPr/>
        <p:txBody>
          <a:bodyPr/>
          <a:lstStyle/>
          <a:p>
            <a:fld id="{68151E55-6873-49E2-B8D5-2F265E6F1973}" type="slidenum">
              <a:rPr lang="en-US" smtClean="0"/>
              <a:pPr/>
              <a:t>13</a:t>
            </a:fld>
            <a:endParaRPr lang="en-US" dirty="0"/>
          </a:p>
        </p:txBody>
      </p:sp>
    </p:spTree>
    <p:extLst>
      <p:ext uri="{BB962C8B-B14F-4D97-AF65-F5344CB8AC3E}">
        <p14:creationId xmlns:p14="http://schemas.microsoft.com/office/powerpoint/2010/main" val="7610939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192490"/>
            <a:ext cx="7933195" cy="903231"/>
          </a:xfrm>
        </p:spPr>
        <p:txBody>
          <a:bodyPr>
            <a:normAutofit/>
          </a:bodyPr>
          <a:lstStyle/>
          <a:p>
            <a:r>
              <a:rPr lang="en-IN" sz="3600" dirty="0"/>
              <a:t>Nominal Measurement</a:t>
            </a:r>
          </a:p>
        </p:txBody>
      </p:sp>
      <p:sp>
        <p:nvSpPr>
          <p:cNvPr id="8" name="Content Placeholder 2">
            <a:extLst>
              <a:ext uri="{FF2B5EF4-FFF2-40B4-BE49-F238E27FC236}">
                <a16:creationId xmlns:a16="http://schemas.microsoft.com/office/drawing/2014/main" id="{4FEED40E-B41A-CBB6-1521-99B2E777D1FF}"/>
              </a:ext>
            </a:extLst>
          </p:cNvPr>
          <p:cNvSpPr>
            <a:spLocks noGrp="1"/>
          </p:cNvSpPr>
          <p:nvPr>
            <p:ph sz="quarter" idx="11"/>
          </p:nvPr>
        </p:nvSpPr>
        <p:spPr>
          <a:xfrm>
            <a:off x="8598957" y="54864"/>
            <a:ext cx="476295" cy="1295711"/>
          </a:xfrm>
        </p:spPr>
        <p:txBody>
          <a:bodyPr vert="vert" tIns="45720" rIns="0"/>
          <a:lstStyle/>
          <a:p>
            <a:pPr marL="1025525" indent="-1025525"/>
            <a:r>
              <a:rPr lang="en-US" b="1" dirty="0"/>
              <a:t>L</a:t>
            </a:r>
            <a:r>
              <a:rPr lang="en-US" sz="100" b="1" dirty="0"/>
              <a:t> </a:t>
            </a:r>
            <a:r>
              <a:rPr lang="en-US" b="1" dirty="0"/>
              <a:t>O 2.4</a:t>
            </a:r>
            <a:endParaRPr lang="en-IN" b="1" dirty="0"/>
          </a:p>
        </p:txBody>
      </p:sp>
      <p:sp>
        <p:nvSpPr>
          <p:cNvPr id="4" name="Content Placeholder 3"/>
          <p:cNvSpPr>
            <a:spLocks noGrp="1"/>
          </p:cNvSpPr>
          <p:nvPr>
            <p:ph sz="quarter" idx="14"/>
          </p:nvPr>
        </p:nvSpPr>
        <p:spPr>
          <a:xfrm>
            <a:off x="342900" y="1278015"/>
            <a:ext cx="8191500" cy="2600811"/>
          </a:xfrm>
        </p:spPr>
        <p:txBody>
          <a:bodyPr/>
          <a:lstStyle/>
          <a:p>
            <a:pPr marL="292608" indent="-292608">
              <a:buFont typeface="Arial" panose="020B0604020202020204" pitchFamily="34" charset="0"/>
              <a:buChar char="•"/>
              <a:defRPr/>
            </a:pPr>
            <a:r>
              <a:rPr lang="en-IN" dirty="0"/>
              <a:t>Nominal data merely identifies a category.</a:t>
            </a:r>
          </a:p>
          <a:p>
            <a:pPr marL="292608" indent="-292608">
              <a:buFont typeface="Arial" panose="020B0604020202020204" pitchFamily="34" charset="0"/>
              <a:buChar char="•"/>
              <a:defRPr/>
            </a:pPr>
            <a:r>
              <a:rPr lang="en-IN" dirty="0"/>
              <a:t>Nominal data are qualitative, attribute, categorical or classification data, and can be coded numerically (For example, 1 = Apple, 2 = Samsung, 3 = Dell, 4 = H</a:t>
            </a:r>
            <a:r>
              <a:rPr lang="en-IN" sz="100" dirty="0"/>
              <a:t> </a:t>
            </a:r>
            <a:r>
              <a:rPr lang="en-IN" dirty="0"/>
              <a:t>P).</a:t>
            </a:r>
          </a:p>
          <a:p>
            <a:pPr marL="292608" indent="-292608">
              <a:buFont typeface="Arial" panose="020B0604020202020204" pitchFamily="34" charset="0"/>
              <a:buChar char="•"/>
              <a:defRPr/>
            </a:pPr>
            <a:r>
              <a:rPr lang="en-IN" dirty="0"/>
              <a:t>The only mathematical operations are counting or simple statistics (For example, the mode).</a:t>
            </a:r>
          </a:p>
        </p:txBody>
      </p:sp>
      <p:sp>
        <p:nvSpPr>
          <p:cNvPr id="5" name="Content Placeholder 4"/>
          <p:cNvSpPr>
            <a:spLocks noGrp="1"/>
          </p:cNvSpPr>
          <p:nvPr>
            <p:ph sz="quarter" idx="15"/>
          </p:nvPr>
        </p:nvSpPr>
        <p:spPr>
          <a:xfrm>
            <a:off x="342900" y="4084801"/>
            <a:ext cx="8089900" cy="2065276"/>
          </a:xfrm>
        </p:spPr>
        <p:txBody>
          <a:bodyPr/>
          <a:lstStyle/>
          <a:p>
            <a:pPr eaLnBrk="0" hangingPunct="0">
              <a:buClr>
                <a:schemeClr val="accent1"/>
              </a:buClr>
              <a:defRPr/>
            </a:pPr>
            <a:r>
              <a:rPr lang="en-US" u="sng" dirty="0"/>
              <a:t>Example:</a:t>
            </a:r>
          </a:p>
          <a:p>
            <a:pPr eaLnBrk="0" hangingPunct="0">
              <a:buClr>
                <a:schemeClr val="accent1"/>
              </a:buClr>
              <a:defRPr/>
            </a:pPr>
            <a:r>
              <a:rPr lang="en-US" dirty="0"/>
              <a:t>Did you file an insurance claim last month?</a:t>
            </a:r>
          </a:p>
          <a:p>
            <a:pPr marL="402336" indent="-402336" eaLnBrk="0" hangingPunct="0">
              <a:buClr>
                <a:schemeClr val="tx1"/>
              </a:buClr>
              <a:buAutoNum type="arabicPeriod"/>
              <a:defRPr/>
            </a:pPr>
            <a:r>
              <a:rPr lang="en-US" dirty="0"/>
              <a:t>Yes.</a:t>
            </a:r>
          </a:p>
          <a:p>
            <a:pPr marL="402336" indent="-402336" eaLnBrk="0" hangingPunct="0">
              <a:buClr>
                <a:schemeClr val="tx1"/>
              </a:buClr>
              <a:buAutoNum type="arabicPeriod"/>
              <a:defRPr/>
            </a:pPr>
            <a:r>
              <a:rPr lang="en-US" dirty="0"/>
              <a:t>No.</a:t>
            </a:r>
          </a:p>
        </p:txBody>
      </p:sp>
      <p:sp>
        <p:nvSpPr>
          <p:cNvPr id="10" name="Slide Number Placeholder 9"/>
          <p:cNvSpPr>
            <a:spLocks noGrp="1"/>
          </p:cNvSpPr>
          <p:nvPr>
            <p:ph type="sldNum" sz="quarter" idx="10"/>
          </p:nvPr>
        </p:nvSpPr>
        <p:spPr/>
        <p:txBody>
          <a:bodyPr/>
          <a:lstStyle/>
          <a:p>
            <a:fld id="{68151E55-6873-49E2-B8D5-2F265E6F1973}" type="slidenum">
              <a:rPr lang="en-US" smtClean="0"/>
              <a:t>14</a:t>
            </a:fld>
            <a:endParaRPr lang="en-US" dirty="0"/>
          </a:p>
        </p:txBody>
      </p:sp>
    </p:spTree>
    <p:extLst>
      <p:ext uri="{BB962C8B-B14F-4D97-AF65-F5344CB8AC3E}">
        <p14:creationId xmlns:p14="http://schemas.microsoft.com/office/powerpoint/2010/main" val="317579552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192490"/>
            <a:ext cx="7716219" cy="903231"/>
          </a:xfrm>
        </p:spPr>
        <p:txBody>
          <a:bodyPr>
            <a:normAutofit/>
          </a:bodyPr>
          <a:lstStyle/>
          <a:p>
            <a:r>
              <a:rPr lang="en-IN" sz="3600" dirty="0"/>
              <a:t>Ordinal Measurement</a:t>
            </a:r>
          </a:p>
        </p:txBody>
      </p:sp>
      <p:sp>
        <p:nvSpPr>
          <p:cNvPr id="8" name="Content Placeholder 2">
            <a:extLst>
              <a:ext uri="{FF2B5EF4-FFF2-40B4-BE49-F238E27FC236}">
                <a16:creationId xmlns:a16="http://schemas.microsoft.com/office/drawing/2014/main" id="{F4D401A2-5A94-147E-EDF7-1DE180C6892A}"/>
              </a:ext>
            </a:extLst>
          </p:cNvPr>
          <p:cNvSpPr>
            <a:spLocks noGrp="1"/>
          </p:cNvSpPr>
          <p:nvPr>
            <p:ph sz="quarter" idx="11"/>
          </p:nvPr>
        </p:nvSpPr>
        <p:spPr>
          <a:xfrm>
            <a:off x="8598957" y="54864"/>
            <a:ext cx="476295" cy="1295711"/>
          </a:xfrm>
        </p:spPr>
        <p:txBody>
          <a:bodyPr vert="vert" tIns="45720" rIns="0"/>
          <a:lstStyle/>
          <a:p>
            <a:pPr marL="1025525" indent="-1025525"/>
            <a:r>
              <a:rPr lang="en-US" b="1" dirty="0"/>
              <a:t>L</a:t>
            </a:r>
            <a:r>
              <a:rPr lang="en-US" sz="100" b="1" dirty="0"/>
              <a:t> </a:t>
            </a:r>
            <a:r>
              <a:rPr lang="en-US" b="1" dirty="0"/>
              <a:t>O 2.4</a:t>
            </a:r>
            <a:endParaRPr lang="en-IN" b="1" dirty="0"/>
          </a:p>
        </p:txBody>
      </p:sp>
      <p:sp>
        <p:nvSpPr>
          <p:cNvPr id="4" name="Content Placeholder 3"/>
          <p:cNvSpPr>
            <a:spLocks noGrp="1"/>
          </p:cNvSpPr>
          <p:nvPr>
            <p:ph sz="quarter" idx="14"/>
          </p:nvPr>
        </p:nvSpPr>
        <p:spPr>
          <a:xfrm>
            <a:off x="342901" y="1278016"/>
            <a:ext cx="7871202" cy="2807288"/>
          </a:xfrm>
        </p:spPr>
        <p:txBody>
          <a:bodyPr/>
          <a:lstStyle/>
          <a:p>
            <a:pPr marL="292608" indent="-292608">
              <a:buFont typeface="Arial" panose="020B0604020202020204" pitchFamily="34" charset="0"/>
              <a:buChar char="•"/>
              <a:defRPr/>
            </a:pPr>
            <a:r>
              <a:rPr lang="en-IN" sz="2000" dirty="0"/>
              <a:t>Ordinal data codes can be ranked (For example, 1 = Frequently, 2 = Sometimes, 3 = Rarely, 4 = Never).</a:t>
            </a:r>
          </a:p>
          <a:p>
            <a:pPr marL="292608" indent="-292608">
              <a:buFont typeface="Arial" panose="020B0604020202020204" pitchFamily="34" charset="0"/>
              <a:buChar char="•"/>
              <a:defRPr/>
            </a:pPr>
            <a:r>
              <a:rPr lang="en-IN" sz="2000" dirty="0"/>
              <a:t>Distance between data codes is not meaningful (For example, distance between 1 and 2, or between 2 and 3, or between 3 and 4 lacks meaning).</a:t>
            </a:r>
          </a:p>
          <a:p>
            <a:pPr marL="292608" indent="-292608">
              <a:buFont typeface="Arial" panose="020B0604020202020204" pitchFamily="34" charset="0"/>
              <a:buChar char="•"/>
              <a:defRPr/>
            </a:pPr>
            <a:r>
              <a:rPr lang="en-IN" sz="2000" dirty="0"/>
              <a:t>Many useful statistical tests exist for ordinal data, which are especially useful in social science, marketing, and human resource research.</a:t>
            </a:r>
          </a:p>
        </p:txBody>
      </p:sp>
      <p:sp>
        <p:nvSpPr>
          <p:cNvPr id="5" name="Content Placeholder 4"/>
          <p:cNvSpPr>
            <a:spLocks noGrp="1"/>
          </p:cNvSpPr>
          <p:nvPr>
            <p:ph sz="quarter" idx="15"/>
          </p:nvPr>
        </p:nvSpPr>
        <p:spPr>
          <a:xfrm>
            <a:off x="342900" y="4166513"/>
            <a:ext cx="8089900" cy="2344307"/>
          </a:xfrm>
        </p:spPr>
        <p:txBody>
          <a:bodyPr/>
          <a:lstStyle/>
          <a:p>
            <a:pPr eaLnBrk="0" hangingPunct="0">
              <a:buClr>
                <a:schemeClr val="accent1"/>
              </a:buClr>
              <a:defRPr/>
            </a:pPr>
            <a:r>
              <a:rPr lang="en-US" sz="2000" u="sng" dirty="0"/>
              <a:t>Example:</a:t>
            </a:r>
          </a:p>
          <a:p>
            <a:pPr eaLnBrk="0" hangingPunct="0">
              <a:buClr>
                <a:schemeClr val="accent1"/>
              </a:buClr>
              <a:defRPr/>
            </a:pPr>
            <a:r>
              <a:rPr lang="en-US" sz="2000" dirty="0"/>
              <a:t>How often do you use Microsoft Access?</a:t>
            </a:r>
          </a:p>
          <a:p>
            <a:pPr marL="402336" indent="-402336" eaLnBrk="0" hangingPunct="0">
              <a:spcBef>
                <a:spcPts val="500"/>
              </a:spcBef>
              <a:buClr>
                <a:schemeClr val="tx1"/>
              </a:buClr>
              <a:buAutoNum type="arabicPeriod"/>
              <a:defRPr/>
            </a:pPr>
            <a:r>
              <a:rPr lang="en-US" sz="2000" dirty="0"/>
              <a:t>Frequently.</a:t>
            </a:r>
          </a:p>
          <a:p>
            <a:pPr marL="402336" indent="-402336" eaLnBrk="0" hangingPunct="0">
              <a:spcBef>
                <a:spcPts val="500"/>
              </a:spcBef>
              <a:buClr>
                <a:schemeClr val="tx1"/>
              </a:buClr>
              <a:buAutoNum type="arabicPeriod"/>
              <a:defRPr/>
            </a:pPr>
            <a:r>
              <a:rPr lang="en-US" sz="2000" dirty="0"/>
              <a:t>Sometimes.</a:t>
            </a:r>
          </a:p>
          <a:p>
            <a:pPr marL="402336" indent="-402336" eaLnBrk="0" hangingPunct="0">
              <a:spcBef>
                <a:spcPts val="500"/>
              </a:spcBef>
              <a:buClr>
                <a:schemeClr val="tx1"/>
              </a:buClr>
              <a:buAutoNum type="arabicPeriod"/>
              <a:defRPr/>
            </a:pPr>
            <a:r>
              <a:rPr lang="en-US" sz="2000" dirty="0"/>
              <a:t>Rarely.</a:t>
            </a:r>
          </a:p>
          <a:p>
            <a:pPr marL="402336" indent="-402336" eaLnBrk="0" hangingPunct="0">
              <a:spcBef>
                <a:spcPts val="500"/>
              </a:spcBef>
              <a:buClr>
                <a:schemeClr val="tx1"/>
              </a:buClr>
              <a:buAutoNum type="arabicPeriod"/>
              <a:defRPr/>
            </a:pPr>
            <a:r>
              <a:rPr lang="en-US" sz="2000" dirty="0"/>
              <a:t>Never.</a:t>
            </a:r>
          </a:p>
        </p:txBody>
      </p:sp>
      <p:sp>
        <p:nvSpPr>
          <p:cNvPr id="10" name="Slide Number Placeholder 9"/>
          <p:cNvSpPr>
            <a:spLocks noGrp="1"/>
          </p:cNvSpPr>
          <p:nvPr>
            <p:ph type="sldNum" sz="quarter" idx="10"/>
          </p:nvPr>
        </p:nvSpPr>
        <p:spPr/>
        <p:txBody>
          <a:bodyPr/>
          <a:lstStyle/>
          <a:p>
            <a:fld id="{68151E55-6873-49E2-B8D5-2F265E6F1973}" type="slidenum">
              <a:rPr lang="en-US" smtClean="0"/>
              <a:t>15</a:t>
            </a:fld>
            <a:endParaRPr lang="en-US" dirty="0"/>
          </a:p>
        </p:txBody>
      </p:sp>
    </p:spTree>
    <p:extLst>
      <p:ext uri="{BB962C8B-B14F-4D97-AF65-F5344CB8AC3E}">
        <p14:creationId xmlns:p14="http://schemas.microsoft.com/office/powerpoint/2010/main" val="27946198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192490"/>
            <a:ext cx="7592232" cy="903231"/>
          </a:xfrm>
        </p:spPr>
        <p:txBody>
          <a:bodyPr>
            <a:normAutofit/>
          </a:bodyPr>
          <a:lstStyle/>
          <a:p>
            <a:r>
              <a:rPr lang="en-IN" sz="3600" dirty="0"/>
              <a:t>Interval Measurement</a:t>
            </a:r>
          </a:p>
        </p:txBody>
      </p:sp>
      <p:sp>
        <p:nvSpPr>
          <p:cNvPr id="8" name="Content Placeholder 2">
            <a:extLst>
              <a:ext uri="{FF2B5EF4-FFF2-40B4-BE49-F238E27FC236}">
                <a16:creationId xmlns:a16="http://schemas.microsoft.com/office/drawing/2014/main" id="{763E2627-4247-D2F4-0613-9ACA50BED4A9}"/>
              </a:ext>
            </a:extLst>
          </p:cNvPr>
          <p:cNvSpPr>
            <a:spLocks noGrp="1"/>
          </p:cNvSpPr>
          <p:nvPr>
            <p:ph sz="quarter" idx="11"/>
          </p:nvPr>
        </p:nvSpPr>
        <p:spPr>
          <a:xfrm>
            <a:off x="8598957" y="54864"/>
            <a:ext cx="476295" cy="1295711"/>
          </a:xfrm>
        </p:spPr>
        <p:txBody>
          <a:bodyPr vert="vert" tIns="45720" rIns="0"/>
          <a:lstStyle/>
          <a:p>
            <a:pPr marL="1025525" indent="-1025525"/>
            <a:r>
              <a:rPr lang="en-US" b="1" dirty="0"/>
              <a:t>L</a:t>
            </a:r>
            <a:r>
              <a:rPr lang="en-US" sz="100" b="1" dirty="0"/>
              <a:t> </a:t>
            </a:r>
            <a:r>
              <a:rPr lang="en-US" b="1" dirty="0"/>
              <a:t>O 2.4</a:t>
            </a:r>
            <a:endParaRPr lang="en-IN" b="1" dirty="0"/>
          </a:p>
        </p:txBody>
      </p:sp>
      <p:sp>
        <p:nvSpPr>
          <p:cNvPr id="4" name="Content Placeholder 3"/>
          <p:cNvSpPr>
            <a:spLocks noGrp="1"/>
          </p:cNvSpPr>
          <p:nvPr>
            <p:ph sz="quarter" idx="14"/>
          </p:nvPr>
        </p:nvSpPr>
        <p:spPr>
          <a:xfrm>
            <a:off x="342900" y="1278015"/>
            <a:ext cx="7930945" cy="3803641"/>
          </a:xfrm>
        </p:spPr>
        <p:txBody>
          <a:bodyPr/>
          <a:lstStyle/>
          <a:p>
            <a:pPr marL="292608" indent="-292608">
              <a:buFont typeface="Arial" panose="020B0604020202020204" pitchFamily="34" charset="0"/>
              <a:buChar char="•"/>
              <a:defRPr/>
            </a:pPr>
            <a:r>
              <a:rPr lang="en-IN" sz="2200" dirty="0"/>
              <a:t>Interval data can be ranked, but can also have meaningful intervals between scale points (For example, difference between 60°F and 70°F is same as difference between 20°F and 30°F).</a:t>
            </a:r>
          </a:p>
          <a:p>
            <a:pPr marL="292608" indent="-292608">
              <a:buFont typeface="Arial" panose="020B0604020202020204" pitchFamily="34" charset="0"/>
              <a:buChar char="•"/>
              <a:defRPr/>
            </a:pPr>
            <a:r>
              <a:rPr lang="en-IN" sz="2200" dirty="0"/>
              <a:t>Since intervals between numbers represent distances, mathematical operations can be performed (For example, average).</a:t>
            </a:r>
          </a:p>
          <a:p>
            <a:pPr marL="292608" indent="-292608">
              <a:buFont typeface="Arial" panose="020B0604020202020204" pitchFamily="34" charset="0"/>
              <a:buChar char="•"/>
              <a:defRPr/>
            </a:pPr>
            <a:r>
              <a:rPr lang="en-IN" sz="2200" dirty="0"/>
              <a:t>Zero point of interval scales is arbitrary, so </a:t>
            </a:r>
            <a:r>
              <a:rPr lang="en-IN" sz="2200" i="1" dirty="0"/>
              <a:t>ratios</a:t>
            </a:r>
            <a:r>
              <a:rPr lang="en-IN" sz="2200" dirty="0"/>
              <a:t> are not meaningful (For example, 60°F is not twice as warm as 30°F).</a:t>
            </a:r>
          </a:p>
        </p:txBody>
      </p:sp>
      <p:sp>
        <p:nvSpPr>
          <p:cNvPr id="5" name="Content Placeholder 4"/>
          <p:cNvSpPr>
            <a:spLocks noGrp="1"/>
          </p:cNvSpPr>
          <p:nvPr>
            <p:ph sz="quarter" idx="15"/>
          </p:nvPr>
        </p:nvSpPr>
        <p:spPr>
          <a:xfrm>
            <a:off x="342900" y="5241676"/>
            <a:ext cx="8089900" cy="1093637"/>
          </a:xfrm>
        </p:spPr>
        <p:txBody>
          <a:bodyPr/>
          <a:lstStyle/>
          <a:p>
            <a:pPr eaLnBrk="0" hangingPunct="0">
              <a:buClr>
                <a:schemeClr val="accent1"/>
              </a:buClr>
              <a:defRPr/>
            </a:pPr>
            <a:r>
              <a:rPr lang="en-IN" sz="2200" u="sng" dirty="0"/>
              <a:t>Example:</a:t>
            </a:r>
          </a:p>
          <a:p>
            <a:pPr eaLnBrk="0" hangingPunct="0">
              <a:buClr>
                <a:schemeClr val="accent1"/>
              </a:buClr>
              <a:defRPr/>
            </a:pPr>
            <a:r>
              <a:rPr lang="en-IN" sz="2200" dirty="0"/>
              <a:t>What was the temperature yesterday? (in Fahrenheit).</a:t>
            </a:r>
          </a:p>
        </p:txBody>
      </p:sp>
      <p:sp>
        <p:nvSpPr>
          <p:cNvPr id="10" name="Slide Number Placeholder 9"/>
          <p:cNvSpPr>
            <a:spLocks noGrp="1"/>
          </p:cNvSpPr>
          <p:nvPr>
            <p:ph type="sldNum" sz="quarter" idx="10"/>
          </p:nvPr>
        </p:nvSpPr>
        <p:spPr/>
        <p:txBody>
          <a:bodyPr/>
          <a:lstStyle/>
          <a:p>
            <a:fld id="{68151E55-6873-49E2-B8D5-2F265E6F1973}" type="slidenum">
              <a:rPr lang="en-US" smtClean="0"/>
              <a:t>16</a:t>
            </a:fld>
            <a:endParaRPr lang="en-US" dirty="0"/>
          </a:p>
        </p:txBody>
      </p:sp>
    </p:spTree>
    <p:extLst>
      <p:ext uri="{BB962C8B-B14F-4D97-AF65-F5344CB8AC3E}">
        <p14:creationId xmlns:p14="http://schemas.microsoft.com/office/powerpoint/2010/main" val="66145539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192490"/>
            <a:ext cx="7638727" cy="903231"/>
          </a:xfrm>
        </p:spPr>
        <p:txBody>
          <a:bodyPr>
            <a:normAutofit/>
          </a:bodyPr>
          <a:lstStyle/>
          <a:p>
            <a:r>
              <a:rPr lang="en-IN" sz="3600" dirty="0"/>
              <a:t>Ratio Measurement</a:t>
            </a:r>
          </a:p>
        </p:txBody>
      </p:sp>
      <p:sp>
        <p:nvSpPr>
          <p:cNvPr id="8" name="Content Placeholder 2">
            <a:extLst>
              <a:ext uri="{FF2B5EF4-FFF2-40B4-BE49-F238E27FC236}">
                <a16:creationId xmlns:a16="http://schemas.microsoft.com/office/drawing/2014/main" id="{F3D27AF0-F71F-006D-9782-EFE84E27E631}"/>
              </a:ext>
            </a:extLst>
          </p:cNvPr>
          <p:cNvSpPr>
            <a:spLocks noGrp="1"/>
          </p:cNvSpPr>
          <p:nvPr>
            <p:ph sz="quarter" idx="11"/>
          </p:nvPr>
        </p:nvSpPr>
        <p:spPr>
          <a:xfrm>
            <a:off x="8598957" y="54864"/>
            <a:ext cx="476295" cy="1295711"/>
          </a:xfrm>
        </p:spPr>
        <p:txBody>
          <a:bodyPr vert="vert" tIns="45720" rIns="0"/>
          <a:lstStyle/>
          <a:p>
            <a:pPr marL="1025525" indent="-1025525"/>
            <a:r>
              <a:rPr lang="en-US" b="1" dirty="0"/>
              <a:t>L</a:t>
            </a:r>
            <a:r>
              <a:rPr lang="en-US" sz="100" b="1" dirty="0"/>
              <a:t> </a:t>
            </a:r>
            <a:r>
              <a:rPr lang="en-US" b="1" dirty="0"/>
              <a:t>O 2.4</a:t>
            </a:r>
            <a:endParaRPr lang="en-IN" b="1" dirty="0"/>
          </a:p>
        </p:txBody>
      </p:sp>
      <p:sp>
        <p:nvSpPr>
          <p:cNvPr id="4" name="Content Placeholder 3"/>
          <p:cNvSpPr>
            <a:spLocks noGrp="1"/>
          </p:cNvSpPr>
          <p:nvPr>
            <p:ph sz="quarter" idx="14"/>
          </p:nvPr>
        </p:nvSpPr>
        <p:spPr>
          <a:xfrm>
            <a:off x="342900" y="1278015"/>
            <a:ext cx="7930945" cy="3234991"/>
          </a:xfrm>
        </p:spPr>
        <p:txBody>
          <a:bodyPr/>
          <a:lstStyle/>
          <a:p>
            <a:pPr marL="292608" indent="-292608">
              <a:buFont typeface="Arial" panose="020B0604020202020204" pitchFamily="34" charset="0"/>
              <a:buChar char="•"/>
              <a:defRPr/>
            </a:pPr>
            <a:r>
              <a:rPr lang="en-IN" dirty="0"/>
              <a:t>Ratio data have all properties of nominal, ordinal, and interval data types and also possess a meaningful zero (absence of quantity being measured).</a:t>
            </a:r>
          </a:p>
          <a:p>
            <a:pPr marL="292608" indent="-292608">
              <a:buFont typeface="Arial" panose="020B0604020202020204" pitchFamily="34" charset="0"/>
              <a:buChar char="•"/>
              <a:defRPr/>
            </a:pPr>
            <a:r>
              <a:rPr lang="en-IN" dirty="0"/>
              <a:t>Because of this zero point, ratios of data values are meaningful (</a:t>
            </a:r>
            <a:r>
              <a:rPr lang="en-IN" sz="2400" dirty="0"/>
              <a:t>For example</a:t>
            </a:r>
            <a:r>
              <a:rPr lang="en-IN" dirty="0"/>
              <a:t>, $20 million profit is twice as much as $10 million).</a:t>
            </a:r>
          </a:p>
          <a:p>
            <a:pPr marL="292608" indent="-292608">
              <a:buFont typeface="Arial" panose="020B0604020202020204" pitchFamily="34" charset="0"/>
              <a:buChar char="•"/>
              <a:defRPr/>
            </a:pPr>
            <a:r>
              <a:rPr lang="en-IN" dirty="0"/>
              <a:t>Zero does not have to be observable in the data; it is an absolute reference point.</a:t>
            </a:r>
          </a:p>
        </p:txBody>
      </p:sp>
      <p:sp>
        <p:nvSpPr>
          <p:cNvPr id="5" name="Content Placeholder 4"/>
          <p:cNvSpPr>
            <a:spLocks noGrp="1"/>
          </p:cNvSpPr>
          <p:nvPr>
            <p:ph sz="quarter" idx="15"/>
          </p:nvPr>
        </p:nvSpPr>
        <p:spPr>
          <a:xfrm>
            <a:off x="342900" y="4807702"/>
            <a:ext cx="8089900" cy="1093637"/>
          </a:xfrm>
        </p:spPr>
        <p:txBody>
          <a:bodyPr/>
          <a:lstStyle/>
          <a:p>
            <a:pPr eaLnBrk="0" hangingPunct="0">
              <a:buClr>
                <a:schemeClr val="accent1"/>
              </a:buClr>
              <a:defRPr/>
            </a:pPr>
            <a:r>
              <a:rPr lang="en-IN" u="sng" dirty="0"/>
              <a:t>Example:</a:t>
            </a:r>
          </a:p>
          <a:p>
            <a:pPr eaLnBrk="0" hangingPunct="0">
              <a:buClr>
                <a:schemeClr val="accent1"/>
              </a:buClr>
              <a:defRPr/>
            </a:pPr>
            <a:r>
              <a:rPr lang="en-IN" dirty="0"/>
              <a:t>How much did the book weigh?</a:t>
            </a:r>
          </a:p>
        </p:txBody>
      </p:sp>
      <p:sp>
        <p:nvSpPr>
          <p:cNvPr id="10" name="Slide Number Placeholder 9"/>
          <p:cNvSpPr>
            <a:spLocks noGrp="1"/>
          </p:cNvSpPr>
          <p:nvPr>
            <p:ph type="sldNum" sz="quarter" idx="10"/>
          </p:nvPr>
        </p:nvSpPr>
        <p:spPr/>
        <p:txBody>
          <a:bodyPr/>
          <a:lstStyle/>
          <a:p>
            <a:fld id="{68151E55-6873-49E2-B8D5-2F265E6F1973}" type="slidenum">
              <a:rPr lang="en-US" smtClean="0"/>
              <a:t>17</a:t>
            </a:fld>
            <a:endParaRPr lang="en-US" dirty="0"/>
          </a:p>
        </p:txBody>
      </p:sp>
    </p:spTree>
    <p:extLst>
      <p:ext uri="{BB962C8B-B14F-4D97-AF65-F5344CB8AC3E}">
        <p14:creationId xmlns:p14="http://schemas.microsoft.com/office/powerpoint/2010/main" val="16204770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C71A13-2AA0-EEDA-B43D-0A713ECB4B69}"/>
              </a:ext>
            </a:extLst>
          </p:cNvPr>
          <p:cNvSpPr>
            <a:spLocks noGrp="1"/>
          </p:cNvSpPr>
          <p:nvPr>
            <p:ph type="title"/>
          </p:nvPr>
        </p:nvSpPr>
        <p:spPr>
          <a:xfrm>
            <a:off x="342901" y="192490"/>
            <a:ext cx="7596384" cy="903231"/>
          </a:xfrm>
        </p:spPr>
        <p:txBody>
          <a:bodyPr/>
          <a:lstStyle/>
          <a:p>
            <a:r>
              <a:rPr lang="en-IN" sz="3600" dirty="0"/>
              <a:t>Likert Scales </a:t>
            </a:r>
            <a:r>
              <a:rPr lang="en-IN" sz="1000" b="0" dirty="0"/>
              <a:t>1</a:t>
            </a:r>
          </a:p>
        </p:txBody>
      </p:sp>
      <p:sp>
        <p:nvSpPr>
          <p:cNvPr id="12" name="Content Placeholder 2">
            <a:extLst>
              <a:ext uri="{FF2B5EF4-FFF2-40B4-BE49-F238E27FC236}">
                <a16:creationId xmlns:a16="http://schemas.microsoft.com/office/drawing/2014/main" id="{0B6C1240-FFE3-2F2F-605B-1802797665CF}"/>
              </a:ext>
            </a:extLst>
          </p:cNvPr>
          <p:cNvSpPr>
            <a:spLocks noGrp="1"/>
          </p:cNvSpPr>
          <p:nvPr>
            <p:ph sz="quarter" idx="11"/>
          </p:nvPr>
        </p:nvSpPr>
        <p:spPr>
          <a:xfrm>
            <a:off x="8598957" y="54864"/>
            <a:ext cx="476295" cy="1295711"/>
          </a:xfrm>
        </p:spPr>
        <p:txBody>
          <a:bodyPr vert="vert" tIns="45720" rIns="0"/>
          <a:lstStyle/>
          <a:p>
            <a:pPr marL="1025525" indent="-1025525"/>
            <a:r>
              <a:rPr lang="en-US" b="1" dirty="0"/>
              <a:t>L</a:t>
            </a:r>
            <a:r>
              <a:rPr lang="en-US" sz="100" b="1" dirty="0"/>
              <a:t> </a:t>
            </a:r>
            <a:r>
              <a:rPr lang="en-US" b="1" dirty="0"/>
              <a:t>O 2.5</a:t>
            </a:r>
            <a:endParaRPr lang="en-IN" b="1" dirty="0"/>
          </a:p>
        </p:txBody>
      </p:sp>
      <p:sp>
        <p:nvSpPr>
          <p:cNvPr id="7" name="Content Placeholder 6"/>
          <p:cNvSpPr>
            <a:spLocks noGrp="1"/>
          </p:cNvSpPr>
          <p:nvPr>
            <p:ph sz="quarter" idx="14"/>
          </p:nvPr>
        </p:nvSpPr>
        <p:spPr>
          <a:xfrm>
            <a:off x="342900" y="1219199"/>
            <a:ext cx="8191500" cy="1700981"/>
          </a:xfrm>
        </p:spPr>
        <p:txBody>
          <a:bodyPr/>
          <a:lstStyle/>
          <a:p>
            <a:pPr marL="292608" indent="-292608">
              <a:buFont typeface="Arial" panose="020B0604020202020204" pitchFamily="34" charset="0"/>
              <a:buChar char="•"/>
            </a:pPr>
            <a:r>
              <a:rPr lang="en-IN" dirty="0"/>
              <a:t>A special case of interval data frequently used in survey research.</a:t>
            </a:r>
          </a:p>
          <a:p>
            <a:pPr marL="292608" indent="-292608">
              <a:buFont typeface="Arial" panose="020B0604020202020204" pitchFamily="34" charset="0"/>
              <a:buChar char="•"/>
            </a:pPr>
            <a:r>
              <a:rPr lang="en-IN" dirty="0"/>
              <a:t>The </a:t>
            </a:r>
            <a:r>
              <a:rPr lang="en-IN" i="1" dirty="0"/>
              <a:t>coarseness</a:t>
            </a:r>
            <a:r>
              <a:rPr lang="en-IN" dirty="0"/>
              <a:t> of a Likert scale refers to the number of scale points (typically 5 or 7).</a:t>
            </a:r>
          </a:p>
        </p:txBody>
      </p:sp>
      <p:pic>
        <p:nvPicPr>
          <p:cNvPr id="5" name="Picture 4" descr="A Likert scale ranges from strongly agree to strongly disagree.&#10;">
            <a:extLst>
              <a:ext uri="{FF2B5EF4-FFF2-40B4-BE49-F238E27FC236}">
                <a16:creationId xmlns:a16="http://schemas.microsoft.com/office/drawing/2014/main" id="{83FAB9D2-15E2-4EC3-A075-0153E3B282E9}"/>
              </a:ext>
            </a:extLst>
          </p:cNvPr>
          <p:cNvPicPr>
            <a:picLocks noChangeAspect="1"/>
          </p:cNvPicPr>
          <p:nvPr/>
        </p:nvPicPr>
        <p:blipFill>
          <a:blip r:embed="rId2"/>
          <a:stretch>
            <a:fillRect/>
          </a:stretch>
        </p:blipFill>
        <p:spPr>
          <a:xfrm>
            <a:off x="1031451" y="3276679"/>
            <a:ext cx="6852498" cy="1188823"/>
          </a:xfrm>
          <a:prstGeom prst="rect">
            <a:avLst/>
          </a:prstGeom>
        </p:spPr>
      </p:pic>
      <p:pic>
        <p:nvPicPr>
          <p:cNvPr id="8" name="Picture 7" descr="A diagram shows the Likert scales using the discrete scale points and using a slider.&#10;">
            <a:extLst>
              <a:ext uri="{FF2B5EF4-FFF2-40B4-BE49-F238E27FC236}">
                <a16:creationId xmlns:a16="http://schemas.microsoft.com/office/drawing/2014/main" id="{3E1C7020-AC34-4889-AEF7-EBC1E81A1D75}"/>
              </a:ext>
            </a:extLst>
          </p:cNvPr>
          <p:cNvPicPr>
            <a:picLocks noChangeAspect="1"/>
          </p:cNvPicPr>
          <p:nvPr/>
        </p:nvPicPr>
        <p:blipFill>
          <a:blip r:embed="rId3"/>
          <a:stretch>
            <a:fillRect/>
          </a:stretch>
        </p:blipFill>
        <p:spPr>
          <a:xfrm>
            <a:off x="786823" y="4937700"/>
            <a:ext cx="7449958" cy="701101"/>
          </a:xfrm>
          <a:prstGeom prst="rect">
            <a:avLst/>
          </a:prstGeom>
        </p:spPr>
      </p:pic>
      <p:sp>
        <p:nvSpPr>
          <p:cNvPr id="9" name="Text Placeholder 8"/>
          <p:cNvSpPr>
            <a:spLocks noGrp="1"/>
          </p:cNvSpPr>
          <p:nvPr>
            <p:ph type="body" sz="quarter" idx="12"/>
          </p:nvPr>
        </p:nvSpPr>
        <p:spPr>
          <a:xfrm>
            <a:off x="3049524" y="6309359"/>
            <a:ext cx="3153156" cy="236221"/>
          </a:xfrm>
        </p:spPr>
        <p:txBody>
          <a:bodyPr/>
          <a:lstStyle/>
          <a:p>
            <a:r>
              <a:rPr lang="en-US" sz="1200" dirty="0">
                <a:hlinkClick r:id="rId4" action="ppaction://hlinksldjump"/>
              </a:rPr>
              <a:t>Access the text alternative for slide images.</a:t>
            </a:r>
            <a:endParaRPr lang="en-US" sz="1200" dirty="0"/>
          </a:p>
        </p:txBody>
      </p:sp>
      <p:sp>
        <p:nvSpPr>
          <p:cNvPr id="6" name="Slide Number Placeholder 5">
            <a:extLst>
              <a:ext uri="{FF2B5EF4-FFF2-40B4-BE49-F238E27FC236}">
                <a16:creationId xmlns:a16="http://schemas.microsoft.com/office/drawing/2014/main" id="{67326E3F-FB89-A6CD-B325-2C20B157C418}"/>
              </a:ext>
            </a:extLst>
          </p:cNvPr>
          <p:cNvSpPr>
            <a:spLocks noGrp="1"/>
          </p:cNvSpPr>
          <p:nvPr>
            <p:ph type="sldNum" sz="quarter" idx="10"/>
          </p:nvPr>
        </p:nvSpPr>
        <p:spPr/>
        <p:txBody>
          <a:bodyPr/>
          <a:lstStyle/>
          <a:p>
            <a:fld id="{68151E55-6873-49E2-B8D5-2F265E6F1973}" type="slidenum">
              <a:rPr lang="en-US" smtClean="0"/>
              <a:pPr/>
              <a:t>18</a:t>
            </a:fld>
            <a:endParaRPr lang="en-US" dirty="0"/>
          </a:p>
        </p:txBody>
      </p:sp>
    </p:spTree>
    <p:extLst>
      <p:ext uri="{BB962C8B-B14F-4D97-AF65-F5344CB8AC3E}">
        <p14:creationId xmlns:p14="http://schemas.microsoft.com/office/powerpoint/2010/main" val="310505039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C71A13-2AA0-EEDA-B43D-0A713ECB4B69}"/>
              </a:ext>
            </a:extLst>
          </p:cNvPr>
          <p:cNvSpPr>
            <a:spLocks noGrp="1"/>
          </p:cNvSpPr>
          <p:nvPr>
            <p:ph type="title"/>
          </p:nvPr>
        </p:nvSpPr>
        <p:spPr>
          <a:xfrm>
            <a:off x="342900" y="192490"/>
            <a:ext cx="7499242" cy="903231"/>
          </a:xfrm>
        </p:spPr>
        <p:txBody>
          <a:bodyPr/>
          <a:lstStyle/>
          <a:p>
            <a:r>
              <a:rPr lang="en-IN" sz="3600" dirty="0"/>
              <a:t>Likert Scales </a:t>
            </a:r>
            <a:r>
              <a:rPr lang="en-IN" sz="1000" b="0" dirty="0"/>
              <a:t>2</a:t>
            </a:r>
          </a:p>
        </p:txBody>
      </p:sp>
      <p:sp>
        <p:nvSpPr>
          <p:cNvPr id="8" name="Content Placeholder 2">
            <a:extLst>
              <a:ext uri="{FF2B5EF4-FFF2-40B4-BE49-F238E27FC236}">
                <a16:creationId xmlns:a16="http://schemas.microsoft.com/office/drawing/2014/main" id="{DF5FD312-C8A8-7CC7-DD0C-86D6BDFCF65C}"/>
              </a:ext>
            </a:extLst>
          </p:cNvPr>
          <p:cNvSpPr>
            <a:spLocks noGrp="1"/>
          </p:cNvSpPr>
          <p:nvPr>
            <p:ph sz="quarter" idx="11"/>
          </p:nvPr>
        </p:nvSpPr>
        <p:spPr>
          <a:xfrm>
            <a:off x="8598957" y="54864"/>
            <a:ext cx="476295" cy="1295711"/>
          </a:xfrm>
        </p:spPr>
        <p:txBody>
          <a:bodyPr vert="vert" tIns="45720" rIns="0"/>
          <a:lstStyle/>
          <a:p>
            <a:pPr marL="1025525" indent="-1025525"/>
            <a:r>
              <a:rPr lang="en-US" b="1" dirty="0"/>
              <a:t>L</a:t>
            </a:r>
            <a:r>
              <a:rPr lang="en-US" sz="100" b="1" dirty="0"/>
              <a:t> </a:t>
            </a:r>
            <a:r>
              <a:rPr lang="en-US" b="1" dirty="0"/>
              <a:t>O 2.5</a:t>
            </a:r>
            <a:endParaRPr lang="en-IN" b="1" dirty="0"/>
          </a:p>
        </p:txBody>
      </p:sp>
      <p:sp>
        <p:nvSpPr>
          <p:cNvPr id="7" name="Content Placeholder 6"/>
          <p:cNvSpPr>
            <a:spLocks noGrp="1"/>
          </p:cNvSpPr>
          <p:nvPr>
            <p:ph sz="quarter" idx="14"/>
          </p:nvPr>
        </p:nvSpPr>
        <p:spPr>
          <a:xfrm>
            <a:off x="342900" y="1219199"/>
            <a:ext cx="8191500" cy="2290917"/>
          </a:xfrm>
        </p:spPr>
        <p:txBody>
          <a:bodyPr/>
          <a:lstStyle/>
          <a:p>
            <a:pPr marL="292608" indent="-292608">
              <a:buFont typeface="Arial" panose="020B0604020202020204" pitchFamily="34" charset="0"/>
              <a:buChar char="•"/>
            </a:pPr>
            <a:r>
              <a:rPr lang="en-IN" dirty="0"/>
              <a:t>A neutral midpoint (“Neither Agree nor Disagree”) is allowed if we use an odd number of scale points (usually 5 or 7). Occasionally, surveys may omit the neutral midpoint to force the respondent to “lean” one way or another. Likert data are coded numerically, but any equally spaced values will work.</a:t>
            </a:r>
          </a:p>
        </p:txBody>
      </p:sp>
      <p:graphicFrame>
        <p:nvGraphicFramePr>
          <p:cNvPr id="13" name="Table 13">
            <a:extLst>
              <a:ext uri="{FF2B5EF4-FFF2-40B4-BE49-F238E27FC236}">
                <a16:creationId xmlns:a16="http://schemas.microsoft.com/office/drawing/2014/main" id="{D938E805-E0F0-4B2D-98F3-2E7408800B08}"/>
              </a:ext>
            </a:extLst>
          </p:cNvPr>
          <p:cNvGraphicFramePr>
            <a:graphicFrameLocks noGrp="1"/>
          </p:cNvGraphicFramePr>
          <p:nvPr>
            <p:extLst>
              <p:ext uri="{D42A27DB-BD31-4B8C-83A1-F6EECF244321}">
                <p14:modId xmlns:p14="http://schemas.microsoft.com/office/powerpoint/2010/main" val="1402073455"/>
              </p:ext>
            </p:extLst>
          </p:nvPr>
        </p:nvGraphicFramePr>
        <p:xfrm>
          <a:off x="547533" y="3692586"/>
          <a:ext cx="7920191" cy="2225040"/>
        </p:xfrm>
        <a:graphic>
          <a:graphicData uri="http://schemas.openxmlformats.org/drawingml/2006/table">
            <a:tbl>
              <a:tblPr firstRow="1" bandRow="1">
                <a:tableStyleId>{5C22544A-7EE6-4342-B048-85BDC9FD1C3A}</a:tableStyleId>
              </a:tblPr>
              <a:tblGrid>
                <a:gridCol w="3956717">
                  <a:extLst>
                    <a:ext uri="{9D8B030D-6E8A-4147-A177-3AD203B41FA5}">
                      <a16:colId xmlns:a16="http://schemas.microsoft.com/office/drawing/2014/main" val="2544179158"/>
                    </a:ext>
                  </a:extLst>
                </a:gridCol>
                <a:gridCol w="3963474">
                  <a:extLst>
                    <a:ext uri="{9D8B030D-6E8A-4147-A177-3AD203B41FA5}">
                      <a16:colId xmlns:a16="http://schemas.microsoft.com/office/drawing/2014/main" val="2136276554"/>
                    </a:ext>
                  </a:extLst>
                </a:gridCol>
              </a:tblGrid>
              <a:tr h="370840">
                <a:tc>
                  <a:txBody>
                    <a:bodyPr/>
                    <a:lstStyle/>
                    <a:p>
                      <a:pPr algn="l" fontAlgn="t"/>
                      <a:r>
                        <a:rPr lang="en-IN" sz="1800" b="1" i="0" u="none" strike="noStrike" dirty="0">
                          <a:effectLst/>
                          <a:latin typeface="+mn-lt"/>
                          <a:cs typeface="Times New Roman" panose="02020603050405020304" pitchFamily="18" charset="0"/>
                        </a:rPr>
                        <a:t>Likert Coding: 1 to 5 scale</a:t>
                      </a:r>
                    </a:p>
                  </a:txBody>
                  <a:tcPr>
                    <a:solidFill>
                      <a:srgbClr val="C00000"/>
                    </a:solidFill>
                  </a:tcPr>
                </a:tc>
                <a:tc>
                  <a:txBody>
                    <a:bodyPr/>
                    <a:lstStyle/>
                    <a:p>
                      <a:pPr algn="l" fontAlgn="t"/>
                      <a:r>
                        <a:rPr lang="en-IN" sz="1800" b="1" i="0" u="none" strike="noStrike" dirty="0">
                          <a:effectLst/>
                          <a:latin typeface="+mn-lt"/>
                          <a:cs typeface="Times New Roman" panose="02020603050405020304" pitchFamily="18" charset="0"/>
                        </a:rPr>
                        <a:t>Likert Coding: −2 to +2 scale</a:t>
                      </a:r>
                    </a:p>
                  </a:txBody>
                  <a:tcPr>
                    <a:solidFill>
                      <a:srgbClr val="C00000"/>
                    </a:solidFill>
                  </a:tcPr>
                </a:tc>
                <a:extLst>
                  <a:ext uri="{0D108BD9-81ED-4DB2-BD59-A6C34878D82A}">
                    <a16:rowId xmlns:a16="http://schemas.microsoft.com/office/drawing/2014/main" val="2616631718"/>
                  </a:ext>
                </a:extLst>
              </a:tr>
              <a:tr h="370840">
                <a:tc>
                  <a:txBody>
                    <a:bodyPr/>
                    <a:lstStyle/>
                    <a:p>
                      <a:pPr algn="l" fontAlgn="t"/>
                      <a:r>
                        <a:rPr lang="en-IN" sz="1800" b="0" i="0" u="none" strike="noStrike" dirty="0">
                          <a:effectLst/>
                          <a:latin typeface="+mn-lt"/>
                          <a:cs typeface="Times New Roman" panose="02020603050405020304" pitchFamily="18" charset="0"/>
                        </a:rPr>
                        <a:t>5 = Will help a lot</a:t>
                      </a:r>
                    </a:p>
                  </a:txBody>
                  <a:tcPr/>
                </a:tc>
                <a:tc>
                  <a:txBody>
                    <a:bodyPr/>
                    <a:lstStyle/>
                    <a:p>
                      <a:pPr algn="l" fontAlgn="t"/>
                      <a:r>
                        <a:rPr lang="en-IN" sz="1800" b="0" i="0" u="none" strike="noStrike" dirty="0">
                          <a:effectLst/>
                          <a:latin typeface="+mn-lt"/>
                          <a:cs typeface="Times New Roman" panose="02020603050405020304" pitchFamily="18" charset="0"/>
                        </a:rPr>
                        <a:t>+2 = Will help a lot</a:t>
                      </a:r>
                    </a:p>
                  </a:txBody>
                  <a:tcPr/>
                </a:tc>
                <a:extLst>
                  <a:ext uri="{0D108BD9-81ED-4DB2-BD59-A6C34878D82A}">
                    <a16:rowId xmlns:a16="http://schemas.microsoft.com/office/drawing/2014/main" val="1680524085"/>
                  </a:ext>
                </a:extLst>
              </a:tr>
              <a:tr h="370840">
                <a:tc>
                  <a:txBody>
                    <a:bodyPr/>
                    <a:lstStyle/>
                    <a:p>
                      <a:pPr algn="l" fontAlgn="t"/>
                      <a:r>
                        <a:rPr lang="en-IN" sz="1800" b="0" i="0" u="none" strike="noStrike" dirty="0">
                          <a:effectLst/>
                          <a:latin typeface="+mn-lt"/>
                          <a:cs typeface="Times New Roman" panose="02020603050405020304" pitchFamily="18" charset="0"/>
                        </a:rPr>
                        <a:t>4 = Will help a little</a:t>
                      </a:r>
                    </a:p>
                  </a:txBody>
                  <a:tcPr/>
                </a:tc>
                <a:tc>
                  <a:txBody>
                    <a:bodyPr/>
                    <a:lstStyle/>
                    <a:p>
                      <a:pPr algn="l" fontAlgn="t"/>
                      <a:r>
                        <a:rPr lang="en-IN" sz="1800" b="0" i="0" u="none" strike="noStrike" dirty="0">
                          <a:effectLst/>
                          <a:latin typeface="+mn-lt"/>
                          <a:cs typeface="Times New Roman" panose="02020603050405020304" pitchFamily="18" charset="0"/>
                        </a:rPr>
                        <a:t>+1 = Will help a little</a:t>
                      </a:r>
                    </a:p>
                  </a:txBody>
                  <a:tcPr/>
                </a:tc>
                <a:extLst>
                  <a:ext uri="{0D108BD9-81ED-4DB2-BD59-A6C34878D82A}">
                    <a16:rowId xmlns:a16="http://schemas.microsoft.com/office/drawing/2014/main" val="1575240927"/>
                  </a:ext>
                </a:extLst>
              </a:tr>
              <a:tr h="370840">
                <a:tc>
                  <a:txBody>
                    <a:bodyPr/>
                    <a:lstStyle/>
                    <a:p>
                      <a:pPr algn="l" fontAlgn="t"/>
                      <a:r>
                        <a:rPr lang="en-IN" sz="1800" b="0" i="0" u="none" strike="noStrike" dirty="0">
                          <a:effectLst/>
                          <a:latin typeface="+mn-lt"/>
                          <a:cs typeface="Times New Roman" panose="02020603050405020304" pitchFamily="18" charset="0"/>
                        </a:rPr>
                        <a:t>3 = No effect on investment climate</a:t>
                      </a:r>
                    </a:p>
                  </a:txBody>
                  <a:tcPr/>
                </a:tc>
                <a:tc>
                  <a:txBody>
                    <a:bodyPr/>
                    <a:lstStyle/>
                    <a:p>
                      <a:pPr marL="114300" indent="0" algn="l" fontAlgn="t"/>
                      <a:r>
                        <a:rPr lang="en-IN" sz="1800" b="0" i="0" u="none" strike="noStrike" dirty="0">
                          <a:effectLst/>
                          <a:latin typeface="+mn-lt"/>
                          <a:cs typeface="Times New Roman" panose="02020603050405020304" pitchFamily="18" charset="0"/>
                        </a:rPr>
                        <a:t>0 = No effect on investment climate</a:t>
                      </a:r>
                    </a:p>
                  </a:txBody>
                  <a:tcPr/>
                </a:tc>
                <a:extLst>
                  <a:ext uri="{0D108BD9-81ED-4DB2-BD59-A6C34878D82A}">
                    <a16:rowId xmlns:a16="http://schemas.microsoft.com/office/drawing/2014/main" val="3417352755"/>
                  </a:ext>
                </a:extLst>
              </a:tr>
              <a:tr h="370840">
                <a:tc>
                  <a:txBody>
                    <a:bodyPr/>
                    <a:lstStyle/>
                    <a:p>
                      <a:pPr algn="l" fontAlgn="t"/>
                      <a:r>
                        <a:rPr lang="en-IN" sz="1800" b="0" i="0" u="none" strike="noStrike" dirty="0">
                          <a:effectLst/>
                          <a:latin typeface="+mn-lt"/>
                          <a:cs typeface="Times New Roman" panose="02020603050405020304" pitchFamily="18" charset="0"/>
                        </a:rPr>
                        <a:t>2 = Will hurt a little</a:t>
                      </a:r>
                    </a:p>
                  </a:txBody>
                  <a:tcPr/>
                </a:tc>
                <a:tc>
                  <a:txBody>
                    <a:bodyPr/>
                    <a:lstStyle/>
                    <a:p>
                      <a:pPr algn="l" fontAlgn="t"/>
                      <a:r>
                        <a:rPr lang="en-IN" sz="1800" b="0" i="0" u="none" strike="noStrike" dirty="0">
                          <a:effectLst/>
                          <a:latin typeface="+mn-lt"/>
                          <a:cs typeface="Times New Roman" panose="02020603050405020304" pitchFamily="18" charset="0"/>
                        </a:rPr>
                        <a:t>−1 = Will hurt a little</a:t>
                      </a:r>
                    </a:p>
                  </a:txBody>
                  <a:tcPr/>
                </a:tc>
                <a:extLst>
                  <a:ext uri="{0D108BD9-81ED-4DB2-BD59-A6C34878D82A}">
                    <a16:rowId xmlns:a16="http://schemas.microsoft.com/office/drawing/2014/main" val="56149490"/>
                  </a:ext>
                </a:extLst>
              </a:tr>
              <a:tr h="370840">
                <a:tc>
                  <a:txBody>
                    <a:bodyPr/>
                    <a:lstStyle/>
                    <a:p>
                      <a:pPr algn="l" fontAlgn="t"/>
                      <a:r>
                        <a:rPr lang="en-IN" sz="1800" b="0" i="0" u="none" strike="noStrike" dirty="0">
                          <a:effectLst/>
                          <a:latin typeface="+mn-lt"/>
                          <a:cs typeface="Times New Roman" panose="02020603050405020304" pitchFamily="18" charset="0"/>
                        </a:rPr>
                        <a:t>1 = Will hurt a lot</a:t>
                      </a:r>
                    </a:p>
                  </a:txBody>
                  <a:tcPr/>
                </a:tc>
                <a:tc>
                  <a:txBody>
                    <a:bodyPr/>
                    <a:lstStyle/>
                    <a:p>
                      <a:pPr algn="l" fontAlgn="t"/>
                      <a:r>
                        <a:rPr lang="en-IN" sz="1800" b="0" i="0" u="none" strike="noStrike" dirty="0">
                          <a:effectLst/>
                          <a:latin typeface="+mn-lt"/>
                          <a:cs typeface="Times New Roman" panose="02020603050405020304" pitchFamily="18" charset="0"/>
                        </a:rPr>
                        <a:t>−2 = Will hurt a lot</a:t>
                      </a:r>
                    </a:p>
                  </a:txBody>
                  <a:tcPr/>
                </a:tc>
                <a:extLst>
                  <a:ext uri="{0D108BD9-81ED-4DB2-BD59-A6C34878D82A}">
                    <a16:rowId xmlns:a16="http://schemas.microsoft.com/office/drawing/2014/main" val="1815431363"/>
                  </a:ext>
                </a:extLst>
              </a:tr>
            </a:tbl>
          </a:graphicData>
        </a:graphic>
      </p:graphicFrame>
      <p:sp>
        <p:nvSpPr>
          <p:cNvPr id="6" name="Slide Number Placeholder 5">
            <a:extLst>
              <a:ext uri="{FF2B5EF4-FFF2-40B4-BE49-F238E27FC236}">
                <a16:creationId xmlns:a16="http://schemas.microsoft.com/office/drawing/2014/main" id="{67326E3F-FB89-A6CD-B325-2C20B157C418}"/>
              </a:ext>
            </a:extLst>
          </p:cNvPr>
          <p:cNvSpPr>
            <a:spLocks noGrp="1"/>
          </p:cNvSpPr>
          <p:nvPr>
            <p:ph type="sldNum" sz="quarter" idx="10"/>
          </p:nvPr>
        </p:nvSpPr>
        <p:spPr/>
        <p:txBody>
          <a:bodyPr/>
          <a:lstStyle/>
          <a:p>
            <a:fld id="{68151E55-6873-49E2-B8D5-2F265E6F1973}" type="slidenum">
              <a:rPr lang="en-US" smtClean="0"/>
              <a:pPr/>
              <a:t>19</a:t>
            </a:fld>
            <a:endParaRPr lang="en-US" dirty="0"/>
          </a:p>
        </p:txBody>
      </p:sp>
    </p:spTree>
    <p:extLst>
      <p:ext uri="{BB962C8B-B14F-4D97-AF65-F5344CB8AC3E}">
        <p14:creationId xmlns:p14="http://schemas.microsoft.com/office/powerpoint/2010/main" val="16733338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C71A13-2AA0-EEDA-B43D-0A713ECB4B69}"/>
              </a:ext>
            </a:extLst>
          </p:cNvPr>
          <p:cNvSpPr>
            <a:spLocks noGrp="1"/>
          </p:cNvSpPr>
          <p:nvPr>
            <p:ph type="title"/>
          </p:nvPr>
        </p:nvSpPr>
        <p:spPr>
          <a:xfrm>
            <a:off x="342901" y="192490"/>
            <a:ext cx="7534306" cy="903231"/>
          </a:xfrm>
        </p:spPr>
        <p:txBody>
          <a:bodyPr>
            <a:normAutofit/>
          </a:bodyPr>
          <a:lstStyle/>
          <a:p>
            <a:r>
              <a:rPr lang="en-IN" sz="3600" dirty="0"/>
              <a:t>Levels of Measurement</a:t>
            </a:r>
          </a:p>
        </p:txBody>
      </p:sp>
      <p:sp>
        <p:nvSpPr>
          <p:cNvPr id="8" name="Content Placeholder 2">
            <a:extLst>
              <a:ext uri="{FF2B5EF4-FFF2-40B4-BE49-F238E27FC236}">
                <a16:creationId xmlns:a16="http://schemas.microsoft.com/office/drawing/2014/main" id="{A97A4EE4-3ED0-D00A-7BEB-898BE2EB5B88}"/>
              </a:ext>
            </a:extLst>
          </p:cNvPr>
          <p:cNvSpPr>
            <a:spLocks noGrp="1"/>
          </p:cNvSpPr>
          <p:nvPr>
            <p:ph sz="quarter" idx="11"/>
          </p:nvPr>
        </p:nvSpPr>
        <p:spPr>
          <a:xfrm>
            <a:off x="8598957" y="54864"/>
            <a:ext cx="476295" cy="1295711"/>
          </a:xfrm>
        </p:spPr>
        <p:txBody>
          <a:bodyPr vert="vert" tIns="45720" rIns="0"/>
          <a:lstStyle/>
          <a:p>
            <a:pPr marL="1025525" indent="-1025525"/>
            <a:r>
              <a:rPr lang="en-US" b="1" dirty="0"/>
              <a:t>L</a:t>
            </a:r>
            <a:r>
              <a:rPr lang="en-US" sz="100" b="1" dirty="0"/>
              <a:t> </a:t>
            </a:r>
            <a:r>
              <a:rPr lang="en-US" b="1" dirty="0"/>
              <a:t>O 2.4</a:t>
            </a:r>
            <a:endParaRPr lang="en-IN" b="1" dirty="0"/>
          </a:p>
        </p:txBody>
      </p:sp>
      <p:sp>
        <p:nvSpPr>
          <p:cNvPr id="7" name="Content Placeholder 6"/>
          <p:cNvSpPr>
            <a:spLocks noGrp="1"/>
          </p:cNvSpPr>
          <p:nvPr>
            <p:ph sz="quarter" idx="14"/>
          </p:nvPr>
        </p:nvSpPr>
        <p:spPr>
          <a:xfrm>
            <a:off x="342900" y="1350575"/>
            <a:ext cx="8191500" cy="462117"/>
          </a:xfrm>
        </p:spPr>
        <p:txBody>
          <a:bodyPr/>
          <a:lstStyle/>
          <a:p>
            <a:pPr algn="ctr"/>
            <a:r>
              <a:rPr lang="en-IN" dirty="0"/>
              <a:t>Use the following procedure to recognize data types:</a:t>
            </a:r>
          </a:p>
        </p:txBody>
      </p:sp>
      <p:graphicFrame>
        <p:nvGraphicFramePr>
          <p:cNvPr id="13" name="Table 13">
            <a:extLst>
              <a:ext uri="{FF2B5EF4-FFF2-40B4-BE49-F238E27FC236}">
                <a16:creationId xmlns:a16="http://schemas.microsoft.com/office/drawing/2014/main" id="{D938E805-E0F0-4B2D-98F3-2E7408800B08}"/>
              </a:ext>
            </a:extLst>
          </p:cNvPr>
          <p:cNvGraphicFramePr>
            <a:graphicFrameLocks noGrp="1"/>
          </p:cNvGraphicFramePr>
          <p:nvPr>
            <p:extLst>
              <p:ext uri="{D42A27DB-BD31-4B8C-83A1-F6EECF244321}">
                <p14:modId xmlns:p14="http://schemas.microsoft.com/office/powerpoint/2010/main" val="3745458064"/>
              </p:ext>
            </p:extLst>
          </p:nvPr>
        </p:nvGraphicFramePr>
        <p:xfrm>
          <a:off x="1120971" y="2013661"/>
          <a:ext cx="6756236" cy="4082340"/>
        </p:xfrm>
        <a:graphic>
          <a:graphicData uri="http://schemas.openxmlformats.org/drawingml/2006/table">
            <a:tbl>
              <a:tblPr firstRow="1" bandRow="1">
                <a:tableStyleId>{5C22544A-7EE6-4342-B048-85BDC9FD1C3A}</a:tableStyleId>
              </a:tblPr>
              <a:tblGrid>
                <a:gridCol w="3441536">
                  <a:extLst>
                    <a:ext uri="{9D8B030D-6E8A-4147-A177-3AD203B41FA5}">
                      <a16:colId xmlns:a16="http://schemas.microsoft.com/office/drawing/2014/main" val="2544179158"/>
                    </a:ext>
                  </a:extLst>
                </a:gridCol>
                <a:gridCol w="3314700">
                  <a:extLst>
                    <a:ext uri="{9D8B030D-6E8A-4147-A177-3AD203B41FA5}">
                      <a16:colId xmlns:a16="http://schemas.microsoft.com/office/drawing/2014/main" val="2136276554"/>
                    </a:ext>
                  </a:extLst>
                </a:gridCol>
              </a:tblGrid>
              <a:tr h="370840">
                <a:tc>
                  <a:txBody>
                    <a:bodyPr/>
                    <a:lstStyle/>
                    <a:p>
                      <a:pPr marL="0" marR="0" lvl="0" indent="0" algn="ctr" defTabSz="914400" rtl="0" eaLnBrk="1" fontAlgn="base" latinLnBrk="0" hangingPunct="1">
                        <a:lnSpc>
                          <a:spcPct val="100000"/>
                        </a:lnSpc>
                        <a:spcBef>
                          <a:spcPct val="0"/>
                        </a:spcBef>
                        <a:spcAft>
                          <a:spcPct val="0"/>
                        </a:spcAft>
                        <a:buClrTx/>
                        <a:buSzPct val="90000"/>
                        <a:buFontTx/>
                        <a:buNone/>
                        <a:tabLst/>
                      </a:pPr>
                      <a:r>
                        <a:rPr kumimoji="0" lang="en-US" sz="1800" u="none" strike="noStrike" cap="none" normalizeH="0" baseline="0" dirty="0">
                          <a:ln>
                            <a:noFill/>
                          </a:ln>
                          <a:effectLst/>
                        </a:rPr>
                        <a:t>Question</a:t>
                      </a:r>
                      <a:endParaRPr kumimoji="0" lang="en-US" sz="1800" b="0" i="0" u="none" strike="noStrike" cap="none" normalizeH="0" baseline="0" dirty="0">
                        <a:ln>
                          <a:noFill/>
                        </a:ln>
                        <a:solidFill>
                          <a:schemeClr val="tx1"/>
                        </a:solidFill>
                        <a:effectLst/>
                        <a:latin typeface="+mn-lt"/>
                      </a:endParaRPr>
                    </a:p>
                  </a:txBody>
                  <a:tcPr marL="103236" marR="103236" marT="51618" marB="51618" horzOverflow="overflow">
                    <a:solidFill>
                      <a:srgbClr val="C00000"/>
                    </a:solidFill>
                  </a:tcPr>
                </a:tc>
                <a:tc>
                  <a:txBody>
                    <a:bodyPr/>
                    <a:lstStyle/>
                    <a:p>
                      <a:pPr marL="0" marR="0" lvl="0" indent="0" algn="ctr" defTabSz="914400" rtl="0" eaLnBrk="1" fontAlgn="base" latinLnBrk="0" hangingPunct="1">
                        <a:lnSpc>
                          <a:spcPct val="100000"/>
                        </a:lnSpc>
                        <a:spcBef>
                          <a:spcPct val="0"/>
                        </a:spcBef>
                        <a:spcAft>
                          <a:spcPct val="0"/>
                        </a:spcAft>
                        <a:buClrTx/>
                        <a:buSzPct val="90000"/>
                        <a:buFontTx/>
                        <a:buNone/>
                        <a:tabLst/>
                      </a:pPr>
                      <a:r>
                        <a:rPr kumimoji="0" lang="en-US" sz="1800" u="none" strike="noStrike" cap="none" normalizeH="0" baseline="0" dirty="0">
                          <a:ln>
                            <a:noFill/>
                          </a:ln>
                          <a:effectLst/>
                        </a:rPr>
                        <a:t>If “Yes”</a:t>
                      </a:r>
                      <a:endParaRPr kumimoji="0" lang="en-US" sz="1800" b="0" i="0" u="none" strike="noStrike" cap="none" normalizeH="0" baseline="0" dirty="0">
                        <a:ln>
                          <a:noFill/>
                        </a:ln>
                        <a:solidFill>
                          <a:schemeClr val="tx1"/>
                        </a:solidFill>
                        <a:effectLst/>
                        <a:latin typeface="+mn-lt"/>
                      </a:endParaRPr>
                    </a:p>
                  </a:txBody>
                  <a:tcPr marL="103236" marR="103236" marT="51618" marB="51618" horzOverflow="overflow">
                    <a:solidFill>
                      <a:srgbClr val="C00000"/>
                    </a:solidFill>
                  </a:tcPr>
                </a:tc>
                <a:extLst>
                  <a:ext uri="{0D108BD9-81ED-4DB2-BD59-A6C34878D82A}">
                    <a16:rowId xmlns:a16="http://schemas.microsoft.com/office/drawing/2014/main" val="2616631718"/>
                  </a:ext>
                </a:extLst>
              </a:tr>
              <a:tr h="370840">
                <a:tc>
                  <a:txBody>
                    <a:bodyPr/>
                    <a:lstStyle/>
                    <a:p>
                      <a:pPr marL="0" marR="0" lvl="0" indent="0" algn="l" defTabSz="914400" rtl="0" eaLnBrk="1" fontAlgn="base" latinLnBrk="0" hangingPunct="1">
                        <a:lnSpc>
                          <a:spcPct val="100000"/>
                        </a:lnSpc>
                        <a:spcBef>
                          <a:spcPct val="0"/>
                        </a:spcBef>
                        <a:spcAft>
                          <a:spcPct val="0"/>
                        </a:spcAft>
                        <a:buClrTx/>
                        <a:buSzPct val="90000"/>
                        <a:buFontTx/>
                        <a:buNone/>
                        <a:tabLst/>
                      </a:pPr>
                      <a:r>
                        <a:rPr kumimoji="0" lang="en-US" sz="1800" u="none" strike="noStrike" cap="none" normalizeH="0" baseline="0" dirty="0">
                          <a:ln>
                            <a:noFill/>
                          </a:ln>
                          <a:effectLst/>
                        </a:rPr>
                        <a:t>Q1. Is there a meaningful zero point?</a:t>
                      </a:r>
                      <a:endParaRPr kumimoji="0" lang="en-US" sz="1800" b="0" i="0" u="none" strike="noStrike" cap="none" normalizeH="0" baseline="0" dirty="0">
                        <a:ln>
                          <a:noFill/>
                        </a:ln>
                        <a:solidFill>
                          <a:schemeClr val="tx1"/>
                        </a:solidFill>
                        <a:effectLst/>
                        <a:latin typeface="+mn-lt"/>
                      </a:endParaRPr>
                    </a:p>
                  </a:txBody>
                  <a:tcPr marL="103236" marR="103236" marT="51618" marB="51618" horzOverflow="overflow"/>
                </a:tc>
                <a:tc>
                  <a:txBody>
                    <a:bodyPr/>
                    <a:lstStyle/>
                    <a:p>
                      <a:pPr marL="0" marR="0" lvl="0" indent="0" algn="l" defTabSz="914400" rtl="0" eaLnBrk="1" fontAlgn="base" latinLnBrk="0" hangingPunct="1">
                        <a:lnSpc>
                          <a:spcPct val="100000"/>
                        </a:lnSpc>
                        <a:spcBef>
                          <a:spcPct val="0"/>
                        </a:spcBef>
                        <a:spcAft>
                          <a:spcPct val="0"/>
                        </a:spcAft>
                        <a:buClrTx/>
                        <a:buSzPct val="90000"/>
                        <a:buFontTx/>
                        <a:buNone/>
                        <a:tabLst/>
                      </a:pPr>
                      <a:r>
                        <a:rPr kumimoji="0" lang="en-US" sz="1800" u="none" strike="noStrike" cap="none" normalizeH="0" baseline="0" dirty="0">
                          <a:ln>
                            <a:noFill/>
                          </a:ln>
                          <a:effectLst/>
                        </a:rPr>
                        <a:t>Ratio data (statistical operations are allowed).</a:t>
                      </a:r>
                      <a:endParaRPr kumimoji="0" lang="en-US" sz="1800" b="0" i="0" u="none" strike="noStrike" cap="none" normalizeH="0" baseline="0" dirty="0">
                        <a:ln>
                          <a:noFill/>
                        </a:ln>
                        <a:solidFill>
                          <a:schemeClr val="tx1"/>
                        </a:solidFill>
                        <a:effectLst/>
                        <a:latin typeface="+mn-lt"/>
                      </a:endParaRPr>
                    </a:p>
                  </a:txBody>
                  <a:tcPr marL="103236" marR="103236" marT="51618" marB="51618" horzOverflow="overflow"/>
                </a:tc>
                <a:extLst>
                  <a:ext uri="{0D108BD9-81ED-4DB2-BD59-A6C34878D82A}">
                    <a16:rowId xmlns:a16="http://schemas.microsoft.com/office/drawing/2014/main" val="1680524085"/>
                  </a:ext>
                </a:extLst>
              </a:tr>
              <a:tr h="370840">
                <a:tc>
                  <a:txBody>
                    <a:bodyPr/>
                    <a:lstStyle/>
                    <a:p>
                      <a:pPr marL="0" marR="0" lvl="0" indent="0" algn="l" defTabSz="914400" rtl="0" eaLnBrk="1" fontAlgn="base" latinLnBrk="0" hangingPunct="1">
                        <a:lnSpc>
                          <a:spcPct val="100000"/>
                        </a:lnSpc>
                        <a:spcBef>
                          <a:spcPct val="0"/>
                        </a:spcBef>
                        <a:spcAft>
                          <a:spcPct val="0"/>
                        </a:spcAft>
                        <a:buClrTx/>
                        <a:buSzPct val="90000"/>
                        <a:buFontTx/>
                        <a:buNone/>
                        <a:tabLst/>
                      </a:pPr>
                      <a:r>
                        <a:rPr kumimoji="0" lang="en-US" sz="1800" u="none" strike="noStrike" cap="none" normalizeH="0" baseline="0" dirty="0">
                          <a:ln>
                            <a:noFill/>
                          </a:ln>
                          <a:effectLst/>
                        </a:rPr>
                        <a:t>Q2. Are intervals between scale points meaningful?</a:t>
                      </a:r>
                      <a:endParaRPr kumimoji="0" lang="en-US" sz="1800" b="0" i="0" u="none" strike="noStrike" cap="none" normalizeH="0" baseline="0" dirty="0">
                        <a:ln>
                          <a:noFill/>
                        </a:ln>
                        <a:solidFill>
                          <a:schemeClr val="tx1"/>
                        </a:solidFill>
                        <a:effectLst/>
                        <a:latin typeface="+mn-lt"/>
                      </a:endParaRPr>
                    </a:p>
                  </a:txBody>
                  <a:tcPr marL="103236" marR="103236" marT="51618" marB="51618" horzOverflow="overflow"/>
                </a:tc>
                <a:tc>
                  <a:txBody>
                    <a:bodyPr/>
                    <a:lstStyle/>
                    <a:p>
                      <a:pPr marL="0" marR="0" lvl="0" indent="0" algn="l" defTabSz="914400" rtl="0" eaLnBrk="1" fontAlgn="base" latinLnBrk="0" hangingPunct="1">
                        <a:lnSpc>
                          <a:spcPct val="100000"/>
                        </a:lnSpc>
                        <a:spcBef>
                          <a:spcPct val="0"/>
                        </a:spcBef>
                        <a:spcAft>
                          <a:spcPct val="0"/>
                        </a:spcAft>
                        <a:buClrTx/>
                        <a:buSzPct val="90000"/>
                        <a:buFontTx/>
                        <a:buNone/>
                        <a:tabLst/>
                      </a:pPr>
                      <a:r>
                        <a:rPr kumimoji="0" lang="en-US" sz="1800" u="none" strike="noStrike" cap="none" normalizeH="0" baseline="0" dirty="0">
                          <a:ln>
                            <a:noFill/>
                          </a:ln>
                          <a:effectLst/>
                        </a:rPr>
                        <a:t>Interval data (common statistics allowed, For example, means and standard deviations).</a:t>
                      </a:r>
                      <a:endParaRPr kumimoji="0" lang="en-US" sz="1800" b="0" i="0" u="none" strike="noStrike" cap="none" normalizeH="0" baseline="0" dirty="0">
                        <a:ln>
                          <a:noFill/>
                        </a:ln>
                        <a:solidFill>
                          <a:schemeClr val="tx1"/>
                        </a:solidFill>
                        <a:effectLst/>
                        <a:latin typeface="+mn-lt"/>
                      </a:endParaRPr>
                    </a:p>
                  </a:txBody>
                  <a:tcPr marL="103236" marR="103236" marT="51618" marB="51618" horzOverflow="overflow"/>
                </a:tc>
                <a:extLst>
                  <a:ext uri="{0D108BD9-81ED-4DB2-BD59-A6C34878D82A}">
                    <a16:rowId xmlns:a16="http://schemas.microsoft.com/office/drawing/2014/main" val="1575240927"/>
                  </a:ext>
                </a:extLst>
              </a:tr>
              <a:tr h="370840">
                <a:tc>
                  <a:txBody>
                    <a:bodyPr/>
                    <a:lstStyle/>
                    <a:p>
                      <a:pPr marL="0" marR="0" lvl="0" indent="0" algn="l" defTabSz="914400" rtl="0" eaLnBrk="1" fontAlgn="base" latinLnBrk="0" hangingPunct="1">
                        <a:lnSpc>
                          <a:spcPct val="100000"/>
                        </a:lnSpc>
                        <a:spcBef>
                          <a:spcPct val="0"/>
                        </a:spcBef>
                        <a:spcAft>
                          <a:spcPct val="0"/>
                        </a:spcAft>
                        <a:buClrTx/>
                        <a:buSzPct val="90000"/>
                        <a:buFontTx/>
                        <a:buNone/>
                        <a:tabLst/>
                      </a:pPr>
                      <a:r>
                        <a:rPr kumimoji="0" lang="en-US" sz="1800" u="none" strike="noStrike" cap="none" normalizeH="0" baseline="0" dirty="0">
                          <a:ln>
                            <a:noFill/>
                          </a:ln>
                          <a:effectLst/>
                        </a:rPr>
                        <a:t>Q3. Do scale points represent rankings?</a:t>
                      </a:r>
                      <a:endParaRPr kumimoji="0" lang="en-US" sz="1800" b="0" i="0" u="none" strike="noStrike" cap="none" normalizeH="0" baseline="0" dirty="0">
                        <a:ln>
                          <a:noFill/>
                        </a:ln>
                        <a:solidFill>
                          <a:schemeClr val="tx1"/>
                        </a:solidFill>
                        <a:effectLst/>
                        <a:latin typeface="+mn-lt"/>
                      </a:endParaRPr>
                    </a:p>
                  </a:txBody>
                  <a:tcPr marL="103236" marR="103236" marT="51618" marB="51618" horzOverflow="overflow"/>
                </a:tc>
                <a:tc>
                  <a:txBody>
                    <a:bodyPr/>
                    <a:lstStyle/>
                    <a:p>
                      <a:pPr marL="0" marR="0" lvl="0" indent="0" algn="l" defTabSz="914400" rtl="0" eaLnBrk="1" fontAlgn="base" latinLnBrk="0" hangingPunct="1">
                        <a:lnSpc>
                          <a:spcPct val="100000"/>
                        </a:lnSpc>
                        <a:spcBef>
                          <a:spcPct val="0"/>
                        </a:spcBef>
                        <a:spcAft>
                          <a:spcPct val="0"/>
                        </a:spcAft>
                        <a:buClrTx/>
                        <a:buSzPct val="90000"/>
                        <a:buFontTx/>
                        <a:buNone/>
                        <a:tabLst/>
                      </a:pPr>
                      <a:r>
                        <a:rPr kumimoji="0" lang="en-US" sz="1800" u="none" strike="noStrike" cap="none" normalizeH="0" baseline="0" dirty="0">
                          <a:ln>
                            <a:noFill/>
                          </a:ln>
                          <a:effectLst/>
                        </a:rPr>
                        <a:t>Ordinal data (restricted to certain nonparametric statistical tests).</a:t>
                      </a:r>
                      <a:endParaRPr kumimoji="0" lang="en-US" sz="1800" b="0" i="0" u="none" strike="noStrike" cap="none" normalizeH="0" baseline="0" dirty="0">
                        <a:ln>
                          <a:noFill/>
                        </a:ln>
                        <a:solidFill>
                          <a:schemeClr val="tx1"/>
                        </a:solidFill>
                        <a:effectLst/>
                        <a:latin typeface="+mn-lt"/>
                      </a:endParaRPr>
                    </a:p>
                  </a:txBody>
                  <a:tcPr marL="103236" marR="103236" marT="51618" marB="51618" horzOverflow="overflow"/>
                </a:tc>
                <a:extLst>
                  <a:ext uri="{0D108BD9-81ED-4DB2-BD59-A6C34878D82A}">
                    <a16:rowId xmlns:a16="http://schemas.microsoft.com/office/drawing/2014/main" val="3417352755"/>
                  </a:ext>
                </a:extLst>
              </a:tr>
              <a:tr h="370840">
                <a:tc>
                  <a:txBody>
                    <a:bodyPr/>
                    <a:lstStyle/>
                    <a:p>
                      <a:pPr marL="0" marR="0" lvl="0" indent="0" algn="l" defTabSz="914400" rtl="0" eaLnBrk="1" fontAlgn="base" latinLnBrk="0" hangingPunct="1">
                        <a:lnSpc>
                          <a:spcPct val="100000"/>
                        </a:lnSpc>
                        <a:spcBef>
                          <a:spcPct val="0"/>
                        </a:spcBef>
                        <a:spcAft>
                          <a:spcPct val="0"/>
                        </a:spcAft>
                        <a:buClrTx/>
                        <a:buSzPct val="90000"/>
                        <a:buFontTx/>
                        <a:buNone/>
                        <a:tabLst/>
                      </a:pPr>
                      <a:r>
                        <a:rPr kumimoji="0" lang="en-US" sz="1800" u="none" strike="noStrike" cap="none" normalizeH="0" baseline="0" dirty="0">
                          <a:ln>
                            <a:noFill/>
                          </a:ln>
                          <a:effectLst/>
                        </a:rPr>
                        <a:t>Q4. Are there discrete categories?</a:t>
                      </a:r>
                      <a:endParaRPr kumimoji="0" lang="en-US" sz="1800" b="0" i="0" u="none" strike="noStrike" cap="none" normalizeH="0" baseline="0" dirty="0">
                        <a:ln>
                          <a:noFill/>
                        </a:ln>
                        <a:solidFill>
                          <a:schemeClr val="tx1"/>
                        </a:solidFill>
                        <a:effectLst/>
                        <a:latin typeface="+mn-lt"/>
                      </a:endParaRPr>
                    </a:p>
                  </a:txBody>
                  <a:tcPr marL="103236" marR="103236" marT="51618" marB="51618" horzOverflow="overflow"/>
                </a:tc>
                <a:tc>
                  <a:txBody>
                    <a:bodyPr/>
                    <a:lstStyle/>
                    <a:p>
                      <a:pPr marL="0" marR="0" lvl="0" indent="0" algn="l" defTabSz="914400" rtl="0" eaLnBrk="1" fontAlgn="base" latinLnBrk="0" hangingPunct="1">
                        <a:lnSpc>
                          <a:spcPct val="100000"/>
                        </a:lnSpc>
                        <a:spcBef>
                          <a:spcPct val="0"/>
                        </a:spcBef>
                        <a:spcAft>
                          <a:spcPct val="0"/>
                        </a:spcAft>
                        <a:buClrTx/>
                        <a:buSzPct val="90000"/>
                        <a:buFontTx/>
                        <a:buNone/>
                        <a:tabLst/>
                      </a:pPr>
                      <a:r>
                        <a:rPr kumimoji="0" lang="en-US" sz="1800" u="none" strike="noStrike" cap="none" normalizeH="0" baseline="0" dirty="0">
                          <a:ln>
                            <a:noFill/>
                          </a:ln>
                          <a:effectLst/>
                        </a:rPr>
                        <a:t>Nominal data (only counting allowed, For example, finding the mode).</a:t>
                      </a:r>
                      <a:endParaRPr kumimoji="0" lang="en-US" sz="1800" b="0" i="0" u="none" strike="noStrike" cap="none" normalizeH="0" baseline="0" dirty="0">
                        <a:ln>
                          <a:noFill/>
                        </a:ln>
                        <a:solidFill>
                          <a:schemeClr val="tx1"/>
                        </a:solidFill>
                        <a:effectLst/>
                        <a:latin typeface="+mn-lt"/>
                      </a:endParaRPr>
                    </a:p>
                  </a:txBody>
                  <a:tcPr marL="103236" marR="103236" marT="51618" marB="51618" horzOverflow="overflow"/>
                </a:tc>
                <a:extLst>
                  <a:ext uri="{0D108BD9-81ED-4DB2-BD59-A6C34878D82A}">
                    <a16:rowId xmlns:a16="http://schemas.microsoft.com/office/drawing/2014/main" val="56149490"/>
                  </a:ext>
                </a:extLst>
              </a:tr>
            </a:tbl>
          </a:graphicData>
        </a:graphic>
      </p:graphicFrame>
      <p:sp>
        <p:nvSpPr>
          <p:cNvPr id="6" name="Slide Number Placeholder 5">
            <a:extLst>
              <a:ext uri="{FF2B5EF4-FFF2-40B4-BE49-F238E27FC236}">
                <a16:creationId xmlns:a16="http://schemas.microsoft.com/office/drawing/2014/main" id="{67326E3F-FB89-A6CD-B325-2C20B157C418}"/>
              </a:ext>
            </a:extLst>
          </p:cNvPr>
          <p:cNvSpPr>
            <a:spLocks noGrp="1"/>
          </p:cNvSpPr>
          <p:nvPr>
            <p:ph type="sldNum" sz="quarter" idx="10"/>
          </p:nvPr>
        </p:nvSpPr>
        <p:spPr/>
        <p:txBody>
          <a:bodyPr/>
          <a:lstStyle/>
          <a:p>
            <a:fld id="{68151E55-6873-49E2-B8D5-2F265E6F1973}" type="slidenum">
              <a:rPr lang="en-US" smtClean="0"/>
              <a:pPr/>
              <a:t>20</a:t>
            </a:fld>
            <a:endParaRPr lang="en-US" dirty="0"/>
          </a:p>
        </p:txBody>
      </p:sp>
    </p:spTree>
    <p:extLst>
      <p:ext uri="{BB962C8B-B14F-4D97-AF65-F5344CB8AC3E}">
        <p14:creationId xmlns:p14="http://schemas.microsoft.com/office/powerpoint/2010/main" val="180712697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192490"/>
            <a:ext cx="7747215" cy="903231"/>
          </a:xfrm>
        </p:spPr>
        <p:txBody>
          <a:bodyPr/>
          <a:lstStyle/>
          <a:p>
            <a:r>
              <a:rPr lang="en-IN" sz="3600" dirty="0"/>
              <a:t>Sampling Concepts </a:t>
            </a:r>
            <a:r>
              <a:rPr lang="en-IN" sz="1000" b="0" dirty="0"/>
              <a:t>1</a:t>
            </a:r>
          </a:p>
        </p:txBody>
      </p:sp>
      <p:sp>
        <p:nvSpPr>
          <p:cNvPr id="8" name="Content Placeholder 2">
            <a:extLst>
              <a:ext uri="{FF2B5EF4-FFF2-40B4-BE49-F238E27FC236}">
                <a16:creationId xmlns:a16="http://schemas.microsoft.com/office/drawing/2014/main" id="{80DA2E0D-BE02-B956-6A23-7E89BDDFF9F2}"/>
              </a:ext>
            </a:extLst>
          </p:cNvPr>
          <p:cNvSpPr>
            <a:spLocks noGrp="1"/>
          </p:cNvSpPr>
          <p:nvPr>
            <p:ph sz="quarter" idx="11"/>
          </p:nvPr>
        </p:nvSpPr>
        <p:spPr>
          <a:xfrm>
            <a:off x="8598957" y="54864"/>
            <a:ext cx="476295" cy="1295711"/>
          </a:xfrm>
        </p:spPr>
        <p:txBody>
          <a:bodyPr vert="vert" tIns="45720" rIns="0"/>
          <a:lstStyle/>
          <a:p>
            <a:pPr marL="1025525" indent="-1025525"/>
            <a:r>
              <a:rPr lang="en-US" b="1" dirty="0"/>
              <a:t>L</a:t>
            </a:r>
            <a:r>
              <a:rPr lang="en-US" sz="100" b="1" dirty="0"/>
              <a:t> </a:t>
            </a:r>
            <a:r>
              <a:rPr lang="en-US" b="1" dirty="0"/>
              <a:t>O 2.6</a:t>
            </a:r>
            <a:endParaRPr lang="en-IN" b="1" dirty="0"/>
          </a:p>
        </p:txBody>
      </p:sp>
      <p:sp>
        <p:nvSpPr>
          <p:cNvPr id="4" name="Content Placeholder 3"/>
          <p:cNvSpPr>
            <a:spLocks noGrp="1"/>
          </p:cNvSpPr>
          <p:nvPr>
            <p:ph sz="quarter" idx="14"/>
          </p:nvPr>
        </p:nvSpPr>
        <p:spPr>
          <a:xfrm>
            <a:off x="342900" y="1278016"/>
            <a:ext cx="7930945" cy="2605828"/>
          </a:xfrm>
        </p:spPr>
        <p:txBody>
          <a:bodyPr/>
          <a:lstStyle/>
          <a:p>
            <a:r>
              <a:rPr lang="en-US" b="1" dirty="0"/>
              <a:t>Population or Sample?</a:t>
            </a:r>
          </a:p>
          <a:p>
            <a:r>
              <a:rPr lang="en-IN" b="1" dirty="0"/>
              <a:t>Population:</a:t>
            </a:r>
          </a:p>
          <a:p>
            <a:r>
              <a:rPr lang="en-IN" dirty="0"/>
              <a:t>All of the items that we are interested in. May be either finite (For example, all of the passengers on a particular plane) or effectively infinite (For example, all of the Cokes produced in an ongoing bottling process).</a:t>
            </a:r>
          </a:p>
        </p:txBody>
      </p:sp>
      <p:sp>
        <p:nvSpPr>
          <p:cNvPr id="5" name="Content Placeholder 4"/>
          <p:cNvSpPr>
            <a:spLocks noGrp="1"/>
          </p:cNvSpPr>
          <p:nvPr>
            <p:ph sz="quarter" idx="15"/>
          </p:nvPr>
        </p:nvSpPr>
        <p:spPr>
          <a:xfrm>
            <a:off x="342900" y="4066139"/>
            <a:ext cx="8089900" cy="1093637"/>
          </a:xfrm>
        </p:spPr>
        <p:txBody>
          <a:bodyPr/>
          <a:lstStyle/>
          <a:p>
            <a:r>
              <a:rPr lang="en-IN" b="1" dirty="0"/>
              <a:t>Sample:</a:t>
            </a:r>
          </a:p>
          <a:p>
            <a:r>
              <a:rPr lang="en-IN" dirty="0"/>
              <a:t>A subset of the population that we will actually </a:t>
            </a:r>
            <a:r>
              <a:rPr lang="en-IN" dirty="0" err="1"/>
              <a:t>analyze</a:t>
            </a:r>
            <a:r>
              <a:rPr lang="en-IN" dirty="0"/>
              <a:t>.</a:t>
            </a:r>
          </a:p>
        </p:txBody>
      </p:sp>
      <p:sp>
        <p:nvSpPr>
          <p:cNvPr id="10" name="Slide Number Placeholder 9"/>
          <p:cNvSpPr>
            <a:spLocks noGrp="1"/>
          </p:cNvSpPr>
          <p:nvPr>
            <p:ph type="sldNum" sz="quarter" idx="10"/>
          </p:nvPr>
        </p:nvSpPr>
        <p:spPr/>
        <p:txBody>
          <a:bodyPr/>
          <a:lstStyle/>
          <a:p>
            <a:fld id="{68151E55-6873-49E2-B8D5-2F265E6F1973}" type="slidenum">
              <a:rPr lang="en-US" smtClean="0"/>
              <a:t>21</a:t>
            </a:fld>
            <a:endParaRPr lang="en-US" dirty="0"/>
          </a:p>
        </p:txBody>
      </p:sp>
    </p:spTree>
    <p:extLst>
      <p:ext uri="{BB962C8B-B14F-4D97-AF65-F5344CB8AC3E}">
        <p14:creationId xmlns:p14="http://schemas.microsoft.com/office/powerpoint/2010/main" val="35787136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C71A13-2AA0-EEDA-B43D-0A713ECB4B69}"/>
              </a:ext>
            </a:extLst>
          </p:cNvPr>
          <p:cNvSpPr>
            <a:spLocks noGrp="1"/>
          </p:cNvSpPr>
          <p:nvPr>
            <p:ph type="title"/>
          </p:nvPr>
        </p:nvSpPr>
        <p:spPr>
          <a:xfrm>
            <a:off x="342900" y="192490"/>
            <a:ext cx="7437249" cy="903231"/>
          </a:xfrm>
        </p:spPr>
        <p:txBody>
          <a:bodyPr/>
          <a:lstStyle/>
          <a:p>
            <a:r>
              <a:rPr lang="en-IN" sz="3600" dirty="0"/>
              <a:t>Sampling Concepts </a:t>
            </a:r>
            <a:r>
              <a:rPr lang="en-IN" sz="1000" b="0" dirty="0"/>
              <a:t>2</a:t>
            </a:r>
            <a:endParaRPr lang="en-IN" dirty="0"/>
          </a:p>
        </p:txBody>
      </p:sp>
      <p:sp>
        <p:nvSpPr>
          <p:cNvPr id="12" name="Content Placeholder 2">
            <a:extLst>
              <a:ext uri="{FF2B5EF4-FFF2-40B4-BE49-F238E27FC236}">
                <a16:creationId xmlns:a16="http://schemas.microsoft.com/office/drawing/2014/main" id="{62F88453-B24C-F683-B83C-D2D82CC0C4AB}"/>
              </a:ext>
            </a:extLst>
          </p:cNvPr>
          <p:cNvSpPr>
            <a:spLocks noGrp="1"/>
          </p:cNvSpPr>
          <p:nvPr>
            <p:ph sz="quarter" idx="11"/>
          </p:nvPr>
        </p:nvSpPr>
        <p:spPr>
          <a:xfrm>
            <a:off x="8598957" y="54864"/>
            <a:ext cx="476295" cy="1295711"/>
          </a:xfrm>
        </p:spPr>
        <p:txBody>
          <a:bodyPr vert="vert" tIns="45720" rIns="0"/>
          <a:lstStyle/>
          <a:p>
            <a:pPr marL="1025525" indent="-1025525"/>
            <a:r>
              <a:rPr lang="en-US" b="1" dirty="0"/>
              <a:t>L</a:t>
            </a:r>
            <a:r>
              <a:rPr lang="en-US" sz="100" b="1" dirty="0"/>
              <a:t> </a:t>
            </a:r>
            <a:r>
              <a:rPr lang="en-US" b="1" dirty="0"/>
              <a:t>O 2.6</a:t>
            </a:r>
            <a:endParaRPr lang="en-IN" b="1" dirty="0"/>
          </a:p>
        </p:txBody>
      </p:sp>
      <p:sp>
        <p:nvSpPr>
          <p:cNvPr id="7" name="Content Placeholder 6"/>
          <p:cNvSpPr>
            <a:spLocks noGrp="1"/>
          </p:cNvSpPr>
          <p:nvPr>
            <p:ph sz="quarter" idx="14"/>
          </p:nvPr>
        </p:nvSpPr>
        <p:spPr>
          <a:xfrm>
            <a:off x="342900" y="1219199"/>
            <a:ext cx="8191500" cy="4311446"/>
          </a:xfrm>
        </p:spPr>
        <p:txBody>
          <a:bodyPr/>
          <a:lstStyle/>
          <a:p>
            <a:r>
              <a:rPr lang="en-IN" b="1" dirty="0"/>
              <a:t>Sample or Census?</a:t>
            </a:r>
          </a:p>
          <a:p>
            <a:r>
              <a:rPr lang="en-IN" dirty="0"/>
              <a:t>A </a:t>
            </a:r>
            <a:r>
              <a:rPr lang="en-IN" b="1" dirty="0"/>
              <a:t>sample</a:t>
            </a:r>
            <a:r>
              <a:rPr lang="en-IN" dirty="0"/>
              <a:t> involves looking only at some items selected from the population.</a:t>
            </a:r>
          </a:p>
          <a:p>
            <a:r>
              <a:rPr lang="en-IN" dirty="0"/>
              <a:t>A </a:t>
            </a:r>
            <a:r>
              <a:rPr lang="en-IN" b="1" dirty="0"/>
              <a:t>census </a:t>
            </a:r>
            <a:r>
              <a:rPr lang="en-IN" dirty="0"/>
              <a:t>is an examination of all items in a defined population.</a:t>
            </a:r>
          </a:p>
          <a:p>
            <a:r>
              <a:rPr lang="en-IN" dirty="0"/>
              <a:t>Why can’t the United States Census survey every person in the population?</a:t>
            </a:r>
          </a:p>
          <a:p>
            <a:pPr marL="292608" indent="-292608">
              <a:buFont typeface="Arial" panose="020B0604020202020204" pitchFamily="34" charset="0"/>
              <a:buChar char="•"/>
            </a:pPr>
            <a:r>
              <a:rPr lang="en-IN" dirty="0"/>
              <a:t>mobility, undocumented workers, budget constraints, incomplete responses, etc.</a:t>
            </a:r>
          </a:p>
        </p:txBody>
      </p:sp>
      <p:sp>
        <p:nvSpPr>
          <p:cNvPr id="6" name="Slide Number Placeholder 5">
            <a:extLst>
              <a:ext uri="{FF2B5EF4-FFF2-40B4-BE49-F238E27FC236}">
                <a16:creationId xmlns:a16="http://schemas.microsoft.com/office/drawing/2014/main" id="{67326E3F-FB89-A6CD-B325-2C20B157C418}"/>
              </a:ext>
            </a:extLst>
          </p:cNvPr>
          <p:cNvSpPr>
            <a:spLocks noGrp="1"/>
          </p:cNvSpPr>
          <p:nvPr>
            <p:ph type="sldNum" sz="quarter" idx="10"/>
          </p:nvPr>
        </p:nvSpPr>
        <p:spPr/>
        <p:txBody>
          <a:bodyPr/>
          <a:lstStyle/>
          <a:p>
            <a:fld id="{68151E55-6873-49E2-B8D5-2F265E6F1973}" type="slidenum">
              <a:rPr lang="en-US" smtClean="0"/>
              <a:pPr/>
              <a:t>22</a:t>
            </a:fld>
            <a:endParaRPr lang="en-US" dirty="0"/>
          </a:p>
        </p:txBody>
      </p:sp>
    </p:spTree>
    <p:extLst>
      <p:ext uri="{BB962C8B-B14F-4D97-AF65-F5344CB8AC3E}">
        <p14:creationId xmlns:p14="http://schemas.microsoft.com/office/powerpoint/2010/main" val="404019252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C71A13-2AA0-EEDA-B43D-0A713ECB4B69}"/>
              </a:ext>
            </a:extLst>
          </p:cNvPr>
          <p:cNvSpPr>
            <a:spLocks noGrp="1"/>
          </p:cNvSpPr>
          <p:nvPr>
            <p:ph type="title"/>
          </p:nvPr>
        </p:nvSpPr>
        <p:spPr>
          <a:xfrm>
            <a:off x="342901" y="192490"/>
            <a:ext cx="7753963" cy="903231"/>
          </a:xfrm>
        </p:spPr>
        <p:txBody>
          <a:bodyPr/>
          <a:lstStyle/>
          <a:p>
            <a:r>
              <a:rPr lang="en-IN" sz="3600" dirty="0"/>
              <a:t>Sampling Concepts </a:t>
            </a:r>
            <a:r>
              <a:rPr lang="en-IN" sz="1000" b="0" dirty="0"/>
              <a:t>3</a:t>
            </a:r>
            <a:endParaRPr lang="en-IN" dirty="0"/>
          </a:p>
        </p:txBody>
      </p:sp>
      <p:sp>
        <p:nvSpPr>
          <p:cNvPr id="9" name="Content Placeholder 2">
            <a:extLst>
              <a:ext uri="{FF2B5EF4-FFF2-40B4-BE49-F238E27FC236}">
                <a16:creationId xmlns:a16="http://schemas.microsoft.com/office/drawing/2014/main" id="{5C0DAF25-71C4-9B64-34AE-9740FF758E20}"/>
              </a:ext>
            </a:extLst>
          </p:cNvPr>
          <p:cNvSpPr>
            <a:spLocks noGrp="1"/>
          </p:cNvSpPr>
          <p:nvPr>
            <p:ph sz="quarter" idx="11"/>
          </p:nvPr>
        </p:nvSpPr>
        <p:spPr>
          <a:xfrm>
            <a:off x="8598957" y="54864"/>
            <a:ext cx="476295" cy="1295711"/>
          </a:xfrm>
        </p:spPr>
        <p:txBody>
          <a:bodyPr vert="vert" tIns="45720" rIns="0"/>
          <a:lstStyle/>
          <a:p>
            <a:pPr marL="1025525" indent="-1025525"/>
            <a:r>
              <a:rPr lang="en-US" b="1" dirty="0"/>
              <a:t>L</a:t>
            </a:r>
            <a:r>
              <a:rPr lang="en-US" sz="100" b="1" dirty="0"/>
              <a:t> </a:t>
            </a:r>
            <a:r>
              <a:rPr lang="en-US" b="1" dirty="0"/>
              <a:t>O 2.6</a:t>
            </a:r>
            <a:endParaRPr lang="en-IN" b="1" dirty="0"/>
          </a:p>
        </p:txBody>
      </p:sp>
      <p:sp>
        <p:nvSpPr>
          <p:cNvPr id="7" name="Content Placeholder 6"/>
          <p:cNvSpPr>
            <a:spLocks noGrp="1"/>
          </p:cNvSpPr>
          <p:nvPr>
            <p:ph sz="quarter" idx="14"/>
          </p:nvPr>
        </p:nvSpPr>
        <p:spPr>
          <a:xfrm>
            <a:off x="342900" y="1219199"/>
            <a:ext cx="4629150" cy="388375"/>
          </a:xfrm>
        </p:spPr>
        <p:txBody>
          <a:bodyPr/>
          <a:lstStyle/>
          <a:p>
            <a:r>
              <a:rPr lang="en-US" sz="2200" b="1" dirty="0"/>
              <a:t>Table 2.4: Sample or Census?</a:t>
            </a:r>
          </a:p>
        </p:txBody>
      </p:sp>
      <p:graphicFrame>
        <p:nvGraphicFramePr>
          <p:cNvPr id="4" name="Table 4">
            <a:extLst>
              <a:ext uri="{FF2B5EF4-FFF2-40B4-BE49-F238E27FC236}">
                <a16:creationId xmlns:a16="http://schemas.microsoft.com/office/drawing/2014/main" id="{5C591BF7-6F88-4039-BBC1-E21119DC3142}"/>
              </a:ext>
            </a:extLst>
          </p:cNvPr>
          <p:cNvGraphicFramePr>
            <a:graphicFrameLocks noGrp="1"/>
          </p:cNvGraphicFramePr>
          <p:nvPr>
            <p:extLst>
              <p:ext uri="{D42A27DB-BD31-4B8C-83A1-F6EECF244321}">
                <p14:modId xmlns:p14="http://schemas.microsoft.com/office/powerpoint/2010/main" val="1457813536"/>
              </p:ext>
            </p:extLst>
          </p:nvPr>
        </p:nvGraphicFramePr>
        <p:xfrm>
          <a:off x="567961" y="1847865"/>
          <a:ext cx="7528903" cy="4630958"/>
        </p:xfrm>
        <a:graphic>
          <a:graphicData uri="http://schemas.openxmlformats.org/drawingml/2006/table">
            <a:tbl>
              <a:tblPr firstRow="1" bandRow="1">
                <a:tableStyleId>{5C22544A-7EE6-4342-B048-85BDC9FD1C3A}</a:tableStyleId>
              </a:tblPr>
              <a:tblGrid>
                <a:gridCol w="4005388">
                  <a:extLst>
                    <a:ext uri="{9D8B030D-6E8A-4147-A177-3AD203B41FA5}">
                      <a16:colId xmlns:a16="http://schemas.microsoft.com/office/drawing/2014/main" val="3243568700"/>
                    </a:ext>
                  </a:extLst>
                </a:gridCol>
                <a:gridCol w="3523515">
                  <a:extLst>
                    <a:ext uri="{9D8B030D-6E8A-4147-A177-3AD203B41FA5}">
                      <a16:colId xmlns:a16="http://schemas.microsoft.com/office/drawing/2014/main" val="979080526"/>
                    </a:ext>
                  </a:extLst>
                </a:gridCol>
              </a:tblGrid>
              <a:tr h="241875">
                <a:tc>
                  <a:txBody>
                    <a:bodyPr/>
                    <a:lstStyle/>
                    <a:p>
                      <a:pPr algn="l" fontAlgn="t"/>
                      <a:r>
                        <a:rPr lang="en-IN" sz="1200" b="1" i="0" u="none" strike="noStrike" dirty="0">
                          <a:effectLst/>
                          <a:latin typeface="+mn-lt"/>
                        </a:rPr>
                        <a:t>When a Sample May Be Preferred</a:t>
                      </a:r>
                    </a:p>
                  </a:txBody>
                  <a:tcPr marL="86141" marR="86141" marT="30403" marB="30403">
                    <a:solidFill>
                      <a:srgbClr val="C00000"/>
                    </a:solidFill>
                  </a:tcPr>
                </a:tc>
                <a:tc>
                  <a:txBody>
                    <a:bodyPr/>
                    <a:lstStyle/>
                    <a:p>
                      <a:pPr algn="l" fontAlgn="t"/>
                      <a:r>
                        <a:rPr lang="en-IN" sz="1200" b="1" i="0" u="none" strike="noStrike" dirty="0">
                          <a:effectLst/>
                          <a:latin typeface="+mn-lt"/>
                        </a:rPr>
                        <a:t>When a Census May Be Preferred</a:t>
                      </a:r>
                    </a:p>
                  </a:txBody>
                  <a:tcPr marL="86141" marR="86141" marT="30403" marB="30403">
                    <a:solidFill>
                      <a:srgbClr val="C00000"/>
                    </a:solidFill>
                  </a:tcPr>
                </a:tc>
                <a:extLst>
                  <a:ext uri="{0D108BD9-81ED-4DB2-BD59-A6C34878D82A}">
                    <a16:rowId xmlns:a16="http://schemas.microsoft.com/office/drawing/2014/main" val="1298159574"/>
                  </a:ext>
                </a:extLst>
              </a:tr>
              <a:tr h="241875">
                <a:tc>
                  <a:txBody>
                    <a:bodyPr/>
                    <a:lstStyle/>
                    <a:p>
                      <a:pPr algn="ctr" fontAlgn="t"/>
                      <a:r>
                        <a:rPr lang="en-US" sz="1200" b="1" i="0" u="none" strike="noStrike" dirty="0">
                          <a:effectLst/>
                          <a:latin typeface="+mn-lt"/>
                        </a:rPr>
                        <a:t>Infinite Population</a:t>
                      </a:r>
                    </a:p>
                  </a:txBody>
                  <a:tcPr marL="86141" marR="86141" marT="30403" marB="30403"/>
                </a:tc>
                <a:tc>
                  <a:txBody>
                    <a:bodyPr/>
                    <a:lstStyle/>
                    <a:p>
                      <a:pPr algn="ctr" fontAlgn="t"/>
                      <a:r>
                        <a:rPr lang="en-US" sz="1200" b="1" i="0" u="none" strike="noStrike" dirty="0">
                          <a:effectLst/>
                          <a:latin typeface="+mn-lt"/>
                        </a:rPr>
                        <a:t>Small Population</a:t>
                      </a:r>
                    </a:p>
                  </a:txBody>
                  <a:tcPr marL="86141" marR="86141" marT="30403" marB="30403"/>
                </a:tc>
                <a:extLst>
                  <a:ext uri="{0D108BD9-81ED-4DB2-BD59-A6C34878D82A}">
                    <a16:rowId xmlns:a16="http://schemas.microsoft.com/office/drawing/2014/main" val="3176986994"/>
                  </a:ext>
                </a:extLst>
              </a:tr>
              <a:tr h="422945">
                <a:tc>
                  <a:txBody>
                    <a:bodyPr/>
                    <a:lstStyle/>
                    <a:p>
                      <a:pPr algn="l" fontAlgn="t"/>
                      <a:r>
                        <a:rPr lang="en-IN" sz="1200" b="0" i="0" u="none" strike="noStrike" dirty="0">
                          <a:effectLst/>
                          <a:latin typeface="+mn-lt"/>
                        </a:rPr>
                        <a:t>Population is of indefinite size (an assembly line can keep producing cars).</a:t>
                      </a:r>
                    </a:p>
                  </a:txBody>
                  <a:tcPr marL="86141" marR="86141" marT="30403" marB="30403"/>
                </a:tc>
                <a:tc>
                  <a:txBody>
                    <a:bodyPr/>
                    <a:lstStyle/>
                    <a:p>
                      <a:pPr algn="l" fontAlgn="t"/>
                      <a:r>
                        <a:rPr lang="en-IN" sz="1200" b="0" i="0" u="none" strike="noStrike">
                          <a:effectLst/>
                          <a:latin typeface="+mn-lt"/>
                        </a:rPr>
                        <a:t>Population is small or the effort of data collection is small.</a:t>
                      </a:r>
                    </a:p>
                  </a:txBody>
                  <a:tcPr marL="86141" marR="86141" marT="30403" marB="30403"/>
                </a:tc>
                <a:extLst>
                  <a:ext uri="{0D108BD9-81ED-4DB2-BD59-A6C34878D82A}">
                    <a16:rowId xmlns:a16="http://schemas.microsoft.com/office/drawing/2014/main" val="986880910"/>
                  </a:ext>
                </a:extLst>
              </a:tr>
              <a:tr h="241875">
                <a:tc>
                  <a:txBody>
                    <a:bodyPr/>
                    <a:lstStyle/>
                    <a:p>
                      <a:pPr algn="ctr" fontAlgn="t"/>
                      <a:r>
                        <a:rPr lang="en-US" sz="1200" b="1" i="0" u="none" strike="noStrike" dirty="0">
                          <a:effectLst/>
                          <a:latin typeface="+mn-lt"/>
                        </a:rPr>
                        <a:t>Destructive Testing</a:t>
                      </a:r>
                    </a:p>
                  </a:txBody>
                  <a:tcPr marL="86141" marR="86141" marT="30403" marB="30403"/>
                </a:tc>
                <a:tc>
                  <a:txBody>
                    <a:bodyPr/>
                    <a:lstStyle/>
                    <a:p>
                      <a:pPr algn="ctr" fontAlgn="t"/>
                      <a:r>
                        <a:rPr lang="en-US" sz="1200" b="1" i="0" u="none" strike="noStrike" dirty="0">
                          <a:effectLst/>
                          <a:latin typeface="+mn-lt"/>
                        </a:rPr>
                        <a:t>Large Sample Size</a:t>
                      </a:r>
                    </a:p>
                  </a:txBody>
                  <a:tcPr marL="86141" marR="86141" marT="30403" marB="30403"/>
                </a:tc>
                <a:extLst>
                  <a:ext uri="{0D108BD9-81ED-4DB2-BD59-A6C34878D82A}">
                    <a16:rowId xmlns:a16="http://schemas.microsoft.com/office/drawing/2014/main" val="460160741"/>
                  </a:ext>
                </a:extLst>
              </a:tr>
              <a:tr h="604014">
                <a:tc>
                  <a:txBody>
                    <a:bodyPr/>
                    <a:lstStyle/>
                    <a:p>
                      <a:pPr algn="l" fontAlgn="t"/>
                      <a:r>
                        <a:rPr lang="en-IN" sz="1200" b="0" i="0" u="none" strike="noStrike" dirty="0">
                          <a:effectLst/>
                          <a:latin typeface="+mn-lt"/>
                        </a:rPr>
                        <a:t>The act of measurement may destroy or devalue the item (battery life, vehicle crash tests).</a:t>
                      </a:r>
                    </a:p>
                  </a:txBody>
                  <a:tcPr marL="86141" marR="86141" marT="30403" marB="30403"/>
                </a:tc>
                <a:tc>
                  <a:txBody>
                    <a:bodyPr/>
                    <a:lstStyle/>
                    <a:p>
                      <a:pPr algn="l" fontAlgn="t"/>
                      <a:r>
                        <a:rPr lang="en-IN" sz="1200" b="0" i="0" u="none" strike="noStrike">
                          <a:effectLst/>
                          <a:latin typeface="+mn-lt"/>
                        </a:rPr>
                        <a:t>If the required sample size approaches the population size, we might as well go ahead and take a census.</a:t>
                      </a:r>
                    </a:p>
                  </a:txBody>
                  <a:tcPr marL="86141" marR="86141" marT="30403" marB="30403"/>
                </a:tc>
                <a:extLst>
                  <a:ext uri="{0D108BD9-81ED-4DB2-BD59-A6C34878D82A}">
                    <a16:rowId xmlns:a16="http://schemas.microsoft.com/office/drawing/2014/main" val="2399080629"/>
                  </a:ext>
                </a:extLst>
              </a:tr>
              <a:tr h="241875">
                <a:tc>
                  <a:txBody>
                    <a:bodyPr/>
                    <a:lstStyle/>
                    <a:p>
                      <a:pPr algn="ctr" fontAlgn="t"/>
                      <a:r>
                        <a:rPr lang="en-US" sz="1200" b="1" i="0" u="none" strike="noStrike" dirty="0">
                          <a:effectLst/>
                          <a:latin typeface="+mn-lt"/>
                        </a:rPr>
                        <a:t>Timely Results</a:t>
                      </a:r>
                    </a:p>
                  </a:txBody>
                  <a:tcPr marL="86141" marR="86141" marT="30403" marB="30403"/>
                </a:tc>
                <a:tc>
                  <a:txBody>
                    <a:bodyPr/>
                    <a:lstStyle/>
                    <a:p>
                      <a:pPr algn="ctr" fontAlgn="t"/>
                      <a:r>
                        <a:rPr lang="en-US" sz="1200" b="1" i="0" u="none" strike="noStrike" dirty="0">
                          <a:effectLst/>
                          <a:latin typeface="+mn-lt"/>
                        </a:rPr>
                        <a:t>Database Exists</a:t>
                      </a:r>
                    </a:p>
                  </a:txBody>
                  <a:tcPr marL="86141" marR="86141" marT="30403" marB="30403"/>
                </a:tc>
                <a:extLst>
                  <a:ext uri="{0D108BD9-81ED-4DB2-BD59-A6C34878D82A}">
                    <a16:rowId xmlns:a16="http://schemas.microsoft.com/office/drawing/2014/main" val="3844308698"/>
                  </a:ext>
                </a:extLst>
              </a:tr>
              <a:tr h="422945">
                <a:tc>
                  <a:txBody>
                    <a:bodyPr/>
                    <a:lstStyle/>
                    <a:p>
                      <a:pPr algn="l" fontAlgn="t"/>
                      <a:r>
                        <a:rPr lang="en-IN" sz="1200" b="0" i="0" u="none" strike="noStrike" dirty="0">
                          <a:effectLst/>
                          <a:latin typeface="+mn-lt"/>
                        </a:rPr>
                        <a:t>Sampling may yield more timely results (checking vegetables for salmonella contamination).</a:t>
                      </a:r>
                    </a:p>
                  </a:txBody>
                  <a:tcPr marL="86141" marR="86141" marT="30403" marB="30403"/>
                </a:tc>
                <a:tc>
                  <a:txBody>
                    <a:bodyPr/>
                    <a:lstStyle/>
                    <a:p>
                      <a:pPr algn="l" fontAlgn="t"/>
                      <a:r>
                        <a:rPr lang="en-IN" sz="1200" b="0" i="0" u="none" strike="noStrike">
                          <a:effectLst/>
                          <a:latin typeface="+mn-lt"/>
                        </a:rPr>
                        <a:t>If data are in a database, we can examine all the cases.</a:t>
                      </a:r>
                    </a:p>
                  </a:txBody>
                  <a:tcPr marL="86141" marR="86141" marT="30403" marB="30403"/>
                </a:tc>
                <a:extLst>
                  <a:ext uri="{0D108BD9-81ED-4DB2-BD59-A6C34878D82A}">
                    <a16:rowId xmlns:a16="http://schemas.microsoft.com/office/drawing/2014/main" val="2090787477"/>
                  </a:ext>
                </a:extLst>
              </a:tr>
              <a:tr h="241875">
                <a:tc>
                  <a:txBody>
                    <a:bodyPr/>
                    <a:lstStyle/>
                    <a:p>
                      <a:pPr algn="ctr" fontAlgn="t"/>
                      <a:r>
                        <a:rPr lang="en-US" sz="1200" b="1" i="0" u="none" strike="noStrike" dirty="0">
                          <a:effectLst/>
                          <a:latin typeface="+mn-lt"/>
                        </a:rPr>
                        <a:t>Accuracy</a:t>
                      </a:r>
                    </a:p>
                  </a:txBody>
                  <a:tcPr marL="86141" marR="86141" marT="30403" marB="30403"/>
                </a:tc>
                <a:tc>
                  <a:txBody>
                    <a:bodyPr/>
                    <a:lstStyle/>
                    <a:p>
                      <a:pPr algn="ctr" fontAlgn="t"/>
                      <a:r>
                        <a:rPr lang="en-US" sz="1200" b="1" i="0" u="none" strike="noStrike" dirty="0">
                          <a:effectLst/>
                          <a:latin typeface="+mn-lt"/>
                        </a:rPr>
                        <a:t>Legal Requirements</a:t>
                      </a:r>
                    </a:p>
                  </a:txBody>
                  <a:tcPr marL="86141" marR="86141" marT="30403" marB="30403"/>
                </a:tc>
                <a:extLst>
                  <a:ext uri="{0D108BD9-81ED-4DB2-BD59-A6C34878D82A}">
                    <a16:rowId xmlns:a16="http://schemas.microsoft.com/office/drawing/2014/main" val="3579991331"/>
                  </a:ext>
                </a:extLst>
              </a:tr>
              <a:tr h="604014">
                <a:tc>
                  <a:txBody>
                    <a:bodyPr/>
                    <a:lstStyle/>
                    <a:p>
                      <a:pPr algn="l" fontAlgn="t"/>
                      <a:r>
                        <a:rPr lang="en-IN" sz="1200" b="0" i="0" u="none" strike="noStrike" dirty="0">
                          <a:effectLst/>
                          <a:latin typeface="+mn-lt"/>
                        </a:rPr>
                        <a:t>Instead of spreading resources thinly to attempt a census, budget might be better spent to improve sampling.</a:t>
                      </a:r>
                    </a:p>
                  </a:txBody>
                  <a:tcPr marL="86141" marR="86141" marT="30403" marB="30403"/>
                </a:tc>
                <a:tc>
                  <a:txBody>
                    <a:bodyPr/>
                    <a:lstStyle/>
                    <a:p>
                      <a:pPr algn="l" fontAlgn="t"/>
                      <a:r>
                        <a:rPr lang="en-IN" sz="1200" b="0" i="0" u="none" strike="noStrike" dirty="0">
                          <a:effectLst/>
                          <a:latin typeface="+mn-lt"/>
                        </a:rPr>
                        <a:t>Banks must count </a:t>
                      </a:r>
                      <a:r>
                        <a:rPr lang="en-IN" sz="1200" b="0" i="1" u="none" strike="noStrike" dirty="0">
                          <a:effectLst/>
                          <a:latin typeface="+mn-lt"/>
                        </a:rPr>
                        <a:t>all</a:t>
                      </a:r>
                      <a:r>
                        <a:rPr lang="en-IN" sz="1200" b="0" i="0" u="none" strike="noStrike" dirty="0">
                          <a:effectLst/>
                          <a:latin typeface="+mn-lt"/>
                        </a:rPr>
                        <a:t> the cash in bank teller drawers at the end of each business day.</a:t>
                      </a:r>
                    </a:p>
                  </a:txBody>
                  <a:tcPr marL="86141" marR="86141" marT="30403" marB="30403"/>
                </a:tc>
                <a:extLst>
                  <a:ext uri="{0D108BD9-81ED-4DB2-BD59-A6C34878D82A}">
                    <a16:rowId xmlns:a16="http://schemas.microsoft.com/office/drawing/2014/main" val="1714956361"/>
                  </a:ext>
                </a:extLst>
              </a:tr>
              <a:tr h="241875">
                <a:tc>
                  <a:txBody>
                    <a:bodyPr/>
                    <a:lstStyle/>
                    <a:p>
                      <a:pPr algn="ctr" fontAlgn="t"/>
                      <a:r>
                        <a:rPr lang="en-US" sz="1200" b="1" i="0" u="none" strike="noStrike" dirty="0">
                          <a:effectLst/>
                          <a:latin typeface="+mn-lt"/>
                        </a:rPr>
                        <a:t>Cost</a:t>
                      </a:r>
                    </a:p>
                  </a:txBody>
                  <a:tcPr marL="86141" marR="86141" marT="30403" marB="30403"/>
                </a:tc>
                <a:tc>
                  <a:txBody>
                    <a:bodyPr/>
                    <a:lstStyle/>
                    <a:p>
                      <a:pPr algn="ctr" fontAlgn="t"/>
                      <a:endParaRPr lang="en-US" sz="1200" b="1" i="0" u="none" strike="noStrike" dirty="0">
                        <a:effectLst/>
                        <a:latin typeface="+mn-lt"/>
                      </a:endParaRPr>
                    </a:p>
                  </a:txBody>
                  <a:tcPr marL="86141" marR="86141" marT="30403" marB="30403"/>
                </a:tc>
                <a:extLst>
                  <a:ext uri="{0D108BD9-81ED-4DB2-BD59-A6C34878D82A}">
                    <a16:rowId xmlns:a16="http://schemas.microsoft.com/office/drawing/2014/main" val="2042123253"/>
                  </a:ext>
                </a:extLst>
              </a:tr>
              <a:tr h="422945">
                <a:tc>
                  <a:txBody>
                    <a:bodyPr/>
                    <a:lstStyle/>
                    <a:p>
                      <a:pPr algn="l" fontAlgn="t"/>
                      <a:r>
                        <a:rPr lang="en-IN" sz="1200" b="0" i="0" u="none" strike="noStrike" dirty="0">
                          <a:effectLst/>
                          <a:latin typeface="+mn-lt"/>
                        </a:rPr>
                        <a:t>Even if a census is feasible, the cost, in either time or money, may exceed our budget.</a:t>
                      </a:r>
                    </a:p>
                  </a:txBody>
                  <a:tcPr marL="86141" marR="86141" marT="30403" marB="30403"/>
                </a:tc>
                <a:tc>
                  <a:txBody>
                    <a:bodyPr/>
                    <a:lstStyle/>
                    <a:p>
                      <a:pPr algn="l" fontAlgn="t"/>
                      <a:endParaRPr lang="en-US" sz="1200" b="0" i="0" u="none" strike="noStrike">
                        <a:effectLst/>
                        <a:latin typeface="+mn-lt"/>
                      </a:endParaRPr>
                    </a:p>
                  </a:txBody>
                  <a:tcPr marL="86141" marR="86141" marT="30403" marB="30403"/>
                </a:tc>
                <a:extLst>
                  <a:ext uri="{0D108BD9-81ED-4DB2-BD59-A6C34878D82A}">
                    <a16:rowId xmlns:a16="http://schemas.microsoft.com/office/drawing/2014/main" val="3537993756"/>
                  </a:ext>
                </a:extLst>
              </a:tr>
              <a:tr h="241875">
                <a:tc>
                  <a:txBody>
                    <a:bodyPr/>
                    <a:lstStyle/>
                    <a:p>
                      <a:pPr algn="ctr" fontAlgn="t"/>
                      <a:r>
                        <a:rPr lang="en-US" sz="1200" b="1" i="0" u="none" strike="noStrike" dirty="0">
                          <a:effectLst/>
                          <a:latin typeface="+mn-lt"/>
                        </a:rPr>
                        <a:t>Sensitive Information</a:t>
                      </a:r>
                    </a:p>
                  </a:txBody>
                  <a:tcPr marL="86141" marR="86141" marT="30403" marB="30403"/>
                </a:tc>
                <a:tc>
                  <a:txBody>
                    <a:bodyPr/>
                    <a:lstStyle/>
                    <a:p>
                      <a:pPr algn="ctr" fontAlgn="t"/>
                      <a:endParaRPr lang="en-US" sz="1200" b="1" i="0" u="none" strike="noStrike" dirty="0">
                        <a:effectLst/>
                        <a:latin typeface="+mn-lt"/>
                      </a:endParaRPr>
                    </a:p>
                  </a:txBody>
                  <a:tcPr marL="86141" marR="86141" marT="30403" marB="30403"/>
                </a:tc>
                <a:extLst>
                  <a:ext uri="{0D108BD9-81ED-4DB2-BD59-A6C34878D82A}">
                    <a16:rowId xmlns:a16="http://schemas.microsoft.com/office/drawing/2014/main" val="3656438030"/>
                  </a:ext>
                </a:extLst>
              </a:tr>
              <a:tr h="422945">
                <a:tc>
                  <a:txBody>
                    <a:bodyPr/>
                    <a:lstStyle/>
                    <a:p>
                      <a:pPr algn="l" fontAlgn="t"/>
                      <a:r>
                        <a:rPr lang="en-IN" sz="1200" b="0" i="0" u="none" strike="noStrike" dirty="0">
                          <a:effectLst/>
                          <a:latin typeface="+mn-lt"/>
                        </a:rPr>
                        <a:t>Sexual harassment might best be studied by selected in-depth employee interviews.</a:t>
                      </a:r>
                    </a:p>
                  </a:txBody>
                  <a:tcPr marL="86141" marR="86141" marT="30403" marB="30403"/>
                </a:tc>
                <a:tc>
                  <a:txBody>
                    <a:bodyPr/>
                    <a:lstStyle/>
                    <a:p>
                      <a:pPr algn="l" fontAlgn="t"/>
                      <a:endParaRPr lang="en-US" sz="1200" b="0" i="0" u="none" strike="noStrike" dirty="0">
                        <a:effectLst/>
                        <a:latin typeface="+mn-lt"/>
                      </a:endParaRPr>
                    </a:p>
                  </a:txBody>
                  <a:tcPr marL="86141" marR="86141" marT="30403" marB="30403"/>
                </a:tc>
                <a:extLst>
                  <a:ext uri="{0D108BD9-81ED-4DB2-BD59-A6C34878D82A}">
                    <a16:rowId xmlns:a16="http://schemas.microsoft.com/office/drawing/2014/main" val="293843590"/>
                  </a:ext>
                </a:extLst>
              </a:tr>
            </a:tbl>
          </a:graphicData>
        </a:graphic>
      </p:graphicFrame>
      <p:sp>
        <p:nvSpPr>
          <p:cNvPr id="6" name="Slide Number Placeholder 5">
            <a:extLst>
              <a:ext uri="{FF2B5EF4-FFF2-40B4-BE49-F238E27FC236}">
                <a16:creationId xmlns:a16="http://schemas.microsoft.com/office/drawing/2014/main" id="{67326E3F-FB89-A6CD-B325-2C20B157C418}"/>
              </a:ext>
            </a:extLst>
          </p:cNvPr>
          <p:cNvSpPr>
            <a:spLocks noGrp="1"/>
          </p:cNvSpPr>
          <p:nvPr>
            <p:ph type="sldNum" sz="quarter" idx="10"/>
          </p:nvPr>
        </p:nvSpPr>
        <p:spPr/>
        <p:txBody>
          <a:bodyPr/>
          <a:lstStyle/>
          <a:p>
            <a:fld id="{68151E55-6873-49E2-B8D5-2F265E6F1973}" type="slidenum">
              <a:rPr lang="en-US" smtClean="0"/>
              <a:pPr/>
              <a:t>23</a:t>
            </a:fld>
            <a:endParaRPr lang="en-US" dirty="0"/>
          </a:p>
        </p:txBody>
      </p:sp>
    </p:spTree>
    <p:extLst>
      <p:ext uri="{BB962C8B-B14F-4D97-AF65-F5344CB8AC3E}">
        <p14:creationId xmlns:p14="http://schemas.microsoft.com/office/powerpoint/2010/main" val="312010011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2408DA-7088-49FD-A9F2-FA30ACCB8868}"/>
              </a:ext>
            </a:extLst>
          </p:cNvPr>
          <p:cNvSpPr>
            <a:spLocks noGrp="1"/>
          </p:cNvSpPr>
          <p:nvPr>
            <p:ph type="title"/>
          </p:nvPr>
        </p:nvSpPr>
        <p:spPr>
          <a:xfrm>
            <a:off x="342900" y="192490"/>
            <a:ext cx="7886700" cy="903231"/>
          </a:xfrm>
        </p:spPr>
        <p:txBody>
          <a:bodyPr/>
          <a:lstStyle/>
          <a:p>
            <a:r>
              <a:rPr lang="en-IN" sz="3600" dirty="0"/>
              <a:t>Sampling Concepts </a:t>
            </a:r>
            <a:r>
              <a:rPr lang="en-IN" sz="1000" b="0" dirty="0"/>
              <a:t>4</a:t>
            </a:r>
            <a:endParaRPr lang="en-US" dirty="0"/>
          </a:p>
        </p:txBody>
      </p:sp>
      <p:sp>
        <p:nvSpPr>
          <p:cNvPr id="12" name="Content Placeholder 2">
            <a:extLst>
              <a:ext uri="{FF2B5EF4-FFF2-40B4-BE49-F238E27FC236}">
                <a16:creationId xmlns:a16="http://schemas.microsoft.com/office/drawing/2014/main" id="{0675F67F-C0D9-197C-EDBE-FFB2DD1C21F1}"/>
              </a:ext>
            </a:extLst>
          </p:cNvPr>
          <p:cNvSpPr>
            <a:spLocks noGrp="1"/>
          </p:cNvSpPr>
          <p:nvPr>
            <p:ph sz="quarter" idx="11"/>
          </p:nvPr>
        </p:nvSpPr>
        <p:spPr>
          <a:xfrm>
            <a:off x="8598957" y="54864"/>
            <a:ext cx="476295" cy="1295711"/>
          </a:xfrm>
        </p:spPr>
        <p:txBody>
          <a:bodyPr vert="vert" tIns="45720" rIns="0"/>
          <a:lstStyle/>
          <a:p>
            <a:pPr marL="1025525" indent="-1025525"/>
            <a:r>
              <a:rPr lang="en-US" b="1" dirty="0"/>
              <a:t>L</a:t>
            </a:r>
            <a:r>
              <a:rPr lang="en-US" sz="100" b="1" dirty="0"/>
              <a:t> </a:t>
            </a:r>
            <a:r>
              <a:rPr lang="en-US" b="1" dirty="0"/>
              <a:t>O 2.6</a:t>
            </a:r>
            <a:endParaRPr lang="en-IN" b="1" dirty="0"/>
          </a:p>
        </p:txBody>
      </p:sp>
      <p:sp>
        <p:nvSpPr>
          <p:cNvPr id="4" name="Content Placeholder 3">
            <a:extLst>
              <a:ext uri="{FF2B5EF4-FFF2-40B4-BE49-F238E27FC236}">
                <a16:creationId xmlns:a16="http://schemas.microsoft.com/office/drawing/2014/main" id="{53AA3923-E6FA-4CE2-89E3-2D6CF078E7F7}"/>
              </a:ext>
            </a:extLst>
          </p:cNvPr>
          <p:cNvSpPr>
            <a:spLocks noGrp="1"/>
          </p:cNvSpPr>
          <p:nvPr>
            <p:ph sz="quarter" idx="14"/>
          </p:nvPr>
        </p:nvSpPr>
        <p:spPr>
          <a:xfrm>
            <a:off x="342901" y="1274080"/>
            <a:ext cx="7694970" cy="1833661"/>
          </a:xfrm>
        </p:spPr>
        <p:txBody>
          <a:bodyPr/>
          <a:lstStyle/>
          <a:p>
            <a:pPr>
              <a:spcBef>
                <a:spcPts val="500"/>
              </a:spcBef>
            </a:pPr>
            <a:r>
              <a:rPr lang="en-US" sz="1800" b="1" dirty="0"/>
              <a:t>Parameter or Statistic?</a:t>
            </a:r>
          </a:p>
          <a:p>
            <a:pPr>
              <a:spcBef>
                <a:spcPts val="500"/>
              </a:spcBef>
            </a:pPr>
            <a:r>
              <a:rPr lang="en-IN" sz="1800" b="1" dirty="0"/>
              <a:t>Parameter:</a:t>
            </a:r>
          </a:p>
          <a:p>
            <a:pPr>
              <a:spcBef>
                <a:spcPts val="500"/>
              </a:spcBef>
            </a:pPr>
            <a:r>
              <a:rPr lang="en-IN" sz="1800" dirty="0"/>
              <a:t>A measurement or characteristic of the population (For example, a mean or proportion). Usually unknown because we can rarely observe the entire population. Usually (but not always) represented by a Greek letter (For example, </a:t>
            </a:r>
            <a:r>
              <a:rPr lang="el-GR" sz="1800" i="1" dirty="0"/>
              <a:t>μ</a:t>
            </a:r>
            <a:r>
              <a:rPr lang="en-IN" sz="1800" dirty="0"/>
              <a:t> or </a:t>
            </a:r>
            <a:r>
              <a:rPr lang="el-GR" sz="1800" i="1" dirty="0"/>
              <a:t>π</a:t>
            </a:r>
            <a:r>
              <a:rPr lang="en-IN" sz="1800" dirty="0"/>
              <a:t>).</a:t>
            </a:r>
          </a:p>
        </p:txBody>
      </p:sp>
      <p:sp>
        <p:nvSpPr>
          <p:cNvPr id="5" name="Content Placeholder 4">
            <a:extLst>
              <a:ext uri="{FF2B5EF4-FFF2-40B4-BE49-F238E27FC236}">
                <a16:creationId xmlns:a16="http://schemas.microsoft.com/office/drawing/2014/main" id="{12D71DC9-9D4D-498C-92D5-611B71434CCC}"/>
              </a:ext>
            </a:extLst>
          </p:cNvPr>
          <p:cNvSpPr>
            <a:spLocks noGrp="1"/>
          </p:cNvSpPr>
          <p:nvPr>
            <p:ph sz="quarter" idx="15"/>
          </p:nvPr>
        </p:nvSpPr>
        <p:spPr>
          <a:xfrm>
            <a:off x="342900" y="3393013"/>
            <a:ext cx="7164029" cy="1001530"/>
          </a:xfrm>
        </p:spPr>
        <p:txBody>
          <a:bodyPr/>
          <a:lstStyle/>
          <a:p>
            <a:pPr>
              <a:spcBef>
                <a:spcPts val="500"/>
              </a:spcBef>
            </a:pPr>
            <a:r>
              <a:rPr lang="en-IN" sz="1800" b="1" dirty="0"/>
              <a:t>Statistic:</a:t>
            </a:r>
          </a:p>
          <a:p>
            <a:pPr>
              <a:spcBef>
                <a:spcPts val="500"/>
              </a:spcBef>
            </a:pPr>
            <a:r>
              <a:rPr lang="en-IN" sz="1800" dirty="0"/>
              <a:t>A numerical value calculated from a sample (For example, a mean or proportion). Usually (but not always) represented by a Roman letter</a:t>
            </a:r>
          </a:p>
        </p:txBody>
      </p:sp>
      <p:graphicFrame>
        <p:nvGraphicFramePr>
          <p:cNvPr id="15" name="Object 14">
            <a:extLst>
              <a:ext uri="{FF2B5EF4-FFF2-40B4-BE49-F238E27FC236}">
                <a16:creationId xmlns:a16="http://schemas.microsoft.com/office/drawing/2014/main" id="{796591D5-9155-4D68-AF74-57EAD6E7AC68}"/>
              </a:ext>
            </a:extLst>
          </p:cNvPr>
          <p:cNvGraphicFramePr>
            <a:graphicFrameLocks noChangeAspect="1"/>
          </p:cNvGraphicFramePr>
          <p:nvPr>
            <p:extLst>
              <p:ext uri="{D42A27DB-BD31-4B8C-83A1-F6EECF244321}">
                <p14:modId xmlns:p14="http://schemas.microsoft.com/office/powerpoint/2010/main" val="3209270338"/>
              </p:ext>
            </p:extLst>
          </p:nvPr>
        </p:nvGraphicFramePr>
        <p:xfrm>
          <a:off x="389232" y="4389438"/>
          <a:ext cx="2122487" cy="349250"/>
        </p:xfrm>
        <a:graphic>
          <a:graphicData uri="http://schemas.openxmlformats.org/presentationml/2006/ole">
            <mc:AlternateContent xmlns:mc="http://schemas.openxmlformats.org/markup-compatibility/2006">
              <mc:Choice xmlns:v="urn:schemas-microsoft-com:vml" Requires="v">
                <p:oleObj name="Equation" r:id="rId2" imgW="2311200" imgH="380880" progId="Equation.DSMT4">
                  <p:embed/>
                </p:oleObj>
              </mc:Choice>
              <mc:Fallback>
                <p:oleObj name="Equation" r:id="rId2" imgW="2311200" imgH="380880" progId="Equation.DSMT4">
                  <p:embed/>
                  <p:pic>
                    <p:nvPicPr>
                      <p:cNvPr id="9" name="Object 8">
                        <a:extLst>
                          <a:ext uri="{FF2B5EF4-FFF2-40B4-BE49-F238E27FC236}">
                            <a16:creationId xmlns:a16="http://schemas.microsoft.com/office/drawing/2014/main" id="{832DDC53-5585-4D83-A2B2-62EFF48863D1}"/>
                          </a:ext>
                        </a:extLst>
                      </p:cNvPr>
                      <p:cNvPicPr/>
                      <p:nvPr/>
                    </p:nvPicPr>
                    <p:blipFill>
                      <a:blip r:embed="rId3"/>
                      <a:stretch>
                        <a:fillRect/>
                      </a:stretch>
                    </p:blipFill>
                    <p:spPr>
                      <a:xfrm>
                        <a:off x="389232" y="4389438"/>
                        <a:ext cx="2122487" cy="349250"/>
                      </a:xfrm>
                      <a:prstGeom prst="rect">
                        <a:avLst/>
                      </a:prstGeom>
                    </p:spPr>
                  </p:pic>
                </p:oleObj>
              </mc:Fallback>
            </mc:AlternateContent>
          </a:graphicData>
        </a:graphic>
      </p:graphicFrame>
      <p:sp>
        <p:nvSpPr>
          <p:cNvPr id="6" name="Content Placeholder 5">
            <a:extLst>
              <a:ext uri="{FF2B5EF4-FFF2-40B4-BE49-F238E27FC236}">
                <a16:creationId xmlns:a16="http://schemas.microsoft.com/office/drawing/2014/main" id="{2EE7D978-3AB6-4DE0-8D86-E47FD62306F3}"/>
              </a:ext>
            </a:extLst>
          </p:cNvPr>
          <p:cNvSpPr>
            <a:spLocks noGrp="1"/>
          </p:cNvSpPr>
          <p:nvPr>
            <p:ph sz="quarter" idx="16"/>
          </p:nvPr>
        </p:nvSpPr>
        <p:spPr>
          <a:xfrm>
            <a:off x="342899" y="5078200"/>
            <a:ext cx="4351170" cy="705379"/>
          </a:xfrm>
        </p:spPr>
        <p:txBody>
          <a:bodyPr/>
          <a:lstStyle/>
          <a:p>
            <a:r>
              <a:rPr lang="en-US" sz="1800" b="1" dirty="0"/>
              <a:t>Figure 2.4: Population versus Sample.</a:t>
            </a:r>
          </a:p>
        </p:txBody>
      </p:sp>
      <p:pic>
        <p:nvPicPr>
          <p:cNvPr id="11" name="Picture 10" descr="Image showing that the sample is drawn from a population and used to make inferences about the population.&#10;">
            <a:extLst>
              <a:ext uri="{FF2B5EF4-FFF2-40B4-BE49-F238E27FC236}">
                <a16:creationId xmlns:a16="http://schemas.microsoft.com/office/drawing/2014/main" id="{F7E1916E-E4AF-4661-A8E0-5DEA3BDCA1FB}"/>
              </a:ext>
            </a:extLst>
          </p:cNvPr>
          <p:cNvPicPr>
            <a:picLocks noChangeAspect="1"/>
          </p:cNvPicPr>
          <p:nvPr/>
        </p:nvPicPr>
        <p:blipFill>
          <a:blip r:embed="rId4"/>
          <a:stretch>
            <a:fillRect/>
          </a:stretch>
        </p:blipFill>
        <p:spPr>
          <a:xfrm>
            <a:off x="4694069" y="4579631"/>
            <a:ext cx="3993960" cy="1521075"/>
          </a:xfrm>
          <a:prstGeom prst="rect">
            <a:avLst/>
          </a:prstGeom>
        </p:spPr>
      </p:pic>
      <p:sp>
        <p:nvSpPr>
          <p:cNvPr id="16" name="Text Placeholder 8">
            <a:extLst>
              <a:ext uri="{FF2B5EF4-FFF2-40B4-BE49-F238E27FC236}">
                <a16:creationId xmlns:a16="http://schemas.microsoft.com/office/drawing/2014/main" id="{917B728C-2704-4FDD-AA0B-7E2DF492742B}"/>
              </a:ext>
            </a:extLst>
          </p:cNvPr>
          <p:cNvSpPr txBox="1">
            <a:spLocks/>
          </p:cNvSpPr>
          <p:nvPr/>
        </p:nvSpPr>
        <p:spPr>
          <a:xfrm>
            <a:off x="3049524" y="6309359"/>
            <a:ext cx="3153156" cy="236221"/>
          </a:xfrm>
          <a:prstGeom prst="rect">
            <a:avLst/>
          </a:prstGeom>
        </p:spPr>
        <p:txBody>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2400" kern="1200">
                <a:solidFill>
                  <a:schemeClr val="tx2"/>
                </a:solidFill>
                <a:latin typeface="+mn-lt"/>
                <a:ea typeface="+mn-ea"/>
                <a:cs typeface="+mn-cs"/>
              </a:defRPr>
            </a:lvl1pPr>
            <a:lvl2pPr marL="292608" indent="-292608" algn="l" defTabSz="914400" rtl="0" eaLnBrk="1" latinLnBrk="0" hangingPunct="1">
              <a:lnSpc>
                <a:spcPct val="100000"/>
              </a:lnSpc>
              <a:spcBef>
                <a:spcPts val="1000"/>
              </a:spcBef>
              <a:spcAft>
                <a:spcPts val="0"/>
              </a:spcAft>
              <a:buClrTx/>
              <a:buFont typeface="Arial" panose="020B0604020202020204" pitchFamily="34" charset="0"/>
              <a:buChar char="•"/>
              <a:defRPr sz="2400" kern="1200">
                <a:solidFill>
                  <a:schemeClr val="tx2"/>
                </a:solidFill>
                <a:latin typeface="+mn-lt"/>
                <a:ea typeface="+mn-ea"/>
                <a:cs typeface="+mn-cs"/>
              </a:defRPr>
            </a:lvl2pPr>
            <a:lvl3pPr marL="622800" indent="-292608" algn="l" defTabSz="914400" rtl="0" eaLnBrk="1" latinLnBrk="0" hangingPunct="1">
              <a:lnSpc>
                <a:spcPct val="100000"/>
              </a:lnSpc>
              <a:spcBef>
                <a:spcPts val="1000"/>
              </a:spcBef>
              <a:spcAft>
                <a:spcPts val="0"/>
              </a:spcAft>
              <a:buFont typeface="Arial" panose="020B0604020202020204" pitchFamily="34" charset="0"/>
              <a:buChar char="•"/>
              <a:defRPr sz="2000" kern="1200">
                <a:solidFill>
                  <a:schemeClr val="tx2"/>
                </a:solidFill>
                <a:latin typeface="+mn-lt"/>
                <a:ea typeface="+mn-ea"/>
                <a:cs typeface="+mn-cs"/>
              </a:defRPr>
            </a:lvl3pPr>
            <a:lvl4pPr marL="741363" indent="-285750" algn="l" defTabSz="914400" rtl="0" eaLnBrk="1" latinLnBrk="0" hangingPunct="1">
              <a:lnSpc>
                <a:spcPct val="100000"/>
              </a:lnSpc>
              <a:spcBef>
                <a:spcPts val="800"/>
              </a:spcBef>
              <a:spcAft>
                <a:spcPts val="800"/>
              </a:spcAft>
              <a:buFont typeface="Arial" panose="020B0604020202020204" pitchFamily="34" charset="0"/>
              <a:buChar char="•"/>
              <a:defRPr sz="1200" kern="1200">
                <a:solidFill>
                  <a:schemeClr val="tx1"/>
                </a:solidFill>
                <a:latin typeface="+mn-lt"/>
                <a:ea typeface="+mn-ea"/>
                <a:cs typeface="+mn-cs"/>
              </a:defRPr>
            </a:lvl4pPr>
            <a:lvl5pPr marL="971550" indent="-285750" algn="l" defTabSz="914400" rtl="0" eaLnBrk="1" latinLnBrk="0" hangingPunct="1">
              <a:lnSpc>
                <a:spcPct val="100000"/>
              </a:lnSpc>
              <a:spcBef>
                <a:spcPts val="8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200" dirty="0">
                <a:hlinkClick r:id="rId5" action="ppaction://hlinksldjump"/>
              </a:rPr>
              <a:t>Access the text alternative for slide images.</a:t>
            </a:r>
            <a:endParaRPr lang="en-US" sz="1200" dirty="0"/>
          </a:p>
        </p:txBody>
      </p:sp>
      <p:sp>
        <p:nvSpPr>
          <p:cNvPr id="10" name="Slide Number Placeholder 9">
            <a:extLst>
              <a:ext uri="{FF2B5EF4-FFF2-40B4-BE49-F238E27FC236}">
                <a16:creationId xmlns:a16="http://schemas.microsoft.com/office/drawing/2014/main" id="{B024B0F4-BF34-49B8-B1F0-1C3B1F4220DB}"/>
              </a:ext>
            </a:extLst>
          </p:cNvPr>
          <p:cNvSpPr>
            <a:spLocks noGrp="1"/>
          </p:cNvSpPr>
          <p:nvPr>
            <p:ph type="sldNum" sz="quarter" idx="10"/>
          </p:nvPr>
        </p:nvSpPr>
        <p:spPr/>
        <p:txBody>
          <a:bodyPr/>
          <a:lstStyle/>
          <a:p>
            <a:fld id="{68151E55-6873-49E2-B8D5-2F265E6F1973}" type="slidenum">
              <a:rPr lang="en-US" smtClean="0"/>
              <a:t>24</a:t>
            </a:fld>
            <a:endParaRPr lang="en-US" dirty="0"/>
          </a:p>
        </p:txBody>
      </p:sp>
    </p:spTree>
    <p:extLst>
      <p:ext uri="{BB962C8B-B14F-4D97-AF65-F5344CB8AC3E}">
        <p14:creationId xmlns:p14="http://schemas.microsoft.com/office/powerpoint/2010/main" val="210698679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61E4A65C-2C8C-49E2-B67C-3A59E63FFE4C}"/>
              </a:ext>
            </a:extLst>
          </p:cNvPr>
          <p:cNvSpPr>
            <a:spLocks noGrp="1"/>
          </p:cNvSpPr>
          <p:nvPr>
            <p:ph type="title"/>
          </p:nvPr>
        </p:nvSpPr>
        <p:spPr>
          <a:xfrm>
            <a:off x="342900" y="192490"/>
            <a:ext cx="7783461" cy="903231"/>
          </a:xfrm>
        </p:spPr>
        <p:txBody>
          <a:bodyPr/>
          <a:lstStyle/>
          <a:p>
            <a:r>
              <a:rPr lang="en-IN" sz="3600" dirty="0"/>
              <a:t>Sampling Concepts </a:t>
            </a:r>
            <a:r>
              <a:rPr lang="en-IN" sz="1000" b="0" dirty="0"/>
              <a:t>5</a:t>
            </a:r>
            <a:endParaRPr lang="en-US" dirty="0"/>
          </a:p>
        </p:txBody>
      </p:sp>
      <p:sp>
        <p:nvSpPr>
          <p:cNvPr id="4" name="Content Placeholder 2">
            <a:extLst>
              <a:ext uri="{FF2B5EF4-FFF2-40B4-BE49-F238E27FC236}">
                <a16:creationId xmlns:a16="http://schemas.microsoft.com/office/drawing/2014/main" id="{23AF520A-D413-8A1A-8C2E-D19510E2ECCD}"/>
              </a:ext>
            </a:extLst>
          </p:cNvPr>
          <p:cNvSpPr>
            <a:spLocks noGrp="1"/>
          </p:cNvSpPr>
          <p:nvPr>
            <p:ph sz="quarter" idx="11"/>
          </p:nvPr>
        </p:nvSpPr>
        <p:spPr>
          <a:xfrm>
            <a:off x="8598957" y="54864"/>
            <a:ext cx="476295" cy="1295711"/>
          </a:xfrm>
        </p:spPr>
        <p:txBody>
          <a:bodyPr vert="vert" tIns="45720" rIns="0"/>
          <a:lstStyle/>
          <a:p>
            <a:pPr marL="1025525" indent="-1025525"/>
            <a:r>
              <a:rPr lang="en-US" b="1" dirty="0"/>
              <a:t>L</a:t>
            </a:r>
            <a:r>
              <a:rPr lang="en-US" sz="100" b="1" dirty="0"/>
              <a:t> </a:t>
            </a:r>
            <a:r>
              <a:rPr lang="en-US" b="1" dirty="0"/>
              <a:t>O 2.6</a:t>
            </a:r>
            <a:endParaRPr lang="en-IN" b="1" dirty="0"/>
          </a:p>
        </p:txBody>
      </p:sp>
      <p:sp>
        <p:nvSpPr>
          <p:cNvPr id="16" name="Content Placeholder 15">
            <a:extLst>
              <a:ext uri="{FF2B5EF4-FFF2-40B4-BE49-F238E27FC236}">
                <a16:creationId xmlns:a16="http://schemas.microsoft.com/office/drawing/2014/main" id="{F86A72F0-1246-44A8-97B3-2EE06CA1BF9D}"/>
              </a:ext>
            </a:extLst>
          </p:cNvPr>
          <p:cNvSpPr>
            <a:spLocks noGrp="1"/>
          </p:cNvSpPr>
          <p:nvPr>
            <p:ph sz="quarter" idx="14"/>
          </p:nvPr>
        </p:nvSpPr>
        <p:spPr>
          <a:xfrm>
            <a:off x="342900" y="1253613"/>
            <a:ext cx="7901448" cy="2064774"/>
          </a:xfrm>
        </p:spPr>
        <p:txBody>
          <a:bodyPr/>
          <a:lstStyle/>
          <a:p>
            <a:pPr marL="292608" indent="-292608">
              <a:buClr>
                <a:schemeClr val="tx1"/>
              </a:buClr>
              <a:buFont typeface="Arial" panose="020B0604020202020204" pitchFamily="34" charset="0"/>
              <a:buChar char="•"/>
            </a:pPr>
            <a:r>
              <a:rPr lang="en-US" dirty="0"/>
              <a:t>From a sample of </a:t>
            </a:r>
            <a:r>
              <a:rPr lang="en-US" i="1" dirty="0"/>
              <a:t>n</a:t>
            </a:r>
            <a:r>
              <a:rPr lang="en-US" dirty="0"/>
              <a:t> items, chosen from a population, we compute </a:t>
            </a:r>
            <a:r>
              <a:rPr lang="en-US" b="1" dirty="0"/>
              <a:t>statistics</a:t>
            </a:r>
            <a:r>
              <a:rPr lang="en-US" dirty="0"/>
              <a:t> that can be used as estimates of </a:t>
            </a:r>
            <a:r>
              <a:rPr lang="en-US" b="1" dirty="0"/>
              <a:t>parameters</a:t>
            </a:r>
            <a:r>
              <a:rPr lang="en-US" dirty="0"/>
              <a:t> found in the population.</a:t>
            </a:r>
          </a:p>
          <a:p>
            <a:pPr marL="292608" indent="-292608">
              <a:buClr>
                <a:schemeClr val="tx1"/>
              </a:buClr>
              <a:buFont typeface="Arial" panose="020B0604020202020204" pitchFamily="34" charset="0"/>
              <a:buChar char="•"/>
            </a:pPr>
            <a:r>
              <a:rPr lang="en-US" dirty="0"/>
              <a:t>To avoid confusion, we use different symbols for each parameter and its corresponding statistic.</a:t>
            </a:r>
          </a:p>
        </p:txBody>
      </p:sp>
      <p:sp>
        <p:nvSpPr>
          <p:cNvPr id="17" name="Content Placeholder 16">
            <a:extLst>
              <a:ext uri="{FF2B5EF4-FFF2-40B4-BE49-F238E27FC236}">
                <a16:creationId xmlns:a16="http://schemas.microsoft.com/office/drawing/2014/main" id="{03A31C7B-BDA8-4EEB-80A0-FDA792C35BE1}"/>
              </a:ext>
            </a:extLst>
          </p:cNvPr>
          <p:cNvSpPr>
            <a:spLocks noGrp="1"/>
          </p:cNvSpPr>
          <p:nvPr>
            <p:ph sz="quarter" idx="15"/>
          </p:nvPr>
        </p:nvSpPr>
        <p:spPr>
          <a:xfrm>
            <a:off x="342900" y="3408624"/>
            <a:ext cx="8491134" cy="411208"/>
          </a:xfrm>
        </p:spPr>
        <p:txBody>
          <a:bodyPr tIns="0"/>
          <a:lstStyle/>
          <a:p>
            <a:pPr marL="292608" indent="-292608">
              <a:buFont typeface="Arial" panose="020B0604020202020204" pitchFamily="34" charset="0"/>
              <a:buChar char="•"/>
            </a:pPr>
            <a:r>
              <a:rPr lang="en-US" dirty="0"/>
              <a:t>Thus, the population mean is denoted by </a:t>
            </a:r>
            <a:r>
              <a:rPr lang="el-GR" i="1" dirty="0"/>
              <a:t>μ</a:t>
            </a:r>
            <a:r>
              <a:rPr lang="en-US" i="1" dirty="0"/>
              <a:t> </a:t>
            </a:r>
            <a:r>
              <a:rPr lang="en-US" dirty="0"/>
              <a:t>(the lowercase</a:t>
            </a:r>
          </a:p>
        </p:txBody>
      </p:sp>
      <p:sp>
        <p:nvSpPr>
          <p:cNvPr id="19" name="Content Placeholder 18">
            <a:extLst>
              <a:ext uri="{FF2B5EF4-FFF2-40B4-BE49-F238E27FC236}">
                <a16:creationId xmlns:a16="http://schemas.microsoft.com/office/drawing/2014/main" id="{1C7BA2D0-E568-4360-85BD-6F905AA60BD8}"/>
              </a:ext>
            </a:extLst>
          </p:cNvPr>
          <p:cNvSpPr>
            <a:spLocks noGrp="1"/>
          </p:cNvSpPr>
          <p:nvPr>
            <p:ph sz="quarter" idx="17"/>
          </p:nvPr>
        </p:nvSpPr>
        <p:spPr>
          <a:xfrm>
            <a:off x="342900" y="3868250"/>
            <a:ext cx="6205384" cy="394036"/>
          </a:xfrm>
        </p:spPr>
        <p:txBody>
          <a:bodyPr tIns="0"/>
          <a:lstStyle/>
          <a:p>
            <a:pPr marL="292608"/>
            <a:r>
              <a:rPr lang="en-US" dirty="0"/>
              <a:t>Greek letter mu) while the sample mean is</a:t>
            </a:r>
          </a:p>
        </p:txBody>
      </p:sp>
      <p:graphicFrame>
        <p:nvGraphicFramePr>
          <p:cNvPr id="30" name="Object 29">
            <a:extLst>
              <a:ext uri="{FF2B5EF4-FFF2-40B4-BE49-F238E27FC236}">
                <a16:creationId xmlns:a16="http://schemas.microsoft.com/office/drawing/2014/main" id="{0BC9AD87-B0A8-4155-8BE0-C3655DCED885}"/>
              </a:ext>
            </a:extLst>
          </p:cNvPr>
          <p:cNvGraphicFramePr>
            <a:graphicFrameLocks noChangeAspect="1"/>
          </p:cNvGraphicFramePr>
          <p:nvPr>
            <p:extLst>
              <p:ext uri="{D42A27DB-BD31-4B8C-83A1-F6EECF244321}">
                <p14:modId xmlns:p14="http://schemas.microsoft.com/office/powerpoint/2010/main" val="4145657909"/>
              </p:ext>
            </p:extLst>
          </p:nvPr>
        </p:nvGraphicFramePr>
        <p:xfrm>
          <a:off x="6530975" y="3881438"/>
          <a:ext cx="333375" cy="333375"/>
        </p:xfrm>
        <a:graphic>
          <a:graphicData uri="http://schemas.openxmlformats.org/presentationml/2006/ole">
            <mc:AlternateContent xmlns:mc="http://schemas.openxmlformats.org/markup-compatibility/2006">
              <mc:Choice xmlns:v="urn:schemas-microsoft-com:vml" Requires="v">
                <p:oleObj name="Equation" r:id="rId2" imgW="228600" imgH="228600" progId="Equation.DSMT4">
                  <p:embed/>
                </p:oleObj>
              </mc:Choice>
              <mc:Fallback>
                <p:oleObj name="Equation" r:id="rId2" imgW="228600" imgH="228600" progId="Equation.DSMT4">
                  <p:embed/>
                  <p:pic>
                    <p:nvPicPr>
                      <p:cNvPr id="0" name=""/>
                      <p:cNvPicPr/>
                      <p:nvPr/>
                    </p:nvPicPr>
                    <p:blipFill>
                      <a:blip r:embed="rId3"/>
                      <a:stretch>
                        <a:fillRect/>
                      </a:stretch>
                    </p:blipFill>
                    <p:spPr>
                      <a:xfrm>
                        <a:off x="6530975" y="3881438"/>
                        <a:ext cx="333375" cy="333375"/>
                      </a:xfrm>
                      <a:prstGeom prst="rect">
                        <a:avLst/>
                      </a:prstGeom>
                    </p:spPr>
                  </p:pic>
                </p:oleObj>
              </mc:Fallback>
            </mc:AlternateContent>
          </a:graphicData>
        </a:graphic>
      </p:graphicFrame>
      <p:sp>
        <p:nvSpPr>
          <p:cNvPr id="20" name="Content Placeholder 19">
            <a:extLst>
              <a:ext uri="{FF2B5EF4-FFF2-40B4-BE49-F238E27FC236}">
                <a16:creationId xmlns:a16="http://schemas.microsoft.com/office/drawing/2014/main" id="{1A7AF5B9-B98F-4F83-8853-896C7CF0402D}"/>
              </a:ext>
            </a:extLst>
          </p:cNvPr>
          <p:cNvSpPr>
            <a:spLocks noGrp="1"/>
          </p:cNvSpPr>
          <p:nvPr>
            <p:ph sz="quarter" idx="18"/>
          </p:nvPr>
        </p:nvSpPr>
        <p:spPr>
          <a:xfrm>
            <a:off x="342899" y="4394100"/>
            <a:ext cx="8256057" cy="428625"/>
          </a:xfrm>
        </p:spPr>
        <p:txBody>
          <a:bodyPr tIns="0"/>
          <a:lstStyle/>
          <a:p>
            <a:pPr marL="292608" indent="-292608">
              <a:buFont typeface="Arial" panose="020B0604020202020204" pitchFamily="34" charset="0"/>
              <a:buChar char="•"/>
            </a:pPr>
            <a:r>
              <a:rPr lang="en-IN" dirty="0"/>
              <a:t>The population proportion is denoted </a:t>
            </a:r>
            <a:r>
              <a:rPr lang="el-GR" i="1" dirty="0"/>
              <a:t>π</a:t>
            </a:r>
            <a:r>
              <a:rPr lang="en-IN" dirty="0"/>
              <a:t> </a:t>
            </a:r>
            <a:r>
              <a:rPr lang="en-US" dirty="0"/>
              <a:t>(the lowercase</a:t>
            </a:r>
          </a:p>
        </p:txBody>
      </p:sp>
      <p:sp>
        <p:nvSpPr>
          <p:cNvPr id="22" name="Content Placeholder 21">
            <a:extLst>
              <a:ext uri="{FF2B5EF4-FFF2-40B4-BE49-F238E27FC236}">
                <a16:creationId xmlns:a16="http://schemas.microsoft.com/office/drawing/2014/main" id="{D7B49CEB-C149-4EB0-963B-A256A9F5F214}"/>
              </a:ext>
            </a:extLst>
          </p:cNvPr>
          <p:cNvSpPr>
            <a:spLocks noGrp="1"/>
          </p:cNvSpPr>
          <p:nvPr>
            <p:ph sz="quarter" idx="20"/>
          </p:nvPr>
        </p:nvSpPr>
        <p:spPr>
          <a:xfrm>
            <a:off x="342901" y="4868064"/>
            <a:ext cx="7193525" cy="418330"/>
          </a:xfrm>
        </p:spPr>
        <p:txBody>
          <a:bodyPr tIns="0"/>
          <a:lstStyle/>
          <a:p>
            <a:pPr marL="292608"/>
            <a:r>
              <a:rPr lang="en-US" dirty="0"/>
              <a:t>Greek letter pi), while the sample proportion is </a:t>
            </a:r>
            <a:r>
              <a:rPr lang="en-US" i="1" dirty="0"/>
              <a:t>p</a:t>
            </a:r>
            <a:r>
              <a:rPr lang="en-US" dirty="0"/>
              <a:t>.</a:t>
            </a:r>
          </a:p>
        </p:txBody>
      </p:sp>
      <p:sp>
        <p:nvSpPr>
          <p:cNvPr id="11" name="Slide Number Placeholder 10">
            <a:extLst>
              <a:ext uri="{FF2B5EF4-FFF2-40B4-BE49-F238E27FC236}">
                <a16:creationId xmlns:a16="http://schemas.microsoft.com/office/drawing/2014/main" id="{F9AE04BF-DEFD-4C5A-A763-697F11EE5EBC}"/>
              </a:ext>
            </a:extLst>
          </p:cNvPr>
          <p:cNvSpPr>
            <a:spLocks noGrp="1"/>
          </p:cNvSpPr>
          <p:nvPr>
            <p:ph type="sldNum" sz="quarter" idx="10"/>
          </p:nvPr>
        </p:nvSpPr>
        <p:spPr/>
        <p:txBody>
          <a:bodyPr/>
          <a:lstStyle/>
          <a:p>
            <a:fld id="{68151E55-6873-49E2-B8D5-2F265E6F1973}" type="slidenum">
              <a:rPr lang="en-US" smtClean="0"/>
              <a:t>25</a:t>
            </a:fld>
            <a:endParaRPr lang="en-US" dirty="0"/>
          </a:p>
        </p:txBody>
      </p:sp>
    </p:spTree>
    <p:extLst>
      <p:ext uri="{BB962C8B-B14F-4D97-AF65-F5344CB8AC3E}">
        <p14:creationId xmlns:p14="http://schemas.microsoft.com/office/powerpoint/2010/main" val="145327426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192490"/>
            <a:ext cx="7549890" cy="903231"/>
          </a:xfrm>
        </p:spPr>
        <p:txBody>
          <a:bodyPr>
            <a:normAutofit/>
          </a:bodyPr>
          <a:lstStyle/>
          <a:p>
            <a:r>
              <a:rPr lang="en-IN" sz="3600" dirty="0"/>
              <a:t>Sampling Concepts </a:t>
            </a:r>
            <a:r>
              <a:rPr lang="en-IN" sz="1000" b="0" dirty="0"/>
              <a:t>6</a:t>
            </a:r>
            <a:endParaRPr lang="en-IN" dirty="0"/>
          </a:p>
        </p:txBody>
      </p:sp>
      <p:sp>
        <p:nvSpPr>
          <p:cNvPr id="7" name="Content Placeholder 2">
            <a:extLst>
              <a:ext uri="{FF2B5EF4-FFF2-40B4-BE49-F238E27FC236}">
                <a16:creationId xmlns:a16="http://schemas.microsoft.com/office/drawing/2014/main" id="{D8CD38B6-B89F-C4B7-91E6-02AC7A2E4540}"/>
              </a:ext>
            </a:extLst>
          </p:cNvPr>
          <p:cNvSpPr>
            <a:spLocks noGrp="1"/>
          </p:cNvSpPr>
          <p:nvPr>
            <p:ph sz="quarter" idx="11"/>
          </p:nvPr>
        </p:nvSpPr>
        <p:spPr>
          <a:xfrm>
            <a:off x="8598957" y="54864"/>
            <a:ext cx="476295" cy="1295711"/>
          </a:xfrm>
        </p:spPr>
        <p:txBody>
          <a:bodyPr vert="vert" tIns="45720" rIns="0"/>
          <a:lstStyle/>
          <a:p>
            <a:pPr marL="1025525" indent="-1025525"/>
            <a:r>
              <a:rPr lang="en-US" b="1" dirty="0"/>
              <a:t>L</a:t>
            </a:r>
            <a:r>
              <a:rPr lang="en-US" sz="100" b="1" dirty="0"/>
              <a:t> </a:t>
            </a:r>
            <a:r>
              <a:rPr lang="en-US" b="1" dirty="0"/>
              <a:t>O 2.6</a:t>
            </a:r>
            <a:endParaRPr lang="en-IN" b="1" dirty="0"/>
          </a:p>
        </p:txBody>
      </p:sp>
      <p:sp>
        <p:nvSpPr>
          <p:cNvPr id="4" name="Content Placeholder 3"/>
          <p:cNvSpPr>
            <a:spLocks noGrp="1"/>
          </p:cNvSpPr>
          <p:nvPr>
            <p:ph sz="quarter" idx="14"/>
          </p:nvPr>
        </p:nvSpPr>
        <p:spPr>
          <a:xfrm>
            <a:off x="342900" y="1278015"/>
            <a:ext cx="8191500" cy="4311624"/>
          </a:xfrm>
        </p:spPr>
        <p:txBody>
          <a:bodyPr/>
          <a:lstStyle/>
          <a:p>
            <a:pPr>
              <a:buClr>
                <a:schemeClr val="tx1"/>
              </a:buClr>
            </a:pPr>
            <a:r>
              <a:rPr lang="en-IN" b="1" dirty="0"/>
              <a:t>Target Population:</a:t>
            </a:r>
          </a:p>
          <a:p>
            <a:pPr>
              <a:buClr>
                <a:schemeClr val="tx1"/>
              </a:buClr>
            </a:pPr>
            <a:r>
              <a:rPr lang="en-IN" dirty="0"/>
              <a:t>The population must be carefully specified and the sample must be drawn scientifically so that the sample is representative.</a:t>
            </a:r>
          </a:p>
          <a:p>
            <a:pPr>
              <a:buClr>
                <a:schemeClr val="tx1"/>
              </a:buClr>
            </a:pPr>
            <a:r>
              <a:rPr lang="en-IN" dirty="0"/>
              <a:t>The </a:t>
            </a:r>
            <a:r>
              <a:rPr lang="en-IN" b="1" dirty="0"/>
              <a:t>target population </a:t>
            </a:r>
            <a:r>
              <a:rPr lang="en-IN" dirty="0"/>
              <a:t>is the population we are interested in (For example, U.S. gasoline pump prices).</a:t>
            </a:r>
          </a:p>
          <a:p>
            <a:pPr>
              <a:buClr>
                <a:schemeClr val="tx1"/>
              </a:buClr>
            </a:pPr>
            <a:r>
              <a:rPr lang="en-IN" dirty="0"/>
              <a:t>The </a:t>
            </a:r>
            <a:r>
              <a:rPr lang="en-IN" b="1" dirty="0"/>
              <a:t>sampling frame </a:t>
            </a:r>
            <a:r>
              <a:rPr lang="en-IN" dirty="0"/>
              <a:t>is the group from which we take the sample (For example, 115,000 stations).</a:t>
            </a:r>
          </a:p>
          <a:p>
            <a:pPr marL="292608" indent="-292608">
              <a:buClr>
                <a:schemeClr val="tx1"/>
              </a:buClr>
              <a:buFont typeface="Arial" panose="020B0604020202020204" pitchFamily="34" charset="0"/>
              <a:buChar char="•"/>
            </a:pPr>
            <a:r>
              <a:rPr lang="en-IN" dirty="0"/>
              <a:t>The frame should not differ from the target population.</a:t>
            </a:r>
          </a:p>
        </p:txBody>
      </p:sp>
      <p:sp>
        <p:nvSpPr>
          <p:cNvPr id="10" name="Slide Number Placeholder 9"/>
          <p:cNvSpPr>
            <a:spLocks noGrp="1"/>
          </p:cNvSpPr>
          <p:nvPr>
            <p:ph type="sldNum" sz="quarter" idx="10"/>
          </p:nvPr>
        </p:nvSpPr>
        <p:spPr/>
        <p:txBody>
          <a:bodyPr/>
          <a:lstStyle/>
          <a:p>
            <a:fld id="{68151E55-6873-49E2-B8D5-2F265E6F1973}" type="slidenum">
              <a:rPr lang="en-US" smtClean="0"/>
              <a:t>26</a:t>
            </a:fld>
            <a:endParaRPr lang="en-US" dirty="0"/>
          </a:p>
        </p:txBody>
      </p:sp>
    </p:spTree>
    <p:extLst>
      <p:ext uri="{BB962C8B-B14F-4D97-AF65-F5344CB8AC3E}">
        <p14:creationId xmlns:p14="http://schemas.microsoft.com/office/powerpoint/2010/main" val="167328887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192490"/>
            <a:ext cx="7715205" cy="903231"/>
          </a:xfrm>
        </p:spPr>
        <p:txBody>
          <a:bodyPr>
            <a:normAutofit/>
          </a:bodyPr>
          <a:lstStyle/>
          <a:p>
            <a:r>
              <a:rPr lang="en-IN" sz="3600" dirty="0"/>
              <a:t>Sampling Methods</a:t>
            </a:r>
          </a:p>
        </p:txBody>
      </p:sp>
      <p:sp>
        <p:nvSpPr>
          <p:cNvPr id="8" name="Content Placeholder 2">
            <a:extLst>
              <a:ext uri="{FF2B5EF4-FFF2-40B4-BE49-F238E27FC236}">
                <a16:creationId xmlns:a16="http://schemas.microsoft.com/office/drawing/2014/main" id="{7119B81C-B5DF-BB41-C61F-47FBE6107673}"/>
              </a:ext>
            </a:extLst>
          </p:cNvPr>
          <p:cNvSpPr>
            <a:spLocks noGrp="1"/>
          </p:cNvSpPr>
          <p:nvPr>
            <p:ph sz="quarter" idx="11"/>
          </p:nvPr>
        </p:nvSpPr>
        <p:spPr>
          <a:xfrm>
            <a:off x="8598957" y="54864"/>
            <a:ext cx="476295" cy="1295711"/>
          </a:xfrm>
        </p:spPr>
        <p:txBody>
          <a:bodyPr vert="vert" tIns="45720" rIns="0"/>
          <a:lstStyle/>
          <a:p>
            <a:pPr marL="1025525" indent="-1025525"/>
            <a:r>
              <a:rPr lang="en-US" b="1" dirty="0"/>
              <a:t>L</a:t>
            </a:r>
            <a:r>
              <a:rPr lang="en-US" sz="100" b="1" dirty="0"/>
              <a:t> </a:t>
            </a:r>
            <a:r>
              <a:rPr lang="en-US" b="1" dirty="0"/>
              <a:t>O 2.7</a:t>
            </a:r>
            <a:endParaRPr lang="en-IN" b="1" dirty="0"/>
          </a:p>
        </p:txBody>
      </p:sp>
      <p:sp>
        <p:nvSpPr>
          <p:cNvPr id="4" name="Content Placeholder 3"/>
          <p:cNvSpPr>
            <a:spLocks noGrp="1"/>
          </p:cNvSpPr>
          <p:nvPr>
            <p:ph sz="quarter" idx="14"/>
          </p:nvPr>
        </p:nvSpPr>
        <p:spPr>
          <a:xfrm>
            <a:off x="342900" y="1278015"/>
            <a:ext cx="8191500" cy="565533"/>
          </a:xfrm>
        </p:spPr>
        <p:txBody>
          <a:bodyPr/>
          <a:lstStyle/>
          <a:p>
            <a:pPr eaLnBrk="0" hangingPunct="0">
              <a:defRPr/>
            </a:pPr>
            <a:r>
              <a:rPr lang="en-US" b="1" dirty="0"/>
              <a:t>Random Sampling Methods:</a:t>
            </a:r>
          </a:p>
        </p:txBody>
      </p:sp>
      <p:sp>
        <p:nvSpPr>
          <p:cNvPr id="10" name="Slide Number Placeholder 9"/>
          <p:cNvSpPr>
            <a:spLocks noGrp="1"/>
          </p:cNvSpPr>
          <p:nvPr>
            <p:ph type="sldNum" sz="quarter" idx="10"/>
          </p:nvPr>
        </p:nvSpPr>
        <p:spPr/>
        <p:txBody>
          <a:bodyPr/>
          <a:lstStyle/>
          <a:p>
            <a:fld id="{68151E55-6873-49E2-B8D5-2F265E6F1973}" type="slidenum">
              <a:rPr lang="en-US" smtClean="0"/>
              <a:t>27</a:t>
            </a:fld>
            <a:endParaRPr lang="en-US" dirty="0"/>
          </a:p>
        </p:txBody>
      </p:sp>
      <p:graphicFrame>
        <p:nvGraphicFramePr>
          <p:cNvPr id="3" name="Table 2">
            <a:extLst>
              <a:ext uri="{FF2B5EF4-FFF2-40B4-BE49-F238E27FC236}">
                <a16:creationId xmlns:a16="http://schemas.microsoft.com/office/drawing/2014/main" id="{763919CA-F51E-61C7-4104-CC465BFCFFB5}"/>
              </a:ext>
            </a:extLst>
          </p:cNvPr>
          <p:cNvGraphicFramePr>
            <a:graphicFrameLocks noGrp="1"/>
          </p:cNvGraphicFramePr>
          <p:nvPr>
            <p:extLst>
              <p:ext uri="{D42A27DB-BD31-4B8C-83A1-F6EECF244321}">
                <p14:modId xmlns:p14="http://schemas.microsoft.com/office/powerpoint/2010/main" val="2674503195"/>
              </p:ext>
            </p:extLst>
          </p:nvPr>
        </p:nvGraphicFramePr>
        <p:xfrm>
          <a:off x="574212" y="2025842"/>
          <a:ext cx="7049598" cy="2804160"/>
        </p:xfrm>
        <a:graphic>
          <a:graphicData uri="http://schemas.openxmlformats.org/drawingml/2006/table">
            <a:tbl>
              <a:tblPr firstRow="1" bandRow="1">
                <a:tableStyleId>{2D5ABB26-0587-4C30-8999-92F81FD0307C}</a:tableStyleId>
              </a:tblPr>
              <a:tblGrid>
                <a:gridCol w="2317578">
                  <a:extLst>
                    <a:ext uri="{9D8B030D-6E8A-4147-A177-3AD203B41FA5}">
                      <a16:colId xmlns:a16="http://schemas.microsoft.com/office/drawing/2014/main" val="2589252698"/>
                    </a:ext>
                  </a:extLst>
                </a:gridCol>
                <a:gridCol w="4732020">
                  <a:extLst>
                    <a:ext uri="{9D8B030D-6E8A-4147-A177-3AD203B41FA5}">
                      <a16:colId xmlns:a16="http://schemas.microsoft.com/office/drawing/2014/main" val="2663680829"/>
                    </a:ext>
                  </a:extLst>
                </a:gridCol>
              </a:tblGrid>
              <a:tr h="370840">
                <a:tc>
                  <a:txBody>
                    <a:bodyPr/>
                    <a:lstStyle/>
                    <a:p>
                      <a:r>
                        <a:rPr lang="en-US" sz="2000" b="0" dirty="0">
                          <a:solidFill>
                            <a:schemeClr val="tx1"/>
                          </a:solidFill>
                        </a:rPr>
                        <a:t>Simple Random Sample</a:t>
                      </a:r>
                    </a:p>
                  </a:txBody>
                  <a:tcPr marL="85288" marR="8528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b="0" dirty="0">
                          <a:solidFill>
                            <a:schemeClr val="tx1"/>
                          </a:solidFill>
                        </a:rPr>
                        <a:t>Use random numbers to select items from a list.</a:t>
                      </a:r>
                    </a:p>
                  </a:txBody>
                  <a:tcPr marL="85288" marR="8528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51156478"/>
                  </a:ext>
                </a:extLst>
              </a:tr>
              <a:tr h="370840">
                <a:tc>
                  <a:txBody>
                    <a:bodyPr/>
                    <a:lstStyle/>
                    <a:p>
                      <a:r>
                        <a:rPr lang="en-US" sz="2000" b="0" dirty="0">
                          <a:solidFill>
                            <a:schemeClr val="tx1"/>
                          </a:solidFill>
                        </a:rPr>
                        <a:t>Systematic Sample</a:t>
                      </a:r>
                    </a:p>
                  </a:txBody>
                  <a:tcPr marL="85288" marR="8528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b="0" dirty="0">
                          <a:solidFill>
                            <a:schemeClr val="tx1"/>
                          </a:solidFill>
                        </a:rPr>
                        <a:t>Select every </a:t>
                      </a:r>
                      <a:r>
                        <a:rPr lang="en-US" sz="2000" i="1" dirty="0" err="1">
                          <a:solidFill>
                            <a:schemeClr val="tx1"/>
                          </a:solidFill>
                        </a:rPr>
                        <a:t>k</a:t>
                      </a:r>
                      <a:r>
                        <a:rPr lang="en-US" sz="100" dirty="0" err="1">
                          <a:solidFill>
                            <a:schemeClr val="bg1"/>
                          </a:solidFill>
                        </a:rPr>
                        <a:t>ay</a:t>
                      </a:r>
                      <a:r>
                        <a:rPr lang="en-US" sz="2000" dirty="0" err="1">
                          <a:solidFill>
                            <a:schemeClr val="tx1"/>
                          </a:solidFill>
                        </a:rPr>
                        <a:t>th</a:t>
                      </a:r>
                      <a:r>
                        <a:rPr lang="en-US" sz="2000" dirty="0">
                          <a:solidFill>
                            <a:schemeClr val="tx1"/>
                          </a:solidFill>
                        </a:rPr>
                        <a:t> </a:t>
                      </a:r>
                      <a:r>
                        <a:rPr lang="en-US" sz="2000" b="0" dirty="0">
                          <a:solidFill>
                            <a:schemeClr val="tx1"/>
                          </a:solidFill>
                        </a:rPr>
                        <a:t>item from a list or sequence. </a:t>
                      </a:r>
                    </a:p>
                  </a:txBody>
                  <a:tcPr marL="85288" marR="8528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37495349"/>
                  </a:ext>
                </a:extLst>
              </a:tr>
              <a:tr h="604099">
                <a:tc>
                  <a:txBody>
                    <a:bodyPr/>
                    <a:lstStyle/>
                    <a:p>
                      <a:r>
                        <a:rPr lang="en-US" sz="2000" b="0" dirty="0">
                          <a:solidFill>
                            <a:schemeClr val="tx1"/>
                          </a:solidFill>
                        </a:rPr>
                        <a:t>Stratified Sample</a:t>
                      </a:r>
                    </a:p>
                  </a:txBody>
                  <a:tcPr marL="85288" marR="8528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b="0" dirty="0">
                          <a:solidFill>
                            <a:schemeClr val="tx1"/>
                          </a:solidFill>
                        </a:rPr>
                        <a:t>Select randomly within defined strata (For example, by age).</a:t>
                      </a:r>
                    </a:p>
                  </a:txBody>
                  <a:tcPr marL="85288" marR="8528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44705752"/>
                  </a:ext>
                </a:extLst>
              </a:tr>
              <a:tr h="370840">
                <a:tc>
                  <a:txBody>
                    <a:bodyPr/>
                    <a:lstStyle/>
                    <a:p>
                      <a:r>
                        <a:rPr lang="en-US" sz="2000" b="0" dirty="0">
                          <a:solidFill>
                            <a:schemeClr val="tx1"/>
                          </a:solidFill>
                        </a:rPr>
                        <a:t>Cluster</a:t>
                      </a:r>
                      <a:r>
                        <a:rPr lang="en-US" sz="2000" b="0" baseline="0" dirty="0">
                          <a:solidFill>
                            <a:schemeClr val="tx1"/>
                          </a:solidFill>
                        </a:rPr>
                        <a:t> Sample</a:t>
                      </a:r>
                      <a:endParaRPr lang="en-US" sz="2000" b="0" dirty="0">
                        <a:solidFill>
                          <a:schemeClr val="tx1"/>
                        </a:solidFill>
                      </a:endParaRPr>
                    </a:p>
                  </a:txBody>
                  <a:tcPr marL="85288" marR="8528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b="0" dirty="0">
                          <a:solidFill>
                            <a:schemeClr val="tx1"/>
                          </a:solidFill>
                        </a:rPr>
                        <a:t>Select random geographical regions (For example, zip codes).</a:t>
                      </a:r>
                    </a:p>
                  </a:txBody>
                  <a:tcPr marL="85288" marR="8528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81938214"/>
                  </a:ext>
                </a:extLst>
              </a:tr>
            </a:tbl>
          </a:graphicData>
        </a:graphic>
      </p:graphicFrame>
    </p:spTree>
    <p:extLst>
      <p:ext uri="{BB962C8B-B14F-4D97-AF65-F5344CB8AC3E}">
        <p14:creationId xmlns:p14="http://schemas.microsoft.com/office/powerpoint/2010/main" val="23343850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192490"/>
            <a:ext cx="7514741" cy="903231"/>
          </a:xfrm>
        </p:spPr>
        <p:txBody>
          <a:bodyPr>
            <a:normAutofit/>
          </a:bodyPr>
          <a:lstStyle/>
          <a:p>
            <a:r>
              <a:rPr lang="en-IN" sz="3600" dirty="0"/>
              <a:t>Simple Random Sample</a:t>
            </a:r>
          </a:p>
        </p:txBody>
      </p:sp>
      <p:sp>
        <p:nvSpPr>
          <p:cNvPr id="7" name="Content Placeholder 2">
            <a:extLst>
              <a:ext uri="{FF2B5EF4-FFF2-40B4-BE49-F238E27FC236}">
                <a16:creationId xmlns:a16="http://schemas.microsoft.com/office/drawing/2014/main" id="{A7DD1991-2FD2-0CA7-FF47-66B2F307CBE7}"/>
              </a:ext>
            </a:extLst>
          </p:cNvPr>
          <p:cNvSpPr>
            <a:spLocks noGrp="1"/>
          </p:cNvSpPr>
          <p:nvPr>
            <p:ph sz="quarter" idx="11"/>
          </p:nvPr>
        </p:nvSpPr>
        <p:spPr>
          <a:xfrm>
            <a:off x="8598957" y="54864"/>
            <a:ext cx="476295" cy="1295711"/>
          </a:xfrm>
        </p:spPr>
        <p:txBody>
          <a:bodyPr vert="vert" tIns="45720" rIns="0"/>
          <a:lstStyle/>
          <a:p>
            <a:pPr marL="1025525" indent="-1025525"/>
            <a:r>
              <a:rPr lang="en-US" b="1" dirty="0"/>
              <a:t>L</a:t>
            </a:r>
            <a:r>
              <a:rPr lang="en-US" sz="100" b="1" dirty="0"/>
              <a:t> </a:t>
            </a:r>
            <a:r>
              <a:rPr lang="en-US" b="1" dirty="0"/>
              <a:t>O 2.7</a:t>
            </a:r>
            <a:endParaRPr lang="en-IN" b="1" dirty="0"/>
          </a:p>
        </p:txBody>
      </p:sp>
      <p:sp>
        <p:nvSpPr>
          <p:cNvPr id="4" name="Content Placeholder 3"/>
          <p:cNvSpPr>
            <a:spLocks noGrp="1"/>
          </p:cNvSpPr>
          <p:nvPr>
            <p:ph sz="quarter" idx="14"/>
          </p:nvPr>
        </p:nvSpPr>
        <p:spPr>
          <a:xfrm>
            <a:off x="342900" y="1278015"/>
            <a:ext cx="7871952" cy="5132212"/>
          </a:xfrm>
        </p:spPr>
        <p:txBody>
          <a:bodyPr/>
          <a:lstStyle/>
          <a:p>
            <a:pPr marL="292608" indent="-292608" eaLnBrk="0" hangingPunct="0">
              <a:buClr>
                <a:schemeClr val="tx1"/>
              </a:buClr>
              <a:buSzPct val="100000"/>
              <a:buFont typeface="Arial" panose="020B0604020202020204" pitchFamily="34" charset="0"/>
              <a:buChar char="•"/>
              <a:tabLst>
                <a:tab pos="396875" algn="l"/>
              </a:tabLst>
              <a:defRPr/>
            </a:pPr>
            <a:r>
              <a:rPr lang="en-US" dirty="0"/>
              <a:t>We denote the population size by </a:t>
            </a:r>
            <a:r>
              <a:rPr lang="en-US" i="1" dirty="0"/>
              <a:t>N</a:t>
            </a:r>
            <a:r>
              <a:rPr lang="en-US" dirty="0"/>
              <a:t> and the sample size by </a:t>
            </a:r>
            <a:r>
              <a:rPr lang="en-US" i="1" dirty="0"/>
              <a:t>n</a:t>
            </a:r>
            <a:r>
              <a:rPr lang="en-US" dirty="0"/>
              <a:t>.</a:t>
            </a:r>
          </a:p>
          <a:p>
            <a:pPr marL="292608" indent="-292608" eaLnBrk="0" hangingPunct="0">
              <a:buClr>
                <a:schemeClr val="tx1"/>
              </a:buClr>
              <a:buSzPct val="100000"/>
              <a:buFont typeface="Arial" panose="020B0604020202020204" pitchFamily="34" charset="0"/>
              <a:buChar char="•"/>
              <a:tabLst>
                <a:tab pos="396875" algn="l"/>
              </a:tabLst>
              <a:defRPr/>
            </a:pPr>
            <a:r>
              <a:rPr lang="en-US" dirty="0"/>
              <a:t>In a </a:t>
            </a:r>
            <a:r>
              <a:rPr lang="en-US" b="1" dirty="0"/>
              <a:t>simple random sample</a:t>
            </a:r>
            <a:r>
              <a:rPr lang="en-US" dirty="0"/>
              <a:t>, every item in the population of </a:t>
            </a:r>
            <a:r>
              <a:rPr lang="en-US" i="1" dirty="0"/>
              <a:t>N</a:t>
            </a:r>
            <a:r>
              <a:rPr lang="en-US" dirty="0"/>
              <a:t> items has the same chance of being chosen in the sample of </a:t>
            </a:r>
            <a:r>
              <a:rPr lang="en-US" i="1" dirty="0"/>
              <a:t>n</a:t>
            </a:r>
            <a:r>
              <a:rPr lang="en-US" dirty="0"/>
              <a:t> items.</a:t>
            </a:r>
          </a:p>
          <a:p>
            <a:pPr marL="292608" indent="-292608" eaLnBrk="0" hangingPunct="0">
              <a:buClr>
                <a:schemeClr val="tx1"/>
              </a:buClr>
              <a:buSzPct val="100000"/>
              <a:buFont typeface="Arial" panose="020B0604020202020204" pitchFamily="34" charset="0"/>
              <a:buChar char="•"/>
              <a:tabLst>
                <a:tab pos="396875" algn="l"/>
              </a:tabLst>
              <a:defRPr/>
            </a:pPr>
            <a:r>
              <a:rPr lang="en-US" dirty="0"/>
              <a:t>A physical experiment to accomplish this would be to write each of the </a:t>
            </a:r>
            <a:r>
              <a:rPr lang="en-US" i="1" dirty="0"/>
              <a:t>N</a:t>
            </a:r>
            <a:r>
              <a:rPr lang="en-US" dirty="0"/>
              <a:t> data values on a poker chip, and then to draw </a:t>
            </a:r>
            <a:r>
              <a:rPr lang="en-US" i="1" dirty="0"/>
              <a:t>n</a:t>
            </a:r>
            <a:r>
              <a:rPr lang="en-US" dirty="0"/>
              <a:t> chips from a bowl after stirring it thoroughly.</a:t>
            </a:r>
            <a:endParaRPr lang="en-IN" dirty="0"/>
          </a:p>
        </p:txBody>
      </p:sp>
      <p:sp>
        <p:nvSpPr>
          <p:cNvPr id="10" name="Slide Number Placeholder 9"/>
          <p:cNvSpPr>
            <a:spLocks noGrp="1"/>
          </p:cNvSpPr>
          <p:nvPr>
            <p:ph type="sldNum" sz="quarter" idx="10"/>
          </p:nvPr>
        </p:nvSpPr>
        <p:spPr/>
        <p:txBody>
          <a:bodyPr/>
          <a:lstStyle/>
          <a:p>
            <a:fld id="{68151E55-6873-49E2-B8D5-2F265E6F1973}" type="slidenum">
              <a:rPr lang="en-US" smtClean="0"/>
              <a:t>28</a:t>
            </a:fld>
            <a:endParaRPr lang="en-US" dirty="0"/>
          </a:p>
        </p:txBody>
      </p:sp>
    </p:spTree>
    <p:extLst>
      <p:ext uri="{BB962C8B-B14F-4D97-AF65-F5344CB8AC3E}">
        <p14:creationId xmlns:p14="http://schemas.microsoft.com/office/powerpoint/2010/main" val="114079887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192490"/>
            <a:ext cx="7700720" cy="903231"/>
          </a:xfrm>
        </p:spPr>
        <p:txBody>
          <a:bodyPr>
            <a:normAutofit/>
          </a:bodyPr>
          <a:lstStyle/>
          <a:p>
            <a:r>
              <a:rPr lang="en-IN" sz="3600" dirty="0"/>
              <a:t>With or Without Replacement </a:t>
            </a:r>
            <a:r>
              <a:rPr lang="en-IN" sz="1000" b="0" dirty="0"/>
              <a:t>1</a:t>
            </a:r>
          </a:p>
        </p:txBody>
      </p:sp>
      <p:sp>
        <p:nvSpPr>
          <p:cNvPr id="6" name="Content Placeholder 2">
            <a:extLst>
              <a:ext uri="{FF2B5EF4-FFF2-40B4-BE49-F238E27FC236}">
                <a16:creationId xmlns:a16="http://schemas.microsoft.com/office/drawing/2014/main" id="{EB106BB3-8125-746D-3B3C-61B7E70E498B}"/>
              </a:ext>
            </a:extLst>
          </p:cNvPr>
          <p:cNvSpPr>
            <a:spLocks noGrp="1"/>
          </p:cNvSpPr>
          <p:nvPr>
            <p:ph sz="quarter" idx="11"/>
          </p:nvPr>
        </p:nvSpPr>
        <p:spPr>
          <a:xfrm>
            <a:off x="8598957" y="54864"/>
            <a:ext cx="476295" cy="1295711"/>
          </a:xfrm>
        </p:spPr>
        <p:txBody>
          <a:bodyPr vert="vert" tIns="45720" rIns="0"/>
          <a:lstStyle/>
          <a:p>
            <a:pPr marL="1025525" indent="-1025525"/>
            <a:r>
              <a:rPr lang="en-US" b="1" dirty="0"/>
              <a:t>L</a:t>
            </a:r>
            <a:r>
              <a:rPr lang="en-US" sz="100" b="1" dirty="0"/>
              <a:t> </a:t>
            </a:r>
            <a:r>
              <a:rPr lang="en-US" b="1" dirty="0"/>
              <a:t>O 2.7</a:t>
            </a:r>
            <a:endParaRPr lang="en-IN" b="1" dirty="0"/>
          </a:p>
        </p:txBody>
      </p:sp>
      <p:sp>
        <p:nvSpPr>
          <p:cNvPr id="4" name="Content Placeholder 3"/>
          <p:cNvSpPr>
            <a:spLocks noGrp="1"/>
          </p:cNvSpPr>
          <p:nvPr>
            <p:ph sz="quarter" idx="14"/>
          </p:nvPr>
        </p:nvSpPr>
        <p:spPr>
          <a:xfrm>
            <a:off x="342900" y="1278015"/>
            <a:ext cx="7871952" cy="3352979"/>
          </a:xfrm>
        </p:spPr>
        <p:txBody>
          <a:bodyPr/>
          <a:lstStyle/>
          <a:p>
            <a:pPr marL="292608" indent="-292608" eaLnBrk="0" hangingPunct="0">
              <a:buClr>
                <a:schemeClr val="tx1"/>
              </a:buClr>
              <a:buSzPct val="100000"/>
              <a:buFont typeface="Arial" panose="020B0604020202020204" pitchFamily="34" charset="0"/>
              <a:buChar char="•"/>
              <a:tabLst>
                <a:tab pos="396875" algn="l"/>
              </a:tabLst>
              <a:defRPr/>
            </a:pPr>
            <a:r>
              <a:rPr lang="en-IN" dirty="0"/>
              <a:t>With the advent of technology, random samples can easily be generated.</a:t>
            </a:r>
          </a:p>
          <a:p>
            <a:pPr marL="292608" indent="-292608" eaLnBrk="0" hangingPunct="0">
              <a:buClr>
                <a:schemeClr val="tx1"/>
              </a:buClr>
              <a:buSzPct val="100000"/>
              <a:buFont typeface="Arial" panose="020B0604020202020204" pitchFamily="34" charset="0"/>
              <a:buChar char="•"/>
              <a:tabLst>
                <a:tab pos="396875" algn="l"/>
              </a:tabLst>
              <a:defRPr/>
            </a:pPr>
            <a:r>
              <a:rPr lang="en-IN" dirty="0"/>
              <a:t>Sampling </a:t>
            </a:r>
            <a:r>
              <a:rPr lang="en-IN" i="1" dirty="0"/>
              <a:t>without replacement </a:t>
            </a:r>
            <a:r>
              <a:rPr lang="en-IN" dirty="0"/>
              <a:t>– once an item has been selected to be included in a sample, it is not considered for the sample again.</a:t>
            </a:r>
          </a:p>
          <a:p>
            <a:pPr marL="292608" indent="-292608" eaLnBrk="0" hangingPunct="0">
              <a:buClr>
                <a:schemeClr val="tx1"/>
              </a:buClr>
              <a:buSzPct val="100000"/>
              <a:buFont typeface="Arial" panose="020B0604020202020204" pitchFamily="34" charset="0"/>
              <a:buChar char="•"/>
              <a:tabLst>
                <a:tab pos="396875" algn="l"/>
              </a:tabLst>
              <a:defRPr/>
            </a:pPr>
            <a:r>
              <a:rPr lang="en-IN" dirty="0"/>
              <a:t>Sampling </a:t>
            </a:r>
            <a:r>
              <a:rPr lang="en-IN" i="1" dirty="0"/>
              <a:t>with replacement </a:t>
            </a:r>
            <a:r>
              <a:rPr lang="en-IN" dirty="0"/>
              <a:t>– The item could show up more than once.</a:t>
            </a:r>
          </a:p>
        </p:txBody>
      </p:sp>
      <p:sp>
        <p:nvSpPr>
          <p:cNvPr id="10" name="Slide Number Placeholder 9"/>
          <p:cNvSpPr>
            <a:spLocks noGrp="1"/>
          </p:cNvSpPr>
          <p:nvPr>
            <p:ph type="sldNum" sz="quarter" idx="10"/>
          </p:nvPr>
        </p:nvSpPr>
        <p:spPr/>
        <p:txBody>
          <a:bodyPr/>
          <a:lstStyle/>
          <a:p>
            <a:fld id="{68151E55-6873-49E2-B8D5-2F265E6F1973}" type="slidenum">
              <a:rPr lang="en-US" smtClean="0"/>
              <a:t>29</a:t>
            </a:fld>
            <a:endParaRPr lang="en-US" dirty="0"/>
          </a:p>
        </p:txBody>
      </p:sp>
    </p:spTree>
    <p:extLst>
      <p:ext uri="{BB962C8B-B14F-4D97-AF65-F5344CB8AC3E}">
        <p14:creationId xmlns:p14="http://schemas.microsoft.com/office/powerpoint/2010/main" val="311629614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61E4A65C-2C8C-49E2-B67C-3A59E63FFE4C}"/>
              </a:ext>
            </a:extLst>
          </p:cNvPr>
          <p:cNvSpPr>
            <a:spLocks noGrp="1"/>
          </p:cNvSpPr>
          <p:nvPr>
            <p:ph type="title"/>
          </p:nvPr>
        </p:nvSpPr>
        <p:spPr>
          <a:xfrm>
            <a:off x="342901" y="192490"/>
            <a:ext cx="7390754" cy="903231"/>
          </a:xfrm>
        </p:spPr>
        <p:txBody>
          <a:bodyPr/>
          <a:lstStyle/>
          <a:p>
            <a:r>
              <a:rPr lang="en-IN" sz="3600" dirty="0"/>
              <a:t>With or Without Replacement </a:t>
            </a:r>
            <a:r>
              <a:rPr lang="en-IN" sz="1000" b="0" dirty="0"/>
              <a:t>2</a:t>
            </a:r>
            <a:endParaRPr lang="en-US" dirty="0"/>
          </a:p>
        </p:txBody>
      </p:sp>
      <p:sp>
        <p:nvSpPr>
          <p:cNvPr id="5" name="Content Placeholder 2">
            <a:extLst>
              <a:ext uri="{FF2B5EF4-FFF2-40B4-BE49-F238E27FC236}">
                <a16:creationId xmlns:a16="http://schemas.microsoft.com/office/drawing/2014/main" id="{E6A60A33-76EC-FE33-DEFC-FA6009606A11}"/>
              </a:ext>
            </a:extLst>
          </p:cNvPr>
          <p:cNvSpPr>
            <a:spLocks noGrp="1"/>
          </p:cNvSpPr>
          <p:nvPr>
            <p:ph sz="quarter" idx="11"/>
          </p:nvPr>
        </p:nvSpPr>
        <p:spPr>
          <a:xfrm>
            <a:off x="8598957" y="54864"/>
            <a:ext cx="476295" cy="1295711"/>
          </a:xfrm>
        </p:spPr>
        <p:txBody>
          <a:bodyPr vert="vert" tIns="45720" rIns="0"/>
          <a:lstStyle/>
          <a:p>
            <a:pPr marL="1025525" indent="-1025525"/>
            <a:r>
              <a:rPr lang="en-US" b="1" dirty="0"/>
              <a:t>L</a:t>
            </a:r>
            <a:r>
              <a:rPr lang="en-US" sz="100" b="1" dirty="0"/>
              <a:t> </a:t>
            </a:r>
            <a:r>
              <a:rPr lang="en-US" b="1" dirty="0"/>
              <a:t>O 2.7</a:t>
            </a:r>
            <a:endParaRPr lang="en-IN" b="1" dirty="0"/>
          </a:p>
        </p:txBody>
      </p:sp>
      <p:sp>
        <p:nvSpPr>
          <p:cNvPr id="16" name="Content Placeholder 15">
            <a:extLst>
              <a:ext uri="{FF2B5EF4-FFF2-40B4-BE49-F238E27FC236}">
                <a16:creationId xmlns:a16="http://schemas.microsoft.com/office/drawing/2014/main" id="{F86A72F0-1246-44A8-97B3-2EE06CA1BF9D}"/>
              </a:ext>
            </a:extLst>
          </p:cNvPr>
          <p:cNvSpPr>
            <a:spLocks noGrp="1"/>
          </p:cNvSpPr>
          <p:nvPr>
            <p:ph sz="quarter" idx="14"/>
          </p:nvPr>
        </p:nvSpPr>
        <p:spPr>
          <a:xfrm>
            <a:off x="342900" y="1253613"/>
            <a:ext cx="7901448" cy="1755058"/>
          </a:xfrm>
        </p:spPr>
        <p:txBody>
          <a:bodyPr/>
          <a:lstStyle/>
          <a:p>
            <a:pPr>
              <a:buClr>
                <a:schemeClr val="tx1"/>
              </a:buClr>
            </a:pPr>
            <a:r>
              <a:rPr lang="en-IN" dirty="0"/>
              <a:t>When should we worry about sampling without replacement?</a:t>
            </a:r>
          </a:p>
          <a:p>
            <a:pPr marL="292608" indent="-292608">
              <a:buClr>
                <a:schemeClr val="tx1"/>
              </a:buClr>
              <a:buFont typeface="Arial" panose="020B0604020202020204" pitchFamily="34" charset="0"/>
              <a:buChar char="•"/>
            </a:pPr>
            <a:r>
              <a:rPr lang="en-IN" dirty="0"/>
              <a:t>Only when the population is finite and the sample size is close to the population size.</a:t>
            </a:r>
          </a:p>
        </p:txBody>
      </p:sp>
      <p:sp>
        <p:nvSpPr>
          <p:cNvPr id="17" name="Content Placeholder 16">
            <a:extLst>
              <a:ext uri="{FF2B5EF4-FFF2-40B4-BE49-F238E27FC236}">
                <a16:creationId xmlns:a16="http://schemas.microsoft.com/office/drawing/2014/main" id="{03A31C7B-BDA8-4EEB-80A0-FDA792C35BE1}"/>
              </a:ext>
            </a:extLst>
          </p:cNvPr>
          <p:cNvSpPr>
            <a:spLocks noGrp="1"/>
          </p:cNvSpPr>
          <p:nvPr>
            <p:ph sz="quarter" idx="15"/>
          </p:nvPr>
        </p:nvSpPr>
        <p:spPr>
          <a:xfrm>
            <a:off x="342899" y="3121695"/>
            <a:ext cx="8256058" cy="1312482"/>
          </a:xfrm>
        </p:spPr>
        <p:txBody>
          <a:bodyPr tIns="0"/>
          <a:lstStyle/>
          <a:p>
            <a:r>
              <a:rPr lang="en-IN" dirty="0"/>
              <a:t>Note:</a:t>
            </a:r>
          </a:p>
          <a:p>
            <a:pPr marL="292608" indent="-292608">
              <a:buFont typeface="Arial" panose="020B0604020202020204" pitchFamily="34" charset="0"/>
              <a:buChar char="•"/>
            </a:pPr>
            <a:r>
              <a:rPr lang="en-IN" dirty="0"/>
              <a:t>A common criterion is that a finite population is </a:t>
            </a:r>
            <a:r>
              <a:rPr lang="en-IN" i="1" dirty="0"/>
              <a:t>effectively infinite </a:t>
            </a:r>
            <a:r>
              <a:rPr lang="en-IN" dirty="0"/>
              <a:t>if the sample is less than 5 percent of</a:t>
            </a:r>
            <a:endParaRPr lang="en-US" dirty="0"/>
          </a:p>
        </p:txBody>
      </p:sp>
      <p:sp>
        <p:nvSpPr>
          <p:cNvPr id="18" name="Content Placeholder 17">
            <a:extLst>
              <a:ext uri="{FF2B5EF4-FFF2-40B4-BE49-F238E27FC236}">
                <a16:creationId xmlns:a16="http://schemas.microsoft.com/office/drawing/2014/main" id="{7E38D92E-C2F9-4D2C-8BCC-F9213A2189BF}"/>
              </a:ext>
            </a:extLst>
          </p:cNvPr>
          <p:cNvSpPr>
            <a:spLocks noGrp="1"/>
          </p:cNvSpPr>
          <p:nvPr>
            <p:ph sz="quarter" idx="16"/>
          </p:nvPr>
        </p:nvSpPr>
        <p:spPr>
          <a:xfrm>
            <a:off x="647700" y="4477385"/>
            <a:ext cx="2208572" cy="398207"/>
          </a:xfrm>
        </p:spPr>
        <p:txBody>
          <a:bodyPr lIns="91440" tIns="0" rIns="0"/>
          <a:lstStyle/>
          <a:p>
            <a:r>
              <a:rPr lang="en-IN" dirty="0"/>
              <a:t>the population</a:t>
            </a:r>
            <a:endParaRPr lang="en-US" dirty="0"/>
          </a:p>
        </p:txBody>
      </p:sp>
      <p:graphicFrame>
        <p:nvGraphicFramePr>
          <p:cNvPr id="2" name="Object 1">
            <a:extLst>
              <a:ext uri="{FF2B5EF4-FFF2-40B4-BE49-F238E27FC236}">
                <a16:creationId xmlns:a16="http://schemas.microsoft.com/office/drawing/2014/main" id="{5B48E039-6DC7-4DFB-838B-3A69FC002DC5}"/>
              </a:ext>
            </a:extLst>
          </p:cNvPr>
          <p:cNvGraphicFramePr>
            <a:graphicFrameLocks noChangeAspect="1"/>
          </p:cNvGraphicFramePr>
          <p:nvPr>
            <p:extLst>
              <p:ext uri="{D42A27DB-BD31-4B8C-83A1-F6EECF244321}">
                <p14:modId xmlns:p14="http://schemas.microsoft.com/office/powerpoint/2010/main" val="649580481"/>
              </p:ext>
            </p:extLst>
          </p:nvPr>
        </p:nvGraphicFramePr>
        <p:xfrm>
          <a:off x="2651125" y="4470400"/>
          <a:ext cx="2649538" cy="428625"/>
        </p:xfrm>
        <a:graphic>
          <a:graphicData uri="http://schemas.openxmlformats.org/presentationml/2006/ole">
            <mc:AlternateContent xmlns:mc="http://schemas.openxmlformats.org/markup-compatibility/2006">
              <mc:Choice xmlns:v="urn:schemas-microsoft-com:vml" Requires="v">
                <p:oleObj name="Equation" r:id="rId2" imgW="2361960" imgH="380880" progId="Equation.DSMT4">
                  <p:embed/>
                </p:oleObj>
              </mc:Choice>
              <mc:Fallback>
                <p:oleObj name="Equation" r:id="rId2" imgW="2361960" imgH="380880" progId="Equation.DSMT4">
                  <p:embed/>
                  <p:pic>
                    <p:nvPicPr>
                      <p:cNvPr id="0" name=""/>
                      <p:cNvPicPr/>
                      <p:nvPr/>
                    </p:nvPicPr>
                    <p:blipFill>
                      <a:blip r:embed="rId3"/>
                      <a:stretch>
                        <a:fillRect/>
                      </a:stretch>
                    </p:blipFill>
                    <p:spPr>
                      <a:xfrm>
                        <a:off x="2651125" y="4470400"/>
                        <a:ext cx="2649538" cy="428625"/>
                      </a:xfrm>
                      <a:prstGeom prst="rect">
                        <a:avLst/>
                      </a:prstGeom>
                    </p:spPr>
                  </p:pic>
                </p:oleObj>
              </mc:Fallback>
            </mc:AlternateContent>
          </a:graphicData>
        </a:graphic>
      </p:graphicFrame>
      <p:sp>
        <p:nvSpPr>
          <p:cNvPr id="19" name="Content Placeholder 18">
            <a:extLst>
              <a:ext uri="{FF2B5EF4-FFF2-40B4-BE49-F238E27FC236}">
                <a16:creationId xmlns:a16="http://schemas.microsoft.com/office/drawing/2014/main" id="{1C7BA2D0-E568-4360-85BD-6F905AA60BD8}"/>
              </a:ext>
            </a:extLst>
          </p:cNvPr>
          <p:cNvSpPr>
            <a:spLocks noGrp="1"/>
          </p:cNvSpPr>
          <p:nvPr>
            <p:ph sz="quarter" idx="17"/>
          </p:nvPr>
        </p:nvSpPr>
        <p:spPr>
          <a:xfrm>
            <a:off x="342900" y="5021073"/>
            <a:ext cx="8283512" cy="775544"/>
          </a:xfrm>
        </p:spPr>
        <p:txBody>
          <a:bodyPr tIns="0"/>
          <a:lstStyle/>
          <a:p>
            <a:pPr marL="292608" indent="-292608">
              <a:buFont typeface="Arial" panose="020B0604020202020204" pitchFamily="34" charset="0"/>
              <a:buChar char="•"/>
            </a:pPr>
            <a:r>
              <a:rPr lang="en-US" dirty="0"/>
              <a:t>An equivalent statement is that a population is effectively infinite when it is at least 20 times as large as the sample</a:t>
            </a:r>
          </a:p>
        </p:txBody>
      </p:sp>
      <p:graphicFrame>
        <p:nvGraphicFramePr>
          <p:cNvPr id="3" name="Object 2">
            <a:extLst>
              <a:ext uri="{FF2B5EF4-FFF2-40B4-BE49-F238E27FC236}">
                <a16:creationId xmlns:a16="http://schemas.microsoft.com/office/drawing/2014/main" id="{24B9B3EA-0F3B-4327-A5DF-6FBDF63DFE0C}"/>
              </a:ext>
            </a:extLst>
          </p:cNvPr>
          <p:cNvGraphicFramePr>
            <a:graphicFrameLocks noChangeAspect="1"/>
          </p:cNvGraphicFramePr>
          <p:nvPr>
            <p:extLst>
              <p:ext uri="{D42A27DB-BD31-4B8C-83A1-F6EECF244321}">
                <p14:modId xmlns:p14="http://schemas.microsoft.com/office/powerpoint/2010/main" val="3519709527"/>
              </p:ext>
            </p:extLst>
          </p:nvPr>
        </p:nvGraphicFramePr>
        <p:xfrm>
          <a:off x="661988" y="5795963"/>
          <a:ext cx="3351212" cy="461962"/>
        </p:xfrm>
        <a:graphic>
          <a:graphicData uri="http://schemas.openxmlformats.org/presentationml/2006/ole">
            <mc:AlternateContent xmlns:mc="http://schemas.openxmlformats.org/markup-compatibility/2006">
              <mc:Choice xmlns:v="urn:schemas-microsoft-com:vml" Requires="v">
                <p:oleObj name="Equation" r:id="rId4" imgW="2768400" imgH="380880" progId="Equation.DSMT4">
                  <p:embed/>
                </p:oleObj>
              </mc:Choice>
              <mc:Fallback>
                <p:oleObj name="Equation" r:id="rId4" imgW="2768400" imgH="380880" progId="Equation.DSMT4">
                  <p:embed/>
                  <p:pic>
                    <p:nvPicPr>
                      <p:cNvPr id="0" name=""/>
                      <p:cNvPicPr/>
                      <p:nvPr/>
                    </p:nvPicPr>
                    <p:blipFill>
                      <a:blip r:embed="rId5"/>
                      <a:stretch>
                        <a:fillRect/>
                      </a:stretch>
                    </p:blipFill>
                    <p:spPr>
                      <a:xfrm>
                        <a:off x="661988" y="5795963"/>
                        <a:ext cx="3351212" cy="461962"/>
                      </a:xfrm>
                      <a:prstGeom prst="rect">
                        <a:avLst/>
                      </a:prstGeom>
                    </p:spPr>
                  </p:pic>
                </p:oleObj>
              </mc:Fallback>
            </mc:AlternateContent>
          </a:graphicData>
        </a:graphic>
      </p:graphicFrame>
      <p:sp>
        <p:nvSpPr>
          <p:cNvPr id="11" name="Slide Number Placeholder 10">
            <a:extLst>
              <a:ext uri="{FF2B5EF4-FFF2-40B4-BE49-F238E27FC236}">
                <a16:creationId xmlns:a16="http://schemas.microsoft.com/office/drawing/2014/main" id="{F9AE04BF-DEFD-4C5A-A763-697F11EE5EBC}"/>
              </a:ext>
            </a:extLst>
          </p:cNvPr>
          <p:cNvSpPr>
            <a:spLocks noGrp="1"/>
          </p:cNvSpPr>
          <p:nvPr>
            <p:ph type="sldNum" sz="quarter" idx="10"/>
          </p:nvPr>
        </p:nvSpPr>
        <p:spPr/>
        <p:txBody>
          <a:bodyPr/>
          <a:lstStyle/>
          <a:p>
            <a:fld id="{68151E55-6873-49E2-B8D5-2F265E6F1973}" type="slidenum">
              <a:rPr lang="en-US" smtClean="0"/>
              <a:t>30</a:t>
            </a:fld>
            <a:endParaRPr lang="en-US" dirty="0"/>
          </a:p>
        </p:txBody>
      </p:sp>
    </p:spTree>
    <p:extLst>
      <p:ext uri="{BB962C8B-B14F-4D97-AF65-F5344CB8AC3E}">
        <p14:creationId xmlns:p14="http://schemas.microsoft.com/office/powerpoint/2010/main" val="235543081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2408DA-7088-49FD-A9F2-FA30ACCB8868}"/>
              </a:ext>
            </a:extLst>
          </p:cNvPr>
          <p:cNvSpPr>
            <a:spLocks noGrp="1"/>
          </p:cNvSpPr>
          <p:nvPr>
            <p:ph type="title"/>
          </p:nvPr>
        </p:nvSpPr>
        <p:spPr>
          <a:xfrm>
            <a:off x="342900" y="192490"/>
            <a:ext cx="6910307" cy="903231"/>
          </a:xfrm>
        </p:spPr>
        <p:txBody>
          <a:bodyPr>
            <a:normAutofit/>
          </a:bodyPr>
          <a:lstStyle/>
          <a:p>
            <a:r>
              <a:rPr lang="en-IN" sz="3600" dirty="0"/>
              <a:t>Systematic Sampling</a:t>
            </a:r>
          </a:p>
        </p:txBody>
      </p:sp>
      <p:sp>
        <p:nvSpPr>
          <p:cNvPr id="7" name="Content Placeholder 2">
            <a:extLst>
              <a:ext uri="{FF2B5EF4-FFF2-40B4-BE49-F238E27FC236}">
                <a16:creationId xmlns:a16="http://schemas.microsoft.com/office/drawing/2014/main" id="{1449C62D-25C9-7B65-A90A-2A6D80FDDE18}"/>
              </a:ext>
            </a:extLst>
          </p:cNvPr>
          <p:cNvSpPr>
            <a:spLocks noGrp="1"/>
          </p:cNvSpPr>
          <p:nvPr>
            <p:ph sz="quarter" idx="11"/>
          </p:nvPr>
        </p:nvSpPr>
        <p:spPr>
          <a:xfrm>
            <a:off x="8570287" y="66657"/>
            <a:ext cx="411965" cy="1154895"/>
          </a:xfrm>
        </p:spPr>
        <p:txBody>
          <a:bodyPr vert="vert" tIns="45720" rIns="0"/>
          <a:lstStyle/>
          <a:p>
            <a:pPr marL="1025525" indent="-1025525"/>
            <a:r>
              <a:rPr lang="en-US" b="1" dirty="0"/>
              <a:t>L</a:t>
            </a:r>
            <a:r>
              <a:rPr lang="en-US" sz="100" b="1" dirty="0"/>
              <a:t> </a:t>
            </a:r>
            <a:r>
              <a:rPr lang="en-US" b="1" dirty="0"/>
              <a:t>O 2.7</a:t>
            </a:r>
            <a:endParaRPr lang="en-IN" b="1" dirty="0"/>
          </a:p>
        </p:txBody>
      </p:sp>
      <p:sp>
        <p:nvSpPr>
          <p:cNvPr id="4" name="Content Placeholder 3">
            <a:extLst>
              <a:ext uri="{FF2B5EF4-FFF2-40B4-BE49-F238E27FC236}">
                <a16:creationId xmlns:a16="http://schemas.microsoft.com/office/drawing/2014/main" id="{53AA3923-E6FA-4CE2-89E3-2D6CF078E7F7}"/>
              </a:ext>
            </a:extLst>
          </p:cNvPr>
          <p:cNvSpPr>
            <a:spLocks noGrp="1"/>
          </p:cNvSpPr>
          <p:nvPr>
            <p:ph sz="quarter" idx="14"/>
          </p:nvPr>
        </p:nvSpPr>
        <p:spPr>
          <a:xfrm>
            <a:off x="342898" y="1268673"/>
            <a:ext cx="8221646" cy="903231"/>
          </a:xfrm>
        </p:spPr>
        <p:txBody>
          <a:bodyPr/>
          <a:lstStyle/>
          <a:p>
            <a:r>
              <a:rPr lang="en-IN" dirty="0">
                <a:solidFill>
                  <a:schemeClr val="tx1"/>
                </a:solidFill>
              </a:rPr>
              <a:t>Sample by choosing every </a:t>
            </a:r>
            <a:r>
              <a:rPr lang="en-US" i="1" dirty="0" err="1">
                <a:solidFill>
                  <a:schemeClr val="tx1"/>
                </a:solidFill>
              </a:rPr>
              <a:t>k</a:t>
            </a:r>
            <a:r>
              <a:rPr lang="en-US" sz="200" dirty="0" err="1">
                <a:solidFill>
                  <a:schemeClr val="bg1"/>
                </a:solidFill>
              </a:rPr>
              <a:t>ay</a:t>
            </a:r>
            <a:r>
              <a:rPr lang="en-US" dirty="0" err="1">
                <a:solidFill>
                  <a:schemeClr val="tx1"/>
                </a:solidFill>
              </a:rPr>
              <a:t>th</a:t>
            </a:r>
            <a:r>
              <a:rPr lang="en-IN" dirty="0">
                <a:solidFill>
                  <a:schemeClr val="tx1"/>
                </a:solidFill>
              </a:rPr>
              <a:t> item from a list, starting from form a randomly chosen entry on the list.</a:t>
            </a:r>
          </a:p>
        </p:txBody>
      </p:sp>
      <p:sp>
        <p:nvSpPr>
          <p:cNvPr id="12" name="Content Placeholder 11">
            <a:extLst>
              <a:ext uri="{FF2B5EF4-FFF2-40B4-BE49-F238E27FC236}">
                <a16:creationId xmlns:a16="http://schemas.microsoft.com/office/drawing/2014/main" id="{7E2935AA-A169-44DD-9F0B-A31953C5CAAD}"/>
              </a:ext>
            </a:extLst>
          </p:cNvPr>
          <p:cNvSpPr>
            <a:spLocks noGrp="1"/>
          </p:cNvSpPr>
          <p:nvPr>
            <p:ph sz="quarter" idx="17"/>
          </p:nvPr>
        </p:nvSpPr>
        <p:spPr>
          <a:xfrm>
            <a:off x="342899" y="2286690"/>
            <a:ext cx="8227388" cy="1189565"/>
          </a:xfrm>
        </p:spPr>
        <p:txBody>
          <a:bodyPr/>
          <a:lstStyle/>
          <a:p>
            <a:r>
              <a:rPr lang="en-IN" dirty="0">
                <a:solidFill>
                  <a:schemeClr val="tx1"/>
                </a:solidFill>
              </a:rPr>
              <a:t>For example, starting at item 2 (see below), we sample every 4 items to obtain a sample of </a:t>
            </a:r>
            <a:r>
              <a:rPr lang="en-IN" i="1" dirty="0">
                <a:solidFill>
                  <a:schemeClr val="tx1"/>
                </a:solidFill>
              </a:rPr>
              <a:t>n</a:t>
            </a:r>
            <a:r>
              <a:rPr lang="en-IN" dirty="0">
                <a:solidFill>
                  <a:schemeClr val="tx1"/>
                </a:solidFill>
              </a:rPr>
              <a:t> = 20 items from a list of </a:t>
            </a:r>
            <a:r>
              <a:rPr lang="en-IN" i="1" dirty="0">
                <a:solidFill>
                  <a:schemeClr val="tx1"/>
                </a:solidFill>
              </a:rPr>
              <a:t>N </a:t>
            </a:r>
            <a:r>
              <a:rPr lang="en-IN" dirty="0">
                <a:solidFill>
                  <a:schemeClr val="tx1"/>
                </a:solidFill>
              </a:rPr>
              <a:t>= 78 items.</a:t>
            </a:r>
          </a:p>
        </p:txBody>
      </p:sp>
      <p:sp>
        <p:nvSpPr>
          <p:cNvPr id="5" name="Content Placeholder 4">
            <a:extLst>
              <a:ext uri="{FF2B5EF4-FFF2-40B4-BE49-F238E27FC236}">
                <a16:creationId xmlns:a16="http://schemas.microsoft.com/office/drawing/2014/main" id="{12D71DC9-9D4D-498C-92D5-611B71434CCC}"/>
              </a:ext>
            </a:extLst>
          </p:cNvPr>
          <p:cNvSpPr>
            <a:spLocks noGrp="1"/>
          </p:cNvSpPr>
          <p:nvPr>
            <p:ph sz="quarter" idx="15"/>
          </p:nvPr>
        </p:nvSpPr>
        <p:spPr>
          <a:xfrm>
            <a:off x="342900" y="3639198"/>
            <a:ext cx="1734368" cy="397763"/>
          </a:xfrm>
        </p:spPr>
        <p:txBody>
          <a:bodyPr tIns="0"/>
          <a:lstStyle/>
          <a:p>
            <a:pPr marL="292608" indent="-292608">
              <a:buFont typeface="Arial" panose="020B0604020202020204" pitchFamily="34" charset="0"/>
              <a:buChar char="•"/>
            </a:pPr>
            <a:r>
              <a:rPr lang="en-US" dirty="0"/>
              <a:t>Note that</a:t>
            </a:r>
          </a:p>
        </p:txBody>
      </p:sp>
      <p:graphicFrame>
        <p:nvGraphicFramePr>
          <p:cNvPr id="9" name="Object 8">
            <a:extLst>
              <a:ext uri="{FF2B5EF4-FFF2-40B4-BE49-F238E27FC236}">
                <a16:creationId xmlns:a16="http://schemas.microsoft.com/office/drawing/2014/main" id="{C5066CE5-9200-45CB-958E-E51F2A75CD1E}"/>
              </a:ext>
            </a:extLst>
          </p:cNvPr>
          <p:cNvGraphicFramePr>
            <a:graphicFrameLocks noChangeAspect="1"/>
          </p:cNvGraphicFramePr>
          <p:nvPr/>
        </p:nvGraphicFramePr>
        <p:xfrm>
          <a:off x="2069707" y="3680642"/>
          <a:ext cx="2297720" cy="314874"/>
        </p:xfrm>
        <a:graphic>
          <a:graphicData uri="http://schemas.openxmlformats.org/presentationml/2006/ole">
            <mc:AlternateContent xmlns:mc="http://schemas.openxmlformats.org/markup-compatibility/2006">
              <mc:Choice xmlns:v="urn:schemas-microsoft-com:vml" Requires="v">
                <p:oleObj name="Equation" r:id="rId2" imgW="1854000" imgH="253800" progId="Equation.DSMT4">
                  <p:embed/>
                </p:oleObj>
              </mc:Choice>
              <mc:Fallback>
                <p:oleObj name="Equation" r:id="rId2" imgW="1854000" imgH="253800" progId="Equation.DSMT4">
                  <p:embed/>
                  <p:pic>
                    <p:nvPicPr>
                      <p:cNvPr id="9" name="Object 8">
                        <a:extLst>
                          <a:ext uri="{FF2B5EF4-FFF2-40B4-BE49-F238E27FC236}">
                            <a16:creationId xmlns:a16="http://schemas.microsoft.com/office/drawing/2014/main" id="{C5066CE5-9200-45CB-958E-E51F2A75CD1E}"/>
                          </a:ext>
                        </a:extLst>
                      </p:cNvPr>
                      <p:cNvPicPr/>
                      <p:nvPr/>
                    </p:nvPicPr>
                    <p:blipFill>
                      <a:blip r:embed="rId3"/>
                      <a:stretch>
                        <a:fillRect/>
                      </a:stretch>
                    </p:blipFill>
                    <p:spPr>
                      <a:xfrm>
                        <a:off x="2069707" y="3680642"/>
                        <a:ext cx="2297720" cy="314874"/>
                      </a:xfrm>
                      <a:prstGeom prst="rect">
                        <a:avLst/>
                      </a:prstGeom>
                    </p:spPr>
                  </p:pic>
                </p:oleObj>
              </mc:Fallback>
            </mc:AlternateContent>
          </a:graphicData>
        </a:graphic>
      </p:graphicFrame>
      <p:sp>
        <p:nvSpPr>
          <p:cNvPr id="13" name="Content Placeholder 12">
            <a:extLst>
              <a:ext uri="{FF2B5EF4-FFF2-40B4-BE49-F238E27FC236}">
                <a16:creationId xmlns:a16="http://schemas.microsoft.com/office/drawing/2014/main" id="{093A5B45-FC7B-40CB-B50D-77230AD05B4C}"/>
              </a:ext>
            </a:extLst>
          </p:cNvPr>
          <p:cNvSpPr>
            <a:spLocks noGrp="1"/>
          </p:cNvSpPr>
          <p:nvPr>
            <p:ph sz="quarter" idx="18"/>
          </p:nvPr>
        </p:nvSpPr>
        <p:spPr>
          <a:xfrm>
            <a:off x="4381177" y="3606512"/>
            <a:ext cx="1900679" cy="463134"/>
          </a:xfrm>
        </p:spPr>
        <p:txBody>
          <a:bodyPr/>
          <a:lstStyle/>
          <a:p>
            <a:r>
              <a:rPr lang="en-US" dirty="0"/>
              <a:t>(periodicity).</a:t>
            </a:r>
          </a:p>
        </p:txBody>
      </p:sp>
      <p:pic>
        <p:nvPicPr>
          <p:cNvPr id="11" name="Picture 10" descr="A diagram shows 78 samples. Every fourth sample is selected starting from the second sample.&#10;">
            <a:extLst>
              <a:ext uri="{FF2B5EF4-FFF2-40B4-BE49-F238E27FC236}">
                <a16:creationId xmlns:a16="http://schemas.microsoft.com/office/drawing/2014/main" id="{28920287-2702-463D-92A0-294E15640471}"/>
              </a:ext>
            </a:extLst>
          </p:cNvPr>
          <p:cNvPicPr>
            <a:picLocks noChangeAspect="1"/>
          </p:cNvPicPr>
          <p:nvPr/>
        </p:nvPicPr>
        <p:blipFill>
          <a:blip r:embed="rId4"/>
          <a:stretch>
            <a:fillRect/>
          </a:stretch>
        </p:blipFill>
        <p:spPr>
          <a:xfrm>
            <a:off x="647157" y="4462211"/>
            <a:ext cx="7766977" cy="1316850"/>
          </a:xfrm>
          <a:prstGeom prst="rect">
            <a:avLst/>
          </a:prstGeom>
        </p:spPr>
      </p:pic>
      <p:sp>
        <p:nvSpPr>
          <p:cNvPr id="10" name="Slide Number Placeholder 9">
            <a:extLst>
              <a:ext uri="{FF2B5EF4-FFF2-40B4-BE49-F238E27FC236}">
                <a16:creationId xmlns:a16="http://schemas.microsoft.com/office/drawing/2014/main" id="{B024B0F4-BF34-49B8-B1F0-1C3B1F4220DB}"/>
              </a:ext>
            </a:extLst>
          </p:cNvPr>
          <p:cNvSpPr>
            <a:spLocks noGrp="1"/>
          </p:cNvSpPr>
          <p:nvPr>
            <p:ph type="sldNum" sz="quarter" idx="10"/>
          </p:nvPr>
        </p:nvSpPr>
        <p:spPr/>
        <p:txBody>
          <a:bodyPr/>
          <a:lstStyle/>
          <a:p>
            <a:fld id="{68151E55-6873-49E2-B8D5-2F265E6F1973}" type="slidenum">
              <a:rPr lang="en-US" smtClean="0"/>
              <a:t>31</a:t>
            </a:fld>
            <a:endParaRPr lang="en-US" dirty="0"/>
          </a:p>
        </p:txBody>
      </p:sp>
    </p:spTree>
    <p:extLst>
      <p:ext uri="{BB962C8B-B14F-4D97-AF65-F5344CB8AC3E}">
        <p14:creationId xmlns:p14="http://schemas.microsoft.com/office/powerpoint/2010/main" val="230139971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1" y="192490"/>
            <a:ext cx="7348412" cy="903231"/>
          </a:xfrm>
        </p:spPr>
        <p:txBody>
          <a:bodyPr>
            <a:normAutofit/>
          </a:bodyPr>
          <a:lstStyle/>
          <a:p>
            <a:r>
              <a:rPr lang="en-IN" sz="3600" dirty="0"/>
              <a:t>Stratified Sampling</a:t>
            </a:r>
          </a:p>
        </p:txBody>
      </p:sp>
      <p:sp>
        <p:nvSpPr>
          <p:cNvPr id="7" name="Content Placeholder 2">
            <a:extLst>
              <a:ext uri="{FF2B5EF4-FFF2-40B4-BE49-F238E27FC236}">
                <a16:creationId xmlns:a16="http://schemas.microsoft.com/office/drawing/2014/main" id="{CFAA573D-5486-9878-DA6B-3F819C7BDE7A}"/>
              </a:ext>
            </a:extLst>
          </p:cNvPr>
          <p:cNvSpPr>
            <a:spLocks noGrp="1"/>
          </p:cNvSpPr>
          <p:nvPr>
            <p:ph sz="quarter" idx="11"/>
          </p:nvPr>
        </p:nvSpPr>
        <p:spPr>
          <a:xfrm>
            <a:off x="8598957" y="54864"/>
            <a:ext cx="476295" cy="1295711"/>
          </a:xfrm>
        </p:spPr>
        <p:txBody>
          <a:bodyPr vert="vert" tIns="45720" rIns="0"/>
          <a:lstStyle/>
          <a:p>
            <a:pPr marL="1025525" indent="-1025525"/>
            <a:r>
              <a:rPr lang="en-US" b="1" dirty="0"/>
              <a:t>L</a:t>
            </a:r>
            <a:r>
              <a:rPr lang="en-US" sz="100" b="1" dirty="0"/>
              <a:t> </a:t>
            </a:r>
            <a:r>
              <a:rPr lang="en-US" b="1" dirty="0"/>
              <a:t>O 2.7</a:t>
            </a:r>
            <a:endParaRPr lang="en-IN" b="1" dirty="0"/>
          </a:p>
        </p:txBody>
      </p:sp>
      <p:sp>
        <p:nvSpPr>
          <p:cNvPr id="4" name="Content Placeholder 3"/>
          <p:cNvSpPr>
            <a:spLocks noGrp="1"/>
          </p:cNvSpPr>
          <p:nvPr>
            <p:ph sz="quarter" idx="14"/>
          </p:nvPr>
        </p:nvSpPr>
        <p:spPr>
          <a:xfrm>
            <a:off x="342901" y="1278015"/>
            <a:ext cx="8089900" cy="3878447"/>
          </a:xfrm>
        </p:spPr>
        <p:txBody>
          <a:bodyPr/>
          <a:lstStyle/>
          <a:p>
            <a:pPr marL="292608" indent="-292608">
              <a:buFont typeface="Arial" panose="020B0604020202020204" pitchFamily="34" charset="0"/>
              <a:buChar char="•"/>
            </a:pPr>
            <a:r>
              <a:rPr lang="en-IN" dirty="0"/>
              <a:t>Utilizes prior information about the population.</a:t>
            </a:r>
          </a:p>
          <a:p>
            <a:pPr marL="292608" indent="-292608">
              <a:buFont typeface="Arial" panose="020B0604020202020204" pitchFamily="34" charset="0"/>
              <a:buChar char="•"/>
            </a:pPr>
            <a:r>
              <a:rPr lang="en-IN" dirty="0"/>
              <a:t>Applicable when the population can be divided into relatively homogeneous subgroups of known size (</a:t>
            </a:r>
            <a:r>
              <a:rPr lang="en-IN" b="1" dirty="0"/>
              <a:t>strata</a:t>
            </a:r>
            <a:r>
              <a:rPr lang="en-IN" dirty="0"/>
              <a:t>).</a:t>
            </a:r>
          </a:p>
          <a:p>
            <a:pPr marL="292608" indent="-292608">
              <a:buFont typeface="Arial" panose="020B0604020202020204" pitchFamily="34" charset="0"/>
              <a:buChar char="•"/>
            </a:pPr>
            <a:r>
              <a:rPr lang="en-IN" dirty="0"/>
              <a:t>A simple random sample of the desired size is taken within each </a:t>
            </a:r>
            <a:r>
              <a:rPr lang="en-IN" b="1" dirty="0"/>
              <a:t>stratum</a:t>
            </a:r>
            <a:r>
              <a:rPr lang="en-IN" dirty="0"/>
              <a:t>.</a:t>
            </a:r>
          </a:p>
          <a:p>
            <a:pPr marL="292608" indent="-292608">
              <a:buFont typeface="Arial" panose="020B0604020202020204" pitchFamily="34" charset="0"/>
              <a:buChar char="•"/>
            </a:pPr>
            <a:r>
              <a:rPr lang="en-IN" dirty="0"/>
              <a:t>Alternatively, a random sample of the whole population could be taken, and then individual strata estimates could be combined using appropriate weights.</a:t>
            </a:r>
          </a:p>
        </p:txBody>
      </p:sp>
      <p:sp>
        <p:nvSpPr>
          <p:cNvPr id="5" name="Content Placeholder 4"/>
          <p:cNvSpPr>
            <a:spLocks noGrp="1"/>
          </p:cNvSpPr>
          <p:nvPr>
            <p:ph sz="quarter" idx="15"/>
          </p:nvPr>
        </p:nvSpPr>
        <p:spPr>
          <a:xfrm>
            <a:off x="342900" y="5324890"/>
            <a:ext cx="8089900" cy="510189"/>
          </a:xfrm>
        </p:spPr>
        <p:txBody>
          <a:bodyPr/>
          <a:lstStyle/>
          <a:p>
            <a:pPr eaLnBrk="0" hangingPunct="0">
              <a:spcBef>
                <a:spcPct val="20000"/>
              </a:spcBef>
              <a:buClr>
                <a:schemeClr val="bg2"/>
              </a:buClr>
              <a:buSzPct val="75000"/>
              <a:defRPr/>
            </a:pPr>
            <a:r>
              <a:rPr lang="en-US" dirty="0"/>
              <a:t>Examples: Gender, Race, etc.</a:t>
            </a:r>
          </a:p>
        </p:txBody>
      </p:sp>
      <p:sp>
        <p:nvSpPr>
          <p:cNvPr id="10" name="Slide Number Placeholder 9"/>
          <p:cNvSpPr>
            <a:spLocks noGrp="1"/>
          </p:cNvSpPr>
          <p:nvPr>
            <p:ph type="sldNum" sz="quarter" idx="10"/>
          </p:nvPr>
        </p:nvSpPr>
        <p:spPr/>
        <p:txBody>
          <a:bodyPr/>
          <a:lstStyle/>
          <a:p>
            <a:fld id="{68151E55-6873-49E2-B8D5-2F265E6F1973}" type="slidenum">
              <a:rPr lang="en-US" smtClean="0"/>
              <a:t>32</a:t>
            </a:fld>
            <a:endParaRPr lang="en-US" dirty="0"/>
          </a:p>
        </p:txBody>
      </p:sp>
    </p:spTree>
    <p:extLst>
      <p:ext uri="{BB962C8B-B14F-4D97-AF65-F5344CB8AC3E}">
        <p14:creationId xmlns:p14="http://schemas.microsoft.com/office/powerpoint/2010/main" val="337978244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192490"/>
            <a:ext cx="7700720" cy="903231"/>
          </a:xfrm>
        </p:spPr>
        <p:txBody>
          <a:bodyPr/>
          <a:lstStyle/>
          <a:p>
            <a:r>
              <a:rPr lang="en-IN" sz="3600" dirty="0"/>
              <a:t>Cluster Sampling </a:t>
            </a:r>
            <a:r>
              <a:rPr lang="en-IN" sz="1000" b="0" baseline="0" dirty="0"/>
              <a:t>1</a:t>
            </a:r>
          </a:p>
        </p:txBody>
      </p:sp>
      <p:sp>
        <p:nvSpPr>
          <p:cNvPr id="7" name="Content Placeholder 2">
            <a:extLst>
              <a:ext uri="{FF2B5EF4-FFF2-40B4-BE49-F238E27FC236}">
                <a16:creationId xmlns:a16="http://schemas.microsoft.com/office/drawing/2014/main" id="{DC188843-86FC-5733-C714-48395FF461D6}"/>
              </a:ext>
            </a:extLst>
          </p:cNvPr>
          <p:cNvSpPr>
            <a:spLocks noGrp="1"/>
          </p:cNvSpPr>
          <p:nvPr>
            <p:ph sz="quarter" idx="11"/>
          </p:nvPr>
        </p:nvSpPr>
        <p:spPr>
          <a:xfrm>
            <a:off x="8598957" y="54864"/>
            <a:ext cx="476295" cy="1295711"/>
          </a:xfrm>
        </p:spPr>
        <p:txBody>
          <a:bodyPr vert="vert" tIns="45720" rIns="0"/>
          <a:lstStyle/>
          <a:p>
            <a:pPr marL="1025525" indent="-1025525"/>
            <a:r>
              <a:rPr lang="en-US" b="1" dirty="0"/>
              <a:t>L</a:t>
            </a:r>
            <a:r>
              <a:rPr lang="en-US" sz="100" b="1" dirty="0"/>
              <a:t> </a:t>
            </a:r>
            <a:r>
              <a:rPr lang="en-US" b="1" dirty="0"/>
              <a:t>O 2.7</a:t>
            </a:r>
            <a:endParaRPr lang="en-IN" b="1" dirty="0"/>
          </a:p>
        </p:txBody>
      </p:sp>
      <p:sp>
        <p:nvSpPr>
          <p:cNvPr id="4" name="Content Placeholder 3"/>
          <p:cNvSpPr>
            <a:spLocks noGrp="1"/>
          </p:cNvSpPr>
          <p:nvPr>
            <p:ph sz="quarter" idx="14"/>
          </p:nvPr>
        </p:nvSpPr>
        <p:spPr>
          <a:xfrm>
            <a:off x="342901" y="1278014"/>
            <a:ext cx="8191500" cy="3352979"/>
          </a:xfrm>
        </p:spPr>
        <p:txBody>
          <a:bodyPr/>
          <a:lstStyle/>
          <a:p>
            <a:pPr marL="292608" indent="-292608">
              <a:buFont typeface="Arial" panose="020B0604020202020204" pitchFamily="34" charset="0"/>
              <a:buChar char="•"/>
            </a:pPr>
            <a:r>
              <a:rPr lang="en-IN" dirty="0"/>
              <a:t>Strata consist of geographical regions.</a:t>
            </a:r>
          </a:p>
          <a:p>
            <a:pPr marL="292608" indent="-292608">
              <a:buFont typeface="Arial" panose="020B0604020202020204" pitchFamily="34" charset="0"/>
              <a:buChar char="•"/>
            </a:pPr>
            <a:r>
              <a:rPr lang="en-IN" b="1" dirty="0"/>
              <a:t>One-stage </a:t>
            </a:r>
            <a:r>
              <a:rPr lang="en-IN" dirty="0"/>
              <a:t>cluster sampling – sample consists of all elements in each of </a:t>
            </a:r>
            <a:r>
              <a:rPr lang="en-IN" i="1" dirty="0"/>
              <a:t>k</a:t>
            </a:r>
            <a:r>
              <a:rPr lang="en-IN" dirty="0"/>
              <a:t> randomly chosen subregions (clusters).</a:t>
            </a:r>
          </a:p>
          <a:p>
            <a:pPr marL="292608" indent="-292608">
              <a:buFont typeface="Arial" panose="020B0604020202020204" pitchFamily="34" charset="0"/>
              <a:buChar char="•"/>
            </a:pPr>
            <a:r>
              <a:rPr lang="en-IN" b="1" dirty="0"/>
              <a:t>Two-stage </a:t>
            </a:r>
            <a:r>
              <a:rPr lang="en-IN" dirty="0"/>
              <a:t>cluster sampling – first choose </a:t>
            </a:r>
            <a:r>
              <a:rPr lang="en-IN" i="1" dirty="0"/>
              <a:t>k</a:t>
            </a:r>
            <a:r>
              <a:rPr lang="en-IN" dirty="0"/>
              <a:t> subregions (clusters), then choose a random sample of elements within each cluster.</a:t>
            </a:r>
          </a:p>
        </p:txBody>
      </p:sp>
      <p:sp>
        <p:nvSpPr>
          <p:cNvPr id="10" name="Slide Number Placeholder 9"/>
          <p:cNvSpPr>
            <a:spLocks noGrp="1"/>
          </p:cNvSpPr>
          <p:nvPr>
            <p:ph type="sldNum" sz="quarter" idx="10"/>
          </p:nvPr>
        </p:nvSpPr>
        <p:spPr/>
        <p:txBody>
          <a:bodyPr/>
          <a:lstStyle/>
          <a:p>
            <a:fld id="{68151E55-6873-49E2-B8D5-2F265E6F1973}" type="slidenum">
              <a:rPr lang="en-US" smtClean="0"/>
              <a:t>33</a:t>
            </a:fld>
            <a:endParaRPr lang="en-US" dirty="0"/>
          </a:p>
        </p:txBody>
      </p:sp>
    </p:spTree>
    <p:extLst>
      <p:ext uri="{BB962C8B-B14F-4D97-AF65-F5344CB8AC3E}">
        <p14:creationId xmlns:p14="http://schemas.microsoft.com/office/powerpoint/2010/main" val="100668050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2408DA-7088-49FD-A9F2-FA30ACCB8868}"/>
              </a:ext>
            </a:extLst>
          </p:cNvPr>
          <p:cNvSpPr>
            <a:spLocks noGrp="1"/>
          </p:cNvSpPr>
          <p:nvPr>
            <p:ph type="title"/>
          </p:nvPr>
        </p:nvSpPr>
        <p:spPr>
          <a:xfrm>
            <a:off x="342900" y="192490"/>
            <a:ext cx="7731717" cy="903231"/>
          </a:xfrm>
        </p:spPr>
        <p:txBody>
          <a:bodyPr/>
          <a:lstStyle/>
          <a:p>
            <a:r>
              <a:rPr lang="en-IN" sz="3600" dirty="0"/>
              <a:t>Cluster Sampling </a:t>
            </a:r>
            <a:r>
              <a:rPr lang="en-IN" sz="1000" b="0" dirty="0"/>
              <a:t>2</a:t>
            </a:r>
            <a:endParaRPr lang="en-IN" dirty="0"/>
          </a:p>
        </p:txBody>
      </p:sp>
      <p:sp>
        <p:nvSpPr>
          <p:cNvPr id="8" name="Content Placeholder 2">
            <a:extLst>
              <a:ext uri="{FF2B5EF4-FFF2-40B4-BE49-F238E27FC236}">
                <a16:creationId xmlns:a16="http://schemas.microsoft.com/office/drawing/2014/main" id="{61FF5C47-5C37-59C8-52D9-3D2C983BF3E9}"/>
              </a:ext>
            </a:extLst>
          </p:cNvPr>
          <p:cNvSpPr>
            <a:spLocks noGrp="1"/>
          </p:cNvSpPr>
          <p:nvPr>
            <p:ph sz="quarter" idx="11"/>
          </p:nvPr>
        </p:nvSpPr>
        <p:spPr>
          <a:xfrm>
            <a:off x="8598957" y="54864"/>
            <a:ext cx="476295" cy="1295711"/>
          </a:xfrm>
        </p:spPr>
        <p:txBody>
          <a:bodyPr vert="vert" tIns="45720" rIns="0"/>
          <a:lstStyle/>
          <a:p>
            <a:pPr marL="1025525" indent="-1025525"/>
            <a:r>
              <a:rPr lang="en-US" b="1" dirty="0"/>
              <a:t>L</a:t>
            </a:r>
            <a:r>
              <a:rPr lang="en-US" sz="100" b="1" dirty="0"/>
              <a:t> </a:t>
            </a:r>
            <a:r>
              <a:rPr lang="en-US" b="1" dirty="0"/>
              <a:t>O 2.7</a:t>
            </a:r>
            <a:endParaRPr lang="en-IN" b="1" dirty="0"/>
          </a:p>
        </p:txBody>
      </p:sp>
      <p:sp>
        <p:nvSpPr>
          <p:cNvPr id="4" name="Content Placeholder 3">
            <a:extLst>
              <a:ext uri="{FF2B5EF4-FFF2-40B4-BE49-F238E27FC236}">
                <a16:creationId xmlns:a16="http://schemas.microsoft.com/office/drawing/2014/main" id="{53AA3923-E6FA-4CE2-89E3-2D6CF078E7F7}"/>
              </a:ext>
            </a:extLst>
          </p:cNvPr>
          <p:cNvSpPr>
            <a:spLocks noGrp="1"/>
          </p:cNvSpPr>
          <p:nvPr>
            <p:ph sz="quarter" idx="14"/>
          </p:nvPr>
        </p:nvSpPr>
        <p:spPr>
          <a:xfrm>
            <a:off x="342900" y="1274081"/>
            <a:ext cx="3859455" cy="2396993"/>
          </a:xfrm>
        </p:spPr>
        <p:txBody>
          <a:bodyPr/>
          <a:lstStyle/>
          <a:p>
            <a:pPr eaLnBrk="0" hangingPunct="0">
              <a:spcBef>
                <a:spcPct val="20000"/>
              </a:spcBef>
              <a:buClr>
                <a:srgbClr val="E8004D"/>
              </a:buClr>
              <a:defRPr/>
            </a:pPr>
            <a:r>
              <a:rPr lang="en-US" b="1" dirty="0"/>
              <a:t>Cluster Sample:</a:t>
            </a:r>
          </a:p>
          <a:p>
            <a:pPr eaLnBrk="0" hangingPunct="0">
              <a:spcBef>
                <a:spcPct val="20000"/>
              </a:spcBef>
              <a:buClr>
                <a:srgbClr val="E8004D"/>
              </a:buClr>
              <a:defRPr/>
            </a:pPr>
            <a:r>
              <a:rPr lang="en-US" dirty="0"/>
              <a:t>Here is an example of 4 elements sampled from each of 3 randomly chosen clusters (two-stage cluster sampling).</a:t>
            </a:r>
          </a:p>
        </p:txBody>
      </p:sp>
      <p:sp>
        <p:nvSpPr>
          <p:cNvPr id="5" name="Content Placeholder 4">
            <a:extLst>
              <a:ext uri="{FF2B5EF4-FFF2-40B4-BE49-F238E27FC236}">
                <a16:creationId xmlns:a16="http://schemas.microsoft.com/office/drawing/2014/main" id="{12D71DC9-9D4D-498C-92D5-611B71434CCC}"/>
              </a:ext>
            </a:extLst>
          </p:cNvPr>
          <p:cNvSpPr>
            <a:spLocks noGrp="1"/>
          </p:cNvSpPr>
          <p:nvPr>
            <p:ph sz="quarter" idx="15"/>
          </p:nvPr>
        </p:nvSpPr>
        <p:spPr>
          <a:xfrm>
            <a:off x="342901" y="3849434"/>
            <a:ext cx="3996624" cy="2396993"/>
          </a:xfrm>
        </p:spPr>
        <p:txBody>
          <a:bodyPr tIns="0"/>
          <a:lstStyle/>
          <a:p>
            <a:r>
              <a:rPr lang="en-IN" b="1" dirty="0"/>
              <a:t>Figure 2.7:</a:t>
            </a:r>
          </a:p>
          <a:p>
            <a:r>
              <a:rPr lang="en-IN" b="1" dirty="0"/>
              <a:t>Two-Stage Cluster Sampling: Randomly choose three clusters, then randomly choose four items in each cluster.</a:t>
            </a:r>
            <a:endParaRPr lang="en-US" b="1" dirty="0"/>
          </a:p>
        </p:txBody>
      </p:sp>
      <p:pic>
        <p:nvPicPr>
          <p:cNvPr id="6" name="Picture 5" descr="A diagram shows 12 clusters containing elements. 3 clusters are highlighted. 4 elements in each cluster is highlighted.&#10;">
            <a:extLst>
              <a:ext uri="{FF2B5EF4-FFF2-40B4-BE49-F238E27FC236}">
                <a16:creationId xmlns:a16="http://schemas.microsoft.com/office/drawing/2014/main" id="{11C5065C-E87C-441E-B06D-744B649DCC17}"/>
              </a:ext>
            </a:extLst>
          </p:cNvPr>
          <p:cNvPicPr>
            <a:picLocks noChangeAspect="1"/>
          </p:cNvPicPr>
          <p:nvPr/>
        </p:nvPicPr>
        <p:blipFill>
          <a:blip r:embed="rId2"/>
          <a:stretch>
            <a:fillRect/>
          </a:stretch>
        </p:blipFill>
        <p:spPr>
          <a:xfrm>
            <a:off x="4490546" y="1786563"/>
            <a:ext cx="3859455" cy="3667995"/>
          </a:xfrm>
          <a:prstGeom prst="rect">
            <a:avLst/>
          </a:prstGeom>
        </p:spPr>
      </p:pic>
      <p:sp>
        <p:nvSpPr>
          <p:cNvPr id="10" name="Slide Number Placeholder 9">
            <a:extLst>
              <a:ext uri="{FF2B5EF4-FFF2-40B4-BE49-F238E27FC236}">
                <a16:creationId xmlns:a16="http://schemas.microsoft.com/office/drawing/2014/main" id="{B024B0F4-BF34-49B8-B1F0-1C3B1F4220DB}"/>
              </a:ext>
            </a:extLst>
          </p:cNvPr>
          <p:cNvSpPr>
            <a:spLocks noGrp="1"/>
          </p:cNvSpPr>
          <p:nvPr>
            <p:ph type="sldNum" sz="quarter" idx="10"/>
          </p:nvPr>
        </p:nvSpPr>
        <p:spPr/>
        <p:txBody>
          <a:bodyPr/>
          <a:lstStyle/>
          <a:p>
            <a:fld id="{68151E55-6873-49E2-B8D5-2F265E6F1973}" type="slidenum">
              <a:rPr lang="en-US" smtClean="0"/>
              <a:t>34</a:t>
            </a:fld>
            <a:endParaRPr lang="en-US" dirty="0"/>
          </a:p>
        </p:txBody>
      </p:sp>
    </p:spTree>
    <p:extLst>
      <p:ext uri="{BB962C8B-B14F-4D97-AF65-F5344CB8AC3E}">
        <p14:creationId xmlns:p14="http://schemas.microsoft.com/office/powerpoint/2010/main" val="388006312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192490"/>
            <a:ext cx="7772398" cy="903231"/>
          </a:xfrm>
        </p:spPr>
        <p:txBody>
          <a:bodyPr>
            <a:normAutofit/>
          </a:bodyPr>
          <a:lstStyle/>
          <a:p>
            <a:r>
              <a:rPr lang="en-IN" sz="3600" dirty="0"/>
              <a:t>Non-Random Sampling Methods</a:t>
            </a:r>
          </a:p>
        </p:txBody>
      </p:sp>
      <p:sp>
        <p:nvSpPr>
          <p:cNvPr id="5" name="Content Placeholder 2">
            <a:extLst>
              <a:ext uri="{FF2B5EF4-FFF2-40B4-BE49-F238E27FC236}">
                <a16:creationId xmlns:a16="http://schemas.microsoft.com/office/drawing/2014/main" id="{BD0F083A-B09C-9FCF-853E-97AFDBD85FB8}"/>
              </a:ext>
            </a:extLst>
          </p:cNvPr>
          <p:cNvSpPr>
            <a:spLocks noGrp="1"/>
          </p:cNvSpPr>
          <p:nvPr>
            <p:ph sz="quarter" idx="11"/>
          </p:nvPr>
        </p:nvSpPr>
        <p:spPr>
          <a:xfrm>
            <a:off x="8598957" y="54864"/>
            <a:ext cx="476295" cy="1295711"/>
          </a:xfrm>
        </p:spPr>
        <p:txBody>
          <a:bodyPr vert="vert" tIns="45720" rIns="0"/>
          <a:lstStyle/>
          <a:p>
            <a:pPr marL="1025525" indent="-1025525"/>
            <a:r>
              <a:rPr lang="en-US" b="1" dirty="0"/>
              <a:t>L</a:t>
            </a:r>
            <a:r>
              <a:rPr lang="en-US" sz="100" b="1" dirty="0"/>
              <a:t> </a:t>
            </a:r>
            <a:r>
              <a:rPr lang="en-US" b="1" dirty="0"/>
              <a:t>O 2.7</a:t>
            </a:r>
            <a:endParaRPr lang="en-IN" b="1" dirty="0"/>
          </a:p>
        </p:txBody>
      </p:sp>
      <p:graphicFrame>
        <p:nvGraphicFramePr>
          <p:cNvPr id="8" name="Table 7">
            <a:extLst>
              <a:ext uri="{FF2B5EF4-FFF2-40B4-BE49-F238E27FC236}">
                <a16:creationId xmlns:a16="http://schemas.microsoft.com/office/drawing/2014/main" id="{B8DF5C02-A031-440B-82B9-8E0CFA9D6A7F}"/>
              </a:ext>
            </a:extLst>
          </p:cNvPr>
          <p:cNvGraphicFramePr>
            <a:graphicFrameLocks noGrp="1"/>
          </p:cNvGraphicFramePr>
          <p:nvPr>
            <p:extLst>
              <p:ext uri="{D42A27DB-BD31-4B8C-83A1-F6EECF244321}">
                <p14:modId xmlns:p14="http://schemas.microsoft.com/office/powerpoint/2010/main" val="816498261"/>
              </p:ext>
            </p:extLst>
          </p:nvPr>
        </p:nvGraphicFramePr>
        <p:xfrm>
          <a:off x="495784" y="1709860"/>
          <a:ext cx="7772398" cy="2804160"/>
        </p:xfrm>
        <a:graphic>
          <a:graphicData uri="http://schemas.openxmlformats.org/drawingml/2006/table">
            <a:tbl>
              <a:tblPr firstRow="1" bandRow="1">
                <a:tableStyleId>{5C22544A-7EE6-4342-B048-85BDC9FD1C3A}</a:tableStyleId>
              </a:tblPr>
              <a:tblGrid>
                <a:gridCol w="1877026">
                  <a:extLst>
                    <a:ext uri="{9D8B030D-6E8A-4147-A177-3AD203B41FA5}">
                      <a16:colId xmlns:a16="http://schemas.microsoft.com/office/drawing/2014/main" val="743625768"/>
                    </a:ext>
                  </a:extLst>
                </a:gridCol>
                <a:gridCol w="3055716">
                  <a:extLst>
                    <a:ext uri="{9D8B030D-6E8A-4147-A177-3AD203B41FA5}">
                      <a16:colId xmlns:a16="http://schemas.microsoft.com/office/drawing/2014/main" val="283302595"/>
                    </a:ext>
                  </a:extLst>
                </a:gridCol>
                <a:gridCol w="2839656">
                  <a:extLst>
                    <a:ext uri="{9D8B030D-6E8A-4147-A177-3AD203B41FA5}">
                      <a16:colId xmlns:a16="http://schemas.microsoft.com/office/drawing/2014/main" val="2709686722"/>
                    </a:ext>
                  </a:extLst>
                </a:gridCol>
              </a:tblGrid>
              <a:tr h="370840">
                <a:tc>
                  <a:txBody>
                    <a:bodyPr/>
                    <a:lstStyle/>
                    <a:p>
                      <a:r>
                        <a:rPr lang="en-US" sz="2000" dirty="0"/>
                        <a:t>Sample Type</a:t>
                      </a:r>
                      <a:endParaRPr lang="en-US" sz="2000" b="1" dirty="0">
                        <a:solidFill>
                          <a:srgbClr val="002060"/>
                        </a:solidFill>
                      </a:endParaRPr>
                    </a:p>
                  </a:txBody>
                  <a:tcPr anchor="ctr">
                    <a:solidFill>
                      <a:srgbClr val="C00000"/>
                    </a:solidFill>
                  </a:tcPr>
                </a:tc>
                <a:tc>
                  <a:txBody>
                    <a:bodyPr/>
                    <a:lstStyle/>
                    <a:p>
                      <a:r>
                        <a:rPr lang="en-US" sz="2000" dirty="0"/>
                        <a:t>Explanation</a:t>
                      </a:r>
                      <a:endParaRPr lang="en-US" sz="2000" b="1" dirty="0">
                        <a:solidFill>
                          <a:srgbClr val="002060"/>
                        </a:solidFill>
                      </a:endParaRPr>
                    </a:p>
                  </a:txBody>
                  <a:tcPr anchor="ctr">
                    <a:solidFill>
                      <a:srgbClr val="C00000"/>
                    </a:solidFill>
                  </a:tcPr>
                </a:tc>
                <a:tc>
                  <a:txBody>
                    <a:bodyPr/>
                    <a:lstStyle/>
                    <a:p>
                      <a:r>
                        <a:rPr lang="en-US" sz="2000" dirty="0"/>
                        <a:t>Example</a:t>
                      </a:r>
                      <a:endParaRPr lang="en-US" sz="2000" b="1" dirty="0">
                        <a:solidFill>
                          <a:srgbClr val="002060"/>
                        </a:solidFill>
                      </a:endParaRPr>
                    </a:p>
                  </a:txBody>
                  <a:tcPr anchor="ctr">
                    <a:solidFill>
                      <a:srgbClr val="C00000"/>
                    </a:solidFill>
                  </a:tcPr>
                </a:tc>
                <a:extLst>
                  <a:ext uri="{0D108BD9-81ED-4DB2-BD59-A6C34878D82A}">
                    <a16:rowId xmlns:a16="http://schemas.microsoft.com/office/drawing/2014/main" val="1151114118"/>
                  </a:ext>
                </a:extLst>
              </a:tr>
              <a:tr h="370840">
                <a:tc>
                  <a:txBody>
                    <a:bodyPr/>
                    <a:lstStyle/>
                    <a:p>
                      <a:r>
                        <a:rPr lang="en-US" sz="2000" dirty="0"/>
                        <a:t>Judgment Sample</a:t>
                      </a:r>
                      <a:endParaRPr lang="en-US" sz="2000" b="0" dirty="0">
                        <a:solidFill>
                          <a:srgbClr val="002060"/>
                        </a:solidFill>
                      </a:endParaRPr>
                    </a:p>
                  </a:txBody>
                  <a:tcPr anchor="ctr"/>
                </a:tc>
                <a:tc>
                  <a:txBody>
                    <a:bodyPr/>
                    <a:lstStyle/>
                    <a:p>
                      <a:r>
                        <a:rPr lang="en-US" sz="2000" dirty="0"/>
                        <a:t>Use expert knowledge to choose “typical” items.</a:t>
                      </a:r>
                      <a:endParaRPr lang="en-US" sz="2000" b="0" dirty="0">
                        <a:solidFill>
                          <a:srgbClr val="002060"/>
                        </a:solidFill>
                      </a:endParaRPr>
                    </a:p>
                  </a:txBody>
                  <a:tcPr anchor="ctr"/>
                </a:tc>
                <a:tc>
                  <a:txBody>
                    <a:bodyPr/>
                    <a:lstStyle/>
                    <a:p>
                      <a:r>
                        <a:rPr lang="en-US" sz="2000" dirty="0"/>
                        <a:t>Which employees to interview.</a:t>
                      </a:r>
                      <a:endParaRPr lang="en-US" sz="2000" b="0" dirty="0">
                        <a:solidFill>
                          <a:srgbClr val="002060"/>
                        </a:solidFill>
                      </a:endParaRPr>
                    </a:p>
                  </a:txBody>
                  <a:tcPr anchor="ctr"/>
                </a:tc>
                <a:extLst>
                  <a:ext uri="{0D108BD9-81ED-4DB2-BD59-A6C34878D82A}">
                    <a16:rowId xmlns:a16="http://schemas.microsoft.com/office/drawing/2014/main" val="4168940035"/>
                  </a:ext>
                </a:extLst>
              </a:tr>
              <a:tr h="370840">
                <a:tc>
                  <a:txBody>
                    <a:bodyPr/>
                    <a:lstStyle/>
                    <a:p>
                      <a:r>
                        <a:rPr lang="en-US" sz="2000" dirty="0"/>
                        <a:t>Convenience Sample</a:t>
                      </a:r>
                      <a:endParaRPr lang="en-US" sz="2000" b="0" dirty="0">
                        <a:solidFill>
                          <a:srgbClr val="002060"/>
                        </a:solidFill>
                      </a:endParaRPr>
                    </a:p>
                  </a:txBody>
                  <a:tcPr anchor="ctr"/>
                </a:tc>
                <a:tc>
                  <a:txBody>
                    <a:bodyPr/>
                    <a:lstStyle/>
                    <a:p>
                      <a:r>
                        <a:rPr lang="en-US" sz="2000" dirty="0"/>
                        <a:t>Use a sample that happens to be available.</a:t>
                      </a:r>
                      <a:endParaRPr lang="en-US" sz="2000" b="0" dirty="0">
                        <a:solidFill>
                          <a:srgbClr val="002060"/>
                        </a:solidFill>
                      </a:endParaRPr>
                    </a:p>
                  </a:txBody>
                  <a:tcPr anchor="ctr"/>
                </a:tc>
                <a:tc>
                  <a:txBody>
                    <a:bodyPr/>
                    <a:lstStyle/>
                    <a:p>
                      <a:r>
                        <a:rPr lang="en-US" sz="2000" dirty="0"/>
                        <a:t>Ask coworkers’ opinions at lunch.</a:t>
                      </a:r>
                      <a:endParaRPr lang="en-US" sz="2000" b="0" dirty="0">
                        <a:solidFill>
                          <a:srgbClr val="002060"/>
                        </a:solidFill>
                      </a:endParaRPr>
                    </a:p>
                  </a:txBody>
                  <a:tcPr anchor="ctr"/>
                </a:tc>
                <a:extLst>
                  <a:ext uri="{0D108BD9-81ED-4DB2-BD59-A6C34878D82A}">
                    <a16:rowId xmlns:a16="http://schemas.microsoft.com/office/drawing/2014/main" val="2225604701"/>
                  </a:ext>
                </a:extLst>
              </a:tr>
              <a:tr h="370840">
                <a:tc>
                  <a:txBody>
                    <a:bodyPr/>
                    <a:lstStyle/>
                    <a:p>
                      <a:r>
                        <a:rPr lang="en-US" sz="2000" dirty="0"/>
                        <a:t>Focus Groups</a:t>
                      </a:r>
                      <a:endParaRPr lang="en-US" sz="2000" b="0" dirty="0">
                        <a:solidFill>
                          <a:srgbClr val="002060"/>
                        </a:solidFill>
                      </a:endParaRPr>
                    </a:p>
                  </a:txBody>
                  <a:tcPr anchor="ctr"/>
                </a:tc>
                <a:tc>
                  <a:txBody>
                    <a:bodyPr/>
                    <a:lstStyle/>
                    <a:p>
                      <a:r>
                        <a:rPr lang="en-US" sz="2000" dirty="0"/>
                        <a:t>In-depth dialog with a representative panel of individuals.</a:t>
                      </a:r>
                      <a:endParaRPr lang="en-US" sz="2000" b="0" dirty="0">
                        <a:solidFill>
                          <a:srgbClr val="002060"/>
                        </a:solidFill>
                      </a:endParaRPr>
                    </a:p>
                  </a:txBody>
                  <a:tcPr anchor="ctr"/>
                </a:tc>
                <a:tc>
                  <a:txBody>
                    <a:bodyPr/>
                    <a:lstStyle/>
                    <a:p>
                      <a:r>
                        <a:rPr lang="en-US" sz="2000" dirty="0"/>
                        <a:t>iPod users.</a:t>
                      </a:r>
                      <a:endParaRPr lang="en-US" sz="2000" b="0" dirty="0">
                        <a:solidFill>
                          <a:srgbClr val="002060"/>
                        </a:solidFill>
                      </a:endParaRPr>
                    </a:p>
                  </a:txBody>
                  <a:tcPr anchor="ctr"/>
                </a:tc>
                <a:extLst>
                  <a:ext uri="{0D108BD9-81ED-4DB2-BD59-A6C34878D82A}">
                    <a16:rowId xmlns:a16="http://schemas.microsoft.com/office/drawing/2014/main" val="4035354848"/>
                  </a:ext>
                </a:extLst>
              </a:tr>
            </a:tbl>
          </a:graphicData>
        </a:graphic>
      </p:graphicFrame>
      <p:sp>
        <p:nvSpPr>
          <p:cNvPr id="10" name="Slide Number Placeholder 9"/>
          <p:cNvSpPr>
            <a:spLocks noGrp="1"/>
          </p:cNvSpPr>
          <p:nvPr>
            <p:ph type="sldNum" sz="quarter" idx="10"/>
          </p:nvPr>
        </p:nvSpPr>
        <p:spPr/>
        <p:txBody>
          <a:bodyPr/>
          <a:lstStyle/>
          <a:p>
            <a:fld id="{68151E55-6873-49E2-B8D5-2F265E6F1973}" type="slidenum">
              <a:rPr lang="en-US" smtClean="0"/>
              <a:t>35</a:t>
            </a:fld>
            <a:endParaRPr lang="en-US" dirty="0"/>
          </a:p>
        </p:txBody>
      </p:sp>
    </p:spTree>
    <p:extLst>
      <p:ext uri="{BB962C8B-B14F-4D97-AF65-F5344CB8AC3E}">
        <p14:creationId xmlns:p14="http://schemas.microsoft.com/office/powerpoint/2010/main" val="389480248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192490"/>
            <a:ext cx="7635977" cy="903231"/>
          </a:xfrm>
        </p:spPr>
        <p:txBody>
          <a:bodyPr>
            <a:normAutofit/>
          </a:bodyPr>
          <a:lstStyle/>
          <a:p>
            <a:r>
              <a:rPr lang="en-IN" sz="3600" dirty="0"/>
              <a:t>Judgment Sample</a:t>
            </a:r>
          </a:p>
        </p:txBody>
      </p:sp>
      <p:sp>
        <p:nvSpPr>
          <p:cNvPr id="6" name="Content Placeholder 2">
            <a:extLst>
              <a:ext uri="{FF2B5EF4-FFF2-40B4-BE49-F238E27FC236}">
                <a16:creationId xmlns:a16="http://schemas.microsoft.com/office/drawing/2014/main" id="{54209F31-F61D-DC4C-6F2C-844D5AA3677C}"/>
              </a:ext>
            </a:extLst>
          </p:cNvPr>
          <p:cNvSpPr>
            <a:spLocks noGrp="1"/>
          </p:cNvSpPr>
          <p:nvPr>
            <p:ph sz="quarter" idx="11"/>
          </p:nvPr>
        </p:nvSpPr>
        <p:spPr>
          <a:xfrm>
            <a:off x="8598957" y="54864"/>
            <a:ext cx="476295" cy="1295711"/>
          </a:xfrm>
        </p:spPr>
        <p:txBody>
          <a:bodyPr vert="vert" tIns="45720" rIns="0"/>
          <a:lstStyle/>
          <a:p>
            <a:pPr marL="1025525" indent="-1025525"/>
            <a:r>
              <a:rPr lang="en-US" b="1" dirty="0"/>
              <a:t>L</a:t>
            </a:r>
            <a:r>
              <a:rPr lang="en-US" sz="100" b="1" dirty="0"/>
              <a:t> </a:t>
            </a:r>
            <a:r>
              <a:rPr lang="en-US" b="1" dirty="0"/>
              <a:t>O 2.7</a:t>
            </a:r>
            <a:endParaRPr lang="en-IN" b="1" dirty="0"/>
          </a:p>
        </p:txBody>
      </p:sp>
      <p:sp>
        <p:nvSpPr>
          <p:cNvPr id="4" name="Content Placeholder 3"/>
          <p:cNvSpPr>
            <a:spLocks noGrp="1"/>
          </p:cNvSpPr>
          <p:nvPr>
            <p:ph sz="quarter" idx="14"/>
          </p:nvPr>
        </p:nvSpPr>
        <p:spPr>
          <a:xfrm>
            <a:off x="342900" y="1278014"/>
            <a:ext cx="8398144" cy="5207627"/>
          </a:xfrm>
        </p:spPr>
        <p:txBody>
          <a:bodyPr/>
          <a:lstStyle/>
          <a:p>
            <a:pPr marL="292608" indent="-292608" eaLnBrk="0" hangingPunct="0">
              <a:buClr>
                <a:schemeClr val="tx1"/>
              </a:buClr>
              <a:buSzPct val="100000"/>
              <a:buFont typeface="Arial" panose="020B0604020202020204" pitchFamily="34" charset="0"/>
              <a:buChar char="•"/>
              <a:defRPr/>
            </a:pPr>
            <a:r>
              <a:rPr lang="en-US" sz="2200" dirty="0"/>
              <a:t>A non-probability sampling method that relies on the expertise of the sampler to choose items that are representative of the population.</a:t>
            </a:r>
          </a:p>
          <a:p>
            <a:pPr marL="292608" indent="-292608" eaLnBrk="0" hangingPunct="0">
              <a:buClr>
                <a:schemeClr val="tx1"/>
              </a:buClr>
              <a:buSzPct val="100000"/>
              <a:buFont typeface="Arial" panose="020B0604020202020204" pitchFamily="34" charset="0"/>
              <a:buChar char="•"/>
              <a:defRPr/>
            </a:pPr>
            <a:r>
              <a:rPr lang="en-US" sz="2200" dirty="0"/>
              <a:t>Can be affected by subconscious bias (that is, non-randomness in the choice).</a:t>
            </a:r>
          </a:p>
          <a:p>
            <a:pPr marL="292608" indent="-292608" eaLnBrk="0" hangingPunct="0">
              <a:buClr>
                <a:schemeClr val="tx1"/>
              </a:buClr>
              <a:buSzPct val="100000"/>
              <a:buFont typeface="Arial" panose="020B0604020202020204" pitchFamily="34" charset="0"/>
              <a:buChar char="•"/>
              <a:defRPr/>
            </a:pPr>
            <a:r>
              <a:rPr lang="en-US" sz="2200" b="1" dirty="0"/>
              <a:t>Quota sampling </a:t>
            </a:r>
            <a:r>
              <a:rPr lang="en-US" sz="2200" dirty="0"/>
              <a:t>is a special kind of judgment sampling, in which the interviewer chooses a certain number of people in each category.</a:t>
            </a:r>
          </a:p>
        </p:txBody>
      </p:sp>
      <p:sp>
        <p:nvSpPr>
          <p:cNvPr id="10" name="Slide Number Placeholder 9"/>
          <p:cNvSpPr>
            <a:spLocks noGrp="1"/>
          </p:cNvSpPr>
          <p:nvPr>
            <p:ph type="sldNum" sz="quarter" idx="10"/>
          </p:nvPr>
        </p:nvSpPr>
        <p:spPr/>
        <p:txBody>
          <a:bodyPr/>
          <a:lstStyle/>
          <a:p>
            <a:fld id="{68151E55-6873-49E2-B8D5-2F265E6F1973}" type="slidenum">
              <a:rPr lang="en-US" smtClean="0"/>
              <a:t>36</a:t>
            </a:fld>
            <a:endParaRPr lang="en-US" dirty="0"/>
          </a:p>
        </p:txBody>
      </p:sp>
    </p:spTree>
    <p:extLst>
      <p:ext uri="{BB962C8B-B14F-4D97-AF65-F5344CB8AC3E}">
        <p14:creationId xmlns:p14="http://schemas.microsoft.com/office/powerpoint/2010/main" val="141099910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192490"/>
            <a:ext cx="7793710" cy="903231"/>
          </a:xfrm>
        </p:spPr>
        <p:txBody>
          <a:bodyPr>
            <a:normAutofit/>
          </a:bodyPr>
          <a:lstStyle/>
          <a:p>
            <a:r>
              <a:rPr lang="en-IN" sz="3600" dirty="0"/>
              <a:t>Convenience Sample</a:t>
            </a:r>
          </a:p>
        </p:txBody>
      </p:sp>
      <p:sp>
        <p:nvSpPr>
          <p:cNvPr id="7" name="Content Placeholder 2">
            <a:extLst>
              <a:ext uri="{FF2B5EF4-FFF2-40B4-BE49-F238E27FC236}">
                <a16:creationId xmlns:a16="http://schemas.microsoft.com/office/drawing/2014/main" id="{6923191D-9A46-BD02-4F35-4AFD64E373AE}"/>
              </a:ext>
            </a:extLst>
          </p:cNvPr>
          <p:cNvSpPr>
            <a:spLocks noGrp="1"/>
          </p:cNvSpPr>
          <p:nvPr>
            <p:ph sz="quarter" idx="11"/>
          </p:nvPr>
        </p:nvSpPr>
        <p:spPr>
          <a:xfrm>
            <a:off x="8598957" y="54864"/>
            <a:ext cx="476295" cy="1295711"/>
          </a:xfrm>
        </p:spPr>
        <p:txBody>
          <a:bodyPr vert="vert" tIns="45720" rIns="0"/>
          <a:lstStyle/>
          <a:p>
            <a:pPr marL="1025525" indent="-1025525"/>
            <a:r>
              <a:rPr lang="en-US" b="1" dirty="0"/>
              <a:t>L</a:t>
            </a:r>
            <a:r>
              <a:rPr lang="en-US" sz="100" b="1" dirty="0"/>
              <a:t> </a:t>
            </a:r>
            <a:r>
              <a:rPr lang="en-US" b="1" dirty="0"/>
              <a:t>O 2.7</a:t>
            </a:r>
            <a:endParaRPr lang="en-IN" b="1" dirty="0"/>
          </a:p>
        </p:txBody>
      </p:sp>
      <p:sp>
        <p:nvSpPr>
          <p:cNvPr id="4" name="Content Placeholder 3"/>
          <p:cNvSpPr>
            <a:spLocks noGrp="1"/>
          </p:cNvSpPr>
          <p:nvPr>
            <p:ph sz="quarter" idx="14"/>
          </p:nvPr>
        </p:nvSpPr>
        <p:spPr>
          <a:xfrm>
            <a:off x="342901" y="1278015"/>
            <a:ext cx="7975190" cy="903231"/>
          </a:xfrm>
        </p:spPr>
        <p:txBody>
          <a:bodyPr/>
          <a:lstStyle/>
          <a:p>
            <a:pPr marL="292608" indent="-292608">
              <a:buFont typeface="Arial" panose="020B0604020202020204" pitchFamily="34" charset="0"/>
              <a:buChar char="•"/>
            </a:pPr>
            <a:r>
              <a:rPr lang="en-IN" dirty="0"/>
              <a:t>Take advantage of whatever sample is available at that moment. A quick way to sample.</a:t>
            </a:r>
          </a:p>
        </p:txBody>
      </p:sp>
      <p:sp>
        <p:nvSpPr>
          <p:cNvPr id="5" name="Content Placeholder 4"/>
          <p:cNvSpPr>
            <a:spLocks noGrp="1"/>
          </p:cNvSpPr>
          <p:nvPr>
            <p:ph sz="quarter" idx="15"/>
          </p:nvPr>
        </p:nvSpPr>
        <p:spPr>
          <a:xfrm>
            <a:off x="342900" y="2363540"/>
            <a:ext cx="8034184" cy="1887642"/>
          </a:xfrm>
        </p:spPr>
        <p:txBody>
          <a:bodyPr/>
          <a:lstStyle/>
          <a:p>
            <a:pPr eaLnBrk="0" hangingPunct="0">
              <a:spcBef>
                <a:spcPts val="0"/>
              </a:spcBef>
              <a:buClr>
                <a:schemeClr val="accent1"/>
              </a:buClr>
            </a:pPr>
            <a:r>
              <a:rPr lang="en-US" b="1" dirty="0"/>
              <a:t>Example:</a:t>
            </a:r>
          </a:p>
          <a:p>
            <a:pPr marL="292608" indent="-292608" eaLnBrk="0" hangingPunct="0">
              <a:buClr>
                <a:schemeClr val="tx1"/>
              </a:buClr>
              <a:buSzPct val="100000"/>
              <a:buFont typeface="Arial" panose="020B0604020202020204" pitchFamily="34" charset="0"/>
              <a:buChar char="•"/>
              <a:defRPr/>
            </a:pPr>
            <a:r>
              <a:rPr lang="en-US" dirty="0"/>
              <a:t>A newspaper reporter doing a story on perceived airport security might interview co-workers who travel frequently.</a:t>
            </a:r>
          </a:p>
        </p:txBody>
      </p:sp>
      <p:sp>
        <p:nvSpPr>
          <p:cNvPr id="10" name="Slide Number Placeholder 9"/>
          <p:cNvSpPr>
            <a:spLocks noGrp="1"/>
          </p:cNvSpPr>
          <p:nvPr>
            <p:ph type="sldNum" sz="quarter" idx="10"/>
          </p:nvPr>
        </p:nvSpPr>
        <p:spPr/>
        <p:txBody>
          <a:bodyPr/>
          <a:lstStyle/>
          <a:p>
            <a:fld id="{68151E55-6873-49E2-B8D5-2F265E6F1973}" type="slidenum">
              <a:rPr lang="en-US" smtClean="0"/>
              <a:t>37</a:t>
            </a:fld>
            <a:endParaRPr lang="en-US" dirty="0"/>
          </a:p>
        </p:txBody>
      </p:sp>
    </p:spTree>
    <p:extLst>
      <p:ext uri="{BB962C8B-B14F-4D97-AF65-F5344CB8AC3E}">
        <p14:creationId xmlns:p14="http://schemas.microsoft.com/office/powerpoint/2010/main" val="280135544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192490"/>
            <a:ext cx="7824707" cy="903231"/>
          </a:xfrm>
        </p:spPr>
        <p:txBody>
          <a:bodyPr>
            <a:normAutofit/>
          </a:bodyPr>
          <a:lstStyle/>
          <a:p>
            <a:r>
              <a:rPr lang="en-IN" sz="3600" dirty="0"/>
              <a:t>Focus Groups</a:t>
            </a:r>
          </a:p>
        </p:txBody>
      </p:sp>
      <p:sp>
        <p:nvSpPr>
          <p:cNvPr id="6" name="Content Placeholder 2">
            <a:extLst>
              <a:ext uri="{FF2B5EF4-FFF2-40B4-BE49-F238E27FC236}">
                <a16:creationId xmlns:a16="http://schemas.microsoft.com/office/drawing/2014/main" id="{D7B06EF7-B56C-CEA0-86F3-926432106F71}"/>
              </a:ext>
            </a:extLst>
          </p:cNvPr>
          <p:cNvSpPr>
            <a:spLocks noGrp="1"/>
          </p:cNvSpPr>
          <p:nvPr>
            <p:ph sz="quarter" idx="11"/>
          </p:nvPr>
        </p:nvSpPr>
        <p:spPr>
          <a:xfrm>
            <a:off x="8598957" y="54864"/>
            <a:ext cx="476295" cy="1295711"/>
          </a:xfrm>
        </p:spPr>
        <p:txBody>
          <a:bodyPr vert="vert" tIns="45720" rIns="0"/>
          <a:lstStyle/>
          <a:p>
            <a:pPr marL="1025525" indent="-1025525"/>
            <a:r>
              <a:rPr lang="en-US" b="1" dirty="0"/>
              <a:t>L</a:t>
            </a:r>
            <a:r>
              <a:rPr lang="en-US" sz="100" b="1" dirty="0"/>
              <a:t> </a:t>
            </a:r>
            <a:r>
              <a:rPr lang="en-US" b="1" dirty="0"/>
              <a:t>O 2.7</a:t>
            </a:r>
            <a:endParaRPr lang="en-IN" b="1" dirty="0"/>
          </a:p>
        </p:txBody>
      </p:sp>
      <p:sp>
        <p:nvSpPr>
          <p:cNvPr id="4" name="Content Placeholder 3"/>
          <p:cNvSpPr>
            <a:spLocks noGrp="1"/>
          </p:cNvSpPr>
          <p:nvPr>
            <p:ph sz="quarter" idx="14"/>
          </p:nvPr>
        </p:nvSpPr>
        <p:spPr>
          <a:xfrm>
            <a:off x="342901" y="1278014"/>
            <a:ext cx="8191500" cy="4695083"/>
          </a:xfrm>
        </p:spPr>
        <p:txBody>
          <a:bodyPr/>
          <a:lstStyle/>
          <a:p>
            <a:pPr marL="292608" indent="-292608" eaLnBrk="0" hangingPunct="0">
              <a:buClr>
                <a:schemeClr val="tx1"/>
              </a:buClr>
              <a:buSzPct val="100000"/>
              <a:buFont typeface="Arial" panose="020B0604020202020204" pitchFamily="34" charset="0"/>
              <a:buChar char="•"/>
              <a:defRPr/>
            </a:pPr>
            <a:r>
              <a:rPr lang="en-IN" dirty="0"/>
              <a:t>A panel of individuals chosen to be representative of a wider population, formed for open-ended discussion and idea gathering.</a:t>
            </a:r>
          </a:p>
          <a:p>
            <a:pPr marL="292608" indent="-292608" eaLnBrk="0" hangingPunct="0">
              <a:buClr>
                <a:schemeClr val="tx1"/>
              </a:buClr>
              <a:buSzPct val="100000"/>
              <a:buFont typeface="Arial" panose="020B0604020202020204" pitchFamily="34" charset="0"/>
              <a:buChar char="•"/>
              <a:defRPr/>
            </a:pPr>
            <a:r>
              <a:rPr lang="en-IN" dirty="0"/>
              <a:t>Although not a random sampling method, focus groups are widely used, both in business and in social science research, for the insights they can yield beyond “just numbers”.</a:t>
            </a:r>
          </a:p>
        </p:txBody>
      </p:sp>
      <p:sp>
        <p:nvSpPr>
          <p:cNvPr id="10" name="Slide Number Placeholder 9"/>
          <p:cNvSpPr>
            <a:spLocks noGrp="1"/>
          </p:cNvSpPr>
          <p:nvPr>
            <p:ph type="sldNum" sz="quarter" idx="10"/>
          </p:nvPr>
        </p:nvSpPr>
        <p:spPr/>
        <p:txBody>
          <a:bodyPr/>
          <a:lstStyle/>
          <a:p>
            <a:fld id="{68151E55-6873-49E2-B8D5-2F265E6F1973}" type="slidenum">
              <a:rPr lang="en-US" smtClean="0"/>
              <a:t>38</a:t>
            </a:fld>
            <a:endParaRPr lang="en-US" dirty="0"/>
          </a:p>
        </p:txBody>
      </p:sp>
    </p:spTree>
    <p:extLst>
      <p:ext uri="{BB962C8B-B14F-4D97-AF65-F5344CB8AC3E}">
        <p14:creationId xmlns:p14="http://schemas.microsoft.com/office/powerpoint/2010/main" val="292033383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192490"/>
            <a:ext cx="7793710" cy="903231"/>
          </a:xfrm>
        </p:spPr>
        <p:txBody>
          <a:bodyPr>
            <a:normAutofit/>
          </a:bodyPr>
          <a:lstStyle/>
          <a:p>
            <a:r>
              <a:rPr lang="en-IN" sz="3600" dirty="0"/>
              <a:t>Other Data Collection Methods</a:t>
            </a:r>
          </a:p>
        </p:txBody>
      </p:sp>
      <p:sp>
        <p:nvSpPr>
          <p:cNvPr id="6" name="Content Placeholder 2">
            <a:extLst>
              <a:ext uri="{FF2B5EF4-FFF2-40B4-BE49-F238E27FC236}">
                <a16:creationId xmlns:a16="http://schemas.microsoft.com/office/drawing/2014/main" id="{42060E8D-EDCF-E0C9-EB3C-1601B719FDD9}"/>
              </a:ext>
            </a:extLst>
          </p:cNvPr>
          <p:cNvSpPr>
            <a:spLocks noGrp="1"/>
          </p:cNvSpPr>
          <p:nvPr>
            <p:ph sz="quarter" idx="11"/>
          </p:nvPr>
        </p:nvSpPr>
        <p:spPr>
          <a:xfrm>
            <a:off x="8598957" y="54864"/>
            <a:ext cx="476295" cy="1295711"/>
          </a:xfrm>
        </p:spPr>
        <p:txBody>
          <a:bodyPr vert="vert" tIns="45720" rIns="0"/>
          <a:lstStyle/>
          <a:p>
            <a:pPr marL="1025525" indent="-1025525"/>
            <a:r>
              <a:rPr lang="en-US" b="1" dirty="0"/>
              <a:t>L</a:t>
            </a:r>
            <a:r>
              <a:rPr lang="en-US" sz="100" b="1" dirty="0"/>
              <a:t> </a:t>
            </a:r>
            <a:r>
              <a:rPr lang="en-US" b="1" dirty="0"/>
              <a:t>O 2.7</a:t>
            </a:r>
            <a:endParaRPr lang="en-IN" b="1" dirty="0"/>
          </a:p>
        </p:txBody>
      </p:sp>
      <p:sp>
        <p:nvSpPr>
          <p:cNvPr id="4" name="Content Placeholder 3"/>
          <p:cNvSpPr>
            <a:spLocks noGrp="1"/>
          </p:cNvSpPr>
          <p:nvPr>
            <p:ph sz="quarter" idx="14"/>
          </p:nvPr>
        </p:nvSpPr>
        <p:spPr>
          <a:xfrm>
            <a:off x="342900" y="1278014"/>
            <a:ext cx="8191500" cy="5169920"/>
          </a:xfrm>
        </p:spPr>
        <p:txBody>
          <a:bodyPr/>
          <a:lstStyle/>
          <a:p>
            <a:pPr marL="292608" indent="-292608" eaLnBrk="0" hangingPunct="0">
              <a:buClr>
                <a:schemeClr val="tx1"/>
              </a:buClr>
              <a:buSzPct val="100000"/>
              <a:buFont typeface="Arial" panose="020B0604020202020204" pitchFamily="34" charset="0"/>
              <a:buChar char="•"/>
              <a:defRPr/>
            </a:pPr>
            <a:r>
              <a:rPr lang="en-IN" dirty="0"/>
              <a:t>Businesses now have many other methods for collecting data with the use of technology.</a:t>
            </a:r>
          </a:p>
          <a:p>
            <a:pPr marL="292608" indent="-292608" eaLnBrk="0" hangingPunct="0">
              <a:buClr>
                <a:schemeClr val="tx1"/>
              </a:buClr>
              <a:buSzPct val="100000"/>
              <a:buFont typeface="Arial" panose="020B0604020202020204" pitchFamily="34" charset="0"/>
              <a:buChar char="•"/>
              <a:defRPr/>
            </a:pPr>
            <a:r>
              <a:rPr lang="en-IN" dirty="0"/>
              <a:t>Point-of-sale (P</a:t>
            </a:r>
            <a:r>
              <a:rPr lang="en-IN" sz="100" dirty="0"/>
              <a:t> </a:t>
            </a:r>
            <a:r>
              <a:rPr lang="en-IN" dirty="0"/>
              <a:t>O</a:t>
            </a:r>
            <a:r>
              <a:rPr lang="en-IN" sz="100" dirty="0"/>
              <a:t> </a:t>
            </a:r>
            <a:r>
              <a:rPr lang="en-IN" dirty="0"/>
              <a:t>S) systems can collect real-time data on purchases at retail or convenience stores, restaurants, and gas stations.</a:t>
            </a:r>
          </a:p>
          <a:p>
            <a:pPr marL="292608" indent="-292608" eaLnBrk="0" hangingPunct="0">
              <a:buClr>
                <a:schemeClr val="tx1"/>
              </a:buClr>
              <a:buSzPct val="100000"/>
              <a:buFont typeface="Arial" panose="020B0604020202020204" pitchFamily="34" charset="0"/>
              <a:buChar char="•"/>
              <a:defRPr/>
            </a:pPr>
            <a:r>
              <a:rPr lang="en-IN" dirty="0"/>
              <a:t>Your customer loyalty accounts (using your phone number of email) offer better deals but also build a profile of your purchasing </a:t>
            </a:r>
            <a:r>
              <a:rPr lang="en-IN" dirty="0" err="1"/>
              <a:t>behavior</a:t>
            </a:r>
            <a:r>
              <a:rPr lang="en-IN" dirty="0"/>
              <a:t>.</a:t>
            </a:r>
          </a:p>
        </p:txBody>
      </p:sp>
      <p:sp>
        <p:nvSpPr>
          <p:cNvPr id="10" name="Slide Number Placeholder 9"/>
          <p:cNvSpPr>
            <a:spLocks noGrp="1"/>
          </p:cNvSpPr>
          <p:nvPr>
            <p:ph type="sldNum" sz="quarter" idx="10"/>
          </p:nvPr>
        </p:nvSpPr>
        <p:spPr/>
        <p:txBody>
          <a:bodyPr/>
          <a:lstStyle/>
          <a:p>
            <a:fld id="{68151E55-6873-49E2-B8D5-2F265E6F1973}" type="slidenum">
              <a:rPr lang="en-US" smtClean="0"/>
              <a:t>39</a:t>
            </a:fld>
            <a:endParaRPr lang="en-US" dirty="0"/>
          </a:p>
        </p:txBody>
      </p:sp>
    </p:spTree>
    <p:extLst>
      <p:ext uri="{BB962C8B-B14F-4D97-AF65-F5344CB8AC3E}">
        <p14:creationId xmlns:p14="http://schemas.microsoft.com/office/powerpoint/2010/main" val="409647943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1" y="192490"/>
            <a:ext cx="7840204" cy="903231"/>
          </a:xfrm>
        </p:spPr>
        <p:txBody>
          <a:bodyPr>
            <a:normAutofit/>
          </a:bodyPr>
          <a:lstStyle/>
          <a:p>
            <a:r>
              <a:rPr lang="en-IN" sz="3600" dirty="0"/>
              <a:t>Sample Size</a:t>
            </a:r>
          </a:p>
        </p:txBody>
      </p:sp>
      <p:sp>
        <p:nvSpPr>
          <p:cNvPr id="6" name="Content Placeholder 2">
            <a:extLst>
              <a:ext uri="{FF2B5EF4-FFF2-40B4-BE49-F238E27FC236}">
                <a16:creationId xmlns:a16="http://schemas.microsoft.com/office/drawing/2014/main" id="{E41BC327-4E4A-4E47-5A46-1F27D1F979E0}"/>
              </a:ext>
            </a:extLst>
          </p:cNvPr>
          <p:cNvSpPr>
            <a:spLocks noGrp="1"/>
          </p:cNvSpPr>
          <p:nvPr>
            <p:ph sz="quarter" idx="11"/>
          </p:nvPr>
        </p:nvSpPr>
        <p:spPr>
          <a:xfrm>
            <a:off x="8598957" y="54864"/>
            <a:ext cx="476295" cy="1295711"/>
          </a:xfrm>
        </p:spPr>
        <p:txBody>
          <a:bodyPr vert="vert" tIns="45720" rIns="0"/>
          <a:lstStyle/>
          <a:p>
            <a:pPr marL="1025525" indent="-1025525"/>
            <a:r>
              <a:rPr lang="en-US" b="1" dirty="0"/>
              <a:t>L</a:t>
            </a:r>
            <a:r>
              <a:rPr lang="en-US" sz="100" b="1" dirty="0"/>
              <a:t> </a:t>
            </a:r>
            <a:r>
              <a:rPr lang="en-US" b="1" dirty="0"/>
              <a:t>O 2.7</a:t>
            </a:r>
            <a:endParaRPr lang="en-IN" b="1" dirty="0"/>
          </a:p>
        </p:txBody>
      </p:sp>
      <p:sp>
        <p:nvSpPr>
          <p:cNvPr id="4" name="Content Placeholder 3"/>
          <p:cNvSpPr>
            <a:spLocks noGrp="1"/>
          </p:cNvSpPr>
          <p:nvPr>
            <p:ph sz="quarter" idx="14"/>
          </p:nvPr>
        </p:nvSpPr>
        <p:spPr>
          <a:xfrm>
            <a:off x="342900" y="1278014"/>
            <a:ext cx="8122674" cy="4695083"/>
          </a:xfrm>
        </p:spPr>
        <p:txBody>
          <a:bodyPr/>
          <a:lstStyle/>
          <a:p>
            <a:pPr marL="292608" indent="-292608" eaLnBrk="0" hangingPunct="0">
              <a:buClr>
                <a:schemeClr val="tx1"/>
              </a:buClr>
              <a:buSzPct val="100000"/>
              <a:buFont typeface="Arial" panose="020B0604020202020204" pitchFamily="34" charset="0"/>
              <a:buChar char="•"/>
              <a:defRPr/>
            </a:pPr>
            <a:r>
              <a:rPr lang="en-IN" sz="2200" dirty="0"/>
              <a:t>The necessary sample size for a reliable estimate of a parameter depends on the inherent variability of the quantity being measured and the desired precision of the estimate.</a:t>
            </a:r>
          </a:p>
          <a:p>
            <a:pPr marL="292608" indent="-292608" eaLnBrk="0" hangingPunct="0">
              <a:buClr>
                <a:schemeClr val="tx1"/>
              </a:buClr>
              <a:buSzPct val="100000"/>
              <a:buFont typeface="Arial" panose="020B0604020202020204" pitchFamily="34" charset="0"/>
              <a:buChar char="•"/>
              <a:defRPr/>
            </a:pPr>
            <a:r>
              <a:rPr lang="en-IN" sz="2200" dirty="0"/>
              <a:t>For example, the caffeine content of Red Bull is fairly consistent because each can is filled at the factory, so a small sample size would suffice to estimate the mean.</a:t>
            </a:r>
          </a:p>
          <a:p>
            <a:pPr marL="292608" indent="-292608" eaLnBrk="0" hangingPunct="0">
              <a:buClr>
                <a:schemeClr val="tx1"/>
              </a:buClr>
              <a:buSzPct val="100000"/>
              <a:buFont typeface="Arial" panose="020B0604020202020204" pitchFamily="34" charset="0"/>
              <a:buChar char="•"/>
              <a:defRPr/>
            </a:pPr>
            <a:r>
              <a:rPr lang="en-IN" sz="2200" dirty="0"/>
              <a:t>In contrast, the amount of caffeine in an individually brewed cup of Bigelow Raspberry Royale tea varies widely because people let it steep for varying lengths of time.</a:t>
            </a:r>
          </a:p>
          <a:p>
            <a:pPr marL="292608" indent="-292608" eaLnBrk="0" hangingPunct="0">
              <a:buClr>
                <a:schemeClr val="tx1"/>
              </a:buClr>
              <a:buSzPct val="100000"/>
              <a:buFont typeface="Arial" panose="020B0604020202020204" pitchFamily="34" charset="0"/>
              <a:buChar char="•"/>
              <a:defRPr/>
            </a:pPr>
            <a:r>
              <a:rPr lang="en-IN" sz="2200" dirty="0"/>
              <a:t>The purposes of the investigation, the costs of sampling, the budget, and time constraints also are taken into account in deciding on sample size.</a:t>
            </a:r>
          </a:p>
        </p:txBody>
      </p:sp>
      <p:sp>
        <p:nvSpPr>
          <p:cNvPr id="10" name="Slide Number Placeholder 9"/>
          <p:cNvSpPr>
            <a:spLocks noGrp="1"/>
          </p:cNvSpPr>
          <p:nvPr>
            <p:ph type="sldNum" sz="quarter" idx="10"/>
          </p:nvPr>
        </p:nvSpPr>
        <p:spPr/>
        <p:txBody>
          <a:bodyPr/>
          <a:lstStyle/>
          <a:p>
            <a:fld id="{68151E55-6873-49E2-B8D5-2F265E6F1973}" type="slidenum">
              <a:rPr lang="en-US" smtClean="0"/>
              <a:t>40</a:t>
            </a:fld>
            <a:endParaRPr lang="en-US" dirty="0"/>
          </a:p>
        </p:txBody>
      </p:sp>
    </p:spTree>
    <p:extLst>
      <p:ext uri="{BB962C8B-B14F-4D97-AF65-F5344CB8AC3E}">
        <p14:creationId xmlns:p14="http://schemas.microsoft.com/office/powerpoint/2010/main" val="276769939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1" y="192490"/>
            <a:ext cx="7545736" cy="903231"/>
          </a:xfrm>
        </p:spPr>
        <p:txBody>
          <a:bodyPr>
            <a:normAutofit/>
          </a:bodyPr>
          <a:lstStyle/>
          <a:p>
            <a:r>
              <a:rPr lang="en-IN" sz="3600" dirty="0"/>
              <a:t>Sources of Error or Bias </a:t>
            </a:r>
            <a:r>
              <a:rPr lang="en-IN" sz="1000" b="0" dirty="0"/>
              <a:t>1</a:t>
            </a:r>
          </a:p>
        </p:txBody>
      </p:sp>
      <p:sp>
        <p:nvSpPr>
          <p:cNvPr id="6" name="Content Placeholder 2">
            <a:extLst>
              <a:ext uri="{FF2B5EF4-FFF2-40B4-BE49-F238E27FC236}">
                <a16:creationId xmlns:a16="http://schemas.microsoft.com/office/drawing/2014/main" id="{548A4E9B-6B29-6F4E-2A14-62D475AD7284}"/>
              </a:ext>
            </a:extLst>
          </p:cNvPr>
          <p:cNvSpPr>
            <a:spLocks noGrp="1"/>
          </p:cNvSpPr>
          <p:nvPr>
            <p:ph sz="quarter" idx="11"/>
          </p:nvPr>
        </p:nvSpPr>
        <p:spPr>
          <a:xfrm>
            <a:off x="8598957" y="54865"/>
            <a:ext cx="476295" cy="1223150"/>
          </a:xfrm>
        </p:spPr>
        <p:txBody>
          <a:bodyPr vert="vert" tIns="45720" rIns="0"/>
          <a:lstStyle/>
          <a:p>
            <a:pPr marL="1025525" indent="-1025525"/>
            <a:r>
              <a:rPr lang="en-US" b="1" dirty="0"/>
              <a:t>L</a:t>
            </a:r>
            <a:r>
              <a:rPr lang="en-US" sz="100" b="1" dirty="0"/>
              <a:t> </a:t>
            </a:r>
            <a:r>
              <a:rPr lang="en-US" b="1" dirty="0"/>
              <a:t>O 2.7</a:t>
            </a:r>
            <a:endParaRPr lang="en-IN" b="1" dirty="0"/>
          </a:p>
        </p:txBody>
      </p:sp>
      <p:sp>
        <p:nvSpPr>
          <p:cNvPr id="4" name="Content Placeholder 3"/>
          <p:cNvSpPr>
            <a:spLocks noGrp="1"/>
          </p:cNvSpPr>
          <p:nvPr>
            <p:ph sz="quarter" idx="14"/>
          </p:nvPr>
        </p:nvSpPr>
        <p:spPr>
          <a:xfrm>
            <a:off x="342900" y="1278014"/>
            <a:ext cx="8122674" cy="5066225"/>
          </a:xfrm>
        </p:spPr>
        <p:txBody>
          <a:bodyPr/>
          <a:lstStyle/>
          <a:p>
            <a:pPr marL="292608" indent="-292608" eaLnBrk="0" hangingPunct="0">
              <a:buClr>
                <a:schemeClr val="tx1"/>
              </a:buClr>
              <a:buSzPct val="100000"/>
              <a:buFont typeface="Arial" panose="020B0604020202020204" pitchFamily="34" charset="0"/>
              <a:buChar char="•"/>
              <a:defRPr/>
            </a:pPr>
            <a:r>
              <a:rPr lang="en-IN" dirty="0"/>
              <a:t>In sampling, the word </a:t>
            </a:r>
            <a:r>
              <a:rPr lang="en-IN" b="1" dirty="0"/>
              <a:t>bias</a:t>
            </a:r>
            <a:r>
              <a:rPr lang="en-IN" dirty="0"/>
              <a:t> refers to a systematic tendency to over- or underestimate a population parameter of interest.</a:t>
            </a:r>
          </a:p>
          <a:p>
            <a:pPr marL="292608" indent="-292608" eaLnBrk="0" hangingPunct="0">
              <a:buClr>
                <a:schemeClr val="tx1"/>
              </a:buClr>
              <a:buSzPct val="100000"/>
              <a:buFont typeface="Arial" panose="020B0604020202020204" pitchFamily="34" charset="0"/>
              <a:buChar char="•"/>
              <a:defRPr/>
            </a:pPr>
            <a:r>
              <a:rPr lang="en-IN" dirty="0"/>
              <a:t>The word </a:t>
            </a:r>
            <a:r>
              <a:rPr lang="en-IN" b="1" dirty="0"/>
              <a:t>error</a:t>
            </a:r>
            <a:r>
              <a:rPr lang="en-IN" dirty="0"/>
              <a:t> generally refers to problems in sample methodology.</a:t>
            </a:r>
          </a:p>
          <a:p>
            <a:pPr marL="292608" indent="-292608" eaLnBrk="0" hangingPunct="0">
              <a:buClr>
                <a:schemeClr val="tx1"/>
              </a:buClr>
              <a:buSzPct val="100000"/>
              <a:buFont typeface="Arial" panose="020B0604020202020204" pitchFamily="34" charset="0"/>
              <a:buChar char="•"/>
              <a:defRPr/>
            </a:pPr>
            <a:r>
              <a:rPr lang="en-IN" dirty="0"/>
              <a:t>No matter how careful you are when conducting a survey, you will encounter potential sources of error.</a:t>
            </a:r>
          </a:p>
        </p:txBody>
      </p:sp>
      <p:sp>
        <p:nvSpPr>
          <p:cNvPr id="10" name="Slide Number Placeholder 9"/>
          <p:cNvSpPr>
            <a:spLocks noGrp="1"/>
          </p:cNvSpPr>
          <p:nvPr>
            <p:ph type="sldNum" sz="quarter" idx="10"/>
          </p:nvPr>
        </p:nvSpPr>
        <p:spPr/>
        <p:txBody>
          <a:bodyPr/>
          <a:lstStyle/>
          <a:p>
            <a:fld id="{68151E55-6873-49E2-B8D5-2F265E6F1973}" type="slidenum">
              <a:rPr lang="en-US" smtClean="0"/>
              <a:t>41</a:t>
            </a:fld>
            <a:endParaRPr lang="en-US" dirty="0"/>
          </a:p>
        </p:txBody>
      </p:sp>
    </p:spTree>
    <p:extLst>
      <p:ext uri="{BB962C8B-B14F-4D97-AF65-F5344CB8AC3E}">
        <p14:creationId xmlns:p14="http://schemas.microsoft.com/office/powerpoint/2010/main" val="265729486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1" y="192490"/>
            <a:ext cx="7499241" cy="903231"/>
          </a:xfrm>
        </p:spPr>
        <p:txBody>
          <a:bodyPr>
            <a:normAutofit/>
          </a:bodyPr>
          <a:lstStyle/>
          <a:p>
            <a:r>
              <a:rPr lang="en-IN" sz="3600" dirty="0"/>
              <a:t>Sources of Error or Bias </a:t>
            </a:r>
            <a:r>
              <a:rPr lang="en-IN" sz="1000" b="0" dirty="0"/>
              <a:t>2</a:t>
            </a:r>
          </a:p>
        </p:txBody>
      </p:sp>
      <p:sp>
        <p:nvSpPr>
          <p:cNvPr id="5" name="Content Placeholder 2">
            <a:extLst>
              <a:ext uri="{FF2B5EF4-FFF2-40B4-BE49-F238E27FC236}">
                <a16:creationId xmlns:a16="http://schemas.microsoft.com/office/drawing/2014/main" id="{8037020B-E8C8-B0E3-2FBC-9B9866AAFFAE}"/>
              </a:ext>
            </a:extLst>
          </p:cNvPr>
          <p:cNvSpPr>
            <a:spLocks noGrp="1"/>
          </p:cNvSpPr>
          <p:nvPr>
            <p:ph sz="quarter" idx="11"/>
          </p:nvPr>
        </p:nvSpPr>
        <p:spPr>
          <a:xfrm>
            <a:off x="8598957" y="54864"/>
            <a:ext cx="476295" cy="1295711"/>
          </a:xfrm>
        </p:spPr>
        <p:txBody>
          <a:bodyPr vert="vert" tIns="45720" rIns="0"/>
          <a:lstStyle/>
          <a:p>
            <a:pPr marL="1025525" indent="-1025525"/>
            <a:r>
              <a:rPr lang="en-US" b="1" dirty="0"/>
              <a:t>L</a:t>
            </a:r>
            <a:r>
              <a:rPr lang="en-US" sz="100" b="1" dirty="0"/>
              <a:t> </a:t>
            </a:r>
            <a:r>
              <a:rPr lang="en-US" b="1" dirty="0"/>
              <a:t>O 2.7</a:t>
            </a:r>
            <a:endParaRPr lang="en-IN" b="1" dirty="0"/>
          </a:p>
        </p:txBody>
      </p:sp>
      <p:graphicFrame>
        <p:nvGraphicFramePr>
          <p:cNvPr id="8" name="Table 7">
            <a:extLst>
              <a:ext uri="{FF2B5EF4-FFF2-40B4-BE49-F238E27FC236}">
                <a16:creationId xmlns:a16="http://schemas.microsoft.com/office/drawing/2014/main" id="{B3210673-FEDF-45C9-A3D2-3D0EB3E7ACE3}"/>
              </a:ext>
            </a:extLst>
          </p:cNvPr>
          <p:cNvGraphicFramePr>
            <a:graphicFrameLocks noGrp="1"/>
          </p:cNvGraphicFramePr>
          <p:nvPr>
            <p:extLst>
              <p:ext uri="{D42A27DB-BD31-4B8C-83A1-F6EECF244321}">
                <p14:modId xmlns:p14="http://schemas.microsoft.com/office/powerpoint/2010/main" val="3983682368"/>
              </p:ext>
            </p:extLst>
          </p:nvPr>
        </p:nvGraphicFramePr>
        <p:xfrm>
          <a:off x="543042" y="1600201"/>
          <a:ext cx="8136009" cy="3169920"/>
        </p:xfrm>
        <a:graphic>
          <a:graphicData uri="http://schemas.openxmlformats.org/drawingml/2006/table">
            <a:tbl>
              <a:tblPr firstRow="1" bandRow="1">
                <a:tableStyleId>{5C22544A-7EE6-4342-B048-85BDC9FD1C3A}</a:tableStyleId>
              </a:tblPr>
              <a:tblGrid>
                <a:gridCol w="2501100">
                  <a:extLst>
                    <a:ext uri="{9D8B030D-6E8A-4147-A177-3AD203B41FA5}">
                      <a16:colId xmlns:a16="http://schemas.microsoft.com/office/drawing/2014/main" val="2505280819"/>
                    </a:ext>
                  </a:extLst>
                </a:gridCol>
                <a:gridCol w="5634909">
                  <a:extLst>
                    <a:ext uri="{9D8B030D-6E8A-4147-A177-3AD203B41FA5}">
                      <a16:colId xmlns:a16="http://schemas.microsoft.com/office/drawing/2014/main" val="4037027955"/>
                    </a:ext>
                  </a:extLst>
                </a:gridCol>
              </a:tblGrid>
              <a:tr h="201133">
                <a:tc>
                  <a:txBody>
                    <a:bodyPr/>
                    <a:lstStyle/>
                    <a:p>
                      <a:r>
                        <a:rPr lang="en-US" sz="2000" dirty="0">
                          <a:effectLst/>
                        </a:rPr>
                        <a:t>Source of Error</a:t>
                      </a:r>
                      <a:endParaRPr lang="en-US" sz="2000" b="1" dirty="0">
                        <a:solidFill>
                          <a:schemeClr val="tx1"/>
                        </a:solidFill>
                        <a:effectLst/>
                      </a:endParaRPr>
                    </a:p>
                  </a:txBody>
                  <a:tcPr anchor="ctr">
                    <a:solidFill>
                      <a:srgbClr val="C00000"/>
                    </a:solidFill>
                  </a:tcPr>
                </a:tc>
                <a:tc>
                  <a:txBody>
                    <a:bodyPr/>
                    <a:lstStyle/>
                    <a:p>
                      <a:r>
                        <a:rPr lang="en-US" sz="2000" dirty="0">
                          <a:effectLst/>
                        </a:rPr>
                        <a:t>Characteristics</a:t>
                      </a:r>
                      <a:endParaRPr lang="en-US" sz="2000" b="1" dirty="0">
                        <a:solidFill>
                          <a:schemeClr val="tx1"/>
                        </a:solidFill>
                        <a:effectLst/>
                      </a:endParaRPr>
                    </a:p>
                  </a:txBody>
                  <a:tcPr anchor="ctr">
                    <a:solidFill>
                      <a:srgbClr val="C00000"/>
                    </a:solidFill>
                  </a:tcPr>
                </a:tc>
                <a:extLst>
                  <a:ext uri="{0D108BD9-81ED-4DB2-BD59-A6C34878D82A}">
                    <a16:rowId xmlns:a16="http://schemas.microsoft.com/office/drawing/2014/main" val="4165071454"/>
                  </a:ext>
                </a:extLst>
              </a:tr>
              <a:tr h="355851">
                <a:tc>
                  <a:txBody>
                    <a:bodyPr/>
                    <a:lstStyle/>
                    <a:p>
                      <a:r>
                        <a:rPr lang="en-US" sz="2000" dirty="0">
                          <a:effectLst/>
                        </a:rPr>
                        <a:t>Nonresponse bias</a:t>
                      </a:r>
                      <a:endParaRPr lang="en-US" sz="2000" b="0" dirty="0">
                        <a:effectLst/>
                      </a:endParaRPr>
                    </a:p>
                  </a:txBody>
                  <a:tcPr anchor="ctr"/>
                </a:tc>
                <a:tc>
                  <a:txBody>
                    <a:bodyPr/>
                    <a:lstStyle/>
                    <a:p>
                      <a:r>
                        <a:rPr lang="en-US" sz="2000" dirty="0">
                          <a:effectLst/>
                        </a:rPr>
                        <a:t>Respondents differ from non-respondents</a:t>
                      </a:r>
                      <a:endParaRPr lang="en-US" sz="2000" b="0" dirty="0">
                        <a:effectLst/>
                      </a:endParaRPr>
                    </a:p>
                  </a:txBody>
                  <a:tcPr anchor="ctr"/>
                </a:tc>
                <a:extLst>
                  <a:ext uri="{0D108BD9-81ED-4DB2-BD59-A6C34878D82A}">
                    <a16:rowId xmlns:a16="http://schemas.microsoft.com/office/drawing/2014/main" val="2383856193"/>
                  </a:ext>
                </a:extLst>
              </a:tr>
              <a:tr h="201133">
                <a:tc>
                  <a:txBody>
                    <a:bodyPr/>
                    <a:lstStyle/>
                    <a:p>
                      <a:r>
                        <a:rPr lang="en-US" sz="2000" dirty="0">
                          <a:effectLst/>
                        </a:rPr>
                        <a:t>Selection bias</a:t>
                      </a:r>
                      <a:endParaRPr lang="en-US" sz="2000" b="0" dirty="0">
                        <a:effectLst/>
                      </a:endParaRPr>
                    </a:p>
                  </a:txBody>
                  <a:tcPr anchor="ctr"/>
                </a:tc>
                <a:tc>
                  <a:txBody>
                    <a:bodyPr/>
                    <a:lstStyle/>
                    <a:p>
                      <a:r>
                        <a:rPr lang="en-US" sz="2000" dirty="0">
                          <a:effectLst/>
                        </a:rPr>
                        <a:t>Self-selected respondents are atypical</a:t>
                      </a:r>
                      <a:endParaRPr lang="en-US" sz="2000" b="0" dirty="0">
                        <a:effectLst/>
                      </a:endParaRPr>
                    </a:p>
                  </a:txBody>
                  <a:tcPr anchor="ctr"/>
                </a:tc>
                <a:extLst>
                  <a:ext uri="{0D108BD9-81ED-4DB2-BD59-A6C34878D82A}">
                    <a16:rowId xmlns:a16="http://schemas.microsoft.com/office/drawing/2014/main" val="2201701999"/>
                  </a:ext>
                </a:extLst>
              </a:tr>
              <a:tr h="201133">
                <a:tc>
                  <a:txBody>
                    <a:bodyPr/>
                    <a:lstStyle/>
                    <a:p>
                      <a:r>
                        <a:rPr lang="en-US" sz="2000" dirty="0">
                          <a:effectLst/>
                        </a:rPr>
                        <a:t>Response error</a:t>
                      </a:r>
                      <a:endParaRPr lang="en-US" sz="2000" b="0" dirty="0">
                        <a:effectLst/>
                      </a:endParaRPr>
                    </a:p>
                  </a:txBody>
                  <a:tcPr anchor="ctr"/>
                </a:tc>
                <a:tc>
                  <a:txBody>
                    <a:bodyPr/>
                    <a:lstStyle/>
                    <a:p>
                      <a:r>
                        <a:rPr lang="en-US" sz="2000" dirty="0">
                          <a:effectLst/>
                        </a:rPr>
                        <a:t>Respondents give false information</a:t>
                      </a:r>
                      <a:endParaRPr lang="en-US" sz="2000" b="0" dirty="0">
                        <a:effectLst/>
                      </a:endParaRPr>
                    </a:p>
                  </a:txBody>
                  <a:tcPr anchor="ctr"/>
                </a:tc>
                <a:extLst>
                  <a:ext uri="{0D108BD9-81ED-4DB2-BD59-A6C34878D82A}">
                    <a16:rowId xmlns:a16="http://schemas.microsoft.com/office/drawing/2014/main" val="482191540"/>
                  </a:ext>
                </a:extLst>
              </a:tr>
              <a:tr h="355851">
                <a:tc>
                  <a:txBody>
                    <a:bodyPr/>
                    <a:lstStyle/>
                    <a:p>
                      <a:r>
                        <a:rPr lang="en-US" sz="2000" dirty="0">
                          <a:effectLst/>
                        </a:rPr>
                        <a:t>Coverage error</a:t>
                      </a:r>
                      <a:endParaRPr lang="en-US" sz="2000" b="0" dirty="0">
                        <a:effectLst/>
                      </a:endParaRPr>
                    </a:p>
                  </a:txBody>
                  <a:tcPr anchor="ctr"/>
                </a:tc>
                <a:tc>
                  <a:txBody>
                    <a:bodyPr/>
                    <a:lstStyle/>
                    <a:p>
                      <a:r>
                        <a:rPr lang="en-US" sz="2000" dirty="0">
                          <a:effectLst/>
                        </a:rPr>
                        <a:t>Incorrect specification of frame or population</a:t>
                      </a:r>
                      <a:endParaRPr lang="en-US" sz="2000" b="0" dirty="0">
                        <a:effectLst/>
                      </a:endParaRPr>
                    </a:p>
                  </a:txBody>
                  <a:tcPr anchor="ctr"/>
                </a:tc>
                <a:extLst>
                  <a:ext uri="{0D108BD9-81ED-4DB2-BD59-A6C34878D82A}">
                    <a16:rowId xmlns:a16="http://schemas.microsoft.com/office/drawing/2014/main" val="144852532"/>
                  </a:ext>
                </a:extLst>
              </a:tr>
              <a:tr h="201133">
                <a:tc>
                  <a:txBody>
                    <a:bodyPr/>
                    <a:lstStyle/>
                    <a:p>
                      <a:r>
                        <a:rPr lang="en-US" sz="2000" dirty="0">
                          <a:effectLst/>
                        </a:rPr>
                        <a:t>Measurement error</a:t>
                      </a:r>
                      <a:endParaRPr lang="en-US" sz="2000" b="0" dirty="0">
                        <a:effectLst/>
                      </a:endParaRPr>
                    </a:p>
                  </a:txBody>
                  <a:tcPr anchor="ctr"/>
                </a:tc>
                <a:tc>
                  <a:txBody>
                    <a:bodyPr/>
                    <a:lstStyle/>
                    <a:p>
                      <a:r>
                        <a:rPr lang="en-US" sz="2000" dirty="0">
                          <a:effectLst/>
                        </a:rPr>
                        <a:t>Unclear survey instrument wording</a:t>
                      </a:r>
                      <a:endParaRPr lang="en-US" sz="2000" b="0" dirty="0">
                        <a:effectLst/>
                      </a:endParaRPr>
                    </a:p>
                  </a:txBody>
                  <a:tcPr anchor="ctr"/>
                </a:tc>
                <a:extLst>
                  <a:ext uri="{0D108BD9-81ED-4DB2-BD59-A6C34878D82A}">
                    <a16:rowId xmlns:a16="http://schemas.microsoft.com/office/drawing/2014/main" val="2568419014"/>
                  </a:ext>
                </a:extLst>
              </a:tr>
              <a:tr h="201133">
                <a:tc>
                  <a:txBody>
                    <a:bodyPr/>
                    <a:lstStyle/>
                    <a:p>
                      <a:r>
                        <a:rPr lang="en-US" sz="2000" dirty="0">
                          <a:effectLst/>
                        </a:rPr>
                        <a:t>Interviewer error</a:t>
                      </a:r>
                      <a:endParaRPr lang="en-US" sz="2000" b="0" dirty="0">
                        <a:effectLst/>
                      </a:endParaRPr>
                    </a:p>
                  </a:txBody>
                  <a:tcPr anchor="ctr"/>
                </a:tc>
                <a:tc>
                  <a:txBody>
                    <a:bodyPr/>
                    <a:lstStyle/>
                    <a:p>
                      <a:r>
                        <a:rPr lang="en-US" sz="2000" dirty="0">
                          <a:effectLst/>
                        </a:rPr>
                        <a:t>Responses influenced by interviewer</a:t>
                      </a:r>
                      <a:endParaRPr lang="en-US" sz="2000" b="0" dirty="0">
                        <a:effectLst/>
                      </a:endParaRPr>
                    </a:p>
                  </a:txBody>
                  <a:tcPr anchor="ctr"/>
                </a:tc>
                <a:extLst>
                  <a:ext uri="{0D108BD9-81ED-4DB2-BD59-A6C34878D82A}">
                    <a16:rowId xmlns:a16="http://schemas.microsoft.com/office/drawing/2014/main" val="1593988899"/>
                  </a:ext>
                </a:extLst>
              </a:tr>
              <a:tr h="201133">
                <a:tc>
                  <a:txBody>
                    <a:bodyPr/>
                    <a:lstStyle/>
                    <a:p>
                      <a:r>
                        <a:rPr lang="en-US" sz="2000" dirty="0">
                          <a:effectLst/>
                        </a:rPr>
                        <a:t>Sampling error</a:t>
                      </a:r>
                      <a:endParaRPr lang="en-US" sz="2000" b="0" dirty="0">
                        <a:effectLst/>
                      </a:endParaRPr>
                    </a:p>
                  </a:txBody>
                  <a:tcPr anchor="ctr"/>
                </a:tc>
                <a:tc>
                  <a:txBody>
                    <a:bodyPr/>
                    <a:lstStyle/>
                    <a:p>
                      <a:r>
                        <a:rPr lang="en-US" sz="2000" dirty="0">
                          <a:effectLst/>
                        </a:rPr>
                        <a:t>Random and unavoidable</a:t>
                      </a:r>
                      <a:endParaRPr lang="en-US" sz="2000" b="0" dirty="0">
                        <a:effectLst/>
                      </a:endParaRPr>
                    </a:p>
                  </a:txBody>
                  <a:tcPr anchor="ctr"/>
                </a:tc>
                <a:extLst>
                  <a:ext uri="{0D108BD9-81ED-4DB2-BD59-A6C34878D82A}">
                    <a16:rowId xmlns:a16="http://schemas.microsoft.com/office/drawing/2014/main" val="616107325"/>
                  </a:ext>
                </a:extLst>
              </a:tr>
            </a:tbl>
          </a:graphicData>
        </a:graphic>
      </p:graphicFrame>
      <p:sp>
        <p:nvSpPr>
          <p:cNvPr id="10" name="Slide Number Placeholder 9"/>
          <p:cNvSpPr>
            <a:spLocks noGrp="1"/>
          </p:cNvSpPr>
          <p:nvPr>
            <p:ph type="sldNum" sz="quarter" idx="10"/>
          </p:nvPr>
        </p:nvSpPr>
        <p:spPr/>
        <p:txBody>
          <a:bodyPr/>
          <a:lstStyle/>
          <a:p>
            <a:fld id="{68151E55-6873-49E2-B8D5-2F265E6F1973}" type="slidenum">
              <a:rPr lang="en-US" smtClean="0"/>
              <a:t>42</a:t>
            </a:fld>
            <a:endParaRPr lang="en-US" dirty="0"/>
          </a:p>
        </p:txBody>
      </p:sp>
    </p:spTree>
    <p:extLst>
      <p:ext uri="{BB962C8B-B14F-4D97-AF65-F5344CB8AC3E}">
        <p14:creationId xmlns:p14="http://schemas.microsoft.com/office/powerpoint/2010/main" val="273150515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1" y="192490"/>
            <a:ext cx="7975190" cy="903231"/>
          </a:xfrm>
        </p:spPr>
        <p:txBody>
          <a:bodyPr>
            <a:normAutofit/>
          </a:bodyPr>
          <a:lstStyle/>
          <a:p>
            <a:r>
              <a:rPr lang="en-IN" sz="3600" dirty="0"/>
              <a:t>Data Sources</a:t>
            </a:r>
          </a:p>
        </p:txBody>
      </p:sp>
      <p:sp>
        <p:nvSpPr>
          <p:cNvPr id="7" name="Content Placeholder 2">
            <a:extLst>
              <a:ext uri="{FF2B5EF4-FFF2-40B4-BE49-F238E27FC236}">
                <a16:creationId xmlns:a16="http://schemas.microsoft.com/office/drawing/2014/main" id="{8FE7E94B-B89D-3AF6-F48E-39144F555177}"/>
              </a:ext>
            </a:extLst>
          </p:cNvPr>
          <p:cNvSpPr>
            <a:spLocks noGrp="1"/>
          </p:cNvSpPr>
          <p:nvPr>
            <p:ph sz="quarter" idx="11"/>
          </p:nvPr>
        </p:nvSpPr>
        <p:spPr>
          <a:xfrm>
            <a:off x="8598957" y="54864"/>
            <a:ext cx="476295" cy="1295711"/>
          </a:xfrm>
        </p:spPr>
        <p:txBody>
          <a:bodyPr vert="vert" tIns="45720" rIns="0"/>
          <a:lstStyle/>
          <a:p>
            <a:pPr marL="1025525" indent="-1025525"/>
            <a:r>
              <a:rPr lang="en-US" b="1" dirty="0"/>
              <a:t>L</a:t>
            </a:r>
            <a:r>
              <a:rPr lang="en-US" sz="100" b="1" dirty="0"/>
              <a:t> </a:t>
            </a:r>
            <a:r>
              <a:rPr lang="en-US" b="1" dirty="0"/>
              <a:t>O 2.8</a:t>
            </a:r>
            <a:endParaRPr lang="en-IN" b="1" dirty="0"/>
          </a:p>
        </p:txBody>
      </p:sp>
      <p:sp>
        <p:nvSpPr>
          <p:cNvPr id="4" name="Content Placeholder 3"/>
          <p:cNvSpPr>
            <a:spLocks noGrp="1"/>
          </p:cNvSpPr>
          <p:nvPr>
            <p:ph sz="quarter" idx="14"/>
          </p:nvPr>
        </p:nvSpPr>
        <p:spPr>
          <a:xfrm>
            <a:off x="342900" y="1278015"/>
            <a:ext cx="8122674" cy="1612670"/>
          </a:xfrm>
        </p:spPr>
        <p:txBody>
          <a:bodyPr/>
          <a:lstStyle/>
          <a:p>
            <a:pPr eaLnBrk="0" hangingPunct="0">
              <a:spcBef>
                <a:spcPct val="20000"/>
              </a:spcBef>
              <a:buClr>
                <a:schemeClr val="accent1"/>
              </a:buClr>
            </a:pPr>
            <a:r>
              <a:rPr lang="en-US" dirty="0"/>
              <a:t>One goal of a statistics course is to help you learn where to find data that might be needed. Fortunately, many excellent sources are widely available. Some sources are given in the following table.</a:t>
            </a:r>
          </a:p>
        </p:txBody>
      </p:sp>
      <p:graphicFrame>
        <p:nvGraphicFramePr>
          <p:cNvPr id="6" name="Table 5">
            <a:extLst>
              <a:ext uri="{FF2B5EF4-FFF2-40B4-BE49-F238E27FC236}">
                <a16:creationId xmlns:a16="http://schemas.microsoft.com/office/drawing/2014/main" id="{17DDF0F4-779A-4C1F-9053-5F3D876F0065}"/>
              </a:ext>
            </a:extLst>
          </p:cNvPr>
          <p:cNvGraphicFramePr>
            <a:graphicFrameLocks noGrp="1"/>
          </p:cNvGraphicFramePr>
          <p:nvPr>
            <p:extLst>
              <p:ext uri="{D42A27DB-BD31-4B8C-83A1-F6EECF244321}">
                <p14:modId xmlns:p14="http://schemas.microsoft.com/office/powerpoint/2010/main" val="96708878"/>
              </p:ext>
            </p:extLst>
          </p:nvPr>
        </p:nvGraphicFramePr>
        <p:xfrm>
          <a:off x="652040" y="3119279"/>
          <a:ext cx="7701546" cy="2779776"/>
        </p:xfrm>
        <a:graphic>
          <a:graphicData uri="http://schemas.openxmlformats.org/drawingml/2006/table">
            <a:tbl>
              <a:tblPr firstRow="1" bandRow="1">
                <a:tableStyleId>{5C22544A-7EE6-4342-B048-85BDC9FD1C3A}</a:tableStyleId>
              </a:tblPr>
              <a:tblGrid>
                <a:gridCol w="2143919">
                  <a:extLst>
                    <a:ext uri="{9D8B030D-6E8A-4147-A177-3AD203B41FA5}">
                      <a16:colId xmlns:a16="http://schemas.microsoft.com/office/drawing/2014/main" val="1845765235"/>
                    </a:ext>
                  </a:extLst>
                </a:gridCol>
                <a:gridCol w="5557627">
                  <a:extLst>
                    <a:ext uri="{9D8B030D-6E8A-4147-A177-3AD203B41FA5}">
                      <a16:colId xmlns:a16="http://schemas.microsoft.com/office/drawing/2014/main" val="3973491581"/>
                    </a:ext>
                  </a:extLst>
                </a:gridCol>
              </a:tblGrid>
              <a:tr h="347472">
                <a:tc>
                  <a:txBody>
                    <a:bodyPr/>
                    <a:lstStyle/>
                    <a:p>
                      <a:r>
                        <a:rPr lang="en-US" sz="1600" dirty="0"/>
                        <a:t>Type of Data</a:t>
                      </a:r>
                      <a:endParaRPr lang="en-US" sz="1600" b="1" dirty="0">
                        <a:solidFill>
                          <a:schemeClr val="tx1"/>
                        </a:solidFill>
                      </a:endParaRPr>
                    </a:p>
                  </a:txBody>
                  <a:tcPr anchor="ctr">
                    <a:solidFill>
                      <a:srgbClr val="C00000"/>
                    </a:solidFill>
                  </a:tcPr>
                </a:tc>
                <a:tc>
                  <a:txBody>
                    <a:bodyPr/>
                    <a:lstStyle/>
                    <a:p>
                      <a:r>
                        <a:rPr lang="en-US" sz="1600" dirty="0"/>
                        <a:t>Examples</a:t>
                      </a:r>
                      <a:endParaRPr lang="en-US" sz="1600" b="1" dirty="0">
                        <a:solidFill>
                          <a:schemeClr val="tx1"/>
                        </a:solidFill>
                      </a:endParaRPr>
                    </a:p>
                  </a:txBody>
                  <a:tcPr anchor="ctr">
                    <a:solidFill>
                      <a:srgbClr val="C00000"/>
                    </a:solidFill>
                  </a:tcPr>
                </a:tc>
                <a:extLst>
                  <a:ext uri="{0D108BD9-81ED-4DB2-BD59-A6C34878D82A}">
                    <a16:rowId xmlns:a16="http://schemas.microsoft.com/office/drawing/2014/main" val="3366572056"/>
                  </a:ext>
                </a:extLst>
              </a:tr>
              <a:tr h="347472">
                <a:tc>
                  <a:txBody>
                    <a:bodyPr/>
                    <a:lstStyle/>
                    <a:p>
                      <a:r>
                        <a:rPr lang="en-US" sz="1600" dirty="0"/>
                        <a:t>U.S. job-related data</a:t>
                      </a:r>
                      <a:endParaRPr lang="en-US" sz="1600" b="0" dirty="0">
                        <a:solidFill>
                          <a:srgbClr val="002060"/>
                        </a:solidFill>
                      </a:endParaRPr>
                    </a:p>
                  </a:txBody>
                  <a:tcPr anchor="ctr"/>
                </a:tc>
                <a:tc>
                  <a:txBody>
                    <a:bodyPr/>
                    <a:lstStyle/>
                    <a:p>
                      <a:r>
                        <a:rPr lang="en-US" sz="1600" dirty="0"/>
                        <a:t>U.S. Bureau of Labor Statistics</a:t>
                      </a:r>
                      <a:endParaRPr lang="en-US" sz="1600" b="0" dirty="0">
                        <a:solidFill>
                          <a:srgbClr val="002060"/>
                        </a:solidFill>
                      </a:endParaRPr>
                    </a:p>
                  </a:txBody>
                  <a:tcPr anchor="ctr"/>
                </a:tc>
                <a:extLst>
                  <a:ext uri="{0D108BD9-81ED-4DB2-BD59-A6C34878D82A}">
                    <a16:rowId xmlns:a16="http://schemas.microsoft.com/office/drawing/2014/main" val="510491440"/>
                  </a:ext>
                </a:extLst>
              </a:tr>
              <a:tr h="347472">
                <a:tc>
                  <a:txBody>
                    <a:bodyPr/>
                    <a:lstStyle/>
                    <a:p>
                      <a:r>
                        <a:rPr lang="en-US" sz="1600" dirty="0"/>
                        <a:t>U.S. economic data</a:t>
                      </a:r>
                      <a:endParaRPr lang="en-US" sz="1600" b="0" dirty="0">
                        <a:solidFill>
                          <a:srgbClr val="002060"/>
                        </a:solidFill>
                      </a:endParaRPr>
                    </a:p>
                  </a:txBody>
                  <a:tcPr anchor="ctr"/>
                </a:tc>
                <a:tc>
                  <a:txBody>
                    <a:bodyPr/>
                    <a:lstStyle/>
                    <a:p>
                      <a:r>
                        <a:rPr lang="en-US" sz="1600" dirty="0"/>
                        <a:t>Economic Report of the President</a:t>
                      </a:r>
                      <a:endParaRPr lang="en-US" sz="1600" b="0" dirty="0">
                        <a:solidFill>
                          <a:srgbClr val="002060"/>
                        </a:solidFill>
                      </a:endParaRPr>
                    </a:p>
                  </a:txBody>
                  <a:tcPr anchor="ctr"/>
                </a:tc>
                <a:extLst>
                  <a:ext uri="{0D108BD9-81ED-4DB2-BD59-A6C34878D82A}">
                    <a16:rowId xmlns:a16="http://schemas.microsoft.com/office/drawing/2014/main" val="1937759923"/>
                  </a:ext>
                </a:extLst>
              </a:tr>
              <a:tr h="347472">
                <a:tc>
                  <a:txBody>
                    <a:bodyPr/>
                    <a:lstStyle/>
                    <a:p>
                      <a:r>
                        <a:rPr lang="en-US" sz="1600" dirty="0"/>
                        <a:t>Periodicals</a:t>
                      </a:r>
                      <a:endParaRPr lang="en-US" sz="1600" b="0" dirty="0">
                        <a:solidFill>
                          <a:srgbClr val="002060"/>
                        </a:solidFill>
                      </a:endParaRPr>
                    </a:p>
                  </a:txBody>
                  <a:tcPr anchor="ctr"/>
                </a:tc>
                <a:tc>
                  <a:txBody>
                    <a:bodyPr/>
                    <a:lstStyle/>
                    <a:p>
                      <a:r>
                        <a:rPr lang="en-US" sz="1600" dirty="0"/>
                        <a:t>Economist, Bloomberg Businessweek, Fortune, Forbes</a:t>
                      </a:r>
                      <a:endParaRPr lang="en-US" sz="1600" b="0" dirty="0">
                        <a:solidFill>
                          <a:srgbClr val="002060"/>
                        </a:solidFill>
                      </a:endParaRPr>
                    </a:p>
                  </a:txBody>
                  <a:tcPr anchor="ctr"/>
                </a:tc>
                <a:extLst>
                  <a:ext uri="{0D108BD9-81ED-4DB2-BD59-A6C34878D82A}">
                    <a16:rowId xmlns:a16="http://schemas.microsoft.com/office/drawing/2014/main" val="1520915307"/>
                  </a:ext>
                </a:extLst>
              </a:tr>
              <a:tr h="347472">
                <a:tc>
                  <a:txBody>
                    <a:bodyPr/>
                    <a:lstStyle/>
                    <a:p>
                      <a:r>
                        <a:rPr lang="en-US" sz="1600" dirty="0"/>
                        <a:t>Indexes</a:t>
                      </a:r>
                      <a:endParaRPr lang="en-US" sz="1600" b="0" dirty="0">
                        <a:solidFill>
                          <a:srgbClr val="002060"/>
                        </a:solidFill>
                      </a:endParaRPr>
                    </a:p>
                  </a:txBody>
                  <a:tcPr anchor="ctr"/>
                </a:tc>
                <a:tc>
                  <a:txBody>
                    <a:bodyPr/>
                    <a:lstStyle/>
                    <a:p>
                      <a:r>
                        <a:rPr lang="en-US" sz="1600" dirty="0"/>
                        <a:t>The New York Times, The Wall Street Journal</a:t>
                      </a:r>
                      <a:endParaRPr lang="en-US" sz="1600" b="0" dirty="0">
                        <a:solidFill>
                          <a:srgbClr val="002060"/>
                        </a:solidFill>
                      </a:endParaRPr>
                    </a:p>
                  </a:txBody>
                  <a:tcPr anchor="ctr"/>
                </a:tc>
                <a:extLst>
                  <a:ext uri="{0D108BD9-81ED-4DB2-BD59-A6C34878D82A}">
                    <a16:rowId xmlns:a16="http://schemas.microsoft.com/office/drawing/2014/main" val="3261547026"/>
                  </a:ext>
                </a:extLst>
              </a:tr>
              <a:tr h="347472">
                <a:tc>
                  <a:txBody>
                    <a:bodyPr/>
                    <a:lstStyle/>
                    <a:p>
                      <a:r>
                        <a:rPr lang="en-US" sz="1600" dirty="0"/>
                        <a:t>Databases</a:t>
                      </a:r>
                      <a:endParaRPr lang="en-US" sz="1600" b="0" dirty="0">
                        <a:solidFill>
                          <a:srgbClr val="002060"/>
                        </a:solidFill>
                      </a:endParaRPr>
                    </a:p>
                  </a:txBody>
                  <a:tcPr anchor="ctr"/>
                </a:tc>
                <a:tc>
                  <a:txBody>
                    <a:bodyPr/>
                    <a:lstStyle/>
                    <a:p>
                      <a:r>
                        <a:rPr lang="en-US" sz="1600" dirty="0"/>
                        <a:t>Compustat, Citibase, U.S. Census</a:t>
                      </a:r>
                      <a:endParaRPr lang="en-US" sz="1600" b="0" dirty="0">
                        <a:solidFill>
                          <a:srgbClr val="002060"/>
                        </a:solidFill>
                      </a:endParaRPr>
                    </a:p>
                  </a:txBody>
                  <a:tcPr anchor="ctr"/>
                </a:tc>
                <a:extLst>
                  <a:ext uri="{0D108BD9-81ED-4DB2-BD59-A6C34878D82A}">
                    <a16:rowId xmlns:a16="http://schemas.microsoft.com/office/drawing/2014/main" val="752002718"/>
                  </a:ext>
                </a:extLst>
              </a:tr>
              <a:tr h="347472">
                <a:tc>
                  <a:txBody>
                    <a:bodyPr/>
                    <a:lstStyle/>
                    <a:p>
                      <a:r>
                        <a:rPr lang="en-US" sz="1600" dirty="0"/>
                        <a:t>World data</a:t>
                      </a:r>
                      <a:endParaRPr lang="en-US" sz="1600" b="0" dirty="0">
                        <a:solidFill>
                          <a:srgbClr val="002060"/>
                        </a:solidFill>
                      </a:endParaRPr>
                    </a:p>
                  </a:txBody>
                  <a:tcPr anchor="ctr"/>
                </a:tc>
                <a:tc>
                  <a:txBody>
                    <a:bodyPr/>
                    <a:lstStyle/>
                    <a:p>
                      <a:r>
                        <a:rPr lang="en-US" sz="1600" dirty="0"/>
                        <a:t>C</a:t>
                      </a:r>
                      <a:r>
                        <a:rPr lang="en-US" sz="100" dirty="0"/>
                        <a:t> </a:t>
                      </a:r>
                      <a:r>
                        <a:rPr lang="en-US" sz="1600" dirty="0"/>
                        <a:t>I</a:t>
                      </a:r>
                      <a:r>
                        <a:rPr lang="en-US" sz="100" dirty="0"/>
                        <a:t> </a:t>
                      </a:r>
                      <a:r>
                        <a:rPr lang="en-US" sz="1600" dirty="0"/>
                        <a:t>A World Factbook</a:t>
                      </a:r>
                      <a:endParaRPr lang="en-US" sz="1600" b="0" dirty="0">
                        <a:solidFill>
                          <a:srgbClr val="002060"/>
                        </a:solidFill>
                      </a:endParaRPr>
                    </a:p>
                  </a:txBody>
                  <a:tcPr anchor="ctr"/>
                </a:tc>
                <a:extLst>
                  <a:ext uri="{0D108BD9-81ED-4DB2-BD59-A6C34878D82A}">
                    <a16:rowId xmlns:a16="http://schemas.microsoft.com/office/drawing/2014/main" val="284430582"/>
                  </a:ext>
                </a:extLst>
              </a:tr>
              <a:tr h="347472">
                <a:tc>
                  <a:txBody>
                    <a:bodyPr/>
                    <a:lstStyle/>
                    <a:p>
                      <a:r>
                        <a:rPr lang="en-US" sz="1600" dirty="0"/>
                        <a:t>Web</a:t>
                      </a:r>
                      <a:endParaRPr lang="en-US" sz="1600" dirty="0">
                        <a:solidFill>
                          <a:srgbClr val="002060"/>
                        </a:solidFill>
                      </a:endParaRPr>
                    </a:p>
                  </a:txBody>
                  <a:tcPr anchor="ctr"/>
                </a:tc>
                <a:tc>
                  <a:txBody>
                    <a:bodyPr/>
                    <a:lstStyle/>
                    <a:p>
                      <a:r>
                        <a:rPr lang="en-US" sz="1600" dirty="0"/>
                        <a:t>Wikipedia, Google, Yahoo!, M</a:t>
                      </a:r>
                      <a:r>
                        <a:rPr lang="en-US" sz="100" dirty="0"/>
                        <a:t> </a:t>
                      </a:r>
                      <a:r>
                        <a:rPr lang="en-US" sz="1600" dirty="0"/>
                        <a:t>S</a:t>
                      </a:r>
                      <a:r>
                        <a:rPr lang="en-US" sz="100" dirty="0"/>
                        <a:t> </a:t>
                      </a:r>
                      <a:r>
                        <a:rPr lang="en-US" sz="1600" dirty="0"/>
                        <a:t>N</a:t>
                      </a:r>
                      <a:endParaRPr lang="en-US" sz="1600" dirty="0">
                        <a:solidFill>
                          <a:srgbClr val="002060"/>
                        </a:solidFill>
                      </a:endParaRPr>
                    </a:p>
                  </a:txBody>
                  <a:tcPr anchor="ctr"/>
                </a:tc>
                <a:extLst>
                  <a:ext uri="{0D108BD9-81ED-4DB2-BD59-A6C34878D82A}">
                    <a16:rowId xmlns:a16="http://schemas.microsoft.com/office/drawing/2014/main" val="847959132"/>
                  </a:ext>
                </a:extLst>
              </a:tr>
            </a:tbl>
          </a:graphicData>
        </a:graphic>
      </p:graphicFrame>
      <p:sp>
        <p:nvSpPr>
          <p:cNvPr id="10" name="Slide Number Placeholder 9"/>
          <p:cNvSpPr>
            <a:spLocks noGrp="1"/>
          </p:cNvSpPr>
          <p:nvPr>
            <p:ph type="sldNum" sz="quarter" idx="10"/>
          </p:nvPr>
        </p:nvSpPr>
        <p:spPr>
          <a:xfrm>
            <a:off x="8626412" y="6646459"/>
            <a:ext cx="490292" cy="188467"/>
          </a:xfrm>
        </p:spPr>
        <p:txBody>
          <a:bodyPr/>
          <a:lstStyle/>
          <a:p>
            <a:fld id="{68151E55-6873-49E2-B8D5-2F265E6F1973}" type="slidenum">
              <a:rPr lang="en-US" smtClean="0"/>
              <a:t>43</a:t>
            </a:fld>
            <a:endParaRPr lang="en-US" dirty="0"/>
          </a:p>
        </p:txBody>
      </p:sp>
    </p:spTree>
    <p:extLst>
      <p:ext uri="{BB962C8B-B14F-4D97-AF65-F5344CB8AC3E}">
        <p14:creationId xmlns:p14="http://schemas.microsoft.com/office/powerpoint/2010/main" val="325233578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1" y="192490"/>
            <a:ext cx="7975190" cy="903231"/>
          </a:xfrm>
        </p:spPr>
        <p:txBody>
          <a:bodyPr>
            <a:normAutofit/>
          </a:bodyPr>
          <a:lstStyle/>
          <a:p>
            <a:r>
              <a:rPr lang="en-IN" sz="3600" dirty="0"/>
              <a:t>Web Data Sources</a:t>
            </a:r>
          </a:p>
        </p:txBody>
      </p:sp>
      <p:sp>
        <p:nvSpPr>
          <p:cNvPr id="5" name="Content Placeholder 2">
            <a:extLst>
              <a:ext uri="{FF2B5EF4-FFF2-40B4-BE49-F238E27FC236}">
                <a16:creationId xmlns:a16="http://schemas.microsoft.com/office/drawing/2014/main" id="{220EC9E7-0709-E1BA-19B5-82D26C51E6E6}"/>
              </a:ext>
            </a:extLst>
          </p:cNvPr>
          <p:cNvSpPr>
            <a:spLocks noGrp="1"/>
          </p:cNvSpPr>
          <p:nvPr>
            <p:ph sz="quarter" idx="11"/>
          </p:nvPr>
        </p:nvSpPr>
        <p:spPr>
          <a:xfrm>
            <a:off x="8598957" y="54864"/>
            <a:ext cx="476295" cy="1295711"/>
          </a:xfrm>
        </p:spPr>
        <p:txBody>
          <a:bodyPr vert="vert" tIns="45720" rIns="0"/>
          <a:lstStyle/>
          <a:p>
            <a:pPr marL="1025525" indent="-1025525"/>
            <a:r>
              <a:rPr lang="en-US" b="1" dirty="0"/>
              <a:t>L</a:t>
            </a:r>
            <a:r>
              <a:rPr lang="en-US" sz="100" b="1" dirty="0"/>
              <a:t> </a:t>
            </a:r>
            <a:r>
              <a:rPr lang="en-US" b="1" dirty="0"/>
              <a:t>O 2.8</a:t>
            </a:r>
            <a:endParaRPr lang="en-IN" b="1" dirty="0"/>
          </a:p>
        </p:txBody>
      </p:sp>
      <p:graphicFrame>
        <p:nvGraphicFramePr>
          <p:cNvPr id="6" name="Table 5">
            <a:extLst>
              <a:ext uri="{FF2B5EF4-FFF2-40B4-BE49-F238E27FC236}">
                <a16:creationId xmlns:a16="http://schemas.microsoft.com/office/drawing/2014/main" id="{74154ADB-2F03-4F2C-BF1E-B35C392BE1C2}"/>
              </a:ext>
            </a:extLst>
          </p:cNvPr>
          <p:cNvGraphicFramePr>
            <a:graphicFrameLocks noGrp="1"/>
          </p:cNvGraphicFramePr>
          <p:nvPr>
            <p:extLst>
              <p:ext uri="{D42A27DB-BD31-4B8C-83A1-F6EECF244321}">
                <p14:modId xmlns:p14="http://schemas.microsoft.com/office/powerpoint/2010/main" val="3583217306"/>
              </p:ext>
            </p:extLst>
          </p:nvPr>
        </p:nvGraphicFramePr>
        <p:xfrm>
          <a:off x="594162" y="1406325"/>
          <a:ext cx="5702466" cy="4876800"/>
        </p:xfrm>
        <a:graphic>
          <a:graphicData uri="http://schemas.openxmlformats.org/drawingml/2006/table">
            <a:tbl>
              <a:tblPr firstRow="1" bandRow="1">
                <a:tableStyleId>{5C22544A-7EE6-4342-B048-85BDC9FD1C3A}</a:tableStyleId>
              </a:tblPr>
              <a:tblGrid>
                <a:gridCol w="3364380">
                  <a:extLst>
                    <a:ext uri="{9D8B030D-6E8A-4147-A177-3AD203B41FA5}">
                      <a16:colId xmlns:a16="http://schemas.microsoft.com/office/drawing/2014/main" val="1845765235"/>
                    </a:ext>
                  </a:extLst>
                </a:gridCol>
                <a:gridCol w="2338086">
                  <a:extLst>
                    <a:ext uri="{9D8B030D-6E8A-4147-A177-3AD203B41FA5}">
                      <a16:colId xmlns:a16="http://schemas.microsoft.com/office/drawing/2014/main" val="3973491581"/>
                    </a:ext>
                  </a:extLst>
                </a:gridCol>
              </a:tblGrid>
              <a:tr h="280826">
                <a:tc>
                  <a:txBody>
                    <a:bodyPr/>
                    <a:lstStyle/>
                    <a:p>
                      <a:r>
                        <a:rPr lang="en-US" sz="1400" dirty="0"/>
                        <a:t>Source</a:t>
                      </a:r>
                      <a:endParaRPr lang="en-US" sz="1400" b="1" dirty="0">
                        <a:solidFill>
                          <a:schemeClr val="tx1"/>
                        </a:solidFill>
                      </a:endParaRPr>
                    </a:p>
                  </a:txBody>
                  <a:tcPr anchor="ctr">
                    <a:solidFill>
                      <a:srgbClr val="C00000"/>
                    </a:solidFill>
                  </a:tcPr>
                </a:tc>
                <a:tc>
                  <a:txBody>
                    <a:bodyPr/>
                    <a:lstStyle/>
                    <a:p>
                      <a:r>
                        <a:rPr lang="en-US" sz="1400" dirty="0"/>
                        <a:t>Website</a:t>
                      </a:r>
                      <a:endParaRPr lang="en-US" sz="1400" b="1" dirty="0">
                        <a:solidFill>
                          <a:schemeClr val="tx1"/>
                        </a:solidFill>
                      </a:endParaRPr>
                    </a:p>
                  </a:txBody>
                  <a:tcPr anchor="ctr">
                    <a:solidFill>
                      <a:srgbClr val="C00000"/>
                    </a:solidFill>
                  </a:tcPr>
                </a:tc>
                <a:extLst>
                  <a:ext uri="{0D108BD9-81ED-4DB2-BD59-A6C34878D82A}">
                    <a16:rowId xmlns:a16="http://schemas.microsoft.com/office/drawing/2014/main" val="3366572056"/>
                  </a:ext>
                </a:extLst>
              </a:tr>
              <a:tr h="246338">
                <a:tc>
                  <a:txBody>
                    <a:bodyPr/>
                    <a:lstStyle/>
                    <a:p>
                      <a:pPr algn="l" fontAlgn="b"/>
                      <a:r>
                        <a:rPr lang="en-US" sz="1400" u="none" strike="noStrike" dirty="0">
                          <a:effectLst/>
                        </a:rPr>
                        <a:t>Bureau of Economic Analysis</a:t>
                      </a:r>
                      <a:endParaRPr lang="en-US" sz="1400" b="0" i="0" u="none" strike="noStrike" dirty="0">
                        <a:solidFill>
                          <a:srgbClr val="000000"/>
                        </a:solidFill>
                        <a:effectLst/>
                        <a:latin typeface="Calibri" panose="020F0502020204030204" pitchFamily="34" charset="0"/>
                      </a:endParaRPr>
                    </a:p>
                  </a:txBody>
                  <a:tcPr anchor="b"/>
                </a:tc>
                <a:tc>
                  <a:txBody>
                    <a:bodyPr/>
                    <a:lstStyle/>
                    <a:p>
                      <a:pPr algn="l" fontAlgn="b"/>
                      <a:r>
                        <a:rPr lang="en-US" sz="1400" u="sng" strike="noStrike" dirty="0">
                          <a:effectLst/>
                          <a:hlinkClick r:id="rId2"/>
                        </a:rPr>
                        <a:t>www.bea.gov</a:t>
                      </a:r>
                      <a:endParaRPr lang="en-US" sz="1400" b="0" i="0" u="sng" strike="noStrike" dirty="0">
                        <a:solidFill>
                          <a:srgbClr val="0563C1"/>
                        </a:solidFill>
                        <a:effectLst/>
                        <a:latin typeface="Calibri" panose="020F0502020204030204" pitchFamily="34" charset="0"/>
                      </a:endParaRPr>
                    </a:p>
                  </a:txBody>
                  <a:tcPr anchor="b"/>
                </a:tc>
                <a:extLst>
                  <a:ext uri="{0D108BD9-81ED-4DB2-BD59-A6C34878D82A}">
                    <a16:rowId xmlns:a16="http://schemas.microsoft.com/office/drawing/2014/main" val="510491440"/>
                  </a:ext>
                </a:extLst>
              </a:tr>
              <a:tr h="246338">
                <a:tc>
                  <a:txBody>
                    <a:bodyPr/>
                    <a:lstStyle/>
                    <a:p>
                      <a:pPr algn="l" fontAlgn="b"/>
                      <a:r>
                        <a:rPr lang="en-US" sz="1400" u="none" strike="noStrike" dirty="0">
                          <a:effectLst/>
                        </a:rPr>
                        <a:t>Bureau of Justice Statistics</a:t>
                      </a:r>
                      <a:endParaRPr lang="en-US" sz="1400" b="0" i="0" u="none" strike="noStrike" dirty="0">
                        <a:solidFill>
                          <a:srgbClr val="000000"/>
                        </a:solidFill>
                        <a:effectLst/>
                        <a:latin typeface="Calibri" panose="020F0502020204030204" pitchFamily="34" charset="0"/>
                      </a:endParaRPr>
                    </a:p>
                  </a:txBody>
                  <a:tcPr anchor="b"/>
                </a:tc>
                <a:tc>
                  <a:txBody>
                    <a:bodyPr/>
                    <a:lstStyle/>
                    <a:p>
                      <a:pPr algn="l" fontAlgn="b"/>
                      <a:r>
                        <a:rPr lang="en-US" sz="1400" u="sng" strike="noStrike" dirty="0">
                          <a:effectLst/>
                          <a:hlinkClick r:id="rId3"/>
                        </a:rPr>
                        <a:t>www.bjs.gov</a:t>
                      </a:r>
                      <a:endParaRPr lang="en-US" sz="1400" b="0" i="0" u="sng" strike="noStrike" dirty="0">
                        <a:solidFill>
                          <a:srgbClr val="0563C1"/>
                        </a:solidFill>
                        <a:effectLst/>
                        <a:latin typeface="Calibri" panose="020F0502020204030204" pitchFamily="34" charset="0"/>
                      </a:endParaRPr>
                    </a:p>
                  </a:txBody>
                  <a:tcPr anchor="b"/>
                </a:tc>
                <a:extLst>
                  <a:ext uri="{0D108BD9-81ED-4DB2-BD59-A6C34878D82A}">
                    <a16:rowId xmlns:a16="http://schemas.microsoft.com/office/drawing/2014/main" val="1937759923"/>
                  </a:ext>
                </a:extLst>
              </a:tr>
              <a:tr h="246338">
                <a:tc>
                  <a:txBody>
                    <a:bodyPr/>
                    <a:lstStyle/>
                    <a:p>
                      <a:pPr algn="l" fontAlgn="b"/>
                      <a:r>
                        <a:rPr lang="en-US" sz="1400" u="none" strike="noStrike" dirty="0">
                          <a:effectLst/>
                        </a:rPr>
                        <a:t>Bureau of Labor Statistics</a:t>
                      </a:r>
                      <a:endParaRPr lang="en-US" sz="1400" b="0" i="0" u="none" strike="noStrike" dirty="0">
                        <a:solidFill>
                          <a:srgbClr val="000000"/>
                        </a:solidFill>
                        <a:effectLst/>
                        <a:latin typeface="Calibri" panose="020F0502020204030204" pitchFamily="34" charset="0"/>
                      </a:endParaRPr>
                    </a:p>
                  </a:txBody>
                  <a:tcPr anchor="b"/>
                </a:tc>
                <a:tc>
                  <a:txBody>
                    <a:bodyPr/>
                    <a:lstStyle/>
                    <a:p>
                      <a:pPr algn="l" fontAlgn="b"/>
                      <a:r>
                        <a:rPr lang="en-US" sz="1400" u="sng" strike="noStrike" dirty="0">
                          <a:effectLst/>
                          <a:hlinkClick r:id="rId4"/>
                        </a:rPr>
                        <a:t>www.bls.gov</a:t>
                      </a:r>
                      <a:endParaRPr lang="en-US" sz="1400" b="0" i="0" u="sng" strike="noStrike" dirty="0">
                        <a:solidFill>
                          <a:srgbClr val="0563C1"/>
                        </a:solidFill>
                        <a:effectLst/>
                        <a:latin typeface="Calibri" panose="020F0502020204030204" pitchFamily="34" charset="0"/>
                      </a:endParaRPr>
                    </a:p>
                  </a:txBody>
                  <a:tcPr anchor="b"/>
                </a:tc>
                <a:extLst>
                  <a:ext uri="{0D108BD9-81ED-4DB2-BD59-A6C34878D82A}">
                    <a16:rowId xmlns:a16="http://schemas.microsoft.com/office/drawing/2014/main" val="3931114302"/>
                  </a:ext>
                </a:extLst>
              </a:tr>
              <a:tr h="246338">
                <a:tc>
                  <a:txBody>
                    <a:bodyPr/>
                    <a:lstStyle/>
                    <a:p>
                      <a:pPr algn="l" fontAlgn="b"/>
                      <a:r>
                        <a:rPr lang="en-US" sz="1400" u="none" strike="noStrike" dirty="0">
                          <a:effectLst/>
                        </a:rPr>
                        <a:t>Central Intelligence Agency</a:t>
                      </a:r>
                      <a:endParaRPr lang="en-US" sz="1400" b="0" i="0" u="none" strike="noStrike" dirty="0">
                        <a:solidFill>
                          <a:srgbClr val="000000"/>
                        </a:solidFill>
                        <a:effectLst/>
                        <a:latin typeface="Calibri" panose="020F0502020204030204" pitchFamily="34" charset="0"/>
                      </a:endParaRPr>
                    </a:p>
                  </a:txBody>
                  <a:tcPr anchor="b"/>
                </a:tc>
                <a:tc>
                  <a:txBody>
                    <a:bodyPr/>
                    <a:lstStyle/>
                    <a:p>
                      <a:pPr algn="l" fontAlgn="b"/>
                      <a:r>
                        <a:rPr lang="en-US" sz="1400" u="sng" strike="noStrike" dirty="0">
                          <a:effectLst/>
                          <a:hlinkClick r:id="rId5"/>
                        </a:rPr>
                        <a:t>www.cia.gov</a:t>
                      </a:r>
                      <a:endParaRPr lang="en-US" sz="1400" b="0" i="0" u="sng" strike="noStrike" dirty="0">
                        <a:solidFill>
                          <a:srgbClr val="0563C1"/>
                        </a:solidFill>
                        <a:effectLst/>
                        <a:latin typeface="Calibri" panose="020F0502020204030204" pitchFamily="34" charset="0"/>
                      </a:endParaRPr>
                    </a:p>
                  </a:txBody>
                  <a:tcPr anchor="b"/>
                </a:tc>
                <a:extLst>
                  <a:ext uri="{0D108BD9-81ED-4DB2-BD59-A6C34878D82A}">
                    <a16:rowId xmlns:a16="http://schemas.microsoft.com/office/drawing/2014/main" val="1520915307"/>
                  </a:ext>
                </a:extLst>
              </a:tr>
              <a:tr h="246338">
                <a:tc>
                  <a:txBody>
                    <a:bodyPr/>
                    <a:lstStyle/>
                    <a:p>
                      <a:pPr algn="l" fontAlgn="b"/>
                      <a:r>
                        <a:rPr lang="en-US" sz="1400" u="none" strike="noStrike" dirty="0">
                          <a:effectLst/>
                        </a:rPr>
                        <a:t>Economic Report of the President</a:t>
                      </a:r>
                      <a:endParaRPr lang="en-US" sz="1400" b="0" i="0" u="none" strike="noStrike" dirty="0">
                        <a:solidFill>
                          <a:srgbClr val="000000"/>
                        </a:solidFill>
                        <a:effectLst/>
                        <a:latin typeface="Calibri" panose="020F0502020204030204" pitchFamily="34" charset="0"/>
                      </a:endParaRPr>
                    </a:p>
                  </a:txBody>
                  <a:tcPr anchor="b"/>
                </a:tc>
                <a:tc>
                  <a:txBody>
                    <a:bodyPr/>
                    <a:lstStyle/>
                    <a:p>
                      <a:pPr algn="l" fontAlgn="b"/>
                      <a:r>
                        <a:rPr lang="en-US" sz="1400" u="sng" strike="noStrike" dirty="0">
                          <a:effectLst/>
                          <a:hlinkClick r:id="rId6"/>
                        </a:rPr>
                        <a:t>www.gpo.gov/erp</a:t>
                      </a:r>
                      <a:endParaRPr lang="en-US" sz="1400" b="0" i="0" u="sng" strike="noStrike" dirty="0">
                        <a:solidFill>
                          <a:srgbClr val="0563C1"/>
                        </a:solidFill>
                        <a:effectLst/>
                        <a:latin typeface="Calibri" panose="020F0502020204030204" pitchFamily="34" charset="0"/>
                      </a:endParaRPr>
                    </a:p>
                  </a:txBody>
                  <a:tcPr anchor="b"/>
                </a:tc>
                <a:extLst>
                  <a:ext uri="{0D108BD9-81ED-4DB2-BD59-A6C34878D82A}">
                    <a16:rowId xmlns:a16="http://schemas.microsoft.com/office/drawing/2014/main" val="3261547026"/>
                  </a:ext>
                </a:extLst>
              </a:tr>
              <a:tr h="246338">
                <a:tc>
                  <a:txBody>
                    <a:bodyPr/>
                    <a:lstStyle/>
                    <a:p>
                      <a:pPr algn="l" fontAlgn="b"/>
                      <a:r>
                        <a:rPr lang="en-US" sz="1400" u="none" strike="noStrike" dirty="0">
                          <a:effectLst/>
                        </a:rPr>
                        <a:t>Environmental Protection Agency</a:t>
                      </a:r>
                      <a:endParaRPr lang="en-US" sz="1400" b="0" i="0" u="none" strike="noStrike" dirty="0">
                        <a:solidFill>
                          <a:srgbClr val="000000"/>
                        </a:solidFill>
                        <a:effectLst/>
                        <a:latin typeface="Calibri" panose="020F0502020204030204" pitchFamily="34" charset="0"/>
                      </a:endParaRPr>
                    </a:p>
                  </a:txBody>
                  <a:tcPr anchor="b"/>
                </a:tc>
                <a:tc>
                  <a:txBody>
                    <a:bodyPr/>
                    <a:lstStyle/>
                    <a:p>
                      <a:pPr algn="l" fontAlgn="b"/>
                      <a:r>
                        <a:rPr lang="en-US" sz="1400" u="sng" strike="noStrike" dirty="0">
                          <a:effectLst/>
                          <a:hlinkClick r:id="rId7"/>
                        </a:rPr>
                        <a:t>www.epa.gov</a:t>
                      </a:r>
                      <a:endParaRPr lang="en-US" sz="1400" b="0" i="0" u="sng" strike="noStrike" dirty="0">
                        <a:solidFill>
                          <a:srgbClr val="0563C1"/>
                        </a:solidFill>
                        <a:effectLst/>
                        <a:latin typeface="Calibri" panose="020F0502020204030204" pitchFamily="34" charset="0"/>
                      </a:endParaRPr>
                    </a:p>
                  </a:txBody>
                  <a:tcPr anchor="b"/>
                </a:tc>
                <a:extLst>
                  <a:ext uri="{0D108BD9-81ED-4DB2-BD59-A6C34878D82A}">
                    <a16:rowId xmlns:a16="http://schemas.microsoft.com/office/drawing/2014/main" val="752002718"/>
                  </a:ext>
                </a:extLst>
              </a:tr>
              <a:tr h="246338">
                <a:tc>
                  <a:txBody>
                    <a:bodyPr/>
                    <a:lstStyle/>
                    <a:p>
                      <a:pPr algn="l" fontAlgn="b"/>
                      <a:r>
                        <a:rPr lang="en-US" sz="1400" u="none" strike="noStrike" dirty="0">
                          <a:effectLst/>
                        </a:rPr>
                        <a:t>Federal Reserve System</a:t>
                      </a:r>
                      <a:endParaRPr lang="en-US" sz="1400" b="0" i="0" u="none" strike="noStrike" dirty="0">
                        <a:solidFill>
                          <a:srgbClr val="000000"/>
                        </a:solidFill>
                        <a:effectLst/>
                        <a:latin typeface="Calibri" panose="020F0502020204030204" pitchFamily="34" charset="0"/>
                      </a:endParaRPr>
                    </a:p>
                  </a:txBody>
                  <a:tcPr anchor="b"/>
                </a:tc>
                <a:tc>
                  <a:txBody>
                    <a:bodyPr/>
                    <a:lstStyle/>
                    <a:p>
                      <a:pPr algn="l" fontAlgn="b"/>
                      <a:r>
                        <a:rPr lang="en-US" sz="1400" u="sng" strike="noStrike" dirty="0">
                          <a:effectLst/>
                          <a:hlinkClick r:id="rId8"/>
                        </a:rPr>
                        <a:t>www.federalreserve.gov</a:t>
                      </a:r>
                      <a:endParaRPr lang="en-US" sz="1400" b="0" i="0" u="sng" strike="noStrike" dirty="0">
                        <a:solidFill>
                          <a:srgbClr val="0563C1"/>
                        </a:solidFill>
                        <a:effectLst/>
                        <a:latin typeface="Calibri" panose="020F0502020204030204" pitchFamily="34" charset="0"/>
                      </a:endParaRPr>
                    </a:p>
                  </a:txBody>
                  <a:tcPr anchor="b"/>
                </a:tc>
                <a:extLst>
                  <a:ext uri="{0D108BD9-81ED-4DB2-BD59-A6C34878D82A}">
                    <a16:rowId xmlns:a16="http://schemas.microsoft.com/office/drawing/2014/main" val="284430582"/>
                  </a:ext>
                </a:extLst>
              </a:tr>
              <a:tr h="246338">
                <a:tc>
                  <a:txBody>
                    <a:bodyPr/>
                    <a:lstStyle/>
                    <a:p>
                      <a:pPr algn="l" fontAlgn="b"/>
                      <a:r>
                        <a:rPr lang="en-US" sz="1400" u="none" strike="noStrike" dirty="0">
                          <a:effectLst/>
                        </a:rPr>
                        <a:t>Food and Drug Administration</a:t>
                      </a:r>
                      <a:endParaRPr lang="en-US" sz="1400" b="0" i="0" u="none" strike="noStrike" dirty="0">
                        <a:solidFill>
                          <a:srgbClr val="000000"/>
                        </a:solidFill>
                        <a:effectLst/>
                        <a:latin typeface="Calibri" panose="020F0502020204030204" pitchFamily="34" charset="0"/>
                      </a:endParaRPr>
                    </a:p>
                  </a:txBody>
                  <a:tcPr anchor="b"/>
                </a:tc>
                <a:tc>
                  <a:txBody>
                    <a:bodyPr/>
                    <a:lstStyle/>
                    <a:p>
                      <a:pPr algn="l" fontAlgn="b"/>
                      <a:r>
                        <a:rPr lang="en-US" sz="1400" u="sng" strike="noStrike" dirty="0">
                          <a:effectLst/>
                          <a:hlinkClick r:id="rId9"/>
                        </a:rPr>
                        <a:t>www.fda.gov</a:t>
                      </a:r>
                      <a:endParaRPr lang="en-US" sz="1400" b="0" i="0" u="sng" strike="noStrike" dirty="0">
                        <a:solidFill>
                          <a:srgbClr val="0563C1"/>
                        </a:solidFill>
                        <a:effectLst/>
                        <a:latin typeface="Calibri" panose="020F0502020204030204" pitchFamily="34" charset="0"/>
                      </a:endParaRPr>
                    </a:p>
                  </a:txBody>
                  <a:tcPr anchor="b"/>
                </a:tc>
                <a:extLst>
                  <a:ext uri="{0D108BD9-81ED-4DB2-BD59-A6C34878D82A}">
                    <a16:rowId xmlns:a16="http://schemas.microsoft.com/office/drawing/2014/main" val="847959132"/>
                  </a:ext>
                </a:extLst>
              </a:tr>
              <a:tr h="246338">
                <a:tc>
                  <a:txBody>
                    <a:bodyPr/>
                    <a:lstStyle/>
                    <a:p>
                      <a:pPr algn="l" fontAlgn="b"/>
                      <a:r>
                        <a:rPr lang="en-US" sz="1400" u="none" strike="noStrike" dirty="0">
                          <a:effectLst/>
                        </a:rPr>
                        <a:t>National Center for Education Statistics</a:t>
                      </a:r>
                      <a:endParaRPr lang="en-US" sz="1400" b="0" i="0" u="none" strike="noStrike" dirty="0">
                        <a:solidFill>
                          <a:srgbClr val="000000"/>
                        </a:solidFill>
                        <a:effectLst/>
                        <a:latin typeface="Calibri" panose="020F0502020204030204" pitchFamily="34" charset="0"/>
                      </a:endParaRPr>
                    </a:p>
                  </a:txBody>
                  <a:tcPr anchor="b"/>
                </a:tc>
                <a:tc>
                  <a:txBody>
                    <a:bodyPr/>
                    <a:lstStyle/>
                    <a:p>
                      <a:pPr algn="l" fontAlgn="b"/>
                      <a:r>
                        <a:rPr lang="en-US" sz="1400" u="sng" strike="noStrike" dirty="0">
                          <a:effectLst/>
                          <a:hlinkClick r:id="rId10"/>
                        </a:rPr>
                        <a:t>nces.ed.gov</a:t>
                      </a:r>
                      <a:endParaRPr lang="en-US" sz="1400" b="0" i="0" u="sng" strike="noStrike" dirty="0">
                        <a:solidFill>
                          <a:srgbClr val="0563C1"/>
                        </a:solidFill>
                        <a:effectLst/>
                        <a:latin typeface="Calibri" panose="020F0502020204030204" pitchFamily="34" charset="0"/>
                      </a:endParaRPr>
                    </a:p>
                  </a:txBody>
                  <a:tcPr anchor="b"/>
                </a:tc>
                <a:extLst>
                  <a:ext uri="{0D108BD9-81ED-4DB2-BD59-A6C34878D82A}">
                    <a16:rowId xmlns:a16="http://schemas.microsoft.com/office/drawing/2014/main" val="3916365660"/>
                  </a:ext>
                </a:extLst>
              </a:tr>
              <a:tr h="246338">
                <a:tc>
                  <a:txBody>
                    <a:bodyPr/>
                    <a:lstStyle/>
                    <a:p>
                      <a:pPr algn="l" fontAlgn="b"/>
                      <a:r>
                        <a:rPr lang="en-US" sz="1400" u="none" strike="noStrike" dirty="0">
                          <a:effectLst/>
                        </a:rPr>
                        <a:t>National Center for Health Statistics</a:t>
                      </a:r>
                      <a:endParaRPr lang="en-US" sz="1400" b="0" i="0" u="none" strike="noStrike" dirty="0">
                        <a:solidFill>
                          <a:srgbClr val="000000"/>
                        </a:solidFill>
                        <a:effectLst/>
                        <a:latin typeface="Calibri" panose="020F0502020204030204" pitchFamily="34" charset="0"/>
                      </a:endParaRPr>
                    </a:p>
                  </a:txBody>
                  <a:tcPr anchor="b"/>
                </a:tc>
                <a:tc>
                  <a:txBody>
                    <a:bodyPr/>
                    <a:lstStyle/>
                    <a:p>
                      <a:pPr algn="l" fontAlgn="b"/>
                      <a:r>
                        <a:rPr lang="en-US" sz="1400" u="sng" strike="noStrike" dirty="0">
                          <a:effectLst/>
                          <a:hlinkClick r:id="rId11"/>
                        </a:rPr>
                        <a:t>www.cdc.gov/nchs</a:t>
                      </a:r>
                      <a:endParaRPr lang="en-US" sz="1400" b="0" i="0" u="sng" strike="noStrike" dirty="0">
                        <a:solidFill>
                          <a:srgbClr val="0563C1"/>
                        </a:solidFill>
                        <a:effectLst/>
                        <a:latin typeface="Calibri" panose="020F0502020204030204" pitchFamily="34" charset="0"/>
                      </a:endParaRPr>
                    </a:p>
                  </a:txBody>
                  <a:tcPr anchor="b"/>
                </a:tc>
                <a:extLst>
                  <a:ext uri="{0D108BD9-81ED-4DB2-BD59-A6C34878D82A}">
                    <a16:rowId xmlns:a16="http://schemas.microsoft.com/office/drawing/2014/main" val="436320122"/>
                  </a:ext>
                </a:extLst>
              </a:tr>
              <a:tr h="246338">
                <a:tc>
                  <a:txBody>
                    <a:bodyPr/>
                    <a:lstStyle/>
                    <a:p>
                      <a:pPr algn="l" fontAlgn="b"/>
                      <a:r>
                        <a:rPr lang="en-US" sz="1400" u="none" strike="noStrike" dirty="0">
                          <a:effectLst/>
                        </a:rPr>
                        <a:t>U.S. Census Bureau</a:t>
                      </a:r>
                      <a:endParaRPr lang="en-US" sz="1400" b="0" i="0" u="none" strike="noStrike" dirty="0">
                        <a:solidFill>
                          <a:srgbClr val="000000"/>
                        </a:solidFill>
                        <a:effectLst/>
                        <a:latin typeface="Calibri" panose="020F0502020204030204" pitchFamily="34" charset="0"/>
                      </a:endParaRPr>
                    </a:p>
                  </a:txBody>
                  <a:tcPr anchor="b"/>
                </a:tc>
                <a:tc>
                  <a:txBody>
                    <a:bodyPr/>
                    <a:lstStyle/>
                    <a:p>
                      <a:pPr algn="l" fontAlgn="b"/>
                      <a:r>
                        <a:rPr lang="en-US" sz="1400" u="sng" strike="noStrike" dirty="0">
                          <a:effectLst/>
                          <a:hlinkClick r:id="rId12"/>
                        </a:rPr>
                        <a:t>www.census.gov</a:t>
                      </a:r>
                      <a:endParaRPr lang="en-US" sz="1400" b="0" i="0" u="sng" strike="noStrike" dirty="0">
                        <a:solidFill>
                          <a:srgbClr val="0563C1"/>
                        </a:solidFill>
                        <a:effectLst/>
                        <a:latin typeface="Calibri" panose="020F0502020204030204" pitchFamily="34" charset="0"/>
                      </a:endParaRPr>
                    </a:p>
                  </a:txBody>
                  <a:tcPr anchor="b"/>
                </a:tc>
                <a:extLst>
                  <a:ext uri="{0D108BD9-81ED-4DB2-BD59-A6C34878D82A}">
                    <a16:rowId xmlns:a16="http://schemas.microsoft.com/office/drawing/2014/main" val="3532871553"/>
                  </a:ext>
                </a:extLst>
              </a:tr>
              <a:tr h="246338">
                <a:tc>
                  <a:txBody>
                    <a:bodyPr/>
                    <a:lstStyle/>
                    <a:p>
                      <a:pPr algn="l" fontAlgn="b"/>
                      <a:r>
                        <a:rPr lang="en-US" sz="1400" u="none" strike="noStrike" dirty="0">
                          <a:effectLst/>
                        </a:rPr>
                        <a:t>U.S. Federal Statistics</a:t>
                      </a:r>
                      <a:endParaRPr lang="en-US" sz="1400" b="0" i="0" u="none" strike="noStrike" dirty="0">
                        <a:solidFill>
                          <a:srgbClr val="000000"/>
                        </a:solidFill>
                        <a:effectLst/>
                        <a:latin typeface="Calibri" panose="020F0502020204030204" pitchFamily="34" charset="0"/>
                      </a:endParaRPr>
                    </a:p>
                  </a:txBody>
                  <a:tcPr anchor="b"/>
                </a:tc>
                <a:tc>
                  <a:txBody>
                    <a:bodyPr/>
                    <a:lstStyle/>
                    <a:p>
                      <a:pPr algn="l" fontAlgn="b"/>
                      <a:r>
                        <a:rPr lang="en-US" sz="1400" u="sng" strike="noStrike" dirty="0">
                          <a:effectLst/>
                          <a:hlinkClick r:id="rId13"/>
                        </a:rPr>
                        <a:t>www.usa.gov/statistics</a:t>
                      </a:r>
                      <a:endParaRPr lang="en-US" sz="1400" b="0" i="0" u="sng" strike="noStrike" dirty="0">
                        <a:solidFill>
                          <a:srgbClr val="0563C1"/>
                        </a:solidFill>
                        <a:effectLst/>
                        <a:latin typeface="Calibri" panose="020F0502020204030204" pitchFamily="34" charset="0"/>
                      </a:endParaRPr>
                    </a:p>
                  </a:txBody>
                  <a:tcPr anchor="b"/>
                </a:tc>
                <a:extLst>
                  <a:ext uri="{0D108BD9-81ED-4DB2-BD59-A6C34878D82A}">
                    <a16:rowId xmlns:a16="http://schemas.microsoft.com/office/drawing/2014/main" val="2105068989"/>
                  </a:ext>
                </a:extLst>
              </a:tr>
              <a:tr h="246338">
                <a:tc>
                  <a:txBody>
                    <a:bodyPr/>
                    <a:lstStyle/>
                    <a:p>
                      <a:pPr algn="l" fontAlgn="b"/>
                      <a:r>
                        <a:rPr lang="en-US" sz="1400" u="none" strike="noStrike" dirty="0">
                          <a:effectLst/>
                        </a:rPr>
                        <a:t>World Bank</a:t>
                      </a:r>
                      <a:endParaRPr lang="en-US" sz="1400" b="0" i="0" u="none" strike="noStrike" dirty="0">
                        <a:solidFill>
                          <a:srgbClr val="000000"/>
                        </a:solidFill>
                        <a:effectLst/>
                        <a:latin typeface="Calibri" panose="020F0502020204030204" pitchFamily="34" charset="0"/>
                      </a:endParaRPr>
                    </a:p>
                  </a:txBody>
                  <a:tcPr anchor="b"/>
                </a:tc>
                <a:tc>
                  <a:txBody>
                    <a:bodyPr/>
                    <a:lstStyle/>
                    <a:p>
                      <a:pPr algn="l" fontAlgn="b"/>
                      <a:r>
                        <a:rPr lang="en-US" sz="1400" u="sng" strike="noStrike" dirty="0">
                          <a:effectLst/>
                          <a:hlinkClick r:id="rId14"/>
                        </a:rPr>
                        <a:t>www.worldbank.org</a:t>
                      </a:r>
                      <a:endParaRPr lang="en-US" sz="1400" b="0" i="0" u="sng" strike="noStrike" dirty="0">
                        <a:solidFill>
                          <a:srgbClr val="0563C1"/>
                        </a:solidFill>
                        <a:effectLst/>
                        <a:latin typeface="Calibri" panose="020F0502020204030204" pitchFamily="34" charset="0"/>
                      </a:endParaRPr>
                    </a:p>
                  </a:txBody>
                  <a:tcPr anchor="b"/>
                </a:tc>
                <a:extLst>
                  <a:ext uri="{0D108BD9-81ED-4DB2-BD59-A6C34878D82A}">
                    <a16:rowId xmlns:a16="http://schemas.microsoft.com/office/drawing/2014/main" val="1481408921"/>
                  </a:ext>
                </a:extLst>
              </a:tr>
              <a:tr h="246338">
                <a:tc>
                  <a:txBody>
                    <a:bodyPr/>
                    <a:lstStyle/>
                    <a:p>
                      <a:pPr algn="l" fontAlgn="b"/>
                      <a:r>
                        <a:rPr lang="en-US" sz="1400" u="none" strike="noStrike" dirty="0">
                          <a:effectLst/>
                        </a:rPr>
                        <a:t>World Demographics</a:t>
                      </a:r>
                      <a:endParaRPr lang="en-US" sz="1400" b="0" i="0" u="none" strike="noStrike" dirty="0">
                        <a:solidFill>
                          <a:srgbClr val="000000"/>
                        </a:solidFill>
                        <a:effectLst/>
                        <a:latin typeface="Calibri" panose="020F0502020204030204" pitchFamily="34" charset="0"/>
                      </a:endParaRPr>
                    </a:p>
                  </a:txBody>
                  <a:tcPr anchor="b"/>
                </a:tc>
                <a:tc>
                  <a:txBody>
                    <a:bodyPr/>
                    <a:lstStyle/>
                    <a:p>
                      <a:pPr algn="l" fontAlgn="b"/>
                      <a:r>
                        <a:rPr lang="en-US" sz="1400" u="sng" strike="noStrike" dirty="0">
                          <a:effectLst/>
                          <a:hlinkClick r:id="rId15"/>
                        </a:rPr>
                        <a:t>www.demographia.com</a:t>
                      </a:r>
                      <a:endParaRPr lang="en-US" sz="1400" b="0" i="0" u="sng" strike="noStrike" dirty="0">
                        <a:solidFill>
                          <a:srgbClr val="0563C1"/>
                        </a:solidFill>
                        <a:effectLst/>
                        <a:latin typeface="Calibri" panose="020F0502020204030204" pitchFamily="34" charset="0"/>
                      </a:endParaRPr>
                    </a:p>
                  </a:txBody>
                  <a:tcPr anchor="b"/>
                </a:tc>
                <a:extLst>
                  <a:ext uri="{0D108BD9-81ED-4DB2-BD59-A6C34878D82A}">
                    <a16:rowId xmlns:a16="http://schemas.microsoft.com/office/drawing/2014/main" val="3507418007"/>
                  </a:ext>
                </a:extLst>
              </a:tr>
              <a:tr h="246338">
                <a:tc>
                  <a:txBody>
                    <a:bodyPr/>
                    <a:lstStyle/>
                    <a:p>
                      <a:pPr algn="l" fontAlgn="b"/>
                      <a:r>
                        <a:rPr lang="en-US" sz="1400" u="none" strike="noStrike" dirty="0">
                          <a:effectLst/>
                        </a:rPr>
                        <a:t>World Health Organization</a:t>
                      </a:r>
                      <a:endParaRPr lang="en-US" sz="1400" b="0" i="0" u="none" strike="noStrike" dirty="0">
                        <a:solidFill>
                          <a:srgbClr val="000000"/>
                        </a:solidFill>
                        <a:effectLst/>
                        <a:latin typeface="Calibri" panose="020F0502020204030204" pitchFamily="34" charset="0"/>
                      </a:endParaRPr>
                    </a:p>
                  </a:txBody>
                  <a:tcPr anchor="b"/>
                </a:tc>
                <a:tc>
                  <a:txBody>
                    <a:bodyPr/>
                    <a:lstStyle/>
                    <a:p>
                      <a:pPr algn="l" fontAlgn="b"/>
                      <a:r>
                        <a:rPr lang="en-US" sz="1400" u="sng" strike="noStrike" dirty="0">
                          <a:effectLst/>
                          <a:hlinkClick r:id="rId16"/>
                        </a:rPr>
                        <a:t>www.who.int/en</a:t>
                      </a:r>
                      <a:endParaRPr lang="en-US" sz="1400" b="0" i="0" u="sng" strike="noStrike" dirty="0">
                        <a:solidFill>
                          <a:srgbClr val="0563C1"/>
                        </a:solidFill>
                        <a:effectLst/>
                        <a:latin typeface="Calibri" panose="020F0502020204030204" pitchFamily="34" charset="0"/>
                      </a:endParaRPr>
                    </a:p>
                  </a:txBody>
                  <a:tcPr anchor="b"/>
                </a:tc>
                <a:extLst>
                  <a:ext uri="{0D108BD9-81ED-4DB2-BD59-A6C34878D82A}">
                    <a16:rowId xmlns:a16="http://schemas.microsoft.com/office/drawing/2014/main" val="2811703219"/>
                  </a:ext>
                </a:extLst>
              </a:tr>
            </a:tbl>
          </a:graphicData>
        </a:graphic>
      </p:graphicFrame>
      <p:sp>
        <p:nvSpPr>
          <p:cNvPr id="10" name="Slide Number Placeholder 9"/>
          <p:cNvSpPr>
            <a:spLocks noGrp="1"/>
          </p:cNvSpPr>
          <p:nvPr>
            <p:ph type="sldNum" sz="quarter" idx="10"/>
          </p:nvPr>
        </p:nvSpPr>
        <p:spPr/>
        <p:txBody>
          <a:bodyPr/>
          <a:lstStyle/>
          <a:p>
            <a:fld id="{68151E55-6873-49E2-B8D5-2F265E6F1973}" type="slidenum">
              <a:rPr lang="en-US" smtClean="0"/>
              <a:t>44</a:t>
            </a:fld>
            <a:endParaRPr lang="en-US" dirty="0"/>
          </a:p>
        </p:txBody>
      </p:sp>
    </p:spTree>
    <p:extLst>
      <p:ext uri="{BB962C8B-B14F-4D97-AF65-F5344CB8AC3E}">
        <p14:creationId xmlns:p14="http://schemas.microsoft.com/office/powerpoint/2010/main" val="99450159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192490"/>
            <a:ext cx="7669724" cy="903231"/>
          </a:xfrm>
        </p:spPr>
        <p:txBody>
          <a:bodyPr>
            <a:normAutofit/>
          </a:bodyPr>
          <a:lstStyle/>
          <a:p>
            <a:r>
              <a:rPr lang="en-IN" sz="3600" dirty="0"/>
              <a:t>Steps of Survey Research</a:t>
            </a:r>
          </a:p>
        </p:txBody>
      </p:sp>
      <p:sp>
        <p:nvSpPr>
          <p:cNvPr id="6" name="Content Placeholder 2">
            <a:extLst>
              <a:ext uri="{FF2B5EF4-FFF2-40B4-BE49-F238E27FC236}">
                <a16:creationId xmlns:a16="http://schemas.microsoft.com/office/drawing/2014/main" id="{54B09088-8BAB-27BF-9E43-59C99BF76C7F}"/>
              </a:ext>
            </a:extLst>
          </p:cNvPr>
          <p:cNvSpPr>
            <a:spLocks noGrp="1"/>
          </p:cNvSpPr>
          <p:nvPr>
            <p:ph sz="quarter" idx="11"/>
          </p:nvPr>
        </p:nvSpPr>
        <p:spPr>
          <a:xfrm>
            <a:off x="8598957" y="54864"/>
            <a:ext cx="476295" cy="1295711"/>
          </a:xfrm>
        </p:spPr>
        <p:txBody>
          <a:bodyPr vert="vert" tIns="45720" rIns="0"/>
          <a:lstStyle/>
          <a:p>
            <a:pPr marL="1025525" indent="-1025525"/>
            <a:r>
              <a:rPr lang="en-US" b="1" dirty="0"/>
              <a:t>L</a:t>
            </a:r>
            <a:r>
              <a:rPr lang="en-US" sz="100" b="1" dirty="0"/>
              <a:t> </a:t>
            </a:r>
            <a:r>
              <a:rPr lang="en-US" b="1" dirty="0"/>
              <a:t>O 2.9</a:t>
            </a:r>
            <a:endParaRPr lang="en-IN" b="1" dirty="0"/>
          </a:p>
        </p:txBody>
      </p:sp>
      <p:sp>
        <p:nvSpPr>
          <p:cNvPr id="4" name="Content Placeholder 3"/>
          <p:cNvSpPr>
            <a:spLocks noGrp="1"/>
          </p:cNvSpPr>
          <p:nvPr>
            <p:ph sz="quarter" idx="14"/>
          </p:nvPr>
        </p:nvSpPr>
        <p:spPr>
          <a:xfrm>
            <a:off x="342900" y="1278014"/>
            <a:ext cx="8136082" cy="5034295"/>
          </a:xfrm>
        </p:spPr>
        <p:txBody>
          <a:bodyPr/>
          <a:lstStyle/>
          <a:p>
            <a:pPr marL="1135063" indent="-1135063">
              <a:spcBef>
                <a:spcPts val="500"/>
              </a:spcBef>
              <a:defRPr/>
            </a:pPr>
            <a:r>
              <a:rPr lang="en-IN" b="1" dirty="0">
                <a:solidFill>
                  <a:schemeClr val="tx1"/>
                </a:solidFill>
              </a:rPr>
              <a:t>Step 1: </a:t>
            </a:r>
            <a:r>
              <a:rPr lang="en-IN" dirty="0">
                <a:solidFill>
                  <a:schemeClr val="tx1"/>
                </a:solidFill>
              </a:rPr>
              <a:t>State the goals of the research.</a:t>
            </a:r>
          </a:p>
          <a:p>
            <a:pPr marL="1135063" indent="-1135063">
              <a:spcBef>
                <a:spcPts val="500"/>
              </a:spcBef>
              <a:defRPr/>
            </a:pPr>
            <a:r>
              <a:rPr lang="en-IN" b="1" dirty="0">
                <a:solidFill>
                  <a:schemeClr val="tx1"/>
                </a:solidFill>
              </a:rPr>
              <a:t>Step 2: </a:t>
            </a:r>
            <a:r>
              <a:rPr lang="en-IN" dirty="0">
                <a:solidFill>
                  <a:schemeClr val="tx1"/>
                </a:solidFill>
              </a:rPr>
              <a:t>Develop the budget (time, money, staff).</a:t>
            </a:r>
          </a:p>
          <a:p>
            <a:pPr marL="1135063" indent="-1135063">
              <a:spcBef>
                <a:spcPts val="500"/>
              </a:spcBef>
              <a:defRPr/>
            </a:pPr>
            <a:r>
              <a:rPr lang="en-IN" b="1" dirty="0">
                <a:solidFill>
                  <a:schemeClr val="tx1"/>
                </a:solidFill>
              </a:rPr>
              <a:t>Step 3: </a:t>
            </a:r>
            <a:r>
              <a:rPr lang="en-IN" dirty="0">
                <a:solidFill>
                  <a:schemeClr val="tx1"/>
                </a:solidFill>
              </a:rPr>
              <a:t>Create a research design (target population, frame, sample size).</a:t>
            </a:r>
          </a:p>
          <a:p>
            <a:pPr marL="1135063" indent="-1135063">
              <a:spcBef>
                <a:spcPts val="500"/>
              </a:spcBef>
              <a:defRPr/>
            </a:pPr>
            <a:r>
              <a:rPr lang="en-IN" b="1" dirty="0">
                <a:solidFill>
                  <a:schemeClr val="tx1"/>
                </a:solidFill>
              </a:rPr>
              <a:t>Step 4: </a:t>
            </a:r>
            <a:r>
              <a:rPr lang="en-IN" dirty="0">
                <a:solidFill>
                  <a:schemeClr val="tx1"/>
                </a:solidFill>
              </a:rPr>
              <a:t>Choose a survey type and method of administration.</a:t>
            </a:r>
          </a:p>
          <a:p>
            <a:pPr marL="1135063" indent="-1135063">
              <a:spcBef>
                <a:spcPts val="500"/>
              </a:spcBef>
              <a:defRPr/>
            </a:pPr>
            <a:r>
              <a:rPr lang="en-IN" b="1" dirty="0">
                <a:solidFill>
                  <a:schemeClr val="tx1"/>
                </a:solidFill>
              </a:rPr>
              <a:t>Step 5: </a:t>
            </a:r>
            <a:r>
              <a:rPr lang="en-IN" dirty="0">
                <a:solidFill>
                  <a:schemeClr val="tx1"/>
                </a:solidFill>
              </a:rPr>
              <a:t>Design a data collection instrument (questionnaire).</a:t>
            </a:r>
          </a:p>
          <a:p>
            <a:pPr marL="1135063" indent="-1135063">
              <a:spcBef>
                <a:spcPts val="500"/>
              </a:spcBef>
              <a:defRPr/>
            </a:pPr>
            <a:r>
              <a:rPr lang="en-IN" b="1" dirty="0">
                <a:solidFill>
                  <a:schemeClr val="tx1"/>
                </a:solidFill>
              </a:rPr>
              <a:t>Step 6: </a:t>
            </a:r>
            <a:r>
              <a:rPr lang="en-IN" dirty="0">
                <a:solidFill>
                  <a:schemeClr val="tx1"/>
                </a:solidFill>
              </a:rPr>
              <a:t>Pre-test the survey instrument and revise as needed.</a:t>
            </a:r>
          </a:p>
          <a:p>
            <a:pPr marL="1135063" indent="-1135063">
              <a:spcBef>
                <a:spcPts val="500"/>
              </a:spcBef>
              <a:defRPr/>
            </a:pPr>
            <a:r>
              <a:rPr lang="en-IN" b="1" dirty="0">
                <a:solidFill>
                  <a:schemeClr val="tx1"/>
                </a:solidFill>
              </a:rPr>
              <a:t>Step 7: </a:t>
            </a:r>
            <a:r>
              <a:rPr lang="en-IN" dirty="0">
                <a:solidFill>
                  <a:schemeClr val="tx1"/>
                </a:solidFill>
              </a:rPr>
              <a:t>Administer the survey (follow up if needed).</a:t>
            </a:r>
          </a:p>
          <a:p>
            <a:pPr marL="1135063" indent="-1135063">
              <a:spcBef>
                <a:spcPts val="500"/>
              </a:spcBef>
              <a:defRPr/>
            </a:pPr>
            <a:r>
              <a:rPr lang="en-IN" b="1" dirty="0">
                <a:solidFill>
                  <a:schemeClr val="tx1"/>
                </a:solidFill>
              </a:rPr>
              <a:t>Step 8: </a:t>
            </a:r>
            <a:r>
              <a:rPr lang="en-IN" dirty="0">
                <a:solidFill>
                  <a:schemeClr val="tx1"/>
                </a:solidFill>
              </a:rPr>
              <a:t>Code the data and perform analysis.</a:t>
            </a:r>
          </a:p>
        </p:txBody>
      </p:sp>
      <p:sp>
        <p:nvSpPr>
          <p:cNvPr id="10" name="Slide Number Placeholder 9"/>
          <p:cNvSpPr>
            <a:spLocks noGrp="1"/>
          </p:cNvSpPr>
          <p:nvPr>
            <p:ph type="sldNum" sz="quarter" idx="10"/>
          </p:nvPr>
        </p:nvSpPr>
        <p:spPr/>
        <p:txBody>
          <a:bodyPr/>
          <a:lstStyle/>
          <a:p>
            <a:fld id="{68151E55-6873-49E2-B8D5-2F265E6F1973}" type="slidenum">
              <a:rPr lang="en-US" smtClean="0"/>
              <a:t>45</a:t>
            </a:fld>
            <a:endParaRPr lang="en-US" dirty="0"/>
          </a:p>
        </p:txBody>
      </p:sp>
    </p:spTree>
    <p:extLst>
      <p:ext uri="{BB962C8B-B14F-4D97-AF65-F5344CB8AC3E}">
        <p14:creationId xmlns:p14="http://schemas.microsoft.com/office/powerpoint/2010/main" val="16533819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2408DA-7088-49FD-A9F2-FA30ACCB8868}"/>
              </a:ext>
            </a:extLst>
          </p:cNvPr>
          <p:cNvSpPr>
            <a:spLocks noGrp="1"/>
          </p:cNvSpPr>
          <p:nvPr>
            <p:ph type="title"/>
          </p:nvPr>
        </p:nvSpPr>
        <p:spPr>
          <a:xfrm>
            <a:off x="342900" y="192490"/>
            <a:ext cx="8048932" cy="903231"/>
          </a:xfrm>
        </p:spPr>
        <p:txBody>
          <a:bodyPr>
            <a:normAutofit/>
          </a:bodyPr>
          <a:lstStyle/>
          <a:p>
            <a:r>
              <a:rPr lang="en-IN" sz="3600" dirty="0"/>
              <a:t>Questionnaire Design</a:t>
            </a:r>
          </a:p>
        </p:txBody>
      </p:sp>
      <p:sp>
        <p:nvSpPr>
          <p:cNvPr id="7" name="Content Placeholder 2">
            <a:extLst>
              <a:ext uri="{FF2B5EF4-FFF2-40B4-BE49-F238E27FC236}">
                <a16:creationId xmlns:a16="http://schemas.microsoft.com/office/drawing/2014/main" id="{49951AF4-C4AF-8F86-21E7-3C27DBE24AF4}"/>
              </a:ext>
            </a:extLst>
          </p:cNvPr>
          <p:cNvSpPr>
            <a:spLocks noGrp="1"/>
          </p:cNvSpPr>
          <p:nvPr>
            <p:ph sz="quarter" idx="11"/>
          </p:nvPr>
        </p:nvSpPr>
        <p:spPr>
          <a:xfrm>
            <a:off x="8598957" y="54864"/>
            <a:ext cx="476295" cy="1295711"/>
          </a:xfrm>
        </p:spPr>
        <p:txBody>
          <a:bodyPr vert="vert" tIns="45720" rIns="0"/>
          <a:lstStyle/>
          <a:p>
            <a:pPr marL="1025525" indent="-1025525"/>
            <a:r>
              <a:rPr lang="en-US" b="1" dirty="0"/>
              <a:t>L</a:t>
            </a:r>
            <a:r>
              <a:rPr lang="en-US" sz="100" b="1" dirty="0"/>
              <a:t> </a:t>
            </a:r>
            <a:r>
              <a:rPr lang="en-US" b="1" dirty="0"/>
              <a:t>O 2.9</a:t>
            </a:r>
            <a:endParaRPr lang="en-IN" b="1" dirty="0"/>
          </a:p>
        </p:txBody>
      </p:sp>
      <p:sp>
        <p:nvSpPr>
          <p:cNvPr id="4" name="Content Placeholder 3">
            <a:extLst>
              <a:ext uri="{FF2B5EF4-FFF2-40B4-BE49-F238E27FC236}">
                <a16:creationId xmlns:a16="http://schemas.microsoft.com/office/drawing/2014/main" id="{53AA3923-E6FA-4CE2-89E3-2D6CF078E7F7}"/>
              </a:ext>
            </a:extLst>
          </p:cNvPr>
          <p:cNvSpPr>
            <a:spLocks noGrp="1"/>
          </p:cNvSpPr>
          <p:nvPr>
            <p:ph sz="quarter" idx="14"/>
          </p:nvPr>
        </p:nvSpPr>
        <p:spPr>
          <a:xfrm>
            <a:off x="342901" y="1274081"/>
            <a:ext cx="4922274" cy="5126719"/>
          </a:xfrm>
        </p:spPr>
        <p:txBody>
          <a:bodyPr/>
          <a:lstStyle/>
          <a:p>
            <a:pPr marL="292608" indent="-292608">
              <a:buFont typeface="Arial" panose="020B0604020202020204" pitchFamily="34" charset="0"/>
              <a:buChar char="•"/>
            </a:pPr>
            <a:r>
              <a:rPr lang="en-IN" sz="2200" dirty="0">
                <a:solidFill>
                  <a:schemeClr val="tx1"/>
                </a:solidFill>
              </a:rPr>
              <a:t>Use a lot of white space in layout.</a:t>
            </a:r>
          </a:p>
          <a:p>
            <a:pPr marL="292608" indent="-292608">
              <a:buFont typeface="Arial" panose="020B0604020202020204" pitchFamily="34" charset="0"/>
              <a:buChar char="•"/>
            </a:pPr>
            <a:r>
              <a:rPr lang="en-IN" sz="2200" dirty="0">
                <a:solidFill>
                  <a:schemeClr val="tx1"/>
                </a:solidFill>
              </a:rPr>
              <a:t>Begin with short, clear instructions.</a:t>
            </a:r>
          </a:p>
          <a:p>
            <a:pPr marL="292608" indent="-292608">
              <a:buFont typeface="Arial" panose="020B0604020202020204" pitchFamily="34" charset="0"/>
              <a:buChar char="•"/>
            </a:pPr>
            <a:r>
              <a:rPr lang="en-IN" sz="2200" dirty="0">
                <a:solidFill>
                  <a:schemeClr val="tx1"/>
                </a:solidFill>
              </a:rPr>
              <a:t>State the survey purpose.</a:t>
            </a:r>
          </a:p>
          <a:p>
            <a:pPr marL="292608" indent="-292608">
              <a:buFont typeface="Arial" panose="020B0604020202020204" pitchFamily="34" charset="0"/>
              <a:buChar char="•"/>
            </a:pPr>
            <a:r>
              <a:rPr lang="en-IN" sz="2200" dirty="0">
                <a:solidFill>
                  <a:schemeClr val="tx1"/>
                </a:solidFill>
              </a:rPr>
              <a:t>Assure anonymity.</a:t>
            </a:r>
          </a:p>
          <a:p>
            <a:pPr marL="292608" indent="-292608">
              <a:buFont typeface="Arial" panose="020B0604020202020204" pitchFamily="34" charset="0"/>
              <a:buChar char="•"/>
            </a:pPr>
            <a:r>
              <a:rPr lang="en-IN" sz="2200" dirty="0">
                <a:solidFill>
                  <a:schemeClr val="tx1"/>
                </a:solidFill>
              </a:rPr>
              <a:t>Instruct on how to submit the completed survey.</a:t>
            </a:r>
          </a:p>
          <a:p>
            <a:pPr marL="292608" indent="-292608">
              <a:buFont typeface="Arial" panose="020B0604020202020204" pitchFamily="34" charset="0"/>
              <a:buChar char="•"/>
            </a:pPr>
            <a:r>
              <a:rPr lang="en-IN" sz="2200" dirty="0">
                <a:solidFill>
                  <a:schemeClr val="tx1"/>
                </a:solidFill>
              </a:rPr>
              <a:t>Break survey into naturally occurring sections.</a:t>
            </a:r>
          </a:p>
          <a:p>
            <a:pPr marL="292608" indent="-292608">
              <a:buFont typeface="Arial" panose="020B0604020202020204" pitchFamily="34" charset="0"/>
              <a:buChar char="•"/>
            </a:pPr>
            <a:r>
              <a:rPr lang="en-IN" sz="2200" dirty="0">
                <a:solidFill>
                  <a:schemeClr val="tx1"/>
                </a:solidFill>
              </a:rPr>
              <a:t>Let respondents bypass sections that are not applicable.</a:t>
            </a:r>
          </a:p>
          <a:p>
            <a:pPr marL="292608" indent="-292608">
              <a:buFont typeface="Arial" panose="020B0604020202020204" pitchFamily="34" charset="0"/>
              <a:buChar char="•"/>
            </a:pPr>
            <a:r>
              <a:rPr lang="en-IN" sz="2200" dirty="0">
                <a:solidFill>
                  <a:schemeClr val="tx1"/>
                </a:solidFill>
              </a:rPr>
              <a:t>Pre-test and revise as needed.</a:t>
            </a:r>
          </a:p>
          <a:p>
            <a:pPr marL="292608" indent="-292608">
              <a:buFont typeface="Arial" panose="020B0604020202020204" pitchFamily="34" charset="0"/>
              <a:buChar char="•"/>
            </a:pPr>
            <a:r>
              <a:rPr lang="en-IN" sz="2200" dirty="0">
                <a:solidFill>
                  <a:schemeClr val="tx1"/>
                </a:solidFill>
              </a:rPr>
              <a:t>Keep as short as possible.</a:t>
            </a:r>
            <a:endParaRPr lang="en-US" sz="2200" dirty="0">
              <a:solidFill>
                <a:schemeClr val="tx1"/>
              </a:solidFill>
            </a:endParaRPr>
          </a:p>
        </p:txBody>
      </p:sp>
      <p:sp>
        <p:nvSpPr>
          <p:cNvPr id="5" name="Content Placeholder 4">
            <a:extLst>
              <a:ext uri="{FF2B5EF4-FFF2-40B4-BE49-F238E27FC236}">
                <a16:creationId xmlns:a16="http://schemas.microsoft.com/office/drawing/2014/main" id="{12D71DC9-9D4D-498C-92D5-611B71434CCC}"/>
              </a:ext>
            </a:extLst>
          </p:cNvPr>
          <p:cNvSpPr>
            <a:spLocks noGrp="1"/>
          </p:cNvSpPr>
          <p:nvPr>
            <p:ph sz="quarter" idx="15"/>
          </p:nvPr>
        </p:nvSpPr>
        <p:spPr>
          <a:xfrm>
            <a:off x="5648632" y="2684617"/>
            <a:ext cx="3023420" cy="2801783"/>
          </a:xfrm>
        </p:spPr>
        <p:txBody>
          <a:bodyPr/>
          <a:lstStyle/>
          <a:p>
            <a:r>
              <a:rPr lang="en-IN" sz="2200" b="1" dirty="0"/>
              <a:t>Types of Questions:</a:t>
            </a:r>
          </a:p>
          <a:p>
            <a:pPr marL="292608" indent="-292608">
              <a:buFont typeface="Arial" panose="020B0604020202020204" pitchFamily="34" charset="0"/>
              <a:buChar char="•"/>
            </a:pPr>
            <a:r>
              <a:rPr lang="en-IN" sz="2200" dirty="0"/>
              <a:t>Open-ended.</a:t>
            </a:r>
          </a:p>
          <a:p>
            <a:pPr marL="292608" indent="-292608">
              <a:buFont typeface="Arial" panose="020B0604020202020204" pitchFamily="34" charset="0"/>
              <a:buChar char="•"/>
            </a:pPr>
            <a:r>
              <a:rPr lang="en-IN" sz="2200" dirty="0"/>
              <a:t>Fill-in-the-blank.</a:t>
            </a:r>
          </a:p>
          <a:p>
            <a:pPr marL="292608" indent="-292608">
              <a:buFont typeface="Arial" panose="020B0604020202020204" pitchFamily="34" charset="0"/>
              <a:buChar char="•"/>
            </a:pPr>
            <a:r>
              <a:rPr lang="en-IN" sz="2200" dirty="0"/>
              <a:t>Ranked choices.</a:t>
            </a:r>
          </a:p>
          <a:p>
            <a:pPr marL="292608" indent="-292608">
              <a:buFont typeface="Arial" panose="020B0604020202020204" pitchFamily="34" charset="0"/>
              <a:buChar char="•"/>
            </a:pPr>
            <a:r>
              <a:rPr lang="en-IN" sz="2200" dirty="0"/>
              <a:t>Pictograms.</a:t>
            </a:r>
          </a:p>
          <a:p>
            <a:pPr marL="292608" indent="-292608">
              <a:buFont typeface="Arial" panose="020B0604020202020204" pitchFamily="34" charset="0"/>
              <a:buChar char="•"/>
            </a:pPr>
            <a:r>
              <a:rPr lang="en-IN" sz="2200" dirty="0"/>
              <a:t>Likert scale.</a:t>
            </a:r>
          </a:p>
        </p:txBody>
      </p:sp>
      <p:sp>
        <p:nvSpPr>
          <p:cNvPr id="10" name="Slide Number Placeholder 9">
            <a:extLst>
              <a:ext uri="{FF2B5EF4-FFF2-40B4-BE49-F238E27FC236}">
                <a16:creationId xmlns:a16="http://schemas.microsoft.com/office/drawing/2014/main" id="{B024B0F4-BF34-49B8-B1F0-1C3B1F4220DB}"/>
              </a:ext>
            </a:extLst>
          </p:cNvPr>
          <p:cNvSpPr>
            <a:spLocks noGrp="1"/>
          </p:cNvSpPr>
          <p:nvPr>
            <p:ph type="sldNum" sz="quarter" idx="10"/>
          </p:nvPr>
        </p:nvSpPr>
        <p:spPr/>
        <p:txBody>
          <a:bodyPr/>
          <a:lstStyle/>
          <a:p>
            <a:fld id="{68151E55-6873-49E2-B8D5-2F265E6F1973}" type="slidenum">
              <a:rPr lang="en-US" smtClean="0"/>
              <a:t>46</a:t>
            </a:fld>
            <a:endParaRPr lang="en-US" dirty="0"/>
          </a:p>
        </p:txBody>
      </p:sp>
    </p:spTree>
    <p:extLst>
      <p:ext uri="{BB962C8B-B14F-4D97-AF65-F5344CB8AC3E}">
        <p14:creationId xmlns:p14="http://schemas.microsoft.com/office/powerpoint/2010/main" val="51740991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192490"/>
            <a:ext cx="7824707" cy="903231"/>
          </a:xfrm>
        </p:spPr>
        <p:txBody>
          <a:bodyPr>
            <a:normAutofit/>
          </a:bodyPr>
          <a:lstStyle/>
          <a:p>
            <a:r>
              <a:rPr lang="en-IN" sz="3600" dirty="0"/>
              <a:t>Surveys</a:t>
            </a:r>
          </a:p>
        </p:txBody>
      </p:sp>
      <p:sp>
        <p:nvSpPr>
          <p:cNvPr id="7" name="Content Placeholder 2">
            <a:extLst>
              <a:ext uri="{FF2B5EF4-FFF2-40B4-BE49-F238E27FC236}">
                <a16:creationId xmlns:a16="http://schemas.microsoft.com/office/drawing/2014/main" id="{0B6E4056-064E-0C27-6068-DDD81A0C7DB9}"/>
              </a:ext>
            </a:extLst>
          </p:cNvPr>
          <p:cNvSpPr>
            <a:spLocks noGrp="1"/>
          </p:cNvSpPr>
          <p:nvPr>
            <p:ph sz="quarter" idx="11"/>
          </p:nvPr>
        </p:nvSpPr>
        <p:spPr>
          <a:xfrm>
            <a:off x="8598957" y="54864"/>
            <a:ext cx="476295" cy="1295711"/>
          </a:xfrm>
        </p:spPr>
        <p:txBody>
          <a:bodyPr vert="vert" tIns="45720" rIns="0"/>
          <a:lstStyle/>
          <a:p>
            <a:pPr marL="1025525" indent="-1025525"/>
            <a:r>
              <a:rPr lang="en-US" b="1" dirty="0"/>
              <a:t>L</a:t>
            </a:r>
            <a:r>
              <a:rPr lang="en-US" sz="100" b="1" dirty="0"/>
              <a:t> </a:t>
            </a:r>
            <a:r>
              <a:rPr lang="en-US" b="1" dirty="0"/>
              <a:t>O 2.9</a:t>
            </a:r>
            <a:endParaRPr lang="en-IN" b="1" dirty="0"/>
          </a:p>
        </p:txBody>
      </p:sp>
      <p:sp>
        <p:nvSpPr>
          <p:cNvPr id="4" name="Content Placeholder 3"/>
          <p:cNvSpPr>
            <a:spLocks noGrp="1"/>
          </p:cNvSpPr>
          <p:nvPr>
            <p:ph sz="quarter" idx="14"/>
          </p:nvPr>
        </p:nvSpPr>
        <p:spPr>
          <a:xfrm>
            <a:off x="342900" y="1278014"/>
            <a:ext cx="7967723" cy="5034295"/>
          </a:xfrm>
        </p:spPr>
        <p:txBody>
          <a:bodyPr/>
          <a:lstStyle/>
          <a:p>
            <a:r>
              <a:rPr lang="en-US" b="1" dirty="0"/>
              <a:t>Survey Validity and Reliability:</a:t>
            </a:r>
          </a:p>
          <a:p>
            <a:r>
              <a:rPr lang="en-IN" dirty="0"/>
              <a:t>Surveys are often called </a:t>
            </a:r>
            <a:r>
              <a:rPr lang="en-IN" i="1" dirty="0"/>
              <a:t>instruments</a:t>
            </a:r>
            <a:r>
              <a:rPr lang="en-IN" dirty="0"/>
              <a:t> because they are thought of as a measurement tool. As a measurement tool, researchers want the survey to be both </a:t>
            </a:r>
            <a:r>
              <a:rPr lang="en-IN" b="1" dirty="0"/>
              <a:t>valid</a:t>
            </a:r>
            <a:r>
              <a:rPr lang="en-IN" dirty="0"/>
              <a:t> and </a:t>
            </a:r>
            <a:r>
              <a:rPr lang="en-IN" b="1" dirty="0"/>
              <a:t>reliable</a:t>
            </a:r>
            <a:r>
              <a:rPr lang="en-IN" dirty="0"/>
              <a:t>. A valid survey is one that measures what the researcher wants to measure. Are the questions worded in such a way that the responses provide information about what the researcher wants to know? A reliable survey is one that is consistent. In other words, over time will the responses from similar respondents stay the same?</a:t>
            </a:r>
          </a:p>
        </p:txBody>
      </p:sp>
      <p:sp>
        <p:nvSpPr>
          <p:cNvPr id="10" name="Slide Number Placeholder 9"/>
          <p:cNvSpPr>
            <a:spLocks noGrp="1"/>
          </p:cNvSpPr>
          <p:nvPr>
            <p:ph type="sldNum" sz="quarter" idx="10"/>
          </p:nvPr>
        </p:nvSpPr>
        <p:spPr/>
        <p:txBody>
          <a:bodyPr/>
          <a:lstStyle/>
          <a:p>
            <a:fld id="{68151E55-6873-49E2-B8D5-2F265E6F1973}" type="slidenum">
              <a:rPr lang="en-US" smtClean="0"/>
              <a:t>47</a:t>
            </a:fld>
            <a:endParaRPr lang="en-US" dirty="0"/>
          </a:p>
        </p:txBody>
      </p:sp>
    </p:spTree>
    <p:extLst>
      <p:ext uri="{BB962C8B-B14F-4D97-AF65-F5344CB8AC3E}">
        <p14:creationId xmlns:p14="http://schemas.microsoft.com/office/powerpoint/2010/main" val="107033212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2408DA-7088-49FD-A9F2-FA30ACCB8868}"/>
              </a:ext>
            </a:extLst>
          </p:cNvPr>
          <p:cNvSpPr>
            <a:spLocks noGrp="1"/>
          </p:cNvSpPr>
          <p:nvPr>
            <p:ph type="title"/>
          </p:nvPr>
        </p:nvSpPr>
        <p:spPr>
          <a:xfrm>
            <a:off x="342900" y="192490"/>
            <a:ext cx="8048932" cy="903231"/>
          </a:xfrm>
        </p:spPr>
        <p:txBody>
          <a:bodyPr/>
          <a:lstStyle/>
          <a:p>
            <a:r>
              <a:rPr lang="en-IN" sz="3600" dirty="0"/>
              <a:t>Question Wording </a:t>
            </a:r>
            <a:r>
              <a:rPr lang="en-IN" sz="1000" b="0" baseline="0" dirty="0"/>
              <a:t>1</a:t>
            </a:r>
          </a:p>
        </p:txBody>
      </p:sp>
      <p:sp>
        <p:nvSpPr>
          <p:cNvPr id="11" name="Content Placeholder 2">
            <a:extLst>
              <a:ext uri="{FF2B5EF4-FFF2-40B4-BE49-F238E27FC236}">
                <a16:creationId xmlns:a16="http://schemas.microsoft.com/office/drawing/2014/main" id="{996FBFC4-C642-40AE-7AB3-B8F6DB8C5A15}"/>
              </a:ext>
            </a:extLst>
          </p:cNvPr>
          <p:cNvSpPr>
            <a:spLocks noGrp="1"/>
          </p:cNvSpPr>
          <p:nvPr>
            <p:ph sz="quarter" idx="11"/>
          </p:nvPr>
        </p:nvSpPr>
        <p:spPr>
          <a:xfrm>
            <a:off x="8598957" y="54864"/>
            <a:ext cx="476295" cy="1295711"/>
          </a:xfrm>
        </p:spPr>
        <p:txBody>
          <a:bodyPr vert="vert" tIns="45720" rIns="0"/>
          <a:lstStyle/>
          <a:p>
            <a:pPr marL="1025525" indent="-1025525"/>
            <a:r>
              <a:rPr lang="en-US" b="1" dirty="0"/>
              <a:t>L</a:t>
            </a:r>
            <a:r>
              <a:rPr lang="en-US" sz="100" b="1" dirty="0"/>
              <a:t> </a:t>
            </a:r>
            <a:r>
              <a:rPr lang="en-US" b="1" dirty="0"/>
              <a:t>O 2.9</a:t>
            </a:r>
            <a:endParaRPr lang="en-IN" b="1" dirty="0"/>
          </a:p>
        </p:txBody>
      </p:sp>
      <p:sp>
        <p:nvSpPr>
          <p:cNvPr id="4" name="Content Placeholder 3">
            <a:extLst>
              <a:ext uri="{FF2B5EF4-FFF2-40B4-BE49-F238E27FC236}">
                <a16:creationId xmlns:a16="http://schemas.microsoft.com/office/drawing/2014/main" id="{53AA3923-E6FA-4CE2-89E3-2D6CF078E7F7}"/>
              </a:ext>
            </a:extLst>
          </p:cNvPr>
          <p:cNvSpPr>
            <a:spLocks noGrp="1"/>
          </p:cNvSpPr>
          <p:nvPr>
            <p:ph sz="quarter" idx="14"/>
          </p:nvPr>
        </p:nvSpPr>
        <p:spPr>
          <a:xfrm>
            <a:off x="342901" y="1274082"/>
            <a:ext cx="7576984" cy="2233283"/>
          </a:xfrm>
        </p:spPr>
        <p:txBody>
          <a:bodyPr/>
          <a:lstStyle/>
          <a:p>
            <a:r>
              <a:rPr lang="en-IN" sz="1800" dirty="0">
                <a:solidFill>
                  <a:schemeClr val="tx1"/>
                </a:solidFill>
              </a:rPr>
              <a:t>The way a question is asked has a profound influence on the response. For example:</a:t>
            </a:r>
          </a:p>
          <a:p>
            <a:pPr marL="804672" indent="-402336">
              <a:buFont typeface="+mj-lt"/>
              <a:buAutoNum type="arabicPeriod"/>
            </a:pPr>
            <a:r>
              <a:rPr lang="en-IN" sz="1800" dirty="0">
                <a:solidFill>
                  <a:schemeClr val="tx1"/>
                </a:solidFill>
              </a:rPr>
              <a:t>Shall state taxes be cut?</a:t>
            </a:r>
          </a:p>
          <a:p>
            <a:pPr marL="804672" indent="-402336">
              <a:buFont typeface="+mj-lt"/>
              <a:buAutoNum type="arabicPeriod"/>
            </a:pPr>
            <a:r>
              <a:rPr lang="en-IN" sz="1800" dirty="0">
                <a:solidFill>
                  <a:schemeClr val="tx1"/>
                </a:solidFill>
              </a:rPr>
              <a:t>Shall state taxes be cut, if it means reducing highway maintenance?</a:t>
            </a:r>
          </a:p>
          <a:p>
            <a:pPr marL="804672" indent="-402336">
              <a:buFont typeface="+mj-lt"/>
              <a:buAutoNum type="arabicPeriod"/>
            </a:pPr>
            <a:r>
              <a:rPr lang="en-IN" sz="1800" dirty="0">
                <a:solidFill>
                  <a:schemeClr val="tx1"/>
                </a:solidFill>
              </a:rPr>
              <a:t>Shall state taxes be cut, if it means firing teachers and police?</a:t>
            </a:r>
          </a:p>
        </p:txBody>
      </p:sp>
      <p:sp>
        <p:nvSpPr>
          <p:cNvPr id="5" name="Content Placeholder 4">
            <a:extLst>
              <a:ext uri="{FF2B5EF4-FFF2-40B4-BE49-F238E27FC236}">
                <a16:creationId xmlns:a16="http://schemas.microsoft.com/office/drawing/2014/main" id="{12D71DC9-9D4D-498C-92D5-611B71434CCC}"/>
              </a:ext>
            </a:extLst>
          </p:cNvPr>
          <p:cNvSpPr>
            <a:spLocks noGrp="1"/>
          </p:cNvSpPr>
          <p:nvPr>
            <p:ph sz="quarter" idx="15"/>
          </p:nvPr>
        </p:nvSpPr>
        <p:spPr>
          <a:xfrm>
            <a:off x="342901" y="3694980"/>
            <a:ext cx="5360475" cy="1620940"/>
          </a:xfrm>
        </p:spPr>
        <p:txBody>
          <a:bodyPr/>
          <a:lstStyle/>
          <a:p>
            <a:r>
              <a:rPr lang="en-IN" sz="1800" dirty="0"/>
              <a:t>Make sure you have covered all the possibilities.</a:t>
            </a:r>
          </a:p>
          <a:p>
            <a:r>
              <a:rPr lang="en-IN" sz="1800" dirty="0"/>
              <a:t>For example: </a:t>
            </a:r>
            <a:r>
              <a:rPr lang="en-IN" sz="1800" b="1" dirty="0"/>
              <a:t>Are you married?</a:t>
            </a:r>
          </a:p>
          <a:p>
            <a:pPr marL="749808" indent="-292608">
              <a:buFont typeface="Arial" panose="020B0604020202020204" pitchFamily="34" charset="0"/>
              <a:buChar char="•"/>
            </a:pPr>
            <a:r>
              <a:rPr lang="en-IN" sz="1800" b="1" dirty="0"/>
              <a:t>Yes.</a:t>
            </a:r>
          </a:p>
          <a:p>
            <a:pPr marL="749808" indent="-292608">
              <a:buFont typeface="Arial" panose="020B0604020202020204" pitchFamily="34" charset="0"/>
              <a:buChar char="•"/>
            </a:pPr>
            <a:r>
              <a:rPr lang="en-IN" sz="1800" b="1" dirty="0"/>
              <a:t>No.</a:t>
            </a:r>
          </a:p>
        </p:txBody>
      </p:sp>
      <p:sp>
        <p:nvSpPr>
          <p:cNvPr id="6" name="Content Placeholder 5">
            <a:extLst>
              <a:ext uri="{FF2B5EF4-FFF2-40B4-BE49-F238E27FC236}">
                <a16:creationId xmlns:a16="http://schemas.microsoft.com/office/drawing/2014/main" id="{2EE7D978-3AB6-4DE0-8D86-E47FD62306F3}"/>
              </a:ext>
            </a:extLst>
          </p:cNvPr>
          <p:cNvSpPr>
            <a:spLocks noGrp="1"/>
          </p:cNvSpPr>
          <p:nvPr>
            <p:ph sz="quarter" idx="16"/>
          </p:nvPr>
        </p:nvSpPr>
        <p:spPr>
          <a:xfrm>
            <a:off x="342901" y="5462665"/>
            <a:ext cx="5561953" cy="1084703"/>
          </a:xfrm>
        </p:spPr>
        <p:txBody>
          <a:bodyPr/>
          <a:lstStyle/>
          <a:p>
            <a:pPr eaLnBrk="0" hangingPunct="0">
              <a:spcBef>
                <a:spcPct val="20000"/>
              </a:spcBef>
              <a:buClr>
                <a:schemeClr val="accent1"/>
              </a:buClr>
            </a:pPr>
            <a:r>
              <a:rPr lang="en-US" sz="1800" dirty="0">
                <a:solidFill>
                  <a:schemeClr val="tx1"/>
                </a:solidFill>
              </a:rPr>
              <a:t>How would a widow respond (missing option)? What if the father is deceased or is 45 years old (overlapping classes)? </a:t>
            </a:r>
          </a:p>
        </p:txBody>
      </p:sp>
      <p:sp>
        <p:nvSpPr>
          <p:cNvPr id="7" name="Content Placeholder 6">
            <a:extLst>
              <a:ext uri="{FF2B5EF4-FFF2-40B4-BE49-F238E27FC236}">
                <a16:creationId xmlns:a16="http://schemas.microsoft.com/office/drawing/2014/main" id="{3097A638-B5BC-4DA7-9F95-6EEB4C2C1BA6}"/>
              </a:ext>
            </a:extLst>
          </p:cNvPr>
          <p:cNvSpPr>
            <a:spLocks noGrp="1"/>
          </p:cNvSpPr>
          <p:nvPr>
            <p:ph sz="quarter" idx="17"/>
          </p:nvPr>
        </p:nvSpPr>
        <p:spPr>
          <a:xfrm>
            <a:off x="6137329" y="3762219"/>
            <a:ext cx="2805192" cy="2446852"/>
          </a:xfrm>
        </p:spPr>
        <p:txBody>
          <a:bodyPr/>
          <a:lstStyle/>
          <a:p>
            <a:pPr eaLnBrk="0" hangingPunct="0">
              <a:spcBef>
                <a:spcPct val="20000"/>
              </a:spcBef>
            </a:pPr>
            <a:r>
              <a:rPr lang="en-US" sz="1800" b="1" dirty="0">
                <a:solidFill>
                  <a:schemeClr val="tx1"/>
                </a:solidFill>
              </a:rPr>
              <a:t>How old is your father?</a:t>
            </a:r>
          </a:p>
          <a:p>
            <a:pPr marL="292608" indent="-292608" eaLnBrk="0" hangingPunct="0">
              <a:buFont typeface="Arial" panose="020B0604020202020204" pitchFamily="34" charset="0"/>
              <a:buChar char="•"/>
            </a:pPr>
            <a:r>
              <a:rPr lang="en-US" sz="1800" b="1" dirty="0">
                <a:solidFill>
                  <a:schemeClr val="tx1"/>
                </a:solidFill>
                <a:sym typeface="Wingdings" pitchFamily="2" charset="2"/>
              </a:rPr>
              <a:t>35 to 45.</a:t>
            </a:r>
          </a:p>
          <a:p>
            <a:pPr marL="292608" indent="-292608" eaLnBrk="0" hangingPunct="0">
              <a:buFont typeface="Arial" panose="020B0604020202020204" pitchFamily="34" charset="0"/>
              <a:buChar char="•"/>
            </a:pPr>
            <a:r>
              <a:rPr lang="en-US" sz="1800" b="1" dirty="0">
                <a:solidFill>
                  <a:schemeClr val="tx1"/>
                </a:solidFill>
                <a:sym typeface="Wingdings" pitchFamily="2" charset="2"/>
              </a:rPr>
              <a:t>45 to 55.</a:t>
            </a:r>
          </a:p>
          <a:p>
            <a:pPr marL="292608" indent="-292608" eaLnBrk="0" hangingPunct="0">
              <a:buFont typeface="Arial" panose="020B0604020202020204" pitchFamily="34" charset="0"/>
              <a:buChar char="•"/>
            </a:pPr>
            <a:r>
              <a:rPr lang="en-US" sz="1800" b="1" dirty="0">
                <a:solidFill>
                  <a:schemeClr val="tx1"/>
                </a:solidFill>
                <a:sym typeface="Wingdings" pitchFamily="2" charset="2"/>
              </a:rPr>
              <a:t>55 to 65.</a:t>
            </a:r>
          </a:p>
          <a:p>
            <a:pPr marL="292608" indent="-292608" eaLnBrk="0" hangingPunct="0">
              <a:buFont typeface="Arial" panose="020B0604020202020204" pitchFamily="34" charset="0"/>
              <a:buChar char="•"/>
            </a:pPr>
            <a:r>
              <a:rPr lang="en-US" sz="1800" b="1" dirty="0">
                <a:solidFill>
                  <a:schemeClr val="tx1"/>
                </a:solidFill>
                <a:sym typeface="Wingdings" pitchFamily="2" charset="2"/>
              </a:rPr>
              <a:t>65 or older.</a:t>
            </a:r>
          </a:p>
        </p:txBody>
      </p:sp>
      <p:sp>
        <p:nvSpPr>
          <p:cNvPr id="10" name="Slide Number Placeholder 9">
            <a:extLst>
              <a:ext uri="{FF2B5EF4-FFF2-40B4-BE49-F238E27FC236}">
                <a16:creationId xmlns:a16="http://schemas.microsoft.com/office/drawing/2014/main" id="{B024B0F4-BF34-49B8-B1F0-1C3B1F4220DB}"/>
              </a:ext>
            </a:extLst>
          </p:cNvPr>
          <p:cNvSpPr>
            <a:spLocks noGrp="1"/>
          </p:cNvSpPr>
          <p:nvPr>
            <p:ph type="sldNum" sz="quarter" idx="10"/>
          </p:nvPr>
        </p:nvSpPr>
        <p:spPr/>
        <p:txBody>
          <a:bodyPr/>
          <a:lstStyle/>
          <a:p>
            <a:fld id="{68151E55-6873-49E2-B8D5-2F265E6F1973}" type="slidenum">
              <a:rPr lang="en-US" smtClean="0"/>
              <a:t>48</a:t>
            </a:fld>
            <a:endParaRPr lang="en-US" dirty="0"/>
          </a:p>
        </p:txBody>
      </p:sp>
    </p:spTree>
    <p:extLst>
      <p:ext uri="{BB962C8B-B14F-4D97-AF65-F5344CB8AC3E}">
        <p14:creationId xmlns:p14="http://schemas.microsoft.com/office/powerpoint/2010/main" val="88009390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192490"/>
            <a:ext cx="7840205" cy="903231"/>
          </a:xfrm>
        </p:spPr>
        <p:txBody>
          <a:bodyPr>
            <a:normAutofit/>
          </a:bodyPr>
          <a:lstStyle/>
          <a:p>
            <a:r>
              <a:rPr lang="en-IN" sz="3600" dirty="0"/>
              <a:t>Question Wording </a:t>
            </a:r>
            <a:r>
              <a:rPr lang="en-IN" sz="1000" b="0" baseline="0" dirty="0"/>
              <a:t>2</a:t>
            </a:r>
          </a:p>
        </p:txBody>
      </p:sp>
      <p:sp>
        <p:nvSpPr>
          <p:cNvPr id="6" name="Content Placeholder 2">
            <a:extLst>
              <a:ext uri="{FF2B5EF4-FFF2-40B4-BE49-F238E27FC236}">
                <a16:creationId xmlns:a16="http://schemas.microsoft.com/office/drawing/2014/main" id="{E9104E0E-2541-8440-160E-4D9AD9166915}"/>
              </a:ext>
            </a:extLst>
          </p:cNvPr>
          <p:cNvSpPr>
            <a:spLocks noGrp="1"/>
          </p:cNvSpPr>
          <p:nvPr>
            <p:ph sz="quarter" idx="11"/>
          </p:nvPr>
        </p:nvSpPr>
        <p:spPr>
          <a:xfrm>
            <a:off x="8598957" y="54864"/>
            <a:ext cx="476295" cy="1295711"/>
          </a:xfrm>
        </p:spPr>
        <p:txBody>
          <a:bodyPr vert="vert" tIns="45720" rIns="0"/>
          <a:lstStyle/>
          <a:p>
            <a:pPr marL="1025525" indent="-1025525"/>
            <a:r>
              <a:rPr lang="en-US" b="1" dirty="0"/>
              <a:t>L</a:t>
            </a:r>
            <a:r>
              <a:rPr lang="en-US" sz="100" b="1" dirty="0"/>
              <a:t> </a:t>
            </a:r>
            <a:r>
              <a:rPr lang="en-US" b="1" dirty="0"/>
              <a:t>O 2.9</a:t>
            </a:r>
            <a:endParaRPr lang="en-IN" b="1" dirty="0"/>
          </a:p>
        </p:txBody>
      </p:sp>
      <p:sp>
        <p:nvSpPr>
          <p:cNvPr id="4" name="Content Placeholder 3"/>
          <p:cNvSpPr>
            <a:spLocks noGrp="1"/>
          </p:cNvSpPr>
          <p:nvPr>
            <p:ph sz="quarter" idx="14"/>
          </p:nvPr>
        </p:nvSpPr>
        <p:spPr>
          <a:xfrm>
            <a:off x="342900" y="1278014"/>
            <a:ext cx="7956148" cy="5034295"/>
          </a:xfrm>
        </p:spPr>
        <p:txBody>
          <a:bodyPr/>
          <a:lstStyle/>
          <a:p>
            <a:pPr marL="292608" indent="-292608" eaLnBrk="0" hangingPunct="0">
              <a:buClr>
                <a:schemeClr val="tx1"/>
              </a:buClr>
              <a:buSzPct val="100000"/>
              <a:buFont typeface="Arial" panose="020B0604020202020204" pitchFamily="34" charset="0"/>
              <a:buChar char="•"/>
              <a:defRPr/>
            </a:pPr>
            <a:r>
              <a:rPr lang="en-US" dirty="0">
                <a:solidFill>
                  <a:schemeClr val="tx1"/>
                </a:solidFill>
              </a:rPr>
              <a:t>Responses are usually coded numerically (For example, 1 = male, 2 = female).</a:t>
            </a:r>
          </a:p>
          <a:p>
            <a:pPr marL="292608" indent="-292608" eaLnBrk="0" hangingPunct="0">
              <a:buClr>
                <a:schemeClr val="tx1"/>
              </a:buClr>
              <a:buSzPct val="100000"/>
              <a:buFont typeface="Arial" panose="020B0604020202020204" pitchFamily="34" charset="0"/>
              <a:buChar char="•"/>
              <a:defRPr/>
            </a:pPr>
            <a:r>
              <a:rPr lang="en-US" dirty="0">
                <a:solidFill>
                  <a:schemeClr val="tx1"/>
                </a:solidFill>
              </a:rPr>
              <a:t>Missing values are typically denoted by special characters (For example, blank, “</a:t>
            </a:r>
            <a:r>
              <a:rPr lang="en-US" sz="100" dirty="0">
                <a:solidFill>
                  <a:schemeClr val="bg1"/>
                </a:solidFill>
              </a:rPr>
              <a:t>dot</a:t>
            </a:r>
            <a:r>
              <a:rPr lang="en-US" dirty="0">
                <a:solidFill>
                  <a:schemeClr val="tx1"/>
                </a:solidFill>
              </a:rPr>
              <a:t>.” or “*”).</a:t>
            </a:r>
          </a:p>
          <a:p>
            <a:pPr marL="292608" indent="-292608" eaLnBrk="0" hangingPunct="0">
              <a:buClr>
                <a:schemeClr val="tx1"/>
              </a:buClr>
              <a:buSzPct val="100000"/>
              <a:buFont typeface="Arial" panose="020B0604020202020204" pitchFamily="34" charset="0"/>
              <a:buChar char="•"/>
              <a:defRPr/>
            </a:pPr>
            <a:r>
              <a:rPr lang="en-US" dirty="0">
                <a:solidFill>
                  <a:schemeClr val="tx1"/>
                </a:solidFill>
              </a:rPr>
              <a:t>Discard questionnaires that are flawed or missing many responses.</a:t>
            </a:r>
          </a:p>
          <a:p>
            <a:pPr marL="292608" indent="-292608" eaLnBrk="0" hangingPunct="0">
              <a:buClr>
                <a:schemeClr val="tx1"/>
              </a:buClr>
              <a:buSzPct val="100000"/>
              <a:buFont typeface="Arial" panose="020B0604020202020204" pitchFamily="34" charset="0"/>
              <a:buChar char="•"/>
              <a:defRPr/>
            </a:pPr>
            <a:r>
              <a:rPr lang="en-US" dirty="0">
                <a:solidFill>
                  <a:schemeClr val="tx1"/>
                </a:solidFill>
              </a:rPr>
              <a:t>Watch for multiple responses or inconsistent replies.</a:t>
            </a:r>
          </a:p>
          <a:p>
            <a:pPr marL="292608" indent="-292608" eaLnBrk="0" hangingPunct="0">
              <a:buClr>
                <a:schemeClr val="tx1"/>
              </a:buClr>
              <a:buSzPct val="100000"/>
              <a:buFont typeface="Arial" panose="020B0604020202020204" pitchFamily="34" charset="0"/>
              <a:buChar char="•"/>
              <a:defRPr/>
            </a:pPr>
            <a:r>
              <a:rPr lang="en-US" dirty="0">
                <a:solidFill>
                  <a:schemeClr val="tx1"/>
                </a:solidFill>
              </a:rPr>
              <a:t>Follow up if necessary and always document your data-coding decisions.</a:t>
            </a:r>
          </a:p>
        </p:txBody>
      </p:sp>
      <p:sp>
        <p:nvSpPr>
          <p:cNvPr id="10" name="Slide Number Placeholder 9"/>
          <p:cNvSpPr>
            <a:spLocks noGrp="1"/>
          </p:cNvSpPr>
          <p:nvPr>
            <p:ph type="sldNum" sz="quarter" idx="10"/>
          </p:nvPr>
        </p:nvSpPr>
        <p:spPr/>
        <p:txBody>
          <a:bodyPr/>
          <a:lstStyle/>
          <a:p>
            <a:fld id="{68151E55-6873-49E2-B8D5-2F265E6F1973}" type="slidenum">
              <a:rPr lang="en-US" smtClean="0"/>
              <a:t>49</a:t>
            </a:fld>
            <a:endParaRPr lang="en-US" dirty="0"/>
          </a:p>
        </p:txBody>
      </p:sp>
    </p:spTree>
    <p:extLst>
      <p:ext uri="{BB962C8B-B14F-4D97-AF65-F5344CB8AC3E}">
        <p14:creationId xmlns:p14="http://schemas.microsoft.com/office/powerpoint/2010/main" val="76256053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C71A13-2AA0-EEDA-B43D-0A713ECB4B69}"/>
              </a:ext>
            </a:extLst>
          </p:cNvPr>
          <p:cNvSpPr>
            <a:spLocks noGrp="1"/>
          </p:cNvSpPr>
          <p:nvPr>
            <p:ph type="title"/>
          </p:nvPr>
        </p:nvSpPr>
        <p:spPr>
          <a:xfrm>
            <a:off x="342900" y="2813770"/>
            <a:ext cx="8458200" cy="798110"/>
          </a:xfrm>
        </p:spPr>
        <p:txBody>
          <a:bodyPr>
            <a:normAutofit/>
          </a:bodyPr>
          <a:lstStyle/>
          <a:p>
            <a:r>
              <a:rPr lang="en-US" dirty="0"/>
              <a:t>Chapter 2: Practice Problems</a:t>
            </a:r>
            <a:endParaRPr lang="en-IN" dirty="0"/>
          </a:p>
        </p:txBody>
      </p:sp>
      <p:sp>
        <p:nvSpPr>
          <p:cNvPr id="6" name="Slide Number Placeholder 5">
            <a:extLst>
              <a:ext uri="{FF2B5EF4-FFF2-40B4-BE49-F238E27FC236}">
                <a16:creationId xmlns:a16="http://schemas.microsoft.com/office/drawing/2014/main" id="{67326E3F-FB89-A6CD-B325-2C20B157C418}"/>
              </a:ext>
            </a:extLst>
          </p:cNvPr>
          <p:cNvSpPr>
            <a:spLocks noGrp="1"/>
          </p:cNvSpPr>
          <p:nvPr>
            <p:ph type="sldNum" sz="quarter" idx="4"/>
          </p:nvPr>
        </p:nvSpPr>
        <p:spPr/>
        <p:txBody>
          <a:bodyPr/>
          <a:lstStyle/>
          <a:p>
            <a:fld id="{68151E55-6873-49E2-B8D5-2F265E6F1973}" type="slidenum">
              <a:rPr lang="en-US" smtClean="0"/>
              <a:pPr/>
              <a:t>50</a:t>
            </a:fld>
            <a:endParaRPr lang="en-US" dirty="0"/>
          </a:p>
        </p:txBody>
      </p:sp>
    </p:spTree>
    <p:extLst>
      <p:ext uri="{BB962C8B-B14F-4D97-AF65-F5344CB8AC3E}">
        <p14:creationId xmlns:p14="http://schemas.microsoft.com/office/powerpoint/2010/main" val="318462188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192490"/>
            <a:ext cx="7840205" cy="903231"/>
          </a:xfrm>
        </p:spPr>
        <p:txBody>
          <a:bodyPr>
            <a:normAutofit/>
          </a:bodyPr>
          <a:lstStyle/>
          <a:p>
            <a:r>
              <a:rPr lang="en-IN" sz="3600" dirty="0"/>
              <a:t>Question 2</a:t>
            </a:r>
            <a:endParaRPr lang="en-IN" sz="3600" b="0" dirty="0"/>
          </a:p>
        </p:txBody>
      </p:sp>
      <p:sp>
        <p:nvSpPr>
          <p:cNvPr id="3" name="Content Placeholder 2"/>
          <p:cNvSpPr>
            <a:spLocks noGrp="1"/>
          </p:cNvSpPr>
          <p:nvPr>
            <p:ph sz="quarter" idx="11"/>
          </p:nvPr>
        </p:nvSpPr>
        <p:spPr>
          <a:xfrm>
            <a:off x="8595360" y="55330"/>
            <a:ext cx="487680" cy="1310483"/>
          </a:xfrm>
        </p:spPr>
        <p:txBody>
          <a:bodyPr vert="vert" rIns="0"/>
          <a:lstStyle/>
          <a:p>
            <a:pPr marL="1025525" indent="-1025525"/>
            <a:r>
              <a:rPr lang="en-US" b="1" dirty="0"/>
              <a:t>L</a:t>
            </a:r>
            <a:r>
              <a:rPr lang="en-US" sz="100" b="1" dirty="0"/>
              <a:t> </a:t>
            </a:r>
            <a:r>
              <a:rPr lang="en-US" b="1" dirty="0"/>
              <a:t>O 2.2</a:t>
            </a:r>
            <a:endParaRPr lang="en-IN" b="1" dirty="0"/>
          </a:p>
        </p:txBody>
      </p:sp>
      <p:sp>
        <p:nvSpPr>
          <p:cNvPr id="4" name="Content Placeholder 3"/>
          <p:cNvSpPr>
            <a:spLocks noGrp="1"/>
          </p:cNvSpPr>
          <p:nvPr>
            <p:ph sz="quarter" idx="14"/>
          </p:nvPr>
        </p:nvSpPr>
        <p:spPr>
          <a:xfrm>
            <a:off x="342900" y="1278014"/>
            <a:ext cx="8136082" cy="5034295"/>
          </a:xfrm>
        </p:spPr>
        <p:txBody>
          <a:bodyPr/>
          <a:lstStyle/>
          <a:p>
            <a:r>
              <a:rPr lang="en-IN" dirty="0"/>
              <a:t>What type of data (categorical, discrete numerical, or continuous numerical) is each of the following variables? If there is any ambiguity, explain why the answer is unclear.</a:t>
            </a:r>
          </a:p>
          <a:p>
            <a:pPr marL="384175" indent="-384175"/>
            <a:r>
              <a:rPr lang="en-IN" dirty="0"/>
              <a:t>a. Length of a TV commercial.</a:t>
            </a:r>
          </a:p>
          <a:p>
            <a:pPr marL="384175" indent="-384175"/>
            <a:r>
              <a:rPr lang="en-IN" dirty="0"/>
              <a:t>b. Number of peanuts in a can of Planter’s Mixed Nuts.</a:t>
            </a:r>
          </a:p>
          <a:p>
            <a:pPr marL="384175" indent="-384175"/>
            <a:r>
              <a:rPr lang="en-IN" dirty="0"/>
              <a:t>c. Occupation of a mortgage applicant.</a:t>
            </a:r>
          </a:p>
          <a:p>
            <a:pPr marL="384175" indent="-384175"/>
            <a:r>
              <a:rPr lang="en-IN" dirty="0"/>
              <a:t>d. Flight time from London Heathrow to Chicago O’Hare.</a:t>
            </a:r>
          </a:p>
        </p:txBody>
      </p:sp>
      <p:sp>
        <p:nvSpPr>
          <p:cNvPr id="10" name="Slide Number Placeholder 9"/>
          <p:cNvSpPr>
            <a:spLocks noGrp="1"/>
          </p:cNvSpPr>
          <p:nvPr>
            <p:ph type="sldNum" sz="quarter" idx="10"/>
          </p:nvPr>
        </p:nvSpPr>
        <p:spPr/>
        <p:txBody>
          <a:bodyPr/>
          <a:lstStyle/>
          <a:p>
            <a:fld id="{68151E55-6873-49E2-B8D5-2F265E6F1973}" type="slidenum">
              <a:rPr lang="en-US" smtClean="0"/>
              <a:t>51</a:t>
            </a:fld>
            <a:endParaRPr lang="en-US" dirty="0"/>
          </a:p>
        </p:txBody>
      </p:sp>
    </p:spTree>
    <p:extLst>
      <p:ext uri="{BB962C8B-B14F-4D97-AF65-F5344CB8AC3E}">
        <p14:creationId xmlns:p14="http://schemas.microsoft.com/office/powerpoint/2010/main" val="69926808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192490"/>
            <a:ext cx="7685222" cy="903231"/>
          </a:xfrm>
        </p:spPr>
        <p:txBody>
          <a:bodyPr>
            <a:normAutofit/>
          </a:bodyPr>
          <a:lstStyle/>
          <a:p>
            <a:r>
              <a:rPr lang="en-IN" sz="3600" dirty="0"/>
              <a:t>Question 5</a:t>
            </a:r>
            <a:endParaRPr lang="en-IN" sz="3600" b="0" dirty="0"/>
          </a:p>
        </p:txBody>
      </p:sp>
      <p:sp>
        <p:nvSpPr>
          <p:cNvPr id="3" name="Content Placeholder 2"/>
          <p:cNvSpPr>
            <a:spLocks noGrp="1"/>
          </p:cNvSpPr>
          <p:nvPr>
            <p:ph sz="quarter" idx="11"/>
          </p:nvPr>
        </p:nvSpPr>
        <p:spPr>
          <a:xfrm>
            <a:off x="8595360" y="55330"/>
            <a:ext cx="487680" cy="1222684"/>
          </a:xfrm>
        </p:spPr>
        <p:txBody>
          <a:bodyPr vert="vert" rIns="0"/>
          <a:lstStyle/>
          <a:p>
            <a:pPr marL="1025525" indent="-1025525"/>
            <a:r>
              <a:rPr lang="en-US" b="1" dirty="0"/>
              <a:t>L</a:t>
            </a:r>
            <a:r>
              <a:rPr lang="en-US" sz="100" b="1" dirty="0"/>
              <a:t> </a:t>
            </a:r>
            <a:r>
              <a:rPr lang="en-US" b="1" dirty="0"/>
              <a:t>O 2.3</a:t>
            </a:r>
            <a:endParaRPr lang="en-IN" b="1" dirty="0"/>
          </a:p>
        </p:txBody>
      </p:sp>
      <p:sp>
        <p:nvSpPr>
          <p:cNvPr id="4" name="Content Placeholder 3"/>
          <p:cNvSpPr>
            <a:spLocks noGrp="1"/>
          </p:cNvSpPr>
          <p:nvPr>
            <p:ph sz="quarter" idx="14"/>
          </p:nvPr>
        </p:nvSpPr>
        <p:spPr>
          <a:xfrm>
            <a:off x="342900" y="1278014"/>
            <a:ext cx="8136082" cy="5034295"/>
          </a:xfrm>
        </p:spPr>
        <p:txBody>
          <a:bodyPr/>
          <a:lstStyle/>
          <a:p>
            <a:r>
              <a:rPr lang="en-IN" dirty="0"/>
              <a:t>Which type of data (cross-sectional or time series) is each variable?</a:t>
            </a:r>
          </a:p>
          <a:p>
            <a:pPr marL="357188" indent="-357188"/>
            <a:r>
              <a:rPr lang="en-IN" dirty="0"/>
              <a:t>a. Scores of 50 students on a midterm accounting exam last semester.</a:t>
            </a:r>
          </a:p>
          <a:p>
            <a:pPr marL="357188" indent="-357188"/>
            <a:r>
              <a:rPr lang="en-IN" dirty="0"/>
              <a:t>b. Bob’s scores on 10 weekly accounting quizzes last semester.</a:t>
            </a:r>
          </a:p>
          <a:p>
            <a:pPr marL="357188" indent="-357188"/>
            <a:r>
              <a:rPr lang="en-IN" dirty="0"/>
              <a:t>c. Average score by all takers of the state’s C</a:t>
            </a:r>
            <a:r>
              <a:rPr lang="en-IN" sz="100" dirty="0"/>
              <a:t> </a:t>
            </a:r>
            <a:r>
              <a:rPr lang="en-IN" dirty="0"/>
              <a:t>P</a:t>
            </a:r>
            <a:r>
              <a:rPr lang="en-IN" sz="100" dirty="0"/>
              <a:t> </a:t>
            </a:r>
            <a:r>
              <a:rPr lang="en-IN" dirty="0"/>
              <a:t>A exam for each of the last 10 years.</a:t>
            </a:r>
          </a:p>
          <a:p>
            <a:pPr marL="357188" indent="-357188"/>
            <a:r>
              <a:rPr lang="en-IN" dirty="0"/>
              <a:t>d. Number of years of accounting work experience for each of the 15 partners in a C</a:t>
            </a:r>
            <a:r>
              <a:rPr lang="en-IN" sz="100" dirty="0"/>
              <a:t> </a:t>
            </a:r>
            <a:r>
              <a:rPr lang="en-IN" dirty="0"/>
              <a:t>P</a:t>
            </a:r>
            <a:r>
              <a:rPr lang="en-IN" sz="100" dirty="0"/>
              <a:t> </a:t>
            </a:r>
            <a:r>
              <a:rPr lang="en-IN" dirty="0"/>
              <a:t>A firm.</a:t>
            </a:r>
          </a:p>
        </p:txBody>
      </p:sp>
      <p:sp>
        <p:nvSpPr>
          <p:cNvPr id="10" name="Slide Number Placeholder 9"/>
          <p:cNvSpPr>
            <a:spLocks noGrp="1"/>
          </p:cNvSpPr>
          <p:nvPr>
            <p:ph type="sldNum" sz="quarter" idx="10"/>
          </p:nvPr>
        </p:nvSpPr>
        <p:spPr/>
        <p:txBody>
          <a:bodyPr/>
          <a:lstStyle/>
          <a:p>
            <a:fld id="{68151E55-6873-49E2-B8D5-2F265E6F1973}" type="slidenum">
              <a:rPr lang="en-US" smtClean="0"/>
              <a:t>52</a:t>
            </a:fld>
            <a:endParaRPr lang="en-US" dirty="0"/>
          </a:p>
        </p:txBody>
      </p:sp>
    </p:spTree>
    <p:extLst>
      <p:ext uri="{BB962C8B-B14F-4D97-AF65-F5344CB8AC3E}">
        <p14:creationId xmlns:p14="http://schemas.microsoft.com/office/powerpoint/2010/main" val="359470215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192490"/>
            <a:ext cx="7809208" cy="903231"/>
          </a:xfrm>
        </p:spPr>
        <p:txBody>
          <a:bodyPr>
            <a:normAutofit/>
          </a:bodyPr>
          <a:lstStyle/>
          <a:p>
            <a:r>
              <a:rPr lang="en-IN" sz="3600" dirty="0"/>
              <a:t>Question 9</a:t>
            </a:r>
            <a:endParaRPr lang="en-IN" sz="3600" b="0" dirty="0"/>
          </a:p>
        </p:txBody>
      </p:sp>
      <p:sp>
        <p:nvSpPr>
          <p:cNvPr id="3" name="Content Placeholder 2"/>
          <p:cNvSpPr>
            <a:spLocks noGrp="1"/>
          </p:cNvSpPr>
          <p:nvPr>
            <p:ph sz="quarter" idx="11"/>
          </p:nvPr>
        </p:nvSpPr>
        <p:spPr>
          <a:xfrm>
            <a:off x="8595360" y="55330"/>
            <a:ext cx="487680" cy="1222684"/>
          </a:xfrm>
        </p:spPr>
        <p:txBody>
          <a:bodyPr vert="vert" rIns="0"/>
          <a:lstStyle/>
          <a:p>
            <a:pPr marL="1025525" indent="-1025525"/>
            <a:r>
              <a:rPr lang="en-US" b="1" dirty="0"/>
              <a:t>L</a:t>
            </a:r>
            <a:r>
              <a:rPr lang="en-US" sz="100" b="1" dirty="0"/>
              <a:t> </a:t>
            </a:r>
            <a:r>
              <a:rPr lang="en-US" b="1" dirty="0"/>
              <a:t>O 2.4</a:t>
            </a:r>
            <a:endParaRPr lang="en-IN" b="1" dirty="0"/>
          </a:p>
        </p:txBody>
      </p:sp>
      <p:sp>
        <p:nvSpPr>
          <p:cNvPr id="4" name="Content Placeholder 3"/>
          <p:cNvSpPr>
            <a:spLocks noGrp="1"/>
          </p:cNvSpPr>
          <p:nvPr>
            <p:ph sz="quarter" idx="14"/>
          </p:nvPr>
        </p:nvSpPr>
        <p:spPr>
          <a:xfrm>
            <a:off x="342900" y="1278014"/>
            <a:ext cx="8136082" cy="5238533"/>
          </a:xfrm>
        </p:spPr>
        <p:txBody>
          <a:bodyPr/>
          <a:lstStyle/>
          <a:p>
            <a:r>
              <a:rPr lang="en-IN" dirty="0"/>
              <a:t>Which measurement level (nominal, ordinal, interval, ratio) is each of the following variables? Explain.</a:t>
            </a:r>
          </a:p>
          <a:p>
            <a:r>
              <a:rPr lang="en-IN" dirty="0"/>
              <a:t>a. Number of hits in Game 1 of the next World Series.</a:t>
            </a:r>
          </a:p>
          <a:p>
            <a:pPr marL="339725" indent="-339725"/>
            <a:r>
              <a:rPr lang="en-IN" dirty="0"/>
              <a:t>b. Field position of a randomly chosen baseball player (catcher, pitcher, etc.).</a:t>
            </a:r>
          </a:p>
          <a:p>
            <a:pPr marL="339725" indent="-339725"/>
            <a:r>
              <a:rPr lang="en-IN" dirty="0"/>
              <a:t>c. Temperature on opening day (Celsius).</a:t>
            </a:r>
          </a:p>
          <a:p>
            <a:pPr marL="357188" indent="-357188"/>
            <a:r>
              <a:rPr lang="en-IN" dirty="0"/>
              <a:t>d. Salary of a randomly chosen American League pitcher.</a:t>
            </a:r>
          </a:p>
          <a:p>
            <a:pPr marL="357188" indent="-357188"/>
            <a:r>
              <a:rPr lang="en-IN" dirty="0"/>
              <a:t>e. Freeway traffic on opening day (light, medium, heavy).</a:t>
            </a:r>
          </a:p>
        </p:txBody>
      </p:sp>
      <p:sp>
        <p:nvSpPr>
          <p:cNvPr id="10" name="Slide Number Placeholder 9"/>
          <p:cNvSpPr>
            <a:spLocks noGrp="1"/>
          </p:cNvSpPr>
          <p:nvPr>
            <p:ph type="sldNum" sz="quarter" idx="10"/>
          </p:nvPr>
        </p:nvSpPr>
        <p:spPr/>
        <p:txBody>
          <a:bodyPr/>
          <a:lstStyle/>
          <a:p>
            <a:fld id="{68151E55-6873-49E2-B8D5-2F265E6F1973}" type="slidenum">
              <a:rPr lang="en-US" smtClean="0"/>
              <a:t>53</a:t>
            </a:fld>
            <a:endParaRPr lang="en-US" dirty="0"/>
          </a:p>
        </p:txBody>
      </p:sp>
    </p:spTree>
    <p:extLst>
      <p:ext uri="{BB962C8B-B14F-4D97-AF65-F5344CB8AC3E}">
        <p14:creationId xmlns:p14="http://schemas.microsoft.com/office/powerpoint/2010/main" val="284692723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192490"/>
            <a:ext cx="7809208" cy="903231"/>
          </a:xfrm>
        </p:spPr>
        <p:txBody>
          <a:bodyPr>
            <a:normAutofit/>
          </a:bodyPr>
          <a:lstStyle/>
          <a:p>
            <a:r>
              <a:rPr lang="en-IN" sz="3600" dirty="0"/>
              <a:t>Question 15</a:t>
            </a:r>
            <a:endParaRPr lang="en-IN" sz="3600" b="0" dirty="0"/>
          </a:p>
        </p:txBody>
      </p:sp>
      <p:sp>
        <p:nvSpPr>
          <p:cNvPr id="3" name="Content Placeholder 2"/>
          <p:cNvSpPr>
            <a:spLocks noGrp="1"/>
          </p:cNvSpPr>
          <p:nvPr>
            <p:ph sz="quarter" idx="11"/>
          </p:nvPr>
        </p:nvSpPr>
        <p:spPr>
          <a:xfrm>
            <a:off x="8595360" y="55330"/>
            <a:ext cx="487680" cy="1345207"/>
          </a:xfrm>
        </p:spPr>
        <p:txBody>
          <a:bodyPr vert="vert" rIns="0"/>
          <a:lstStyle/>
          <a:p>
            <a:pPr marL="1025525" indent="-1025525"/>
            <a:r>
              <a:rPr lang="en-US" b="1" dirty="0"/>
              <a:t>L</a:t>
            </a:r>
            <a:r>
              <a:rPr lang="en-US" sz="100" b="1" dirty="0"/>
              <a:t> </a:t>
            </a:r>
            <a:r>
              <a:rPr lang="en-US" b="1" dirty="0"/>
              <a:t>O 2.6</a:t>
            </a:r>
            <a:endParaRPr lang="en-IN" b="1" dirty="0"/>
          </a:p>
        </p:txBody>
      </p:sp>
      <p:sp>
        <p:nvSpPr>
          <p:cNvPr id="4" name="Content Placeholder 3"/>
          <p:cNvSpPr>
            <a:spLocks noGrp="1"/>
          </p:cNvSpPr>
          <p:nvPr>
            <p:ph sz="quarter" idx="14"/>
          </p:nvPr>
        </p:nvSpPr>
        <p:spPr>
          <a:xfrm>
            <a:off x="342900" y="1278014"/>
            <a:ext cx="8136082" cy="5034295"/>
          </a:xfrm>
        </p:spPr>
        <p:txBody>
          <a:bodyPr/>
          <a:lstStyle/>
          <a:p>
            <a:r>
              <a:rPr lang="en-IN" dirty="0"/>
              <a:t>Would you use a sample or a census to measure each of the following? Why?</a:t>
            </a:r>
          </a:p>
          <a:p>
            <a:pPr marL="398463" indent="-398463"/>
            <a:r>
              <a:rPr lang="en-IN" dirty="0"/>
              <a:t>a. The model years of the cars driven by each of your five closest friends.</a:t>
            </a:r>
          </a:p>
          <a:p>
            <a:pPr marL="398463" indent="-398463"/>
            <a:r>
              <a:rPr lang="en-IN" dirty="0"/>
              <a:t>b. The model years of the cars driven by each student in your statistics class.</a:t>
            </a:r>
          </a:p>
          <a:p>
            <a:pPr marL="398463" indent="-398463"/>
            <a:r>
              <a:rPr lang="en-IN" dirty="0"/>
              <a:t>c. The model years of the cars driven by each student in your university.</a:t>
            </a:r>
          </a:p>
        </p:txBody>
      </p:sp>
      <p:sp>
        <p:nvSpPr>
          <p:cNvPr id="10" name="Slide Number Placeholder 9"/>
          <p:cNvSpPr>
            <a:spLocks noGrp="1"/>
          </p:cNvSpPr>
          <p:nvPr>
            <p:ph type="sldNum" sz="quarter" idx="10"/>
          </p:nvPr>
        </p:nvSpPr>
        <p:spPr/>
        <p:txBody>
          <a:bodyPr/>
          <a:lstStyle/>
          <a:p>
            <a:fld id="{68151E55-6873-49E2-B8D5-2F265E6F1973}" type="slidenum">
              <a:rPr lang="en-US" smtClean="0"/>
              <a:t>54</a:t>
            </a:fld>
            <a:endParaRPr lang="en-US" dirty="0"/>
          </a:p>
        </p:txBody>
      </p:sp>
    </p:spTree>
    <p:extLst>
      <p:ext uri="{BB962C8B-B14F-4D97-AF65-F5344CB8AC3E}">
        <p14:creationId xmlns:p14="http://schemas.microsoft.com/office/powerpoint/2010/main" val="216024092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192490"/>
            <a:ext cx="8026185" cy="903231"/>
          </a:xfrm>
        </p:spPr>
        <p:txBody>
          <a:bodyPr>
            <a:normAutofit/>
          </a:bodyPr>
          <a:lstStyle/>
          <a:p>
            <a:r>
              <a:rPr lang="en-IN" sz="3600" dirty="0"/>
              <a:t>Question 19</a:t>
            </a:r>
            <a:endParaRPr lang="en-IN" sz="3600" b="0" dirty="0"/>
          </a:p>
        </p:txBody>
      </p:sp>
      <p:sp>
        <p:nvSpPr>
          <p:cNvPr id="3" name="Content Placeholder 2"/>
          <p:cNvSpPr>
            <a:spLocks noGrp="1"/>
          </p:cNvSpPr>
          <p:nvPr>
            <p:ph sz="quarter" idx="11"/>
          </p:nvPr>
        </p:nvSpPr>
        <p:spPr>
          <a:xfrm>
            <a:off x="8595360" y="55330"/>
            <a:ext cx="487680" cy="1788710"/>
          </a:xfrm>
        </p:spPr>
        <p:txBody>
          <a:bodyPr vert="vert" rIns="0"/>
          <a:lstStyle/>
          <a:p>
            <a:pPr marL="1025525" indent="-1025525"/>
            <a:r>
              <a:rPr lang="en-US" b="1" dirty="0"/>
              <a:t>L</a:t>
            </a:r>
            <a:r>
              <a:rPr lang="en-US" sz="100" b="1" dirty="0"/>
              <a:t> </a:t>
            </a:r>
            <a:r>
              <a:rPr lang="en-US" b="1" dirty="0"/>
              <a:t>O 2.7</a:t>
            </a:r>
            <a:endParaRPr lang="en-IN" b="1" dirty="0"/>
          </a:p>
        </p:txBody>
      </p:sp>
      <p:sp>
        <p:nvSpPr>
          <p:cNvPr id="4" name="Content Placeholder 3"/>
          <p:cNvSpPr>
            <a:spLocks noGrp="1"/>
          </p:cNvSpPr>
          <p:nvPr>
            <p:ph sz="quarter" idx="14"/>
          </p:nvPr>
        </p:nvSpPr>
        <p:spPr>
          <a:xfrm>
            <a:off x="342900" y="1278015"/>
            <a:ext cx="8136082" cy="4544052"/>
          </a:xfrm>
        </p:spPr>
        <p:txBody>
          <a:bodyPr/>
          <a:lstStyle/>
          <a:p>
            <a:r>
              <a:rPr lang="en-IN" dirty="0"/>
              <a:t>Suppose you want to know the ages of moviegoers who attend a </a:t>
            </a:r>
            <a:r>
              <a:rPr lang="en-IN" dirty="0" err="1"/>
              <a:t>theater’s</a:t>
            </a:r>
            <a:r>
              <a:rPr lang="en-IN" dirty="0"/>
              <a:t> last showing on a Friday night. What kind of sample is it if you:</a:t>
            </a:r>
          </a:p>
          <a:p>
            <a:pPr marL="515938" indent="-515938"/>
            <a:r>
              <a:rPr lang="en-IN" dirty="0"/>
              <a:t>(a) survey the first 20 persons to emerge from the </a:t>
            </a:r>
            <a:r>
              <a:rPr lang="en-IN" dirty="0" err="1"/>
              <a:t>theater</a:t>
            </a:r>
            <a:r>
              <a:rPr lang="en-IN" dirty="0"/>
              <a:t>.</a:t>
            </a:r>
          </a:p>
          <a:p>
            <a:pPr marL="515938" indent="-515938"/>
            <a:r>
              <a:rPr lang="en-IN" dirty="0"/>
              <a:t>(b) survey every 10th person to emerge from the </a:t>
            </a:r>
            <a:r>
              <a:rPr lang="en-IN" dirty="0" err="1"/>
              <a:t>theater</a:t>
            </a:r>
            <a:r>
              <a:rPr lang="en-IN" dirty="0"/>
              <a:t>.</a:t>
            </a:r>
          </a:p>
          <a:p>
            <a:pPr marL="515938" indent="-515938"/>
            <a:r>
              <a:rPr lang="en-IN" dirty="0"/>
              <a:t>(c) survey everyone who looks under age 12?</a:t>
            </a:r>
          </a:p>
        </p:txBody>
      </p:sp>
      <p:sp>
        <p:nvSpPr>
          <p:cNvPr id="10" name="Slide Number Placeholder 9"/>
          <p:cNvSpPr>
            <a:spLocks noGrp="1"/>
          </p:cNvSpPr>
          <p:nvPr>
            <p:ph type="sldNum" sz="quarter" idx="10"/>
          </p:nvPr>
        </p:nvSpPr>
        <p:spPr/>
        <p:txBody>
          <a:bodyPr/>
          <a:lstStyle/>
          <a:p>
            <a:fld id="{68151E55-6873-49E2-B8D5-2F265E6F1973}" type="slidenum">
              <a:rPr lang="en-US" smtClean="0"/>
              <a:t>55</a:t>
            </a:fld>
            <a:endParaRPr lang="en-US" dirty="0"/>
          </a:p>
        </p:txBody>
      </p:sp>
    </p:spTree>
    <p:extLst>
      <p:ext uri="{BB962C8B-B14F-4D97-AF65-F5344CB8AC3E}">
        <p14:creationId xmlns:p14="http://schemas.microsoft.com/office/powerpoint/2010/main" val="278602152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192490"/>
            <a:ext cx="6600341" cy="903231"/>
          </a:xfrm>
        </p:spPr>
        <p:txBody>
          <a:bodyPr>
            <a:normAutofit/>
          </a:bodyPr>
          <a:lstStyle/>
          <a:p>
            <a:r>
              <a:rPr lang="en-IN" sz="3600" dirty="0"/>
              <a:t>Question 24</a:t>
            </a:r>
            <a:endParaRPr lang="en-IN" sz="3600" b="0" dirty="0"/>
          </a:p>
        </p:txBody>
      </p:sp>
      <p:sp>
        <p:nvSpPr>
          <p:cNvPr id="3" name="Content Placeholder 2"/>
          <p:cNvSpPr>
            <a:spLocks noGrp="1"/>
          </p:cNvSpPr>
          <p:nvPr>
            <p:ph sz="quarter" idx="11"/>
          </p:nvPr>
        </p:nvSpPr>
        <p:spPr>
          <a:xfrm>
            <a:off x="8595360" y="55330"/>
            <a:ext cx="487680" cy="1222684"/>
          </a:xfrm>
        </p:spPr>
        <p:txBody>
          <a:bodyPr vert="vert" rIns="0"/>
          <a:lstStyle/>
          <a:p>
            <a:pPr marL="1025525" indent="-1025525"/>
            <a:r>
              <a:rPr lang="en-US" b="1" dirty="0"/>
              <a:t>L</a:t>
            </a:r>
            <a:r>
              <a:rPr lang="en-US" sz="100" b="1" dirty="0"/>
              <a:t> </a:t>
            </a:r>
            <a:r>
              <a:rPr lang="en-US" b="1" dirty="0"/>
              <a:t>O 2.7</a:t>
            </a:r>
            <a:endParaRPr lang="en-IN" b="1" dirty="0"/>
          </a:p>
        </p:txBody>
      </p:sp>
      <p:sp>
        <p:nvSpPr>
          <p:cNvPr id="4" name="Content Placeholder 3"/>
          <p:cNvSpPr>
            <a:spLocks noGrp="1"/>
          </p:cNvSpPr>
          <p:nvPr>
            <p:ph sz="quarter" idx="14"/>
          </p:nvPr>
        </p:nvSpPr>
        <p:spPr>
          <a:xfrm>
            <a:off x="342900" y="1278014"/>
            <a:ext cx="8136082" cy="5034295"/>
          </a:xfrm>
        </p:spPr>
        <p:txBody>
          <a:bodyPr/>
          <a:lstStyle/>
          <a:p>
            <a:r>
              <a:rPr lang="en-IN" dirty="0"/>
              <a:t>What sources of error might you encounter if you want to know:</a:t>
            </a:r>
          </a:p>
          <a:p>
            <a:pPr marL="461963" indent="-461963"/>
            <a:r>
              <a:rPr lang="en-IN" dirty="0"/>
              <a:t>(a) about the dating habits of college men, so you go to a dorm meeting and ask students how many dates they have had in the last year;</a:t>
            </a:r>
          </a:p>
          <a:p>
            <a:pPr marL="461963" indent="-461963"/>
            <a:r>
              <a:rPr lang="en-IN" dirty="0"/>
              <a:t>(b) how often people attend religious services, so you stand outside a particular church on Sunday and ask entering individuals how often they attend;</a:t>
            </a:r>
          </a:p>
          <a:p>
            <a:pPr marL="461963" indent="-461963"/>
            <a:r>
              <a:rPr lang="en-IN" dirty="0"/>
              <a:t>(c) how often people eat at McDonald’s, so you stand outside a particular McDonald’s and ask entering customers how often they eat at McDonald’s?</a:t>
            </a:r>
          </a:p>
        </p:txBody>
      </p:sp>
      <p:sp>
        <p:nvSpPr>
          <p:cNvPr id="10" name="Slide Number Placeholder 9"/>
          <p:cNvSpPr>
            <a:spLocks noGrp="1"/>
          </p:cNvSpPr>
          <p:nvPr>
            <p:ph type="sldNum" sz="quarter" idx="10"/>
          </p:nvPr>
        </p:nvSpPr>
        <p:spPr/>
        <p:txBody>
          <a:bodyPr/>
          <a:lstStyle/>
          <a:p>
            <a:fld id="{68151E55-6873-49E2-B8D5-2F265E6F1973}" type="slidenum">
              <a:rPr lang="en-US" smtClean="0"/>
              <a:t>56</a:t>
            </a:fld>
            <a:endParaRPr lang="en-US" dirty="0"/>
          </a:p>
        </p:txBody>
      </p:sp>
    </p:spTree>
    <p:extLst>
      <p:ext uri="{BB962C8B-B14F-4D97-AF65-F5344CB8AC3E}">
        <p14:creationId xmlns:p14="http://schemas.microsoft.com/office/powerpoint/2010/main" val="284432956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192490"/>
            <a:ext cx="6677832" cy="903231"/>
          </a:xfrm>
        </p:spPr>
        <p:txBody>
          <a:bodyPr>
            <a:normAutofit/>
          </a:bodyPr>
          <a:lstStyle/>
          <a:p>
            <a:r>
              <a:rPr lang="en-IN" sz="3600" dirty="0"/>
              <a:t>Question 26</a:t>
            </a:r>
            <a:endParaRPr lang="en-IN" sz="3600" b="0" dirty="0"/>
          </a:p>
        </p:txBody>
      </p:sp>
      <p:sp>
        <p:nvSpPr>
          <p:cNvPr id="3" name="Content Placeholder 2"/>
          <p:cNvSpPr>
            <a:spLocks noGrp="1"/>
          </p:cNvSpPr>
          <p:nvPr>
            <p:ph sz="quarter" idx="11"/>
          </p:nvPr>
        </p:nvSpPr>
        <p:spPr>
          <a:xfrm>
            <a:off x="8595360" y="55330"/>
            <a:ext cx="487680" cy="1222684"/>
          </a:xfrm>
        </p:spPr>
        <p:txBody>
          <a:bodyPr vert="vert" rIns="0"/>
          <a:lstStyle/>
          <a:p>
            <a:pPr marL="1025525" indent="-1025525"/>
            <a:r>
              <a:rPr lang="en-US" b="1" dirty="0"/>
              <a:t>L</a:t>
            </a:r>
            <a:r>
              <a:rPr lang="en-US" sz="100" b="1" dirty="0"/>
              <a:t> </a:t>
            </a:r>
            <a:r>
              <a:rPr lang="en-US" b="1" dirty="0"/>
              <a:t>O 2.9</a:t>
            </a:r>
            <a:endParaRPr lang="en-IN" b="1" dirty="0"/>
          </a:p>
        </p:txBody>
      </p:sp>
      <p:sp>
        <p:nvSpPr>
          <p:cNvPr id="4" name="Content Placeholder 3"/>
          <p:cNvSpPr>
            <a:spLocks noGrp="1"/>
          </p:cNvSpPr>
          <p:nvPr>
            <p:ph sz="quarter" idx="14"/>
          </p:nvPr>
        </p:nvSpPr>
        <p:spPr>
          <a:xfrm>
            <a:off x="342900" y="1278014"/>
            <a:ext cx="8136082" cy="5034295"/>
          </a:xfrm>
        </p:spPr>
        <p:txBody>
          <a:bodyPr/>
          <a:lstStyle/>
          <a:p>
            <a:r>
              <a:rPr lang="en-IN" dirty="0"/>
              <a:t>What kind of survey (mail, telephone, interview, web, direct observation) would you recommend that a small laundry and dry cleaning business use for each of the following purposes, and why?</a:t>
            </a:r>
          </a:p>
          <a:p>
            <a:pPr marL="325438" indent="-325438"/>
            <a:r>
              <a:rPr lang="en-IN" dirty="0"/>
              <a:t>a. To estimate the proportion of customers preferring opening hours at 7 a.m. instead of 8 a.m.</a:t>
            </a:r>
          </a:p>
          <a:p>
            <a:pPr marL="371475" indent="-371475"/>
            <a:r>
              <a:rPr lang="en-IN" dirty="0"/>
              <a:t>b. To estimate the proportion of customers who have only laundry and no dry cleaning.</a:t>
            </a:r>
          </a:p>
          <a:p>
            <a:pPr marL="325438" indent="-325438"/>
            <a:r>
              <a:rPr lang="en-IN" dirty="0"/>
              <a:t>c. To estimate the proportion of residents in the same zip code who spend more than $20 a month on dry cleaning.</a:t>
            </a:r>
          </a:p>
        </p:txBody>
      </p:sp>
      <p:sp>
        <p:nvSpPr>
          <p:cNvPr id="10" name="Slide Number Placeholder 9"/>
          <p:cNvSpPr>
            <a:spLocks noGrp="1"/>
          </p:cNvSpPr>
          <p:nvPr>
            <p:ph type="sldNum" sz="quarter" idx="10"/>
          </p:nvPr>
        </p:nvSpPr>
        <p:spPr/>
        <p:txBody>
          <a:bodyPr/>
          <a:lstStyle/>
          <a:p>
            <a:fld id="{68151E55-6873-49E2-B8D5-2F265E6F1973}" type="slidenum">
              <a:rPr lang="en-US" smtClean="0"/>
              <a:t>57</a:t>
            </a:fld>
            <a:endParaRPr lang="en-US" dirty="0"/>
          </a:p>
        </p:txBody>
      </p:sp>
    </p:spTree>
    <p:extLst>
      <p:ext uri="{BB962C8B-B14F-4D97-AF65-F5344CB8AC3E}">
        <p14:creationId xmlns:p14="http://schemas.microsoft.com/office/powerpoint/2010/main" val="175964356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C71A13-2AA0-EEDA-B43D-0A713ECB4B69}"/>
              </a:ext>
            </a:extLst>
          </p:cNvPr>
          <p:cNvSpPr>
            <a:spLocks noGrp="1"/>
          </p:cNvSpPr>
          <p:nvPr>
            <p:ph type="title"/>
          </p:nvPr>
        </p:nvSpPr>
        <p:spPr>
          <a:xfrm>
            <a:off x="342900" y="2813770"/>
            <a:ext cx="8458200" cy="798110"/>
          </a:xfrm>
        </p:spPr>
        <p:txBody>
          <a:bodyPr>
            <a:normAutofit/>
          </a:bodyPr>
          <a:lstStyle/>
          <a:p>
            <a:r>
              <a:rPr lang="en-IN" dirty="0"/>
              <a:t>Chapter 2: Analytics in Action</a:t>
            </a:r>
          </a:p>
        </p:txBody>
      </p:sp>
      <p:sp>
        <p:nvSpPr>
          <p:cNvPr id="6" name="Slide Number Placeholder 5">
            <a:extLst>
              <a:ext uri="{FF2B5EF4-FFF2-40B4-BE49-F238E27FC236}">
                <a16:creationId xmlns:a16="http://schemas.microsoft.com/office/drawing/2014/main" id="{67326E3F-FB89-A6CD-B325-2C20B157C418}"/>
              </a:ext>
            </a:extLst>
          </p:cNvPr>
          <p:cNvSpPr>
            <a:spLocks noGrp="1"/>
          </p:cNvSpPr>
          <p:nvPr>
            <p:ph type="sldNum" sz="quarter" idx="4"/>
          </p:nvPr>
        </p:nvSpPr>
        <p:spPr/>
        <p:txBody>
          <a:bodyPr/>
          <a:lstStyle/>
          <a:p>
            <a:fld id="{68151E55-6873-49E2-B8D5-2F265E6F1973}" type="slidenum">
              <a:rPr lang="en-US" smtClean="0"/>
              <a:pPr/>
              <a:t>58</a:t>
            </a:fld>
            <a:endParaRPr lang="en-US" dirty="0"/>
          </a:p>
        </p:txBody>
      </p:sp>
    </p:spTree>
    <p:extLst>
      <p:ext uri="{BB962C8B-B14F-4D97-AF65-F5344CB8AC3E}">
        <p14:creationId xmlns:p14="http://schemas.microsoft.com/office/powerpoint/2010/main" val="273582293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192490"/>
            <a:ext cx="8191500" cy="903231"/>
          </a:xfrm>
        </p:spPr>
        <p:txBody>
          <a:bodyPr>
            <a:normAutofit/>
          </a:bodyPr>
          <a:lstStyle/>
          <a:p>
            <a:r>
              <a:rPr lang="en-IN" sz="3600" dirty="0"/>
              <a:t>Analytics in Action</a:t>
            </a:r>
            <a:endParaRPr lang="en-IN" sz="3600" b="0" dirty="0"/>
          </a:p>
        </p:txBody>
      </p:sp>
      <p:sp>
        <p:nvSpPr>
          <p:cNvPr id="4" name="Content Placeholder 3"/>
          <p:cNvSpPr>
            <a:spLocks noGrp="1"/>
          </p:cNvSpPr>
          <p:nvPr>
            <p:ph sz="quarter" idx="14"/>
          </p:nvPr>
        </p:nvSpPr>
        <p:spPr>
          <a:xfrm>
            <a:off x="342900" y="1278014"/>
            <a:ext cx="8136082" cy="5034295"/>
          </a:xfrm>
        </p:spPr>
        <p:txBody>
          <a:bodyPr/>
          <a:lstStyle/>
          <a:p>
            <a:r>
              <a:rPr lang="en-US" sz="2200" b="1" dirty="0"/>
              <a:t>Too Much Randomness?</a:t>
            </a:r>
          </a:p>
          <a:p>
            <a:r>
              <a:rPr lang="en-IN" sz="2200" dirty="0"/>
              <a:t>Spotify recently altered its "shuffle" feature because it was perceived by some to be "too random." Its research suggested that customers might respond better when songs by </a:t>
            </a:r>
            <a:r>
              <a:rPr lang="en-IN" sz="2200" dirty="0" err="1"/>
              <a:t>favorite</a:t>
            </a:r>
            <a:r>
              <a:rPr lang="en-IN" sz="2200" dirty="0"/>
              <a:t> artists were positioned more evenly along a playlist. Do you agree?</a:t>
            </a:r>
          </a:p>
          <a:p>
            <a:pPr indent="339725"/>
            <a:r>
              <a:rPr lang="en-IN" sz="2200" dirty="0"/>
              <a:t>There are other reasons to depart from pure random sampling. For example, you would not expect the same song to be played twice in a row. But should it be allowed to play again with only one intervening song? Two? Three? How much can we "tweak“ a random algorithm without defeating its purpose? Research shows that humans try to perceive patterns even in random sequences. Might "tweaking" give rise to a different type of customer complaint?</a:t>
            </a:r>
          </a:p>
        </p:txBody>
      </p:sp>
      <p:sp>
        <p:nvSpPr>
          <p:cNvPr id="10" name="Slide Number Placeholder 9"/>
          <p:cNvSpPr>
            <a:spLocks noGrp="1"/>
          </p:cNvSpPr>
          <p:nvPr>
            <p:ph type="sldNum" sz="quarter" idx="10"/>
          </p:nvPr>
        </p:nvSpPr>
        <p:spPr/>
        <p:txBody>
          <a:bodyPr/>
          <a:lstStyle/>
          <a:p>
            <a:fld id="{68151E55-6873-49E2-B8D5-2F265E6F1973}" type="slidenum">
              <a:rPr lang="en-US" smtClean="0"/>
              <a:t>59</a:t>
            </a:fld>
            <a:endParaRPr lang="en-US" dirty="0"/>
          </a:p>
        </p:txBody>
      </p:sp>
    </p:spTree>
    <p:extLst>
      <p:ext uri="{BB962C8B-B14F-4D97-AF65-F5344CB8AC3E}">
        <p14:creationId xmlns:p14="http://schemas.microsoft.com/office/powerpoint/2010/main" val="113245053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a:extLst>
              <a:ext uri="{FF2B5EF4-FFF2-40B4-BE49-F238E27FC236}">
                <a16:creationId xmlns:a16="http://schemas.microsoft.com/office/drawing/2014/main" id="{6F92C4D4-C867-4E2F-BF62-33A518B42728}"/>
              </a:ext>
            </a:extLst>
          </p:cNvPr>
          <p:cNvSpPr>
            <a:spLocks noGrp="1"/>
          </p:cNvSpPr>
          <p:nvPr>
            <p:ph type="title"/>
          </p:nvPr>
        </p:nvSpPr>
        <p:spPr/>
        <p:txBody>
          <a:bodyPr/>
          <a:lstStyle/>
          <a:p>
            <a:r>
              <a:rPr lang="en-US" noProof="0" dirty="0"/>
              <a:t>End of Main Content</a:t>
            </a:r>
          </a:p>
        </p:txBody>
      </p:sp>
      <p:sp>
        <p:nvSpPr>
          <p:cNvPr id="4" name="Content Placeholder 3">
            <a:extLst>
              <a:ext uri="{FF2B5EF4-FFF2-40B4-BE49-F238E27FC236}">
                <a16:creationId xmlns:a16="http://schemas.microsoft.com/office/drawing/2014/main" id="{9946A61A-BFE6-4A7C-8D2C-21B89B6A8546}"/>
              </a:ext>
            </a:extLst>
          </p:cNvPr>
          <p:cNvSpPr>
            <a:spLocks noGrp="1"/>
          </p:cNvSpPr>
          <p:nvPr>
            <p:ph sz="quarter" idx="10"/>
          </p:nvPr>
        </p:nvSpPr>
        <p:spPr>
          <a:xfrm>
            <a:off x="218768" y="6537961"/>
            <a:ext cx="8715375" cy="274320"/>
          </a:xfrm>
        </p:spPr>
        <p:txBody>
          <a:bodyPr/>
          <a:lstStyle/>
          <a:p>
            <a:r>
              <a:rPr lang="en-US" sz="1200" dirty="0"/>
              <a:t>© McGraw Hill LLC. All rights reserved. No reproduction or distribution without the prior written consent of McGraw Hill LLC.</a:t>
            </a:r>
            <a:endParaRPr lang="en-US" sz="1200" noProof="0" dirty="0"/>
          </a:p>
        </p:txBody>
      </p:sp>
    </p:spTree>
    <p:extLst>
      <p:ext uri="{BB962C8B-B14F-4D97-AF65-F5344CB8AC3E}">
        <p14:creationId xmlns:p14="http://schemas.microsoft.com/office/powerpoint/2010/main" val="294151218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Accessibility Content: Text Alternatives for Images</a:t>
            </a:r>
            <a:endParaRPr lang="en-IN" dirty="0"/>
          </a:p>
        </p:txBody>
      </p:sp>
      <p:sp>
        <p:nvSpPr>
          <p:cNvPr id="5" name="Slide Number Placeholder 6"/>
          <p:cNvSpPr txBox="1">
            <a:spLocks/>
          </p:cNvSpPr>
          <p:nvPr/>
        </p:nvSpPr>
        <p:spPr>
          <a:xfrm>
            <a:off x="8626412" y="6673531"/>
            <a:ext cx="355840" cy="161396"/>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8151E55-6873-49E2-B8D5-2F265E6F1973}" type="slidenum">
              <a:rPr lang="en-US" sz="800" smtClean="0"/>
              <a:pPr/>
              <a:t>61</a:t>
            </a:fld>
            <a:endParaRPr lang="en-US" sz="800"/>
          </a:p>
        </p:txBody>
      </p:sp>
    </p:spTree>
    <p:extLst>
      <p:ext uri="{BB962C8B-B14F-4D97-AF65-F5344CB8AC3E}">
        <p14:creationId xmlns:p14="http://schemas.microsoft.com/office/powerpoint/2010/main" val="170920979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8610120-ECFB-0945-A9EB-9C94A7D871B6}"/>
              </a:ext>
            </a:extLst>
          </p:cNvPr>
          <p:cNvSpPr>
            <a:spLocks noGrp="1"/>
          </p:cNvSpPr>
          <p:nvPr>
            <p:ph type="title"/>
          </p:nvPr>
        </p:nvSpPr>
        <p:spPr>
          <a:xfrm>
            <a:off x="342900" y="231328"/>
            <a:ext cx="8458200" cy="787847"/>
          </a:xfrm>
        </p:spPr>
        <p:txBody>
          <a:bodyPr>
            <a:noAutofit/>
          </a:bodyPr>
          <a:lstStyle/>
          <a:p>
            <a:r>
              <a:rPr lang="en-IN" sz="2800" dirty="0"/>
              <a:t>Categorical and Numerical Data </a:t>
            </a:r>
            <a:r>
              <a:rPr lang="en-US" sz="2800" dirty="0">
                <a:ea typeface="Nanum Brush Script" panose="020B0503020000020004" pitchFamily="2" charset="-127"/>
              </a:rPr>
              <a:t>– Text Alternative</a:t>
            </a:r>
            <a:endParaRPr lang="en-IN" sz="2800" dirty="0"/>
          </a:p>
        </p:txBody>
      </p:sp>
      <p:sp>
        <p:nvSpPr>
          <p:cNvPr id="6" name="Text Placeholder 5">
            <a:extLst>
              <a:ext uri="{FF2B5EF4-FFF2-40B4-BE49-F238E27FC236}">
                <a16:creationId xmlns:a16="http://schemas.microsoft.com/office/drawing/2014/main" id="{66C95CAA-9499-F031-5306-8B28CFEEFB83}"/>
              </a:ext>
            </a:extLst>
          </p:cNvPr>
          <p:cNvSpPr>
            <a:spLocks noGrp="1"/>
          </p:cNvSpPr>
          <p:nvPr>
            <p:ph type="body" sz="quarter" idx="14"/>
          </p:nvPr>
        </p:nvSpPr>
        <p:spPr/>
        <p:txBody>
          <a:bodyPr/>
          <a:lstStyle/>
          <a:p>
            <a:r>
              <a:rPr lang="en-US" b="0" i="0" u="none" strike="noStrike" dirty="0">
                <a:solidFill>
                  <a:srgbClr val="000000"/>
                </a:solidFill>
                <a:effectLst/>
                <a:hlinkClick r:id="rId2" action="ppaction://hlinksldjump"/>
              </a:rPr>
              <a:t>Return to parent-slide containing images.</a:t>
            </a:r>
            <a:endParaRPr lang="en-IN" dirty="0"/>
          </a:p>
        </p:txBody>
      </p:sp>
      <p:sp>
        <p:nvSpPr>
          <p:cNvPr id="5" name="Content Placeholder 4">
            <a:extLst>
              <a:ext uri="{FF2B5EF4-FFF2-40B4-BE49-F238E27FC236}">
                <a16:creationId xmlns:a16="http://schemas.microsoft.com/office/drawing/2014/main" id="{22D6B328-35B3-2728-3E2B-56E7FC6DD3D6}"/>
              </a:ext>
            </a:extLst>
          </p:cNvPr>
          <p:cNvSpPr>
            <a:spLocks noGrp="1"/>
          </p:cNvSpPr>
          <p:nvPr>
            <p:ph sz="quarter" idx="11"/>
          </p:nvPr>
        </p:nvSpPr>
        <p:spPr/>
        <p:txBody>
          <a:bodyPr>
            <a:normAutofit/>
          </a:bodyPr>
          <a:lstStyle/>
          <a:p>
            <a:r>
              <a:rPr lang="en-US" b="0" i="0" u="none" strike="noStrike" dirty="0">
                <a:solidFill>
                  <a:srgbClr val="000000"/>
                </a:solidFill>
                <a:effectLst/>
              </a:rPr>
              <a:t>There are 2 types of data. They are Categorical or qualitative and Numerical or quantitative data. Categorical data can have a verbal label or be coded. Some of the examples of Verbal label are vehicle types and pay type. The vehicle types include car, truck, and S</a:t>
            </a:r>
            <a:r>
              <a:rPr lang="en-US" sz="100" b="0" i="0" u="none" strike="noStrike" dirty="0">
                <a:solidFill>
                  <a:srgbClr val="000000"/>
                </a:solidFill>
                <a:effectLst/>
              </a:rPr>
              <a:t> </a:t>
            </a:r>
            <a:r>
              <a:rPr lang="en-US" b="0" i="0" u="none" strike="noStrike" dirty="0">
                <a:solidFill>
                  <a:srgbClr val="000000"/>
                </a:solidFill>
                <a:effectLst/>
              </a:rPr>
              <a:t>U</a:t>
            </a:r>
            <a:r>
              <a:rPr lang="en-US" sz="100" b="0" i="0" u="none" strike="noStrike" dirty="0">
                <a:solidFill>
                  <a:srgbClr val="000000"/>
                </a:solidFill>
                <a:effectLst/>
              </a:rPr>
              <a:t> </a:t>
            </a:r>
            <a:r>
              <a:rPr lang="en-US" b="0" i="0" u="none" strike="noStrike" dirty="0">
                <a:solidFill>
                  <a:srgbClr val="000000"/>
                </a:solidFill>
                <a:effectLst/>
              </a:rPr>
              <a:t>V and the pay type includes hourly and salary. In coded data, the vehicle types are coded as 1, 2, and 3 and the pay types are 0 and 1. Numerical or quantitative data is divided into discrete data and continuous data. Some of the examples of discrete data are broken eggs in a carton 1, 2, 3, … 12 and annual dental visits 0, 1, 2, 3… Some of the examples of the continuous data are patient waiting time 14.27 minutes and customer satisfaction 85.2%. </a:t>
            </a:r>
            <a:endParaRPr lang="en-IN" dirty="0"/>
          </a:p>
        </p:txBody>
      </p:sp>
      <p:sp>
        <p:nvSpPr>
          <p:cNvPr id="7" name="Text Placeholder 6">
            <a:extLst>
              <a:ext uri="{FF2B5EF4-FFF2-40B4-BE49-F238E27FC236}">
                <a16:creationId xmlns:a16="http://schemas.microsoft.com/office/drawing/2014/main" id="{36928B17-6F4F-2D37-250B-00D1D9B85FE1}"/>
              </a:ext>
            </a:extLst>
          </p:cNvPr>
          <p:cNvSpPr>
            <a:spLocks noGrp="1"/>
          </p:cNvSpPr>
          <p:nvPr>
            <p:ph type="body" sz="quarter" idx="15"/>
          </p:nvPr>
        </p:nvSpPr>
        <p:spPr/>
        <p:txBody>
          <a:bodyPr/>
          <a:lstStyle/>
          <a:p>
            <a:pPr algn="ctr"/>
            <a:r>
              <a:rPr lang="en-US" b="0" i="0" u="none" strike="noStrike" dirty="0">
                <a:solidFill>
                  <a:srgbClr val="000000"/>
                </a:solidFill>
                <a:effectLst/>
                <a:hlinkClick r:id="rId2" action="ppaction://hlinksldjump"/>
              </a:rPr>
              <a:t>Return to parent-slide containing images.</a:t>
            </a:r>
            <a:endParaRPr lang="en-IN" dirty="0"/>
          </a:p>
        </p:txBody>
      </p:sp>
      <p:sp>
        <p:nvSpPr>
          <p:cNvPr id="2" name="Slide Number Placeholder 6">
            <a:extLst>
              <a:ext uri="{FF2B5EF4-FFF2-40B4-BE49-F238E27FC236}">
                <a16:creationId xmlns:a16="http://schemas.microsoft.com/office/drawing/2014/main" id="{797C543B-E54A-F5A2-A5F0-F932E43F18BE}"/>
              </a:ext>
            </a:extLst>
          </p:cNvPr>
          <p:cNvSpPr txBox="1">
            <a:spLocks/>
          </p:cNvSpPr>
          <p:nvPr/>
        </p:nvSpPr>
        <p:spPr>
          <a:xfrm>
            <a:off x="8626412" y="6673531"/>
            <a:ext cx="355840" cy="161396"/>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8151E55-6873-49E2-B8D5-2F265E6F1973}" type="slidenum">
              <a:rPr lang="en-US" sz="800" smtClean="0"/>
              <a:pPr/>
              <a:t>62</a:t>
            </a:fld>
            <a:endParaRPr lang="en-US" sz="800"/>
          </a:p>
        </p:txBody>
      </p:sp>
    </p:spTree>
    <p:extLst>
      <p:ext uri="{BB962C8B-B14F-4D97-AF65-F5344CB8AC3E}">
        <p14:creationId xmlns:p14="http://schemas.microsoft.com/office/powerpoint/2010/main" val="132883571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8610120-ECFB-0945-A9EB-9C94A7D871B6}"/>
              </a:ext>
            </a:extLst>
          </p:cNvPr>
          <p:cNvSpPr>
            <a:spLocks noGrp="1"/>
          </p:cNvSpPr>
          <p:nvPr>
            <p:ph type="title"/>
          </p:nvPr>
        </p:nvSpPr>
        <p:spPr/>
        <p:txBody>
          <a:bodyPr>
            <a:normAutofit/>
          </a:bodyPr>
          <a:lstStyle/>
          <a:p>
            <a:r>
              <a:rPr lang="en-IN" sz="2800" dirty="0"/>
              <a:t>Cross-Sectional Data </a:t>
            </a:r>
            <a:r>
              <a:rPr lang="en-IN" sz="1000" b="0" dirty="0"/>
              <a:t>2</a:t>
            </a:r>
            <a:r>
              <a:rPr lang="en-IN" sz="2800" b="0" dirty="0"/>
              <a:t> </a:t>
            </a:r>
            <a:r>
              <a:rPr lang="en-US" sz="2800" dirty="0">
                <a:ea typeface="Nanum Brush Script" panose="020B0503020000020004" pitchFamily="2" charset="-127"/>
              </a:rPr>
              <a:t>– Text Alternative</a:t>
            </a:r>
            <a:endParaRPr lang="en-IN" sz="2800" dirty="0"/>
          </a:p>
        </p:txBody>
      </p:sp>
      <p:sp>
        <p:nvSpPr>
          <p:cNvPr id="6" name="Text Placeholder 5">
            <a:extLst>
              <a:ext uri="{FF2B5EF4-FFF2-40B4-BE49-F238E27FC236}">
                <a16:creationId xmlns:a16="http://schemas.microsoft.com/office/drawing/2014/main" id="{66C95CAA-9499-F031-5306-8B28CFEEFB83}"/>
              </a:ext>
            </a:extLst>
          </p:cNvPr>
          <p:cNvSpPr>
            <a:spLocks noGrp="1"/>
          </p:cNvSpPr>
          <p:nvPr>
            <p:ph type="body" sz="quarter" idx="14"/>
          </p:nvPr>
        </p:nvSpPr>
        <p:spPr/>
        <p:txBody>
          <a:bodyPr/>
          <a:lstStyle/>
          <a:p>
            <a:r>
              <a:rPr lang="en-US" b="0" i="0" u="none" strike="noStrike" dirty="0">
                <a:solidFill>
                  <a:srgbClr val="000000"/>
                </a:solidFill>
                <a:effectLst/>
                <a:hlinkClick r:id="rId2" action="ppaction://hlinksldjump"/>
              </a:rPr>
              <a:t>Return to parent-slide containing images.</a:t>
            </a:r>
            <a:endParaRPr lang="en-IN" dirty="0"/>
          </a:p>
        </p:txBody>
      </p:sp>
      <p:sp>
        <p:nvSpPr>
          <p:cNvPr id="5" name="Content Placeholder 4">
            <a:extLst>
              <a:ext uri="{FF2B5EF4-FFF2-40B4-BE49-F238E27FC236}">
                <a16:creationId xmlns:a16="http://schemas.microsoft.com/office/drawing/2014/main" id="{22D6B328-35B3-2728-3E2B-56E7FC6DD3D6}"/>
              </a:ext>
            </a:extLst>
          </p:cNvPr>
          <p:cNvSpPr>
            <a:spLocks noGrp="1"/>
          </p:cNvSpPr>
          <p:nvPr>
            <p:ph sz="quarter" idx="11"/>
          </p:nvPr>
        </p:nvSpPr>
        <p:spPr>
          <a:xfrm>
            <a:off x="280908" y="1371601"/>
            <a:ext cx="8801100" cy="4876800"/>
          </a:xfrm>
        </p:spPr>
        <p:txBody>
          <a:bodyPr>
            <a:noAutofit/>
          </a:bodyPr>
          <a:lstStyle/>
          <a:p>
            <a:r>
              <a:rPr lang="en-US" sz="1800" b="0" i="0" u="none" strike="noStrike" dirty="0">
                <a:solidFill>
                  <a:srgbClr val="000000"/>
                </a:solidFill>
                <a:effectLst/>
              </a:rPr>
              <a:t>Time series data, </a:t>
            </a:r>
            <a:r>
              <a:rPr lang="en-US" sz="1800" b="0" i="1" u="none" strike="noStrike" dirty="0">
                <a:solidFill>
                  <a:srgbClr val="000000"/>
                </a:solidFill>
                <a:effectLst/>
              </a:rPr>
              <a:t>n</a:t>
            </a:r>
            <a:r>
              <a:rPr lang="en-US" sz="1800" b="0" i="0" u="none" strike="noStrike" dirty="0">
                <a:solidFill>
                  <a:srgbClr val="000000"/>
                </a:solidFill>
                <a:effectLst/>
              </a:rPr>
              <a:t> = 24 years. Number of U.S. consumer Bankruptcies, 19</a:t>
            </a:r>
            <a:r>
              <a:rPr lang="en-US" sz="100" b="0" i="0" u="none" strike="noStrike" dirty="0">
                <a:solidFill>
                  <a:srgbClr val="000000"/>
                </a:solidFill>
                <a:effectLst/>
              </a:rPr>
              <a:t> </a:t>
            </a:r>
            <a:r>
              <a:rPr lang="en-US" sz="1800" b="0" i="0" u="none" strike="noStrike" dirty="0">
                <a:solidFill>
                  <a:srgbClr val="000000"/>
                </a:solidFill>
                <a:effectLst/>
              </a:rPr>
              <a:t>95 to 2018. The graph plots Business versus years. The horizontal axis ranges from 19</a:t>
            </a:r>
            <a:r>
              <a:rPr lang="en-US" sz="100" b="0" i="0" u="none" strike="noStrike" dirty="0">
                <a:solidFill>
                  <a:srgbClr val="000000"/>
                </a:solidFill>
                <a:effectLst/>
              </a:rPr>
              <a:t> </a:t>
            </a:r>
            <a:r>
              <a:rPr lang="en-US" sz="1800" b="0" i="0" u="none" strike="noStrike" dirty="0">
                <a:solidFill>
                  <a:srgbClr val="000000"/>
                </a:solidFill>
                <a:effectLst/>
              </a:rPr>
              <a:t>95 to 2015 in increments of 5. The vertical axis is labeled Business. It ranges from 0 to 2,500,000 in increments of 500,000. The curve begins at (19</a:t>
            </a:r>
            <a:r>
              <a:rPr lang="en-US" sz="100" b="0" i="0" u="none" strike="noStrike" dirty="0">
                <a:solidFill>
                  <a:srgbClr val="000000"/>
                </a:solidFill>
                <a:effectLst/>
              </a:rPr>
              <a:t> </a:t>
            </a:r>
            <a:r>
              <a:rPr lang="en-US" sz="1800" b="0" i="0" u="none" strike="noStrike" dirty="0">
                <a:solidFill>
                  <a:srgbClr val="000000"/>
                </a:solidFill>
                <a:effectLst/>
              </a:rPr>
              <a:t>95, 900,000), passes through (19</a:t>
            </a:r>
            <a:r>
              <a:rPr lang="en-US" sz="100" b="0" i="0" u="none" strike="noStrike" dirty="0">
                <a:solidFill>
                  <a:srgbClr val="000000"/>
                </a:solidFill>
                <a:effectLst/>
              </a:rPr>
              <a:t> </a:t>
            </a:r>
            <a:r>
              <a:rPr lang="en-US" sz="1800" b="0" i="0" u="none" strike="noStrike" dirty="0">
                <a:solidFill>
                  <a:srgbClr val="000000"/>
                </a:solidFill>
                <a:effectLst/>
              </a:rPr>
              <a:t>96, 1,100,000), (19</a:t>
            </a:r>
            <a:r>
              <a:rPr lang="en-US" sz="100" b="0" i="0" u="none" strike="noStrike" dirty="0">
                <a:solidFill>
                  <a:srgbClr val="000000"/>
                </a:solidFill>
                <a:effectLst/>
              </a:rPr>
              <a:t> </a:t>
            </a:r>
            <a:r>
              <a:rPr lang="en-US" sz="1800" b="0" i="0" u="none" strike="noStrike" dirty="0">
                <a:solidFill>
                  <a:srgbClr val="000000"/>
                </a:solidFill>
                <a:effectLst/>
              </a:rPr>
              <a:t>98, 1,000,000), (2000, 1,200,000), (2002, 1,500,000), (2003, 1,100,000), (2004, 1,500,000), (2005, 2,100,000), (2006, 500,000), (2010, 1,600,000), (2012, 1,000,000), (2015, 900,000), and ends at (2020, 700,000). All values are estimated. Cross-sectional data, </a:t>
            </a:r>
            <a:r>
              <a:rPr lang="en-US" sz="1800" b="0" i="1" u="none" strike="noStrike" dirty="0">
                <a:solidFill>
                  <a:srgbClr val="000000"/>
                </a:solidFill>
                <a:effectLst/>
              </a:rPr>
              <a:t>n</a:t>
            </a:r>
            <a:r>
              <a:rPr lang="en-US" sz="1800" b="0" i="0" u="none" strike="noStrike" dirty="0">
                <a:solidFill>
                  <a:srgbClr val="000000"/>
                </a:solidFill>
                <a:effectLst/>
              </a:rPr>
              <a:t> = 50 states. The U.S. Consumer Bankruptcies per capita in 2018. The graph plots the Number of states versus Bankruptcies per 1000 population. The horizontal axis is labeled Bankruptcies per 1000 population. It ranges from 0 to 6 in increments of 1. The vertical axis is labeled Number of States. It ranges from 0 to 20 in increments of 5. The data is as follows. 0 to 1: 3. 1 to 2: 19. 2 to 3: 11. 3 to 4: 13. 4 to 5: 2. 5 to 6: 2. All values are estimated.</a:t>
            </a:r>
            <a:r>
              <a:rPr lang="en-US" sz="1800" dirty="0"/>
              <a:t> </a:t>
            </a:r>
            <a:endParaRPr lang="en-IN" sz="1800" dirty="0"/>
          </a:p>
        </p:txBody>
      </p:sp>
      <p:sp>
        <p:nvSpPr>
          <p:cNvPr id="7" name="Text Placeholder 6">
            <a:extLst>
              <a:ext uri="{FF2B5EF4-FFF2-40B4-BE49-F238E27FC236}">
                <a16:creationId xmlns:a16="http://schemas.microsoft.com/office/drawing/2014/main" id="{36928B17-6F4F-2D37-250B-00D1D9B85FE1}"/>
              </a:ext>
            </a:extLst>
          </p:cNvPr>
          <p:cNvSpPr>
            <a:spLocks noGrp="1"/>
          </p:cNvSpPr>
          <p:nvPr>
            <p:ph type="body" sz="quarter" idx="15"/>
          </p:nvPr>
        </p:nvSpPr>
        <p:spPr/>
        <p:txBody>
          <a:bodyPr/>
          <a:lstStyle/>
          <a:p>
            <a:pPr algn="ctr"/>
            <a:r>
              <a:rPr lang="en-US" b="0" i="0" u="none" strike="noStrike" dirty="0">
                <a:solidFill>
                  <a:srgbClr val="000000"/>
                </a:solidFill>
                <a:effectLst/>
                <a:hlinkClick r:id="rId2" action="ppaction://hlinksldjump"/>
              </a:rPr>
              <a:t>Return to parent-slide containing images.</a:t>
            </a:r>
            <a:endParaRPr lang="en-IN" dirty="0"/>
          </a:p>
        </p:txBody>
      </p:sp>
      <p:sp>
        <p:nvSpPr>
          <p:cNvPr id="2" name="Slide Number Placeholder 6">
            <a:extLst>
              <a:ext uri="{FF2B5EF4-FFF2-40B4-BE49-F238E27FC236}">
                <a16:creationId xmlns:a16="http://schemas.microsoft.com/office/drawing/2014/main" id="{9063F103-AE52-0320-6AA1-A3F99A80DC0E}"/>
              </a:ext>
            </a:extLst>
          </p:cNvPr>
          <p:cNvSpPr txBox="1">
            <a:spLocks/>
          </p:cNvSpPr>
          <p:nvPr/>
        </p:nvSpPr>
        <p:spPr>
          <a:xfrm>
            <a:off x="8626412" y="6673531"/>
            <a:ext cx="355840" cy="161396"/>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8151E55-6873-49E2-B8D5-2F265E6F1973}" type="slidenum">
              <a:rPr lang="en-US" sz="800" smtClean="0"/>
              <a:pPr/>
              <a:t>63</a:t>
            </a:fld>
            <a:endParaRPr lang="en-US" sz="800"/>
          </a:p>
        </p:txBody>
      </p:sp>
    </p:spTree>
    <p:extLst>
      <p:ext uri="{BB962C8B-B14F-4D97-AF65-F5344CB8AC3E}">
        <p14:creationId xmlns:p14="http://schemas.microsoft.com/office/powerpoint/2010/main" val="391627147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8610120-ECFB-0945-A9EB-9C94A7D871B6}"/>
              </a:ext>
            </a:extLst>
          </p:cNvPr>
          <p:cNvSpPr>
            <a:spLocks noGrp="1"/>
          </p:cNvSpPr>
          <p:nvPr>
            <p:ph type="title"/>
          </p:nvPr>
        </p:nvSpPr>
        <p:spPr/>
        <p:txBody>
          <a:bodyPr>
            <a:normAutofit/>
          </a:bodyPr>
          <a:lstStyle/>
          <a:p>
            <a:r>
              <a:rPr lang="en-IN" sz="2800" dirty="0"/>
              <a:t>Levels of Measurement </a:t>
            </a:r>
            <a:r>
              <a:rPr lang="en-IN" sz="1000" b="0" dirty="0"/>
              <a:t>1</a:t>
            </a:r>
            <a:r>
              <a:rPr lang="en-IN" sz="2800" b="0" dirty="0"/>
              <a:t> </a:t>
            </a:r>
            <a:r>
              <a:rPr lang="en-US" sz="2800" dirty="0">
                <a:ea typeface="Nanum Brush Script" panose="020B0503020000020004" pitchFamily="2" charset="-127"/>
              </a:rPr>
              <a:t>– Text Alternative</a:t>
            </a:r>
            <a:endParaRPr lang="en-IN" sz="2800" dirty="0"/>
          </a:p>
        </p:txBody>
      </p:sp>
      <p:sp>
        <p:nvSpPr>
          <p:cNvPr id="6" name="Text Placeholder 5">
            <a:extLst>
              <a:ext uri="{FF2B5EF4-FFF2-40B4-BE49-F238E27FC236}">
                <a16:creationId xmlns:a16="http://schemas.microsoft.com/office/drawing/2014/main" id="{66C95CAA-9499-F031-5306-8B28CFEEFB83}"/>
              </a:ext>
            </a:extLst>
          </p:cNvPr>
          <p:cNvSpPr>
            <a:spLocks noGrp="1"/>
          </p:cNvSpPr>
          <p:nvPr>
            <p:ph type="body" sz="quarter" idx="14"/>
          </p:nvPr>
        </p:nvSpPr>
        <p:spPr/>
        <p:txBody>
          <a:bodyPr/>
          <a:lstStyle/>
          <a:p>
            <a:r>
              <a:rPr lang="en-US" b="0" i="0" u="none" strike="noStrike" dirty="0">
                <a:solidFill>
                  <a:srgbClr val="000000"/>
                </a:solidFill>
                <a:effectLst/>
                <a:hlinkClick r:id="rId2" action="ppaction://hlinksldjump"/>
              </a:rPr>
              <a:t>Return to parent-slide containing images.</a:t>
            </a:r>
            <a:endParaRPr lang="en-IN" dirty="0"/>
          </a:p>
        </p:txBody>
      </p:sp>
      <p:sp>
        <p:nvSpPr>
          <p:cNvPr id="5" name="Content Placeholder 4">
            <a:extLst>
              <a:ext uri="{FF2B5EF4-FFF2-40B4-BE49-F238E27FC236}">
                <a16:creationId xmlns:a16="http://schemas.microsoft.com/office/drawing/2014/main" id="{22D6B328-35B3-2728-3E2B-56E7FC6DD3D6}"/>
              </a:ext>
            </a:extLst>
          </p:cNvPr>
          <p:cNvSpPr>
            <a:spLocks noGrp="1"/>
          </p:cNvSpPr>
          <p:nvPr>
            <p:ph sz="quarter" idx="11"/>
          </p:nvPr>
        </p:nvSpPr>
        <p:spPr/>
        <p:txBody>
          <a:bodyPr vert="horz" lIns="91440" tIns="45720" rIns="91440" bIns="45720" rtlCol="0">
            <a:noAutofit/>
          </a:bodyPr>
          <a:lstStyle/>
          <a:p>
            <a:r>
              <a:rPr lang="en-US" sz="1800" dirty="0">
                <a:solidFill>
                  <a:srgbClr val="000000"/>
                </a:solidFill>
              </a:rPr>
              <a:t>Step 1. Natural data ordering? If yes, go to step 2 else go to step 1a. Step 1a. Nominal data. Qualitative data only counting allowed, frequency of occurrence. Example: Forms of business for federal tax purposes. Sole proprietor 1040 C. Corporation 1120. Partnership 1065. S-Corporation 1120 S. Trust 1041. Nonprofit organization 990. Step 2. Are scale distances meaningful? If yes, go to step 3, else go to step 2a. Step 2a. Counting and order statistics allowed, rank order. Example: Moody’s bond ratings. Uppercase A lowercase a lowercase a. Uppercase A lowercase a. Uppercase A. Uppercase B lowercase a lowercase a. B a. Uppercase C lowercase a lowercase a- Uppercase C. Step 3. Meaningful zero point? If yes, go to step 3a else go to step 3b. Step 3a. Ratio data. Any math operations allowed. For example, mean, standard deviation, ratios, logs. Example: Annual dental visits 0, 1, 2, 3… Step 3b. Interval data. Sums and differences allowed. For example, mean, and standard deviation. Example: Likert scale. Rate your dorm food. Very poor 1 2 3 4 5 Very good.</a:t>
            </a:r>
            <a:endParaRPr lang="en-IN" sz="1800" dirty="0">
              <a:solidFill>
                <a:srgbClr val="000000"/>
              </a:solidFill>
            </a:endParaRPr>
          </a:p>
        </p:txBody>
      </p:sp>
      <p:sp>
        <p:nvSpPr>
          <p:cNvPr id="7" name="Text Placeholder 6">
            <a:extLst>
              <a:ext uri="{FF2B5EF4-FFF2-40B4-BE49-F238E27FC236}">
                <a16:creationId xmlns:a16="http://schemas.microsoft.com/office/drawing/2014/main" id="{36928B17-6F4F-2D37-250B-00D1D9B85FE1}"/>
              </a:ext>
            </a:extLst>
          </p:cNvPr>
          <p:cNvSpPr>
            <a:spLocks noGrp="1"/>
          </p:cNvSpPr>
          <p:nvPr>
            <p:ph type="body" sz="quarter" idx="15"/>
          </p:nvPr>
        </p:nvSpPr>
        <p:spPr/>
        <p:txBody>
          <a:bodyPr/>
          <a:lstStyle/>
          <a:p>
            <a:pPr algn="ctr"/>
            <a:r>
              <a:rPr lang="en-US" b="0" i="0" u="none" strike="noStrike" dirty="0">
                <a:solidFill>
                  <a:srgbClr val="000000"/>
                </a:solidFill>
                <a:effectLst/>
                <a:hlinkClick r:id="rId2" action="ppaction://hlinksldjump"/>
              </a:rPr>
              <a:t>Return to parent-slide containing images.</a:t>
            </a:r>
            <a:endParaRPr lang="en-IN" dirty="0"/>
          </a:p>
        </p:txBody>
      </p:sp>
      <p:sp>
        <p:nvSpPr>
          <p:cNvPr id="2" name="Slide Number Placeholder 6">
            <a:extLst>
              <a:ext uri="{FF2B5EF4-FFF2-40B4-BE49-F238E27FC236}">
                <a16:creationId xmlns:a16="http://schemas.microsoft.com/office/drawing/2014/main" id="{7F323C45-25ED-38CF-0753-3C7A9A9F9616}"/>
              </a:ext>
            </a:extLst>
          </p:cNvPr>
          <p:cNvSpPr txBox="1">
            <a:spLocks/>
          </p:cNvSpPr>
          <p:nvPr/>
        </p:nvSpPr>
        <p:spPr>
          <a:xfrm>
            <a:off x="8626412" y="6673531"/>
            <a:ext cx="355840" cy="161396"/>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8151E55-6873-49E2-B8D5-2F265E6F1973}" type="slidenum">
              <a:rPr lang="en-US" sz="800" smtClean="0"/>
              <a:pPr/>
              <a:t>64</a:t>
            </a:fld>
            <a:endParaRPr lang="en-US" sz="800"/>
          </a:p>
        </p:txBody>
      </p:sp>
    </p:spTree>
    <p:extLst>
      <p:ext uri="{BB962C8B-B14F-4D97-AF65-F5344CB8AC3E}">
        <p14:creationId xmlns:p14="http://schemas.microsoft.com/office/powerpoint/2010/main" val="361190737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8610120-ECFB-0945-A9EB-9C94A7D871B6}"/>
              </a:ext>
            </a:extLst>
          </p:cNvPr>
          <p:cNvSpPr>
            <a:spLocks noGrp="1"/>
          </p:cNvSpPr>
          <p:nvPr>
            <p:ph type="title"/>
          </p:nvPr>
        </p:nvSpPr>
        <p:spPr/>
        <p:txBody>
          <a:bodyPr>
            <a:normAutofit/>
          </a:bodyPr>
          <a:lstStyle/>
          <a:p>
            <a:r>
              <a:rPr lang="en-IN" sz="2800" dirty="0"/>
              <a:t>Likert Scales </a:t>
            </a:r>
            <a:r>
              <a:rPr lang="en-IN" sz="1000" b="0" dirty="0"/>
              <a:t>1</a:t>
            </a:r>
            <a:r>
              <a:rPr lang="en-IN" sz="2800" b="0" dirty="0"/>
              <a:t> </a:t>
            </a:r>
            <a:r>
              <a:rPr lang="en-US" sz="2800" dirty="0">
                <a:ea typeface="Nanum Brush Script" panose="020B0503020000020004" pitchFamily="2" charset="-127"/>
              </a:rPr>
              <a:t>– Text Alternative</a:t>
            </a:r>
            <a:endParaRPr lang="en-IN" sz="2800" dirty="0"/>
          </a:p>
        </p:txBody>
      </p:sp>
      <p:sp>
        <p:nvSpPr>
          <p:cNvPr id="6" name="Text Placeholder 5">
            <a:extLst>
              <a:ext uri="{FF2B5EF4-FFF2-40B4-BE49-F238E27FC236}">
                <a16:creationId xmlns:a16="http://schemas.microsoft.com/office/drawing/2014/main" id="{66C95CAA-9499-F031-5306-8B28CFEEFB83}"/>
              </a:ext>
            </a:extLst>
          </p:cNvPr>
          <p:cNvSpPr>
            <a:spLocks noGrp="1"/>
          </p:cNvSpPr>
          <p:nvPr>
            <p:ph type="body" sz="quarter" idx="14"/>
          </p:nvPr>
        </p:nvSpPr>
        <p:spPr/>
        <p:txBody>
          <a:bodyPr/>
          <a:lstStyle/>
          <a:p>
            <a:r>
              <a:rPr lang="en-US" b="0" i="0" u="none" strike="noStrike" dirty="0">
                <a:solidFill>
                  <a:srgbClr val="000000"/>
                </a:solidFill>
                <a:effectLst/>
                <a:hlinkClick r:id="rId2" action="ppaction://hlinksldjump"/>
              </a:rPr>
              <a:t>Return to parent-slide containing images.</a:t>
            </a:r>
            <a:endParaRPr lang="en-IN" dirty="0"/>
          </a:p>
        </p:txBody>
      </p:sp>
      <p:sp>
        <p:nvSpPr>
          <p:cNvPr id="5" name="Content Placeholder 4">
            <a:extLst>
              <a:ext uri="{FF2B5EF4-FFF2-40B4-BE49-F238E27FC236}">
                <a16:creationId xmlns:a16="http://schemas.microsoft.com/office/drawing/2014/main" id="{22D6B328-35B3-2728-3E2B-56E7FC6DD3D6}"/>
              </a:ext>
            </a:extLst>
          </p:cNvPr>
          <p:cNvSpPr>
            <a:spLocks noGrp="1"/>
          </p:cNvSpPr>
          <p:nvPr>
            <p:ph sz="quarter" idx="11"/>
          </p:nvPr>
        </p:nvSpPr>
        <p:spPr>
          <a:xfrm>
            <a:off x="342900" y="1371601"/>
            <a:ext cx="8458200" cy="4831236"/>
          </a:xfrm>
        </p:spPr>
        <p:txBody>
          <a:bodyPr vert="horz" lIns="91440" tIns="45720" rIns="91440" bIns="45720" rtlCol="0">
            <a:normAutofit/>
          </a:bodyPr>
          <a:lstStyle/>
          <a:p>
            <a:r>
              <a:rPr lang="en-US" sz="2400" b="1" dirty="0">
                <a:solidFill>
                  <a:srgbClr val="000000"/>
                </a:solidFill>
              </a:rPr>
              <a:t>For the first image: </a:t>
            </a:r>
            <a:r>
              <a:rPr lang="en-US" sz="2400" dirty="0">
                <a:solidFill>
                  <a:srgbClr val="000000"/>
                </a:solidFill>
              </a:rPr>
              <a:t>College-bound high school students should be required to study a foreign language, check one. Below this, there is a continuum from strongly agree to strongly disagree.</a:t>
            </a:r>
            <a:endParaRPr lang="en-IN" sz="2400" dirty="0">
              <a:solidFill>
                <a:srgbClr val="000000"/>
              </a:solidFill>
            </a:endParaRPr>
          </a:p>
          <a:p>
            <a:r>
              <a:rPr lang="en-IN" sz="2400" b="1" dirty="0">
                <a:solidFill>
                  <a:srgbClr val="000000"/>
                </a:solidFill>
              </a:rPr>
              <a:t>For the second image: </a:t>
            </a:r>
            <a:r>
              <a:rPr lang="en-US" sz="2400" dirty="0">
                <a:solidFill>
                  <a:srgbClr val="000000"/>
                </a:solidFill>
              </a:rPr>
              <a:t>Likert, using discrete scale points: Very Poor 1 2 3 4 5 6 7 Very Good. Likert, using a slider. A slider is from Very Poor to Very Good. </a:t>
            </a:r>
          </a:p>
        </p:txBody>
      </p:sp>
      <p:sp>
        <p:nvSpPr>
          <p:cNvPr id="7" name="Text Placeholder 6">
            <a:extLst>
              <a:ext uri="{FF2B5EF4-FFF2-40B4-BE49-F238E27FC236}">
                <a16:creationId xmlns:a16="http://schemas.microsoft.com/office/drawing/2014/main" id="{36928B17-6F4F-2D37-250B-00D1D9B85FE1}"/>
              </a:ext>
            </a:extLst>
          </p:cNvPr>
          <p:cNvSpPr>
            <a:spLocks noGrp="1"/>
          </p:cNvSpPr>
          <p:nvPr>
            <p:ph type="body" sz="quarter" idx="15"/>
          </p:nvPr>
        </p:nvSpPr>
        <p:spPr/>
        <p:txBody>
          <a:bodyPr/>
          <a:lstStyle/>
          <a:p>
            <a:pPr algn="ctr"/>
            <a:r>
              <a:rPr lang="en-US" b="0" i="0" u="none" strike="noStrike" dirty="0">
                <a:solidFill>
                  <a:srgbClr val="000000"/>
                </a:solidFill>
                <a:effectLst/>
                <a:hlinkClick r:id="rId2" action="ppaction://hlinksldjump"/>
              </a:rPr>
              <a:t>Return to parent-slide containing images.</a:t>
            </a:r>
            <a:endParaRPr lang="en-IN" dirty="0"/>
          </a:p>
        </p:txBody>
      </p:sp>
      <p:sp>
        <p:nvSpPr>
          <p:cNvPr id="2" name="Slide Number Placeholder 6">
            <a:extLst>
              <a:ext uri="{FF2B5EF4-FFF2-40B4-BE49-F238E27FC236}">
                <a16:creationId xmlns:a16="http://schemas.microsoft.com/office/drawing/2014/main" id="{F78366E5-F4E5-2CDD-CC9A-3AE2FFEB1832}"/>
              </a:ext>
            </a:extLst>
          </p:cNvPr>
          <p:cNvSpPr txBox="1">
            <a:spLocks/>
          </p:cNvSpPr>
          <p:nvPr/>
        </p:nvSpPr>
        <p:spPr>
          <a:xfrm>
            <a:off x="8626412" y="6673531"/>
            <a:ext cx="355840" cy="161396"/>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8151E55-6873-49E2-B8D5-2F265E6F1973}" type="slidenum">
              <a:rPr lang="en-US" sz="800" smtClean="0"/>
              <a:pPr/>
              <a:t>65</a:t>
            </a:fld>
            <a:endParaRPr lang="en-US" sz="800"/>
          </a:p>
        </p:txBody>
      </p:sp>
    </p:spTree>
    <p:extLst>
      <p:ext uri="{BB962C8B-B14F-4D97-AF65-F5344CB8AC3E}">
        <p14:creationId xmlns:p14="http://schemas.microsoft.com/office/powerpoint/2010/main" val="345900481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8610120-ECFB-0945-A9EB-9C94A7D871B6}"/>
              </a:ext>
            </a:extLst>
          </p:cNvPr>
          <p:cNvSpPr>
            <a:spLocks noGrp="1"/>
          </p:cNvSpPr>
          <p:nvPr>
            <p:ph type="title"/>
          </p:nvPr>
        </p:nvSpPr>
        <p:spPr/>
        <p:txBody>
          <a:bodyPr>
            <a:normAutofit/>
          </a:bodyPr>
          <a:lstStyle/>
          <a:p>
            <a:r>
              <a:rPr lang="en-IN" sz="2800" dirty="0"/>
              <a:t>Sampling Concepts </a:t>
            </a:r>
            <a:r>
              <a:rPr lang="en-IN" sz="1000" b="0" dirty="0"/>
              <a:t>4</a:t>
            </a:r>
            <a:r>
              <a:rPr lang="en-IN" sz="2800" b="0" dirty="0"/>
              <a:t> </a:t>
            </a:r>
            <a:r>
              <a:rPr lang="en-US" sz="2800" dirty="0">
                <a:ea typeface="Nanum Brush Script" panose="020B0503020000020004" pitchFamily="2" charset="-127"/>
              </a:rPr>
              <a:t>– Text Alternative</a:t>
            </a:r>
            <a:endParaRPr lang="en-IN" sz="2800" dirty="0"/>
          </a:p>
        </p:txBody>
      </p:sp>
      <p:sp>
        <p:nvSpPr>
          <p:cNvPr id="6" name="Text Placeholder 5">
            <a:extLst>
              <a:ext uri="{FF2B5EF4-FFF2-40B4-BE49-F238E27FC236}">
                <a16:creationId xmlns:a16="http://schemas.microsoft.com/office/drawing/2014/main" id="{66C95CAA-9499-F031-5306-8B28CFEEFB83}"/>
              </a:ext>
            </a:extLst>
          </p:cNvPr>
          <p:cNvSpPr>
            <a:spLocks noGrp="1"/>
          </p:cNvSpPr>
          <p:nvPr>
            <p:ph type="body" sz="quarter" idx="14"/>
          </p:nvPr>
        </p:nvSpPr>
        <p:spPr/>
        <p:txBody>
          <a:bodyPr/>
          <a:lstStyle/>
          <a:p>
            <a:r>
              <a:rPr lang="en-US" b="0" i="0" u="none" strike="noStrike" dirty="0">
                <a:solidFill>
                  <a:srgbClr val="000000"/>
                </a:solidFill>
                <a:effectLst/>
                <a:hlinkClick r:id="rId2" action="ppaction://hlinksldjump"/>
              </a:rPr>
              <a:t>Return to parent-slide containing images.</a:t>
            </a:r>
            <a:endParaRPr lang="en-IN" dirty="0"/>
          </a:p>
        </p:txBody>
      </p:sp>
      <p:sp>
        <p:nvSpPr>
          <p:cNvPr id="5" name="Content Placeholder 4">
            <a:extLst>
              <a:ext uri="{FF2B5EF4-FFF2-40B4-BE49-F238E27FC236}">
                <a16:creationId xmlns:a16="http://schemas.microsoft.com/office/drawing/2014/main" id="{22D6B328-35B3-2728-3E2B-56E7FC6DD3D6}"/>
              </a:ext>
            </a:extLst>
          </p:cNvPr>
          <p:cNvSpPr>
            <a:spLocks noGrp="1"/>
          </p:cNvSpPr>
          <p:nvPr>
            <p:ph sz="quarter" idx="11"/>
          </p:nvPr>
        </p:nvSpPr>
        <p:spPr/>
        <p:txBody>
          <a:bodyPr>
            <a:normAutofit/>
          </a:bodyPr>
          <a:lstStyle/>
          <a:p>
            <a:r>
              <a:rPr lang="en-US" sz="2400" b="0" i="0" u="none" strike="noStrike" dirty="0">
                <a:solidFill>
                  <a:srgbClr val="000000"/>
                </a:solidFill>
                <a:effectLst/>
              </a:rPr>
              <a:t>The mean mu and proportion pi of the population are called parameters. The mean </a:t>
            </a:r>
            <a:r>
              <a:rPr lang="en-US" sz="2400" b="0" i="1" u="none" strike="noStrike" dirty="0">
                <a:solidFill>
                  <a:srgbClr val="000000"/>
                </a:solidFill>
                <a:effectLst/>
              </a:rPr>
              <a:t>x</a:t>
            </a:r>
            <a:r>
              <a:rPr lang="en-US" sz="2400" b="0" i="0" u="none" strike="noStrike" dirty="0">
                <a:solidFill>
                  <a:srgbClr val="000000"/>
                </a:solidFill>
                <a:effectLst/>
              </a:rPr>
              <a:t>-bar and proportion p of the sample are called statistics. The population can be infinite in size. The sample from the population of </a:t>
            </a:r>
            <a:r>
              <a:rPr lang="en-US" sz="2400" b="0" i="1" u="none" strike="noStrike" dirty="0">
                <a:solidFill>
                  <a:srgbClr val="000000"/>
                </a:solidFill>
                <a:effectLst/>
              </a:rPr>
              <a:t>N</a:t>
            </a:r>
            <a:r>
              <a:rPr lang="en-US" sz="2400" b="0" i="0" u="none" strike="noStrike" dirty="0">
                <a:solidFill>
                  <a:srgbClr val="000000"/>
                </a:solidFill>
                <a:effectLst/>
              </a:rPr>
              <a:t> items makes inferences about the population.</a:t>
            </a:r>
            <a:r>
              <a:rPr lang="en-US" sz="2400" dirty="0"/>
              <a:t> </a:t>
            </a:r>
            <a:endParaRPr lang="en-IN" sz="2400" dirty="0"/>
          </a:p>
        </p:txBody>
      </p:sp>
      <p:sp>
        <p:nvSpPr>
          <p:cNvPr id="7" name="Text Placeholder 6">
            <a:extLst>
              <a:ext uri="{FF2B5EF4-FFF2-40B4-BE49-F238E27FC236}">
                <a16:creationId xmlns:a16="http://schemas.microsoft.com/office/drawing/2014/main" id="{36928B17-6F4F-2D37-250B-00D1D9B85FE1}"/>
              </a:ext>
            </a:extLst>
          </p:cNvPr>
          <p:cNvSpPr>
            <a:spLocks noGrp="1"/>
          </p:cNvSpPr>
          <p:nvPr>
            <p:ph type="body" sz="quarter" idx="15"/>
          </p:nvPr>
        </p:nvSpPr>
        <p:spPr/>
        <p:txBody>
          <a:bodyPr/>
          <a:lstStyle/>
          <a:p>
            <a:pPr algn="ctr"/>
            <a:r>
              <a:rPr lang="en-US" b="0" i="0" u="none" strike="noStrike" dirty="0">
                <a:solidFill>
                  <a:srgbClr val="000000"/>
                </a:solidFill>
                <a:effectLst/>
                <a:hlinkClick r:id="rId2" action="ppaction://hlinksldjump"/>
              </a:rPr>
              <a:t>Return to parent-slide containing images.</a:t>
            </a:r>
            <a:endParaRPr lang="en-IN" dirty="0"/>
          </a:p>
        </p:txBody>
      </p:sp>
    </p:spTree>
    <p:extLst>
      <p:ext uri="{BB962C8B-B14F-4D97-AF65-F5344CB8AC3E}">
        <p14:creationId xmlns:p14="http://schemas.microsoft.com/office/powerpoint/2010/main" val="1781211084"/>
      </p:ext>
    </p:extLst>
  </p:cSld>
  <p:clrMapOvr>
    <a:masterClrMapping/>
  </p:clrMapOvr>
</p:sld>
</file>

<file path=ppt/theme/theme1.xml><?xml version="1.0" encoding="utf-8"?>
<a:theme xmlns:a="http://schemas.openxmlformats.org/drawingml/2006/main" name="Title Slides Master">
  <a:themeElements>
    <a:clrScheme name="Custom 2">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002060"/>
      </a:hlink>
      <a:folHlink>
        <a:srgbClr val="002060"/>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MHHE_Generic Accessible PPT Template_Editorial_v9_2019.potx" id="{41975DA0-F041-4DB0-8948-AC3BFD0C25BA}" vid="{84F6219E-3D47-41AC-9893-1108D06AA07D}"/>
    </a:ext>
  </a:extLst>
</a:theme>
</file>

<file path=ppt/theme/theme2.xml><?xml version="1.0" encoding="utf-8"?>
<a:theme xmlns:a="http://schemas.openxmlformats.org/drawingml/2006/main" name="MainContentSlideMaster">
  <a:themeElements>
    <a:clrScheme name="Custom 164">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002060"/>
      </a:hlink>
      <a:folHlink>
        <a:srgbClr val="002060"/>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MHHE_Generic Accessible PPT Template_Editorial_v9_2019.potx" id="{41975DA0-F041-4DB0-8948-AC3BFD0C25BA}" vid="{B385948E-CF34-4CE8-9AC7-28DE40FDC656}"/>
    </a:ext>
  </a:extLst>
</a:theme>
</file>

<file path=ppt/theme/theme3.xml><?xml version="1.0" encoding="utf-8"?>
<a:theme xmlns:a="http://schemas.openxmlformats.org/drawingml/2006/main" name="ClosingMaster">
  <a:themeElements>
    <a:clrScheme name="MHE PPT Theme Colors 06 15 18">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625D9C"/>
      </a:hlink>
      <a:folHlink>
        <a:srgbClr val="373A36"/>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MHHE_Generic Accessible PPT Template_Editorial_v9_2019.potx" id="{41975DA0-F041-4DB0-8948-AC3BFD0C25BA}" vid="{FEE61EC3-6634-45B5-BF77-FBC9B835BC79}"/>
    </a:ext>
  </a:extLst>
</a:theme>
</file>

<file path=ppt/theme/theme4.xml><?xml version="1.0" encoding="utf-8"?>
<a:theme xmlns:a="http://schemas.openxmlformats.org/drawingml/2006/main" name="DividerSlideMaster">
  <a:themeElements>
    <a:clrScheme name="MHE PPT Theme Colors 06 15 18">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625D9C"/>
      </a:hlink>
      <a:folHlink>
        <a:srgbClr val="373A36"/>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MHHE_Generic Accessible PPT Template_Editorial_v9_2019.potx" id="{41975DA0-F041-4DB0-8948-AC3BFD0C25BA}" vid="{A15A20A0-BEE6-47A5-BC6B-F87134FBF13C}"/>
    </a:ext>
  </a:extLst>
</a:theme>
</file>

<file path=ppt/theme/theme5.xml><?xml version="1.0" encoding="utf-8"?>
<a:theme xmlns:a="http://schemas.openxmlformats.org/drawingml/2006/main" name="ImageDescriptionAppendixSlideMaster">
  <a:themeElements>
    <a:clrScheme name="Custom 163">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002060"/>
      </a:hlink>
      <a:folHlink>
        <a:srgbClr val="002060"/>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MHHE_Generic Accessible PPT Template_Editorial_v9_2019.potx" id="{41975DA0-F041-4DB0-8948-AC3BFD0C25BA}" vid="{22313DF8-AA3F-4A8D-9652-6DDC53D759ED}"/>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Nickels_UB13e_PPT_Instructor_Ch03</Template>
  <TotalTime>12334</TotalTime>
  <Words>5706</Words>
  <Application>Microsoft Office PowerPoint</Application>
  <PresentationFormat>On-screen Show (4:3)</PresentationFormat>
  <Paragraphs>607</Paragraphs>
  <Slides>66</Slides>
  <Notes>2</Notes>
  <HiddenSlides>6</HiddenSlides>
  <MMClips>0</MMClips>
  <ScaleCrop>false</ScaleCrop>
  <HeadingPairs>
    <vt:vector size="8" baseType="variant">
      <vt:variant>
        <vt:lpstr>Fonts Used</vt:lpstr>
      </vt:variant>
      <vt:variant>
        <vt:i4>4</vt:i4>
      </vt:variant>
      <vt:variant>
        <vt:lpstr>Theme</vt:lpstr>
      </vt:variant>
      <vt:variant>
        <vt:i4>5</vt:i4>
      </vt:variant>
      <vt:variant>
        <vt:lpstr>Embedded OLE Servers</vt:lpstr>
      </vt:variant>
      <vt:variant>
        <vt:i4>1</vt:i4>
      </vt:variant>
      <vt:variant>
        <vt:lpstr>Slide Titles</vt:lpstr>
      </vt:variant>
      <vt:variant>
        <vt:i4>66</vt:i4>
      </vt:variant>
    </vt:vector>
  </HeadingPairs>
  <TitlesOfParts>
    <vt:vector size="76" baseType="lpstr">
      <vt:lpstr>Nanum Brush Script</vt:lpstr>
      <vt:lpstr>Arial</vt:lpstr>
      <vt:lpstr>Calibri</vt:lpstr>
      <vt:lpstr>Wingdings</vt:lpstr>
      <vt:lpstr>Title Slides Master</vt:lpstr>
      <vt:lpstr>MainContentSlideMaster</vt:lpstr>
      <vt:lpstr>ClosingMaster</vt:lpstr>
      <vt:lpstr>DividerSlideMaster</vt:lpstr>
      <vt:lpstr>ImageDescriptionAppendixSlideMaster</vt:lpstr>
      <vt:lpstr>Equation</vt:lpstr>
      <vt:lpstr>Chapter 2</vt:lpstr>
      <vt:lpstr>Chapter Learning Objectives</vt:lpstr>
      <vt:lpstr>Variables and Data 1</vt:lpstr>
      <vt:lpstr>Variables and Data 2</vt:lpstr>
      <vt:lpstr>Variables and Data 3</vt:lpstr>
      <vt:lpstr>Categorical and Numerical Data</vt:lpstr>
      <vt:lpstr>Time Series Data</vt:lpstr>
      <vt:lpstr>Cross-Sectional Data 1</vt:lpstr>
      <vt:lpstr>Cross-Sectional Data 2</vt:lpstr>
      <vt:lpstr>What type of data (categorical, discrete numerical, or continuous numerical) is each of the following</vt:lpstr>
      <vt:lpstr>Which type of data (cross-sectional or time series) is each variable?</vt:lpstr>
      <vt:lpstr>Levels of Measurement 1</vt:lpstr>
      <vt:lpstr>Levels of Measurement 2</vt:lpstr>
      <vt:lpstr>Nominal Measurement</vt:lpstr>
      <vt:lpstr>Ordinal Measurement</vt:lpstr>
      <vt:lpstr>Interval Measurement</vt:lpstr>
      <vt:lpstr>Ratio Measurement</vt:lpstr>
      <vt:lpstr>Likert Scales 1</vt:lpstr>
      <vt:lpstr>Likert Scales 2</vt:lpstr>
      <vt:lpstr>Levels of Measurement</vt:lpstr>
      <vt:lpstr>Sampling Concepts 1</vt:lpstr>
      <vt:lpstr>Sampling Concepts 2</vt:lpstr>
      <vt:lpstr>Sampling Concepts 3</vt:lpstr>
      <vt:lpstr>Sampling Concepts 4</vt:lpstr>
      <vt:lpstr>Sampling Concepts 5</vt:lpstr>
      <vt:lpstr>Sampling Concepts 6</vt:lpstr>
      <vt:lpstr>Sampling Methods</vt:lpstr>
      <vt:lpstr>Simple Random Sample</vt:lpstr>
      <vt:lpstr>With or Without Replacement 1</vt:lpstr>
      <vt:lpstr>With or Without Replacement 2</vt:lpstr>
      <vt:lpstr>Systematic Sampling</vt:lpstr>
      <vt:lpstr>Stratified Sampling</vt:lpstr>
      <vt:lpstr>Cluster Sampling 1</vt:lpstr>
      <vt:lpstr>Cluster Sampling 2</vt:lpstr>
      <vt:lpstr>Non-Random Sampling Methods</vt:lpstr>
      <vt:lpstr>Judgment Sample</vt:lpstr>
      <vt:lpstr>Convenience Sample</vt:lpstr>
      <vt:lpstr>Focus Groups</vt:lpstr>
      <vt:lpstr>Other Data Collection Methods</vt:lpstr>
      <vt:lpstr>Sample Size</vt:lpstr>
      <vt:lpstr>Sources of Error or Bias 1</vt:lpstr>
      <vt:lpstr>Sources of Error or Bias 2</vt:lpstr>
      <vt:lpstr>Data Sources</vt:lpstr>
      <vt:lpstr>Web Data Sources</vt:lpstr>
      <vt:lpstr>Steps of Survey Research</vt:lpstr>
      <vt:lpstr>Questionnaire Design</vt:lpstr>
      <vt:lpstr>Surveys</vt:lpstr>
      <vt:lpstr>Question Wording 1</vt:lpstr>
      <vt:lpstr>Question Wording 2</vt:lpstr>
      <vt:lpstr>Chapter 2: Practice Problems</vt:lpstr>
      <vt:lpstr>Question 2</vt:lpstr>
      <vt:lpstr>Question 5</vt:lpstr>
      <vt:lpstr>Question 9</vt:lpstr>
      <vt:lpstr>Question 15</vt:lpstr>
      <vt:lpstr>Question 19</vt:lpstr>
      <vt:lpstr>Question 24</vt:lpstr>
      <vt:lpstr>Question 26</vt:lpstr>
      <vt:lpstr>Chapter 2: Analytics in Action</vt:lpstr>
      <vt:lpstr>Analytics in Action</vt:lpstr>
      <vt:lpstr>End of Main Content</vt:lpstr>
      <vt:lpstr>Accessibility Content: Text Alternatives for Images</vt:lpstr>
      <vt:lpstr>Categorical and Numerical Data – Text Alternative</vt:lpstr>
      <vt:lpstr>Cross-Sectional Data 2 – Text Alternative</vt:lpstr>
      <vt:lpstr>Levels of Measurement 1 – Text Alternative</vt:lpstr>
      <vt:lpstr>Likert Scales 1 – Text Alternative</vt:lpstr>
      <vt:lpstr>Sampling Concepts 4 – Text Alternative</vt:lpstr>
    </vt:vector>
  </TitlesOfParts>
  <Company>McGraw Hill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2</dc:title>
  <dc:creator/>
  <cp:keywords/>
  <cp:lastModifiedBy>Swift, Xuying</cp:lastModifiedBy>
  <cp:revision>3182</cp:revision>
  <dcterms:created xsi:type="dcterms:W3CDTF">2020-12-08T04:00:13Z</dcterms:created>
  <dcterms:modified xsi:type="dcterms:W3CDTF">2026-08-13T17:34:33Z</dcterms:modified>
</cp:coreProperties>
</file>