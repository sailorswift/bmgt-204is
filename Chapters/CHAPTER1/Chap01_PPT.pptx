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51"/>
  </p:notesMasterIdLst>
  <p:sldIdLst>
    <p:sldId id="1609" r:id="rId6"/>
    <p:sldId id="1611" r:id="rId7"/>
    <p:sldId id="1675" r:id="rId8"/>
    <p:sldId id="1683" r:id="rId9"/>
    <p:sldId id="1733" r:id="rId10"/>
    <p:sldId id="1694" r:id="rId11"/>
    <p:sldId id="1734" r:id="rId12"/>
    <p:sldId id="1735" r:id="rId13"/>
    <p:sldId id="1736" r:id="rId14"/>
    <p:sldId id="1737" r:id="rId15"/>
    <p:sldId id="1738" r:id="rId16"/>
    <p:sldId id="1739" r:id="rId17"/>
    <p:sldId id="1740" r:id="rId18"/>
    <p:sldId id="1741" r:id="rId19"/>
    <p:sldId id="1742" r:id="rId20"/>
    <p:sldId id="1743" r:id="rId21"/>
    <p:sldId id="1692" r:id="rId22"/>
    <p:sldId id="1744" r:id="rId23"/>
    <p:sldId id="1745" r:id="rId24"/>
    <p:sldId id="1746" r:id="rId25"/>
    <p:sldId id="1747" r:id="rId26"/>
    <p:sldId id="1748" r:id="rId27"/>
    <p:sldId id="1749" r:id="rId28"/>
    <p:sldId id="1750" r:id="rId29"/>
    <p:sldId id="1751" r:id="rId30"/>
    <p:sldId id="1752" r:id="rId31"/>
    <p:sldId id="1753" r:id="rId32"/>
    <p:sldId id="1754" r:id="rId33"/>
    <p:sldId id="1755" r:id="rId34"/>
    <p:sldId id="1756" r:id="rId35"/>
    <p:sldId id="1757" r:id="rId36"/>
    <p:sldId id="1758" r:id="rId37"/>
    <p:sldId id="1670" r:id="rId38"/>
    <p:sldId id="1759" r:id="rId39"/>
    <p:sldId id="1760" r:id="rId40"/>
    <p:sldId id="1761" r:id="rId41"/>
    <p:sldId id="1762" r:id="rId42"/>
    <p:sldId id="1767" r:id="rId43"/>
    <p:sldId id="1768" r:id="rId44"/>
    <p:sldId id="1770" r:id="rId45"/>
    <p:sldId id="1775" r:id="rId46"/>
    <p:sldId id="1610" r:id="rId47"/>
    <p:sldId id="1569" r:id="rId48"/>
    <p:sldId id="1773" r:id="rId49"/>
    <p:sldId id="1774"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1609"/>
            <p14:sldId id="1611"/>
            <p14:sldId id="1675"/>
            <p14:sldId id="1683"/>
            <p14:sldId id="1733"/>
            <p14:sldId id="1694"/>
            <p14:sldId id="1734"/>
            <p14:sldId id="1735"/>
            <p14:sldId id="1736"/>
            <p14:sldId id="1737"/>
            <p14:sldId id="1738"/>
            <p14:sldId id="1739"/>
            <p14:sldId id="1740"/>
            <p14:sldId id="1741"/>
            <p14:sldId id="1742"/>
            <p14:sldId id="1743"/>
            <p14:sldId id="1692"/>
            <p14:sldId id="1744"/>
            <p14:sldId id="1745"/>
            <p14:sldId id="1746"/>
            <p14:sldId id="1747"/>
            <p14:sldId id="1748"/>
            <p14:sldId id="1749"/>
            <p14:sldId id="1750"/>
            <p14:sldId id="1751"/>
            <p14:sldId id="1752"/>
            <p14:sldId id="1753"/>
            <p14:sldId id="1754"/>
            <p14:sldId id="1755"/>
            <p14:sldId id="1756"/>
            <p14:sldId id="1757"/>
            <p14:sldId id="1758"/>
            <p14:sldId id="1670"/>
            <p14:sldId id="1759"/>
            <p14:sldId id="1760"/>
            <p14:sldId id="1761"/>
            <p14:sldId id="1762"/>
            <p14:sldId id="1767"/>
            <p14:sldId id="1768"/>
            <p14:sldId id="1770"/>
            <p14:sldId id="1775"/>
            <p14:sldId id="1610"/>
          </p14:sldIdLst>
        </p14:section>
        <p14:section name="Appendix: Image Descriptions for Unsighted Students" id="{DEA0BE15-6061-48E9-AC96-384EC3CA53A6}">
          <p14:sldIdLst>
            <p14:sldId id="1569"/>
            <p14:sldId id="1773"/>
            <p14:sldId id="1774"/>
          </p14:sldIdLst>
        </p14:section>
      </p14:sectionLst>
    </p:ext>
    <p:ext uri="{EFAFB233-063F-42B5-8137-9DF3F51BA10A}">
      <p15:sldGuideLst xmlns:p15="http://schemas.microsoft.com/office/powerpoint/2012/main">
        <p15:guide id="2" pos="2904" userDrawn="1">
          <p15:clr>
            <a:srgbClr val="A4A3A4"/>
          </p15:clr>
        </p15:guide>
        <p15:guide id="3" orient="horz" pos="2184" userDrawn="1">
          <p15:clr>
            <a:srgbClr val="A4A3A4"/>
          </p15:clr>
        </p15:guide>
        <p15:guide id="4" pos="5664" userDrawn="1">
          <p15:clr>
            <a:srgbClr val="A4A3A4"/>
          </p15:clr>
        </p15:guide>
        <p15:guide id="5" pos="456" userDrawn="1">
          <p15:clr>
            <a:srgbClr val="A4A3A4"/>
          </p15:clr>
        </p15:guide>
        <p15:guide id="6" orient="horz" pos="7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 id="4" name="Balamurugan  Yuvaraj" initials="BY" lastIdx="22" clrIdx="3">
    <p:extLst>
      <p:ext uri="{19B8F6BF-5375-455C-9EA6-DF929625EA0E}">
        <p15:presenceInfo xmlns:p15="http://schemas.microsoft.com/office/powerpoint/2012/main" userId="S::Balamurugan.Yuvaraj@straive.com::6e630b42-7441-45c3-911f-e1223e1b098a" providerId="AD"/>
      </p:ext>
    </p:extLst>
  </p:cmAuthor>
  <p:cmAuthor id="5" name="Michaelammal M" initials="MM" lastIdx="3" clrIdx="4">
    <p:extLst>
      <p:ext uri="{19B8F6BF-5375-455C-9EA6-DF929625EA0E}">
        <p15:presenceInfo xmlns:p15="http://schemas.microsoft.com/office/powerpoint/2012/main" userId="S::Michaelammal.Michael@straive.com::b485f173-2535-4c8e-aa94-fb9fb03f227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131A"/>
    <a:srgbClr val="002060"/>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16" autoAdjust="0"/>
    <p:restoredTop sz="95033" autoAdjust="0"/>
  </p:normalViewPr>
  <p:slideViewPr>
    <p:cSldViewPr snapToGrid="0" showGuides="1">
      <p:cViewPr varScale="1">
        <p:scale>
          <a:sx n="110" d="100"/>
          <a:sy n="110" d="100"/>
        </p:scale>
        <p:origin x="1722" y="324"/>
      </p:cViewPr>
      <p:guideLst>
        <p:guide pos="2904"/>
        <p:guide orient="horz" pos="2184"/>
        <p:guide pos="5664"/>
        <p:guide pos="456"/>
        <p:guide orient="horz" pos="768"/>
      </p:guideLst>
    </p:cSldViewPr>
  </p:slideViewPr>
  <p:outlineViewPr>
    <p:cViewPr>
      <p:scale>
        <a:sx n="33" d="100"/>
        <a:sy n="33" d="100"/>
      </p:scale>
      <p:origin x="0" y="-21413"/>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0" d="100"/>
          <a:sy n="80" d="100"/>
        </p:scale>
        <p:origin x="3168"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 Type="http://schemas.openxmlformats.org/officeDocument/2006/relationships/slideMaster" Target="slideMasters/slideMaster5.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8/7/2025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a:t>
            </a:fld>
            <a:endParaRPr lang="en-US"/>
          </a:p>
        </p:txBody>
      </p:sp>
    </p:spTree>
    <p:extLst>
      <p:ext uri="{BB962C8B-B14F-4D97-AF65-F5344CB8AC3E}">
        <p14:creationId xmlns:p14="http://schemas.microsoft.com/office/powerpoint/2010/main" val="487723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42</a:t>
            </a:fld>
            <a:endParaRPr lang="en-US"/>
          </a:p>
        </p:txBody>
      </p:sp>
    </p:spTree>
    <p:extLst>
      <p:ext uri="{BB962C8B-B14F-4D97-AF65-F5344CB8AC3E}">
        <p14:creationId xmlns:p14="http://schemas.microsoft.com/office/powerpoint/2010/main" val="4005741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43</a:t>
            </a:fld>
            <a:endParaRPr lang="en-US"/>
          </a:p>
        </p:txBody>
      </p:sp>
    </p:spTree>
    <p:extLst>
      <p:ext uri="{BB962C8B-B14F-4D97-AF65-F5344CB8AC3E}">
        <p14:creationId xmlns:p14="http://schemas.microsoft.com/office/powerpoint/2010/main" val="1352699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5" name="Text Placeholder 4"/>
          <p:cNvSpPr>
            <a:spLocks noGrp="1"/>
          </p:cNvSpPr>
          <p:nvPr>
            <p:ph type="body" sz="quarter" idx="12" hasCustomPrompt="1"/>
          </p:nvPr>
        </p:nvSpPr>
        <p:spPr>
          <a:xfrm>
            <a:off x="174625" y="6515100"/>
            <a:ext cx="8861425" cy="249238"/>
          </a:xfrm>
          <a:prstGeom prst="rect">
            <a:avLst/>
          </a:prstGeom>
        </p:spPr>
        <p:txBody>
          <a:bodyPr/>
          <a:lstStyle>
            <a:lvl1pPr>
              <a:defRPr sz="1200"/>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0BEC4930-4E04-4FE8-BBF3-63ABA7AA5406}"/>
              </a:ext>
            </a:extLst>
          </p:cNvPr>
          <p:cNvSpPr>
            <a:spLocks noGrp="1"/>
          </p:cNvSpPr>
          <p:nvPr>
            <p:ph sz="quarter" idx="11"/>
          </p:nvPr>
        </p:nvSpPr>
        <p:spPr>
          <a:xfrm>
            <a:off x="342900" y="6535738"/>
            <a:ext cx="8616950" cy="219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7B48F83F-7684-4505-9311-CD91E36A5788}"/>
              </a:ext>
            </a:extLst>
          </p:cNvPr>
          <p:cNvSpPr>
            <a:spLocks noGrp="1"/>
          </p:cNvSpPr>
          <p:nvPr>
            <p:ph type="body" sz="quarter" idx="12"/>
          </p:nvPr>
        </p:nvSpPr>
        <p:spPr>
          <a:xfrm>
            <a:off x="622300" y="5094288"/>
            <a:ext cx="3035300" cy="4111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Text Placeholder 5"/>
          <p:cNvSpPr>
            <a:spLocks noGrp="1"/>
          </p:cNvSpPr>
          <p:nvPr>
            <p:ph type="body" sz="quarter" idx="11" hasCustomPrompt="1"/>
          </p:nvPr>
        </p:nvSpPr>
        <p:spPr>
          <a:xfrm>
            <a:off x="185738" y="6515100"/>
            <a:ext cx="8662987"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2784606"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7" name="Text Placeholder 6"/>
          <p:cNvSpPr>
            <a:spLocks noGrp="1"/>
          </p:cNvSpPr>
          <p:nvPr>
            <p:ph type="body" sz="quarter" idx="11" hasCustomPrompt="1"/>
          </p:nvPr>
        </p:nvSpPr>
        <p:spPr>
          <a:xfrm>
            <a:off x="190500" y="6515100"/>
            <a:ext cx="8643938"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1" y="6646460"/>
            <a:ext cx="449349" cy="188467"/>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1" y="6646460"/>
            <a:ext cx="462997" cy="188467"/>
          </a:xfrm>
          <a:prstGeom prst="rect">
            <a:avLst/>
          </a:prstGeo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E2028F98-0E10-413D-9110-D0B0D682EC9D}"/>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46459"/>
            <a:ext cx="490292" cy="188467"/>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36925710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Tree>
    <p:extLst>
      <p:ext uri="{BB962C8B-B14F-4D97-AF65-F5344CB8AC3E}">
        <p14:creationId xmlns:p14="http://schemas.microsoft.com/office/powerpoint/2010/main" val="54446753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2"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0.xml"/><Relationship Id="rId4" Type="http://schemas.openxmlformats.org/officeDocument/2006/relationships/slide" Target="slide4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3" Type="http://schemas.openxmlformats.org/officeDocument/2006/relationships/hyperlink" Target="http://www.kayak.com/price-trend-explanation." TargetMode="External"/><Relationship Id="rId2" Type="http://schemas.openxmlformats.org/officeDocument/2006/relationships/hyperlink" Target="Priceline.com" TargetMode="External"/><Relationship Id="rId1" Type="http://schemas.openxmlformats.org/officeDocument/2006/relationships/slideLayout" Target="../slideLayouts/slideLayout20.xml"/><Relationship Id="rId4" Type="http://schemas.openxmlformats.org/officeDocument/2006/relationships/hyperlink" Target="http://www.kayak.com/price-trend-explanatio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24FE50-6B4A-5263-6376-3D1234935845}"/>
              </a:ext>
            </a:extLst>
          </p:cNvPr>
          <p:cNvSpPr>
            <a:spLocks noGrp="1"/>
          </p:cNvSpPr>
          <p:nvPr>
            <p:ph type="ctrTitle"/>
          </p:nvPr>
        </p:nvSpPr>
        <p:spPr>
          <a:xfrm>
            <a:off x="621792" y="2731958"/>
            <a:ext cx="3035808" cy="1394084"/>
          </a:xfrm>
        </p:spPr>
        <p:txBody>
          <a:bodyPr/>
          <a:lstStyle/>
          <a:p>
            <a:r>
              <a:rPr lang="en-US" noProof="0" dirty="0"/>
              <a:t>Chapter 1</a:t>
            </a:r>
          </a:p>
        </p:txBody>
      </p:sp>
      <p:sp>
        <p:nvSpPr>
          <p:cNvPr id="8" name="Subtitle 7">
            <a:extLst>
              <a:ext uri="{FF2B5EF4-FFF2-40B4-BE49-F238E27FC236}">
                <a16:creationId xmlns:a16="http://schemas.microsoft.com/office/drawing/2014/main" id="{082C392C-971E-32B3-D291-271201953891}"/>
              </a:ext>
            </a:extLst>
          </p:cNvPr>
          <p:cNvSpPr>
            <a:spLocks noGrp="1"/>
          </p:cNvSpPr>
          <p:nvPr>
            <p:ph type="subTitle" idx="1"/>
          </p:nvPr>
        </p:nvSpPr>
        <p:spPr>
          <a:xfrm>
            <a:off x="621792" y="4398342"/>
            <a:ext cx="3035808" cy="475581"/>
          </a:xfrm>
        </p:spPr>
        <p:txBody>
          <a:bodyPr/>
          <a:lstStyle/>
          <a:p>
            <a:r>
              <a:rPr lang="en-US" sz="2200" noProof="0" dirty="0"/>
              <a:t>Overview of Statistics</a:t>
            </a:r>
          </a:p>
        </p:txBody>
      </p:sp>
      <p:pic>
        <p:nvPicPr>
          <p:cNvPr id="4" name="Picture 3" descr="The cover page of the book, Applied Statistics in Business and Economics. By, David P Doane and Lori E Seward.">
            <a:extLst>
              <a:ext uri="{FF2B5EF4-FFF2-40B4-BE49-F238E27FC236}">
                <a16:creationId xmlns:a16="http://schemas.microsoft.com/office/drawing/2014/main" id="{0DE171F9-ED88-3DCC-407A-34CC7E33E254}"/>
              </a:ext>
            </a:extLst>
          </p:cNvPr>
          <p:cNvPicPr>
            <a:picLocks noChangeAspect="1"/>
          </p:cNvPicPr>
          <p:nvPr/>
        </p:nvPicPr>
        <p:blipFill>
          <a:blip r:embed="rId3"/>
          <a:stretch>
            <a:fillRect/>
          </a:stretch>
        </p:blipFill>
        <p:spPr>
          <a:xfrm>
            <a:off x="4860462" y="901903"/>
            <a:ext cx="3855516" cy="5242284"/>
          </a:xfrm>
          <a:prstGeom prst="rect">
            <a:avLst/>
          </a:prstGeom>
        </p:spPr>
      </p:pic>
      <p:sp>
        <p:nvSpPr>
          <p:cNvPr id="2" name="Content Placeholder 3">
            <a:extLst>
              <a:ext uri="{FF2B5EF4-FFF2-40B4-BE49-F238E27FC236}">
                <a16:creationId xmlns:a16="http://schemas.microsoft.com/office/drawing/2014/main" id="{42B796E9-022D-DD29-514E-232A567E275B}"/>
              </a:ext>
            </a:extLst>
          </p:cNvPr>
          <p:cNvSpPr>
            <a:spLocks noGrp="1"/>
          </p:cNvSpPr>
          <p:nvPr>
            <p:ph sz="quarter" idx="11"/>
          </p:nvPr>
        </p:nvSpPr>
        <p:spPr>
          <a:xfrm>
            <a:off x="202224" y="6540156"/>
            <a:ext cx="8739552" cy="242481"/>
          </a:xfrm>
        </p:spPr>
        <p:txBody>
          <a:bodyPr/>
          <a:lstStyle/>
          <a:p>
            <a:pPr algn="ctr"/>
            <a:r>
              <a:rPr lang="en-US" sz="1200" noProof="0" dirty="0">
                <a:solidFill>
                  <a:schemeClr val="tx1"/>
                </a:solidFill>
              </a:rPr>
              <a:t>© McGraw Hill LLC. All rights reserved. No reproduction or distribution without the prior written consent of McGraw Hill LLC.</a:t>
            </a:r>
            <a:endParaRPr lang="en-US" sz="1200" noProof="0" dirty="0"/>
          </a:p>
        </p:txBody>
      </p:sp>
    </p:spTree>
    <p:extLst>
      <p:ext uri="{BB962C8B-B14F-4D97-AF65-F5344CB8AC3E}">
        <p14:creationId xmlns:p14="http://schemas.microsoft.com/office/powerpoint/2010/main" val="2376130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US" sz="3600" noProof="0" dirty="0"/>
              <a:t>Chapter Learning Objectives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Chapter 1</a:t>
            </a:r>
          </a:p>
        </p:txBody>
      </p:sp>
      <p:sp>
        <p:nvSpPr>
          <p:cNvPr id="7" name="Content Placeholder 6"/>
          <p:cNvSpPr>
            <a:spLocks noGrp="1"/>
          </p:cNvSpPr>
          <p:nvPr>
            <p:ph sz="quarter" idx="14"/>
          </p:nvPr>
        </p:nvSpPr>
        <p:spPr>
          <a:xfrm>
            <a:off x="342900" y="1260475"/>
            <a:ext cx="8191500" cy="4477385"/>
          </a:xfrm>
        </p:spPr>
        <p:txBody>
          <a:bodyPr/>
          <a:lstStyle/>
          <a:p>
            <a:pPr marL="1260475" indent="-1260475"/>
            <a:r>
              <a:rPr lang="en-US" b="1" noProof="0" dirty="0"/>
              <a:t>L</a:t>
            </a:r>
            <a:r>
              <a:rPr lang="en-US" sz="100" b="1" noProof="0" dirty="0"/>
              <a:t> </a:t>
            </a:r>
            <a:r>
              <a:rPr lang="en-US" b="1" noProof="0" dirty="0"/>
              <a:t>O 1.1: </a:t>
            </a:r>
            <a:r>
              <a:rPr lang="en-US" noProof="0" dirty="0"/>
              <a:t>Define statistics and explain some of its uses.</a:t>
            </a:r>
          </a:p>
          <a:p>
            <a:pPr marL="1143000" indent="-1143000"/>
            <a:r>
              <a:rPr lang="en-US" b="1" noProof="0" dirty="0"/>
              <a:t>L</a:t>
            </a:r>
            <a:r>
              <a:rPr lang="en-US" sz="100" b="1" noProof="0" dirty="0"/>
              <a:t> </a:t>
            </a:r>
            <a:r>
              <a:rPr lang="en-US" b="1" noProof="0" dirty="0"/>
              <a:t>O 1.2: </a:t>
            </a:r>
            <a:r>
              <a:rPr lang="en-US" noProof="0" dirty="0"/>
              <a:t>List reasons for a business student to study statistics.</a:t>
            </a:r>
          </a:p>
          <a:p>
            <a:pPr marL="1260475" indent="-1260475"/>
            <a:r>
              <a:rPr lang="en-US" b="1" noProof="0" dirty="0"/>
              <a:t>L</a:t>
            </a:r>
            <a:r>
              <a:rPr lang="en-US" sz="100" b="1" noProof="0" dirty="0"/>
              <a:t> </a:t>
            </a:r>
            <a:r>
              <a:rPr lang="en-US" b="1" noProof="0" dirty="0"/>
              <a:t>O 1.3: </a:t>
            </a:r>
            <a:r>
              <a:rPr lang="en-US" noProof="0" dirty="0"/>
              <a:t>Explain the uses of statistics in business.</a:t>
            </a:r>
          </a:p>
          <a:p>
            <a:pPr marL="1143000" indent="-1143000"/>
            <a:r>
              <a:rPr lang="en-US" b="1" noProof="0" dirty="0"/>
              <a:t>L</a:t>
            </a:r>
            <a:r>
              <a:rPr lang="en-US" sz="100" b="1" noProof="0" dirty="0"/>
              <a:t> </a:t>
            </a:r>
            <a:r>
              <a:rPr lang="en-US" b="1" noProof="0" dirty="0"/>
              <a:t>O 1.4: </a:t>
            </a:r>
            <a:r>
              <a:rPr lang="en-US" noProof="0" dirty="0"/>
              <a:t>State the common challenges facing business professionals using statistics.</a:t>
            </a:r>
          </a:p>
          <a:p>
            <a:pPr marL="1260475" indent="-1260475"/>
            <a:r>
              <a:rPr lang="en-US" b="1" noProof="0" dirty="0"/>
              <a:t>L</a:t>
            </a:r>
            <a:r>
              <a:rPr lang="en-US" sz="100" b="1" noProof="0" dirty="0"/>
              <a:t> </a:t>
            </a:r>
            <a:r>
              <a:rPr lang="en-US" b="1" noProof="0" dirty="0"/>
              <a:t>O 1.5: </a:t>
            </a:r>
            <a:r>
              <a:rPr lang="en-US" noProof="0" dirty="0"/>
              <a:t>List and explain common statistical pitfalls.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450625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Why Study Statistics? </a:t>
            </a:r>
            <a:r>
              <a:rPr lang="en-US" sz="1000" b="0" baseline="0" noProof="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Chapter 1</a:t>
            </a:r>
          </a:p>
        </p:txBody>
      </p:sp>
      <p:sp>
        <p:nvSpPr>
          <p:cNvPr id="7" name="Content Placeholder 6"/>
          <p:cNvSpPr>
            <a:spLocks noGrp="1"/>
          </p:cNvSpPr>
          <p:nvPr>
            <p:ph sz="quarter" idx="14"/>
          </p:nvPr>
        </p:nvSpPr>
        <p:spPr>
          <a:xfrm>
            <a:off x="342900" y="1260475"/>
            <a:ext cx="8191500" cy="5292725"/>
          </a:xfrm>
        </p:spPr>
        <p:txBody>
          <a:bodyPr/>
          <a:lstStyle/>
          <a:p>
            <a:pPr marL="292608" indent="-292608">
              <a:buFont typeface="Arial" panose="020B0604020202020204" pitchFamily="34" charset="0"/>
              <a:buChar char="•"/>
            </a:pPr>
            <a:r>
              <a:rPr lang="en-US" noProof="0" dirty="0"/>
              <a:t>Increasingly, companies are using statistical analysis (business analytics) to support decision making, recognize anomalies that require tactical action, or gain strategic insight to align business processes with business objectives.</a:t>
            </a:r>
          </a:p>
          <a:p>
            <a:pPr marL="292608" indent="-292608">
              <a:buFont typeface="Arial" panose="020B0604020202020204" pitchFamily="34" charset="0"/>
              <a:buChar char="•"/>
            </a:pPr>
            <a:r>
              <a:rPr lang="en-US" noProof="0" dirty="0"/>
              <a:t>Businesses that combine managerial judgment with statistical analysis are more successful.</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1162216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What is Statistics? </a:t>
            </a:r>
            <a:r>
              <a:rPr lang="en-US" sz="1000" b="0" noProof="0" dirty="0"/>
              <a:t>1</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1.1</a:t>
            </a:r>
          </a:p>
        </p:txBody>
      </p:sp>
      <p:sp>
        <p:nvSpPr>
          <p:cNvPr id="4" name="Content Placeholder 3"/>
          <p:cNvSpPr>
            <a:spLocks noGrp="1"/>
          </p:cNvSpPr>
          <p:nvPr>
            <p:ph sz="quarter" idx="14"/>
          </p:nvPr>
        </p:nvSpPr>
        <p:spPr>
          <a:xfrm>
            <a:off x="342900" y="1278015"/>
            <a:ext cx="8191500" cy="1948762"/>
          </a:xfrm>
        </p:spPr>
        <p:txBody>
          <a:bodyPr/>
          <a:lstStyle/>
          <a:p>
            <a:pPr>
              <a:spcAft>
                <a:spcPts val="1200"/>
              </a:spcAft>
              <a:buClr>
                <a:schemeClr val="accent1"/>
              </a:buClr>
              <a:buSzPct val="100000"/>
            </a:pPr>
            <a:r>
              <a:rPr lang="en-US" noProof="0" dirty="0"/>
              <a:t>Statistics may be thought of as a collection of methodologies to summarize, draw valid conclusions, and make predictions from empirical measurements. Statistics helps us organize and present information and extract meaning from raw data.</a:t>
            </a:r>
          </a:p>
        </p:txBody>
      </p:sp>
      <p:sp>
        <p:nvSpPr>
          <p:cNvPr id="5" name="Content Placeholder 4"/>
          <p:cNvSpPr>
            <a:spLocks noGrp="1"/>
          </p:cNvSpPr>
          <p:nvPr>
            <p:ph sz="quarter" idx="15"/>
          </p:nvPr>
        </p:nvSpPr>
        <p:spPr>
          <a:xfrm>
            <a:off x="342900" y="3378217"/>
            <a:ext cx="8191500" cy="506014"/>
          </a:xfrm>
        </p:spPr>
        <p:txBody>
          <a:bodyPr/>
          <a:lstStyle/>
          <a:p>
            <a:r>
              <a:rPr lang="en-US" b="1" noProof="0" dirty="0"/>
              <a:t>Plural or Singular?</a:t>
            </a:r>
          </a:p>
        </p:txBody>
      </p:sp>
      <p:graphicFrame>
        <p:nvGraphicFramePr>
          <p:cNvPr id="6" name="Table 5">
            <a:extLst>
              <a:ext uri="{FF2B5EF4-FFF2-40B4-BE49-F238E27FC236}">
                <a16:creationId xmlns:a16="http://schemas.microsoft.com/office/drawing/2014/main" id="{3FE462B0-0245-8CAB-6B99-F43501E218D0}"/>
              </a:ext>
            </a:extLst>
          </p:cNvPr>
          <p:cNvGraphicFramePr>
            <a:graphicFrameLocks noGrp="1"/>
          </p:cNvGraphicFramePr>
          <p:nvPr>
            <p:extLst>
              <p:ext uri="{D42A27DB-BD31-4B8C-83A1-F6EECF244321}">
                <p14:modId xmlns:p14="http://schemas.microsoft.com/office/powerpoint/2010/main" val="1829546330"/>
              </p:ext>
            </p:extLst>
          </p:nvPr>
        </p:nvGraphicFramePr>
        <p:xfrm>
          <a:off x="342900" y="4035671"/>
          <a:ext cx="7395210" cy="1524000"/>
        </p:xfrm>
        <a:graphic>
          <a:graphicData uri="http://schemas.openxmlformats.org/drawingml/2006/table">
            <a:tbl>
              <a:tblPr firstRow="1" bandRow="1">
                <a:tableStyleId>{5C22544A-7EE6-4342-B048-85BDC9FD1C3A}</a:tableStyleId>
              </a:tblPr>
              <a:tblGrid>
                <a:gridCol w="1500651">
                  <a:extLst>
                    <a:ext uri="{9D8B030D-6E8A-4147-A177-3AD203B41FA5}">
                      <a16:colId xmlns:a16="http://schemas.microsoft.com/office/drawing/2014/main" val="1105778604"/>
                    </a:ext>
                  </a:extLst>
                </a:gridCol>
                <a:gridCol w="5894559">
                  <a:extLst>
                    <a:ext uri="{9D8B030D-6E8A-4147-A177-3AD203B41FA5}">
                      <a16:colId xmlns:a16="http://schemas.microsoft.com/office/drawing/2014/main" val="189471110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noProof="0" dirty="0">
                          <a:solidFill>
                            <a:schemeClr val="tx1"/>
                          </a:solidFill>
                        </a:rPr>
                        <a:t>Statistics</a:t>
                      </a:r>
                      <a:endParaRPr lang="en-US" sz="2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0" noProof="0" dirty="0">
                          <a:solidFill>
                            <a:schemeClr val="tx1"/>
                          </a:solidFill>
                        </a:rPr>
                        <a:t>The science of collecting, organizing, analyzing, interpreting, and presenting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4183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noProof="0" dirty="0">
                          <a:solidFill>
                            <a:schemeClr val="tx1"/>
                          </a:solidFill>
                        </a:rPr>
                        <a:t>Statistic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0" noProof="0" dirty="0">
                          <a:solidFill>
                            <a:schemeClr val="tx1"/>
                          </a:solidFill>
                        </a:rPr>
                        <a:t>A single measure, reported as a number, used to summarize a sample data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7487214"/>
                  </a:ext>
                </a:extLst>
              </a:tr>
            </a:tbl>
          </a:graphicData>
        </a:graphic>
      </p:graphicFrame>
      <p:sp>
        <p:nvSpPr>
          <p:cNvPr id="10" name="Slide Number Placeholder 9"/>
          <p:cNvSpPr>
            <a:spLocks noGrp="1"/>
          </p:cNvSpPr>
          <p:nvPr>
            <p:ph type="sldNum" sz="quarter" idx="10"/>
          </p:nvPr>
        </p:nvSpPr>
        <p:spPr/>
        <p:txBody>
          <a:bodyPr/>
          <a:lstStyle/>
          <a:p>
            <a:fld id="{68151E55-6873-49E2-B8D5-2F265E6F1973}" type="slidenum">
              <a:rPr lang="en-US" smtClean="0"/>
              <a:t>4</a:t>
            </a:fld>
            <a:endParaRPr lang="en-US" dirty="0"/>
          </a:p>
        </p:txBody>
      </p:sp>
    </p:spTree>
    <p:extLst>
      <p:ext uri="{BB962C8B-B14F-4D97-AF65-F5344CB8AC3E}">
        <p14:creationId xmlns:p14="http://schemas.microsoft.com/office/powerpoint/2010/main" val="271996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What is Statistics? </a:t>
            </a:r>
            <a:r>
              <a:rPr lang="en-US" sz="1000" b="0" noProof="0" dirty="0"/>
              <a:t>2</a:t>
            </a:r>
          </a:p>
        </p:txBody>
      </p:sp>
      <p:sp>
        <p:nvSpPr>
          <p:cNvPr id="3" name="Content Placeholder 2"/>
          <p:cNvSpPr>
            <a:spLocks noGrp="1"/>
          </p:cNvSpPr>
          <p:nvPr>
            <p:ph sz="quarter" idx="11"/>
          </p:nvPr>
        </p:nvSpPr>
        <p:spPr>
          <a:xfrm>
            <a:off x="8595360" y="55330"/>
            <a:ext cx="487680" cy="1305119"/>
          </a:xfrm>
        </p:spPr>
        <p:txBody>
          <a:bodyPr vert="vert" rIns="0"/>
          <a:lstStyle/>
          <a:p>
            <a:pPr marL="1025525" indent="-1025525"/>
            <a:r>
              <a:rPr lang="en-US" b="1" noProof="0" dirty="0"/>
              <a:t>L</a:t>
            </a:r>
            <a:r>
              <a:rPr lang="en-US" sz="100" b="1" noProof="0" dirty="0"/>
              <a:t> </a:t>
            </a:r>
            <a:r>
              <a:rPr lang="en-US" b="1" noProof="0" dirty="0"/>
              <a:t>O 1.1</a:t>
            </a:r>
          </a:p>
        </p:txBody>
      </p:sp>
      <p:sp>
        <p:nvSpPr>
          <p:cNvPr id="4" name="Content Placeholder 3"/>
          <p:cNvSpPr>
            <a:spLocks noGrp="1"/>
          </p:cNvSpPr>
          <p:nvPr>
            <p:ph sz="quarter" idx="14"/>
          </p:nvPr>
        </p:nvSpPr>
        <p:spPr>
          <a:xfrm>
            <a:off x="342900" y="1278015"/>
            <a:ext cx="8191500" cy="5263462"/>
          </a:xfrm>
        </p:spPr>
        <p:txBody>
          <a:bodyPr/>
          <a:lstStyle/>
          <a:p>
            <a:pPr>
              <a:defRPr/>
            </a:pPr>
            <a:r>
              <a:rPr lang="en-US" noProof="0" dirty="0">
                <a:solidFill>
                  <a:schemeClr val="tx1"/>
                </a:solidFill>
              </a:rPr>
              <a:t>For the height of students, a graduation gown manufacturer may need to know the average height for the length of the gowns or an architect may need to know the maximum height to design the height of the doorways of the classrooms. Both the average and the maximum are examples of statistics.</a:t>
            </a:r>
          </a:p>
          <a:p>
            <a:pPr>
              <a:defRPr/>
            </a:pPr>
            <a:r>
              <a:rPr lang="en-US" noProof="0" dirty="0">
                <a:solidFill>
                  <a:schemeClr val="tx1"/>
                </a:solidFill>
              </a:rPr>
              <a:t>There are two primary kinds of statistics.</a:t>
            </a:r>
          </a:p>
          <a:p>
            <a:pPr lvl="1">
              <a:buClr>
                <a:schemeClr val="tx1"/>
              </a:buClr>
              <a:buSzPct val="100000"/>
            </a:pPr>
            <a:r>
              <a:rPr lang="en-US" b="1" noProof="0" dirty="0">
                <a:solidFill>
                  <a:schemeClr val="tx1"/>
                </a:solidFill>
              </a:rPr>
              <a:t>Descriptive statistics </a:t>
            </a:r>
            <a:r>
              <a:rPr lang="en-US" noProof="0" dirty="0">
                <a:solidFill>
                  <a:schemeClr val="tx1"/>
                </a:solidFill>
              </a:rPr>
              <a:t>refers to the collection, presentation, and summary of data (either using charts and graphs or using numerical summary).</a:t>
            </a:r>
          </a:p>
          <a:p>
            <a:pPr lvl="1">
              <a:buClr>
                <a:schemeClr val="tx1"/>
              </a:buClr>
              <a:buSzPct val="100000"/>
            </a:pPr>
            <a:r>
              <a:rPr lang="en-US" b="1" noProof="0" dirty="0">
                <a:solidFill>
                  <a:schemeClr val="tx1"/>
                </a:solidFill>
              </a:rPr>
              <a:t>Inferential statistics </a:t>
            </a:r>
            <a:r>
              <a:rPr lang="en-US" noProof="0" dirty="0">
                <a:solidFill>
                  <a:schemeClr val="tx1"/>
                </a:solidFill>
              </a:rPr>
              <a:t>refers to the generalizing from a sample to a population, estimating unknown population parameters, drawing conclusions, and making decisions.</a:t>
            </a:r>
          </a:p>
        </p:txBody>
      </p:sp>
      <p:sp>
        <p:nvSpPr>
          <p:cNvPr id="10" name="Slide Number Placeholder 9"/>
          <p:cNvSpPr>
            <a:spLocks noGrp="1"/>
          </p:cNvSpPr>
          <p:nvPr>
            <p:ph type="sldNum" sz="quarter" idx="10"/>
          </p:nvPr>
        </p:nvSpPr>
        <p:spPr/>
        <p:txBody>
          <a:bodyPr/>
          <a:lstStyle/>
          <a:p>
            <a:fld id="{68151E55-6873-49E2-B8D5-2F265E6F1973}" type="slidenum">
              <a:rPr lang="en-US" smtClean="0"/>
              <a:t>5</a:t>
            </a:fld>
            <a:endParaRPr lang="en-US" dirty="0"/>
          </a:p>
        </p:txBody>
      </p:sp>
    </p:spTree>
    <p:extLst>
      <p:ext uri="{BB962C8B-B14F-4D97-AF65-F5344CB8AC3E}">
        <p14:creationId xmlns:p14="http://schemas.microsoft.com/office/powerpoint/2010/main" val="2240271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988554" cy="903231"/>
          </a:xfrm>
        </p:spPr>
        <p:txBody>
          <a:bodyPr>
            <a:normAutofit/>
          </a:bodyPr>
          <a:lstStyle/>
          <a:p>
            <a:r>
              <a:rPr lang="en-US" sz="3600" noProof="0" dirty="0"/>
              <a:t>What is Statistics? </a:t>
            </a:r>
            <a:r>
              <a:rPr lang="en-US" sz="1000" b="0" noProof="0" dirty="0"/>
              <a:t>3</a:t>
            </a:r>
          </a:p>
        </p:txBody>
      </p:sp>
      <p:sp>
        <p:nvSpPr>
          <p:cNvPr id="10" name="Content Placeholder 2">
            <a:extLst>
              <a:ext uri="{FF2B5EF4-FFF2-40B4-BE49-F238E27FC236}">
                <a16:creationId xmlns:a16="http://schemas.microsoft.com/office/drawing/2014/main" id="{4B82610E-AC90-74D8-908D-C513951EE46F}"/>
              </a:ext>
            </a:extLst>
          </p:cNvPr>
          <p:cNvSpPr>
            <a:spLocks noGrp="1"/>
          </p:cNvSpPr>
          <p:nvPr>
            <p:ph sz="quarter" idx="11"/>
          </p:nvPr>
        </p:nvSpPr>
        <p:spPr>
          <a:xfrm>
            <a:off x="8595360" y="55330"/>
            <a:ext cx="487680" cy="1293968"/>
          </a:xfrm>
        </p:spPr>
        <p:txBody>
          <a:bodyPr vert="vert" rIns="0"/>
          <a:lstStyle/>
          <a:p>
            <a:pPr marL="1025525" indent="-1025525"/>
            <a:r>
              <a:rPr lang="en-US" b="1" noProof="0" dirty="0"/>
              <a:t>L</a:t>
            </a:r>
            <a:r>
              <a:rPr lang="en-US" sz="100" b="1" noProof="0" dirty="0"/>
              <a:t> </a:t>
            </a:r>
            <a:r>
              <a:rPr lang="en-US" b="1" noProof="0" dirty="0"/>
              <a:t>O 1.1</a:t>
            </a:r>
          </a:p>
        </p:txBody>
      </p:sp>
      <p:sp>
        <p:nvSpPr>
          <p:cNvPr id="7" name="Content Placeholder 6"/>
          <p:cNvSpPr>
            <a:spLocks noGrp="1"/>
          </p:cNvSpPr>
          <p:nvPr>
            <p:ph sz="quarter" idx="14"/>
          </p:nvPr>
        </p:nvSpPr>
        <p:spPr>
          <a:xfrm>
            <a:off x="342900" y="1219200"/>
            <a:ext cx="7988554" cy="498764"/>
          </a:xfrm>
        </p:spPr>
        <p:txBody>
          <a:bodyPr/>
          <a:lstStyle/>
          <a:p>
            <a:r>
              <a:rPr lang="en-US" b="1" noProof="0" dirty="0"/>
              <a:t>Figure 1.1: Overview of Statistics</a:t>
            </a:r>
            <a:r>
              <a:rPr lang="en-US" noProof="0" dirty="0"/>
              <a:t>.</a:t>
            </a:r>
          </a:p>
        </p:txBody>
      </p:sp>
      <p:pic>
        <p:nvPicPr>
          <p:cNvPr id="4" name="Picture 3" descr="Organization chart for this textbook.">
            <a:extLst>
              <a:ext uri="{FF2B5EF4-FFF2-40B4-BE49-F238E27FC236}">
                <a16:creationId xmlns:a16="http://schemas.microsoft.com/office/drawing/2014/main" id="{DA4879B6-8C80-420E-95A7-E2D4756E204D}"/>
              </a:ext>
            </a:extLst>
          </p:cNvPr>
          <p:cNvPicPr>
            <a:picLocks noChangeAspect="1"/>
          </p:cNvPicPr>
          <p:nvPr/>
        </p:nvPicPr>
        <p:blipFill>
          <a:blip r:embed="rId2"/>
          <a:stretch>
            <a:fillRect/>
          </a:stretch>
        </p:blipFill>
        <p:spPr>
          <a:xfrm>
            <a:off x="538225" y="2263529"/>
            <a:ext cx="7793229" cy="2856721"/>
          </a:xfrm>
          <a:prstGeom prst="rect">
            <a:avLst/>
          </a:prstGeom>
        </p:spPr>
      </p:pic>
      <p:sp>
        <p:nvSpPr>
          <p:cNvPr id="9"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endParaRPr lang="en-US" sz="1200" noProof="0"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2249122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001000" cy="903231"/>
          </a:xfrm>
        </p:spPr>
        <p:txBody>
          <a:bodyPr>
            <a:normAutofit/>
          </a:bodyPr>
          <a:lstStyle/>
          <a:p>
            <a:r>
              <a:rPr lang="en-US" sz="3600" noProof="0" dirty="0"/>
              <a:t>What is Statistics? </a:t>
            </a:r>
            <a:r>
              <a:rPr lang="en-US" sz="1000" b="0" noProof="0" dirty="0"/>
              <a:t>4</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1.1</a:t>
            </a:r>
          </a:p>
        </p:txBody>
      </p:sp>
      <p:sp>
        <p:nvSpPr>
          <p:cNvPr id="4" name="Content Placeholder 3"/>
          <p:cNvSpPr>
            <a:spLocks noGrp="1"/>
          </p:cNvSpPr>
          <p:nvPr>
            <p:ph sz="quarter" idx="14"/>
          </p:nvPr>
        </p:nvSpPr>
        <p:spPr>
          <a:xfrm>
            <a:off x="342900" y="1278014"/>
            <a:ext cx="8191500" cy="5122785"/>
          </a:xfrm>
        </p:spPr>
        <p:txBody>
          <a:bodyPr/>
          <a:lstStyle/>
          <a:p>
            <a:pPr>
              <a:defRPr/>
            </a:pPr>
            <a:r>
              <a:rPr lang="en-US" sz="2000" b="1" noProof="0" dirty="0">
                <a:solidFill>
                  <a:schemeClr val="tx1"/>
                </a:solidFill>
              </a:rPr>
              <a:t>What is Business Analytics?</a:t>
            </a:r>
          </a:p>
          <a:p>
            <a:r>
              <a:rPr lang="en-US" sz="2000" noProof="0" dirty="0"/>
              <a:t>Analytics is a broad field that uses statistics, mathematics, and computational tools to extract information from data. Analytics tools fall into three categories: </a:t>
            </a:r>
            <a:r>
              <a:rPr lang="en-US" sz="2000" i="1" noProof="0" dirty="0"/>
              <a:t>descriptive</a:t>
            </a:r>
            <a:r>
              <a:rPr lang="en-US" sz="2000" noProof="0" dirty="0"/>
              <a:t>, </a:t>
            </a:r>
            <a:r>
              <a:rPr lang="en-US" sz="2000" i="1" noProof="0" dirty="0"/>
              <a:t>predictive</a:t>
            </a:r>
            <a:r>
              <a:rPr lang="en-US" sz="2000" noProof="0" dirty="0"/>
              <a:t>, and </a:t>
            </a:r>
            <a:r>
              <a:rPr lang="en-US" sz="2000" i="1" noProof="0" dirty="0"/>
              <a:t>prescriptive</a:t>
            </a:r>
            <a:r>
              <a:rPr lang="en-US" sz="2000" noProof="0" dirty="0"/>
              <a:t>. This terminology derived from the questions we are trying to answer.</a:t>
            </a:r>
          </a:p>
          <a:p>
            <a:r>
              <a:rPr lang="en-US" sz="2000" b="1" noProof="0" dirty="0"/>
              <a:t>What happened?</a:t>
            </a:r>
            <a:r>
              <a:rPr lang="en-US" sz="2000" noProof="0" dirty="0"/>
              <a:t> Businesses use </a:t>
            </a:r>
            <a:r>
              <a:rPr lang="en-US" sz="2000" i="1" noProof="0" dirty="0"/>
              <a:t>descriptive analytics</a:t>
            </a:r>
            <a:r>
              <a:rPr lang="en-US" sz="2000" noProof="0" dirty="0"/>
              <a:t> tools to analyze historical data and help them identify trends and patterns.</a:t>
            </a:r>
          </a:p>
          <a:p>
            <a:r>
              <a:rPr lang="en-US" sz="2000" b="1" noProof="0" dirty="0"/>
              <a:t>What is likely to happen next?</a:t>
            </a:r>
            <a:r>
              <a:rPr lang="en-US" sz="2000" noProof="0" dirty="0"/>
              <a:t> Businesses use </a:t>
            </a:r>
            <a:r>
              <a:rPr lang="en-US" sz="2000" i="1" noProof="0" dirty="0"/>
              <a:t>predictive analytics</a:t>
            </a:r>
            <a:r>
              <a:rPr lang="en-US" sz="2000" noProof="0" dirty="0"/>
              <a:t> tools to predict probabilities of future events and help them forecast consumer behavior.</a:t>
            </a:r>
          </a:p>
          <a:p>
            <a:r>
              <a:rPr lang="en-US" sz="2000" b="1" noProof="0" dirty="0"/>
              <a:t>What actions do we take to achieve our goals?</a:t>
            </a:r>
            <a:r>
              <a:rPr lang="en-US" sz="2000" noProof="0" dirty="0"/>
              <a:t> Businesses use </a:t>
            </a:r>
            <a:r>
              <a:rPr lang="en-US" sz="2000" i="1" noProof="0" dirty="0"/>
              <a:t>prescriptive analytics</a:t>
            </a:r>
            <a:r>
              <a:rPr lang="en-US" sz="2000" noProof="0" dirty="0"/>
              <a:t> tools to help them make decisions on how to achieve objectives within real-world constraints.</a:t>
            </a:r>
          </a:p>
        </p:txBody>
      </p:sp>
      <p:sp>
        <p:nvSpPr>
          <p:cNvPr id="10" name="Slide Number Placeholder 9"/>
          <p:cNvSpPr>
            <a:spLocks noGrp="1"/>
          </p:cNvSpPr>
          <p:nvPr>
            <p:ph type="sldNum" sz="quarter" idx="10"/>
          </p:nvPr>
        </p:nvSpPr>
        <p:spPr/>
        <p:txBody>
          <a:bodyPr/>
          <a:lstStyle/>
          <a:p>
            <a:fld id="{68151E55-6873-49E2-B8D5-2F265E6F1973}" type="slidenum">
              <a:rPr lang="en-US" smtClean="0"/>
              <a:t>7</a:t>
            </a:fld>
            <a:endParaRPr lang="en-US" dirty="0"/>
          </a:p>
        </p:txBody>
      </p:sp>
    </p:spTree>
    <p:extLst>
      <p:ext uri="{BB962C8B-B14F-4D97-AF65-F5344CB8AC3E}">
        <p14:creationId xmlns:p14="http://schemas.microsoft.com/office/powerpoint/2010/main" val="2219588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Why Study Statistics? </a:t>
            </a:r>
            <a:r>
              <a:rPr lang="en-US" sz="1000" b="0" noProof="0" dirty="0"/>
              <a:t>2</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1.2</a:t>
            </a:r>
          </a:p>
        </p:txBody>
      </p:sp>
      <p:sp>
        <p:nvSpPr>
          <p:cNvPr id="4" name="Content Placeholder 3"/>
          <p:cNvSpPr>
            <a:spLocks noGrp="1"/>
          </p:cNvSpPr>
          <p:nvPr>
            <p:ph sz="quarter" idx="14"/>
          </p:nvPr>
        </p:nvSpPr>
        <p:spPr>
          <a:xfrm>
            <a:off x="342900" y="1278014"/>
            <a:ext cx="8191500" cy="5122785"/>
          </a:xfrm>
        </p:spPr>
        <p:txBody>
          <a:bodyPr/>
          <a:lstStyle/>
          <a:p>
            <a:pPr marL="292608" indent="-292608">
              <a:buFont typeface="Arial" panose="020B0604020202020204" pitchFamily="34" charset="0"/>
              <a:buChar char="•"/>
              <a:defRPr/>
            </a:pPr>
            <a:r>
              <a:rPr lang="en-US" noProof="0" dirty="0">
                <a:solidFill>
                  <a:schemeClr val="tx1"/>
                </a:solidFill>
              </a:rPr>
              <a:t>Knowing statistics will make you a better consumer of other people’s data analyses.</a:t>
            </a:r>
          </a:p>
          <a:p>
            <a:pPr marL="292608" indent="-292608">
              <a:buFont typeface="Arial" panose="020B0604020202020204" pitchFamily="34" charset="0"/>
              <a:buChar char="•"/>
              <a:defRPr/>
            </a:pPr>
            <a:r>
              <a:rPr lang="en-US" noProof="0" dirty="0">
                <a:solidFill>
                  <a:schemeClr val="tx1"/>
                </a:solidFill>
              </a:rPr>
              <a:t>You should know enough to handle everyday data problems, to feel confident that others cannot deceive you with spurious arguments, and to know when you’ve reached the limits of your expertise.</a:t>
            </a:r>
          </a:p>
        </p:txBody>
      </p:sp>
      <p:sp>
        <p:nvSpPr>
          <p:cNvPr id="10" name="Slide Number Placeholder 9"/>
          <p:cNvSpPr>
            <a:spLocks noGrp="1"/>
          </p:cNvSpPr>
          <p:nvPr>
            <p:ph type="sldNum" sz="quarter" idx="10"/>
          </p:nvPr>
        </p:nvSpPr>
        <p:spPr/>
        <p:txBody>
          <a:bodyPr/>
          <a:lstStyle/>
          <a:p>
            <a:fld id="{68151E55-6873-49E2-B8D5-2F265E6F1973}" type="slidenum">
              <a:rPr lang="en-US" smtClean="0"/>
              <a:t>8</a:t>
            </a:fld>
            <a:endParaRPr lang="en-US" dirty="0"/>
          </a:p>
        </p:txBody>
      </p:sp>
    </p:spTree>
    <p:extLst>
      <p:ext uri="{BB962C8B-B14F-4D97-AF65-F5344CB8AC3E}">
        <p14:creationId xmlns:p14="http://schemas.microsoft.com/office/powerpoint/2010/main" val="1512455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Why Study Statistics? </a:t>
            </a:r>
            <a:r>
              <a:rPr lang="en-US" sz="1000" b="0" noProof="0" dirty="0"/>
              <a:t>3</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1.2</a:t>
            </a:r>
          </a:p>
        </p:txBody>
      </p:sp>
      <p:sp>
        <p:nvSpPr>
          <p:cNvPr id="4" name="Content Placeholder 3"/>
          <p:cNvSpPr>
            <a:spLocks noGrp="1"/>
          </p:cNvSpPr>
          <p:nvPr>
            <p:ph sz="quarter" idx="14"/>
          </p:nvPr>
        </p:nvSpPr>
        <p:spPr>
          <a:xfrm>
            <a:off x="342900" y="1278014"/>
            <a:ext cx="8191500" cy="5122785"/>
          </a:xfrm>
        </p:spPr>
        <p:txBody>
          <a:bodyPr/>
          <a:lstStyle/>
          <a:p>
            <a:pPr marL="292608" indent="-292608">
              <a:buFont typeface="Arial" panose="020B0604020202020204" pitchFamily="34" charset="0"/>
              <a:buChar char="•"/>
              <a:defRPr/>
            </a:pPr>
            <a:r>
              <a:rPr lang="en-US" noProof="0" dirty="0">
                <a:solidFill>
                  <a:schemeClr val="tx1"/>
                </a:solidFill>
              </a:rPr>
              <a:t>Statistical knowledge gives companies a competitive advantage against organizations that cannot understand their internal or external market data.</a:t>
            </a:r>
          </a:p>
          <a:p>
            <a:pPr marL="292608" indent="-292608">
              <a:buFont typeface="Arial" panose="020B0604020202020204" pitchFamily="34" charset="0"/>
              <a:buChar char="•"/>
              <a:defRPr/>
            </a:pPr>
            <a:r>
              <a:rPr lang="en-US" noProof="0" dirty="0">
                <a:solidFill>
                  <a:schemeClr val="tx1"/>
                </a:solidFill>
              </a:rPr>
              <a:t>Mastery of basic statistics gives an individual manager a competitive advantage as one works one’s way through the promotion process, or when one moves to a new employer.</a:t>
            </a:r>
          </a:p>
        </p:txBody>
      </p:sp>
      <p:sp>
        <p:nvSpPr>
          <p:cNvPr id="10" name="Slide Number Placeholder 9"/>
          <p:cNvSpPr>
            <a:spLocks noGrp="1"/>
          </p:cNvSpPr>
          <p:nvPr>
            <p:ph type="sldNum" sz="quarter" idx="10"/>
          </p:nvPr>
        </p:nvSpPr>
        <p:spPr/>
        <p:txBody>
          <a:bodyPr/>
          <a:lstStyle/>
          <a:p>
            <a:fld id="{68151E55-6873-49E2-B8D5-2F265E6F1973}" type="slidenum">
              <a:rPr lang="en-US" smtClean="0"/>
              <a:t>9</a:t>
            </a:fld>
            <a:endParaRPr lang="en-US" dirty="0"/>
          </a:p>
        </p:txBody>
      </p:sp>
    </p:spTree>
    <p:extLst>
      <p:ext uri="{BB962C8B-B14F-4D97-AF65-F5344CB8AC3E}">
        <p14:creationId xmlns:p14="http://schemas.microsoft.com/office/powerpoint/2010/main" val="1164763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Why Study Statistics? </a:t>
            </a:r>
            <a:r>
              <a:rPr lang="en-US" sz="1000" b="0" noProof="0" dirty="0"/>
              <a:t>4</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1.2</a:t>
            </a:r>
          </a:p>
        </p:txBody>
      </p:sp>
      <p:sp>
        <p:nvSpPr>
          <p:cNvPr id="4" name="Content Placeholder 3"/>
          <p:cNvSpPr>
            <a:spLocks noGrp="1"/>
          </p:cNvSpPr>
          <p:nvPr>
            <p:ph sz="quarter" idx="14"/>
          </p:nvPr>
        </p:nvSpPr>
        <p:spPr>
          <a:xfrm>
            <a:off x="342900" y="1278016"/>
            <a:ext cx="8191500" cy="1333300"/>
          </a:xfrm>
        </p:spPr>
        <p:txBody>
          <a:bodyPr/>
          <a:lstStyle/>
          <a:p>
            <a:pPr>
              <a:defRPr/>
            </a:pPr>
            <a:r>
              <a:rPr lang="en-US" b="1" i="1" noProof="0" dirty="0">
                <a:solidFill>
                  <a:schemeClr val="tx1"/>
                </a:solidFill>
              </a:rPr>
              <a:t>Communication:</a:t>
            </a:r>
          </a:p>
          <a:p>
            <a:pPr indent="1588">
              <a:spcAft>
                <a:spcPts val="2400"/>
              </a:spcAft>
              <a:defRPr/>
            </a:pPr>
            <a:r>
              <a:rPr lang="en-US" noProof="0" dirty="0">
                <a:solidFill>
                  <a:schemeClr val="tx1"/>
                </a:solidFill>
              </a:rPr>
              <a:t>Understanding the language of statistics facilitates communication and improves problem solving.</a:t>
            </a:r>
          </a:p>
        </p:txBody>
      </p:sp>
      <p:sp>
        <p:nvSpPr>
          <p:cNvPr id="5" name="Content Placeholder 4"/>
          <p:cNvSpPr>
            <a:spLocks noGrp="1"/>
          </p:cNvSpPr>
          <p:nvPr>
            <p:ph sz="quarter" idx="15"/>
          </p:nvPr>
        </p:nvSpPr>
        <p:spPr>
          <a:xfrm>
            <a:off x="342900" y="2793611"/>
            <a:ext cx="8191500" cy="1687336"/>
          </a:xfrm>
        </p:spPr>
        <p:txBody>
          <a:bodyPr/>
          <a:lstStyle/>
          <a:p>
            <a:pPr>
              <a:defRPr/>
            </a:pPr>
            <a:r>
              <a:rPr lang="en-US" b="1" i="1" noProof="0" dirty="0">
                <a:solidFill>
                  <a:schemeClr val="tx1"/>
                </a:solidFill>
              </a:rPr>
              <a:t>Computer Skills:</a:t>
            </a:r>
          </a:p>
          <a:p>
            <a:pPr indent="1588">
              <a:defRPr/>
            </a:pPr>
            <a:r>
              <a:rPr lang="en-US" noProof="0" dirty="0">
                <a:solidFill>
                  <a:schemeClr val="tx1"/>
                </a:solidFill>
              </a:rPr>
              <a:t>The use of spreadsheets for data analysis and word processors or presentation software for reports improves upon your existing skills.</a:t>
            </a:r>
            <a:endParaRPr lang="en-US" i="1" noProof="0" dirty="0">
              <a:solidFill>
                <a:schemeClr val="tx1"/>
              </a:solidFill>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10</a:t>
            </a:fld>
            <a:endParaRPr lang="en-US" dirty="0"/>
          </a:p>
        </p:txBody>
      </p:sp>
    </p:spTree>
    <p:extLst>
      <p:ext uri="{BB962C8B-B14F-4D97-AF65-F5344CB8AC3E}">
        <p14:creationId xmlns:p14="http://schemas.microsoft.com/office/powerpoint/2010/main" val="3441760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974623" cy="903231"/>
          </a:xfrm>
        </p:spPr>
        <p:txBody>
          <a:bodyPr>
            <a:normAutofit/>
          </a:bodyPr>
          <a:lstStyle/>
          <a:p>
            <a:r>
              <a:rPr lang="en-US" sz="3600" noProof="0" dirty="0"/>
              <a:t>Why Study Statistics? </a:t>
            </a:r>
            <a:r>
              <a:rPr lang="en-US" sz="1000" b="0" noProof="0" dirty="0"/>
              <a:t>5</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1.2</a:t>
            </a:r>
          </a:p>
        </p:txBody>
      </p:sp>
      <p:sp>
        <p:nvSpPr>
          <p:cNvPr id="4" name="Content Placeholder 3"/>
          <p:cNvSpPr>
            <a:spLocks noGrp="1"/>
          </p:cNvSpPr>
          <p:nvPr>
            <p:ph sz="quarter" idx="14"/>
          </p:nvPr>
        </p:nvSpPr>
        <p:spPr>
          <a:xfrm>
            <a:off x="342900" y="1278016"/>
            <a:ext cx="8191500" cy="1324508"/>
          </a:xfrm>
        </p:spPr>
        <p:txBody>
          <a:bodyPr/>
          <a:lstStyle/>
          <a:p>
            <a:pPr>
              <a:defRPr/>
            </a:pPr>
            <a:r>
              <a:rPr lang="en-US" b="1" i="1" noProof="0" dirty="0">
                <a:solidFill>
                  <a:schemeClr val="tx1"/>
                </a:solidFill>
              </a:rPr>
              <a:t>Information Management:</a:t>
            </a:r>
          </a:p>
          <a:p>
            <a:pPr indent="1588">
              <a:spcAft>
                <a:spcPts val="2400"/>
              </a:spcAft>
              <a:defRPr/>
            </a:pPr>
            <a:r>
              <a:rPr lang="en-US" noProof="0" dirty="0">
                <a:solidFill>
                  <a:schemeClr val="tx1"/>
                </a:solidFill>
              </a:rPr>
              <a:t>Statistics helps summarize small and large amounts of information (data) and reveal underlying relationships.</a:t>
            </a:r>
            <a:endParaRPr lang="en-US" i="1" noProof="0" dirty="0">
              <a:solidFill>
                <a:schemeClr val="tx1"/>
              </a:solidFill>
            </a:endParaRPr>
          </a:p>
        </p:txBody>
      </p:sp>
      <p:sp>
        <p:nvSpPr>
          <p:cNvPr id="5" name="Content Placeholder 4"/>
          <p:cNvSpPr>
            <a:spLocks noGrp="1"/>
          </p:cNvSpPr>
          <p:nvPr>
            <p:ph sz="quarter" idx="15"/>
          </p:nvPr>
        </p:nvSpPr>
        <p:spPr>
          <a:xfrm>
            <a:off x="342900" y="2784819"/>
            <a:ext cx="8191500" cy="1731298"/>
          </a:xfrm>
        </p:spPr>
        <p:txBody>
          <a:bodyPr/>
          <a:lstStyle/>
          <a:p>
            <a:pPr>
              <a:defRPr/>
            </a:pPr>
            <a:r>
              <a:rPr lang="en-US" b="1" i="1" noProof="0" dirty="0">
                <a:solidFill>
                  <a:schemeClr val="tx1"/>
                </a:solidFill>
              </a:rPr>
              <a:t>Technical Literacy:</a:t>
            </a:r>
          </a:p>
          <a:p>
            <a:pPr indent="1588">
              <a:defRPr/>
            </a:pPr>
            <a:r>
              <a:rPr lang="en-US" noProof="0" dirty="0">
                <a:solidFill>
                  <a:schemeClr val="tx1"/>
                </a:solidFill>
              </a:rPr>
              <a:t>Career opportunities are in growth industries propelled by advanced technology. The use of statistical software increases your technical literacy.</a:t>
            </a:r>
          </a:p>
        </p:txBody>
      </p:sp>
      <p:sp>
        <p:nvSpPr>
          <p:cNvPr id="10" name="Slide Number Placeholder 9"/>
          <p:cNvSpPr>
            <a:spLocks noGrp="1"/>
          </p:cNvSpPr>
          <p:nvPr>
            <p:ph type="sldNum" sz="quarter" idx="10"/>
          </p:nvPr>
        </p:nvSpPr>
        <p:spPr/>
        <p:txBody>
          <a:bodyPr/>
          <a:lstStyle/>
          <a:p>
            <a:fld id="{68151E55-6873-49E2-B8D5-2F265E6F1973}" type="slidenum">
              <a:rPr lang="en-US" smtClean="0"/>
              <a:t>11</a:t>
            </a:fld>
            <a:endParaRPr lang="en-US" dirty="0"/>
          </a:p>
        </p:txBody>
      </p:sp>
    </p:spTree>
    <p:extLst>
      <p:ext uri="{BB962C8B-B14F-4D97-AF65-F5344CB8AC3E}">
        <p14:creationId xmlns:p14="http://schemas.microsoft.com/office/powerpoint/2010/main" val="2875153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Why Study Statistics? </a:t>
            </a:r>
            <a:r>
              <a:rPr lang="en-US" sz="1000" b="0" noProof="0" dirty="0"/>
              <a:t>6</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1.2</a:t>
            </a:r>
          </a:p>
        </p:txBody>
      </p:sp>
      <p:sp>
        <p:nvSpPr>
          <p:cNvPr id="4" name="Content Placeholder 3"/>
          <p:cNvSpPr>
            <a:spLocks noGrp="1"/>
          </p:cNvSpPr>
          <p:nvPr>
            <p:ph sz="quarter" idx="14"/>
          </p:nvPr>
        </p:nvSpPr>
        <p:spPr>
          <a:xfrm>
            <a:off x="342900" y="1278014"/>
            <a:ext cx="8136082" cy="5087617"/>
          </a:xfrm>
        </p:spPr>
        <p:txBody>
          <a:bodyPr/>
          <a:lstStyle/>
          <a:p>
            <a:pPr marL="0" lvl="1" indent="0">
              <a:buNone/>
              <a:defRPr/>
            </a:pPr>
            <a:r>
              <a:rPr lang="en-US" b="1" i="1" noProof="0" dirty="0">
                <a:solidFill>
                  <a:schemeClr val="tx1"/>
                </a:solidFill>
              </a:rPr>
              <a:t>Process Improvement:</a:t>
            </a:r>
          </a:p>
          <a:p>
            <a:pPr marL="0" lvl="1" indent="0">
              <a:buNone/>
            </a:pPr>
            <a:r>
              <a:rPr lang="en-US" noProof="0" dirty="0">
                <a:solidFill>
                  <a:schemeClr val="tx1"/>
                </a:solidFill>
              </a:rPr>
              <a:t>Large firms have formal systems for continuous quality improvement. Statistics helps firms oversee their suppliers, monitor their internal operations, and identify problems. Quality improvement goes far beyond statistics, but every college graduate is expected to know enough statistics to understand its role in quality improvement.</a:t>
            </a:r>
            <a:endParaRPr lang="en-US" noProof="0" dirty="0">
              <a:solidFill>
                <a:schemeClr val="tx1"/>
              </a:solidFill>
              <a:effectLst>
                <a:outerShdw blurRad="38100" dist="38100" dir="2700000" algn="tl">
                  <a:srgbClr val="C0C0C0"/>
                </a:outerShdw>
              </a:effectLst>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12</a:t>
            </a:fld>
            <a:endParaRPr lang="en-US" dirty="0"/>
          </a:p>
        </p:txBody>
      </p:sp>
    </p:spTree>
    <p:extLst>
      <p:ext uri="{BB962C8B-B14F-4D97-AF65-F5344CB8AC3E}">
        <p14:creationId xmlns:p14="http://schemas.microsoft.com/office/powerpoint/2010/main" val="3508593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009792" cy="903231"/>
          </a:xfrm>
        </p:spPr>
        <p:txBody>
          <a:bodyPr>
            <a:normAutofit/>
          </a:bodyPr>
          <a:lstStyle/>
          <a:p>
            <a:r>
              <a:rPr lang="en-US" sz="3600" noProof="0" dirty="0"/>
              <a:t>Applying Statistics in Business </a:t>
            </a:r>
            <a:r>
              <a:rPr lang="en-US" sz="1000" b="0" noProof="0" dirty="0"/>
              <a:t>1</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1.3</a:t>
            </a:r>
          </a:p>
        </p:txBody>
      </p:sp>
      <p:sp>
        <p:nvSpPr>
          <p:cNvPr id="4" name="Content Placeholder 3"/>
          <p:cNvSpPr>
            <a:spLocks noGrp="1"/>
          </p:cNvSpPr>
          <p:nvPr>
            <p:ph sz="quarter" idx="14"/>
          </p:nvPr>
        </p:nvSpPr>
        <p:spPr>
          <a:xfrm>
            <a:off x="342900" y="1278015"/>
            <a:ext cx="8136082" cy="5140370"/>
          </a:xfrm>
        </p:spPr>
        <p:txBody>
          <a:bodyPr/>
          <a:lstStyle/>
          <a:p>
            <a:pPr>
              <a:defRPr/>
            </a:pPr>
            <a:r>
              <a:rPr lang="en-US" b="1" i="1" noProof="0" dirty="0">
                <a:solidFill>
                  <a:schemeClr val="tx1"/>
                </a:solidFill>
              </a:rPr>
              <a:t>Auditing:</a:t>
            </a:r>
          </a:p>
          <a:p>
            <a:pPr indent="1588">
              <a:defRPr/>
            </a:pPr>
            <a:r>
              <a:rPr lang="en-US" noProof="0" dirty="0">
                <a:solidFill>
                  <a:schemeClr val="tx1"/>
                </a:solidFill>
              </a:rPr>
              <a:t>The firm has learned that some invoices are being paid incorrectly, but it doesn’t know how widespread the problem is. A sample of invoices can be used to estimate the proportion of incorrectly paid invoices.</a:t>
            </a:r>
            <a:endParaRPr lang="en-US" noProof="0" dirty="0">
              <a:solidFill>
                <a:schemeClr val="tx1"/>
              </a:solidFill>
              <a:effectLst>
                <a:outerShdw blurRad="38100" dist="38100" dir="2700000" algn="tl">
                  <a:srgbClr val="C0C0C0"/>
                </a:outerShdw>
              </a:effectLst>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13</a:t>
            </a:fld>
            <a:endParaRPr lang="en-US" dirty="0"/>
          </a:p>
        </p:txBody>
      </p:sp>
    </p:spTree>
    <p:extLst>
      <p:ext uri="{BB962C8B-B14F-4D97-AF65-F5344CB8AC3E}">
        <p14:creationId xmlns:p14="http://schemas.microsoft.com/office/powerpoint/2010/main" val="3856530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36082" cy="903231"/>
          </a:xfrm>
        </p:spPr>
        <p:txBody>
          <a:bodyPr>
            <a:normAutofit/>
          </a:bodyPr>
          <a:lstStyle/>
          <a:p>
            <a:r>
              <a:rPr lang="en-US" sz="3600" noProof="0" dirty="0"/>
              <a:t>Applying Statistics in Business </a:t>
            </a:r>
            <a:r>
              <a:rPr lang="en-US" sz="1000" b="0" noProof="0" dirty="0"/>
              <a:t>2</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1.3</a:t>
            </a:r>
          </a:p>
        </p:txBody>
      </p:sp>
      <p:sp>
        <p:nvSpPr>
          <p:cNvPr id="4" name="Content Placeholder 3"/>
          <p:cNvSpPr>
            <a:spLocks noGrp="1"/>
          </p:cNvSpPr>
          <p:nvPr>
            <p:ph sz="quarter" idx="14"/>
          </p:nvPr>
        </p:nvSpPr>
        <p:spPr>
          <a:xfrm>
            <a:off x="342900" y="1278014"/>
            <a:ext cx="8136082" cy="5166747"/>
          </a:xfrm>
        </p:spPr>
        <p:txBody>
          <a:bodyPr/>
          <a:lstStyle/>
          <a:p>
            <a:pPr>
              <a:defRPr/>
            </a:pPr>
            <a:r>
              <a:rPr lang="en-US" b="1" i="1" noProof="0" dirty="0">
                <a:solidFill>
                  <a:schemeClr val="tx1"/>
                </a:solidFill>
              </a:rPr>
              <a:t>Marketing:</a:t>
            </a:r>
            <a:endParaRPr lang="en-US" b="1" noProof="0" dirty="0">
              <a:solidFill>
                <a:schemeClr val="tx1"/>
              </a:solidFill>
            </a:endParaRPr>
          </a:p>
          <a:p>
            <a:pPr indent="1588">
              <a:defRPr/>
            </a:pPr>
            <a:r>
              <a:rPr lang="en-US" noProof="0" dirty="0">
                <a:solidFill>
                  <a:schemeClr val="tx1"/>
                </a:solidFill>
              </a:rPr>
              <a:t>Many companies use Customer Relationship Management (C</a:t>
            </a:r>
            <a:r>
              <a:rPr lang="en-US" sz="100" noProof="0" dirty="0">
                <a:solidFill>
                  <a:schemeClr val="tx1"/>
                </a:solidFill>
              </a:rPr>
              <a:t> </a:t>
            </a:r>
            <a:r>
              <a:rPr lang="en-US" noProof="0" dirty="0">
                <a:solidFill>
                  <a:schemeClr val="tx1"/>
                </a:solidFill>
              </a:rPr>
              <a:t>R</a:t>
            </a:r>
            <a:r>
              <a:rPr lang="en-US" sz="100" noProof="0" dirty="0">
                <a:solidFill>
                  <a:schemeClr val="tx1"/>
                </a:solidFill>
              </a:rPr>
              <a:t> </a:t>
            </a:r>
            <a:r>
              <a:rPr lang="en-US" noProof="0" dirty="0">
                <a:solidFill>
                  <a:schemeClr val="tx1"/>
                </a:solidFill>
              </a:rPr>
              <a:t>M) to analyze customer data from multiple sources. With statistical and analytics tools such as correlation and data mining, they identify specific needs of different customer groups, and this helps them market their products and services more effectively.</a:t>
            </a:r>
            <a:endParaRPr lang="en-US" noProof="0" dirty="0">
              <a:solidFill>
                <a:schemeClr val="tx1"/>
              </a:solidFill>
              <a:effectLst>
                <a:outerShdw blurRad="38100" dist="38100" dir="2700000" algn="tl">
                  <a:srgbClr val="C0C0C0"/>
                </a:outerShdw>
              </a:effectLst>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14</a:t>
            </a:fld>
            <a:endParaRPr lang="en-US" dirty="0"/>
          </a:p>
        </p:txBody>
      </p:sp>
    </p:spTree>
    <p:extLst>
      <p:ext uri="{BB962C8B-B14F-4D97-AF65-F5344CB8AC3E}">
        <p14:creationId xmlns:p14="http://schemas.microsoft.com/office/powerpoint/2010/main" val="3114865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Applying Statistics in Business </a:t>
            </a:r>
            <a:r>
              <a:rPr lang="en-US" sz="1000" b="0" noProof="0" dirty="0"/>
              <a:t>3</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1.3</a:t>
            </a:r>
          </a:p>
        </p:txBody>
      </p:sp>
      <p:sp>
        <p:nvSpPr>
          <p:cNvPr id="4" name="Content Placeholder 3"/>
          <p:cNvSpPr>
            <a:spLocks noGrp="1"/>
          </p:cNvSpPr>
          <p:nvPr>
            <p:ph sz="quarter" idx="14"/>
          </p:nvPr>
        </p:nvSpPr>
        <p:spPr>
          <a:xfrm>
            <a:off x="342900" y="1278016"/>
            <a:ext cx="8191500" cy="1368470"/>
          </a:xfrm>
        </p:spPr>
        <p:txBody>
          <a:bodyPr/>
          <a:lstStyle/>
          <a:p>
            <a:pPr>
              <a:defRPr/>
            </a:pPr>
            <a:r>
              <a:rPr lang="en-US" b="1" i="1" noProof="0" dirty="0">
                <a:solidFill>
                  <a:schemeClr val="tx1"/>
                </a:solidFill>
              </a:rPr>
              <a:t>Health Care:</a:t>
            </a:r>
          </a:p>
          <a:p>
            <a:pPr indent="1588">
              <a:defRPr/>
            </a:pPr>
            <a:r>
              <a:rPr lang="en-US" noProof="0" dirty="0">
                <a:solidFill>
                  <a:schemeClr val="tx1"/>
                </a:solidFill>
              </a:rPr>
              <a:t>Evaluate incoming patients using a 42-item physical and mental assessment questionnaire.</a:t>
            </a:r>
          </a:p>
        </p:txBody>
      </p:sp>
      <p:sp>
        <p:nvSpPr>
          <p:cNvPr id="5" name="Content Placeholder 4"/>
          <p:cNvSpPr>
            <a:spLocks noGrp="1"/>
          </p:cNvSpPr>
          <p:nvPr>
            <p:ph sz="quarter" idx="15"/>
          </p:nvPr>
        </p:nvSpPr>
        <p:spPr>
          <a:xfrm>
            <a:off x="342900" y="2828781"/>
            <a:ext cx="8191500" cy="1382734"/>
          </a:xfrm>
        </p:spPr>
        <p:txBody>
          <a:bodyPr/>
          <a:lstStyle/>
          <a:p>
            <a:pPr>
              <a:defRPr/>
            </a:pPr>
            <a:r>
              <a:rPr lang="en-US" b="1" i="1" noProof="0" dirty="0">
                <a:solidFill>
                  <a:schemeClr val="tx1"/>
                </a:solidFill>
              </a:rPr>
              <a:t>Quality Improvement:</a:t>
            </a:r>
          </a:p>
          <a:p>
            <a:pPr indent="1588">
              <a:defRPr/>
            </a:pPr>
            <a:r>
              <a:rPr lang="en-US" noProof="0" dirty="0">
                <a:solidFill>
                  <a:schemeClr val="tx1"/>
                </a:solidFill>
              </a:rPr>
              <a:t>Initiate a triple inspection program, setting penalties for workers who produce poor-quality output.</a:t>
            </a:r>
            <a:endParaRPr lang="en-US" noProof="0" dirty="0">
              <a:solidFill>
                <a:schemeClr val="tx1"/>
              </a:solidFill>
              <a:effectLst>
                <a:outerShdw blurRad="38100" dist="38100" dir="2700000" algn="tl">
                  <a:srgbClr val="C0C0C0"/>
                </a:outerShdw>
              </a:effectLst>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15</a:t>
            </a:fld>
            <a:endParaRPr lang="en-US" dirty="0"/>
          </a:p>
        </p:txBody>
      </p:sp>
    </p:spTree>
    <p:extLst>
      <p:ext uri="{BB962C8B-B14F-4D97-AF65-F5344CB8AC3E}">
        <p14:creationId xmlns:p14="http://schemas.microsoft.com/office/powerpoint/2010/main" val="2632999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Applying Statistics in Business </a:t>
            </a:r>
            <a:r>
              <a:rPr lang="en-US" sz="1000" b="0" noProof="0" dirty="0"/>
              <a:t>4</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1.3</a:t>
            </a:r>
          </a:p>
        </p:txBody>
      </p:sp>
      <p:sp>
        <p:nvSpPr>
          <p:cNvPr id="4" name="Content Placeholder 3"/>
          <p:cNvSpPr>
            <a:spLocks noGrp="1"/>
          </p:cNvSpPr>
          <p:nvPr>
            <p:ph sz="quarter" idx="14"/>
          </p:nvPr>
        </p:nvSpPr>
        <p:spPr>
          <a:xfrm>
            <a:off x="342900" y="1278014"/>
            <a:ext cx="8136082" cy="5131577"/>
          </a:xfrm>
        </p:spPr>
        <p:txBody>
          <a:bodyPr/>
          <a:lstStyle/>
          <a:p>
            <a:pPr>
              <a:defRPr/>
            </a:pPr>
            <a:r>
              <a:rPr lang="en-US" b="1" i="1" noProof="0" dirty="0">
                <a:solidFill>
                  <a:schemeClr val="tx1"/>
                </a:solidFill>
              </a:rPr>
              <a:t>Purchasing:</a:t>
            </a:r>
            <a:endParaRPr lang="en-US" b="1" noProof="0" dirty="0">
              <a:solidFill>
                <a:schemeClr val="tx1"/>
              </a:solidFill>
            </a:endParaRPr>
          </a:p>
          <a:p>
            <a:pPr indent="1588">
              <a:defRPr/>
            </a:pPr>
            <a:r>
              <a:rPr lang="en-US" noProof="0" dirty="0">
                <a:solidFill>
                  <a:schemeClr val="tx1"/>
                </a:solidFill>
              </a:rPr>
              <a:t>A food producer purchases plastic containers for packaging its product. Inspection of the most recent shipment of 500 containers found that 3 of the containers were defective. The supplier’s historical defect rate is .005. Has the defect rate really risen or is this simply a </a:t>
            </a:r>
            <a:r>
              <a:rPr lang="en-US" noProof="0" dirty="0">
                <a:solidFill>
                  <a:schemeClr val="tx1"/>
                </a:solidFill>
                <a:cs typeface="Arial"/>
              </a:rPr>
              <a:t>“bad”</a:t>
            </a:r>
            <a:r>
              <a:rPr lang="en-US" noProof="0" dirty="0">
                <a:solidFill>
                  <a:schemeClr val="tx1"/>
                </a:solidFill>
              </a:rPr>
              <a:t> batch?</a:t>
            </a:r>
            <a:endParaRPr lang="en-US" i="1" noProof="0" dirty="0">
              <a:solidFill>
                <a:schemeClr val="tx1"/>
              </a:solidFill>
              <a:effectLst>
                <a:outerShdw blurRad="38100" dist="38100" dir="2700000" algn="tl">
                  <a:srgbClr val="C0C0C0"/>
                </a:outerShdw>
              </a:effectLst>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16</a:t>
            </a:fld>
            <a:endParaRPr lang="en-US" dirty="0"/>
          </a:p>
        </p:txBody>
      </p:sp>
    </p:spTree>
    <p:extLst>
      <p:ext uri="{BB962C8B-B14F-4D97-AF65-F5344CB8AC3E}">
        <p14:creationId xmlns:p14="http://schemas.microsoft.com/office/powerpoint/2010/main" val="1624220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Applying Statistics in Business </a:t>
            </a:r>
            <a:r>
              <a:rPr lang="en-US" sz="1000" b="0" noProof="0" dirty="0"/>
              <a:t>5</a:t>
            </a:r>
            <a:endParaRPr lang="en-US" sz="1000" noProof="0" dirty="0"/>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1.3</a:t>
            </a:r>
          </a:p>
        </p:txBody>
      </p:sp>
      <p:sp>
        <p:nvSpPr>
          <p:cNvPr id="4" name="Content Placeholder 3"/>
          <p:cNvSpPr>
            <a:spLocks noGrp="1"/>
          </p:cNvSpPr>
          <p:nvPr>
            <p:ph sz="quarter" idx="14"/>
          </p:nvPr>
        </p:nvSpPr>
        <p:spPr>
          <a:xfrm>
            <a:off x="342900" y="1262776"/>
            <a:ext cx="8191500" cy="1357332"/>
          </a:xfrm>
        </p:spPr>
        <p:txBody>
          <a:bodyPr/>
          <a:lstStyle/>
          <a:p>
            <a:pPr>
              <a:defRPr/>
            </a:pPr>
            <a:r>
              <a:rPr lang="en-US" b="1" i="1" noProof="0" dirty="0">
                <a:solidFill>
                  <a:schemeClr val="tx1"/>
                </a:solidFill>
              </a:rPr>
              <a:t>Medicine:</a:t>
            </a:r>
            <a:endParaRPr lang="en-US" b="1" noProof="0" dirty="0">
              <a:solidFill>
                <a:schemeClr val="tx1"/>
              </a:solidFill>
            </a:endParaRPr>
          </a:p>
          <a:p>
            <a:pPr indent="1588">
              <a:defRPr/>
            </a:pPr>
            <a:r>
              <a:rPr lang="en-US" noProof="0" dirty="0">
                <a:solidFill>
                  <a:schemeClr val="tx1"/>
                </a:solidFill>
              </a:rPr>
              <a:t>Determine whether a new drug is really better than the placebo or if the difference is due to chance.</a:t>
            </a:r>
          </a:p>
        </p:txBody>
      </p:sp>
      <p:sp>
        <p:nvSpPr>
          <p:cNvPr id="5" name="Content Placeholder 4"/>
          <p:cNvSpPr>
            <a:spLocks noGrp="1"/>
          </p:cNvSpPr>
          <p:nvPr>
            <p:ph sz="quarter" idx="15"/>
          </p:nvPr>
        </p:nvSpPr>
        <p:spPr>
          <a:xfrm>
            <a:off x="342900" y="2787163"/>
            <a:ext cx="8191500" cy="1028699"/>
          </a:xfrm>
        </p:spPr>
        <p:txBody>
          <a:bodyPr/>
          <a:lstStyle/>
          <a:p>
            <a:pPr>
              <a:defRPr/>
            </a:pPr>
            <a:r>
              <a:rPr lang="en-US" b="1" i="1" noProof="0" dirty="0">
                <a:solidFill>
                  <a:schemeClr val="tx1"/>
                </a:solidFill>
              </a:rPr>
              <a:t>Operations Management:</a:t>
            </a:r>
          </a:p>
          <a:p>
            <a:pPr indent="1588">
              <a:spcAft>
                <a:spcPts val="2400"/>
              </a:spcAft>
              <a:defRPr/>
            </a:pPr>
            <a:r>
              <a:rPr lang="en-US" noProof="0" dirty="0">
                <a:solidFill>
                  <a:schemeClr val="tx1"/>
                </a:solidFill>
              </a:rPr>
              <a:t>Manage inventory by forecasting consumer demand.</a:t>
            </a:r>
          </a:p>
        </p:txBody>
      </p:sp>
      <p:sp>
        <p:nvSpPr>
          <p:cNvPr id="6" name="Content Placeholder 5"/>
          <p:cNvSpPr>
            <a:spLocks noGrp="1"/>
          </p:cNvSpPr>
          <p:nvPr>
            <p:ph sz="quarter" idx="16"/>
          </p:nvPr>
        </p:nvSpPr>
        <p:spPr>
          <a:xfrm>
            <a:off x="342900" y="3982917"/>
            <a:ext cx="8191500" cy="1448106"/>
          </a:xfrm>
        </p:spPr>
        <p:txBody>
          <a:bodyPr/>
          <a:lstStyle/>
          <a:p>
            <a:pPr>
              <a:defRPr/>
            </a:pPr>
            <a:r>
              <a:rPr lang="en-US" b="1" i="1" noProof="0" dirty="0">
                <a:solidFill>
                  <a:schemeClr val="tx1"/>
                </a:solidFill>
              </a:rPr>
              <a:t>Product Warranty:</a:t>
            </a:r>
          </a:p>
          <a:p>
            <a:pPr indent="1588">
              <a:defRPr/>
            </a:pPr>
            <a:r>
              <a:rPr lang="en-US" noProof="0" dirty="0">
                <a:solidFill>
                  <a:schemeClr val="tx1"/>
                </a:solidFill>
              </a:rPr>
              <a:t>Determine the average dollar cost of engine warranty claims on a new hybrid engine.</a:t>
            </a:r>
          </a:p>
        </p:txBody>
      </p:sp>
      <p:sp>
        <p:nvSpPr>
          <p:cNvPr id="10" name="Slide Number Placeholder 9"/>
          <p:cNvSpPr>
            <a:spLocks noGrp="1"/>
          </p:cNvSpPr>
          <p:nvPr>
            <p:ph type="sldNum" sz="quarter" idx="10"/>
          </p:nvPr>
        </p:nvSpPr>
        <p:spPr/>
        <p:txBody>
          <a:bodyPr/>
          <a:lstStyle/>
          <a:p>
            <a:fld id="{68151E55-6873-49E2-B8D5-2F265E6F1973}" type="slidenum">
              <a:rPr lang="en-US" smtClean="0"/>
              <a:t>17</a:t>
            </a:fld>
            <a:endParaRPr lang="en-US" dirty="0"/>
          </a:p>
        </p:txBody>
      </p:sp>
    </p:spTree>
    <p:extLst>
      <p:ext uri="{BB962C8B-B14F-4D97-AF65-F5344CB8AC3E}">
        <p14:creationId xmlns:p14="http://schemas.microsoft.com/office/powerpoint/2010/main" val="3133174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Statistical Challenges</a:t>
            </a:r>
          </a:p>
        </p:txBody>
      </p:sp>
      <p:sp>
        <p:nvSpPr>
          <p:cNvPr id="3" name="Content Placeholder 2"/>
          <p:cNvSpPr>
            <a:spLocks noGrp="1"/>
          </p:cNvSpPr>
          <p:nvPr>
            <p:ph sz="quarter" idx="11"/>
          </p:nvPr>
        </p:nvSpPr>
        <p:spPr>
          <a:xfrm>
            <a:off x="8595360" y="55330"/>
            <a:ext cx="487680" cy="1207446"/>
          </a:xfrm>
        </p:spPr>
        <p:txBody>
          <a:bodyPr vert="vert" rIns="0"/>
          <a:lstStyle/>
          <a:p>
            <a:pPr marL="1025525" indent="-1025525"/>
            <a:r>
              <a:rPr lang="en-US" b="1" noProof="0" dirty="0"/>
              <a:t>L</a:t>
            </a:r>
            <a:r>
              <a:rPr lang="en-US" sz="100" b="1" noProof="0" dirty="0"/>
              <a:t> </a:t>
            </a:r>
            <a:r>
              <a:rPr lang="en-US" b="1" noProof="0" dirty="0"/>
              <a:t>O 1.4</a:t>
            </a:r>
          </a:p>
        </p:txBody>
      </p:sp>
      <p:sp>
        <p:nvSpPr>
          <p:cNvPr id="4" name="Content Placeholder 3"/>
          <p:cNvSpPr>
            <a:spLocks noGrp="1"/>
          </p:cNvSpPr>
          <p:nvPr>
            <p:ph sz="quarter" idx="14"/>
          </p:nvPr>
        </p:nvSpPr>
        <p:spPr>
          <a:xfrm>
            <a:off x="342900" y="1262776"/>
            <a:ext cx="8191500" cy="905237"/>
          </a:xfrm>
        </p:spPr>
        <p:txBody>
          <a:bodyPr/>
          <a:lstStyle/>
          <a:p>
            <a:pPr indent="1588" eaLnBrk="0" hangingPunct="0">
              <a:spcBef>
                <a:spcPct val="20000"/>
              </a:spcBef>
              <a:buClr>
                <a:srgbClr val="E8004D"/>
              </a:buClr>
              <a:defRPr/>
            </a:pPr>
            <a:r>
              <a:rPr lang="en-US" noProof="0" dirty="0"/>
              <a:t>The ideal data analyst (business professionals using statistics) should possess these characteristics:</a:t>
            </a:r>
          </a:p>
        </p:txBody>
      </p:sp>
      <p:sp>
        <p:nvSpPr>
          <p:cNvPr id="5" name="Content Placeholder 4"/>
          <p:cNvSpPr>
            <a:spLocks noGrp="1"/>
          </p:cNvSpPr>
          <p:nvPr>
            <p:ph sz="quarter" idx="15"/>
          </p:nvPr>
        </p:nvSpPr>
        <p:spPr>
          <a:xfrm>
            <a:off x="342899" y="2303912"/>
            <a:ext cx="3875140" cy="3742558"/>
          </a:xfrm>
        </p:spPr>
        <p:txBody>
          <a:bodyPr/>
          <a:lstStyle/>
          <a:p>
            <a:pPr marL="292608" indent="-292608">
              <a:buSzPct val="100000"/>
              <a:buFont typeface="Arial" panose="020B0604020202020204" pitchFamily="34" charset="0"/>
              <a:buChar char="•"/>
            </a:pPr>
            <a:r>
              <a:rPr lang="en-US" noProof="0" dirty="0">
                <a:solidFill>
                  <a:schemeClr val="tx1"/>
                </a:solidFill>
                <a:cs typeface="Times New Roman" pitchFamily="18" charset="0"/>
              </a:rPr>
              <a:t>Is technically current (For example, software-wise).</a:t>
            </a:r>
          </a:p>
          <a:p>
            <a:pPr marL="292608" indent="-292608">
              <a:buSzPct val="100000"/>
              <a:buFont typeface="Arial" panose="020B0604020202020204" pitchFamily="34" charset="0"/>
              <a:buChar char="•"/>
            </a:pPr>
            <a:r>
              <a:rPr lang="en-US" noProof="0" dirty="0">
                <a:solidFill>
                  <a:schemeClr val="tx1"/>
                </a:solidFill>
                <a:cs typeface="Times New Roman" pitchFamily="18" charset="0"/>
              </a:rPr>
              <a:t>Communicates well.</a:t>
            </a:r>
          </a:p>
          <a:p>
            <a:pPr marL="292608" indent="-292608">
              <a:buSzPct val="100000"/>
              <a:buFont typeface="Arial" panose="020B0604020202020204" pitchFamily="34" charset="0"/>
              <a:buChar char="•"/>
            </a:pPr>
            <a:r>
              <a:rPr lang="en-US" noProof="0" dirty="0">
                <a:solidFill>
                  <a:schemeClr val="tx1"/>
                </a:solidFill>
                <a:cs typeface="Times New Roman" pitchFamily="18" charset="0"/>
              </a:rPr>
              <a:t>Is proactive.</a:t>
            </a:r>
          </a:p>
          <a:p>
            <a:pPr marL="292608" indent="-292608">
              <a:buSzPct val="100000"/>
              <a:buFont typeface="Arial" panose="020B0604020202020204" pitchFamily="34" charset="0"/>
              <a:buChar char="•"/>
            </a:pPr>
            <a:r>
              <a:rPr lang="en-US" noProof="0" dirty="0">
                <a:solidFill>
                  <a:schemeClr val="tx1"/>
                </a:solidFill>
                <a:cs typeface="Times New Roman" pitchFamily="18" charset="0"/>
              </a:rPr>
              <a:t>Has a broad outlook.</a:t>
            </a:r>
          </a:p>
          <a:p>
            <a:pPr marL="292608" indent="-292608">
              <a:buSzPct val="100000"/>
              <a:buFont typeface="Arial" panose="020B0604020202020204" pitchFamily="34" charset="0"/>
              <a:buChar char="•"/>
            </a:pPr>
            <a:r>
              <a:rPr lang="en-US" noProof="0" dirty="0">
                <a:solidFill>
                  <a:schemeClr val="tx1"/>
                </a:solidFill>
                <a:cs typeface="Times New Roman" pitchFamily="18" charset="0"/>
              </a:rPr>
              <a:t>Is flexible.</a:t>
            </a:r>
          </a:p>
          <a:p>
            <a:pPr marL="292608" indent="-292608">
              <a:buSzPct val="100000"/>
              <a:buFont typeface="Arial" panose="020B0604020202020204" pitchFamily="34" charset="0"/>
              <a:buChar char="•"/>
            </a:pPr>
            <a:r>
              <a:rPr lang="en-US" noProof="0" dirty="0">
                <a:solidFill>
                  <a:schemeClr val="tx1"/>
                </a:solidFill>
                <a:cs typeface="Times New Roman" pitchFamily="18" charset="0"/>
              </a:rPr>
              <a:t>Meets deadlines.</a:t>
            </a:r>
          </a:p>
        </p:txBody>
      </p:sp>
      <p:sp>
        <p:nvSpPr>
          <p:cNvPr id="6" name="Content Placeholder 5"/>
          <p:cNvSpPr>
            <a:spLocks noGrp="1"/>
          </p:cNvSpPr>
          <p:nvPr>
            <p:ph sz="quarter" idx="16"/>
          </p:nvPr>
        </p:nvSpPr>
        <p:spPr>
          <a:xfrm>
            <a:off x="4498258" y="2335068"/>
            <a:ext cx="4036141" cy="3436881"/>
          </a:xfrm>
        </p:spPr>
        <p:txBody>
          <a:bodyPr/>
          <a:lstStyle/>
          <a:p>
            <a:pPr marL="292608" indent="-292608">
              <a:buSzPct val="100000"/>
              <a:buFont typeface="Arial" panose="020B0604020202020204" pitchFamily="34" charset="0"/>
              <a:buChar char="•"/>
            </a:pPr>
            <a:r>
              <a:rPr lang="en-US" noProof="0" dirty="0">
                <a:solidFill>
                  <a:schemeClr val="tx1"/>
                </a:solidFill>
                <a:cs typeface="Times New Roman" pitchFamily="18" charset="0"/>
              </a:rPr>
              <a:t>Focuses on the main problem.</a:t>
            </a:r>
            <a:endParaRPr lang="en-US" kern="0" noProof="0" dirty="0">
              <a:solidFill>
                <a:schemeClr val="tx1"/>
              </a:solidFill>
              <a:cs typeface="Times New Roman" pitchFamily="18" charset="0"/>
            </a:endParaRPr>
          </a:p>
          <a:p>
            <a:pPr marL="292608" indent="-292608">
              <a:buFont typeface="Arial" panose="020B0604020202020204" pitchFamily="34" charset="0"/>
              <a:buChar char="•"/>
            </a:pPr>
            <a:r>
              <a:rPr lang="en-US" kern="0" noProof="0" dirty="0">
                <a:solidFill>
                  <a:schemeClr val="tx1"/>
                </a:solidFill>
                <a:cs typeface="Times New Roman" pitchFamily="18" charset="0"/>
              </a:rPr>
              <a:t>Knows their limitations and is willing to ask for help.</a:t>
            </a:r>
          </a:p>
          <a:p>
            <a:pPr marL="292608" indent="-292608">
              <a:buFont typeface="Arial" panose="020B0604020202020204" pitchFamily="34" charset="0"/>
              <a:buChar char="•"/>
            </a:pPr>
            <a:r>
              <a:rPr lang="en-US" kern="0" noProof="0" dirty="0">
                <a:solidFill>
                  <a:schemeClr val="tx1"/>
                </a:solidFill>
                <a:cs typeface="Times New Roman" pitchFamily="18" charset="0"/>
              </a:rPr>
              <a:t>Can deal with imperfect information.</a:t>
            </a:r>
          </a:p>
          <a:p>
            <a:pPr marL="292608" indent="-292608">
              <a:buFont typeface="Arial" panose="020B0604020202020204" pitchFamily="34" charset="0"/>
              <a:buChar char="•"/>
            </a:pPr>
            <a:r>
              <a:rPr lang="en-US" kern="0" noProof="0" dirty="0">
                <a:solidFill>
                  <a:schemeClr val="tx1"/>
                </a:solidFill>
                <a:cs typeface="Times New Roman" pitchFamily="18" charset="0"/>
              </a:rPr>
              <a:t>Has professional integrity.</a:t>
            </a:r>
            <a:endParaRPr lang="en-US" noProof="0" dirty="0">
              <a:solidFill>
                <a:schemeClr val="tx1"/>
              </a:solidFill>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18</a:t>
            </a:fld>
            <a:endParaRPr lang="en-US" dirty="0"/>
          </a:p>
        </p:txBody>
      </p:sp>
    </p:spTree>
    <p:extLst>
      <p:ext uri="{BB962C8B-B14F-4D97-AF65-F5344CB8AC3E}">
        <p14:creationId xmlns:p14="http://schemas.microsoft.com/office/powerpoint/2010/main" val="1071102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64706"/>
            <a:ext cx="8191500" cy="958798"/>
          </a:xfrm>
        </p:spPr>
        <p:txBody>
          <a:bodyPr>
            <a:noAutofit/>
          </a:bodyPr>
          <a:lstStyle/>
          <a:p>
            <a:r>
              <a:rPr lang="en-US" sz="3400" noProof="0" dirty="0"/>
              <a:t>Imperfect Data and Practical Constraints</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1.4</a:t>
            </a:r>
          </a:p>
        </p:txBody>
      </p:sp>
      <p:sp>
        <p:nvSpPr>
          <p:cNvPr id="4" name="Content Placeholder 3"/>
          <p:cNvSpPr>
            <a:spLocks noGrp="1"/>
          </p:cNvSpPr>
          <p:nvPr>
            <p:ph sz="quarter" idx="14"/>
          </p:nvPr>
        </p:nvSpPr>
        <p:spPr>
          <a:xfrm>
            <a:off x="342900" y="1278015"/>
            <a:ext cx="8136082" cy="4945804"/>
          </a:xfrm>
        </p:spPr>
        <p:txBody>
          <a:bodyPr/>
          <a:lstStyle/>
          <a:p>
            <a:pPr>
              <a:defRPr/>
            </a:pPr>
            <a:r>
              <a:rPr lang="en-US" noProof="0" dirty="0">
                <a:solidFill>
                  <a:schemeClr val="tx1"/>
                </a:solidFill>
              </a:rPr>
              <a:t>You will face constraints on the type and quality of data you can collect.</a:t>
            </a:r>
          </a:p>
          <a:p>
            <a:pPr>
              <a:defRPr/>
            </a:pPr>
            <a:r>
              <a:rPr lang="en-US" noProof="0" dirty="0">
                <a:solidFill>
                  <a:schemeClr val="tx1"/>
                </a:solidFill>
              </a:rPr>
              <a:t>State any assumptions and limitations and use generally accepted statistical tests to detect unusual data points or to deal with missing data.</a:t>
            </a:r>
          </a:p>
          <a:p>
            <a:pPr>
              <a:defRPr/>
            </a:pPr>
            <a:r>
              <a:rPr lang="en-US" noProof="0" dirty="0">
                <a:solidFill>
                  <a:schemeClr val="tx1"/>
                </a:solidFill>
              </a:rPr>
              <a:t>Constraint Examples:</a:t>
            </a:r>
          </a:p>
          <a:p>
            <a:pPr marL="292608" indent="-292608">
              <a:buSzPct val="100000"/>
              <a:buFont typeface="Arial" panose="020B0604020202020204" pitchFamily="34" charset="0"/>
              <a:buChar char="•"/>
              <a:defRPr/>
            </a:pPr>
            <a:r>
              <a:rPr lang="en-US" noProof="0" dirty="0">
                <a:solidFill>
                  <a:schemeClr val="tx1"/>
                </a:solidFill>
              </a:rPr>
              <a:t>Automobile tests can’t use human subjects (too risky).</a:t>
            </a:r>
          </a:p>
          <a:p>
            <a:pPr marL="292608" indent="-292608">
              <a:buSzPct val="100000"/>
              <a:buFont typeface="Arial" panose="020B0604020202020204" pitchFamily="34" charset="0"/>
              <a:buChar char="•"/>
              <a:defRPr/>
            </a:pPr>
            <a:r>
              <a:rPr lang="en-US" noProof="0" dirty="0">
                <a:solidFill>
                  <a:schemeClr val="tx1"/>
                </a:solidFill>
              </a:rPr>
              <a:t>Telephone surveys can’t ask a female respondent whether she has had an abortion (sensitive question).</a:t>
            </a:r>
          </a:p>
          <a:p>
            <a:pPr marL="292608" indent="-292608">
              <a:buSzPct val="100000"/>
              <a:buFont typeface="Arial" panose="020B0604020202020204" pitchFamily="34" charset="0"/>
              <a:buChar char="•"/>
              <a:defRPr/>
            </a:pPr>
            <a:r>
              <a:rPr lang="en-US" noProof="0" dirty="0">
                <a:solidFill>
                  <a:schemeClr val="tx1"/>
                </a:solidFill>
              </a:rPr>
              <a:t>We can’t test everyone for COVID (the world is not a laboratory).</a:t>
            </a:r>
            <a:endParaRPr lang="en-US" i="1" noProof="0" dirty="0">
              <a:solidFill>
                <a:schemeClr val="tx1"/>
              </a:solidFill>
              <a:effectLst>
                <a:outerShdw blurRad="38100" dist="38100" dir="2700000" algn="tl">
                  <a:srgbClr val="C0C0C0"/>
                </a:outerShdw>
              </a:effectLst>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19</a:t>
            </a:fld>
            <a:endParaRPr lang="en-US" dirty="0"/>
          </a:p>
        </p:txBody>
      </p:sp>
    </p:spTree>
    <p:extLst>
      <p:ext uri="{BB962C8B-B14F-4D97-AF65-F5344CB8AC3E}">
        <p14:creationId xmlns:p14="http://schemas.microsoft.com/office/powerpoint/2010/main" val="1310968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062546" cy="903231"/>
          </a:xfrm>
        </p:spPr>
        <p:txBody>
          <a:bodyPr>
            <a:normAutofit/>
          </a:bodyPr>
          <a:lstStyle/>
          <a:p>
            <a:r>
              <a:rPr lang="en-US" sz="3600" noProof="0" dirty="0"/>
              <a:t>Business Ethics</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1.4</a:t>
            </a:r>
          </a:p>
        </p:txBody>
      </p:sp>
      <p:sp>
        <p:nvSpPr>
          <p:cNvPr id="4" name="Content Placeholder 3"/>
          <p:cNvSpPr>
            <a:spLocks noGrp="1"/>
          </p:cNvSpPr>
          <p:nvPr>
            <p:ph sz="quarter" idx="14"/>
          </p:nvPr>
        </p:nvSpPr>
        <p:spPr>
          <a:xfrm>
            <a:off x="342900" y="1278014"/>
            <a:ext cx="8136082" cy="5034295"/>
          </a:xfrm>
        </p:spPr>
        <p:txBody>
          <a:bodyPr/>
          <a:lstStyle/>
          <a:p>
            <a:pPr>
              <a:spcAft>
                <a:spcPts val="600"/>
              </a:spcAft>
              <a:buClr>
                <a:srgbClr val="E8004D"/>
              </a:buClr>
              <a:defRPr/>
            </a:pPr>
            <a:r>
              <a:rPr lang="en-US" noProof="0" dirty="0">
                <a:solidFill>
                  <a:schemeClr val="tx1"/>
                </a:solidFill>
              </a:rPr>
              <a:t>Some broad ethical responsibilities of business include the following:</a:t>
            </a:r>
          </a:p>
          <a:p>
            <a:pPr marL="292608" indent="-292608">
              <a:buFont typeface="Arial" panose="020B0604020202020204" pitchFamily="34" charset="0"/>
              <a:buChar char="•"/>
              <a:defRPr/>
            </a:pPr>
            <a:r>
              <a:rPr lang="en-US" noProof="0" dirty="0">
                <a:solidFill>
                  <a:schemeClr val="tx1"/>
                </a:solidFill>
              </a:rPr>
              <a:t>Treating customers in a fair and honest manner.</a:t>
            </a:r>
          </a:p>
          <a:p>
            <a:pPr marL="292608" indent="-292608">
              <a:buFont typeface="Arial" panose="020B0604020202020204" pitchFamily="34" charset="0"/>
              <a:buChar char="•"/>
              <a:defRPr/>
            </a:pPr>
            <a:r>
              <a:rPr lang="en-US" noProof="0" dirty="0">
                <a:solidFill>
                  <a:schemeClr val="tx1"/>
                </a:solidFill>
              </a:rPr>
              <a:t>Complying with laws that prohibit discrimination.</a:t>
            </a:r>
          </a:p>
          <a:p>
            <a:pPr marL="292608" indent="-292608">
              <a:buFont typeface="Arial" panose="020B0604020202020204" pitchFamily="34" charset="0"/>
              <a:buChar char="•"/>
              <a:defRPr/>
            </a:pPr>
            <a:r>
              <a:rPr lang="en-US" noProof="0" dirty="0">
                <a:solidFill>
                  <a:schemeClr val="tx1"/>
                </a:solidFill>
              </a:rPr>
              <a:t>Ensuring that products and services meet safety regulations.</a:t>
            </a:r>
          </a:p>
          <a:p>
            <a:pPr marL="292608" indent="-292608">
              <a:buFont typeface="Arial" panose="020B0604020202020204" pitchFamily="34" charset="0"/>
              <a:buChar char="•"/>
              <a:defRPr/>
            </a:pPr>
            <a:r>
              <a:rPr lang="en-US" noProof="0" dirty="0">
                <a:solidFill>
                  <a:schemeClr val="tx1"/>
                </a:solidFill>
              </a:rPr>
              <a:t>Advertising in a factual and informative manner.</a:t>
            </a:r>
          </a:p>
          <a:p>
            <a:pPr marL="292608" indent="-292608">
              <a:buFont typeface="Arial" panose="020B0604020202020204" pitchFamily="34" charset="0"/>
              <a:buChar char="•"/>
              <a:defRPr/>
            </a:pPr>
            <a:r>
              <a:rPr lang="en-US" noProof="0" dirty="0">
                <a:solidFill>
                  <a:schemeClr val="tx1"/>
                </a:solidFill>
              </a:rPr>
              <a:t>Encouraging employees to ask questions and voice concerns about the company’s business practices.</a:t>
            </a:r>
          </a:p>
          <a:p>
            <a:pPr marL="292608" indent="-292608">
              <a:buFont typeface="Arial" panose="020B0604020202020204" pitchFamily="34" charset="0"/>
              <a:buChar char="•"/>
              <a:defRPr/>
            </a:pPr>
            <a:r>
              <a:rPr lang="en-US" noProof="0" dirty="0">
                <a:solidFill>
                  <a:schemeClr val="tx1"/>
                </a:solidFill>
              </a:rPr>
              <a:t>Being responsible for accurately reporting information to management.</a:t>
            </a:r>
            <a:endParaRPr lang="en-US" i="1" noProof="0" dirty="0">
              <a:solidFill>
                <a:schemeClr val="tx1"/>
              </a:solidFill>
              <a:effectLst>
                <a:outerShdw blurRad="38100" dist="38100" dir="2700000" algn="tl">
                  <a:srgbClr val="C0C0C0"/>
                </a:outerShdw>
              </a:effectLst>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20</a:t>
            </a:fld>
            <a:endParaRPr lang="en-US" dirty="0"/>
          </a:p>
        </p:txBody>
      </p:sp>
    </p:spTree>
    <p:extLst>
      <p:ext uri="{BB962C8B-B14F-4D97-AF65-F5344CB8AC3E}">
        <p14:creationId xmlns:p14="http://schemas.microsoft.com/office/powerpoint/2010/main" val="1233698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Upholding Ethical Standards</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1.4</a:t>
            </a:r>
          </a:p>
        </p:txBody>
      </p:sp>
      <p:sp>
        <p:nvSpPr>
          <p:cNvPr id="4" name="Content Placeholder 3"/>
          <p:cNvSpPr>
            <a:spLocks noGrp="1"/>
          </p:cNvSpPr>
          <p:nvPr>
            <p:ph sz="quarter" idx="14"/>
          </p:nvPr>
        </p:nvSpPr>
        <p:spPr>
          <a:xfrm>
            <a:off x="342900" y="1278014"/>
            <a:ext cx="8136082" cy="5034295"/>
          </a:xfrm>
        </p:spPr>
        <p:txBody>
          <a:bodyPr/>
          <a:lstStyle/>
          <a:p>
            <a:pPr>
              <a:defRPr/>
            </a:pPr>
            <a:r>
              <a:rPr lang="en-US" noProof="0" dirty="0">
                <a:solidFill>
                  <a:schemeClr val="tx1"/>
                </a:solidFill>
              </a:rPr>
              <a:t>Ethical standards for the data analyst:</a:t>
            </a:r>
          </a:p>
          <a:p>
            <a:pPr marL="292608" indent="-292608">
              <a:buFont typeface="Arial" panose="020B0604020202020204" pitchFamily="34" charset="0"/>
              <a:buChar char="•"/>
              <a:defRPr/>
            </a:pPr>
            <a:r>
              <a:rPr lang="en-US" noProof="0" dirty="0">
                <a:solidFill>
                  <a:schemeClr val="tx1"/>
                </a:solidFill>
              </a:rPr>
              <a:t>Know and follow accepted procedures.</a:t>
            </a:r>
          </a:p>
          <a:p>
            <a:pPr marL="292608" indent="-292608">
              <a:buFont typeface="Arial" panose="020B0604020202020204" pitchFamily="34" charset="0"/>
              <a:buChar char="•"/>
              <a:defRPr/>
            </a:pPr>
            <a:r>
              <a:rPr lang="en-US" noProof="0" dirty="0">
                <a:solidFill>
                  <a:schemeClr val="tx1"/>
                </a:solidFill>
              </a:rPr>
              <a:t>Maintain data integrity.</a:t>
            </a:r>
          </a:p>
          <a:p>
            <a:pPr marL="292608" indent="-292608">
              <a:buFont typeface="Arial" panose="020B0604020202020204" pitchFamily="34" charset="0"/>
              <a:buChar char="•"/>
              <a:defRPr/>
            </a:pPr>
            <a:r>
              <a:rPr lang="en-US" noProof="0" dirty="0">
                <a:solidFill>
                  <a:schemeClr val="tx1"/>
                </a:solidFill>
              </a:rPr>
              <a:t>Carry out accurate calculations.</a:t>
            </a:r>
          </a:p>
          <a:p>
            <a:pPr marL="292608" indent="-292608">
              <a:buFont typeface="Arial" panose="020B0604020202020204" pitchFamily="34" charset="0"/>
              <a:buChar char="•"/>
              <a:defRPr/>
            </a:pPr>
            <a:r>
              <a:rPr lang="en-US" noProof="0" dirty="0">
                <a:solidFill>
                  <a:schemeClr val="tx1"/>
                </a:solidFill>
              </a:rPr>
              <a:t>Report procedures faithfully.</a:t>
            </a:r>
          </a:p>
          <a:p>
            <a:pPr marL="292608" indent="-292608">
              <a:buFont typeface="Arial" panose="020B0604020202020204" pitchFamily="34" charset="0"/>
              <a:buChar char="•"/>
              <a:defRPr/>
            </a:pPr>
            <a:r>
              <a:rPr lang="en-US" noProof="0" dirty="0">
                <a:solidFill>
                  <a:schemeClr val="tx1"/>
                </a:solidFill>
              </a:rPr>
              <a:t>Protect confidential information.</a:t>
            </a:r>
          </a:p>
          <a:p>
            <a:pPr marL="292608" indent="-292608">
              <a:buFont typeface="Arial" panose="020B0604020202020204" pitchFamily="34" charset="0"/>
              <a:buChar char="•"/>
              <a:defRPr/>
            </a:pPr>
            <a:r>
              <a:rPr lang="en-US" noProof="0" dirty="0">
                <a:solidFill>
                  <a:schemeClr val="tx1"/>
                </a:solidFill>
              </a:rPr>
              <a:t>Cite sources.</a:t>
            </a:r>
          </a:p>
          <a:p>
            <a:pPr marL="292608" indent="-292608">
              <a:buFont typeface="Arial" panose="020B0604020202020204" pitchFamily="34" charset="0"/>
              <a:buChar char="•"/>
              <a:defRPr/>
            </a:pPr>
            <a:r>
              <a:rPr lang="en-US" noProof="0" dirty="0">
                <a:solidFill>
                  <a:schemeClr val="tx1"/>
                </a:solidFill>
              </a:rPr>
              <a:t>Acknowledge sources of financial support.</a:t>
            </a:r>
            <a:endParaRPr lang="en-US" i="1" noProof="0" dirty="0">
              <a:solidFill>
                <a:schemeClr val="tx1"/>
              </a:solidFill>
              <a:effectLst>
                <a:outerShdw blurRad="38100" dist="38100" dir="2700000" algn="tl">
                  <a:srgbClr val="C0C0C0"/>
                </a:outerShdw>
              </a:effectLst>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21</a:t>
            </a:fld>
            <a:endParaRPr lang="en-US" dirty="0"/>
          </a:p>
        </p:txBody>
      </p:sp>
    </p:spTree>
    <p:extLst>
      <p:ext uri="{BB962C8B-B14F-4D97-AF65-F5344CB8AC3E}">
        <p14:creationId xmlns:p14="http://schemas.microsoft.com/office/powerpoint/2010/main" val="1600284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Working in Teams</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1.4</a:t>
            </a:r>
          </a:p>
        </p:txBody>
      </p:sp>
      <p:sp>
        <p:nvSpPr>
          <p:cNvPr id="4" name="Content Placeholder 3"/>
          <p:cNvSpPr>
            <a:spLocks noGrp="1"/>
          </p:cNvSpPr>
          <p:nvPr>
            <p:ph sz="quarter" idx="14"/>
          </p:nvPr>
        </p:nvSpPr>
        <p:spPr>
          <a:xfrm>
            <a:off x="342900" y="1278014"/>
            <a:ext cx="7703820" cy="5034295"/>
          </a:xfrm>
        </p:spPr>
        <p:txBody>
          <a:bodyPr/>
          <a:lstStyle/>
          <a:p>
            <a:pPr>
              <a:defRPr/>
            </a:pPr>
            <a:r>
              <a:rPr lang="en-US" noProof="0" dirty="0">
                <a:solidFill>
                  <a:schemeClr val="tx1"/>
                </a:solidFill>
              </a:rPr>
              <a:t>Business activity is often handled in teams. Today, technical experts spend much of their time in meetings, discussing project milestones, preparing team reports, and arguing about methodology.</a:t>
            </a:r>
          </a:p>
          <a:p>
            <a:pPr>
              <a:defRPr/>
            </a:pPr>
            <a:r>
              <a:rPr lang="en-US" noProof="0" dirty="0">
                <a:solidFill>
                  <a:schemeClr val="tx1"/>
                </a:solidFill>
              </a:rPr>
              <a:t>Questions teams face.</a:t>
            </a:r>
          </a:p>
          <a:p>
            <a:pPr marL="292608" indent="-292608">
              <a:buFont typeface="Arial" panose="020B0604020202020204" pitchFamily="34" charset="0"/>
              <a:buChar char="•"/>
              <a:defRPr/>
            </a:pPr>
            <a:r>
              <a:rPr lang="en-US" noProof="0" dirty="0">
                <a:solidFill>
                  <a:schemeClr val="tx1"/>
                </a:solidFill>
              </a:rPr>
              <a:t>What is the best way to organize the team?</a:t>
            </a:r>
          </a:p>
          <a:p>
            <a:pPr marL="292608" indent="-292608">
              <a:buFont typeface="Arial" panose="020B0604020202020204" pitchFamily="34" charset="0"/>
              <a:buChar char="•"/>
              <a:defRPr/>
            </a:pPr>
            <a:r>
              <a:rPr lang="en-US" noProof="0" dirty="0">
                <a:solidFill>
                  <a:schemeClr val="tx1"/>
                </a:solidFill>
              </a:rPr>
              <a:t>What communication channels will the team use?</a:t>
            </a:r>
          </a:p>
          <a:p>
            <a:pPr marL="292608" indent="-292608">
              <a:buFont typeface="Arial" panose="020B0604020202020204" pitchFamily="34" charset="0"/>
              <a:buChar char="•"/>
              <a:defRPr/>
            </a:pPr>
            <a:r>
              <a:rPr lang="en-US" noProof="0" dirty="0">
                <a:solidFill>
                  <a:schemeClr val="tx1"/>
                </a:solidFill>
              </a:rPr>
              <a:t>How can the team’s resources best be utilized?</a:t>
            </a:r>
          </a:p>
          <a:p>
            <a:pPr marL="292608" indent="-292608">
              <a:buFont typeface="Arial" panose="020B0604020202020204" pitchFamily="34" charset="0"/>
              <a:buChar char="•"/>
              <a:defRPr/>
            </a:pPr>
            <a:r>
              <a:rPr lang="en-US" noProof="0" dirty="0">
                <a:solidFill>
                  <a:schemeClr val="tx1"/>
                </a:solidFill>
              </a:rPr>
              <a:t>What is the role of the team leader?</a:t>
            </a:r>
          </a:p>
          <a:p>
            <a:pPr marL="292608" indent="-292608">
              <a:buFont typeface="Arial" panose="020B0604020202020204" pitchFamily="34" charset="0"/>
              <a:buChar char="•"/>
              <a:defRPr/>
            </a:pPr>
            <a:r>
              <a:rPr lang="en-US" noProof="0" dirty="0">
                <a:solidFill>
                  <a:schemeClr val="tx1"/>
                </a:solidFill>
              </a:rPr>
              <a:t>Do we need a subcommittee?</a:t>
            </a:r>
          </a:p>
        </p:txBody>
      </p:sp>
      <p:sp>
        <p:nvSpPr>
          <p:cNvPr id="10" name="Slide Number Placeholder 9"/>
          <p:cNvSpPr>
            <a:spLocks noGrp="1"/>
          </p:cNvSpPr>
          <p:nvPr>
            <p:ph type="sldNum" sz="quarter" idx="10"/>
          </p:nvPr>
        </p:nvSpPr>
        <p:spPr/>
        <p:txBody>
          <a:bodyPr/>
          <a:lstStyle/>
          <a:p>
            <a:fld id="{68151E55-6873-49E2-B8D5-2F265E6F1973}" type="slidenum">
              <a:rPr lang="en-US" smtClean="0"/>
              <a:t>22</a:t>
            </a:fld>
            <a:endParaRPr lang="en-US" dirty="0"/>
          </a:p>
        </p:txBody>
      </p:sp>
    </p:spTree>
    <p:extLst>
      <p:ext uri="{BB962C8B-B14F-4D97-AF65-F5344CB8AC3E}">
        <p14:creationId xmlns:p14="http://schemas.microsoft.com/office/powerpoint/2010/main" val="754295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Using Consultants</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1.4</a:t>
            </a:r>
          </a:p>
        </p:txBody>
      </p:sp>
      <p:sp>
        <p:nvSpPr>
          <p:cNvPr id="4" name="Content Placeholder 3"/>
          <p:cNvSpPr>
            <a:spLocks noGrp="1"/>
          </p:cNvSpPr>
          <p:nvPr>
            <p:ph sz="quarter" idx="14"/>
          </p:nvPr>
        </p:nvSpPr>
        <p:spPr>
          <a:xfrm>
            <a:off x="342900" y="1278014"/>
            <a:ext cx="8136082" cy="5034295"/>
          </a:xfrm>
        </p:spPr>
        <p:txBody>
          <a:bodyPr/>
          <a:lstStyle/>
          <a:p>
            <a:pPr marL="292608" indent="-292608">
              <a:buFont typeface="Arial" panose="020B0604020202020204" pitchFamily="34" charset="0"/>
              <a:buChar char="•"/>
              <a:defRPr/>
            </a:pPr>
            <a:r>
              <a:rPr lang="en-US" noProof="0" dirty="0">
                <a:solidFill>
                  <a:schemeClr val="tx1"/>
                </a:solidFill>
              </a:rPr>
              <a:t>Hire consultants at the </a:t>
            </a:r>
            <a:r>
              <a:rPr lang="en-US" b="1" noProof="0" dirty="0">
                <a:solidFill>
                  <a:schemeClr val="tx1"/>
                </a:solidFill>
              </a:rPr>
              <a:t>beginning </a:t>
            </a:r>
            <a:r>
              <a:rPr lang="en-US" noProof="0" dirty="0">
                <a:solidFill>
                  <a:schemeClr val="tx1"/>
                </a:solidFill>
              </a:rPr>
              <a:t>of the project, when your team lacks certain skills or when an unbiased or informed view is needed.</a:t>
            </a:r>
          </a:p>
          <a:p>
            <a:pPr marL="292608" indent="-292608">
              <a:buFont typeface="Arial" panose="020B0604020202020204" pitchFamily="34" charset="0"/>
              <a:buChar char="•"/>
              <a:defRPr/>
            </a:pPr>
            <a:r>
              <a:rPr lang="en-US" noProof="0" dirty="0">
                <a:solidFill>
                  <a:schemeClr val="tx1"/>
                </a:solidFill>
              </a:rPr>
              <a:t>Some companies expect their employees to be able to interpret the results of a statistical analysis, even if it was completed by an outside consultant.</a:t>
            </a:r>
          </a:p>
        </p:txBody>
      </p:sp>
      <p:sp>
        <p:nvSpPr>
          <p:cNvPr id="10" name="Slide Number Placeholder 9"/>
          <p:cNvSpPr>
            <a:spLocks noGrp="1"/>
          </p:cNvSpPr>
          <p:nvPr>
            <p:ph type="sldNum" sz="quarter" idx="10"/>
          </p:nvPr>
        </p:nvSpPr>
        <p:spPr/>
        <p:txBody>
          <a:bodyPr/>
          <a:lstStyle/>
          <a:p>
            <a:fld id="{68151E55-6873-49E2-B8D5-2F265E6F1973}" type="slidenum">
              <a:rPr lang="en-US" smtClean="0"/>
              <a:t>23</a:t>
            </a:fld>
            <a:endParaRPr lang="en-US" dirty="0"/>
          </a:p>
        </p:txBody>
      </p:sp>
    </p:spTree>
    <p:extLst>
      <p:ext uri="{BB962C8B-B14F-4D97-AF65-F5344CB8AC3E}">
        <p14:creationId xmlns:p14="http://schemas.microsoft.com/office/powerpoint/2010/main" val="377479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Communicating with Numbers </a:t>
            </a:r>
            <a:r>
              <a:rPr lang="en-US" sz="1000" b="0" noProof="0" dirty="0"/>
              <a:t>1</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1.4</a:t>
            </a:r>
          </a:p>
        </p:txBody>
      </p:sp>
      <p:sp>
        <p:nvSpPr>
          <p:cNvPr id="4" name="Content Placeholder 3"/>
          <p:cNvSpPr>
            <a:spLocks noGrp="1"/>
          </p:cNvSpPr>
          <p:nvPr>
            <p:ph sz="quarter" idx="14"/>
          </p:nvPr>
        </p:nvSpPr>
        <p:spPr>
          <a:xfrm>
            <a:off x="342900" y="1278014"/>
            <a:ext cx="8136082" cy="5034295"/>
          </a:xfrm>
        </p:spPr>
        <p:txBody>
          <a:bodyPr/>
          <a:lstStyle/>
          <a:p>
            <a:pPr marL="292608" indent="-292608">
              <a:buFont typeface="Arial" panose="020B0604020202020204" pitchFamily="34" charset="0"/>
              <a:buChar char="•"/>
              <a:defRPr/>
            </a:pPr>
            <a:r>
              <a:rPr lang="en-US" noProof="0" dirty="0">
                <a:solidFill>
                  <a:schemeClr val="tx1"/>
                </a:solidFill>
              </a:rPr>
              <a:t>Numbers have meaning only when communicated in the context of a certain situation.</a:t>
            </a:r>
          </a:p>
          <a:p>
            <a:pPr marL="292608" indent="-292608">
              <a:buFont typeface="Arial" panose="020B0604020202020204" pitchFamily="34" charset="0"/>
              <a:buChar char="•"/>
              <a:defRPr/>
            </a:pPr>
            <a:r>
              <a:rPr lang="en-US" noProof="0" dirty="0">
                <a:solidFill>
                  <a:schemeClr val="tx1"/>
                </a:solidFill>
              </a:rPr>
              <a:t>Presentation should be such that managers will quickly understand the information they need to use in order to make good decisions.</a:t>
            </a:r>
          </a:p>
        </p:txBody>
      </p:sp>
      <p:sp>
        <p:nvSpPr>
          <p:cNvPr id="10" name="Slide Number Placeholder 9"/>
          <p:cNvSpPr>
            <a:spLocks noGrp="1"/>
          </p:cNvSpPr>
          <p:nvPr>
            <p:ph type="sldNum" sz="quarter" idx="10"/>
          </p:nvPr>
        </p:nvSpPr>
        <p:spPr/>
        <p:txBody>
          <a:bodyPr/>
          <a:lstStyle/>
          <a:p>
            <a:fld id="{68151E55-6873-49E2-B8D5-2F265E6F1973}" type="slidenum">
              <a:rPr lang="en-US" smtClean="0"/>
              <a:t>24</a:t>
            </a:fld>
            <a:endParaRPr lang="en-US" dirty="0"/>
          </a:p>
        </p:txBody>
      </p:sp>
    </p:spTree>
    <p:extLst>
      <p:ext uri="{BB962C8B-B14F-4D97-AF65-F5344CB8AC3E}">
        <p14:creationId xmlns:p14="http://schemas.microsoft.com/office/powerpoint/2010/main" val="3528834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normAutofit/>
          </a:bodyPr>
          <a:lstStyle/>
          <a:p>
            <a:r>
              <a:rPr lang="en-US" sz="3600" noProof="0" dirty="0"/>
              <a:t>Communicating with Numbers </a:t>
            </a:r>
            <a:r>
              <a:rPr lang="en-US" sz="1000" b="0" noProof="0" dirty="0"/>
              <a:t>2</a:t>
            </a:r>
            <a:endParaRPr lang="en-US" sz="1000" noProof="0" dirty="0"/>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610108" y="54864"/>
            <a:ext cx="476295" cy="1295711"/>
          </a:xfrm>
        </p:spPr>
        <p:txBody>
          <a:bodyPr vert="vert" tIns="45720" rIns="0"/>
          <a:lstStyle/>
          <a:p>
            <a:pPr marL="1025525" indent="-1025525"/>
            <a:r>
              <a:rPr lang="en-US" b="1" noProof="0" dirty="0"/>
              <a:t>L</a:t>
            </a:r>
            <a:r>
              <a:rPr lang="en-US" sz="100" b="1" noProof="0" dirty="0"/>
              <a:t> </a:t>
            </a:r>
            <a:r>
              <a:rPr lang="en-US" b="1" noProof="0" dirty="0"/>
              <a:t>O 1.4</a:t>
            </a:r>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0" y="1274081"/>
            <a:ext cx="7694971" cy="704187"/>
          </a:xfrm>
        </p:spPr>
        <p:txBody>
          <a:bodyPr/>
          <a:lstStyle/>
          <a:p>
            <a:r>
              <a:rPr lang="en-US" sz="2000" noProof="0" dirty="0">
                <a:solidFill>
                  <a:schemeClr val="tx1"/>
                </a:solidFill>
              </a:rPr>
              <a:t>Compare Table 1.1 and Figure 1.2. Which is more helpful in understanding Apple’s recent financial performance?</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0" y="2079933"/>
            <a:ext cx="6647835" cy="392901"/>
          </a:xfrm>
        </p:spPr>
        <p:txBody>
          <a:bodyPr/>
          <a:lstStyle/>
          <a:p>
            <a:r>
              <a:rPr lang="en-US" sz="1800" b="1" noProof="0" dirty="0"/>
              <a:t>Table 1.1: Apple Revenue and Profit, 2015 to 2021 (Billions).</a:t>
            </a:r>
          </a:p>
        </p:txBody>
      </p:sp>
      <p:graphicFrame>
        <p:nvGraphicFramePr>
          <p:cNvPr id="21" name="Table 21">
            <a:extLst>
              <a:ext uri="{FF2B5EF4-FFF2-40B4-BE49-F238E27FC236}">
                <a16:creationId xmlns:a16="http://schemas.microsoft.com/office/drawing/2014/main" id="{09A2613B-2F0E-4598-9678-414E6B39CD3A}"/>
              </a:ext>
            </a:extLst>
          </p:cNvPr>
          <p:cNvGraphicFramePr>
            <a:graphicFrameLocks noGrp="1"/>
          </p:cNvGraphicFramePr>
          <p:nvPr>
            <p:extLst>
              <p:ext uri="{D42A27DB-BD31-4B8C-83A1-F6EECF244321}">
                <p14:modId xmlns:p14="http://schemas.microsoft.com/office/powerpoint/2010/main" val="1293898483"/>
              </p:ext>
            </p:extLst>
          </p:nvPr>
        </p:nvGraphicFramePr>
        <p:xfrm>
          <a:off x="366675" y="2578114"/>
          <a:ext cx="6944096" cy="914400"/>
        </p:xfrm>
        <a:graphic>
          <a:graphicData uri="http://schemas.openxmlformats.org/drawingml/2006/table">
            <a:tbl>
              <a:tblPr firstRow="1" bandRow="1">
                <a:tableStyleId>{5C22544A-7EE6-4342-B048-85BDC9FD1C3A}</a:tableStyleId>
              </a:tblPr>
              <a:tblGrid>
                <a:gridCol w="970635">
                  <a:extLst>
                    <a:ext uri="{9D8B030D-6E8A-4147-A177-3AD203B41FA5}">
                      <a16:colId xmlns:a16="http://schemas.microsoft.com/office/drawing/2014/main" val="2607180002"/>
                    </a:ext>
                  </a:extLst>
                </a:gridCol>
                <a:gridCol w="765389">
                  <a:extLst>
                    <a:ext uri="{9D8B030D-6E8A-4147-A177-3AD203B41FA5}">
                      <a16:colId xmlns:a16="http://schemas.microsoft.com/office/drawing/2014/main" val="3063086786"/>
                    </a:ext>
                  </a:extLst>
                </a:gridCol>
                <a:gridCol w="868012">
                  <a:extLst>
                    <a:ext uri="{9D8B030D-6E8A-4147-A177-3AD203B41FA5}">
                      <a16:colId xmlns:a16="http://schemas.microsoft.com/office/drawing/2014/main" val="3023780728"/>
                    </a:ext>
                  </a:extLst>
                </a:gridCol>
                <a:gridCol w="868012">
                  <a:extLst>
                    <a:ext uri="{9D8B030D-6E8A-4147-A177-3AD203B41FA5}">
                      <a16:colId xmlns:a16="http://schemas.microsoft.com/office/drawing/2014/main" val="3894233693"/>
                    </a:ext>
                  </a:extLst>
                </a:gridCol>
                <a:gridCol w="868012">
                  <a:extLst>
                    <a:ext uri="{9D8B030D-6E8A-4147-A177-3AD203B41FA5}">
                      <a16:colId xmlns:a16="http://schemas.microsoft.com/office/drawing/2014/main" val="462334922"/>
                    </a:ext>
                  </a:extLst>
                </a:gridCol>
                <a:gridCol w="868012">
                  <a:extLst>
                    <a:ext uri="{9D8B030D-6E8A-4147-A177-3AD203B41FA5}">
                      <a16:colId xmlns:a16="http://schemas.microsoft.com/office/drawing/2014/main" val="2818053709"/>
                    </a:ext>
                  </a:extLst>
                </a:gridCol>
                <a:gridCol w="868012">
                  <a:extLst>
                    <a:ext uri="{9D8B030D-6E8A-4147-A177-3AD203B41FA5}">
                      <a16:colId xmlns:a16="http://schemas.microsoft.com/office/drawing/2014/main" val="3900870048"/>
                    </a:ext>
                  </a:extLst>
                </a:gridCol>
                <a:gridCol w="868012">
                  <a:extLst>
                    <a:ext uri="{9D8B030D-6E8A-4147-A177-3AD203B41FA5}">
                      <a16:colId xmlns:a16="http://schemas.microsoft.com/office/drawing/2014/main" val="1847388920"/>
                    </a:ext>
                  </a:extLst>
                </a:gridCol>
              </a:tblGrid>
              <a:tr h="0">
                <a:tc>
                  <a:txBody>
                    <a:bodyPr/>
                    <a:lstStyle/>
                    <a:p>
                      <a:pPr algn="l" fontAlgn="t"/>
                      <a:r>
                        <a:rPr lang="en-US" sz="1400" b="1" i="0" u="none" strike="noStrike" dirty="0">
                          <a:effectLst/>
                          <a:latin typeface="+mn-lt"/>
                          <a:cs typeface="Times New Roman" panose="02020603050405020304" pitchFamily="18" charset="0"/>
                        </a:rPr>
                        <a:t>Year</a:t>
                      </a:r>
                    </a:p>
                  </a:txBody>
                  <a:tcPr>
                    <a:solidFill>
                      <a:srgbClr val="C00000"/>
                    </a:solidFill>
                  </a:tcPr>
                </a:tc>
                <a:tc>
                  <a:txBody>
                    <a:bodyPr/>
                    <a:lstStyle/>
                    <a:p>
                      <a:pPr algn="r" fontAlgn="t"/>
                      <a:r>
                        <a:rPr lang="en-US" sz="1400" b="1" i="0" u="none" strike="noStrike" dirty="0">
                          <a:effectLst/>
                          <a:latin typeface="+mn-lt"/>
                          <a:cs typeface="Times New Roman" panose="02020603050405020304" pitchFamily="18" charset="0"/>
                        </a:rPr>
                        <a:t>2015</a:t>
                      </a:r>
                    </a:p>
                  </a:txBody>
                  <a:tcPr>
                    <a:solidFill>
                      <a:srgbClr val="C00000"/>
                    </a:solidFill>
                  </a:tcPr>
                </a:tc>
                <a:tc>
                  <a:txBody>
                    <a:bodyPr/>
                    <a:lstStyle/>
                    <a:p>
                      <a:pPr algn="r" fontAlgn="t"/>
                      <a:r>
                        <a:rPr lang="en-US" sz="1400" b="1" i="0" u="none" strike="noStrike" dirty="0">
                          <a:effectLst/>
                          <a:latin typeface="+mn-lt"/>
                          <a:cs typeface="Times New Roman" panose="02020603050405020304" pitchFamily="18" charset="0"/>
                        </a:rPr>
                        <a:t>2016</a:t>
                      </a:r>
                    </a:p>
                  </a:txBody>
                  <a:tcPr>
                    <a:solidFill>
                      <a:srgbClr val="C00000"/>
                    </a:solidFill>
                  </a:tcPr>
                </a:tc>
                <a:tc>
                  <a:txBody>
                    <a:bodyPr/>
                    <a:lstStyle/>
                    <a:p>
                      <a:pPr algn="r" fontAlgn="t"/>
                      <a:r>
                        <a:rPr lang="en-US" sz="1400" b="1" i="0" u="none" strike="noStrike" dirty="0">
                          <a:effectLst/>
                          <a:latin typeface="+mn-lt"/>
                          <a:cs typeface="Times New Roman" panose="02020603050405020304" pitchFamily="18" charset="0"/>
                        </a:rPr>
                        <a:t>2017</a:t>
                      </a:r>
                    </a:p>
                  </a:txBody>
                  <a:tcPr>
                    <a:solidFill>
                      <a:srgbClr val="C00000"/>
                    </a:solidFill>
                  </a:tcPr>
                </a:tc>
                <a:tc>
                  <a:txBody>
                    <a:bodyPr/>
                    <a:lstStyle/>
                    <a:p>
                      <a:pPr algn="r" fontAlgn="t"/>
                      <a:r>
                        <a:rPr lang="en-US" sz="1400" b="1" i="0" u="none" strike="noStrike" dirty="0">
                          <a:effectLst/>
                          <a:latin typeface="+mn-lt"/>
                          <a:cs typeface="Times New Roman" panose="02020603050405020304" pitchFamily="18" charset="0"/>
                        </a:rPr>
                        <a:t>2018</a:t>
                      </a:r>
                    </a:p>
                  </a:txBody>
                  <a:tcPr>
                    <a:solidFill>
                      <a:srgbClr val="C00000"/>
                    </a:solidFill>
                  </a:tcPr>
                </a:tc>
                <a:tc>
                  <a:txBody>
                    <a:bodyPr/>
                    <a:lstStyle/>
                    <a:p>
                      <a:pPr algn="r" fontAlgn="t"/>
                      <a:r>
                        <a:rPr lang="en-US" sz="1400" b="1" i="0" u="none" strike="noStrike" dirty="0">
                          <a:effectLst/>
                          <a:latin typeface="+mn-lt"/>
                          <a:cs typeface="Times New Roman" panose="02020603050405020304" pitchFamily="18" charset="0"/>
                        </a:rPr>
                        <a:t>2019</a:t>
                      </a:r>
                    </a:p>
                  </a:txBody>
                  <a:tcPr>
                    <a:solidFill>
                      <a:srgbClr val="C00000"/>
                    </a:solidFill>
                  </a:tcPr>
                </a:tc>
                <a:tc>
                  <a:txBody>
                    <a:bodyPr/>
                    <a:lstStyle/>
                    <a:p>
                      <a:pPr algn="r" fontAlgn="t"/>
                      <a:r>
                        <a:rPr lang="en-US" sz="1400" b="1" i="0" u="none" strike="noStrike" dirty="0">
                          <a:effectLst/>
                          <a:latin typeface="+mn-lt"/>
                          <a:cs typeface="Times New Roman" panose="02020603050405020304" pitchFamily="18" charset="0"/>
                        </a:rPr>
                        <a:t>2020</a:t>
                      </a:r>
                    </a:p>
                  </a:txBody>
                  <a:tcPr>
                    <a:solidFill>
                      <a:srgbClr val="C00000"/>
                    </a:solidFill>
                  </a:tcPr>
                </a:tc>
                <a:tc>
                  <a:txBody>
                    <a:bodyPr/>
                    <a:lstStyle/>
                    <a:p>
                      <a:pPr algn="r" fontAlgn="t"/>
                      <a:r>
                        <a:rPr lang="en-US" sz="1400" b="1" i="0" u="none" strike="noStrike" dirty="0">
                          <a:effectLst/>
                          <a:latin typeface="+mn-lt"/>
                          <a:cs typeface="Times New Roman" panose="02020603050405020304" pitchFamily="18" charset="0"/>
                        </a:rPr>
                        <a:t>2021</a:t>
                      </a:r>
                    </a:p>
                  </a:txBody>
                  <a:tcPr>
                    <a:solidFill>
                      <a:srgbClr val="C00000"/>
                    </a:solidFill>
                  </a:tcPr>
                </a:tc>
                <a:extLst>
                  <a:ext uri="{0D108BD9-81ED-4DB2-BD59-A6C34878D82A}">
                    <a16:rowId xmlns:a16="http://schemas.microsoft.com/office/drawing/2014/main" val="693212712"/>
                  </a:ext>
                </a:extLst>
              </a:tr>
              <a:tr h="301581">
                <a:tc>
                  <a:txBody>
                    <a:bodyPr/>
                    <a:lstStyle/>
                    <a:p>
                      <a:pPr algn="l" fontAlgn="t"/>
                      <a:r>
                        <a:rPr lang="en-US" sz="1400" b="0" i="0" u="none" strike="noStrike">
                          <a:effectLst/>
                          <a:latin typeface="+mn-lt"/>
                          <a:cs typeface="Times New Roman" panose="02020603050405020304" pitchFamily="18" charset="0"/>
                        </a:rPr>
                        <a:t>Revenue</a:t>
                      </a:r>
                    </a:p>
                  </a:txBody>
                  <a:tcPr/>
                </a:tc>
                <a:tc>
                  <a:txBody>
                    <a:bodyPr/>
                    <a:lstStyle/>
                    <a:p>
                      <a:pPr algn="r" fontAlgn="t"/>
                      <a:r>
                        <a:rPr lang="en-US" sz="1400" b="0" i="0" u="none" strike="noStrike" dirty="0">
                          <a:effectLst/>
                          <a:latin typeface="+mn-lt"/>
                          <a:cs typeface="Times New Roman" panose="02020603050405020304" pitchFamily="18" charset="0"/>
                        </a:rPr>
                        <a:t>233.7</a:t>
                      </a:r>
                    </a:p>
                  </a:txBody>
                  <a:tcPr/>
                </a:tc>
                <a:tc>
                  <a:txBody>
                    <a:bodyPr/>
                    <a:lstStyle/>
                    <a:p>
                      <a:pPr algn="r" fontAlgn="t"/>
                      <a:r>
                        <a:rPr lang="en-US" sz="1400" b="0" i="0" u="none" strike="noStrike" dirty="0">
                          <a:effectLst/>
                          <a:latin typeface="+mn-lt"/>
                          <a:cs typeface="Times New Roman" panose="02020603050405020304" pitchFamily="18" charset="0"/>
                        </a:rPr>
                        <a:t>215.6</a:t>
                      </a:r>
                    </a:p>
                  </a:txBody>
                  <a:tcPr/>
                </a:tc>
                <a:tc>
                  <a:txBody>
                    <a:bodyPr/>
                    <a:lstStyle/>
                    <a:p>
                      <a:pPr algn="r" fontAlgn="t"/>
                      <a:r>
                        <a:rPr lang="en-US" sz="1400" b="0" i="0" u="none" strike="noStrike">
                          <a:effectLst/>
                          <a:latin typeface="+mn-lt"/>
                          <a:cs typeface="Times New Roman" panose="02020603050405020304" pitchFamily="18" charset="0"/>
                        </a:rPr>
                        <a:t>229.2</a:t>
                      </a:r>
                    </a:p>
                  </a:txBody>
                  <a:tcPr/>
                </a:tc>
                <a:tc>
                  <a:txBody>
                    <a:bodyPr/>
                    <a:lstStyle/>
                    <a:p>
                      <a:pPr algn="r" fontAlgn="t"/>
                      <a:r>
                        <a:rPr lang="en-US" sz="1400" b="0" i="0" u="none" strike="noStrike">
                          <a:effectLst/>
                          <a:latin typeface="+mn-lt"/>
                          <a:cs typeface="Times New Roman" panose="02020603050405020304" pitchFamily="18" charset="0"/>
                        </a:rPr>
                        <a:t>265.6</a:t>
                      </a:r>
                    </a:p>
                  </a:txBody>
                  <a:tcPr/>
                </a:tc>
                <a:tc>
                  <a:txBody>
                    <a:bodyPr/>
                    <a:lstStyle/>
                    <a:p>
                      <a:pPr algn="r" fontAlgn="t"/>
                      <a:r>
                        <a:rPr lang="en-US" sz="1400" b="0" i="0" u="none" strike="noStrike" dirty="0">
                          <a:effectLst/>
                          <a:latin typeface="+mn-lt"/>
                          <a:cs typeface="Times New Roman" panose="02020603050405020304" pitchFamily="18" charset="0"/>
                        </a:rPr>
                        <a:t>260.2</a:t>
                      </a:r>
                    </a:p>
                  </a:txBody>
                  <a:tcPr/>
                </a:tc>
                <a:tc>
                  <a:txBody>
                    <a:bodyPr/>
                    <a:lstStyle/>
                    <a:p>
                      <a:pPr algn="r" fontAlgn="t"/>
                      <a:r>
                        <a:rPr lang="en-US" sz="1400" b="0" i="0" u="none" strike="noStrike" dirty="0">
                          <a:effectLst/>
                          <a:latin typeface="+mn-lt"/>
                          <a:cs typeface="Times New Roman" panose="02020603050405020304" pitchFamily="18" charset="0"/>
                        </a:rPr>
                        <a:t>274.5</a:t>
                      </a:r>
                    </a:p>
                  </a:txBody>
                  <a:tcPr/>
                </a:tc>
                <a:tc>
                  <a:txBody>
                    <a:bodyPr/>
                    <a:lstStyle/>
                    <a:p>
                      <a:pPr algn="r" fontAlgn="t"/>
                      <a:r>
                        <a:rPr lang="en-US" sz="1400" b="0" i="0" u="none" strike="noStrike" dirty="0">
                          <a:effectLst/>
                          <a:latin typeface="+mn-lt"/>
                          <a:cs typeface="Times New Roman" panose="02020603050405020304" pitchFamily="18" charset="0"/>
                        </a:rPr>
                        <a:t>365.8</a:t>
                      </a:r>
                    </a:p>
                  </a:txBody>
                  <a:tcPr/>
                </a:tc>
                <a:extLst>
                  <a:ext uri="{0D108BD9-81ED-4DB2-BD59-A6C34878D82A}">
                    <a16:rowId xmlns:a16="http://schemas.microsoft.com/office/drawing/2014/main" val="2008544243"/>
                  </a:ext>
                </a:extLst>
              </a:tr>
              <a:tr h="301581">
                <a:tc>
                  <a:txBody>
                    <a:bodyPr/>
                    <a:lstStyle/>
                    <a:p>
                      <a:pPr algn="l" fontAlgn="t"/>
                      <a:r>
                        <a:rPr lang="en-US" sz="1400" b="0" i="0" u="none" strike="noStrike">
                          <a:effectLst/>
                          <a:latin typeface="+mn-lt"/>
                          <a:cs typeface="Times New Roman" panose="02020603050405020304" pitchFamily="18" charset="0"/>
                        </a:rPr>
                        <a:t>Profit</a:t>
                      </a:r>
                    </a:p>
                  </a:txBody>
                  <a:tcPr/>
                </a:tc>
                <a:tc>
                  <a:txBody>
                    <a:bodyPr/>
                    <a:lstStyle/>
                    <a:p>
                      <a:pPr algn="r" fontAlgn="t"/>
                      <a:r>
                        <a:rPr lang="en-US" sz="1400" b="0" i="0" u="none" strike="noStrike" dirty="0">
                          <a:effectLst/>
                          <a:latin typeface="+mn-lt"/>
                          <a:cs typeface="Times New Roman" panose="02020603050405020304" pitchFamily="18" charset="0"/>
                        </a:rPr>
                        <a:t>93.6</a:t>
                      </a:r>
                    </a:p>
                  </a:txBody>
                  <a:tcPr/>
                </a:tc>
                <a:tc>
                  <a:txBody>
                    <a:bodyPr/>
                    <a:lstStyle/>
                    <a:p>
                      <a:pPr algn="r" fontAlgn="t"/>
                      <a:r>
                        <a:rPr lang="en-US" sz="1400" b="0" i="0" u="none" strike="noStrike" dirty="0">
                          <a:effectLst/>
                          <a:latin typeface="+mn-lt"/>
                          <a:cs typeface="Times New Roman" panose="02020603050405020304" pitchFamily="18" charset="0"/>
                        </a:rPr>
                        <a:t>84.3</a:t>
                      </a:r>
                    </a:p>
                  </a:txBody>
                  <a:tcPr/>
                </a:tc>
                <a:tc>
                  <a:txBody>
                    <a:bodyPr/>
                    <a:lstStyle/>
                    <a:p>
                      <a:pPr algn="r" fontAlgn="t"/>
                      <a:r>
                        <a:rPr lang="en-US" sz="1400" b="0" i="0" u="none" strike="noStrike" dirty="0">
                          <a:effectLst/>
                          <a:latin typeface="+mn-lt"/>
                          <a:cs typeface="Times New Roman" panose="02020603050405020304" pitchFamily="18" charset="0"/>
                        </a:rPr>
                        <a:t>88.2</a:t>
                      </a:r>
                    </a:p>
                  </a:txBody>
                  <a:tcPr/>
                </a:tc>
                <a:tc>
                  <a:txBody>
                    <a:bodyPr/>
                    <a:lstStyle/>
                    <a:p>
                      <a:pPr algn="r" fontAlgn="t"/>
                      <a:r>
                        <a:rPr lang="en-US" sz="1400" b="0" i="0" u="none" strike="noStrike" dirty="0">
                          <a:effectLst/>
                          <a:latin typeface="+mn-lt"/>
                          <a:cs typeface="Times New Roman" panose="02020603050405020304" pitchFamily="18" charset="0"/>
                        </a:rPr>
                        <a:t>101.8</a:t>
                      </a:r>
                    </a:p>
                  </a:txBody>
                  <a:tcPr/>
                </a:tc>
                <a:tc>
                  <a:txBody>
                    <a:bodyPr/>
                    <a:lstStyle/>
                    <a:p>
                      <a:pPr algn="r" fontAlgn="t"/>
                      <a:r>
                        <a:rPr lang="en-US" sz="1400" b="0" i="0" u="none" strike="noStrike" dirty="0">
                          <a:effectLst/>
                          <a:latin typeface="+mn-lt"/>
                          <a:cs typeface="Times New Roman" panose="02020603050405020304" pitchFamily="18" charset="0"/>
                        </a:rPr>
                        <a:t>98.4</a:t>
                      </a:r>
                    </a:p>
                  </a:txBody>
                  <a:tcPr/>
                </a:tc>
                <a:tc>
                  <a:txBody>
                    <a:bodyPr/>
                    <a:lstStyle/>
                    <a:p>
                      <a:pPr algn="r" fontAlgn="t"/>
                      <a:r>
                        <a:rPr lang="en-US" sz="1400" b="0" i="0" u="none" strike="noStrike" dirty="0">
                          <a:effectLst/>
                          <a:latin typeface="+mn-lt"/>
                          <a:cs typeface="Times New Roman" panose="02020603050405020304" pitchFamily="18" charset="0"/>
                        </a:rPr>
                        <a:t>105.0</a:t>
                      </a:r>
                    </a:p>
                  </a:txBody>
                  <a:tcPr/>
                </a:tc>
                <a:tc>
                  <a:txBody>
                    <a:bodyPr/>
                    <a:lstStyle/>
                    <a:p>
                      <a:pPr algn="r" fontAlgn="t"/>
                      <a:r>
                        <a:rPr lang="en-US" sz="1400" b="0" i="0" u="none" strike="noStrike" dirty="0">
                          <a:effectLst/>
                          <a:latin typeface="+mn-lt"/>
                          <a:cs typeface="Times New Roman" panose="02020603050405020304" pitchFamily="18" charset="0"/>
                        </a:rPr>
                        <a:t>152.8</a:t>
                      </a:r>
                    </a:p>
                  </a:txBody>
                  <a:tcPr/>
                </a:tc>
                <a:extLst>
                  <a:ext uri="{0D108BD9-81ED-4DB2-BD59-A6C34878D82A}">
                    <a16:rowId xmlns:a16="http://schemas.microsoft.com/office/drawing/2014/main" val="1804654477"/>
                  </a:ext>
                </a:extLst>
              </a:tr>
            </a:tbl>
          </a:graphicData>
        </a:graphic>
      </p:graphicFrame>
      <p:sp>
        <p:nvSpPr>
          <p:cNvPr id="6" name="Content Placeholder 5">
            <a:extLst>
              <a:ext uri="{FF2B5EF4-FFF2-40B4-BE49-F238E27FC236}">
                <a16:creationId xmlns:a16="http://schemas.microsoft.com/office/drawing/2014/main" id="{2EE7D978-3AB6-4DE0-8D86-E47FD62306F3}"/>
              </a:ext>
            </a:extLst>
          </p:cNvPr>
          <p:cNvSpPr>
            <a:spLocks noGrp="1"/>
          </p:cNvSpPr>
          <p:nvPr>
            <p:ph sz="quarter" idx="16"/>
          </p:nvPr>
        </p:nvSpPr>
        <p:spPr>
          <a:xfrm>
            <a:off x="342899" y="3691854"/>
            <a:ext cx="2370803" cy="256207"/>
          </a:xfrm>
        </p:spPr>
        <p:txBody>
          <a:bodyPr/>
          <a:lstStyle/>
          <a:p>
            <a:r>
              <a:rPr lang="en-US" sz="1200" noProof="0" dirty="0"/>
              <a:t>Source: www.macrotrends.net.</a:t>
            </a:r>
          </a:p>
        </p:txBody>
      </p:sp>
      <p:sp>
        <p:nvSpPr>
          <p:cNvPr id="7" name="Content Placeholder 6">
            <a:extLst>
              <a:ext uri="{FF2B5EF4-FFF2-40B4-BE49-F238E27FC236}">
                <a16:creationId xmlns:a16="http://schemas.microsoft.com/office/drawing/2014/main" id="{3097A638-B5BC-4DA7-9F95-6EEB4C2C1BA6}"/>
              </a:ext>
            </a:extLst>
          </p:cNvPr>
          <p:cNvSpPr>
            <a:spLocks noGrp="1"/>
          </p:cNvSpPr>
          <p:nvPr>
            <p:ph sz="quarter" idx="17"/>
          </p:nvPr>
        </p:nvSpPr>
        <p:spPr>
          <a:xfrm>
            <a:off x="342898" y="4127164"/>
            <a:ext cx="6057901" cy="368636"/>
          </a:xfrm>
        </p:spPr>
        <p:txBody>
          <a:bodyPr/>
          <a:lstStyle/>
          <a:p>
            <a:r>
              <a:rPr lang="en-US" sz="1600" b="1" noProof="0" dirty="0"/>
              <a:t>Figure 1.2: Apple Revenue and Profit, 2015 to 2021 (Billions).</a:t>
            </a:r>
          </a:p>
        </p:txBody>
      </p:sp>
      <p:pic>
        <p:nvPicPr>
          <p:cNvPr id="18" name="Picture 17">
            <a:extLst>
              <a:ext uri="{FF2B5EF4-FFF2-40B4-BE49-F238E27FC236}">
                <a16:creationId xmlns:a16="http://schemas.microsoft.com/office/drawing/2014/main" id="{799B7383-5396-4894-A835-875F8D33FC9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364020" y="4161260"/>
            <a:ext cx="347884" cy="300444"/>
          </a:xfrm>
          <a:prstGeom prst="rect">
            <a:avLst/>
          </a:prstGeom>
        </p:spPr>
      </p:pic>
      <p:sp>
        <p:nvSpPr>
          <p:cNvPr id="8" name="Content Placeholder 7">
            <a:extLst>
              <a:ext uri="{FF2B5EF4-FFF2-40B4-BE49-F238E27FC236}">
                <a16:creationId xmlns:a16="http://schemas.microsoft.com/office/drawing/2014/main" id="{37EF04BB-FEB2-4D52-981B-A8A77253AF49}"/>
              </a:ext>
            </a:extLst>
          </p:cNvPr>
          <p:cNvSpPr>
            <a:spLocks noGrp="1"/>
          </p:cNvSpPr>
          <p:nvPr>
            <p:ph sz="quarter" idx="18"/>
          </p:nvPr>
        </p:nvSpPr>
        <p:spPr>
          <a:xfrm>
            <a:off x="6814159" y="4121979"/>
            <a:ext cx="685800" cy="339725"/>
          </a:xfrm>
        </p:spPr>
        <p:txBody>
          <a:bodyPr lIns="0"/>
          <a:lstStyle/>
          <a:p>
            <a:r>
              <a:rPr lang="en-US" sz="1600" b="1" noProof="0" dirty="0">
                <a:solidFill>
                  <a:srgbClr val="A9131A"/>
                </a:solidFill>
              </a:rPr>
              <a:t>Apple</a:t>
            </a:r>
          </a:p>
        </p:txBody>
      </p:sp>
      <p:pic>
        <p:nvPicPr>
          <p:cNvPr id="20" name="Picture 19" descr="A graph shows the Financial overview of Apple from 2015 to 2021.">
            <a:extLst>
              <a:ext uri="{FF2B5EF4-FFF2-40B4-BE49-F238E27FC236}">
                <a16:creationId xmlns:a16="http://schemas.microsoft.com/office/drawing/2014/main" id="{434E46B2-D228-412D-B315-DB23E1A376B1}"/>
              </a:ext>
            </a:extLst>
          </p:cNvPr>
          <p:cNvPicPr>
            <a:picLocks noChangeAspect="1"/>
          </p:cNvPicPr>
          <p:nvPr/>
        </p:nvPicPr>
        <p:blipFill>
          <a:blip r:embed="rId3"/>
          <a:stretch>
            <a:fillRect/>
          </a:stretch>
        </p:blipFill>
        <p:spPr>
          <a:xfrm>
            <a:off x="3034245" y="4618852"/>
            <a:ext cx="3098228" cy="1577382"/>
          </a:xfrm>
          <a:prstGeom prst="rect">
            <a:avLst/>
          </a:prstGeom>
        </p:spPr>
      </p:pic>
      <p:sp>
        <p:nvSpPr>
          <p:cNvPr id="9" name="Text Placeholder 8">
            <a:extLst>
              <a:ext uri="{FF2B5EF4-FFF2-40B4-BE49-F238E27FC236}">
                <a16:creationId xmlns:a16="http://schemas.microsoft.com/office/drawing/2014/main" id="{5147099B-3711-F0EC-80BA-54F974A92CA9}"/>
              </a:ext>
            </a:extLst>
          </p:cNvPr>
          <p:cNvSpPr>
            <a:spLocks noGrp="1"/>
          </p:cNvSpPr>
          <p:nvPr>
            <p:ph type="body" sz="quarter" idx="12"/>
          </p:nvPr>
        </p:nvSpPr>
        <p:spPr>
          <a:xfrm>
            <a:off x="2971558" y="6324600"/>
            <a:ext cx="3200885" cy="190500"/>
          </a:xfrm>
        </p:spPr>
        <p:txBody>
          <a:bodyPr/>
          <a:lstStyle/>
          <a:p>
            <a:r>
              <a:rPr lang="en-US" sz="1200" noProof="0" dirty="0">
                <a:hlinkClick r:id="rId4" action="ppaction://hlinksldjump"/>
              </a:rPr>
              <a:t>Access the text alternative for slide images.</a:t>
            </a:r>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25</a:t>
            </a:fld>
            <a:endParaRPr lang="en-US" dirty="0"/>
          </a:p>
        </p:txBody>
      </p:sp>
    </p:spTree>
    <p:extLst>
      <p:ext uri="{BB962C8B-B14F-4D97-AF65-F5344CB8AC3E}">
        <p14:creationId xmlns:p14="http://schemas.microsoft.com/office/powerpoint/2010/main" val="641424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Critical Thinking</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1.5</a:t>
            </a:r>
          </a:p>
        </p:txBody>
      </p:sp>
      <p:sp>
        <p:nvSpPr>
          <p:cNvPr id="4" name="Content Placeholder 3"/>
          <p:cNvSpPr>
            <a:spLocks noGrp="1"/>
          </p:cNvSpPr>
          <p:nvPr>
            <p:ph sz="quarter" idx="14"/>
          </p:nvPr>
        </p:nvSpPr>
        <p:spPr>
          <a:xfrm>
            <a:off x="342900" y="1278014"/>
            <a:ext cx="8136082" cy="5034295"/>
          </a:xfrm>
        </p:spPr>
        <p:txBody>
          <a:bodyPr/>
          <a:lstStyle/>
          <a:p>
            <a:pPr marL="292608" indent="-292608">
              <a:buFont typeface="Arial" panose="020B0604020202020204" pitchFamily="34" charset="0"/>
              <a:buChar char="•"/>
              <a:defRPr/>
            </a:pPr>
            <a:r>
              <a:rPr lang="en-US" noProof="0" dirty="0">
                <a:solidFill>
                  <a:schemeClr val="tx1"/>
                </a:solidFill>
              </a:rPr>
              <a:t>Statistics is an essential part of </a:t>
            </a:r>
            <a:r>
              <a:rPr lang="en-US" b="1" noProof="0" dirty="0">
                <a:solidFill>
                  <a:schemeClr val="tx1"/>
                </a:solidFill>
              </a:rPr>
              <a:t>critical thinking </a:t>
            </a:r>
            <a:r>
              <a:rPr lang="en-US" noProof="0" dirty="0">
                <a:solidFill>
                  <a:schemeClr val="tx1"/>
                </a:solidFill>
              </a:rPr>
              <a:t>because it allows us to test an idea against empirical evidence.</a:t>
            </a:r>
          </a:p>
          <a:p>
            <a:pPr marL="292608" indent="-292608">
              <a:buFont typeface="Arial" panose="020B0604020202020204" pitchFamily="34" charset="0"/>
              <a:buChar char="•"/>
              <a:defRPr/>
            </a:pPr>
            <a:r>
              <a:rPr lang="en-US" b="1" noProof="0" dirty="0">
                <a:solidFill>
                  <a:schemeClr val="tx1"/>
                </a:solidFill>
              </a:rPr>
              <a:t>Empirical data </a:t>
            </a:r>
            <a:r>
              <a:rPr lang="en-US" noProof="0" dirty="0">
                <a:solidFill>
                  <a:schemeClr val="tx1"/>
                </a:solidFill>
              </a:rPr>
              <a:t>represent data collected through observation and experiments.</a:t>
            </a:r>
          </a:p>
          <a:p>
            <a:pPr marL="292608" indent="-292608">
              <a:buFont typeface="Arial" panose="020B0604020202020204" pitchFamily="34" charset="0"/>
              <a:buChar char="•"/>
              <a:defRPr/>
            </a:pPr>
            <a:r>
              <a:rPr lang="en-US" noProof="0" dirty="0">
                <a:solidFill>
                  <a:schemeClr val="tx1"/>
                </a:solidFill>
              </a:rPr>
              <a:t>Statistical tools are used to compare prior ideas with empirical data, but </a:t>
            </a:r>
            <a:r>
              <a:rPr lang="en-US" b="1" noProof="0" dirty="0">
                <a:solidFill>
                  <a:schemeClr val="tx1"/>
                </a:solidFill>
              </a:rPr>
              <a:t>pitfalls do occur</a:t>
            </a:r>
            <a:r>
              <a:rPr lang="en-US" noProof="0" dirty="0">
                <a:solidFill>
                  <a:schemeClr val="tx1"/>
                </a:solidFill>
              </a:rPr>
              <a:t>.</a:t>
            </a:r>
          </a:p>
        </p:txBody>
      </p:sp>
      <p:sp>
        <p:nvSpPr>
          <p:cNvPr id="10" name="Slide Number Placeholder 9"/>
          <p:cNvSpPr>
            <a:spLocks noGrp="1"/>
          </p:cNvSpPr>
          <p:nvPr>
            <p:ph type="sldNum" sz="quarter" idx="10"/>
          </p:nvPr>
        </p:nvSpPr>
        <p:spPr/>
        <p:txBody>
          <a:bodyPr/>
          <a:lstStyle/>
          <a:p>
            <a:fld id="{68151E55-6873-49E2-B8D5-2F265E6F1973}" type="slidenum">
              <a:rPr lang="en-US" smtClean="0"/>
              <a:t>26</a:t>
            </a:fld>
            <a:endParaRPr lang="en-US" dirty="0"/>
          </a:p>
        </p:txBody>
      </p:sp>
    </p:spTree>
    <p:extLst>
      <p:ext uri="{BB962C8B-B14F-4D97-AF65-F5344CB8AC3E}">
        <p14:creationId xmlns:p14="http://schemas.microsoft.com/office/powerpoint/2010/main" val="3339575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Logical Pitfalls </a:t>
            </a:r>
            <a:r>
              <a:rPr lang="en-US" sz="1000" b="0" noProof="0" dirty="0"/>
              <a:t>1</a:t>
            </a:r>
            <a:endParaRPr lang="en-US" sz="1000" noProof="0" dirty="0"/>
          </a:p>
        </p:txBody>
      </p:sp>
      <p:sp>
        <p:nvSpPr>
          <p:cNvPr id="3" name="Content Placeholder 2"/>
          <p:cNvSpPr>
            <a:spLocks noGrp="1"/>
          </p:cNvSpPr>
          <p:nvPr>
            <p:ph sz="quarter" idx="11"/>
          </p:nvPr>
        </p:nvSpPr>
        <p:spPr>
          <a:xfrm>
            <a:off x="8595360" y="55330"/>
            <a:ext cx="487680" cy="1222685"/>
          </a:xfrm>
        </p:spPr>
        <p:txBody>
          <a:bodyPr vert="vert" rIns="0"/>
          <a:lstStyle/>
          <a:p>
            <a:pPr marL="1025525" indent="-1025525"/>
            <a:r>
              <a:rPr lang="en-US" b="1" noProof="0" dirty="0"/>
              <a:t>L</a:t>
            </a:r>
            <a:r>
              <a:rPr lang="en-US" sz="100" b="1" noProof="0" dirty="0"/>
              <a:t> </a:t>
            </a:r>
            <a:r>
              <a:rPr lang="en-US" b="1" noProof="0" dirty="0"/>
              <a:t>O 1.5</a:t>
            </a:r>
          </a:p>
        </p:txBody>
      </p:sp>
      <p:sp>
        <p:nvSpPr>
          <p:cNvPr id="4" name="Content Placeholder 3"/>
          <p:cNvSpPr>
            <a:spLocks noGrp="1"/>
          </p:cNvSpPr>
          <p:nvPr>
            <p:ph sz="quarter" idx="14"/>
          </p:nvPr>
        </p:nvSpPr>
        <p:spPr>
          <a:xfrm>
            <a:off x="342900" y="1278015"/>
            <a:ext cx="8191500" cy="903231"/>
          </a:xfrm>
        </p:spPr>
        <p:txBody>
          <a:bodyPr/>
          <a:lstStyle/>
          <a:p>
            <a:pPr>
              <a:spcAft>
                <a:spcPts val="600"/>
              </a:spcAft>
              <a:defRPr/>
            </a:pPr>
            <a:r>
              <a:rPr lang="en-US" noProof="0" dirty="0"/>
              <a:t>Logical pitfalls abound in both the data collection process and the reasoning process.</a:t>
            </a:r>
          </a:p>
        </p:txBody>
      </p:sp>
      <p:sp>
        <p:nvSpPr>
          <p:cNvPr id="5" name="Content Placeholder 4"/>
          <p:cNvSpPr>
            <a:spLocks noGrp="1"/>
          </p:cNvSpPr>
          <p:nvPr>
            <p:ph sz="quarter" idx="15"/>
          </p:nvPr>
        </p:nvSpPr>
        <p:spPr>
          <a:xfrm>
            <a:off x="342900" y="2363540"/>
            <a:ext cx="8089900" cy="1914106"/>
          </a:xfrm>
        </p:spPr>
        <p:txBody>
          <a:bodyPr/>
          <a:lstStyle/>
          <a:p>
            <a:pPr>
              <a:defRPr/>
            </a:pPr>
            <a:r>
              <a:rPr lang="en-US" b="1" noProof="0" dirty="0">
                <a:solidFill>
                  <a:schemeClr val="tx1"/>
                </a:solidFill>
              </a:rPr>
              <a:t>Pitfall 1: </a:t>
            </a:r>
            <a:r>
              <a:rPr lang="en-US" noProof="0" dirty="0">
                <a:solidFill>
                  <a:schemeClr val="tx1"/>
                </a:solidFill>
              </a:rPr>
              <a:t>Conclusions from small samples.</a:t>
            </a:r>
          </a:p>
          <a:p>
            <a:pPr indent="1588">
              <a:defRPr/>
            </a:pPr>
            <a:r>
              <a:rPr lang="en-US" noProof="0" dirty="0">
                <a:solidFill>
                  <a:schemeClr val="tx1"/>
                </a:solidFill>
              </a:rPr>
              <a:t>Be careful about making generalizations from small samples (For example, a group of 10 patients who showed improvement).</a:t>
            </a:r>
            <a:endParaRPr lang="en-US" i="1" noProof="0" dirty="0">
              <a:solidFill>
                <a:schemeClr val="tx1"/>
              </a:solidFill>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27</a:t>
            </a:fld>
            <a:endParaRPr lang="en-US" dirty="0"/>
          </a:p>
        </p:txBody>
      </p:sp>
    </p:spTree>
    <p:extLst>
      <p:ext uri="{BB962C8B-B14F-4D97-AF65-F5344CB8AC3E}">
        <p14:creationId xmlns:p14="http://schemas.microsoft.com/office/powerpoint/2010/main" val="2934218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Logical Pitfalls </a:t>
            </a:r>
            <a:r>
              <a:rPr lang="en-US" sz="1000" b="0" noProof="0" dirty="0"/>
              <a:t>2</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1.5</a:t>
            </a:r>
          </a:p>
        </p:txBody>
      </p:sp>
      <p:sp>
        <p:nvSpPr>
          <p:cNvPr id="4" name="Content Placeholder 3"/>
          <p:cNvSpPr>
            <a:spLocks noGrp="1"/>
          </p:cNvSpPr>
          <p:nvPr>
            <p:ph sz="quarter" idx="14"/>
          </p:nvPr>
        </p:nvSpPr>
        <p:spPr>
          <a:xfrm>
            <a:off x="342900" y="1278014"/>
            <a:ext cx="8136082" cy="5034295"/>
          </a:xfrm>
        </p:spPr>
        <p:txBody>
          <a:bodyPr/>
          <a:lstStyle/>
          <a:p>
            <a:pPr>
              <a:defRPr/>
            </a:pPr>
            <a:r>
              <a:rPr lang="en-US" b="1" noProof="0" dirty="0">
                <a:solidFill>
                  <a:schemeClr val="tx1"/>
                </a:solidFill>
              </a:rPr>
              <a:t>Pitfall 2: </a:t>
            </a:r>
            <a:r>
              <a:rPr lang="en-US" noProof="0" dirty="0">
                <a:solidFill>
                  <a:schemeClr val="tx1"/>
                </a:solidFill>
              </a:rPr>
              <a:t>Conclusions from nonrandom samples.</a:t>
            </a:r>
          </a:p>
          <a:p>
            <a:pPr indent="1588">
              <a:defRPr/>
            </a:pPr>
            <a:r>
              <a:rPr lang="en-US" noProof="0" dirty="0">
                <a:solidFill>
                  <a:schemeClr val="tx1"/>
                </a:solidFill>
              </a:rPr>
              <a:t>Be careful about making generalizations from retrospective studies of special groups (For example, studying vaccine-related complications must also include those who have no complications).</a:t>
            </a:r>
          </a:p>
        </p:txBody>
      </p:sp>
      <p:sp>
        <p:nvSpPr>
          <p:cNvPr id="10" name="Slide Number Placeholder 9"/>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1653381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Logical Pitfalls </a:t>
            </a:r>
            <a:r>
              <a:rPr lang="en-US" sz="1000" b="0" noProof="0" dirty="0"/>
              <a:t>3</a:t>
            </a:r>
            <a:endParaRPr lang="en-US" sz="1000" noProof="0" dirty="0"/>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1.5</a:t>
            </a:r>
          </a:p>
        </p:txBody>
      </p:sp>
      <p:sp>
        <p:nvSpPr>
          <p:cNvPr id="4" name="Content Placeholder 3"/>
          <p:cNvSpPr>
            <a:spLocks noGrp="1"/>
          </p:cNvSpPr>
          <p:nvPr>
            <p:ph sz="quarter" idx="14"/>
          </p:nvPr>
        </p:nvSpPr>
        <p:spPr>
          <a:xfrm>
            <a:off x="342900" y="1278016"/>
            <a:ext cx="7973786" cy="1788710"/>
          </a:xfrm>
        </p:spPr>
        <p:txBody>
          <a:bodyPr/>
          <a:lstStyle/>
          <a:p>
            <a:pPr>
              <a:defRPr/>
            </a:pPr>
            <a:r>
              <a:rPr lang="en-US" b="1" noProof="0" dirty="0">
                <a:solidFill>
                  <a:schemeClr val="tx1"/>
                </a:solidFill>
              </a:rPr>
              <a:t>Pitfall 3: </a:t>
            </a:r>
            <a:r>
              <a:rPr lang="en-US" noProof="0" dirty="0">
                <a:solidFill>
                  <a:schemeClr val="tx1"/>
                </a:solidFill>
              </a:rPr>
              <a:t>Conclusions from rare events.</a:t>
            </a:r>
          </a:p>
          <a:p>
            <a:pPr indent="1588">
              <a:spcAft>
                <a:spcPts val="2400"/>
              </a:spcAft>
              <a:defRPr/>
            </a:pPr>
            <a:r>
              <a:rPr lang="en-US" noProof="0" dirty="0">
                <a:solidFill>
                  <a:schemeClr val="tx1"/>
                </a:solidFill>
              </a:rPr>
              <a:t>Be careful about drawing strong inferences from events that are not surprising when looking at the entire population (For example, winning the lottery).</a:t>
            </a:r>
          </a:p>
        </p:txBody>
      </p:sp>
      <p:sp>
        <p:nvSpPr>
          <p:cNvPr id="5" name="Content Placeholder 4"/>
          <p:cNvSpPr>
            <a:spLocks noGrp="1"/>
          </p:cNvSpPr>
          <p:nvPr>
            <p:ph sz="quarter" idx="15"/>
          </p:nvPr>
        </p:nvSpPr>
        <p:spPr>
          <a:xfrm>
            <a:off x="342900" y="3249022"/>
            <a:ext cx="8089900" cy="1788710"/>
          </a:xfrm>
        </p:spPr>
        <p:txBody>
          <a:bodyPr/>
          <a:lstStyle/>
          <a:p>
            <a:pPr>
              <a:defRPr/>
            </a:pPr>
            <a:r>
              <a:rPr lang="en-US" b="1" noProof="0" dirty="0">
                <a:solidFill>
                  <a:schemeClr val="tx1"/>
                </a:solidFill>
              </a:rPr>
              <a:t>Pitfall 4: </a:t>
            </a:r>
            <a:r>
              <a:rPr lang="en-US" noProof="0" dirty="0">
                <a:solidFill>
                  <a:schemeClr val="tx1"/>
                </a:solidFill>
              </a:rPr>
              <a:t>Poor survey methods.</a:t>
            </a:r>
          </a:p>
          <a:p>
            <a:pPr indent="1588">
              <a:defRPr/>
            </a:pPr>
            <a:r>
              <a:rPr lang="en-US" noProof="0" dirty="0">
                <a:solidFill>
                  <a:schemeClr val="tx1"/>
                </a:solidFill>
              </a:rPr>
              <a:t>Be careful about using poor sampling methods or vaguely worded questions (For example, an anonymous survey or quiz may provide better insight).</a:t>
            </a:r>
            <a:endParaRPr lang="en-US" i="1" noProof="0" dirty="0">
              <a:solidFill>
                <a:schemeClr val="tx1"/>
              </a:solidFill>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29</a:t>
            </a:fld>
            <a:endParaRPr lang="en-US" dirty="0"/>
          </a:p>
        </p:txBody>
      </p:sp>
    </p:spTree>
    <p:extLst>
      <p:ext uri="{BB962C8B-B14F-4D97-AF65-F5344CB8AC3E}">
        <p14:creationId xmlns:p14="http://schemas.microsoft.com/office/powerpoint/2010/main" val="14331427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Logical Pitfalls </a:t>
            </a:r>
            <a:r>
              <a:rPr lang="en-US" sz="1000" b="0" noProof="0" dirty="0"/>
              <a:t>4</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1.5</a:t>
            </a:r>
          </a:p>
        </p:txBody>
      </p:sp>
      <p:sp>
        <p:nvSpPr>
          <p:cNvPr id="4" name="Content Placeholder 3"/>
          <p:cNvSpPr>
            <a:spLocks noGrp="1"/>
          </p:cNvSpPr>
          <p:nvPr>
            <p:ph sz="quarter" idx="14"/>
          </p:nvPr>
        </p:nvSpPr>
        <p:spPr>
          <a:xfrm>
            <a:off x="342900" y="1278014"/>
            <a:ext cx="8136082" cy="5034295"/>
          </a:xfrm>
        </p:spPr>
        <p:txBody>
          <a:bodyPr/>
          <a:lstStyle/>
          <a:p>
            <a:pPr>
              <a:defRPr/>
            </a:pPr>
            <a:r>
              <a:rPr lang="en-US" b="1" noProof="0" dirty="0">
                <a:solidFill>
                  <a:schemeClr val="tx1"/>
                </a:solidFill>
              </a:rPr>
              <a:t>Pitfall 5: </a:t>
            </a:r>
            <a:r>
              <a:rPr lang="en-US" noProof="0" dirty="0">
                <a:solidFill>
                  <a:schemeClr val="tx1"/>
                </a:solidFill>
              </a:rPr>
              <a:t>Assuming a causal link.</a:t>
            </a:r>
          </a:p>
          <a:p>
            <a:pPr>
              <a:defRPr/>
            </a:pPr>
            <a:r>
              <a:rPr lang="en-US" noProof="0" dirty="0">
                <a:solidFill>
                  <a:schemeClr val="tx1"/>
                </a:solidFill>
              </a:rPr>
              <a:t>Be careful about drawing conclusions when no cause-and-effect link exists (For example, teams who play in named ballparks (Citi Field for the N</a:t>
            </a:r>
            <a:r>
              <a:rPr lang="en-US" sz="100" noProof="0" dirty="0">
                <a:solidFill>
                  <a:schemeClr val="tx1"/>
                </a:solidFill>
              </a:rPr>
              <a:t> </a:t>
            </a:r>
            <a:r>
              <a:rPr lang="en-US" noProof="0" dirty="0">
                <a:solidFill>
                  <a:schemeClr val="tx1"/>
                </a:solidFill>
              </a:rPr>
              <a:t>Y Mets) tend to lose more games than they win. Actually, it is the players and managers who determine whether a team wins).</a:t>
            </a:r>
          </a:p>
        </p:txBody>
      </p:sp>
      <p:sp>
        <p:nvSpPr>
          <p:cNvPr id="10" name="Slide Number Placeholder 9"/>
          <p:cNvSpPr>
            <a:spLocks noGrp="1"/>
          </p:cNvSpPr>
          <p:nvPr>
            <p:ph type="sldNum" sz="quarter" idx="10"/>
          </p:nvPr>
        </p:nvSpPr>
        <p:spPr/>
        <p:txBody>
          <a:bodyPr/>
          <a:lstStyle/>
          <a:p>
            <a:fld id="{68151E55-6873-49E2-B8D5-2F265E6F1973}" type="slidenum">
              <a:rPr lang="en-US" smtClean="0"/>
              <a:t>30</a:t>
            </a:fld>
            <a:endParaRPr lang="en-US" dirty="0"/>
          </a:p>
        </p:txBody>
      </p:sp>
    </p:spTree>
    <p:extLst>
      <p:ext uri="{BB962C8B-B14F-4D97-AF65-F5344CB8AC3E}">
        <p14:creationId xmlns:p14="http://schemas.microsoft.com/office/powerpoint/2010/main" val="3820540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Logical Pitfalls </a:t>
            </a:r>
            <a:r>
              <a:rPr lang="en-US" sz="1000" b="0" noProof="0" dirty="0"/>
              <a:t>5</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1.5</a:t>
            </a:r>
          </a:p>
        </p:txBody>
      </p:sp>
      <p:sp>
        <p:nvSpPr>
          <p:cNvPr id="4" name="Content Placeholder 3"/>
          <p:cNvSpPr>
            <a:spLocks noGrp="1"/>
          </p:cNvSpPr>
          <p:nvPr>
            <p:ph sz="quarter" idx="14"/>
          </p:nvPr>
        </p:nvSpPr>
        <p:spPr>
          <a:xfrm>
            <a:off x="342900" y="1278014"/>
            <a:ext cx="8136082" cy="5034295"/>
          </a:xfrm>
        </p:spPr>
        <p:txBody>
          <a:bodyPr/>
          <a:lstStyle/>
          <a:p>
            <a:pPr>
              <a:defRPr/>
            </a:pPr>
            <a:r>
              <a:rPr lang="en-US" b="1" noProof="0" dirty="0">
                <a:solidFill>
                  <a:schemeClr val="tx1"/>
                </a:solidFill>
              </a:rPr>
              <a:t>Pitfall 6: </a:t>
            </a:r>
            <a:r>
              <a:rPr lang="en-US" noProof="0" dirty="0">
                <a:solidFill>
                  <a:schemeClr val="tx1"/>
                </a:solidFill>
              </a:rPr>
              <a:t>Generalization to individuals.</a:t>
            </a:r>
          </a:p>
          <a:p>
            <a:pPr>
              <a:defRPr/>
            </a:pPr>
            <a:r>
              <a:rPr lang="en-US" noProof="0" dirty="0">
                <a:solidFill>
                  <a:schemeClr val="tx1"/>
                </a:solidFill>
              </a:rPr>
              <a:t>Avoid reading too much into statistical generalizations (For example, men are taller than women). Yes, but only in a statistical sense. Men are taller on average, but many women are taller than many men.</a:t>
            </a:r>
            <a:endParaRPr lang="en-US" noProof="0" dirty="0">
              <a:solidFill>
                <a:schemeClr val="tx1"/>
              </a:solidFill>
              <a:effectLst>
                <a:outerShdw blurRad="38100" dist="38100" dir="2700000" algn="tl">
                  <a:srgbClr val="C0C0C0"/>
                </a:outerShdw>
              </a:effectLst>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31</a:t>
            </a:fld>
            <a:endParaRPr lang="en-US" dirty="0"/>
          </a:p>
        </p:txBody>
      </p:sp>
    </p:spTree>
    <p:extLst>
      <p:ext uri="{BB962C8B-B14F-4D97-AF65-F5344CB8AC3E}">
        <p14:creationId xmlns:p14="http://schemas.microsoft.com/office/powerpoint/2010/main" val="2774273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Logical Pitfalls </a:t>
            </a:r>
            <a:r>
              <a:rPr lang="en-US" sz="1000" b="0" noProof="0" dirty="0"/>
              <a:t>6</a:t>
            </a:r>
            <a:endParaRPr lang="en-US" sz="1000" noProof="0" dirty="0"/>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1.5</a:t>
            </a:r>
          </a:p>
        </p:txBody>
      </p:sp>
      <p:sp>
        <p:nvSpPr>
          <p:cNvPr id="4" name="Content Placeholder 3"/>
          <p:cNvSpPr>
            <a:spLocks noGrp="1"/>
          </p:cNvSpPr>
          <p:nvPr>
            <p:ph sz="quarter" idx="14"/>
          </p:nvPr>
        </p:nvSpPr>
        <p:spPr>
          <a:xfrm>
            <a:off x="342900" y="1278016"/>
            <a:ext cx="7973786" cy="2071853"/>
          </a:xfrm>
        </p:spPr>
        <p:txBody>
          <a:bodyPr/>
          <a:lstStyle/>
          <a:p>
            <a:pPr>
              <a:defRPr/>
            </a:pPr>
            <a:r>
              <a:rPr lang="en-US" b="1" noProof="0" dirty="0">
                <a:solidFill>
                  <a:schemeClr val="tx1"/>
                </a:solidFill>
              </a:rPr>
              <a:t>Pitfall 7: </a:t>
            </a:r>
            <a:r>
              <a:rPr lang="en-US" noProof="0" dirty="0">
                <a:solidFill>
                  <a:schemeClr val="tx1"/>
                </a:solidFill>
              </a:rPr>
              <a:t>Unconscious bias.</a:t>
            </a:r>
          </a:p>
          <a:p>
            <a:pPr indent="1588">
              <a:spcAft>
                <a:spcPts val="2400"/>
              </a:spcAft>
              <a:defRPr/>
            </a:pPr>
            <a:r>
              <a:rPr lang="en-US" noProof="0" dirty="0">
                <a:solidFill>
                  <a:schemeClr val="tx1"/>
                </a:solidFill>
              </a:rPr>
              <a:t>Be careful about unconsciously or subtly allowing bias to color handling of data (For example, heart disease in men versus women). Symptoms in men are more obvious than in women.</a:t>
            </a:r>
            <a:endParaRPr lang="en-US" i="1" noProof="0" dirty="0">
              <a:solidFill>
                <a:schemeClr val="tx1"/>
              </a:solidFill>
            </a:endParaRPr>
          </a:p>
        </p:txBody>
      </p:sp>
      <p:sp>
        <p:nvSpPr>
          <p:cNvPr id="5" name="Content Placeholder 4"/>
          <p:cNvSpPr>
            <a:spLocks noGrp="1"/>
          </p:cNvSpPr>
          <p:nvPr>
            <p:ph sz="quarter" idx="15"/>
          </p:nvPr>
        </p:nvSpPr>
        <p:spPr>
          <a:xfrm>
            <a:off x="342900" y="3508132"/>
            <a:ext cx="8089900" cy="2071852"/>
          </a:xfrm>
        </p:spPr>
        <p:txBody>
          <a:bodyPr/>
          <a:lstStyle/>
          <a:p>
            <a:pPr>
              <a:defRPr/>
            </a:pPr>
            <a:r>
              <a:rPr lang="en-US" b="1" noProof="0" dirty="0">
                <a:solidFill>
                  <a:schemeClr val="tx1"/>
                </a:solidFill>
              </a:rPr>
              <a:t>Pitfall 8: </a:t>
            </a:r>
            <a:r>
              <a:rPr lang="en-US" noProof="0" dirty="0">
                <a:solidFill>
                  <a:schemeClr val="tx1"/>
                </a:solidFill>
              </a:rPr>
              <a:t>Significance versus importance.</a:t>
            </a:r>
          </a:p>
          <a:p>
            <a:pPr indent="1588">
              <a:defRPr/>
            </a:pPr>
            <a:r>
              <a:rPr lang="en-US" noProof="0" dirty="0">
                <a:solidFill>
                  <a:schemeClr val="tx1"/>
                </a:solidFill>
              </a:rPr>
              <a:t>Statistically significant effects may lack practical importance (For example, Austrian military recruits born in the spring average 0.6 cm taller than those born in the fall). Would anyone notice this difference?</a:t>
            </a:r>
            <a:endParaRPr lang="en-US" i="1" noProof="0" dirty="0">
              <a:solidFill>
                <a:schemeClr val="tx1"/>
              </a:solidFill>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32</a:t>
            </a:fld>
            <a:endParaRPr lang="en-US" dirty="0"/>
          </a:p>
        </p:txBody>
      </p:sp>
    </p:spTree>
    <p:extLst>
      <p:ext uri="{BB962C8B-B14F-4D97-AF65-F5344CB8AC3E}">
        <p14:creationId xmlns:p14="http://schemas.microsoft.com/office/powerpoint/2010/main" val="64329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813770"/>
            <a:ext cx="8458200" cy="798110"/>
          </a:xfrm>
        </p:spPr>
        <p:txBody>
          <a:bodyPr>
            <a:normAutofit/>
          </a:bodyPr>
          <a:lstStyle/>
          <a:p>
            <a:r>
              <a:rPr lang="en-US" noProof="0" dirty="0"/>
              <a:t>Chapter 1: Practice Problems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33</a:t>
            </a:fld>
            <a:endParaRPr lang="en-US" dirty="0"/>
          </a:p>
        </p:txBody>
      </p:sp>
    </p:spTree>
    <p:extLst>
      <p:ext uri="{BB962C8B-B14F-4D97-AF65-F5344CB8AC3E}">
        <p14:creationId xmlns:p14="http://schemas.microsoft.com/office/powerpoint/2010/main" val="3184621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Question 2</a:t>
            </a:r>
            <a:endParaRPr lang="en-US" sz="3600" b="0" noProof="0" dirty="0"/>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1.3</a:t>
            </a:r>
          </a:p>
        </p:txBody>
      </p:sp>
      <p:sp>
        <p:nvSpPr>
          <p:cNvPr id="4" name="Content Placeholder 3"/>
          <p:cNvSpPr>
            <a:spLocks noGrp="1"/>
          </p:cNvSpPr>
          <p:nvPr>
            <p:ph sz="quarter" idx="14"/>
          </p:nvPr>
        </p:nvSpPr>
        <p:spPr>
          <a:xfrm>
            <a:off x="342900" y="1278014"/>
            <a:ext cx="8136082" cy="5034295"/>
          </a:xfrm>
        </p:spPr>
        <p:txBody>
          <a:bodyPr/>
          <a:lstStyle/>
          <a:p>
            <a:r>
              <a:rPr lang="en-US" noProof="0" dirty="0"/>
              <a:t>Give an example of how statistics might be useful to the person in the scenario.</a:t>
            </a:r>
          </a:p>
          <a:p>
            <a:pPr marL="304800" indent="-304800"/>
            <a:r>
              <a:rPr lang="en-US" noProof="0" dirty="0"/>
              <a:t>a. A personnel executive is examining job turnover in different restaurants in a fast-food chain.</a:t>
            </a:r>
          </a:p>
          <a:p>
            <a:pPr marL="304800" indent="-304800"/>
            <a:r>
              <a:rPr lang="en-US" noProof="0" dirty="0"/>
              <a:t>b. An intranet manager is studying email usage rates by employees in different job classifications.</a:t>
            </a:r>
          </a:p>
          <a:p>
            <a:pPr marL="304800" indent="-304800"/>
            <a:r>
              <a:rPr lang="en-US" noProof="0" dirty="0"/>
              <a:t>c. A retirement planner is studying mutual fund performance for six different types of asset portfolios.</a:t>
            </a:r>
          </a:p>
        </p:txBody>
      </p:sp>
      <p:sp>
        <p:nvSpPr>
          <p:cNvPr id="10" name="Slide Number Placeholder 9"/>
          <p:cNvSpPr>
            <a:spLocks noGrp="1"/>
          </p:cNvSpPr>
          <p:nvPr>
            <p:ph type="sldNum" sz="quarter" idx="10"/>
          </p:nvPr>
        </p:nvSpPr>
        <p:spPr/>
        <p:txBody>
          <a:bodyPr/>
          <a:lstStyle/>
          <a:p>
            <a:fld id="{68151E55-6873-49E2-B8D5-2F265E6F1973}" type="slidenum">
              <a:rPr lang="en-US" smtClean="0"/>
              <a:t>34</a:t>
            </a:fld>
            <a:endParaRPr lang="en-US" dirty="0"/>
          </a:p>
        </p:txBody>
      </p:sp>
    </p:spTree>
    <p:extLst>
      <p:ext uri="{BB962C8B-B14F-4D97-AF65-F5344CB8AC3E}">
        <p14:creationId xmlns:p14="http://schemas.microsoft.com/office/powerpoint/2010/main" val="6992680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Question 6</a:t>
            </a:r>
            <a:endParaRPr lang="en-US" sz="3600" b="0" noProof="0" dirty="0"/>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1.4</a:t>
            </a:r>
          </a:p>
        </p:txBody>
      </p:sp>
      <p:sp>
        <p:nvSpPr>
          <p:cNvPr id="4" name="Content Placeholder 3"/>
          <p:cNvSpPr>
            <a:spLocks noGrp="1"/>
          </p:cNvSpPr>
          <p:nvPr>
            <p:ph sz="quarter" idx="14"/>
          </p:nvPr>
        </p:nvSpPr>
        <p:spPr>
          <a:xfrm>
            <a:off x="342900" y="1278014"/>
            <a:ext cx="8136082" cy="5034295"/>
          </a:xfrm>
        </p:spPr>
        <p:txBody>
          <a:bodyPr/>
          <a:lstStyle/>
          <a:p>
            <a:r>
              <a:rPr lang="en-US" sz="1800" noProof="0" dirty="0"/>
              <a:t>The U</a:t>
            </a:r>
            <a:r>
              <a:rPr lang="en-US" sz="100" noProof="0" dirty="0"/>
              <a:t> </a:t>
            </a:r>
            <a:r>
              <a:rPr lang="en-US" sz="1800" noProof="0" dirty="0"/>
              <a:t>S Public Interest Research Group Education Fund (U</a:t>
            </a:r>
            <a:r>
              <a:rPr lang="en-US" sz="100" noProof="0" dirty="0"/>
              <a:t> </a:t>
            </a:r>
            <a:r>
              <a:rPr lang="en-US" sz="1800" noProof="0" dirty="0"/>
              <a:t>S</a:t>
            </a:r>
            <a:r>
              <a:rPr lang="en-US" sz="100" noProof="0" dirty="0"/>
              <a:t> </a:t>
            </a:r>
            <a:r>
              <a:rPr lang="en-US" sz="1800" noProof="0" dirty="0"/>
              <a:t>P</a:t>
            </a:r>
            <a:r>
              <a:rPr lang="en-US" sz="100" noProof="0" dirty="0"/>
              <a:t> </a:t>
            </a:r>
            <a:r>
              <a:rPr lang="en-US" sz="1800" noProof="0" dirty="0"/>
              <a:t>I</a:t>
            </a:r>
            <a:r>
              <a:rPr lang="en-US" sz="100" noProof="0" dirty="0"/>
              <a:t> </a:t>
            </a:r>
            <a:r>
              <a:rPr lang="en-US" sz="1800" noProof="0" dirty="0"/>
              <a:t>R</a:t>
            </a:r>
            <a:r>
              <a:rPr lang="en-US" sz="100" noProof="0" dirty="0"/>
              <a:t> </a:t>
            </a:r>
            <a:r>
              <a:rPr lang="en-US" sz="1800" noProof="0" dirty="0"/>
              <a:t>G) recently published a report titled </a:t>
            </a:r>
            <a:r>
              <a:rPr lang="en-US" sz="1800" i="1" noProof="0" dirty="0"/>
              <a:t>The Campus Credit Card Trap: A Survey of College Students about Credit Card Marketing. </a:t>
            </a:r>
            <a:r>
              <a:rPr lang="en-US" sz="1800" noProof="0" dirty="0"/>
              <a:t>You can find this report and more information about campus credit card marketing at The Campus Credit Card Trap. Read this report and then answer the following questions about how statistics plays a role in resolving ethical dilemmas.</a:t>
            </a:r>
          </a:p>
          <a:p>
            <a:pPr marL="228600" indent="-228600"/>
            <a:r>
              <a:rPr lang="en-US" sz="1600" noProof="0" dirty="0"/>
              <a:t>a. What is the perceived ethical issue highlighted in this report?</a:t>
            </a:r>
          </a:p>
          <a:p>
            <a:pPr marL="228600" indent="-228600"/>
            <a:r>
              <a:rPr lang="en-US" sz="1600" noProof="0" dirty="0"/>
              <a:t>b. How did U</a:t>
            </a:r>
            <a:r>
              <a:rPr lang="en-US" sz="100" noProof="0" dirty="0"/>
              <a:t> </a:t>
            </a:r>
            <a:r>
              <a:rPr lang="en-US" sz="1600" noProof="0" dirty="0"/>
              <a:t>S</a:t>
            </a:r>
            <a:r>
              <a:rPr lang="en-US" sz="100" noProof="0" dirty="0"/>
              <a:t> </a:t>
            </a:r>
            <a:r>
              <a:rPr lang="en-US" sz="1600" noProof="0" dirty="0"/>
              <a:t>P</a:t>
            </a:r>
            <a:r>
              <a:rPr lang="en-US" sz="100" noProof="0" dirty="0"/>
              <a:t> </a:t>
            </a:r>
            <a:r>
              <a:rPr lang="en-US" sz="1600" noProof="0" dirty="0"/>
              <a:t>I</a:t>
            </a:r>
            <a:r>
              <a:rPr lang="en-US" sz="100" noProof="0" dirty="0"/>
              <a:t> </a:t>
            </a:r>
            <a:r>
              <a:rPr lang="en-US" sz="1600" noProof="0" dirty="0"/>
              <a:t>R</a:t>
            </a:r>
            <a:r>
              <a:rPr lang="en-US" sz="100" noProof="0" dirty="0"/>
              <a:t> </a:t>
            </a:r>
            <a:r>
              <a:rPr lang="en-US" sz="1600" noProof="0" dirty="0"/>
              <a:t>G conduct its study to collect information and data?</a:t>
            </a:r>
          </a:p>
          <a:p>
            <a:pPr marL="228600" indent="-228600"/>
            <a:r>
              <a:rPr lang="en-US" sz="1600" noProof="0" dirty="0"/>
              <a:t>c. What broad categories did its survey address?</a:t>
            </a:r>
          </a:p>
          <a:p>
            <a:pPr marL="228600" indent="-228600"/>
            <a:r>
              <a:rPr lang="en-US" sz="1600" noProof="0" dirty="0"/>
              <a:t>d. Did the survey data verify that the issue was a real, instead of a perceived, ethical problem?</a:t>
            </a:r>
          </a:p>
          <a:p>
            <a:pPr marL="228600" indent="-228600"/>
            <a:r>
              <a:rPr lang="en-US" sz="1600" noProof="0" dirty="0"/>
              <a:t>e. Do you agree with the study’s assessment of the issue? Why or why not?</a:t>
            </a:r>
          </a:p>
          <a:p>
            <a:pPr marL="228600" indent="-228600"/>
            <a:r>
              <a:rPr lang="en-US" sz="1600" noProof="0" dirty="0"/>
              <a:t>f. Based on the results of the survey, is the issue widespread? Explain.</a:t>
            </a:r>
          </a:p>
          <a:p>
            <a:pPr marL="228600" indent="-228600"/>
            <a:r>
              <a:rPr lang="en-US" sz="1600" noProof="0" dirty="0"/>
              <a:t>g. Describe the report’s suggested solutions to confront unethical business practices.</a:t>
            </a:r>
          </a:p>
        </p:txBody>
      </p:sp>
      <p:sp>
        <p:nvSpPr>
          <p:cNvPr id="10" name="Slide Number Placeholder 9"/>
          <p:cNvSpPr>
            <a:spLocks noGrp="1"/>
          </p:cNvSpPr>
          <p:nvPr>
            <p:ph type="sldNum" sz="quarter" idx="10"/>
          </p:nvPr>
        </p:nvSpPr>
        <p:spPr/>
        <p:txBody>
          <a:bodyPr/>
          <a:lstStyle/>
          <a:p>
            <a:fld id="{68151E55-6873-49E2-B8D5-2F265E6F1973}" type="slidenum">
              <a:rPr lang="en-US" smtClean="0"/>
              <a:t>35</a:t>
            </a:fld>
            <a:endParaRPr lang="en-US" dirty="0"/>
          </a:p>
        </p:txBody>
      </p:sp>
    </p:spTree>
    <p:extLst>
      <p:ext uri="{BB962C8B-B14F-4D97-AF65-F5344CB8AC3E}">
        <p14:creationId xmlns:p14="http://schemas.microsoft.com/office/powerpoint/2010/main" val="19418513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fontScale="90000"/>
          </a:bodyPr>
          <a:lstStyle/>
          <a:p>
            <a:r>
              <a:rPr lang="en-US" noProof="0" dirty="0"/>
              <a:t>Which Fallacy, if Any, do You See?</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1.5	</a:t>
            </a:r>
          </a:p>
        </p:txBody>
      </p:sp>
      <p:sp>
        <p:nvSpPr>
          <p:cNvPr id="4" name="Content Placeholder 3"/>
          <p:cNvSpPr>
            <a:spLocks noGrp="1"/>
          </p:cNvSpPr>
          <p:nvPr>
            <p:ph sz="quarter" idx="14"/>
          </p:nvPr>
        </p:nvSpPr>
        <p:spPr>
          <a:xfrm>
            <a:off x="342899" y="1278016"/>
            <a:ext cx="8554357" cy="2089298"/>
          </a:xfrm>
        </p:spPr>
        <p:txBody>
          <a:bodyPr/>
          <a:lstStyle/>
          <a:p>
            <a:r>
              <a:rPr lang="en-US" b="1" noProof="0" dirty="0"/>
              <a:t>Question 8:</a:t>
            </a:r>
          </a:p>
          <a:p>
            <a:pPr marL="292608" indent="-292608">
              <a:buFont typeface="Arial" panose="020B0604020202020204" pitchFamily="34" charset="0"/>
              <a:buChar char="•"/>
            </a:pPr>
            <a:r>
              <a:rPr lang="en-US" noProof="0" dirty="0"/>
              <a:t>Recently, the same five winning numbers (4, 21, 23, 34, 39) came up both on Monday and on Wednesday in the North Carolina Lottery. “That’s so unlikely that it must be rigged,” said Mary.</a:t>
            </a:r>
          </a:p>
        </p:txBody>
      </p:sp>
      <p:sp>
        <p:nvSpPr>
          <p:cNvPr id="5" name="Content Placeholder 4"/>
          <p:cNvSpPr>
            <a:spLocks noGrp="1"/>
          </p:cNvSpPr>
          <p:nvPr>
            <p:ph sz="quarter" idx="15"/>
          </p:nvPr>
        </p:nvSpPr>
        <p:spPr>
          <a:xfrm>
            <a:off x="331469" y="3543446"/>
            <a:ext cx="8435160" cy="2824034"/>
          </a:xfrm>
        </p:spPr>
        <p:txBody>
          <a:bodyPr/>
          <a:lstStyle/>
          <a:p>
            <a:r>
              <a:rPr lang="en-US" b="1" noProof="0" dirty="0"/>
              <a:t>Question 9:</a:t>
            </a:r>
          </a:p>
          <a:p>
            <a:pPr marL="292608" indent="-292608">
              <a:buFont typeface="Arial" panose="020B0604020202020204" pitchFamily="34" charset="0"/>
              <a:buChar char="•"/>
            </a:pPr>
            <a:r>
              <a:rPr lang="en-US" noProof="0" dirty="0"/>
              <a:t>A National Health Interview Survey conducted by the U</a:t>
            </a:r>
            <a:r>
              <a:rPr lang="en-US" sz="100" noProof="0" dirty="0"/>
              <a:t> </a:t>
            </a:r>
            <a:r>
              <a:rPr lang="en-US" noProof="0" dirty="0"/>
              <a:t>S Centers for Disease Control and Prevention reported that using a cell phone instead of a landline appeared to double a person’s chances of binge drinking. “I guess I’d better give up my cell phone,” said Bob.</a:t>
            </a:r>
          </a:p>
        </p:txBody>
      </p:sp>
      <p:sp>
        <p:nvSpPr>
          <p:cNvPr id="10" name="Slide Number Placeholder 9"/>
          <p:cNvSpPr>
            <a:spLocks noGrp="1"/>
          </p:cNvSpPr>
          <p:nvPr>
            <p:ph type="sldNum" sz="quarter" idx="10"/>
          </p:nvPr>
        </p:nvSpPr>
        <p:spPr/>
        <p:txBody>
          <a:bodyPr/>
          <a:lstStyle/>
          <a:p>
            <a:fld id="{68151E55-6873-49E2-B8D5-2F265E6F1973}" type="slidenum">
              <a:rPr lang="en-US" smtClean="0"/>
              <a:t>36</a:t>
            </a:fld>
            <a:endParaRPr lang="en-US" dirty="0"/>
          </a:p>
        </p:txBody>
      </p:sp>
    </p:spTree>
    <p:extLst>
      <p:ext uri="{BB962C8B-B14F-4D97-AF65-F5344CB8AC3E}">
        <p14:creationId xmlns:p14="http://schemas.microsoft.com/office/powerpoint/2010/main" val="26163512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813770"/>
            <a:ext cx="8458200" cy="798110"/>
          </a:xfrm>
        </p:spPr>
        <p:txBody>
          <a:bodyPr>
            <a:normAutofit/>
          </a:bodyPr>
          <a:lstStyle/>
          <a:p>
            <a:r>
              <a:rPr lang="en-US" noProof="0" dirty="0"/>
              <a:t>Chapter 1: Analytics in Action</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37</a:t>
            </a:fld>
            <a:endParaRPr lang="en-US" dirty="0"/>
          </a:p>
        </p:txBody>
      </p:sp>
    </p:spTree>
    <p:extLst>
      <p:ext uri="{BB962C8B-B14F-4D97-AF65-F5344CB8AC3E}">
        <p14:creationId xmlns:p14="http://schemas.microsoft.com/office/powerpoint/2010/main" val="1274484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Analytics in Action </a:t>
            </a:r>
            <a:r>
              <a:rPr lang="en-US" sz="1000" b="0" noProof="0" dirty="0"/>
              <a:t>1</a:t>
            </a:r>
          </a:p>
        </p:txBody>
      </p:sp>
      <p:sp>
        <p:nvSpPr>
          <p:cNvPr id="3" name="Content Placeholder 2"/>
          <p:cNvSpPr>
            <a:spLocks noGrp="1"/>
          </p:cNvSpPr>
          <p:nvPr>
            <p:ph sz="quarter" idx="11"/>
          </p:nvPr>
        </p:nvSpPr>
        <p:spPr>
          <a:xfrm>
            <a:off x="8595360" y="55330"/>
            <a:ext cx="487680" cy="1207413"/>
          </a:xfrm>
        </p:spPr>
        <p:txBody>
          <a:bodyPr vert="vert" rIns="0"/>
          <a:lstStyle/>
          <a:p>
            <a:pPr marL="1025525" indent="-1025525"/>
            <a:r>
              <a:rPr lang="en-US" b="1" noProof="0" dirty="0"/>
              <a:t>L</a:t>
            </a:r>
            <a:r>
              <a:rPr lang="en-US" sz="100" b="1" noProof="0" dirty="0"/>
              <a:t> </a:t>
            </a:r>
            <a:r>
              <a:rPr lang="en-US" b="1" noProof="0" dirty="0"/>
              <a:t>O 1.1</a:t>
            </a:r>
          </a:p>
        </p:txBody>
      </p:sp>
      <p:sp>
        <p:nvSpPr>
          <p:cNvPr id="4" name="Content Placeholder 3"/>
          <p:cNvSpPr>
            <a:spLocks noGrp="1"/>
          </p:cNvSpPr>
          <p:nvPr>
            <p:ph sz="quarter" idx="14"/>
          </p:nvPr>
        </p:nvSpPr>
        <p:spPr>
          <a:xfrm>
            <a:off x="342900" y="1278014"/>
            <a:ext cx="8081010" cy="5209872"/>
          </a:xfrm>
        </p:spPr>
        <p:txBody>
          <a:bodyPr/>
          <a:lstStyle/>
          <a:p>
            <a:pPr>
              <a:spcBef>
                <a:spcPts val="500"/>
              </a:spcBef>
            </a:pPr>
            <a:r>
              <a:rPr lang="en-US" sz="1600" b="1" noProof="0" dirty="0"/>
              <a:t>Using Analytics to Improve Business:</a:t>
            </a:r>
          </a:p>
          <a:p>
            <a:pPr>
              <a:spcBef>
                <a:spcPts val="500"/>
              </a:spcBef>
              <a:spcAft>
                <a:spcPts val="500"/>
              </a:spcAft>
            </a:pPr>
            <a:r>
              <a:rPr lang="en-US" sz="1400" b="1" noProof="0" dirty="0"/>
              <a:t>Descriptive Analytics: </a:t>
            </a:r>
            <a:r>
              <a:rPr lang="en-US" sz="1400" noProof="0" dirty="0"/>
              <a:t>Google Analytics provides a wide range of metrics for companies that want to better understand how their websites operate. This type of </a:t>
            </a:r>
            <a:r>
              <a:rPr lang="en-US" sz="1400" i="1" noProof="0" dirty="0"/>
              <a:t>descriptive analytics </a:t>
            </a:r>
            <a:r>
              <a:rPr lang="en-US" sz="1400" noProof="0" dirty="0"/>
              <a:t>allows companies to see, for example, loading time for their pages in different browsers and on different devices; how much time a viewer spends on the page; and the number of visits per hour, day, or week. In addition, companies can see performance measures such as bounce rate or click-through rale. Bounce rate shows the percentage of viewers who leave the site after viewing only the homepage. Click through rate is the percentage of viewers who click on the ad when they view it on a webpage. Both of these metrics are important for evaluating the effectiveness of a web design.</a:t>
            </a:r>
          </a:p>
          <a:p>
            <a:pPr indent="228600">
              <a:spcBef>
                <a:spcPts val="500"/>
              </a:spcBef>
            </a:pPr>
            <a:r>
              <a:rPr lang="en-US" sz="1400" b="1" noProof="0" dirty="0"/>
              <a:t>Predictive Analytics: </a:t>
            </a:r>
            <a:r>
              <a:rPr lang="en-US" sz="1400" noProof="0" dirty="0"/>
              <a:t>In 2015, Oracle acquired </a:t>
            </a:r>
            <a:r>
              <a:rPr lang="en-US" sz="1400" noProof="0" dirty="0" err="1"/>
              <a:t>Datalogix</a:t>
            </a:r>
            <a:r>
              <a:rPr lang="en-US" sz="1400" noProof="0" dirty="0"/>
              <a:t> (now called Oracle Advertising), a company that analyzes consumer purchasing behavior to help its customers design the most effective digital marketing campaigns. The acquisition of </a:t>
            </a:r>
            <a:r>
              <a:rPr lang="en-US" sz="1400" noProof="0" dirty="0" err="1"/>
              <a:t>Datalogix</a:t>
            </a:r>
            <a:r>
              <a:rPr lang="en-US" sz="1400" noProof="0" dirty="0"/>
              <a:t> strengthened the tools Oracle provides as part of its data cloud offerings. </a:t>
            </a:r>
            <a:r>
              <a:rPr lang="en-US" sz="1400" i="1" noProof="0" dirty="0"/>
              <a:t>Predictive analytics</a:t>
            </a:r>
            <a:r>
              <a:rPr lang="en-US" sz="1400" noProof="0" dirty="0"/>
              <a:t> has been the key to </a:t>
            </a:r>
            <a:r>
              <a:rPr lang="en-US" sz="1400" noProof="0" dirty="0" err="1"/>
              <a:t>Datalogix's</a:t>
            </a:r>
            <a:r>
              <a:rPr lang="en-US" sz="1400" noProof="0" dirty="0"/>
              <a:t> success. Dr Pepper is one of its happy customers. When Dr Pepper wanted to increase sales, it turned to </a:t>
            </a:r>
            <a:r>
              <a:rPr lang="en-US" sz="1400" noProof="0" dirty="0" err="1"/>
              <a:t>Datalogix</a:t>
            </a:r>
            <a:r>
              <a:rPr lang="en-US" sz="1400" noProof="0" dirty="0"/>
              <a:t> for help in designing a successful Facebook advertising campaign. Through the use of analytics, </a:t>
            </a:r>
            <a:r>
              <a:rPr lang="en-US" sz="1400" noProof="0" dirty="0" err="1"/>
              <a:t>Datalogix</a:t>
            </a:r>
            <a:r>
              <a:rPr lang="en-US" sz="1400" noProof="0" dirty="0"/>
              <a:t> showed that by targeting Facebook users who purchased carbonated beverages and those who purchased Dr Pepper products in particular, Dr Pepper was able to increase its sales by 1.5 percent. And for every $1 spent on advertising, Dr Pepper saw a $3 increase in revenue.</a:t>
            </a:r>
          </a:p>
        </p:txBody>
      </p:sp>
      <p:sp>
        <p:nvSpPr>
          <p:cNvPr id="10" name="Slide Number Placeholder 9"/>
          <p:cNvSpPr>
            <a:spLocks noGrp="1"/>
          </p:cNvSpPr>
          <p:nvPr>
            <p:ph type="sldNum" sz="quarter" idx="10"/>
          </p:nvPr>
        </p:nvSpPr>
        <p:spPr/>
        <p:txBody>
          <a:bodyPr/>
          <a:lstStyle/>
          <a:p>
            <a:fld id="{68151E55-6873-49E2-B8D5-2F265E6F1973}" type="slidenum">
              <a:rPr lang="en-US" smtClean="0"/>
              <a:t>38</a:t>
            </a:fld>
            <a:endParaRPr lang="en-US" dirty="0"/>
          </a:p>
        </p:txBody>
      </p:sp>
    </p:spTree>
    <p:extLst>
      <p:ext uri="{BB962C8B-B14F-4D97-AF65-F5344CB8AC3E}">
        <p14:creationId xmlns:p14="http://schemas.microsoft.com/office/powerpoint/2010/main" val="33842186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Analytics in Action </a:t>
            </a:r>
            <a:r>
              <a:rPr lang="en-US" sz="1000" b="0" noProof="0" dirty="0"/>
              <a:t>2</a:t>
            </a:r>
          </a:p>
        </p:txBody>
      </p:sp>
      <p:sp>
        <p:nvSpPr>
          <p:cNvPr id="3" name="Content Placeholder 2"/>
          <p:cNvSpPr>
            <a:spLocks noGrp="1"/>
          </p:cNvSpPr>
          <p:nvPr>
            <p:ph sz="quarter" idx="11"/>
          </p:nvPr>
        </p:nvSpPr>
        <p:spPr>
          <a:xfrm>
            <a:off x="8595360" y="55330"/>
            <a:ext cx="487680" cy="1207413"/>
          </a:xfrm>
        </p:spPr>
        <p:txBody>
          <a:bodyPr vert="vert" rIns="0"/>
          <a:lstStyle/>
          <a:p>
            <a:pPr marL="1025525" indent="-1025525"/>
            <a:r>
              <a:rPr lang="en-US" b="1" noProof="0" dirty="0"/>
              <a:t>L</a:t>
            </a:r>
            <a:r>
              <a:rPr lang="en-US" sz="100" b="1" noProof="0" dirty="0"/>
              <a:t> </a:t>
            </a:r>
            <a:r>
              <a:rPr lang="en-US" b="1" noProof="0" dirty="0"/>
              <a:t>O 1.1</a:t>
            </a:r>
          </a:p>
        </p:txBody>
      </p:sp>
      <p:sp>
        <p:nvSpPr>
          <p:cNvPr id="4" name="Content Placeholder 3"/>
          <p:cNvSpPr>
            <a:spLocks noGrp="1"/>
          </p:cNvSpPr>
          <p:nvPr>
            <p:ph sz="quarter" idx="14"/>
          </p:nvPr>
        </p:nvSpPr>
        <p:spPr>
          <a:xfrm>
            <a:off x="342900" y="1278014"/>
            <a:ext cx="8283512" cy="5209872"/>
          </a:xfrm>
        </p:spPr>
        <p:txBody>
          <a:bodyPr/>
          <a:lstStyle/>
          <a:p>
            <a:pPr indent="228600">
              <a:spcBef>
                <a:spcPts val="500"/>
              </a:spcBef>
            </a:pPr>
            <a:r>
              <a:rPr lang="en-US" sz="1800" b="1" noProof="0" dirty="0"/>
              <a:t>Prescriptive Analytics: </a:t>
            </a:r>
            <a:r>
              <a:rPr lang="en-US" sz="1800" noProof="0" dirty="0"/>
              <a:t>Hotel rooms and airplane seats are perishable, just like apples and lettuce. When a room or seat is not booked, the company has lost the ability to earn revenue for that night or flight. Setting the right price for the right customer on the right day is complicated. Hotels and airlines feed large data sets into mathematical algorithms that choose the optimal pricing scheme to maximize the revenue for that room or seat. This practice is called revenue management and is an example of </a:t>
            </a:r>
            <a:r>
              <a:rPr lang="en-US" sz="1800" i="1" noProof="0" dirty="0"/>
              <a:t>prescriptive analytics</a:t>
            </a:r>
            <a:r>
              <a:rPr lang="en-US" sz="1800" noProof="0" dirty="0"/>
              <a:t>. When large data sets are analyzed along with system constraints, companies can quickly simulate many different outcomes related to a wide variety of decisions. This allows the decision makers to choose a set of actions that will result in the best outcome for the company and its customers.</a:t>
            </a:r>
          </a:p>
        </p:txBody>
      </p:sp>
      <p:sp>
        <p:nvSpPr>
          <p:cNvPr id="10" name="Slide Number Placeholder 9"/>
          <p:cNvSpPr>
            <a:spLocks noGrp="1"/>
          </p:cNvSpPr>
          <p:nvPr>
            <p:ph type="sldNum" sz="quarter" idx="10"/>
          </p:nvPr>
        </p:nvSpPr>
        <p:spPr/>
        <p:txBody>
          <a:bodyPr/>
          <a:lstStyle/>
          <a:p>
            <a:fld id="{68151E55-6873-49E2-B8D5-2F265E6F1973}" type="slidenum">
              <a:rPr lang="en-US" smtClean="0"/>
              <a:t>39</a:t>
            </a:fld>
            <a:endParaRPr lang="en-US" dirty="0"/>
          </a:p>
        </p:txBody>
      </p:sp>
    </p:spTree>
    <p:extLst>
      <p:ext uri="{BB962C8B-B14F-4D97-AF65-F5344CB8AC3E}">
        <p14:creationId xmlns:p14="http://schemas.microsoft.com/office/powerpoint/2010/main" val="4268492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983415" cy="903231"/>
          </a:xfrm>
        </p:spPr>
        <p:txBody>
          <a:bodyPr>
            <a:normAutofit/>
          </a:bodyPr>
          <a:lstStyle/>
          <a:p>
            <a:r>
              <a:rPr lang="en-US" sz="3600" noProof="0" dirty="0"/>
              <a:t>Analytics in Action </a:t>
            </a:r>
            <a:r>
              <a:rPr lang="en-US" sz="1000" b="0" noProof="0" dirty="0"/>
              <a:t>3</a:t>
            </a:r>
          </a:p>
        </p:txBody>
      </p:sp>
      <p:sp>
        <p:nvSpPr>
          <p:cNvPr id="3" name="Content Placeholder 2"/>
          <p:cNvSpPr>
            <a:spLocks noGrp="1"/>
          </p:cNvSpPr>
          <p:nvPr>
            <p:ph sz="quarter" idx="11"/>
          </p:nvPr>
        </p:nvSpPr>
        <p:spPr>
          <a:xfrm>
            <a:off x="8595360" y="55330"/>
            <a:ext cx="487680" cy="1207413"/>
          </a:xfrm>
        </p:spPr>
        <p:txBody>
          <a:bodyPr vert="vert" rIns="0"/>
          <a:lstStyle/>
          <a:p>
            <a:pPr marL="1025525" indent="-1025525"/>
            <a:r>
              <a:rPr lang="en-US" b="1" noProof="0" dirty="0"/>
              <a:t>L</a:t>
            </a:r>
            <a:r>
              <a:rPr lang="en-US" sz="100" b="1" noProof="0" dirty="0"/>
              <a:t> </a:t>
            </a:r>
            <a:r>
              <a:rPr lang="en-US" b="1" noProof="0" dirty="0"/>
              <a:t>O 1.2</a:t>
            </a:r>
          </a:p>
        </p:txBody>
      </p:sp>
      <p:sp>
        <p:nvSpPr>
          <p:cNvPr id="4" name="Content Placeholder 3"/>
          <p:cNvSpPr>
            <a:spLocks noGrp="1"/>
          </p:cNvSpPr>
          <p:nvPr>
            <p:ph sz="quarter" idx="14"/>
          </p:nvPr>
        </p:nvSpPr>
        <p:spPr>
          <a:xfrm>
            <a:off x="342900" y="1278014"/>
            <a:ext cx="8283512" cy="5209872"/>
          </a:xfrm>
        </p:spPr>
        <p:txBody>
          <a:bodyPr/>
          <a:lstStyle/>
          <a:p>
            <a:r>
              <a:rPr lang="en-US" sz="2000" b="1" noProof="0" dirty="0"/>
              <a:t>Can Big Data Predict Airfares?</a:t>
            </a:r>
          </a:p>
          <a:p>
            <a:r>
              <a:rPr lang="en-US" sz="2000" noProof="0" dirty="0"/>
              <a:t>When you book an airline ticket online, does it annoy you when the next day you find a cheaper fare on exactly the same flight? Or do you congratulate yourself when you get a "good" fare followed by a price rise? Ticket price variation can be predicted, even though there is some uncertainty in the actual price you end up paying. KAYAK, a subsidiary of </a:t>
            </a:r>
            <a:r>
              <a:rPr lang="en-US" sz="2000" noProof="0" dirty="0">
                <a:hlinkClick r:id="rId2" action="ppaction://hlinkfile"/>
              </a:rPr>
              <a:t>Priceline.com</a:t>
            </a:r>
            <a:r>
              <a:rPr lang="en-US" sz="2000" noProof="0" dirty="0"/>
              <a:t>, is a travel planning website and mobile app used by millions of people every day to help forecast prices on airfares as well as hotels and rental cars. How does KAYAK predict airfare variation? It uses big data. Each day, KAYAK’s analysts process over a billion online queries to forecast whether an airfare will go up or down. The mathematical models they use also provide a statistical confidence in their prediction so you can make decisions on when to purchase your airline ticket. If you travel a lot and take the time to use services such as KAYAK, you could save money. (See </a:t>
            </a:r>
            <a:r>
              <a:rPr lang="en-US" sz="2000" noProof="0" dirty="0">
                <a:hlinkClick r:id="rId3"/>
              </a:rPr>
              <a:t>www.kayak.com/price-trend-explanation.</a:t>
            </a:r>
            <a:r>
              <a:rPr lang="en-US" sz="2000" noProof="0" dirty="0"/>
              <a:t>)</a:t>
            </a:r>
            <a:endParaRPr lang="en-US" sz="2000" noProof="0" dirty="0">
              <a:hlinkClick r:id="rId4"/>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40</a:t>
            </a:fld>
            <a:endParaRPr lang="en-US" dirty="0"/>
          </a:p>
        </p:txBody>
      </p:sp>
    </p:spTree>
    <p:extLst>
      <p:ext uri="{BB962C8B-B14F-4D97-AF65-F5344CB8AC3E}">
        <p14:creationId xmlns:p14="http://schemas.microsoft.com/office/powerpoint/2010/main" val="9865681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2B2AD87-69FB-CB54-1CA0-6FAEC852BF5A}"/>
              </a:ext>
            </a:extLst>
          </p:cNvPr>
          <p:cNvSpPr>
            <a:spLocks noGrp="1"/>
          </p:cNvSpPr>
          <p:nvPr>
            <p:ph type="title"/>
          </p:nvPr>
        </p:nvSpPr>
        <p:spPr>
          <a:xfrm>
            <a:off x="342900" y="192490"/>
            <a:ext cx="8191500" cy="903231"/>
          </a:xfrm>
        </p:spPr>
        <p:txBody>
          <a:bodyPr>
            <a:normAutofit/>
          </a:bodyPr>
          <a:lstStyle/>
          <a:p>
            <a:r>
              <a:rPr lang="en-US" sz="3600" noProof="0" dirty="0"/>
              <a:t>Analytics in Action </a:t>
            </a:r>
            <a:r>
              <a:rPr lang="en-US" sz="1000" b="0" noProof="0" dirty="0"/>
              <a:t>4</a:t>
            </a:r>
          </a:p>
        </p:txBody>
      </p:sp>
      <p:sp>
        <p:nvSpPr>
          <p:cNvPr id="13" name="Content Placeholder 2">
            <a:extLst>
              <a:ext uri="{FF2B5EF4-FFF2-40B4-BE49-F238E27FC236}">
                <a16:creationId xmlns:a16="http://schemas.microsoft.com/office/drawing/2014/main" id="{9E5F9AF1-92F8-2B8B-AEA7-318D9BF7F5A0}"/>
              </a:ext>
            </a:extLst>
          </p:cNvPr>
          <p:cNvSpPr>
            <a:spLocks noGrp="1"/>
          </p:cNvSpPr>
          <p:nvPr>
            <p:ph sz="quarter" idx="11"/>
          </p:nvPr>
        </p:nvSpPr>
        <p:spPr>
          <a:xfrm>
            <a:off x="8595360" y="55330"/>
            <a:ext cx="487680" cy="1207413"/>
          </a:xfrm>
        </p:spPr>
        <p:txBody>
          <a:bodyPr vert="vert" rIns="0"/>
          <a:lstStyle/>
          <a:p>
            <a:pPr marL="1025525" indent="-1025525"/>
            <a:r>
              <a:rPr lang="en-US" b="1" noProof="0" dirty="0"/>
              <a:t>L</a:t>
            </a:r>
            <a:r>
              <a:rPr lang="en-US" sz="100" b="1" noProof="0" dirty="0"/>
              <a:t> </a:t>
            </a:r>
            <a:r>
              <a:rPr lang="en-US" b="1" noProof="0" dirty="0"/>
              <a:t>O 1.4</a:t>
            </a:r>
          </a:p>
        </p:txBody>
      </p:sp>
      <p:sp>
        <p:nvSpPr>
          <p:cNvPr id="14" name="Content Placeholder 3">
            <a:extLst>
              <a:ext uri="{FF2B5EF4-FFF2-40B4-BE49-F238E27FC236}">
                <a16:creationId xmlns:a16="http://schemas.microsoft.com/office/drawing/2014/main" id="{1953183A-1F3D-40B1-9E92-E3D5C14F9C2C}"/>
              </a:ext>
            </a:extLst>
          </p:cNvPr>
          <p:cNvSpPr>
            <a:spLocks noGrp="1"/>
          </p:cNvSpPr>
          <p:nvPr>
            <p:ph sz="quarter" idx="14"/>
          </p:nvPr>
        </p:nvSpPr>
        <p:spPr>
          <a:xfrm>
            <a:off x="342900" y="1278014"/>
            <a:ext cx="8191500" cy="4349063"/>
          </a:xfrm>
        </p:spPr>
        <p:txBody>
          <a:bodyPr/>
          <a:lstStyle/>
          <a:p>
            <a:r>
              <a:rPr lang="en-US" sz="1400" b="1" noProof="0" dirty="0"/>
              <a:t>Ethical Issues in Artificial Intelligence:</a:t>
            </a:r>
          </a:p>
          <a:p>
            <a:r>
              <a:rPr lang="en-US" sz="1400" noProof="0" dirty="0"/>
              <a:t>Predictions from machine learning (M</a:t>
            </a:r>
            <a:r>
              <a:rPr lang="en-US" sz="100" noProof="0" dirty="0"/>
              <a:t> </a:t>
            </a:r>
            <a:r>
              <a:rPr lang="en-US" sz="1400" noProof="0" dirty="0"/>
              <a:t>L) and artificial intelligence (A</a:t>
            </a:r>
            <a:r>
              <a:rPr lang="en-US" sz="100" noProof="0" dirty="0"/>
              <a:t> </a:t>
            </a:r>
            <a:r>
              <a:rPr lang="en-US" sz="1400" noProof="0" dirty="0"/>
              <a:t>I) face major concerns about reproducibility, potential bias, transparency, and causality. For example, if a mortgage loan is denied because the A</a:t>
            </a:r>
            <a:r>
              <a:rPr lang="en-US" sz="100" noProof="0" dirty="0"/>
              <a:t> </a:t>
            </a:r>
            <a:r>
              <a:rPr lang="en-US" sz="1400" noProof="0" dirty="0"/>
              <a:t>N</a:t>
            </a:r>
            <a:r>
              <a:rPr lang="en-US" sz="100" noProof="0" dirty="0"/>
              <a:t> </a:t>
            </a:r>
            <a:r>
              <a:rPr lang="en-US" sz="1400" noProof="0" dirty="0" err="1"/>
              <a:t>N</a:t>
            </a:r>
            <a:r>
              <a:rPr lang="en-US" sz="1400" noProof="0" dirty="0"/>
              <a:t> predicts a high probability of default, how can the bank explain its decision to a customer? If a medicine is predicted to be effective in treating a disease but the causal mechanism is not explicit, should the medicine be prescribed? Was the training data somehow biased (For example, by race or gender)? Deep ethical problems arise when A</a:t>
            </a:r>
            <a:r>
              <a:rPr lang="en-US" sz="100" noProof="0" dirty="0"/>
              <a:t> </a:t>
            </a:r>
            <a:r>
              <a:rPr lang="en-US" sz="1400" noProof="0" dirty="0"/>
              <a:t>l is used to make decisions that affect people. People are demanding that A</a:t>
            </a:r>
            <a:r>
              <a:rPr lang="en-US" sz="100" noProof="0" dirty="0"/>
              <a:t> </a:t>
            </a:r>
            <a:r>
              <a:rPr lang="en-US" sz="1400" noProof="0" dirty="0"/>
              <a:t>l explain its methods more clearly.</a:t>
            </a:r>
          </a:p>
          <a:p>
            <a:pPr marL="292608" indent="-292608">
              <a:buFont typeface="Arial" panose="020B0604020202020204" pitchFamily="34" charset="0"/>
              <a:buChar char="•"/>
            </a:pPr>
            <a:r>
              <a:rPr lang="en-US" sz="1400" noProof="0" dirty="0"/>
              <a:t>Will Google’s A</a:t>
            </a:r>
            <a:r>
              <a:rPr lang="en-US" sz="100" noProof="0" dirty="0"/>
              <a:t> </a:t>
            </a:r>
            <a:r>
              <a:rPr lang="en-US" sz="1400" noProof="0" dirty="0"/>
              <a:t>I search engines (For example. BERT) ingest biases from web data sources that it scans without human direction? Online digitized information is likely to reflect common gender stereotypes, racial profiles, or posts by hate groups and bots.</a:t>
            </a:r>
          </a:p>
          <a:p>
            <a:pPr marL="292608" indent="-292608">
              <a:buFont typeface="Arial" panose="020B0604020202020204" pitchFamily="34" charset="0"/>
              <a:buChar char="•"/>
            </a:pPr>
            <a:r>
              <a:rPr lang="en-US" sz="1400" noProof="0" dirty="0"/>
              <a:t>Other search engines (For example, Siri, Alexa) face the same issues. This is a challenge, but also a source of business opportunity that creates demand for statistical expertise in improving these search engines and the reliability of data sources.</a:t>
            </a:r>
          </a:p>
          <a:p>
            <a:pPr marL="292608" indent="-292608">
              <a:buFont typeface="Arial" panose="020B0604020202020204" pitchFamily="34" charset="0"/>
              <a:buChar char="•"/>
            </a:pPr>
            <a:r>
              <a:rPr lang="en-US" sz="1400" noProof="0" dirty="0"/>
              <a:t>A</a:t>
            </a:r>
            <a:r>
              <a:rPr lang="en-US" sz="100" noProof="0" dirty="0"/>
              <a:t> </a:t>
            </a:r>
            <a:r>
              <a:rPr lang="en-US" sz="1400" noProof="0" dirty="0"/>
              <a:t>I decisions may require ethical judgments. For example, in self-driving vehicles, which of several bad options is best when a crash is unavoidable? Faced with a choice of sacrificing one life to save several, what should A</a:t>
            </a:r>
            <a:r>
              <a:rPr lang="en-US" sz="100" noProof="0" dirty="0"/>
              <a:t> </a:t>
            </a:r>
            <a:r>
              <a:rPr lang="en-US" sz="1400" noProof="0" dirty="0"/>
              <a:t>I do?</a:t>
            </a:r>
          </a:p>
        </p:txBody>
      </p:sp>
      <p:sp>
        <p:nvSpPr>
          <p:cNvPr id="7" name="Content Placeholder 6">
            <a:extLst>
              <a:ext uri="{FF2B5EF4-FFF2-40B4-BE49-F238E27FC236}">
                <a16:creationId xmlns:a16="http://schemas.microsoft.com/office/drawing/2014/main" id="{22723558-620B-2061-F473-9A8B03C0852B}"/>
              </a:ext>
            </a:extLst>
          </p:cNvPr>
          <p:cNvSpPr>
            <a:spLocks noGrp="1"/>
          </p:cNvSpPr>
          <p:nvPr>
            <p:ph sz="quarter" idx="17"/>
          </p:nvPr>
        </p:nvSpPr>
        <p:spPr>
          <a:xfrm>
            <a:off x="342900" y="5809370"/>
            <a:ext cx="8528658" cy="433714"/>
          </a:xfrm>
        </p:spPr>
        <p:txBody>
          <a:bodyPr/>
          <a:lstStyle/>
          <a:p>
            <a:r>
              <a:rPr lang="en-US" sz="1200" noProof="0" dirty="0"/>
              <a:t>Sources: </a:t>
            </a:r>
            <a:r>
              <a:rPr lang="en-US" sz="1200" i="1" noProof="0" dirty="0"/>
              <a:t>See</a:t>
            </a:r>
            <a:r>
              <a:rPr lang="en-US" sz="1200" noProof="0" dirty="0"/>
              <a:t> </a:t>
            </a:r>
            <a:r>
              <a:rPr lang="en-US" sz="1200" noProof="0" dirty="0" err="1"/>
              <a:t>David.J</a:t>
            </a:r>
            <a:r>
              <a:rPr lang="en-US" sz="1200" noProof="0" dirty="0"/>
              <a:t>. Hand, "Dark Data," </a:t>
            </a:r>
            <a:r>
              <a:rPr lang="en-US" sz="1200" i="1" noProof="0" dirty="0"/>
              <a:t>Significance</a:t>
            </a:r>
            <a:r>
              <a:rPr lang="en-US" sz="1200" noProof="0" dirty="0"/>
              <a:t> 17, no. 3 (June 2020), pp. 34-37; S</a:t>
            </a:r>
            <a:r>
              <a:rPr lang="en-US" sz="100" noProof="0" dirty="0"/>
              <a:t> </a:t>
            </a:r>
            <a:r>
              <a:rPr lang="en-US" sz="1200" noProof="0" dirty="0"/>
              <a:t>U Noble, </a:t>
            </a:r>
            <a:r>
              <a:rPr lang="en-US" sz="1200" i="1" noProof="0" dirty="0"/>
              <a:t>Algorithms of Oppression: How Search Engines Reinforce Racism</a:t>
            </a:r>
            <a:r>
              <a:rPr lang="en-US" sz="1200" noProof="0" dirty="0"/>
              <a:t> (New York: N</a:t>
            </a:r>
            <a:r>
              <a:rPr lang="en-US" sz="100" noProof="0" dirty="0"/>
              <a:t> </a:t>
            </a:r>
            <a:r>
              <a:rPr lang="en-US" sz="1200" noProof="0" dirty="0"/>
              <a:t>Y</a:t>
            </a:r>
            <a:r>
              <a:rPr lang="en-US" sz="100" noProof="0" dirty="0"/>
              <a:t> </a:t>
            </a:r>
            <a:r>
              <a:rPr lang="en-US" sz="1200" noProof="0" dirty="0"/>
              <a:t>U Press, 2018).</a:t>
            </a:r>
          </a:p>
        </p:txBody>
      </p:sp>
      <p:sp>
        <p:nvSpPr>
          <p:cNvPr id="15" name="Slide Number Placeholder 9">
            <a:extLst>
              <a:ext uri="{FF2B5EF4-FFF2-40B4-BE49-F238E27FC236}">
                <a16:creationId xmlns:a16="http://schemas.microsoft.com/office/drawing/2014/main" id="{03FBA6B5-04BF-ABA6-7716-CCC08D3F596F}"/>
              </a:ext>
            </a:extLst>
          </p:cNvPr>
          <p:cNvSpPr>
            <a:spLocks noGrp="1"/>
          </p:cNvSpPr>
          <p:nvPr>
            <p:ph type="sldNum" sz="quarter" idx="10"/>
          </p:nvPr>
        </p:nvSpPr>
        <p:spPr>
          <a:xfrm>
            <a:off x="8626412" y="6646459"/>
            <a:ext cx="490292" cy="188467"/>
          </a:xfrm>
        </p:spPr>
        <p:txBody>
          <a:bodyPr/>
          <a:lstStyle/>
          <a:p>
            <a:fld id="{68151E55-6873-49E2-B8D5-2F265E6F1973}" type="slidenum">
              <a:rPr lang="en-US" smtClean="0"/>
              <a:t>41</a:t>
            </a:fld>
            <a:endParaRPr lang="en-US" dirty="0"/>
          </a:p>
        </p:txBody>
      </p:sp>
    </p:spTree>
    <p:extLst>
      <p:ext uri="{BB962C8B-B14F-4D97-AF65-F5344CB8AC3E}">
        <p14:creationId xmlns:p14="http://schemas.microsoft.com/office/powerpoint/2010/main" val="20811151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37961"/>
            <a:ext cx="8715375" cy="274320"/>
          </a:xfrm>
        </p:spPr>
        <p:txBody>
          <a:bodyPr/>
          <a:lstStyle/>
          <a:p>
            <a:r>
              <a:rPr lang="en-US" sz="1200" noProof="0"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29415121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noProof="0" dirty="0"/>
              <a:t>Accessibility Content: Text Alternatives for Images</a:t>
            </a:r>
          </a:p>
        </p:txBody>
      </p:sp>
      <p:sp>
        <p:nvSpPr>
          <p:cNvPr id="5" name="Slide Number Placeholder 6"/>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43</a:t>
            </a:fld>
            <a:endParaRPr lang="en-US" sz="800"/>
          </a:p>
        </p:txBody>
      </p:sp>
    </p:spTree>
    <p:extLst>
      <p:ext uri="{BB962C8B-B14F-4D97-AF65-F5344CB8AC3E}">
        <p14:creationId xmlns:p14="http://schemas.microsoft.com/office/powerpoint/2010/main" val="17092097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502856-E185-26F3-944E-5FAE776C8CC0}"/>
              </a:ext>
            </a:extLst>
          </p:cNvPr>
          <p:cNvSpPr>
            <a:spLocks noGrp="1"/>
          </p:cNvSpPr>
          <p:nvPr>
            <p:ph type="title"/>
          </p:nvPr>
        </p:nvSpPr>
        <p:spPr/>
        <p:txBody>
          <a:bodyPr>
            <a:normAutofit/>
          </a:bodyPr>
          <a:lstStyle/>
          <a:p>
            <a:r>
              <a:rPr lang="en-US" sz="2800" noProof="0" dirty="0"/>
              <a:t>What is Statistics? </a:t>
            </a:r>
            <a:r>
              <a:rPr lang="en-US" sz="1000" b="0" noProof="0" dirty="0"/>
              <a:t>3</a:t>
            </a:r>
            <a:r>
              <a:rPr lang="en-US" sz="2800" noProof="0" dirty="0">
                <a:ea typeface="Nanum Brush Script" panose="020B0503020000020004" pitchFamily="2" charset="-127"/>
              </a:rPr>
              <a:t> – Text Alternative</a:t>
            </a:r>
            <a:endParaRPr lang="en-US" sz="2800" noProof="0" dirty="0"/>
          </a:p>
        </p:txBody>
      </p:sp>
      <p:sp>
        <p:nvSpPr>
          <p:cNvPr id="6" name="Text Placeholder 5">
            <a:extLst>
              <a:ext uri="{FF2B5EF4-FFF2-40B4-BE49-F238E27FC236}">
                <a16:creationId xmlns:a16="http://schemas.microsoft.com/office/drawing/2014/main" id="{1FA912D2-7D00-F29A-99A7-057A30F10DE5}"/>
              </a:ext>
            </a:extLst>
          </p:cNvPr>
          <p:cNvSpPr>
            <a:spLocks noGrp="1"/>
          </p:cNvSpPr>
          <p:nvPr>
            <p:ph type="body" sz="quarter" idx="14"/>
          </p:nvPr>
        </p:nvSpPr>
        <p:spPr/>
        <p:txBody>
          <a:bodyPr/>
          <a:lstStyle/>
          <a:p>
            <a:r>
              <a:rPr lang="en-US" b="0" i="0" u="none" strike="noStrike" noProof="0" dirty="0">
                <a:solidFill>
                  <a:srgbClr val="000000"/>
                </a:solidFill>
                <a:effectLst/>
                <a:hlinkClick r:id="rId2" action="ppaction://hlinksldjump"/>
              </a:rPr>
              <a:t>Return to parent-slide containing images.</a:t>
            </a:r>
            <a:endParaRPr lang="en-US" noProof="0" dirty="0"/>
          </a:p>
        </p:txBody>
      </p:sp>
      <p:sp>
        <p:nvSpPr>
          <p:cNvPr id="5" name="Content Placeholder 4">
            <a:extLst>
              <a:ext uri="{FF2B5EF4-FFF2-40B4-BE49-F238E27FC236}">
                <a16:creationId xmlns:a16="http://schemas.microsoft.com/office/drawing/2014/main" id="{04EDBB57-B739-7B1E-E1E3-3C839AC6E65C}"/>
              </a:ext>
            </a:extLst>
          </p:cNvPr>
          <p:cNvSpPr>
            <a:spLocks noGrp="1"/>
          </p:cNvSpPr>
          <p:nvPr>
            <p:ph sz="quarter" idx="11"/>
          </p:nvPr>
        </p:nvSpPr>
        <p:spPr/>
        <p:txBody>
          <a:bodyPr>
            <a:normAutofit/>
          </a:bodyPr>
          <a:lstStyle/>
          <a:p>
            <a:r>
              <a:rPr lang="en-US" sz="2400" b="0" i="0" u="none" strike="noStrike" noProof="0" dirty="0">
                <a:solidFill>
                  <a:srgbClr val="000000"/>
                </a:solidFill>
                <a:effectLst/>
              </a:rPr>
              <a:t>Statistics is divided into two parts: collecting and describing data and making inferences from samples. Collecting and describing data is covered in Chapters 2 through 8. Chapter 2 is about sampling and surveys. Chapter 3 covers visual displays. Chapter 4 covers numerical summaries. Chapters 5 through 8 cover probability models. Making inferences from samples is covered in Chapters 8 through 17. Chapter 8 covers estimating parameters. Chapters 9 to 16 cover testing hypotheses. Chapters 12 to 14 cover regression and trends, and Chapter 17 covers quality control.</a:t>
            </a:r>
            <a:r>
              <a:rPr lang="en-US" sz="2400" noProof="0" dirty="0"/>
              <a:t> </a:t>
            </a:r>
          </a:p>
        </p:txBody>
      </p:sp>
      <p:sp>
        <p:nvSpPr>
          <p:cNvPr id="7" name="Text Placeholder 6">
            <a:extLst>
              <a:ext uri="{FF2B5EF4-FFF2-40B4-BE49-F238E27FC236}">
                <a16:creationId xmlns:a16="http://schemas.microsoft.com/office/drawing/2014/main" id="{C448CCCA-1204-4657-B3B4-EB2BA52CE373}"/>
              </a:ext>
            </a:extLst>
          </p:cNvPr>
          <p:cNvSpPr>
            <a:spLocks noGrp="1"/>
          </p:cNvSpPr>
          <p:nvPr>
            <p:ph type="body" sz="quarter" idx="15"/>
          </p:nvPr>
        </p:nvSpPr>
        <p:spPr/>
        <p:txBody>
          <a:bodyPr/>
          <a:lstStyle/>
          <a:p>
            <a:r>
              <a:rPr lang="en-US" b="0" i="0" u="none" strike="noStrike" noProof="0" dirty="0">
                <a:solidFill>
                  <a:srgbClr val="000000"/>
                </a:solidFill>
                <a:effectLst/>
                <a:hlinkClick r:id="rId2" action="ppaction://hlinksldjump"/>
              </a:rPr>
              <a:t>Return to parent-slide containing images.</a:t>
            </a:r>
            <a:endParaRPr lang="en-US" noProof="0" dirty="0"/>
          </a:p>
        </p:txBody>
      </p:sp>
      <p:sp>
        <p:nvSpPr>
          <p:cNvPr id="2" name="Slide Number Placeholder 8">
            <a:extLst>
              <a:ext uri="{FF2B5EF4-FFF2-40B4-BE49-F238E27FC236}">
                <a16:creationId xmlns:a16="http://schemas.microsoft.com/office/drawing/2014/main" id="{1AE5D079-6F42-7C51-069A-0D35B2D3461B}"/>
              </a:ext>
            </a:extLst>
          </p:cNvPr>
          <p:cNvSpPr>
            <a:spLocks noGrp="1"/>
          </p:cNvSpPr>
          <p:nvPr>
            <p:ph type="sldNum" sz="quarter" idx="10"/>
          </p:nvPr>
        </p:nvSpPr>
        <p:spPr>
          <a:xfrm>
            <a:off x="8626412" y="6673531"/>
            <a:ext cx="355840" cy="161396"/>
          </a:xfrm>
        </p:spPr>
        <p:txBody>
          <a:bodyPr/>
          <a:lstStyle/>
          <a:p>
            <a:fld id="{68151E55-6873-49E2-B8D5-2F265E6F1973}" type="slidenum">
              <a:rPr lang="en-US" sz="800" smtClean="0"/>
              <a:t>44</a:t>
            </a:fld>
            <a:endParaRPr lang="en-US" sz="800"/>
          </a:p>
        </p:txBody>
      </p:sp>
    </p:spTree>
    <p:extLst>
      <p:ext uri="{BB962C8B-B14F-4D97-AF65-F5344CB8AC3E}">
        <p14:creationId xmlns:p14="http://schemas.microsoft.com/office/powerpoint/2010/main" val="30399611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502856-E185-26F3-944E-5FAE776C8CC0}"/>
              </a:ext>
            </a:extLst>
          </p:cNvPr>
          <p:cNvSpPr>
            <a:spLocks noGrp="1"/>
          </p:cNvSpPr>
          <p:nvPr>
            <p:ph type="title"/>
          </p:nvPr>
        </p:nvSpPr>
        <p:spPr/>
        <p:txBody>
          <a:bodyPr>
            <a:noAutofit/>
          </a:bodyPr>
          <a:lstStyle/>
          <a:p>
            <a:r>
              <a:rPr lang="en-US" sz="2800" noProof="0" dirty="0"/>
              <a:t>Communicating with Numbers </a:t>
            </a:r>
            <a:r>
              <a:rPr lang="en-US" sz="1000" b="0" noProof="0" dirty="0"/>
              <a:t>2</a:t>
            </a:r>
            <a:r>
              <a:rPr lang="en-US" sz="2800" noProof="0" dirty="0">
                <a:ea typeface="Nanum Brush Script" panose="020B0503020000020004" pitchFamily="2" charset="-127"/>
              </a:rPr>
              <a:t> – Text Alternative</a:t>
            </a:r>
            <a:endParaRPr lang="en-US" sz="2800" noProof="0" dirty="0"/>
          </a:p>
        </p:txBody>
      </p:sp>
      <p:sp>
        <p:nvSpPr>
          <p:cNvPr id="6" name="Text Placeholder 5">
            <a:extLst>
              <a:ext uri="{FF2B5EF4-FFF2-40B4-BE49-F238E27FC236}">
                <a16:creationId xmlns:a16="http://schemas.microsoft.com/office/drawing/2014/main" id="{1FA912D2-7D00-F29A-99A7-057A30F10DE5}"/>
              </a:ext>
            </a:extLst>
          </p:cNvPr>
          <p:cNvSpPr>
            <a:spLocks noGrp="1"/>
          </p:cNvSpPr>
          <p:nvPr>
            <p:ph type="body" sz="quarter" idx="14"/>
          </p:nvPr>
        </p:nvSpPr>
        <p:spPr/>
        <p:txBody>
          <a:bodyPr/>
          <a:lstStyle/>
          <a:p>
            <a:r>
              <a:rPr lang="en-US" b="0" i="0" u="none" strike="noStrike" noProof="0" dirty="0">
                <a:solidFill>
                  <a:srgbClr val="000000"/>
                </a:solidFill>
                <a:effectLst/>
                <a:hlinkClick r:id="rId2" action="ppaction://hlinksldjump"/>
              </a:rPr>
              <a:t>Return to parent-slide containing images.</a:t>
            </a:r>
            <a:endParaRPr lang="en-US" noProof="0" dirty="0"/>
          </a:p>
        </p:txBody>
      </p:sp>
      <p:sp>
        <p:nvSpPr>
          <p:cNvPr id="5" name="Content Placeholder 4">
            <a:extLst>
              <a:ext uri="{FF2B5EF4-FFF2-40B4-BE49-F238E27FC236}">
                <a16:creationId xmlns:a16="http://schemas.microsoft.com/office/drawing/2014/main" id="{04EDBB57-B739-7B1E-E1E3-3C839AC6E65C}"/>
              </a:ext>
            </a:extLst>
          </p:cNvPr>
          <p:cNvSpPr>
            <a:spLocks noGrp="1"/>
          </p:cNvSpPr>
          <p:nvPr>
            <p:ph sz="quarter" idx="11"/>
          </p:nvPr>
        </p:nvSpPr>
        <p:spPr>
          <a:xfrm>
            <a:off x="342900" y="1371601"/>
            <a:ext cx="8133443" cy="3554360"/>
          </a:xfrm>
        </p:spPr>
        <p:txBody>
          <a:bodyPr>
            <a:normAutofit/>
          </a:bodyPr>
          <a:lstStyle/>
          <a:p>
            <a:r>
              <a:rPr lang="en-US" sz="2400" b="0" i="0" u="none" strike="noStrike" noProof="0" dirty="0">
                <a:solidFill>
                  <a:srgbClr val="000000"/>
                </a:solidFill>
                <a:effectLst/>
              </a:rPr>
              <a:t>The horizontal axis ranges from 2015 to 2021 in increments of 1. The vertical axis is labeled Billions of Dollars. It ranges from 0 to 400 in increments of 50. The curve labeled Revenue begins at (2015, 240), passes through (2016, 210), (2017, 230), (2018, 260), (2019, 260), and (2020, 265), and ends at (2021, 360). The curve labeled Profit begins at (2015, 100), passes through (2016, 90), (2017, 90), (2018, 100), and (2019, 100), and ends at (2021, 150). All values are estimated.</a:t>
            </a:r>
            <a:r>
              <a:rPr lang="en-US" sz="2400" noProof="0" dirty="0"/>
              <a:t> </a:t>
            </a:r>
          </a:p>
        </p:txBody>
      </p:sp>
      <p:sp>
        <p:nvSpPr>
          <p:cNvPr id="7" name="Text Placeholder 6">
            <a:extLst>
              <a:ext uri="{FF2B5EF4-FFF2-40B4-BE49-F238E27FC236}">
                <a16:creationId xmlns:a16="http://schemas.microsoft.com/office/drawing/2014/main" id="{C448CCCA-1204-4657-B3B4-EB2BA52CE373}"/>
              </a:ext>
            </a:extLst>
          </p:cNvPr>
          <p:cNvSpPr>
            <a:spLocks noGrp="1"/>
          </p:cNvSpPr>
          <p:nvPr>
            <p:ph type="body" sz="quarter" idx="15"/>
          </p:nvPr>
        </p:nvSpPr>
        <p:spPr/>
        <p:txBody>
          <a:bodyPr/>
          <a:lstStyle/>
          <a:p>
            <a:r>
              <a:rPr lang="en-US" b="0" i="0" u="none" strike="noStrike" noProof="0" dirty="0">
                <a:solidFill>
                  <a:srgbClr val="000000"/>
                </a:solidFill>
                <a:effectLst/>
                <a:hlinkClick r:id="rId2" action="ppaction://hlinksldjump"/>
              </a:rPr>
              <a:t>Return to parent-slide containing images.</a:t>
            </a:r>
            <a:endParaRPr lang="en-US" noProof="0" dirty="0"/>
          </a:p>
        </p:txBody>
      </p:sp>
      <p:sp>
        <p:nvSpPr>
          <p:cNvPr id="2" name="Slide Number Placeholder 8">
            <a:extLst>
              <a:ext uri="{FF2B5EF4-FFF2-40B4-BE49-F238E27FC236}">
                <a16:creationId xmlns:a16="http://schemas.microsoft.com/office/drawing/2014/main" id="{C1B6E3D5-279D-561C-74A0-3FEB77C00542}"/>
              </a:ext>
            </a:extLst>
          </p:cNvPr>
          <p:cNvSpPr>
            <a:spLocks noGrp="1"/>
          </p:cNvSpPr>
          <p:nvPr>
            <p:ph type="sldNum" sz="quarter" idx="10"/>
          </p:nvPr>
        </p:nvSpPr>
        <p:spPr>
          <a:xfrm>
            <a:off x="8626412" y="6673531"/>
            <a:ext cx="355840" cy="161396"/>
          </a:xfrm>
        </p:spPr>
        <p:txBody>
          <a:bodyPr/>
          <a:lstStyle/>
          <a:p>
            <a:fld id="{68151E55-6873-49E2-B8D5-2F265E6F1973}" type="slidenum">
              <a:rPr lang="en-US" sz="800" smtClean="0"/>
              <a:t>45</a:t>
            </a:fld>
            <a:endParaRPr lang="en-US" sz="800"/>
          </a:p>
        </p:txBody>
      </p:sp>
    </p:spTree>
    <p:extLst>
      <p:ext uri="{BB962C8B-B14F-4D97-AF65-F5344CB8AC3E}">
        <p14:creationId xmlns:p14="http://schemas.microsoft.com/office/powerpoint/2010/main" val="2482170357"/>
      </p:ext>
    </p:extLst>
  </p:cSld>
  <p:clrMapOvr>
    <a:masterClrMapping/>
  </p:clrMapOvr>
</p:sld>
</file>

<file path=ppt/theme/theme1.xml><?xml version="1.0" encoding="utf-8"?>
<a:theme xmlns:a="http://schemas.openxmlformats.org/drawingml/2006/main" name="Title Slides 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11754</TotalTime>
  <Words>3778</Words>
  <Application>Microsoft Office PowerPoint</Application>
  <PresentationFormat>On-screen Show (4:3)</PresentationFormat>
  <Paragraphs>313</Paragraphs>
  <Slides>45</Slides>
  <Notes>3</Notes>
  <HiddenSlides>3</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45</vt:i4>
      </vt:variant>
    </vt:vector>
  </HeadingPairs>
  <TitlesOfParts>
    <vt:vector size="54" baseType="lpstr">
      <vt:lpstr>Nanum Brush Script</vt:lpstr>
      <vt:lpstr>Arial</vt:lpstr>
      <vt:lpstr>Calibri</vt:lpstr>
      <vt:lpstr>Times New Roman</vt:lpstr>
      <vt:lpstr>Title Slides Master</vt:lpstr>
      <vt:lpstr>MainContentSlideMaster</vt:lpstr>
      <vt:lpstr>ClosingMaster</vt:lpstr>
      <vt:lpstr>DividerSlideMaster</vt:lpstr>
      <vt:lpstr>ImageDescriptionAppendixSlideMaster</vt:lpstr>
      <vt:lpstr>Chapter 1</vt:lpstr>
      <vt:lpstr>Chapter Learning Objectives</vt:lpstr>
      <vt:lpstr>Why Study Statistics? 1</vt:lpstr>
      <vt:lpstr>What is Statistics? 1</vt:lpstr>
      <vt:lpstr>What is Statistics? 2</vt:lpstr>
      <vt:lpstr>What is Statistics? 3</vt:lpstr>
      <vt:lpstr>What is Statistics? 4</vt:lpstr>
      <vt:lpstr>Why Study Statistics? 2</vt:lpstr>
      <vt:lpstr>Why Study Statistics? 3</vt:lpstr>
      <vt:lpstr>Why Study Statistics? 4</vt:lpstr>
      <vt:lpstr>Why Study Statistics? 5</vt:lpstr>
      <vt:lpstr>Why Study Statistics? 6</vt:lpstr>
      <vt:lpstr>Applying Statistics in Business 1</vt:lpstr>
      <vt:lpstr>Applying Statistics in Business 2</vt:lpstr>
      <vt:lpstr>Applying Statistics in Business 3</vt:lpstr>
      <vt:lpstr>Applying Statistics in Business 4</vt:lpstr>
      <vt:lpstr>Applying Statistics in Business 5</vt:lpstr>
      <vt:lpstr>Statistical Challenges</vt:lpstr>
      <vt:lpstr>Imperfect Data and Practical Constraints</vt:lpstr>
      <vt:lpstr>Business Ethics</vt:lpstr>
      <vt:lpstr>Upholding Ethical Standards</vt:lpstr>
      <vt:lpstr>Working in Teams</vt:lpstr>
      <vt:lpstr>Using Consultants</vt:lpstr>
      <vt:lpstr>Communicating with Numbers 1</vt:lpstr>
      <vt:lpstr>Communicating with Numbers 2</vt:lpstr>
      <vt:lpstr>Critical Thinking</vt:lpstr>
      <vt:lpstr>Logical Pitfalls 1</vt:lpstr>
      <vt:lpstr>Logical Pitfalls 2</vt:lpstr>
      <vt:lpstr>Logical Pitfalls 3</vt:lpstr>
      <vt:lpstr>Logical Pitfalls 4</vt:lpstr>
      <vt:lpstr>Logical Pitfalls 5</vt:lpstr>
      <vt:lpstr>Logical Pitfalls 6</vt:lpstr>
      <vt:lpstr>Chapter 1: Practice Problems</vt:lpstr>
      <vt:lpstr>Question 2</vt:lpstr>
      <vt:lpstr>Question 6</vt:lpstr>
      <vt:lpstr>Which Fallacy, if Any, do You See?</vt:lpstr>
      <vt:lpstr>Chapter 1: Analytics in Action</vt:lpstr>
      <vt:lpstr>Analytics in Action 1</vt:lpstr>
      <vt:lpstr>Analytics in Action 2</vt:lpstr>
      <vt:lpstr>Analytics in Action 3</vt:lpstr>
      <vt:lpstr>Analytics in Action 4</vt:lpstr>
      <vt:lpstr>End of Main Content</vt:lpstr>
      <vt:lpstr>Accessibility Content: Text Alternatives for Images</vt:lpstr>
      <vt:lpstr>What is Statistics? 3 – Text Alternative</vt:lpstr>
      <vt:lpstr>Communicating with Numbers 2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
  <cp:keywords/>
  <cp:lastModifiedBy>David Doane</cp:lastModifiedBy>
  <cp:revision>3010</cp:revision>
  <dcterms:created xsi:type="dcterms:W3CDTF">2020-12-08T04:00:13Z</dcterms:created>
  <dcterms:modified xsi:type="dcterms:W3CDTF">2025-08-07T16:22:52Z</dcterms:modified>
</cp:coreProperties>
</file>