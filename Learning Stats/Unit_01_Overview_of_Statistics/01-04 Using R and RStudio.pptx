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40" r:id="rId1"/>
  </p:sldMasterIdLst>
  <p:notesMasterIdLst>
    <p:notesMasterId r:id="rId28"/>
  </p:notesMasterIdLst>
  <p:handoutMasterIdLst>
    <p:handoutMasterId r:id="rId29"/>
  </p:handoutMasterIdLst>
  <p:sldIdLst>
    <p:sldId id="256" r:id="rId2"/>
    <p:sldId id="334" r:id="rId3"/>
    <p:sldId id="352" r:id="rId4"/>
    <p:sldId id="333" r:id="rId5"/>
    <p:sldId id="331" r:id="rId6"/>
    <p:sldId id="353" r:id="rId7"/>
    <p:sldId id="351" r:id="rId8"/>
    <p:sldId id="350" r:id="rId9"/>
    <p:sldId id="369" r:id="rId10"/>
    <p:sldId id="368" r:id="rId11"/>
    <p:sldId id="379" r:id="rId12"/>
    <p:sldId id="372" r:id="rId13"/>
    <p:sldId id="373" r:id="rId14"/>
    <p:sldId id="349" r:id="rId15"/>
    <p:sldId id="367" r:id="rId16"/>
    <p:sldId id="375" r:id="rId17"/>
    <p:sldId id="377" r:id="rId18"/>
    <p:sldId id="376" r:id="rId19"/>
    <p:sldId id="370" r:id="rId20"/>
    <p:sldId id="374" r:id="rId21"/>
    <p:sldId id="378" r:id="rId22"/>
    <p:sldId id="380" r:id="rId23"/>
    <p:sldId id="371" r:id="rId24"/>
    <p:sldId id="381" r:id="rId25"/>
    <p:sldId id="325" r:id="rId26"/>
    <p:sldId id="314"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Doane" initials="DD" lastIdx="1" clrIdx="0">
    <p:extLst>
      <p:ext uri="{19B8F6BF-5375-455C-9EA6-DF929625EA0E}">
        <p15:presenceInfo xmlns:p15="http://schemas.microsoft.com/office/powerpoint/2012/main" userId="b97c5b6b14eb9ec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CC6600"/>
    <a:srgbClr val="CC0000"/>
    <a:srgbClr val="000099"/>
    <a:srgbClr val="0000FF"/>
    <a:srgbClr val="FF6699"/>
    <a:srgbClr val="FF3300"/>
    <a:srgbClr val="33CC33"/>
    <a:srgbClr val="0066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57" d="100"/>
          <a:sy n="57" d="100"/>
        </p:scale>
        <p:origin x="8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413568D-4B27-46BD-AB11-25608B48EC38}" type="slidenum">
              <a:rPr lang="en-US"/>
              <a:pPr>
                <a:defRPr/>
              </a:pPr>
              <a:t>‹#›</a:t>
            </a:fld>
            <a:endParaRPr lang="en-US"/>
          </a:p>
        </p:txBody>
      </p:sp>
    </p:spTree>
    <p:extLst>
      <p:ext uri="{BB962C8B-B14F-4D97-AF65-F5344CB8AC3E}">
        <p14:creationId xmlns:p14="http://schemas.microsoft.com/office/powerpoint/2010/main" val="42221044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63540-9C96-45F1-8232-75B9396BBE5E}" type="datetimeFigureOut">
              <a:rPr lang="en-US" smtClean="0"/>
              <a:t>11/29/2023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29B777-A482-402D-BA47-035BCCA0B25C}" type="slidenum">
              <a:rPr lang="en-US" smtClean="0"/>
              <a:t>‹#›</a:t>
            </a:fld>
            <a:endParaRPr lang="en-US"/>
          </a:p>
        </p:txBody>
      </p:sp>
    </p:spTree>
    <p:extLst>
      <p:ext uri="{BB962C8B-B14F-4D97-AF65-F5344CB8AC3E}">
        <p14:creationId xmlns:p14="http://schemas.microsoft.com/office/powerpoint/2010/main" val="4037822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5170FF-E9B2-4E70-A135-BDE55A7CF7CD}"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23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348DD57-CC16-452F-9721-914CF313A34F}" type="slidenum">
              <a:rPr lang="en-US" smtClean="0"/>
              <a:pPr>
                <a:defRPr/>
              </a:pPr>
              <a:t>‹#›</a:t>
            </a:fld>
            <a:endParaRPr lang="en-US"/>
          </a:p>
        </p:txBody>
      </p:sp>
    </p:spTree>
    <p:extLst>
      <p:ext uri="{BB962C8B-B14F-4D97-AF65-F5344CB8AC3E}">
        <p14:creationId xmlns:p14="http://schemas.microsoft.com/office/powerpoint/2010/main" val="64104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0F7ADC3-05E3-4ECF-A2CE-B288065727FE}"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10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F92D95-BB96-4542-8B5F-FB3B36387C88}" type="slidenum">
              <a:rPr lang="en-US" smtClean="0"/>
              <a:pPr>
                <a:defRPr/>
              </a:pPr>
              <a:t>‹#›</a:t>
            </a:fld>
            <a:endParaRPr lang="en-US"/>
          </a:p>
        </p:txBody>
      </p:sp>
    </p:spTree>
    <p:extLst>
      <p:ext uri="{BB962C8B-B14F-4D97-AF65-F5344CB8AC3E}">
        <p14:creationId xmlns:p14="http://schemas.microsoft.com/office/powerpoint/2010/main" val="358856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A25A09E-BB8F-42B8-8737-97CBFB4F1657}" type="slidenum">
              <a:rPr lang="en-US" smtClean="0"/>
              <a:pPr>
                <a:defRPr/>
              </a:pPr>
              <a:t>‹#›</a:t>
            </a:fld>
            <a:endParaRPr lang="en-US"/>
          </a:p>
        </p:txBody>
      </p:sp>
    </p:spTree>
    <p:extLst>
      <p:ext uri="{BB962C8B-B14F-4D97-AF65-F5344CB8AC3E}">
        <p14:creationId xmlns:p14="http://schemas.microsoft.com/office/powerpoint/2010/main" val="6798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D2E7A6E-ED84-4D45-87ED-DFB32493DF88}" type="slidenum">
              <a:rPr lang="en-US" smtClean="0"/>
              <a:pPr>
                <a:defRPr/>
              </a:pPr>
              <a:t>‹#›</a:t>
            </a:fld>
            <a:endParaRPr lang="en-US"/>
          </a:p>
        </p:txBody>
      </p:sp>
    </p:spTree>
    <p:extLst>
      <p:ext uri="{BB962C8B-B14F-4D97-AF65-F5344CB8AC3E}">
        <p14:creationId xmlns:p14="http://schemas.microsoft.com/office/powerpoint/2010/main" val="187166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D2EDA277-4BFE-4C06-BEA9-253807799BB1}" type="slidenum">
              <a:rPr lang="en-US" smtClean="0"/>
              <a:pPr>
                <a:defRPr/>
              </a:pPr>
              <a:t>‹#›</a:t>
            </a:fld>
            <a:endParaRPr lang="en-US"/>
          </a:p>
        </p:txBody>
      </p:sp>
    </p:spTree>
    <p:extLst>
      <p:ext uri="{BB962C8B-B14F-4D97-AF65-F5344CB8AC3E}">
        <p14:creationId xmlns:p14="http://schemas.microsoft.com/office/powerpoint/2010/main" val="373786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FA40CB25-0717-40DE-BB4E-B28B9AF4CFA1}" type="slidenum">
              <a:rPr lang="en-US" smtClean="0"/>
              <a:pPr>
                <a:defRPr/>
              </a:pPr>
              <a:t>‹#›</a:t>
            </a:fld>
            <a:endParaRPr lang="en-US"/>
          </a:p>
        </p:txBody>
      </p:sp>
    </p:spTree>
    <p:extLst>
      <p:ext uri="{BB962C8B-B14F-4D97-AF65-F5344CB8AC3E}">
        <p14:creationId xmlns:p14="http://schemas.microsoft.com/office/powerpoint/2010/main" val="257153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495D52-A34A-4EA6-AB3E-4C788532AAB0}" type="slidenum">
              <a:rPr lang="en-US" smtClean="0"/>
              <a:pPr>
                <a:defRPr/>
              </a:pPr>
              <a:t>‹#›</a:t>
            </a:fld>
            <a:endParaRPr lang="en-US"/>
          </a:p>
        </p:txBody>
      </p:sp>
    </p:spTree>
    <p:extLst>
      <p:ext uri="{BB962C8B-B14F-4D97-AF65-F5344CB8AC3E}">
        <p14:creationId xmlns:p14="http://schemas.microsoft.com/office/powerpoint/2010/main" val="275588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81FA433-17B8-41E2-82D4-5440DB8FDBE2}" type="slidenum">
              <a:rPr lang="en-US" smtClean="0"/>
              <a:pPr>
                <a:defRPr/>
              </a:pPr>
              <a:t>‹#›</a:t>
            </a:fld>
            <a:endParaRPr lang="en-US"/>
          </a:p>
        </p:txBody>
      </p:sp>
    </p:spTree>
    <p:extLst>
      <p:ext uri="{BB962C8B-B14F-4D97-AF65-F5344CB8AC3E}">
        <p14:creationId xmlns:p14="http://schemas.microsoft.com/office/powerpoint/2010/main" val="116980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D4D59FD-573C-4148-8AE9-098E34152B6E}" type="slidenum">
              <a:rPr lang="en-US" smtClean="0"/>
              <a:pPr>
                <a:defRPr/>
              </a:pPr>
              <a:t>‹#›</a:t>
            </a:fld>
            <a:endParaRPr lang="en-US"/>
          </a:p>
        </p:txBody>
      </p:sp>
    </p:spTree>
    <p:extLst>
      <p:ext uri="{BB962C8B-B14F-4D97-AF65-F5344CB8AC3E}">
        <p14:creationId xmlns:p14="http://schemas.microsoft.com/office/powerpoint/2010/main" val="66066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E19F39C1-C2DE-40C8-A20B-B6F404FD967E}"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33948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project.org/"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rstudio.com/products/rstudio/"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cran.r-project.org/mirrors.html" TargetMode="External"/><Relationship Id="rId2" Type="http://schemas.openxmlformats.org/officeDocument/2006/relationships/hyperlink" Target="https://www.r-project.org/"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rstudio.com/products/rstudio/"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upport.rstudio.com/hc/en-us/articles/218611977-Importing-Data-with-RStudio"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hyperlink" Target="https://www.r-bloggers.com/learning-statistics-on-youtube/" TargetMode="External"/><Relationship Id="rId1" Type="http://schemas.openxmlformats.org/officeDocument/2006/relationships/slideLayout" Target="../slideLayouts/slideLayout1.xml"/><Relationship Id="rId4" Type="http://schemas.openxmlformats.org/officeDocument/2006/relationships/hyperlink" Target="http://r-bloggers.com/"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user/econometricsacademy/playlists/" TargetMode="External"/><Relationship Id="rId2" Type="http://schemas.openxmlformats.org/officeDocument/2006/relationships/hyperlink" Target="https://www.youtube.com/user/marinstatlectures/playlist" TargetMode="Externa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hyperlink" Target="https://www.youtube.com/channel/UCTprjveyeUA-pn6b7KbGhmQ" TargetMode="External"/><Relationship Id="rId4" Type="http://schemas.openxmlformats.org/officeDocument/2006/relationships/hyperlink" Target="https://www.codecademy.com/"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28800" y="1447800"/>
            <a:ext cx="5105400" cy="2362200"/>
          </a:xfrm>
        </p:spPr>
        <p:txBody>
          <a:bodyPr/>
          <a:lstStyle/>
          <a:p>
            <a:pPr algn="ctr">
              <a:defRPr/>
            </a:pPr>
            <a: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Using R</a:t>
            </a:r>
            <a:b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br>
            <a: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and</a:t>
            </a:r>
            <a:b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br>
            <a:r>
              <a:rPr lang="en-US" sz="48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RStudio</a:t>
            </a:r>
          </a:p>
        </p:txBody>
      </p:sp>
      <p:sp>
        <p:nvSpPr>
          <p:cNvPr id="2051" name="Text Box 12"/>
          <p:cNvSpPr txBox="1">
            <a:spLocks noChangeArrowheads="1"/>
          </p:cNvSpPr>
          <p:nvPr/>
        </p:nvSpPr>
        <p:spPr bwMode="auto">
          <a:xfrm>
            <a:off x="990600" y="5486400"/>
            <a:ext cx="7391400" cy="523220"/>
          </a:xfrm>
          <a:prstGeom prst="rect">
            <a:avLst/>
          </a:prstGeom>
          <a:solidFill>
            <a:srgbClr val="FF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rgbClr val="993300"/>
                </a:solidFill>
              </a:rPr>
              <a:t>© McGraw Hill LLC. All rights reserved. </a:t>
            </a:r>
            <a:r>
              <a:rPr lang="en-US" sz="1400" b="1">
                <a:solidFill>
                  <a:srgbClr val="993300"/>
                </a:solidFill>
              </a:rPr>
              <a:t>No reproduction or distribution without the prior written consent of McGraw Hill LLC.</a:t>
            </a:r>
            <a:endParaRPr lang="en-US" sz="1400" b="1" dirty="0">
              <a:solidFill>
                <a:srgbClr val="9933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F624A1B-E410-41CB-9441-AB961A78E4B8}"/>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What is R?</a:t>
            </a:r>
          </a:p>
        </p:txBody>
      </p:sp>
      <p:sp>
        <p:nvSpPr>
          <p:cNvPr id="4099" name="Text Box 3"/>
          <p:cNvSpPr txBox="1">
            <a:spLocks noChangeArrowheads="1"/>
          </p:cNvSpPr>
          <p:nvPr/>
        </p:nvSpPr>
        <p:spPr bwMode="auto">
          <a:xfrm>
            <a:off x="876300" y="1711006"/>
            <a:ext cx="7086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dirty="0">
                <a:solidFill>
                  <a:srgbClr val="0000FF"/>
                </a:solidFill>
                <a:hlinkClick r:id="rId2"/>
              </a:rPr>
              <a:t>https://www.r-project.org/</a:t>
            </a:r>
            <a:endParaRPr lang="en-US" dirty="0"/>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776341" y="2991139"/>
            <a:ext cx="7667517" cy="255583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R is a free software environment for statistical computing and graphics. It compiles and runs on a wide variety of UNIX platforms, Windows and MacOS. The R Foundation is a not for profit organization working in the public interest. It has been founded by the members of the R Development Core Team.</a:t>
            </a:r>
          </a:p>
        </p:txBody>
      </p:sp>
      <p:pic>
        <p:nvPicPr>
          <p:cNvPr id="4102" name="Picture 7" descr="Travel &amp; Tourism 16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1447800"/>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114800" y="2290503"/>
            <a:ext cx="609600" cy="457200"/>
          </a:xfrm>
          <a:prstGeom prst="upArrow">
            <a:avLst>
              <a:gd name="adj1" fmla="val 50000"/>
              <a:gd name="adj2" fmla="val 50000"/>
            </a:avLst>
          </a:prstGeom>
          <a:solidFill>
            <a:srgbClr val="C00000"/>
          </a:solidFill>
          <a:ln w="9525" algn="ctr">
            <a:noFill/>
            <a:round/>
            <a:headEnd/>
            <a:tailEnd/>
          </a:ln>
        </p:spPr>
        <p:txBody>
          <a:bodyPr/>
          <a:lstStyle/>
          <a:p>
            <a:endParaRPr lang="en-US" dirty="0">
              <a:highlight>
                <a:srgbClr val="CC0000"/>
              </a:highlight>
            </a:endParaRPr>
          </a:p>
        </p:txBody>
      </p:sp>
      <p:pic>
        <p:nvPicPr>
          <p:cNvPr id="4104" name="Picture 9" descr="Business 4107.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0568" y="1425575"/>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6BBBF37-43F0-426B-A11A-69DD49952F6D}"/>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What is R Studio?</a:t>
            </a:r>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536907" y="2980330"/>
            <a:ext cx="8226093" cy="255583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RStudio is an integrated development environment (IDE) for R. It includes a console, an editor that supports direct code execution, and tools for plotting, history, debugging and workspace management. RStudio is available in open source and commercial editions. Students would likely choose </a:t>
            </a:r>
            <a:r>
              <a:rPr lang="en-US" sz="1600" dirty="0" err="1"/>
              <a:t>Rstudio</a:t>
            </a:r>
            <a:r>
              <a:rPr lang="en-US" sz="1600" dirty="0"/>
              <a:t> Desktop for Windows, Mac, or Linux. </a:t>
            </a:r>
          </a:p>
        </p:txBody>
      </p:sp>
      <p:pic>
        <p:nvPicPr>
          <p:cNvPr id="4102" name="Picture 7" descr="Travel &amp; Tourism 166.g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1447800"/>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114800" y="2142551"/>
            <a:ext cx="609600" cy="457200"/>
          </a:xfrm>
          <a:prstGeom prst="upArrow">
            <a:avLst>
              <a:gd name="adj1" fmla="val 50000"/>
              <a:gd name="adj2" fmla="val 50000"/>
            </a:avLst>
          </a:prstGeom>
          <a:solidFill>
            <a:srgbClr val="C00000"/>
          </a:solidFill>
          <a:ln w="9525" algn="ctr">
            <a:noFill/>
            <a:round/>
            <a:headEnd/>
            <a:tailEnd/>
          </a:ln>
        </p:spPr>
        <p:txBody>
          <a:bodyPr/>
          <a:lstStyle/>
          <a:p>
            <a:endParaRPr lang="en-US" dirty="0">
              <a:highlight>
                <a:srgbClr val="CC0000"/>
              </a:highlight>
            </a:endParaRPr>
          </a:p>
        </p:txBody>
      </p:sp>
      <p:pic>
        <p:nvPicPr>
          <p:cNvPr id="4104" name="Picture 9" descr="Business 4107.gif"/>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568" y="1425575"/>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7B60F82-2359-4787-A895-3FACD438D520}"/>
              </a:ext>
            </a:extLst>
          </p:cNvPr>
          <p:cNvSpPr txBox="1"/>
          <p:nvPr/>
        </p:nvSpPr>
        <p:spPr>
          <a:xfrm>
            <a:off x="2324100" y="1591689"/>
            <a:ext cx="4800600" cy="374204"/>
          </a:xfrm>
          <a:prstGeom prst="rect">
            <a:avLst/>
          </a:prstGeom>
          <a:noFill/>
        </p:spPr>
        <p:txBody>
          <a:bodyPr wrap="square" rtlCol="0">
            <a:spAutoFit/>
          </a:bodyPr>
          <a:lstStyle/>
          <a:p>
            <a:r>
              <a:rPr lang="en-US" dirty="0">
                <a:hlinkClick r:id="rId4"/>
              </a:rPr>
              <a:t>https://rstudio.com/products/rstudio/</a:t>
            </a:r>
            <a:endParaRPr lang="en-US" dirty="0"/>
          </a:p>
        </p:txBody>
      </p:sp>
    </p:spTree>
    <p:extLst>
      <p:ext uri="{BB962C8B-B14F-4D97-AF65-F5344CB8AC3E}">
        <p14:creationId xmlns:p14="http://schemas.microsoft.com/office/powerpoint/2010/main" val="1117432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35538B3-34E1-4853-A2B9-4496CA6CC6D2}"/>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512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What Does R Offer?</a:t>
            </a:r>
          </a:p>
        </p:txBody>
      </p:sp>
      <p:sp>
        <p:nvSpPr>
          <p:cNvPr id="5124"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3" name="TextBox 2">
            <a:extLst>
              <a:ext uri="{FF2B5EF4-FFF2-40B4-BE49-F238E27FC236}">
                <a16:creationId xmlns:a16="http://schemas.microsoft.com/office/drawing/2014/main" id="{8E154D69-91D5-436B-A0D5-860755C70EA0}"/>
              </a:ext>
            </a:extLst>
          </p:cNvPr>
          <p:cNvSpPr txBox="1"/>
          <p:nvPr/>
        </p:nvSpPr>
        <p:spPr>
          <a:xfrm>
            <a:off x="1307522" y="1351508"/>
            <a:ext cx="6998277" cy="4154984"/>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latin typeface="Times New Roman" pitchFamily="18" charset="0"/>
              </a:rPr>
              <a:t>A versatile programming language</a:t>
            </a:r>
          </a:p>
          <a:p>
            <a:pPr marL="285750" indent="-285750">
              <a:buFont typeface="Arial" panose="020B0604020202020204" pitchFamily="34" charset="0"/>
              <a:buChar char="•"/>
            </a:pPr>
            <a:endParaRPr lang="en-US" sz="2400" dirty="0">
              <a:latin typeface="Times New Roman" pitchFamily="18" charset="0"/>
            </a:endParaRPr>
          </a:p>
          <a:p>
            <a:pPr marL="285750" indent="-285750">
              <a:buFont typeface="Arial" panose="020B0604020202020204" pitchFamily="34" charset="0"/>
              <a:buChar char="•"/>
            </a:pPr>
            <a:r>
              <a:rPr lang="en-US" sz="2400" dirty="0">
                <a:latin typeface="Times New Roman" pitchFamily="18" charset="0"/>
              </a:rPr>
              <a:t>An integrated suite of software for</a:t>
            </a:r>
          </a:p>
          <a:p>
            <a:pPr marL="742950" lvl="1" indent="-285750">
              <a:buFont typeface="Arial" panose="020B0604020202020204" pitchFamily="34" charset="0"/>
              <a:buChar char="•"/>
            </a:pPr>
            <a:r>
              <a:rPr lang="en-US" sz="2400" dirty="0">
                <a:latin typeface="Times New Roman" pitchFamily="18" charset="0"/>
              </a:rPr>
              <a:t> data manipulation</a:t>
            </a:r>
          </a:p>
          <a:p>
            <a:pPr marL="742950" lvl="1" indent="-285750">
              <a:buFont typeface="Arial" panose="020B0604020202020204" pitchFamily="34" charset="0"/>
              <a:buChar char="•"/>
            </a:pPr>
            <a:r>
              <a:rPr lang="en-US" sz="2400" dirty="0">
                <a:latin typeface="Times New Roman" pitchFamily="18" charset="0"/>
              </a:rPr>
              <a:t> calculation</a:t>
            </a:r>
          </a:p>
          <a:p>
            <a:pPr marL="742950" lvl="1" indent="-285750">
              <a:buFont typeface="Arial" panose="020B0604020202020204" pitchFamily="34" charset="0"/>
              <a:buChar char="•"/>
            </a:pPr>
            <a:r>
              <a:rPr lang="en-US" sz="2400" dirty="0">
                <a:latin typeface="Times New Roman" pitchFamily="18" charset="0"/>
              </a:rPr>
              <a:t> graphical display</a:t>
            </a:r>
          </a:p>
          <a:p>
            <a:pPr marL="742950" lvl="1" indent="-285750">
              <a:buFont typeface="Arial" panose="020B0604020202020204" pitchFamily="34" charset="0"/>
              <a:buChar char="•"/>
            </a:pPr>
            <a:r>
              <a:rPr lang="en-US" sz="2400" dirty="0">
                <a:latin typeface="Times New Roman" pitchFamily="18" charset="0"/>
              </a:rPr>
              <a:t>data handling and storage</a:t>
            </a:r>
          </a:p>
          <a:p>
            <a:pPr marL="742950" lvl="1" indent="-285750">
              <a:buFont typeface="Arial" panose="020B0604020202020204" pitchFamily="34" charset="0"/>
              <a:buChar char="•"/>
            </a:pPr>
            <a:endParaRPr lang="en-US" sz="2400" dirty="0">
              <a:latin typeface="Times New Roman" pitchFamily="18" charset="0"/>
            </a:endParaRPr>
          </a:p>
          <a:p>
            <a:pPr marL="285750" indent="-285750">
              <a:buFont typeface="Arial" panose="020B0604020202020204" pitchFamily="34" charset="0"/>
              <a:buChar char="•"/>
            </a:pPr>
            <a:r>
              <a:rPr lang="en-US" sz="2400" dirty="0">
                <a:latin typeface="Times New Roman" pitchFamily="18" charset="0"/>
              </a:rPr>
              <a:t>A large collection of procedures that are</a:t>
            </a:r>
          </a:p>
          <a:p>
            <a:pPr marL="742950" lvl="1" indent="-285750">
              <a:buFont typeface="Arial" panose="020B0604020202020204" pitchFamily="34" charset="0"/>
              <a:buChar char="•"/>
            </a:pPr>
            <a:r>
              <a:rPr lang="en-US" sz="2400" dirty="0">
                <a:latin typeface="Times New Roman" pitchFamily="18" charset="0"/>
              </a:rPr>
              <a:t>well-documented </a:t>
            </a:r>
          </a:p>
          <a:p>
            <a:pPr marL="742950" lvl="1" indent="-285750">
              <a:buFont typeface="Arial" panose="020B0604020202020204" pitchFamily="34" charset="0"/>
              <a:buChar char="•"/>
            </a:pPr>
            <a:r>
              <a:rPr lang="en-US" sz="2400" dirty="0">
                <a:latin typeface="Times New Roman" pitchFamily="18" charset="0"/>
              </a:rPr>
              <a:t>reviewed and improved</a:t>
            </a:r>
            <a:endParaRPr lang="en-US" sz="2400" dirty="0"/>
          </a:p>
        </p:txBody>
      </p:sp>
      <p:pic>
        <p:nvPicPr>
          <p:cNvPr id="5" name="Picture 4" descr="A picture containing clock&#10;&#10;Description automatically generated">
            <a:extLst>
              <a:ext uri="{FF2B5EF4-FFF2-40B4-BE49-F238E27FC236}">
                <a16:creationId xmlns:a16="http://schemas.microsoft.com/office/drawing/2014/main" id="{3C3596FC-BD15-4798-8438-A1636524D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058078"/>
            <a:ext cx="1299282" cy="1006944"/>
          </a:xfrm>
          <a:prstGeom prst="rect">
            <a:avLst/>
          </a:prstGeom>
        </p:spPr>
      </p:pic>
      <p:sp>
        <p:nvSpPr>
          <p:cNvPr id="6" name="TextBox 5">
            <a:extLst>
              <a:ext uri="{FF2B5EF4-FFF2-40B4-BE49-F238E27FC236}">
                <a16:creationId xmlns:a16="http://schemas.microsoft.com/office/drawing/2014/main" id="{8D37CA45-ED19-4386-992E-B475EB9A5904}"/>
              </a:ext>
            </a:extLst>
          </p:cNvPr>
          <p:cNvSpPr txBox="1"/>
          <p:nvPr/>
        </p:nvSpPr>
        <p:spPr>
          <a:xfrm>
            <a:off x="6781800" y="2299641"/>
            <a:ext cx="1866900" cy="830997"/>
          </a:xfrm>
          <a:prstGeom prst="rect">
            <a:avLst/>
          </a:prstGeom>
          <a:noFill/>
        </p:spPr>
        <p:txBody>
          <a:bodyPr wrap="square" rtlCol="0">
            <a:spAutoFit/>
          </a:bodyPr>
          <a:lstStyle/>
          <a:p>
            <a:r>
              <a:rPr lang="en-US" sz="1600" i="1" dirty="0"/>
              <a:t>The R logo is © 2016 The R Foundation.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DEA223-BF0B-448A-9443-F3F416634041}"/>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Installing R</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3" name="TextBox 2">
            <a:extLst>
              <a:ext uri="{FF2B5EF4-FFF2-40B4-BE49-F238E27FC236}">
                <a16:creationId xmlns:a16="http://schemas.microsoft.com/office/drawing/2014/main" id="{FCDC9759-FE30-4DEB-8767-556C41BB8AF9}"/>
              </a:ext>
            </a:extLst>
          </p:cNvPr>
          <p:cNvSpPr txBox="1"/>
          <p:nvPr/>
        </p:nvSpPr>
        <p:spPr>
          <a:xfrm>
            <a:off x="999796" y="1318376"/>
            <a:ext cx="7763203" cy="4801314"/>
          </a:xfrm>
          <a:prstGeom prst="rect">
            <a:avLst/>
          </a:prstGeom>
          <a:solidFill>
            <a:schemeClr val="bg1"/>
          </a:solidFill>
        </p:spPr>
        <p:txBody>
          <a:bodyPr wrap="square" rtlCol="0">
            <a:spAutoFit/>
          </a:bodyPr>
          <a:lstStyle/>
          <a:p>
            <a:r>
              <a:rPr lang="en-US" sz="2400" dirty="0">
                <a:latin typeface="Times New Roman" pitchFamily="18" charset="0"/>
              </a:rPr>
              <a:t>Step 1: Visit the R project website.</a:t>
            </a:r>
          </a:p>
          <a:p>
            <a:r>
              <a:rPr lang="en-US" sz="2400" dirty="0">
                <a:latin typeface="Times New Roman" pitchFamily="18" charset="0"/>
              </a:rPr>
              <a:t>             </a:t>
            </a:r>
            <a:r>
              <a:rPr lang="en-US" dirty="0">
                <a:hlinkClick r:id="rId2"/>
              </a:rPr>
              <a:t>https://www.r-project.org/</a:t>
            </a:r>
            <a:endParaRPr lang="en-US" dirty="0"/>
          </a:p>
          <a:p>
            <a:endParaRPr lang="en-US" sz="2400" dirty="0">
              <a:latin typeface="Times New Roman" pitchFamily="18" charset="0"/>
            </a:endParaRPr>
          </a:p>
          <a:p>
            <a:r>
              <a:rPr lang="en-US" sz="2400" dirty="0">
                <a:latin typeface="Times New Roman" pitchFamily="18" charset="0"/>
              </a:rPr>
              <a:t>Step 2: Choose a CRAN mirror site near you.</a:t>
            </a:r>
          </a:p>
          <a:p>
            <a:r>
              <a:rPr lang="en-US" sz="2400" dirty="0">
                <a:latin typeface="Times New Roman" pitchFamily="18" charset="0"/>
              </a:rPr>
              <a:t>             </a:t>
            </a:r>
            <a:r>
              <a:rPr lang="en-US" dirty="0">
                <a:hlinkClick r:id="rId3"/>
              </a:rPr>
              <a:t>https://cran.r-project.org/mirrors.html</a:t>
            </a:r>
            <a:endParaRPr lang="en-US" dirty="0"/>
          </a:p>
          <a:p>
            <a:r>
              <a:rPr lang="en-US" sz="2400" dirty="0">
                <a:latin typeface="Times New Roman" pitchFamily="18" charset="0"/>
              </a:rPr>
              <a:t> </a:t>
            </a:r>
          </a:p>
          <a:p>
            <a:r>
              <a:rPr lang="en-US" sz="2400" dirty="0">
                <a:latin typeface="Times New Roman" pitchFamily="18" charset="0"/>
              </a:rPr>
              <a:t>Step 3: Download the version of R for your system</a:t>
            </a:r>
          </a:p>
          <a:p>
            <a:r>
              <a:rPr lang="en-US" sz="2400" dirty="0">
                <a:latin typeface="Times New Roman" pitchFamily="18" charset="0"/>
              </a:rPr>
              <a:t>           (Linux,  (Mac) OS X, or Windows).</a:t>
            </a:r>
          </a:p>
          <a:p>
            <a:endParaRPr lang="en-US" sz="2400" dirty="0">
              <a:latin typeface="Times New Roman" pitchFamily="18" charset="0"/>
            </a:endParaRPr>
          </a:p>
          <a:p>
            <a:r>
              <a:rPr lang="en-US" sz="2400" dirty="0">
                <a:latin typeface="Times New Roman" pitchFamily="18" charset="0"/>
              </a:rPr>
              <a:t>Step 4: Select </a:t>
            </a:r>
            <a:r>
              <a:rPr lang="en-US" sz="2400" i="1" dirty="0">
                <a:latin typeface="Times New Roman" pitchFamily="18" charset="0"/>
              </a:rPr>
              <a:t>install R for the first time</a:t>
            </a:r>
          </a:p>
          <a:p>
            <a:endParaRPr lang="en-US" dirty="0">
              <a:highlight>
                <a:srgbClr val="CC0000"/>
              </a:highlight>
            </a:endParaRPr>
          </a:p>
          <a:p>
            <a:r>
              <a:rPr lang="en-US" sz="2400" dirty="0">
                <a:latin typeface="Times New Roman" pitchFamily="18" charset="0"/>
              </a:rPr>
              <a:t>Step 5: Follow the setup instructions to install.</a:t>
            </a:r>
          </a:p>
          <a:p>
            <a:endParaRPr lang="en-US" dirty="0"/>
          </a:p>
        </p:txBody>
      </p:sp>
      <p:sp>
        <p:nvSpPr>
          <p:cNvPr id="8" name="TextBox 7">
            <a:extLst>
              <a:ext uri="{FF2B5EF4-FFF2-40B4-BE49-F238E27FC236}">
                <a16:creationId xmlns:a16="http://schemas.microsoft.com/office/drawing/2014/main" id="{EB867963-6D34-4CA8-BFF1-732309FEA6F3}"/>
              </a:ext>
            </a:extLst>
          </p:cNvPr>
          <p:cNvSpPr txBox="1"/>
          <p:nvPr/>
        </p:nvSpPr>
        <p:spPr>
          <a:xfrm>
            <a:off x="6705600" y="4572000"/>
            <a:ext cx="2209800" cy="738664"/>
          </a:xfrm>
          <a:prstGeom prst="rect">
            <a:avLst/>
          </a:prstGeom>
          <a:noFill/>
        </p:spPr>
        <p:txBody>
          <a:bodyPr wrap="square" rtlCol="0">
            <a:spAutoFit/>
          </a:bodyPr>
          <a:lstStyle/>
          <a:p>
            <a:r>
              <a:rPr lang="en-US" sz="1400" dirty="0">
                <a:solidFill>
                  <a:srgbClr val="C00000"/>
                </a:solidFill>
                <a:latin typeface="Times New Roman" panose="02020603050405020304" pitchFamily="18" charset="0"/>
                <a:cs typeface="Times New Roman" panose="02020603050405020304" pitchFamily="18" charset="0"/>
              </a:rPr>
              <a:t>Look for the .EXE file in your Downloads (Windows) or .PKG file (Mac).</a:t>
            </a:r>
          </a:p>
        </p:txBody>
      </p:sp>
      <p:pic>
        <p:nvPicPr>
          <p:cNvPr id="14" name="Picture 7" descr="Business 911">
            <a:extLst>
              <a:ext uri="{FF2B5EF4-FFF2-40B4-BE49-F238E27FC236}">
                <a16:creationId xmlns:a16="http://schemas.microsoft.com/office/drawing/2014/main" id="{F3488AF7-32EA-4438-98BF-F7BCD1DC03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6411" y="775096"/>
            <a:ext cx="1263189" cy="120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rrow: Left 3">
            <a:extLst>
              <a:ext uri="{FF2B5EF4-FFF2-40B4-BE49-F238E27FC236}">
                <a16:creationId xmlns:a16="http://schemas.microsoft.com/office/drawing/2014/main" id="{3460CE0A-B220-4381-9942-98D439C63A5E}"/>
              </a:ext>
            </a:extLst>
          </p:cNvPr>
          <p:cNvSpPr/>
          <p:nvPr/>
        </p:nvSpPr>
        <p:spPr>
          <a:xfrm>
            <a:off x="6324600" y="4875308"/>
            <a:ext cx="304800" cy="306292"/>
          </a:xfrm>
          <a:prstGeom prst="leftArrow">
            <a:avLst/>
          </a:prstGeom>
          <a:solidFill>
            <a:srgbClr val="CC0000"/>
          </a:solidFill>
          <a:ln w="9525" algn="ctr">
            <a:noFill/>
            <a:round/>
            <a:headEnd/>
            <a:tailEnd/>
          </a:ln>
        </p:spPr>
        <p:txBody>
          <a:bodyPr/>
          <a:lstStyle/>
          <a:p>
            <a:endParaRPr lang="en-US" dirty="0">
              <a:solidFill>
                <a:schemeClr val="tx1"/>
              </a:solidFill>
              <a:highlight>
                <a:srgbClr val="CC0000"/>
              </a:highligh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Installing RStudio</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3" name="TextBox 2">
            <a:extLst>
              <a:ext uri="{FF2B5EF4-FFF2-40B4-BE49-F238E27FC236}">
                <a16:creationId xmlns:a16="http://schemas.microsoft.com/office/drawing/2014/main" id="{FCDC9759-FE30-4DEB-8767-556C41BB8AF9}"/>
              </a:ext>
            </a:extLst>
          </p:cNvPr>
          <p:cNvSpPr txBox="1"/>
          <p:nvPr/>
        </p:nvSpPr>
        <p:spPr>
          <a:xfrm>
            <a:off x="914400" y="1400175"/>
            <a:ext cx="7772400" cy="4278094"/>
          </a:xfrm>
          <a:prstGeom prst="rect">
            <a:avLst/>
          </a:prstGeom>
          <a:solidFill>
            <a:schemeClr val="bg1"/>
          </a:solidFill>
        </p:spPr>
        <p:txBody>
          <a:bodyPr wrap="square" rtlCol="0">
            <a:spAutoFit/>
          </a:bodyPr>
          <a:lstStyle/>
          <a:p>
            <a:r>
              <a:rPr lang="en-US" sz="2400" dirty="0">
                <a:latin typeface="Times New Roman" pitchFamily="18" charset="0"/>
              </a:rPr>
              <a:t>Step 1: Install R (see previous slide).</a:t>
            </a:r>
          </a:p>
          <a:p>
            <a:endParaRPr lang="en-US" sz="2000" dirty="0">
              <a:latin typeface="Times New Roman" pitchFamily="18" charset="0"/>
            </a:endParaRPr>
          </a:p>
          <a:p>
            <a:r>
              <a:rPr lang="en-US" sz="2400" dirty="0">
                <a:latin typeface="Times New Roman" pitchFamily="18" charset="0"/>
              </a:rPr>
              <a:t>Step 2: Visit the </a:t>
            </a:r>
            <a:r>
              <a:rPr lang="en-US" sz="2400" dirty="0" err="1">
                <a:latin typeface="Times New Roman" pitchFamily="18" charset="0"/>
              </a:rPr>
              <a:t>Rstudio</a:t>
            </a:r>
            <a:r>
              <a:rPr lang="en-US" sz="2400" dirty="0">
                <a:latin typeface="Times New Roman" pitchFamily="18" charset="0"/>
              </a:rPr>
              <a:t> website.</a:t>
            </a:r>
          </a:p>
          <a:p>
            <a:r>
              <a:rPr lang="en-US" sz="2400" dirty="0">
                <a:latin typeface="Times New Roman" pitchFamily="18" charset="0"/>
              </a:rPr>
              <a:t>             </a:t>
            </a:r>
            <a:r>
              <a:rPr lang="en-US" dirty="0">
                <a:hlinkClick r:id="rId2"/>
              </a:rPr>
              <a:t>https://rstudio.com/products/rstudio/</a:t>
            </a:r>
            <a:endParaRPr lang="en-US" dirty="0"/>
          </a:p>
          <a:p>
            <a:endParaRPr lang="en-US" sz="2000" dirty="0">
              <a:latin typeface="Times New Roman" pitchFamily="18" charset="0"/>
            </a:endParaRPr>
          </a:p>
          <a:p>
            <a:r>
              <a:rPr lang="en-US" sz="2400" dirty="0">
                <a:latin typeface="Times New Roman" pitchFamily="18" charset="0"/>
              </a:rPr>
              <a:t>Step 3: Choose </a:t>
            </a:r>
            <a:r>
              <a:rPr lang="en-US" sz="2400" dirty="0" err="1">
                <a:latin typeface="Times New Roman" pitchFamily="18" charset="0"/>
              </a:rPr>
              <a:t>Rstudio</a:t>
            </a:r>
            <a:r>
              <a:rPr lang="en-US" sz="2400" dirty="0">
                <a:latin typeface="Times New Roman" pitchFamily="18" charset="0"/>
              </a:rPr>
              <a:t> Desktop Free.</a:t>
            </a:r>
          </a:p>
          <a:p>
            <a:endParaRPr lang="en-US" sz="2000" dirty="0">
              <a:latin typeface="Times New Roman" pitchFamily="18" charset="0"/>
            </a:endParaRPr>
          </a:p>
          <a:p>
            <a:r>
              <a:rPr lang="en-US" sz="2400" dirty="0">
                <a:latin typeface="Times New Roman" pitchFamily="18" charset="0"/>
              </a:rPr>
              <a:t>Step 4: Click Download R Studio Desktop for your</a:t>
            </a:r>
          </a:p>
          <a:p>
            <a:r>
              <a:rPr lang="en-US" sz="2400" dirty="0">
                <a:latin typeface="Times New Roman" pitchFamily="18" charset="0"/>
              </a:rPr>
              <a:t>             system (Linux,  (Mac) OS X, or Windows).</a:t>
            </a:r>
          </a:p>
          <a:p>
            <a:endParaRPr lang="en-US" sz="2000" dirty="0">
              <a:latin typeface="Times New Roman" pitchFamily="18" charset="0"/>
            </a:endParaRPr>
          </a:p>
          <a:p>
            <a:r>
              <a:rPr lang="en-US" sz="2400" dirty="0">
                <a:latin typeface="Times New Roman" pitchFamily="18" charset="0"/>
              </a:rPr>
              <a:t>Step 5: Select Run or Open and follow the</a:t>
            </a:r>
          </a:p>
          <a:p>
            <a:r>
              <a:rPr lang="en-US" sz="2400" dirty="0">
                <a:latin typeface="Times New Roman" pitchFamily="18" charset="0"/>
              </a:rPr>
              <a:t>            instructions to install.</a:t>
            </a:r>
            <a:endParaRPr lang="en-US" dirty="0"/>
          </a:p>
        </p:txBody>
      </p:sp>
      <p:sp>
        <p:nvSpPr>
          <p:cNvPr id="5" name="TextBox 4">
            <a:extLst>
              <a:ext uri="{FF2B5EF4-FFF2-40B4-BE49-F238E27FC236}">
                <a16:creationId xmlns:a16="http://schemas.microsoft.com/office/drawing/2014/main" id="{A5357E38-5185-4C53-909C-D9C12CBC614B}"/>
              </a:ext>
            </a:extLst>
          </p:cNvPr>
          <p:cNvSpPr txBox="1"/>
          <p:nvPr/>
        </p:nvSpPr>
        <p:spPr>
          <a:xfrm>
            <a:off x="7048500" y="4724162"/>
            <a:ext cx="1905000" cy="954107"/>
          </a:xfrm>
          <a:prstGeom prst="rect">
            <a:avLst/>
          </a:prstGeom>
          <a:noFill/>
        </p:spPr>
        <p:txBody>
          <a:bodyPr wrap="square" rtlCol="0">
            <a:spAutoFit/>
          </a:bodyPr>
          <a:lstStyle/>
          <a:p>
            <a:r>
              <a:rPr lang="en-US" sz="1400" dirty="0">
                <a:solidFill>
                  <a:srgbClr val="C00000"/>
                </a:solidFill>
                <a:latin typeface="Times New Roman" panose="02020603050405020304" pitchFamily="18" charset="0"/>
                <a:cs typeface="Times New Roman" panose="02020603050405020304" pitchFamily="18" charset="0"/>
              </a:rPr>
              <a:t>Look for the .EXE file in your Downloads (Windows) or .PKG file (Mac).</a:t>
            </a:r>
          </a:p>
        </p:txBody>
      </p:sp>
      <p:sp>
        <p:nvSpPr>
          <p:cNvPr id="6" name="Arrow: Left 5">
            <a:extLst>
              <a:ext uri="{FF2B5EF4-FFF2-40B4-BE49-F238E27FC236}">
                <a16:creationId xmlns:a16="http://schemas.microsoft.com/office/drawing/2014/main" id="{FD1212DD-A361-49C6-8C16-F807D3D6FEA1}"/>
              </a:ext>
            </a:extLst>
          </p:cNvPr>
          <p:cNvSpPr/>
          <p:nvPr/>
        </p:nvSpPr>
        <p:spPr>
          <a:xfrm>
            <a:off x="6629400" y="5048069"/>
            <a:ext cx="304800" cy="306292"/>
          </a:xfrm>
          <a:prstGeom prst="leftArrow">
            <a:avLst/>
          </a:prstGeom>
          <a:solidFill>
            <a:srgbClr val="CC0000"/>
          </a:solidFill>
          <a:ln w="9525" algn="ctr">
            <a:noFill/>
            <a:round/>
            <a:headEnd/>
            <a:tailEnd/>
          </a:ln>
        </p:spPr>
        <p:txBody>
          <a:bodyPr/>
          <a:lstStyle/>
          <a:p>
            <a:endParaRPr lang="en-US">
              <a:solidFill>
                <a:schemeClr val="tx1"/>
              </a:solidFill>
            </a:endParaRPr>
          </a:p>
        </p:txBody>
      </p:sp>
      <p:pic>
        <p:nvPicPr>
          <p:cNvPr id="4" name="Picture 3" descr="A drawing of a cartoon character&#10;&#10;Description automatically generated">
            <a:extLst>
              <a:ext uri="{FF2B5EF4-FFF2-40B4-BE49-F238E27FC236}">
                <a16:creationId xmlns:a16="http://schemas.microsoft.com/office/drawing/2014/main" id="{3B4F3A4E-7B9F-40EE-AEB1-2AD6C05913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5205" y="830709"/>
            <a:ext cx="1066800" cy="1138932"/>
          </a:xfrm>
          <a:prstGeom prst="rect">
            <a:avLst/>
          </a:prstGeom>
        </p:spPr>
      </p:pic>
    </p:spTree>
    <p:extLst>
      <p:ext uri="{BB962C8B-B14F-4D97-AF65-F5344CB8AC3E}">
        <p14:creationId xmlns:p14="http://schemas.microsoft.com/office/powerpoint/2010/main" val="278606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BD2192A-0857-4C1B-B77A-5849B743D8B0}"/>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pic>
        <p:nvPicPr>
          <p:cNvPr id="11" name="Picture 10">
            <a:extLst>
              <a:ext uri="{FF2B5EF4-FFF2-40B4-BE49-F238E27FC236}">
                <a16:creationId xmlns:a16="http://schemas.microsoft.com/office/drawing/2014/main" id="{216D1A2D-CB79-44CA-8AB1-3C844CD4ECCF}"/>
              </a:ext>
            </a:extLst>
          </p:cNvPr>
          <p:cNvPicPr>
            <a:picLocks noChangeAspect="1"/>
          </p:cNvPicPr>
          <p:nvPr/>
        </p:nvPicPr>
        <p:blipFill>
          <a:blip r:embed="rId2"/>
          <a:stretch>
            <a:fillRect/>
          </a:stretch>
        </p:blipFill>
        <p:spPr>
          <a:xfrm>
            <a:off x="1479412" y="1830509"/>
            <a:ext cx="6153742" cy="3463783"/>
          </a:xfrm>
          <a:prstGeom prst="rect">
            <a:avLst/>
          </a:prstGeom>
          <a:solidFill>
            <a:srgbClr val="CC0000"/>
          </a:solidFill>
          <a:ln w="9525" algn="ctr">
            <a:noFill/>
            <a:round/>
            <a:headEnd/>
            <a:tailEnd/>
          </a:ln>
        </p:spPr>
      </p:pic>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RStudio Interface</a:t>
            </a:r>
          </a:p>
        </p:txBody>
      </p:sp>
      <p:sp>
        <p:nvSpPr>
          <p:cNvPr id="6148" name="Text Box 6"/>
          <p:cNvSpPr txBox="1">
            <a:spLocks noChangeArrowheads="1"/>
          </p:cNvSpPr>
          <p:nvPr/>
        </p:nvSpPr>
        <p:spPr bwMode="auto">
          <a:xfrm>
            <a:off x="1953229" y="1114689"/>
            <a:ext cx="56972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000" dirty="0"/>
              <a:t>When you first run RStudio, you will see three panes:</a:t>
            </a:r>
          </a:p>
        </p:txBody>
      </p:sp>
      <p:sp>
        <p:nvSpPr>
          <p:cNvPr id="4" name="TextBox 3">
            <a:extLst>
              <a:ext uri="{FF2B5EF4-FFF2-40B4-BE49-F238E27FC236}">
                <a16:creationId xmlns:a16="http://schemas.microsoft.com/office/drawing/2014/main" id="{31352679-5CFF-4DEE-98FF-5DF7FE5B536C}"/>
              </a:ext>
            </a:extLst>
          </p:cNvPr>
          <p:cNvSpPr txBox="1"/>
          <p:nvPr/>
        </p:nvSpPr>
        <p:spPr>
          <a:xfrm>
            <a:off x="69712" y="4055210"/>
            <a:ext cx="1409700" cy="954107"/>
          </a:xfrm>
          <a:prstGeom prst="rect">
            <a:avLst/>
          </a:prstGeom>
          <a:solidFill>
            <a:schemeClr val="bg1"/>
          </a:solidFill>
        </p:spPr>
        <p:txBody>
          <a:bodyPr wrap="square" rtlCol="0">
            <a:spAutoFit/>
          </a:bodyPr>
          <a:lstStyle/>
          <a:p>
            <a:r>
              <a:rPr lang="en-US" sz="1400" i="1" dirty="0">
                <a:solidFill>
                  <a:srgbClr val="CC0000"/>
                </a:solidFill>
              </a:rPr>
              <a:t>Console</a:t>
            </a:r>
            <a:r>
              <a:rPr lang="en-US" sz="1400" dirty="0"/>
              <a:t> pane lets you type R code and execute it later.</a:t>
            </a:r>
            <a:endParaRPr lang="en-US" dirty="0"/>
          </a:p>
        </p:txBody>
      </p:sp>
      <p:sp>
        <p:nvSpPr>
          <p:cNvPr id="5" name="TextBox 4">
            <a:extLst>
              <a:ext uri="{FF2B5EF4-FFF2-40B4-BE49-F238E27FC236}">
                <a16:creationId xmlns:a16="http://schemas.microsoft.com/office/drawing/2014/main" id="{0BF5B153-F3FC-49FC-9628-9E9254494799}"/>
              </a:ext>
            </a:extLst>
          </p:cNvPr>
          <p:cNvSpPr txBox="1"/>
          <p:nvPr/>
        </p:nvSpPr>
        <p:spPr>
          <a:xfrm>
            <a:off x="7642605" y="2687975"/>
            <a:ext cx="1135036" cy="1169551"/>
          </a:xfrm>
          <a:prstGeom prst="rect">
            <a:avLst/>
          </a:prstGeom>
          <a:noFill/>
        </p:spPr>
        <p:txBody>
          <a:bodyPr wrap="square" rtlCol="0">
            <a:spAutoFit/>
          </a:bodyPr>
          <a:lstStyle/>
          <a:p>
            <a:r>
              <a:rPr lang="en-US" sz="1400" i="1" dirty="0">
                <a:solidFill>
                  <a:srgbClr val="CC0000"/>
                </a:solidFill>
              </a:rPr>
              <a:t>Environment</a:t>
            </a:r>
            <a:r>
              <a:rPr lang="en-US" sz="1400" dirty="0"/>
              <a:t> pane keeps track of objects that you create.</a:t>
            </a:r>
          </a:p>
        </p:txBody>
      </p:sp>
      <p:sp>
        <p:nvSpPr>
          <p:cNvPr id="6" name="TextBox 5">
            <a:extLst>
              <a:ext uri="{FF2B5EF4-FFF2-40B4-BE49-F238E27FC236}">
                <a16:creationId xmlns:a16="http://schemas.microsoft.com/office/drawing/2014/main" id="{99A5F4E7-F642-4FA0-89C7-F085C448D05D}"/>
              </a:ext>
            </a:extLst>
          </p:cNvPr>
          <p:cNvSpPr txBox="1"/>
          <p:nvPr/>
        </p:nvSpPr>
        <p:spPr>
          <a:xfrm>
            <a:off x="4343400" y="5440601"/>
            <a:ext cx="4037105" cy="738664"/>
          </a:xfrm>
          <a:prstGeom prst="rect">
            <a:avLst/>
          </a:prstGeom>
          <a:noFill/>
        </p:spPr>
        <p:txBody>
          <a:bodyPr wrap="square" rtlCol="0">
            <a:spAutoFit/>
          </a:bodyPr>
          <a:lstStyle/>
          <a:p>
            <a:r>
              <a:rPr lang="en-US" sz="1400" i="1" dirty="0">
                <a:solidFill>
                  <a:srgbClr val="CC0000"/>
                </a:solidFill>
              </a:rPr>
              <a:t>Task</a:t>
            </a:r>
            <a:r>
              <a:rPr lang="en-US" sz="1400" dirty="0"/>
              <a:t> pane tabs (</a:t>
            </a:r>
            <a:r>
              <a:rPr lang="en-US" sz="1400" i="1" dirty="0"/>
              <a:t>Files</a:t>
            </a:r>
            <a:r>
              <a:rPr lang="en-US" sz="1400" dirty="0"/>
              <a:t>, </a:t>
            </a:r>
            <a:r>
              <a:rPr lang="en-US" sz="1400" i="1" dirty="0"/>
              <a:t>Plots</a:t>
            </a:r>
            <a:r>
              <a:rPr lang="en-US" sz="1400" dirty="0"/>
              <a:t>) show files and graphs you have created. </a:t>
            </a:r>
            <a:r>
              <a:rPr lang="en-US" sz="1400" i="1" dirty="0"/>
              <a:t>Packages</a:t>
            </a:r>
            <a:r>
              <a:rPr lang="en-US" sz="1400" dirty="0"/>
              <a:t> tab shows available R procedures. </a:t>
            </a:r>
            <a:r>
              <a:rPr lang="en-US" sz="1400" i="1" dirty="0"/>
              <a:t>Help</a:t>
            </a:r>
            <a:r>
              <a:rPr lang="en-US" sz="1400" dirty="0"/>
              <a:t> tab for any R topic. </a:t>
            </a:r>
          </a:p>
        </p:txBody>
      </p:sp>
      <p:sp>
        <p:nvSpPr>
          <p:cNvPr id="18" name="TextBox 17">
            <a:extLst>
              <a:ext uri="{FF2B5EF4-FFF2-40B4-BE49-F238E27FC236}">
                <a16:creationId xmlns:a16="http://schemas.microsoft.com/office/drawing/2014/main" id="{5A08B5FE-4B0E-4767-BE2F-B37ADEA8F216}"/>
              </a:ext>
            </a:extLst>
          </p:cNvPr>
          <p:cNvSpPr txBox="1"/>
          <p:nvPr/>
        </p:nvSpPr>
        <p:spPr>
          <a:xfrm>
            <a:off x="3858752" y="1461492"/>
            <a:ext cx="2183341" cy="307777"/>
          </a:xfrm>
          <a:prstGeom prst="rect">
            <a:avLst/>
          </a:prstGeom>
          <a:noFill/>
        </p:spPr>
        <p:txBody>
          <a:bodyPr wrap="square" rtlCol="0">
            <a:spAutoFit/>
          </a:bodyPr>
          <a:lstStyle/>
          <a:p>
            <a:r>
              <a:rPr lang="en-US" sz="1400" dirty="0">
                <a:solidFill>
                  <a:srgbClr val="CC0000"/>
                </a:solidFill>
              </a:rPr>
              <a:t>To expand to 4 panes.</a:t>
            </a:r>
            <a:endParaRPr lang="en-US" dirty="0">
              <a:solidFill>
                <a:srgbClr val="CC0000"/>
              </a:solidFill>
            </a:endParaRPr>
          </a:p>
        </p:txBody>
      </p:sp>
      <p:sp>
        <p:nvSpPr>
          <p:cNvPr id="2" name="Rectangle 1">
            <a:extLst>
              <a:ext uri="{FF2B5EF4-FFF2-40B4-BE49-F238E27FC236}">
                <a16:creationId xmlns:a16="http://schemas.microsoft.com/office/drawing/2014/main" id="{1DF3B774-F709-49AB-B72D-44BAF62A9B60}"/>
              </a:ext>
            </a:extLst>
          </p:cNvPr>
          <p:cNvSpPr/>
          <p:nvPr/>
        </p:nvSpPr>
        <p:spPr>
          <a:xfrm>
            <a:off x="1479412" y="1830509"/>
            <a:ext cx="3321188" cy="3463783"/>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8E5A7C-A073-4D96-B64C-0EC8EBD5945F}"/>
              </a:ext>
            </a:extLst>
          </p:cNvPr>
          <p:cNvSpPr/>
          <p:nvPr/>
        </p:nvSpPr>
        <p:spPr>
          <a:xfrm>
            <a:off x="4800600" y="1830509"/>
            <a:ext cx="2832554" cy="19678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311C14-27F3-465E-879F-2BF230D37B7F}"/>
              </a:ext>
            </a:extLst>
          </p:cNvPr>
          <p:cNvSpPr/>
          <p:nvPr/>
        </p:nvSpPr>
        <p:spPr>
          <a:xfrm>
            <a:off x="4800600" y="3798332"/>
            <a:ext cx="2832554" cy="14959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876DECDA-A800-4D70-9CDB-A9C0DA3ECD86}"/>
              </a:ext>
            </a:extLst>
          </p:cNvPr>
          <p:cNvSpPr/>
          <p:nvPr/>
        </p:nvSpPr>
        <p:spPr>
          <a:xfrm>
            <a:off x="4556283" y="1737606"/>
            <a:ext cx="304801" cy="338134"/>
          </a:xfrm>
          <a:prstGeom prst="downArrow">
            <a:avLst/>
          </a:prstGeom>
          <a:solidFill>
            <a:srgbClr val="CC0000"/>
          </a:solidFill>
          <a:ln w="9525" algn="ctr">
            <a:noFill/>
            <a:round/>
            <a:headEnd/>
            <a:tailEnd/>
          </a:ln>
        </p:spPr>
        <p:txBody>
          <a:bodyPr/>
          <a:lstStyle/>
          <a:p>
            <a:endParaRPr lang="en-US" dirty="0">
              <a:highlight>
                <a:srgbClr val="CC0000"/>
              </a:highlight>
            </a:endParaRPr>
          </a:p>
        </p:txBody>
      </p:sp>
      <p:sp>
        <p:nvSpPr>
          <p:cNvPr id="21" name="Arrow: Right 20">
            <a:extLst>
              <a:ext uri="{FF2B5EF4-FFF2-40B4-BE49-F238E27FC236}">
                <a16:creationId xmlns:a16="http://schemas.microsoft.com/office/drawing/2014/main" id="{B3C2E768-5AC6-402B-A6CD-A1E831E1E3D2}"/>
              </a:ext>
            </a:extLst>
          </p:cNvPr>
          <p:cNvSpPr/>
          <p:nvPr/>
        </p:nvSpPr>
        <p:spPr>
          <a:xfrm>
            <a:off x="1288912" y="4441491"/>
            <a:ext cx="381000" cy="381000"/>
          </a:xfrm>
          <a:prstGeom prst="rightArrow">
            <a:avLst/>
          </a:prstGeom>
          <a:solidFill>
            <a:srgbClr val="CC0000"/>
          </a:solidFill>
          <a:ln w="9525" algn="ctr">
            <a:noFill/>
            <a:round/>
            <a:headEnd/>
            <a:tailEnd/>
          </a:ln>
        </p:spPr>
        <p:txBody>
          <a:bodyPr/>
          <a:lstStyle/>
          <a:p>
            <a:endParaRPr lang="en-US" dirty="0">
              <a:solidFill>
                <a:schemeClr val="tx1"/>
              </a:solidFill>
            </a:endParaRPr>
          </a:p>
        </p:txBody>
      </p:sp>
      <p:sp>
        <p:nvSpPr>
          <p:cNvPr id="23" name="Arrow: Up 22">
            <a:extLst>
              <a:ext uri="{FF2B5EF4-FFF2-40B4-BE49-F238E27FC236}">
                <a16:creationId xmlns:a16="http://schemas.microsoft.com/office/drawing/2014/main" id="{AC8079AF-98A8-404A-9D3C-AC202B4142CB}"/>
              </a:ext>
            </a:extLst>
          </p:cNvPr>
          <p:cNvSpPr/>
          <p:nvPr/>
        </p:nvSpPr>
        <p:spPr>
          <a:xfrm>
            <a:off x="5993342" y="5049273"/>
            <a:ext cx="381000" cy="318173"/>
          </a:xfrm>
          <a:prstGeom prst="upArrow">
            <a:avLst/>
          </a:prstGeom>
          <a:solidFill>
            <a:srgbClr val="CC0000"/>
          </a:solidFill>
          <a:ln w="9525" algn="ctr">
            <a:noFill/>
            <a:round/>
            <a:headEnd/>
            <a:tailEnd/>
          </a:ln>
        </p:spPr>
        <p:txBody>
          <a:bodyPr/>
          <a:lstStyle/>
          <a:p>
            <a:endParaRPr lang="en-US"/>
          </a:p>
        </p:txBody>
      </p:sp>
      <p:sp>
        <p:nvSpPr>
          <p:cNvPr id="22" name="Arrow: Left 21">
            <a:extLst>
              <a:ext uri="{FF2B5EF4-FFF2-40B4-BE49-F238E27FC236}">
                <a16:creationId xmlns:a16="http://schemas.microsoft.com/office/drawing/2014/main" id="{62531E20-FD44-4CAA-AEE3-A5BFDB824B7A}"/>
              </a:ext>
            </a:extLst>
          </p:cNvPr>
          <p:cNvSpPr/>
          <p:nvPr/>
        </p:nvSpPr>
        <p:spPr>
          <a:xfrm>
            <a:off x="7283588" y="3082250"/>
            <a:ext cx="381000" cy="381000"/>
          </a:xfrm>
          <a:prstGeom prst="leftArrow">
            <a:avLst/>
          </a:prstGeom>
          <a:solidFill>
            <a:srgbClr val="CC0000"/>
          </a:solidFill>
          <a:ln w="9525" algn="ctr">
            <a:noFill/>
            <a:round/>
            <a:headEnd/>
            <a:tailEnd/>
          </a:ln>
        </p:spPr>
        <p:txBody>
          <a:bodyPr/>
          <a:lstStyle/>
          <a:p>
            <a:endParaRPr lang="en-US">
              <a:solidFill>
                <a:schemeClr val="tx1"/>
              </a:solidFill>
            </a:endParaRPr>
          </a:p>
        </p:txBody>
      </p:sp>
    </p:spTree>
    <p:extLst>
      <p:ext uri="{BB962C8B-B14F-4D97-AF65-F5344CB8AC3E}">
        <p14:creationId xmlns:p14="http://schemas.microsoft.com/office/powerpoint/2010/main" val="2880599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959DEC2-E7DF-4F33-BCF1-3FFE15B7686E}"/>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Four Screen View</a:t>
            </a:r>
          </a:p>
        </p:txBody>
      </p:sp>
      <p:pic>
        <p:nvPicPr>
          <p:cNvPr id="3" name="Picture 2" descr="A screenshot of a social media post&#10;&#10;Description automatically generated">
            <a:extLst>
              <a:ext uri="{FF2B5EF4-FFF2-40B4-BE49-F238E27FC236}">
                <a16:creationId xmlns:a16="http://schemas.microsoft.com/office/drawing/2014/main" id="{7EDB055C-5524-49AF-A6FF-5E4E12720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5465" y="1276909"/>
            <a:ext cx="5856089" cy="4540662"/>
          </a:xfrm>
          <a:prstGeom prst="rect">
            <a:avLst/>
          </a:prstGeom>
        </p:spPr>
      </p:pic>
      <p:sp>
        <p:nvSpPr>
          <p:cNvPr id="5" name="TextBox 4">
            <a:extLst>
              <a:ext uri="{FF2B5EF4-FFF2-40B4-BE49-F238E27FC236}">
                <a16:creationId xmlns:a16="http://schemas.microsoft.com/office/drawing/2014/main" id="{CEDAB65C-A1AC-4C9A-93FD-15F03919FEC6}"/>
              </a:ext>
            </a:extLst>
          </p:cNvPr>
          <p:cNvSpPr txBox="1"/>
          <p:nvPr/>
        </p:nvSpPr>
        <p:spPr>
          <a:xfrm>
            <a:off x="455946" y="2080248"/>
            <a:ext cx="1066622" cy="1169551"/>
          </a:xfrm>
          <a:prstGeom prst="rect">
            <a:avLst/>
          </a:prstGeom>
          <a:noFill/>
        </p:spPr>
        <p:txBody>
          <a:bodyPr wrap="square" rtlCol="0">
            <a:spAutoFit/>
          </a:bodyPr>
          <a:lstStyle/>
          <a:p>
            <a:r>
              <a:rPr lang="en-US" sz="1400" dirty="0"/>
              <a:t>Enter R  code and execute it by pressing </a:t>
            </a:r>
            <a:r>
              <a:rPr lang="en-US" sz="1400" i="1" dirty="0"/>
              <a:t>Run</a:t>
            </a:r>
            <a:r>
              <a:rPr lang="en-US" sz="1400" dirty="0"/>
              <a:t>.</a:t>
            </a:r>
            <a:endParaRPr lang="en-US" dirty="0"/>
          </a:p>
        </p:txBody>
      </p:sp>
      <p:cxnSp>
        <p:nvCxnSpPr>
          <p:cNvPr id="4" name="Straight Arrow Connector 3">
            <a:extLst>
              <a:ext uri="{FF2B5EF4-FFF2-40B4-BE49-F238E27FC236}">
                <a16:creationId xmlns:a16="http://schemas.microsoft.com/office/drawing/2014/main" id="{2FBE93A0-0AB1-421F-AC68-C69841BB165F}"/>
              </a:ext>
            </a:extLst>
          </p:cNvPr>
          <p:cNvCxnSpPr>
            <a:cxnSpLocks/>
          </p:cNvCxnSpPr>
          <p:nvPr/>
        </p:nvCxnSpPr>
        <p:spPr>
          <a:xfrm flipV="1">
            <a:off x="1447800" y="2047937"/>
            <a:ext cx="609600" cy="477054"/>
          </a:xfrm>
          <a:prstGeom prst="straightConnector1">
            <a:avLst/>
          </a:prstGeom>
          <a:ln>
            <a:solidFill>
              <a:srgbClr val="CC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C374ACC-91F4-47D2-8A17-55360FD3FA1F}"/>
              </a:ext>
            </a:extLst>
          </p:cNvPr>
          <p:cNvCxnSpPr>
            <a:cxnSpLocks/>
          </p:cNvCxnSpPr>
          <p:nvPr/>
        </p:nvCxnSpPr>
        <p:spPr>
          <a:xfrm flipV="1">
            <a:off x="1600200" y="1981200"/>
            <a:ext cx="2362200" cy="696191"/>
          </a:xfrm>
          <a:prstGeom prst="straightConnector1">
            <a:avLst/>
          </a:prstGeom>
          <a:ln>
            <a:solidFill>
              <a:srgbClr val="CC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812DDB-2C63-4B43-8C0F-0B764A0AE049}"/>
              </a:ext>
            </a:extLst>
          </p:cNvPr>
          <p:cNvSpPr txBox="1"/>
          <p:nvPr/>
        </p:nvSpPr>
        <p:spPr>
          <a:xfrm>
            <a:off x="7766819" y="2047937"/>
            <a:ext cx="1018309" cy="738664"/>
          </a:xfrm>
          <a:prstGeom prst="rect">
            <a:avLst/>
          </a:prstGeom>
          <a:solidFill>
            <a:schemeClr val="bg1"/>
          </a:solidFill>
        </p:spPr>
        <p:txBody>
          <a:bodyPr wrap="square" rtlCol="0">
            <a:spAutoFit/>
          </a:bodyPr>
          <a:lstStyle/>
          <a:p>
            <a:r>
              <a:rPr lang="en-US" sz="1400" dirty="0"/>
              <a:t>Function help  is in this pane.</a:t>
            </a:r>
            <a:endParaRPr lang="en-US" dirty="0"/>
          </a:p>
        </p:txBody>
      </p:sp>
      <p:sp>
        <p:nvSpPr>
          <p:cNvPr id="12" name="TextBox 11">
            <a:extLst>
              <a:ext uri="{FF2B5EF4-FFF2-40B4-BE49-F238E27FC236}">
                <a16:creationId xmlns:a16="http://schemas.microsoft.com/office/drawing/2014/main" id="{057FC931-6E5E-434F-9856-B5AAD50E50FD}"/>
              </a:ext>
            </a:extLst>
          </p:cNvPr>
          <p:cNvSpPr txBox="1"/>
          <p:nvPr/>
        </p:nvSpPr>
        <p:spPr>
          <a:xfrm>
            <a:off x="455870" y="3402199"/>
            <a:ext cx="1123883" cy="954107"/>
          </a:xfrm>
          <a:prstGeom prst="rect">
            <a:avLst/>
          </a:prstGeom>
          <a:solidFill>
            <a:schemeClr val="bg1"/>
          </a:solidFill>
        </p:spPr>
        <p:txBody>
          <a:bodyPr wrap="square" rtlCol="0">
            <a:spAutoFit/>
          </a:bodyPr>
          <a:lstStyle/>
          <a:p>
            <a:r>
              <a:rPr lang="en-US" sz="1400" dirty="0"/>
              <a:t>Executed code is shown in this pane.</a:t>
            </a:r>
            <a:endParaRPr lang="en-US" dirty="0"/>
          </a:p>
        </p:txBody>
      </p:sp>
      <p:sp>
        <p:nvSpPr>
          <p:cNvPr id="17" name="TextBox 16">
            <a:extLst>
              <a:ext uri="{FF2B5EF4-FFF2-40B4-BE49-F238E27FC236}">
                <a16:creationId xmlns:a16="http://schemas.microsoft.com/office/drawing/2014/main" id="{028EA671-F28C-4A36-8A21-F27B43D97ED9}"/>
              </a:ext>
            </a:extLst>
          </p:cNvPr>
          <p:cNvSpPr txBox="1"/>
          <p:nvPr/>
        </p:nvSpPr>
        <p:spPr>
          <a:xfrm>
            <a:off x="455870" y="4508706"/>
            <a:ext cx="1163756" cy="1169551"/>
          </a:xfrm>
          <a:prstGeom prst="rect">
            <a:avLst/>
          </a:prstGeom>
          <a:solidFill>
            <a:schemeClr val="bg1"/>
          </a:solidFill>
        </p:spPr>
        <p:txBody>
          <a:bodyPr wrap="square" rtlCol="0">
            <a:spAutoFit/>
          </a:bodyPr>
          <a:lstStyle/>
          <a:p>
            <a:r>
              <a:rPr lang="en-US" sz="1400" dirty="0">
                <a:solidFill>
                  <a:srgbClr val="0000FF"/>
                </a:solidFill>
              </a:rPr>
              <a:t>?sample() </a:t>
            </a:r>
            <a:r>
              <a:rPr lang="en-US" sz="1400" dirty="0"/>
              <a:t>to get help on the R function </a:t>
            </a:r>
            <a:r>
              <a:rPr lang="en-US" sz="1400" dirty="0">
                <a:solidFill>
                  <a:srgbClr val="0000FF"/>
                </a:solidFill>
              </a:rPr>
              <a:t>sample()</a:t>
            </a:r>
            <a:r>
              <a:rPr lang="en-US" sz="1400" dirty="0"/>
              <a:t>.</a:t>
            </a:r>
            <a:endParaRPr lang="en-US" dirty="0"/>
          </a:p>
        </p:txBody>
      </p:sp>
      <p:sp>
        <p:nvSpPr>
          <p:cNvPr id="19" name="TextBox 18">
            <a:extLst>
              <a:ext uri="{FF2B5EF4-FFF2-40B4-BE49-F238E27FC236}">
                <a16:creationId xmlns:a16="http://schemas.microsoft.com/office/drawing/2014/main" id="{3BA119C0-38E8-4948-9F1C-10964A43805F}"/>
              </a:ext>
            </a:extLst>
          </p:cNvPr>
          <p:cNvSpPr txBox="1"/>
          <p:nvPr/>
        </p:nvSpPr>
        <p:spPr>
          <a:xfrm>
            <a:off x="7811511" y="4217133"/>
            <a:ext cx="1215015" cy="1600438"/>
          </a:xfrm>
          <a:prstGeom prst="rect">
            <a:avLst/>
          </a:prstGeom>
          <a:solidFill>
            <a:schemeClr val="bg1"/>
          </a:solidFill>
        </p:spPr>
        <p:txBody>
          <a:bodyPr wrap="square" rtlCol="0">
            <a:spAutoFit/>
          </a:bodyPr>
          <a:lstStyle/>
          <a:p>
            <a:r>
              <a:rPr lang="en-US" sz="1400" i="1" dirty="0">
                <a:solidFill>
                  <a:srgbClr val="C00000"/>
                </a:solidFill>
              </a:rPr>
              <a:t>Hint: </a:t>
            </a:r>
            <a:r>
              <a:rPr lang="en-US" sz="1400" dirty="0"/>
              <a:t>If you don’t know a function's name, make a guess. As you type, R will offer choices.</a:t>
            </a:r>
          </a:p>
        </p:txBody>
      </p:sp>
      <p:cxnSp>
        <p:nvCxnSpPr>
          <p:cNvPr id="20" name="Straight Arrow Connector 19">
            <a:extLst>
              <a:ext uri="{FF2B5EF4-FFF2-40B4-BE49-F238E27FC236}">
                <a16:creationId xmlns:a16="http://schemas.microsoft.com/office/drawing/2014/main" id="{90349BEC-1C22-4773-8713-48CA829BE964}"/>
              </a:ext>
            </a:extLst>
          </p:cNvPr>
          <p:cNvCxnSpPr>
            <a:cxnSpLocks/>
          </p:cNvCxnSpPr>
          <p:nvPr/>
        </p:nvCxnSpPr>
        <p:spPr>
          <a:xfrm>
            <a:off x="1250955" y="4356306"/>
            <a:ext cx="406582" cy="155472"/>
          </a:xfrm>
          <a:prstGeom prst="straightConnector1">
            <a:avLst/>
          </a:prstGeom>
          <a:ln>
            <a:solidFill>
              <a:srgbClr val="CC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21ECC01-67C0-4611-A42F-BC1DB6237B1A}"/>
              </a:ext>
            </a:extLst>
          </p:cNvPr>
          <p:cNvCxnSpPr>
            <a:cxnSpLocks/>
          </p:cNvCxnSpPr>
          <p:nvPr/>
        </p:nvCxnSpPr>
        <p:spPr>
          <a:xfrm flipV="1">
            <a:off x="1399303" y="5715000"/>
            <a:ext cx="353297" cy="65287"/>
          </a:xfrm>
          <a:prstGeom prst="straightConnector1">
            <a:avLst/>
          </a:prstGeom>
          <a:ln>
            <a:solidFill>
              <a:srgbClr val="CC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EB09AD6-BD0C-4081-9E70-E155B8986244}"/>
              </a:ext>
            </a:extLst>
          </p:cNvPr>
          <p:cNvCxnSpPr>
            <a:cxnSpLocks/>
          </p:cNvCxnSpPr>
          <p:nvPr/>
        </p:nvCxnSpPr>
        <p:spPr>
          <a:xfrm flipH="1">
            <a:off x="7010400" y="3002044"/>
            <a:ext cx="931572" cy="850449"/>
          </a:xfrm>
          <a:prstGeom prst="straightConnector1">
            <a:avLst/>
          </a:prstGeom>
          <a:ln>
            <a:solidFill>
              <a:srgbClr val="CC0000"/>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descr="A close up of a clock&#10;&#10;Description automatically generated">
            <a:extLst>
              <a:ext uri="{FF2B5EF4-FFF2-40B4-BE49-F238E27FC236}">
                <a16:creationId xmlns:a16="http://schemas.microsoft.com/office/drawing/2014/main" id="{9D31469B-2898-4047-9702-095CC50F2D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34813" y="3486095"/>
            <a:ext cx="735999" cy="706094"/>
          </a:xfrm>
          <a:prstGeom prst="rect">
            <a:avLst/>
          </a:prstGeom>
        </p:spPr>
      </p:pic>
    </p:spTree>
    <p:extLst>
      <p:ext uri="{BB962C8B-B14F-4D97-AF65-F5344CB8AC3E}">
        <p14:creationId xmlns:p14="http://schemas.microsoft.com/office/powerpoint/2010/main" val="1588822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64A3E12-64F3-409C-A52B-1E7186BA9624}"/>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Vectors and Functions</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1066800" y="1380797"/>
            <a:ext cx="7086600" cy="4124206"/>
          </a:xfrm>
          <a:prstGeom prst="rect">
            <a:avLst/>
          </a:prstGeom>
          <a:solidFill>
            <a:schemeClr val="bg1"/>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R data is stored in </a:t>
            </a:r>
            <a:r>
              <a:rPr lang="en-US" sz="2000" dirty="0">
                <a:solidFill>
                  <a:srgbClr val="C00000"/>
                </a:solidFill>
                <a:latin typeface="Times New Roman" panose="02020603050405020304" pitchFamily="18" charset="0"/>
                <a:cs typeface="Times New Roman" panose="02020603050405020304" pitchFamily="18" charset="0"/>
              </a:rPr>
              <a:t>vectors</a:t>
            </a:r>
            <a:r>
              <a:rPr lang="en-US" sz="2000" dirty="0">
                <a:latin typeface="Times New Roman" panose="02020603050405020304" pitchFamily="18" charset="0"/>
                <a:cs typeface="Times New Roman" panose="02020603050405020304" pitchFamily="18" charset="0"/>
              </a:rPr>
              <a:t>. A vector is an array of data values, like a row or column of data in Excel. A simple way to assign data to a vector is the R function </a:t>
            </a:r>
            <a:r>
              <a:rPr lang="en-US" sz="1400" dirty="0">
                <a:solidFill>
                  <a:srgbClr val="0000FF"/>
                </a:solidFill>
                <a:latin typeface="Lucida Console" panose="020B0609040504020204" pitchFamily="49" charset="0"/>
                <a:cs typeface="Lucida Sans Unicode" panose="020B0602030504020204" pitchFamily="34" charset="0"/>
              </a:rPr>
              <a:t>c()</a:t>
            </a:r>
            <a:r>
              <a:rPr lang="en-US" sz="2000" dirty="0">
                <a:latin typeface="Times New Roman" panose="02020603050405020304" pitchFamily="18" charset="0"/>
                <a:cs typeface="Times New Roman" panose="02020603050405020304" pitchFamily="18" charset="0"/>
              </a:rPr>
              <a:t>. After the </a:t>
            </a:r>
            <a:r>
              <a:rPr lang="en-US" sz="1400" dirty="0">
                <a:solidFill>
                  <a:srgbClr val="0000FF"/>
                </a:solidFill>
                <a:latin typeface="Lucida Console" panose="020B0609040504020204" pitchFamily="49" charset="0"/>
                <a:cs typeface="Lucida Sans Unicode" panose="020B0602030504020204" pitchFamily="34" charset="0"/>
              </a:rPr>
              <a:t>&gt;</a:t>
            </a:r>
            <a:r>
              <a:rPr lang="en-US" sz="2000" dirty="0">
                <a:latin typeface="Times New Roman" panose="02020603050405020304" pitchFamily="18" charset="0"/>
                <a:cs typeface="Times New Roman" panose="02020603050405020304" pitchFamily="18" charset="0"/>
              </a:rPr>
              <a:t> prompt, enter your data values inside the parentheses, separated by commas. For example, to create a vector named </a:t>
            </a:r>
            <a:r>
              <a:rPr lang="en-US" sz="1400" dirty="0">
                <a:solidFill>
                  <a:srgbClr val="0000FF"/>
                </a:solidFill>
                <a:latin typeface="Lucida Console" panose="020B0609040504020204" pitchFamily="49" charset="0"/>
                <a:cs typeface="Lucida Sans Unicode" panose="020B0602030504020204" pitchFamily="34" charset="0"/>
              </a:rPr>
              <a:t>x</a:t>
            </a:r>
            <a:r>
              <a:rPr lang="en-US" sz="2000" dirty="0">
                <a:latin typeface="Times New Roman" panose="02020603050405020304" pitchFamily="18" charset="0"/>
                <a:cs typeface="Times New Roman" panose="02020603050405020304" pitchFamily="18" charset="0"/>
              </a:rPr>
              <a:t>:</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x = c(5,6,7)  # create a vector with three data values</a:t>
            </a:r>
          </a:p>
          <a:p>
            <a:endParaRPr lang="en-US" sz="1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Equivalently, you could have typed:</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x &lt;- c(5,6,7)  # create a vector with three data values</a:t>
            </a:r>
          </a:p>
          <a:p>
            <a:endParaRPr lang="en-US" sz="1200" dirty="0"/>
          </a:p>
          <a:p>
            <a:r>
              <a:rPr lang="en-US" sz="2000" dirty="0">
                <a:latin typeface="Times New Roman" panose="02020603050405020304" pitchFamily="18" charset="0"/>
                <a:cs typeface="Times New Roman" panose="02020603050405020304" pitchFamily="18" charset="0"/>
              </a:rPr>
              <a:t>You can use either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latin typeface="Times New Roman" panose="02020603050405020304" pitchFamily="18" charset="0"/>
                <a:cs typeface="Times New Roman" panose="02020603050405020304" pitchFamily="18" charset="0"/>
              </a:rPr>
              <a:t> or  </a:t>
            </a:r>
            <a:r>
              <a:rPr lang="en-US" sz="1400" dirty="0">
                <a:solidFill>
                  <a:srgbClr val="0000FF"/>
                </a:solidFill>
                <a:latin typeface="Lucida Console" panose="020B0609040504020204" pitchFamily="49" charset="0"/>
                <a:cs typeface="Lucida Sans Unicode" panose="020B0602030504020204" pitchFamily="34" charset="0"/>
              </a:rPr>
              <a:t>&lt;-</a:t>
            </a:r>
            <a:r>
              <a:rPr lang="en-US" sz="2000" dirty="0">
                <a:latin typeface="Times New Roman" panose="02020603050405020304" pitchFamily="18" charset="0"/>
                <a:cs typeface="Times New Roman" panose="02020603050405020304" pitchFamily="18" charset="0"/>
              </a:rPr>
              <a:t> to assign values to a vector (your choice). Text following the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latin typeface="Times New Roman" panose="02020603050405020304" pitchFamily="18" charset="0"/>
                <a:cs typeface="Times New Roman" panose="02020603050405020304" pitchFamily="18" charset="0"/>
              </a:rPr>
              <a:t> symbol is ignored, so you can annotate your code if you wish (it is often helpful).</a:t>
            </a:r>
            <a:endParaRPr lang="en-US" dirty="0"/>
          </a:p>
        </p:txBody>
      </p:sp>
    </p:spTree>
    <p:extLst>
      <p:ext uri="{BB962C8B-B14F-4D97-AF65-F5344CB8AC3E}">
        <p14:creationId xmlns:p14="http://schemas.microsoft.com/office/powerpoint/2010/main" val="103031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866C15-EA80-4BE2-8785-6C5ED6786F5A}"/>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Vectors and Functions</a:t>
            </a:r>
          </a:p>
        </p:txBody>
      </p:sp>
      <p:sp>
        <p:nvSpPr>
          <p:cNvPr id="4" name="TextBox 3">
            <a:extLst>
              <a:ext uri="{FF2B5EF4-FFF2-40B4-BE49-F238E27FC236}">
                <a16:creationId xmlns:a16="http://schemas.microsoft.com/office/drawing/2014/main" id="{513A7683-823C-4B64-B7C7-3F9B140ED783}"/>
              </a:ext>
            </a:extLst>
          </p:cNvPr>
          <p:cNvSpPr txBox="1"/>
          <p:nvPr/>
        </p:nvSpPr>
        <p:spPr>
          <a:xfrm>
            <a:off x="762000" y="1382286"/>
            <a:ext cx="6934200" cy="4093428"/>
          </a:xfrm>
          <a:prstGeom prst="rect">
            <a:avLst/>
          </a:prstGeom>
          <a:solidFill>
            <a:schemeClr val="bg1"/>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To display your data, type the name of the vector:</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x </a:t>
            </a:r>
          </a:p>
          <a:p>
            <a:r>
              <a:rPr lang="en-US" sz="1400" dirty="0">
                <a:latin typeface="Lucida Console" panose="020B0609040504020204" pitchFamily="49" charset="0"/>
                <a:cs typeface="Lucida Sans Unicode" panose="020B0602030504020204" pitchFamily="34" charset="0"/>
              </a:rPr>
              <a:t>[1] 5 6 7</a:t>
            </a:r>
          </a:p>
          <a:p>
            <a:endParaRPr lang="en-US" sz="1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Each line in your R output is preceded by a number in square brackets, which is an index like a line number. Because all three values fit on one line of output, we see [1] in this example. R creates additional lines of output if necessary,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You can use statistical </a:t>
            </a:r>
            <a:r>
              <a:rPr lang="en-US" sz="2000" dirty="0">
                <a:solidFill>
                  <a:srgbClr val="CC0000"/>
                </a:solidFill>
                <a:latin typeface="Times New Roman" panose="02020603050405020304" pitchFamily="18" charset="0"/>
                <a:cs typeface="Times New Roman" panose="02020603050405020304" pitchFamily="18" charset="0"/>
              </a:rPr>
              <a:t>functions</a:t>
            </a:r>
            <a:r>
              <a:rPr lang="en-US" sz="2000" dirty="0">
                <a:latin typeface="Times New Roman" panose="02020603050405020304" pitchFamily="18" charset="0"/>
                <a:cs typeface="Times New Roman" panose="02020603050405020304" pitchFamily="18" charset="0"/>
              </a:rPr>
              <a:t> on your vector. For example, </a:t>
            </a:r>
          </a:p>
          <a:p>
            <a:r>
              <a:rPr lang="en-US" sz="1200" dirty="0">
                <a:latin typeface="Times New Roman" panose="02020603050405020304" pitchFamily="18" charset="0"/>
                <a:cs typeface="Times New Roman" panose="02020603050405020304" pitchFamily="18" charset="0"/>
              </a:rPr>
              <a:t> </a:t>
            </a:r>
          </a:p>
          <a:p>
            <a:r>
              <a:rPr lang="en-US" sz="1400" dirty="0">
                <a:solidFill>
                  <a:srgbClr val="0000FF"/>
                </a:solidFill>
                <a:latin typeface="Lucida Console" panose="020B0609040504020204" pitchFamily="49" charset="0"/>
                <a:cs typeface="Lucida Sans Unicode" panose="020B0602030504020204" pitchFamily="34" charset="0"/>
              </a:rPr>
              <a:t>&gt; sum(x)       #calculate the sum of our data values</a:t>
            </a:r>
          </a:p>
          <a:p>
            <a:r>
              <a:rPr lang="en-US" sz="1400" dirty="0">
                <a:latin typeface="Lucida Console" panose="020B0609040504020204" pitchFamily="49" charset="0"/>
                <a:cs typeface="Lucida Sans Unicode" panose="020B0602030504020204" pitchFamily="34" charset="0"/>
              </a:rPr>
              <a:t>[1] 18</a:t>
            </a:r>
          </a:p>
          <a:p>
            <a:r>
              <a:rPr lang="en-US" sz="1400" dirty="0">
                <a:solidFill>
                  <a:srgbClr val="0000FF"/>
                </a:solidFill>
                <a:latin typeface="Lucida Console" panose="020B0609040504020204" pitchFamily="49" charset="0"/>
                <a:cs typeface="Lucida Sans Unicode" panose="020B0602030504020204" pitchFamily="34" charset="0"/>
              </a:rPr>
              <a:t>&gt; mean(x)      #calculate an average of our data values</a:t>
            </a:r>
          </a:p>
          <a:p>
            <a:r>
              <a:rPr lang="en-US" sz="1400" dirty="0">
                <a:latin typeface="Lucida Console" panose="020B0609040504020204" pitchFamily="49" charset="0"/>
                <a:cs typeface="Lucida Sans Unicode" panose="020B0602030504020204" pitchFamily="34" charset="0"/>
              </a:rPr>
              <a:t>[1] 6</a:t>
            </a:r>
            <a:endParaRPr lang="en-US" dirty="0"/>
          </a:p>
        </p:txBody>
      </p:sp>
    </p:spTree>
    <p:extLst>
      <p:ext uri="{BB962C8B-B14F-4D97-AF65-F5344CB8AC3E}">
        <p14:creationId xmlns:p14="http://schemas.microsoft.com/office/powerpoint/2010/main" val="64468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9A1B40-342D-44EB-8DFE-5AE3B5691CF7}"/>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Manipulating Data</a:t>
            </a:r>
          </a:p>
        </p:txBody>
      </p:sp>
      <p:sp>
        <p:nvSpPr>
          <p:cNvPr id="5" name="TextBox 4">
            <a:extLst>
              <a:ext uri="{FF2B5EF4-FFF2-40B4-BE49-F238E27FC236}">
                <a16:creationId xmlns:a16="http://schemas.microsoft.com/office/drawing/2014/main" id="{FA09511C-DAC7-43A7-92C3-BDED12B73140}"/>
              </a:ext>
            </a:extLst>
          </p:cNvPr>
          <p:cNvSpPr txBox="1"/>
          <p:nvPr/>
        </p:nvSpPr>
        <p:spPr>
          <a:xfrm>
            <a:off x="914400" y="1295906"/>
            <a:ext cx="7391400" cy="446276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We can do other useful things to data. For example, we can stack vectors into a single vector, or put them into a </a:t>
            </a:r>
            <a:r>
              <a:rPr lang="en-US" sz="2000" dirty="0">
                <a:solidFill>
                  <a:srgbClr val="CC0000"/>
                </a:solidFill>
                <a:latin typeface="Times New Roman" panose="02020603050405020304" pitchFamily="18" charset="0"/>
                <a:cs typeface="Times New Roman" panose="02020603050405020304" pitchFamily="18" charset="0"/>
              </a:rPr>
              <a:t>data frame</a:t>
            </a:r>
            <a:r>
              <a:rPr lang="en-US" sz="2000" dirty="0">
                <a:latin typeface="Times New Roman" panose="02020603050405020304" pitchFamily="18" charset="0"/>
                <a:cs typeface="Times New Roman" panose="02020603050405020304" pitchFamily="18" charset="0"/>
              </a:rPr>
              <a:t>:</a:t>
            </a:r>
          </a:p>
          <a:p>
            <a:endParaRPr lang="en-US" sz="2000" dirty="0">
              <a:solidFill>
                <a:srgbClr val="0000FF"/>
              </a:solidFill>
              <a:latin typeface="+mn-lt"/>
              <a:cs typeface="Calibri" panose="020F0502020204030204" pitchFamily="34" charset="0"/>
            </a:endParaRPr>
          </a:p>
          <a:p>
            <a:r>
              <a:rPr lang="it-IT" sz="1400" dirty="0">
                <a:solidFill>
                  <a:srgbClr val="0000FF"/>
                </a:solidFill>
                <a:latin typeface="Lucida Console" panose="020B0609040504020204" pitchFamily="49" charset="0"/>
                <a:cs typeface="Calibri" panose="020F0502020204030204" pitchFamily="34" charset="0"/>
              </a:rPr>
              <a:t>&gt; x1=c(4,5,6)      # create a vector containing 4,5,6</a:t>
            </a:r>
          </a:p>
          <a:p>
            <a:r>
              <a:rPr lang="it-IT" sz="1400" dirty="0">
                <a:solidFill>
                  <a:srgbClr val="0000FF"/>
                </a:solidFill>
                <a:latin typeface="Lucida Console" panose="020B0609040504020204" pitchFamily="49" charset="0"/>
                <a:cs typeface="Calibri" panose="020F0502020204030204" pitchFamily="34" charset="0"/>
              </a:rPr>
              <a:t>&gt; x1</a:t>
            </a:r>
          </a:p>
          <a:p>
            <a:r>
              <a:rPr lang="it-IT" sz="1400" dirty="0">
                <a:latin typeface="Lucida Console" panose="020B0609040504020204" pitchFamily="49" charset="0"/>
                <a:cs typeface="Calibri" panose="020F0502020204030204" pitchFamily="34" charset="0"/>
              </a:rPr>
              <a:t>[1] 4 5 6</a:t>
            </a:r>
            <a:endParaRPr lang="it-IT" sz="1400" dirty="0">
              <a:solidFill>
                <a:srgbClr val="0000FF"/>
              </a:solidFill>
              <a:latin typeface="Lucida Console" panose="020B0609040504020204" pitchFamily="49" charset="0"/>
              <a:cs typeface="Calibri" panose="020F0502020204030204" pitchFamily="34" charset="0"/>
            </a:endParaRPr>
          </a:p>
          <a:p>
            <a:r>
              <a:rPr lang="it-IT" sz="1400" dirty="0">
                <a:solidFill>
                  <a:srgbClr val="0000FF"/>
                </a:solidFill>
                <a:latin typeface="Lucida Console" panose="020B0609040504020204" pitchFamily="49" charset="0"/>
                <a:cs typeface="Calibri" panose="020F0502020204030204" pitchFamily="34" charset="0"/>
              </a:rPr>
              <a:t>&gt; x2=c(7,8,9)      # create a vector containing 7,8,9</a:t>
            </a:r>
          </a:p>
          <a:p>
            <a:r>
              <a:rPr lang="it-IT" sz="1400" dirty="0">
                <a:solidFill>
                  <a:srgbClr val="0000FF"/>
                </a:solidFill>
                <a:latin typeface="Lucida Console" panose="020B0609040504020204" pitchFamily="49" charset="0"/>
                <a:cs typeface="Calibri" panose="020F0502020204030204" pitchFamily="34" charset="0"/>
              </a:rPr>
              <a:t>&gt; x2</a:t>
            </a:r>
          </a:p>
          <a:p>
            <a:r>
              <a:rPr lang="it-IT" sz="1400" dirty="0">
                <a:latin typeface="Lucida Console" panose="020B0609040504020204" pitchFamily="49" charset="0"/>
                <a:cs typeface="Calibri" panose="020F0502020204030204" pitchFamily="34" charset="0"/>
              </a:rPr>
              <a:t>[1] 7 8 9</a:t>
            </a:r>
          </a:p>
          <a:p>
            <a:r>
              <a:rPr lang="it-IT" sz="1400" dirty="0">
                <a:solidFill>
                  <a:srgbClr val="0000FF"/>
                </a:solidFill>
                <a:latin typeface="Lucida Console" panose="020B0609040504020204" pitchFamily="49" charset="0"/>
                <a:cs typeface="Calibri" panose="020F0502020204030204" pitchFamily="34" charset="0"/>
              </a:rPr>
              <a:t>&gt; x3=c(x1,x2)      # stack the two vectors into one column</a:t>
            </a:r>
          </a:p>
          <a:p>
            <a:r>
              <a:rPr lang="it-IT" sz="1400" dirty="0">
                <a:solidFill>
                  <a:srgbClr val="0000FF"/>
                </a:solidFill>
                <a:latin typeface="Lucida Console" panose="020B0609040504020204" pitchFamily="49" charset="0"/>
                <a:cs typeface="Calibri" panose="020F0502020204030204" pitchFamily="34" charset="0"/>
              </a:rPr>
              <a:t>&gt; x3</a:t>
            </a:r>
          </a:p>
          <a:p>
            <a:r>
              <a:rPr lang="it-IT" sz="1400" dirty="0">
                <a:latin typeface="Lucida Console" panose="020B0609040504020204" pitchFamily="49" charset="0"/>
                <a:cs typeface="Calibri" panose="020F0502020204030204" pitchFamily="34" charset="0"/>
              </a:rPr>
              <a:t>[1] 4 5 6 7 8 9</a:t>
            </a:r>
          </a:p>
          <a:p>
            <a:r>
              <a:rPr lang="it-IT" sz="1400" dirty="0">
                <a:solidFill>
                  <a:srgbClr val="0000FF"/>
                </a:solidFill>
                <a:latin typeface="Lucida Console" panose="020B0609040504020204" pitchFamily="49" charset="0"/>
                <a:cs typeface="Calibri" panose="020F0502020204030204" pitchFamily="34" charset="0"/>
              </a:rPr>
              <a:t>&gt; xdata=data.frame(x1,x2)   # put both vectors columns into a data frame</a:t>
            </a:r>
          </a:p>
          <a:p>
            <a:r>
              <a:rPr lang="it-IT" sz="1400" dirty="0">
                <a:solidFill>
                  <a:srgbClr val="0000FF"/>
                </a:solidFill>
                <a:latin typeface="Lucida Console" panose="020B0609040504020204" pitchFamily="49" charset="0"/>
                <a:cs typeface="Calibri" panose="020F0502020204030204" pitchFamily="34" charset="0"/>
              </a:rPr>
              <a:t>&gt; xdata</a:t>
            </a:r>
          </a:p>
          <a:p>
            <a:r>
              <a:rPr lang="it-IT" sz="1400" dirty="0">
                <a:latin typeface="Lucida Console" panose="020B0609040504020204" pitchFamily="49" charset="0"/>
                <a:cs typeface="Calibri" panose="020F0502020204030204" pitchFamily="34" charset="0"/>
              </a:rPr>
              <a:t>  x1 x2</a:t>
            </a:r>
          </a:p>
          <a:p>
            <a:r>
              <a:rPr lang="it-IT" sz="1400" dirty="0">
                <a:latin typeface="Lucida Console" panose="020B0609040504020204" pitchFamily="49" charset="0"/>
                <a:cs typeface="Calibri" panose="020F0502020204030204" pitchFamily="34" charset="0"/>
              </a:rPr>
              <a:t>1  4  7</a:t>
            </a:r>
          </a:p>
          <a:p>
            <a:r>
              <a:rPr lang="it-IT" sz="1400" dirty="0">
                <a:latin typeface="Lucida Console" panose="020B0609040504020204" pitchFamily="49" charset="0"/>
                <a:cs typeface="Calibri" panose="020F0502020204030204" pitchFamily="34" charset="0"/>
              </a:rPr>
              <a:t>2  5  8</a:t>
            </a:r>
          </a:p>
          <a:p>
            <a:r>
              <a:rPr lang="it-IT" sz="1400" dirty="0">
                <a:latin typeface="Lucida Console" panose="020B0609040504020204" pitchFamily="49" charset="0"/>
                <a:cs typeface="Calibri" panose="020F0502020204030204" pitchFamily="34" charset="0"/>
              </a:rPr>
              <a:t>3  6  9</a:t>
            </a:r>
            <a:endParaRPr lang="en-US" sz="1400" dirty="0">
              <a:latin typeface="Lucida Console" panose="020B0609040504020204" pitchFamily="49" charset="0"/>
              <a:cs typeface="Calibri" panose="020F0502020204030204" pitchFamily="34" charset="0"/>
            </a:endParaRPr>
          </a:p>
        </p:txBody>
      </p:sp>
    </p:spTree>
    <p:extLst>
      <p:ext uri="{BB962C8B-B14F-4D97-AF65-F5344CB8AC3E}">
        <p14:creationId xmlns:p14="http://schemas.microsoft.com/office/powerpoint/2010/main" val="63304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5DAC26-604B-4E47-930D-DE3B978F888A}"/>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Vectors and Functions</a:t>
            </a:r>
          </a:p>
        </p:txBody>
      </p:sp>
      <p:sp>
        <p:nvSpPr>
          <p:cNvPr id="4" name="TextBox 3">
            <a:extLst>
              <a:ext uri="{FF2B5EF4-FFF2-40B4-BE49-F238E27FC236}">
                <a16:creationId xmlns:a16="http://schemas.microsoft.com/office/drawing/2014/main" id="{513A7683-823C-4B64-B7C7-3F9B140ED783}"/>
              </a:ext>
            </a:extLst>
          </p:cNvPr>
          <p:cNvSpPr txBox="1"/>
          <p:nvPr/>
        </p:nvSpPr>
        <p:spPr>
          <a:xfrm>
            <a:off x="838200" y="1274564"/>
            <a:ext cx="7467600" cy="3508653"/>
          </a:xfrm>
          <a:prstGeom prst="rect">
            <a:avLst/>
          </a:prstGeom>
          <a:solidFill>
            <a:schemeClr val="bg1"/>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You can name a vector using any combination of letters, digits, period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latin typeface="Times New Roman" panose="02020603050405020304" pitchFamily="18" charset="0"/>
                <a:cs typeface="Times New Roman" panose="02020603050405020304" pitchFamily="18" charset="0"/>
              </a:rPr>
              <a:t>) and underscore (</a:t>
            </a:r>
            <a:r>
              <a:rPr lang="en-US" sz="1400" dirty="0">
                <a:solidFill>
                  <a:srgbClr val="0000FF"/>
                </a:solidFill>
                <a:latin typeface="Lucida Console" panose="020B0609040504020204" pitchFamily="49" charset="0"/>
                <a:cs typeface="Lucida Sans Unicode" panose="020B0602030504020204" pitchFamily="34" charset="0"/>
              </a:rPr>
              <a:t>_</a:t>
            </a:r>
            <a:r>
              <a:rPr lang="en-US" sz="2000" dirty="0">
                <a:latin typeface="Times New Roman" panose="02020603050405020304" pitchFamily="18" charset="0"/>
                <a:cs typeface="Times New Roman" panose="02020603050405020304" pitchFamily="18" charset="0"/>
              </a:rPr>
              <a:t>). It must start with a letter or a period. If it starts with a period, it cannot be followed by a digit. Reserved words in R cannot be used as identifiers. Case is important (hence </a:t>
            </a:r>
            <a:r>
              <a:rPr lang="en-US" sz="1400" dirty="0" err="1">
                <a:solidFill>
                  <a:srgbClr val="0000FF"/>
                </a:solidFill>
                <a:latin typeface="Lucida Console" panose="020B0609040504020204" pitchFamily="49" charset="0"/>
                <a:cs typeface="Lucida Sans Unicode" panose="020B0602030504020204" pitchFamily="34" charset="0"/>
              </a:rPr>
              <a:t>BodyStyle</a:t>
            </a:r>
            <a:r>
              <a:rPr lang="en-US" sz="2000" dirty="0">
                <a:latin typeface="Times New Roman" panose="02020603050405020304" pitchFamily="18" charset="0"/>
                <a:cs typeface="Times New Roman" panose="02020603050405020304" pitchFamily="18" charset="0"/>
              </a:rPr>
              <a:t> is not the same object as </a:t>
            </a:r>
            <a:r>
              <a:rPr lang="en-US" sz="1400" dirty="0" err="1">
                <a:solidFill>
                  <a:srgbClr val="0000FF"/>
                </a:solidFill>
                <a:latin typeface="Lucida Console" panose="020B0609040504020204" pitchFamily="49" charset="0"/>
                <a:cs typeface="Lucida Sans Unicode" panose="020B0602030504020204" pitchFamily="34" charset="0"/>
              </a:rPr>
              <a:t>bodystyle</a:t>
            </a:r>
            <a:r>
              <a:rPr lang="en-US" sz="2000" dirty="0">
                <a:latin typeface="Times New Roman" panose="02020603050405020304" pitchFamily="18" charset="0"/>
                <a:cs typeface="Times New Roman" panose="02020603050405020304" pitchFamily="18" charset="0"/>
              </a:rPr>
              <a:t>). A vector can contain attribute data (non-numeric) by enclosing each data value in quotation marks. For example:</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BodyStyle</a:t>
            </a:r>
            <a:r>
              <a:rPr lang="en-US" sz="1400" dirty="0">
                <a:solidFill>
                  <a:srgbClr val="0000FF"/>
                </a:solidFill>
                <a:latin typeface="Lucida Console" panose="020B0609040504020204" pitchFamily="49" charset="0"/>
                <a:cs typeface="Lucida Sans Unicode" panose="020B0602030504020204" pitchFamily="34" charset="0"/>
              </a:rPr>
              <a:t> = c("Sedan", "SUV", "Truck", "Other")</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BodyStyle</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[1] "Sedan" "SUV"   "Truck" "Other"</a:t>
            </a:r>
          </a:p>
          <a:p>
            <a:r>
              <a:rPr lang="en-US" sz="1400" dirty="0">
                <a:latin typeface="Lucida Console" panose="020B0609040504020204" pitchFamily="49" charset="0"/>
                <a:cs typeface="Lucida Sans Unicode" panose="020B0602030504020204" pitchFamily="34" charset="0"/>
              </a:rPr>
              <a:t>&gt; </a:t>
            </a:r>
            <a:r>
              <a:rPr lang="en-US" sz="1400" dirty="0" err="1">
                <a:latin typeface="Lucida Console" panose="020B0609040504020204" pitchFamily="49" charset="0"/>
                <a:cs typeface="Lucida Sans Unicode" panose="020B0602030504020204" pitchFamily="34" charset="0"/>
              </a:rPr>
              <a:t>bodystyle</a:t>
            </a:r>
            <a:endParaRPr lang="en-US" sz="1400" dirty="0">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Error: object '</a:t>
            </a:r>
            <a:r>
              <a:rPr lang="en-US" sz="1400" dirty="0" err="1">
                <a:latin typeface="Lucida Console" panose="020B0609040504020204" pitchFamily="49" charset="0"/>
                <a:cs typeface="Lucida Sans Unicode" panose="020B0602030504020204" pitchFamily="34" charset="0"/>
              </a:rPr>
              <a:t>bodystyle</a:t>
            </a:r>
            <a:r>
              <a:rPr lang="en-US" sz="1400" dirty="0">
                <a:latin typeface="Lucida Console" panose="020B0609040504020204" pitchFamily="49" charset="0"/>
                <a:cs typeface="Lucida Sans Unicode" panose="020B0602030504020204" pitchFamily="34" charset="0"/>
              </a:rPr>
              <a:t>' not found</a:t>
            </a:r>
            <a:endParaRPr lang="en-US" sz="1200" dirty="0">
              <a:latin typeface="Lucida Console" panose="020B0609040504020204" pitchFamily="49" charset="0"/>
              <a:cs typeface="Lucida Sans Unicode" panose="020B0602030504020204" pitchFamily="34" charset="0"/>
            </a:endParaRPr>
          </a:p>
        </p:txBody>
      </p:sp>
      <p:sp>
        <p:nvSpPr>
          <p:cNvPr id="2" name="TextBox 1">
            <a:extLst>
              <a:ext uri="{FF2B5EF4-FFF2-40B4-BE49-F238E27FC236}">
                <a16:creationId xmlns:a16="http://schemas.microsoft.com/office/drawing/2014/main" id="{B0F41E7F-A3F4-435A-A94F-1E2331A33535}"/>
              </a:ext>
            </a:extLst>
          </p:cNvPr>
          <p:cNvSpPr txBox="1"/>
          <p:nvPr/>
        </p:nvSpPr>
        <p:spPr>
          <a:xfrm>
            <a:off x="2139667" y="5043262"/>
            <a:ext cx="5486400" cy="523220"/>
          </a:xfrm>
          <a:prstGeom prst="rect">
            <a:avLst/>
          </a:prstGeom>
          <a:noFill/>
        </p:spPr>
        <p:txBody>
          <a:bodyPr wrap="square" rtlCol="0">
            <a:spAutoFit/>
          </a:bodyPr>
          <a:lstStyle/>
          <a:p>
            <a:r>
              <a:rPr lang="en-US" sz="1400" i="1" dirty="0">
                <a:solidFill>
                  <a:srgbClr val="CC0000"/>
                </a:solidFill>
                <a:cs typeface="Times New Roman" panose="02020603050405020304" pitchFamily="18" charset="0"/>
              </a:rPr>
              <a:t>Hint:</a:t>
            </a:r>
            <a:r>
              <a:rPr lang="en-US" sz="1400" dirty="0">
                <a:cs typeface="Times New Roman" panose="02020603050405020304" pitchFamily="18" charset="0"/>
              </a:rPr>
              <a:t> R may not recognize an object if you are careless about uppercase and lowercase (deliberately shown here to illustrate the point). </a:t>
            </a:r>
            <a:endParaRPr lang="en-US" dirty="0"/>
          </a:p>
        </p:txBody>
      </p:sp>
      <p:pic>
        <p:nvPicPr>
          <p:cNvPr id="6" name="Picture 5" descr="A close up of a clock&#10;&#10;Description automatically generated">
            <a:extLst>
              <a:ext uri="{FF2B5EF4-FFF2-40B4-BE49-F238E27FC236}">
                <a16:creationId xmlns:a16="http://schemas.microsoft.com/office/drawing/2014/main" id="{4639A9C1-367D-461F-A5FD-575B410F6C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4897124"/>
            <a:ext cx="692166" cy="664042"/>
          </a:xfrm>
          <a:prstGeom prst="rect">
            <a:avLst/>
          </a:prstGeom>
        </p:spPr>
      </p:pic>
    </p:spTree>
    <p:extLst>
      <p:ext uri="{BB962C8B-B14F-4D97-AF65-F5344CB8AC3E}">
        <p14:creationId xmlns:p14="http://schemas.microsoft.com/office/powerpoint/2010/main" val="4268017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2ADE23A-058D-4B74-9DD5-2478082923A3}"/>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Vectors and Functions</a:t>
            </a:r>
          </a:p>
        </p:txBody>
      </p:sp>
      <p:sp>
        <p:nvSpPr>
          <p:cNvPr id="4" name="TextBox 3">
            <a:extLst>
              <a:ext uri="{FF2B5EF4-FFF2-40B4-BE49-F238E27FC236}">
                <a16:creationId xmlns:a16="http://schemas.microsoft.com/office/drawing/2014/main" id="{513A7683-823C-4B64-B7C7-3F9B140ED783}"/>
              </a:ext>
            </a:extLst>
          </p:cNvPr>
          <p:cNvSpPr txBox="1"/>
          <p:nvPr/>
        </p:nvSpPr>
        <p:spPr>
          <a:xfrm>
            <a:off x="838200" y="1274564"/>
            <a:ext cx="7467600" cy="3908762"/>
          </a:xfrm>
          <a:prstGeom prst="rect">
            <a:avLst/>
          </a:prstGeom>
          <a:solidFill>
            <a:schemeClr val="bg1"/>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You can create vectors in other ways, using functions or rules. For example, to make a vector </a:t>
            </a:r>
            <a:r>
              <a:rPr lang="en-US" sz="1400" dirty="0" err="1">
                <a:solidFill>
                  <a:srgbClr val="0000FF"/>
                </a:solidFill>
                <a:latin typeface="Lucida Console" panose="020B0609040504020204" pitchFamily="49" charset="0"/>
                <a:cs typeface="Lucida Sans Unicode" panose="020B0602030504020204" pitchFamily="34" charset="0"/>
              </a:rPr>
              <a:t>MyIntegers</a:t>
            </a:r>
            <a:r>
              <a:rPr lang="en-US" sz="2000" dirty="0">
                <a:latin typeface="Times New Roman" panose="02020603050405020304" pitchFamily="18" charset="0"/>
                <a:cs typeface="Times New Roman" panose="02020603050405020304" pitchFamily="18" charset="0"/>
              </a:rPr>
              <a:t> containing integers 1 to 10:</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MyIntegers</a:t>
            </a:r>
            <a:r>
              <a:rPr lang="en-US" sz="1400" dirty="0">
                <a:solidFill>
                  <a:srgbClr val="0000FF"/>
                </a:solidFill>
                <a:latin typeface="Lucida Console" panose="020B0609040504020204" pitchFamily="49" charset="0"/>
                <a:cs typeface="Lucida Sans Unicode" panose="020B0602030504020204" pitchFamily="34" charset="0"/>
              </a:rPr>
              <a:t> = c(1:10)</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MyIntegers</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[1]  1  2  3  4  5  6  7  8  9 10</a:t>
            </a:r>
          </a:p>
          <a:p>
            <a:r>
              <a:rPr lang="en-US" sz="1400" dirty="0">
                <a:solidFill>
                  <a:srgbClr val="0000FF"/>
                </a:solidFill>
                <a:latin typeface="Lucida Console" panose="020B0609040504020204" pitchFamily="49" charset="0"/>
                <a:cs typeface="Lucida Sans Unicode" panose="020B0602030504020204" pitchFamily="34" charset="0"/>
              </a:rPr>
              <a:t>&gt; mean(</a:t>
            </a:r>
            <a:r>
              <a:rPr lang="en-US" sz="1400" dirty="0" err="1">
                <a:solidFill>
                  <a:srgbClr val="0000FF"/>
                </a:solidFill>
                <a:latin typeface="Lucida Console" panose="020B0609040504020204" pitchFamily="49" charset="0"/>
                <a:cs typeface="Lucida Sans Unicode" panose="020B0602030504020204" pitchFamily="34" charset="0"/>
              </a:rPr>
              <a:t>MyIntegers</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[1] 5.5</a:t>
            </a:r>
          </a:p>
          <a:p>
            <a:endParaRPr lang="en-US" sz="1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Another way to create data is using a function. For example, we can use the R function </a:t>
            </a:r>
            <a:r>
              <a:rPr lang="en-US" sz="1400" dirty="0">
                <a:solidFill>
                  <a:srgbClr val="0000FF"/>
                </a:solidFill>
                <a:latin typeface="Lucida Console" panose="020B0609040504020204" pitchFamily="49" charset="0"/>
                <a:cs typeface="Lucida Sans Unicode" panose="020B0602030504020204" pitchFamily="34" charset="0"/>
              </a:rPr>
              <a:t>sample() </a:t>
            </a:r>
            <a:r>
              <a:rPr lang="en-US" sz="2000" dirty="0">
                <a:latin typeface="Times New Roman" panose="02020603050405020304" pitchFamily="18" charset="0"/>
                <a:cs typeface="Times New Roman" panose="02020603050405020304" pitchFamily="18" charset="0"/>
              </a:rPr>
              <a:t>to create a vector (we called it </a:t>
            </a:r>
            <a:r>
              <a:rPr lang="en-US" sz="1400" dirty="0" err="1">
                <a:solidFill>
                  <a:srgbClr val="0000FF"/>
                </a:solidFill>
                <a:latin typeface="Lucida Console" panose="020B0609040504020204" pitchFamily="49" charset="0"/>
                <a:cs typeface="Lucida Sans Unicode" panose="020B0602030504020204" pitchFamily="34" charset="0"/>
              </a:rPr>
              <a:t>MySample</a:t>
            </a:r>
            <a:r>
              <a:rPr lang="en-US" sz="2000" dirty="0">
                <a:latin typeface="Times New Roman" panose="02020603050405020304" pitchFamily="18" charset="0"/>
                <a:cs typeface="Times New Roman" panose="02020603050405020304" pitchFamily="18" charset="0"/>
              </a:rPr>
              <a:t>) containing a random sample of 5 integers in the range 0 to 1000 :</a:t>
            </a:r>
          </a:p>
          <a:p>
            <a:endParaRPr lang="en-US" sz="1200" dirty="0">
              <a:latin typeface="Times New Roman" panose="02020603050405020304" pitchFamily="18" charset="0"/>
              <a:cs typeface="Times New Roman" panose="02020603050405020304"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MySample</a:t>
            </a:r>
            <a:r>
              <a:rPr lang="en-US" sz="1400" dirty="0">
                <a:solidFill>
                  <a:srgbClr val="0000FF"/>
                </a:solidFill>
                <a:latin typeface="Lucida Console" panose="020B0609040504020204" pitchFamily="49" charset="0"/>
                <a:cs typeface="Lucida Sans Unicode" panose="020B0602030504020204" pitchFamily="34" charset="0"/>
              </a:rPr>
              <a:t> = sample(0:1000,5)</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MySample</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latin typeface="Lucida Console" panose="020B0609040504020204" pitchFamily="49" charset="0"/>
                <a:cs typeface="Lucida Sans Unicode" panose="020B0602030504020204" pitchFamily="34" charset="0"/>
              </a:rPr>
              <a:t>[1] 521 989 766 300 922</a:t>
            </a:r>
            <a:endParaRPr lang="en-US" sz="1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4537A5-FF91-405A-89A4-5F1A2FDB2DAE}"/>
              </a:ext>
            </a:extLst>
          </p:cNvPr>
          <p:cNvSpPr txBox="1"/>
          <p:nvPr/>
        </p:nvSpPr>
        <p:spPr>
          <a:xfrm>
            <a:off x="3429000" y="5381089"/>
            <a:ext cx="5029200" cy="738664"/>
          </a:xfrm>
          <a:prstGeom prst="rect">
            <a:avLst/>
          </a:prstGeom>
          <a:noFill/>
        </p:spPr>
        <p:txBody>
          <a:bodyPr wrap="square" rtlCol="0">
            <a:spAutoFit/>
          </a:bodyPr>
          <a:lstStyle/>
          <a:p>
            <a:r>
              <a:rPr lang="en-US" sz="1400" i="1" dirty="0">
                <a:solidFill>
                  <a:srgbClr val="CC0000"/>
                </a:solidFill>
              </a:rPr>
              <a:t>Tip: </a:t>
            </a:r>
            <a:r>
              <a:rPr lang="en-US" sz="1400" dirty="0"/>
              <a:t>Some function arguments can be omitted if you are willing to accept the default values. This example used is  a “stripped-down” version of </a:t>
            </a:r>
            <a:r>
              <a:rPr lang="en-US" sz="1400" dirty="0">
                <a:solidFill>
                  <a:srgbClr val="0000FF"/>
                </a:solidFill>
                <a:latin typeface="Lucida Console" panose="020B0609040504020204" pitchFamily="49" charset="0"/>
                <a:cs typeface="Lucida Sans Unicode" panose="020B0602030504020204" pitchFamily="34" charset="0"/>
              </a:rPr>
              <a:t>sample()</a:t>
            </a:r>
            <a:r>
              <a:rPr lang="en-US" sz="1400" dirty="0"/>
              <a:t> for clarity. </a:t>
            </a:r>
          </a:p>
        </p:txBody>
      </p:sp>
      <p:pic>
        <p:nvPicPr>
          <p:cNvPr id="8" name="Picture 7" descr="A picture containing drawing, table&#10;&#10;Description automatically generated">
            <a:extLst>
              <a:ext uri="{FF2B5EF4-FFF2-40B4-BE49-F238E27FC236}">
                <a16:creationId xmlns:a16="http://schemas.microsoft.com/office/drawing/2014/main" id="{4A23A2E5-0DE8-457A-BF9B-34A94BB0DE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0417" y="5381089"/>
            <a:ext cx="661797" cy="728663"/>
          </a:xfrm>
          <a:prstGeom prst="rect">
            <a:avLst/>
          </a:prstGeom>
        </p:spPr>
      </p:pic>
    </p:spTree>
    <p:extLst>
      <p:ext uri="{BB962C8B-B14F-4D97-AF65-F5344CB8AC3E}">
        <p14:creationId xmlns:p14="http://schemas.microsoft.com/office/powerpoint/2010/main" val="2974004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069600E-484D-4DBF-A62F-C09644C1BAF3}"/>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Spreadsheet Data</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pic>
        <p:nvPicPr>
          <p:cNvPr id="3" name="Picture 2" descr="A screenshot of a computer&#10;&#10;Description automatically generated">
            <a:extLst>
              <a:ext uri="{FF2B5EF4-FFF2-40B4-BE49-F238E27FC236}">
                <a16:creationId xmlns:a16="http://schemas.microsoft.com/office/drawing/2014/main" id="{292B4181-859B-4685-8167-4DCF10C8F1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615" y="2703660"/>
            <a:ext cx="7458969" cy="1755480"/>
          </a:xfrm>
          <a:prstGeom prst="rect">
            <a:avLst/>
          </a:prstGeom>
        </p:spPr>
      </p:pic>
      <p:sp>
        <p:nvSpPr>
          <p:cNvPr id="2" name="TextBox 1">
            <a:extLst>
              <a:ext uri="{FF2B5EF4-FFF2-40B4-BE49-F238E27FC236}">
                <a16:creationId xmlns:a16="http://schemas.microsoft.com/office/drawing/2014/main" id="{A0B25CC6-1E0B-4AA2-BFC2-DD15D3481243}"/>
              </a:ext>
            </a:extLst>
          </p:cNvPr>
          <p:cNvSpPr txBox="1"/>
          <p:nvPr/>
        </p:nvSpPr>
        <p:spPr>
          <a:xfrm>
            <a:off x="1066800" y="1274082"/>
            <a:ext cx="7239000" cy="1015663"/>
          </a:xfrm>
          <a:prstGeom prst="rect">
            <a:avLst/>
          </a:prstGeom>
          <a:noFill/>
        </p:spPr>
        <p:txBody>
          <a:bodyPr wrap="square" rtlCol="0">
            <a:spAutoFit/>
          </a:bodyPr>
          <a:lstStyle/>
          <a:p>
            <a:r>
              <a:rPr lang="en-US" sz="2000" dirty="0">
                <a:latin typeface="Times New Roman" pitchFamily="18" charset="0"/>
              </a:rPr>
              <a:t>Suppose we have an Excel spreadsheet (50 rows, 13 columns) with data for a sample of 2020 vehicles (abbreviated here). We want to import some (or all) of the data into a </a:t>
            </a:r>
            <a:r>
              <a:rPr lang="en-US" sz="2000" dirty="0">
                <a:solidFill>
                  <a:srgbClr val="CC0000"/>
                </a:solidFill>
                <a:latin typeface="Times New Roman" pitchFamily="18" charset="0"/>
              </a:rPr>
              <a:t>data frame </a:t>
            </a:r>
            <a:r>
              <a:rPr lang="en-US" sz="2000" dirty="0">
                <a:latin typeface="Times New Roman" pitchFamily="18" charset="0"/>
              </a:rPr>
              <a:t>in R.</a:t>
            </a:r>
            <a:endParaRPr lang="en-US" sz="2000" dirty="0"/>
          </a:p>
        </p:txBody>
      </p:sp>
      <p:sp>
        <p:nvSpPr>
          <p:cNvPr id="4" name="TextBox 3">
            <a:extLst>
              <a:ext uri="{FF2B5EF4-FFF2-40B4-BE49-F238E27FC236}">
                <a16:creationId xmlns:a16="http://schemas.microsoft.com/office/drawing/2014/main" id="{56FFEAA1-B115-4EB3-8D5B-86E74E1430DD}"/>
              </a:ext>
            </a:extLst>
          </p:cNvPr>
          <p:cNvSpPr txBox="1"/>
          <p:nvPr/>
        </p:nvSpPr>
        <p:spPr>
          <a:xfrm>
            <a:off x="990600" y="4724400"/>
            <a:ext cx="7010400" cy="1015663"/>
          </a:xfrm>
          <a:prstGeom prst="rect">
            <a:avLst/>
          </a:prstGeom>
          <a:noFill/>
        </p:spPr>
        <p:txBody>
          <a:bodyPr wrap="square" rtlCol="0">
            <a:spAutoFit/>
          </a:bodyPr>
          <a:lstStyle/>
          <a:p>
            <a:r>
              <a:rPr lang="en-US" sz="2000" dirty="0">
                <a:latin typeface="Times New Roman" pitchFamily="18" charset="0"/>
              </a:rPr>
              <a:t>A </a:t>
            </a:r>
            <a:r>
              <a:rPr lang="en-US" sz="2000" dirty="0">
                <a:solidFill>
                  <a:srgbClr val="CC0000"/>
                </a:solidFill>
                <a:latin typeface="Times New Roman" pitchFamily="18" charset="0"/>
              </a:rPr>
              <a:t>data frame </a:t>
            </a:r>
            <a:r>
              <a:rPr lang="en-US" sz="2000" dirty="0">
                <a:latin typeface="Times New Roman" pitchFamily="18" charset="0"/>
              </a:rPr>
              <a:t>is similar to a matrix except that its columns can have names. That is appropriate because each of our columns already has a heading. How can we get this data into R?</a:t>
            </a:r>
          </a:p>
        </p:txBody>
      </p:sp>
    </p:spTree>
    <p:extLst>
      <p:ext uri="{BB962C8B-B14F-4D97-AF65-F5344CB8AC3E}">
        <p14:creationId xmlns:p14="http://schemas.microsoft.com/office/powerpoint/2010/main" val="198312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560904B-8107-4631-AA1F-850EE82F082C}"/>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Clipboard Import</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838200" y="1524000"/>
            <a:ext cx="7772400" cy="3108543"/>
          </a:xfrm>
          <a:prstGeom prst="rect">
            <a:avLst/>
          </a:prstGeom>
          <a:solidFill>
            <a:schemeClr val="bg1"/>
          </a:solidFill>
        </p:spPr>
        <p:txBody>
          <a:bodyPr wrap="square" rtlCol="0">
            <a:spAutoFit/>
          </a:bodyPr>
          <a:lstStyle/>
          <a:p>
            <a:r>
              <a:rPr lang="en-US" sz="2000" dirty="0">
                <a:latin typeface="Times New Roman" pitchFamily="18" charset="0"/>
              </a:rPr>
              <a:t>An easy way to import data to R is the clipboard. Highlight the data block in Excel (including column headings) and copy it to the clipboard using </a:t>
            </a:r>
            <a:r>
              <a:rPr lang="en-US" sz="1400" dirty="0" err="1">
                <a:solidFill>
                  <a:srgbClr val="0000FF"/>
                </a:solidFill>
                <a:latin typeface="Lucida Console" panose="020B0609040504020204" pitchFamily="49" charset="0"/>
                <a:cs typeface="Lucida Sans Unicode" panose="020B0602030504020204" pitchFamily="34" charset="0"/>
              </a:rPr>
              <a:t>Ctrl+c</a:t>
            </a:r>
            <a:r>
              <a:rPr lang="en-US" sz="2000" dirty="0">
                <a:latin typeface="Times New Roman" pitchFamily="18" charset="0"/>
              </a:rPr>
              <a:t> (Windows) or </a:t>
            </a:r>
            <a:r>
              <a:rPr lang="en-US" sz="1400" dirty="0" err="1">
                <a:solidFill>
                  <a:srgbClr val="0000FF"/>
                </a:solidFill>
                <a:latin typeface="Lucida Console" panose="020B0609040504020204" pitchFamily="49" charset="0"/>
                <a:cs typeface="Lucida Sans Unicode" panose="020B0602030504020204" pitchFamily="34" charset="0"/>
              </a:rPr>
              <a:t>command+c</a:t>
            </a:r>
            <a:r>
              <a:rPr lang="en-US" sz="2000" dirty="0">
                <a:latin typeface="Times New Roman" pitchFamily="18" charset="0"/>
              </a:rPr>
              <a:t> (MacOS). Now enter (for Windows):</a:t>
            </a:r>
          </a:p>
          <a:p>
            <a:r>
              <a:rPr lang="en-US" sz="1200" dirty="0">
                <a:latin typeface="Times New Roman" pitchFamily="18" charset="0"/>
              </a:rPr>
              <a:t> </a:t>
            </a:r>
          </a:p>
          <a:p>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MPGData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(file="clipboard",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For MacOS you would enter</a:t>
            </a:r>
          </a:p>
          <a:p>
            <a:r>
              <a:rPr lang="en-US" sz="1200" dirty="0"/>
              <a:t> </a:t>
            </a:r>
          </a:p>
          <a:p>
            <a:pPr latinLnBrk="1"/>
            <a:r>
              <a:rPr lang="en-US" sz="1400" dirty="0">
                <a:solidFill>
                  <a:srgbClr val="0000FF"/>
                </a:solidFill>
                <a:latin typeface="Lucida Console" panose="020B0609040504020204" pitchFamily="49" charset="0"/>
                <a:cs typeface="Lucida Sans Unicode" panose="020B0602030504020204" pitchFamily="34" charset="0"/>
              </a:rPr>
              <a:t>&gt; </a:t>
            </a:r>
            <a:r>
              <a:rPr lang="en-US" sz="1400" dirty="0" err="1">
                <a:solidFill>
                  <a:srgbClr val="0000FF"/>
                </a:solidFill>
                <a:latin typeface="Lucida Console" panose="020B0609040504020204" pitchFamily="49" charset="0"/>
                <a:cs typeface="Lucida Sans Unicode" panose="020B0602030504020204" pitchFamily="34" charset="0"/>
              </a:rPr>
              <a:t>MPGData</a:t>
            </a:r>
            <a:r>
              <a:rPr lang="en-US" sz="1400" dirty="0">
                <a:solidFill>
                  <a:srgbClr val="0000FF"/>
                </a:solidFill>
                <a:latin typeface="Lucida Console" panose="020B0609040504020204" pitchFamily="49" charset="0"/>
                <a:cs typeface="Lucida Sans Unicode" panose="020B0602030504020204" pitchFamily="34" charset="0"/>
              </a:rPr>
              <a:t> = </a:t>
            </a:r>
            <a:r>
              <a:rPr lang="en-US" sz="1400" dirty="0" err="1">
                <a:solidFill>
                  <a:srgbClr val="0000FF"/>
                </a:solidFill>
                <a:latin typeface="Lucida Console" panose="020B0609040504020204" pitchFamily="49" charset="0"/>
                <a:cs typeface="Lucida Sans Unicode" panose="020B0602030504020204" pitchFamily="34" charset="0"/>
              </a:rPr>
              <a:t>read.table</a:t>
            </a:r>
            <a:r>
              <a:rPr lang="en-US" sz="1400" dirty="0">
                <a:solidFill>
                  <a:srgbClr val="0000FF"/>
                </a:solidFill>
                <a:latin typeface="Lucida Console" panose="020B0609040504020204" pitchFamily="49" charset="0"/>
                <a:cs typeface="Lucida Sans Unicode" panose="020B0602030504020204" pitchFamily="34" charset="0"/>
              </a:rPr>
              <a:t>(pipe("</a:t>
            </a:r>
            <a:r>
              <a:rPr lang="en-US" sz="1400" dirty="0" err="1">
                <a:solidFill>
                  <a:srgbClr val="0000FF"/>
                </a:solidFill>
                <a:latin typeface="Lucida Console" panose="020B0609040504020204" pitchFamily="49" charset="0"/>
                <a:cs typeface="Lucida Sans Unicode" panose="020B0602030504020204" pitchFamily="34" charset="0"/>
              </a:rPr>
              <a:t>pbpaste</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 header=TRUE)</a:t>
            </a:r>
          </a:p>
          <a:p>
            <a:r>
              <a:rPr lang="en-US" sz="1200" dirty="0"/>
              <a:t> </a:t>
            </a:r>
          </a:p>
          <a:p>
            <a:r>
              <a:rPr lang="en-US" sz="2000" dirty="0">
                <a:latin typeface="Times New Roman" pitchFamily="18" charset="0"/>
              </a:rPr>
              <a:t>The argument </a:t>
            </a:r>
            <a:r>
              <a:rPr lang="en-US" sz="1400" dirty="0" err="1">
                <a:solidFill>
                  <a:srgbClr val="0000FF"/>
                </a:solidFill>
                <a:latin typeface="Lucida Console" panose="020B0609040504020204" pitchFamily="49" charset="0"/>
                <a:cs typeface="Lucida Sans Unicode" panose="020B0602030504020204" pitchFamily="34" charset="0"/>
              </a:rPr>
              <a:t>sep</a:t>
            </a:r>
            <a:r>
              <a:rPr lang="en-US" sz="1400" dirty="0">
                <a:solidFill>
                  <a:srgbClr val="0000FF"/>
                </a:solidFill>
                <a:latin typeface="Lucida Console" panose="020B0609040504020204" pitchFamily="49" charset="0"/>
                <a:cs typeface="Lucida Sans Unicode" panose="020B0602030504020204" pitchFamily="34" charset="0"/>
              </a:rPr>
              <a:t>="\t"</a:t>
            </a:r>
            <a:r>
              <a:rPr lang="en-US" sz="1400" dirty="0">
                <a:solidFill>
                  <a:srgbClr val="0000FF"/>
                </a:solidFill>
                <a:latin typeface="Lucida Sans Unicode" panose="020B0602030504020204" pitchFamily="34" charset="0"/>
                <a:cs typeface="Lucida Sans Unicode" panose="020B0602030504020204" pitchFamily="34" charset="0"/>
              </a:rPr>
              <a:t> </a:t>
            </a:r>
            <a:r>
              <a:rPr lang="en-US" sz="2000" dirty="0">
                <a:latin typeface="Times New Roman" pitchFamily="18" charset="0"/>
              </a:rPr>
              <a:t>tells R that the columns are tab-separated. The argument </a:t>
            </a:r>
            <a:r>
              <a:rPr lang="en-US" sz="1400" dirty="0">
                <a:solidFill>
                  <a:srgbClr val="0000FF"/>
                </a:solidFill>
                <a:latin typeface="Lucida Console" panose="020B0609040504020204" pitchFamily="49" charset="0"/>
                <a:cs typeface="Lucida Sans Unicode" panose="020B0602030504020204" pitchFamily="34" charset="0"/>
              </a:rPr>
              <a:t>header=TRUE </a:t>
            </a:r>
            <a:r>
              <a:rPr lang="en-US" sz="2000" dirty="0">
                <a:latin typeface="Times New Roman" pitchFamily="18" charset="0"/>
              </a:rPr>
              <a:t>tells R to expect text headings on each column. </a:t>
            </a:r>
          </a:p>
        </p:txBody>
      </p:sp>
      <p:sp>
        <p:nvSpPr>
          <p:cNvPr id="5" name="TextBox 4">
            <a:extLst>
              <a:ext uri="{FF2B5EF4-FFF2-40B4-BE49-F238E27FC236}">
                <a16:creationId xmlns:a16="http://schemas.microsoft.com/office/drawing/2014/main" id="{939BAF7F-6F86-4C0A-BF3D-A6478B51A439}"/>
              </a:ext>
            </a:extLst>
          </p:cNvPr>
          <p:cNvSpPr txBox="1"/>
          <p:nvPr/>
        </p:nvSpPr>
        <p:spPr>
          <a:xfrm>
            <a:off x="987128" y="5148891"/>
            <a:ext cx="2917934" cy="738664"/>
          </a:xfrm>
          <a:prstGeom prst="rect">
            <a:avLst/>
          </a:prstGeom>
          <a:noFill/>
        </p:spPr>
        <p:txBody>
          <a:bodyPr wrap="square" rtlCol="0">
            <a:spAutoFit/>
          </a:bodyPr>
          <a:lstStyle/>
          <a:p>
            <a:r>
              <a:rPr lang="en-US" sz="1400" i="1" dirty="0">
                <a:solidFill>
                  <a:srgbClr val="C00000"/>
                </a:solidFill>
              </a:rPr>
              <a:t>Tip1: </a:t>
            </a:r>
            <a:r>
              <a:rPr lang="en-US" sz="1400" dirty="0"/>
              <a:t>R doe not like column names that begin with a number or contain special symbols like % and $.</a:t>
            </a:r>
          </a:p>
        </p:txBody>
      </p:sp>
      <p:pic>
        <p:nvPicPr>
          <p:cNvPr id="8" name="Picture 7" descr="A close up of a clock&#10;&#10;Description automatically generated">
            <a:extLst>
              <a:ext uri="{FF2B5EF4-FFF2-40B4-BE49-F238E27FC236}">
                <a16:creationId xmlns:a16="http://schemas.microsoft.com/office/drawing/2014/main" id="{B641A329-946B-490A-BDA2-0DC49BCA07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52525" y="5094713"/>
            <a:ext cx="769948" cy="738664"/>
          </a:xfrm>
          <a:prstGeom prst="rect">
            <a:avLst/>
          </a:prstGeom>
        </p:spPr>
      </p:pic>
      <p:sp>
        <p:nvSpPr>
          <p:cNvPr id="11" name="TextBox 10">
            <a:extLst>
              <a:ext uri="{FF2B5EF4-FFF2-40B4-BE49-F238E27FC236}">
                <a16:creationId xmlns:a16="http://schemas.microsoft.com/office/drawing/2014/main" id="{F73EBAE2-CA34-4215-A4AF-1D447800B2AC}"/>
              </a:ext>
            </a:extLst>
          </p:cNvPr>
          <p:cNvSpPr txBox="1"/>
          <p:nvPr/>
        </p:nvSpPr>
        <p:spPr>
          <a:xfrm>
            <a:off x="5486400" y="5144225"/>
            <a:ext cx="2515914" cy="738664"/>
          </a:xfrm>
          <a:prstGeom prst="rect">
            <a:avLst/>
          </a:prstGeom>
          <a:noFill/>
        </p:spPr>
        <p:txBody>
          <a:bodyPr wrap="square" rtlCol="0">
            <a:spAutoFit/>
          </a:bodyPr>
          <a:lstStyle/>
          <a:p>
            <a:r>
              <a:rPr lang="en-US" sz="1400" i="1" dirty="0">
                <a:solidFill>
                  <a:srgbClr val="C00000"/>
                </a:solidFill>
              </a:rPr>
              <a:t>Tip2:</a:t>
            </a:r>
            <a:r>
              <a:rPr lang="en-US" sz="1400" dirty="0"/>
              <a:t> An advantage of the clipboard method is that you choose exactly what to import.</a:t>
            </a:r>
          </a:p>
        </p:txBody>
      </p:sp>
    </p:spTree>
    <p:extLst>
      <p:ext uri="{BB962C8B-B14F-4D97-AF65-F5344CB8AC3E}">
        <p14:creationId xmlns:p14="http://schemas.microsoft.com/office/powerpoint/2010/main" val="1445681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69053B3-A150-43A4-9C76-CAA868981F70}"/>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Excel Import</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2" name="TextBox 1">
            <a:extLst>
              <a:ext uri="{FF2B5EF4-FFF2-40B4-BE49-F238E27FC236}">
                <a16:creationId xmlns:a16="http://schemas.microsoft.com/office/drawing/2014/main" id="{DDDF4C57-1AA8-4EEC-A4DA-3604C8526EBA}"/>
              </a:ext>
            </a:extLst>
          </p:cNvPr>
          <p:cNvSpPr txBox="1"/>
          <p:nvPr/>
        </p:nvSpPr>
        <p:spPr>
          <a:xfrm>
            <a:off x="762000" y="1350818"/>
            <a:ext cx="7010400"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To import an entire Excel spreadsheet, choose </a:t>
            </a:r>
            <a:r>
              <a:rPr lang="en-US" sz="1400" dirty="0">
                <a:solidFill>
                  <a:srgbClr val="0000FF"/>
                </a:solidFill>
                <a:latin typeface="Lucida Console" panose="020B0609040504020204" pitchFamily="49" charset="0"/>
                <a:cs typeface="Lucida Sans Unicode" panose="020B0602030504020204" pitchFamily="34" charset="0"/>
              </a:rPr>
              <a:t>File &gt; Import Dataset &gt; From Excel </a:t>
            </a:r>
            <a:r>
              <a:rPr lang="en-US" sz="2000" dirty="0">
                <a:latin typeface="Times New Roman" panose="02020603050405020304" pitchFamily="18" charset="0"/>
                <a:cs typeface="Times New Roman" panose="02020603050405020304" pitchFamily="18" charset="0"/>
              </a:rPr>
              <a:t>in the upper left corner of the </a:t>
            </a:r>
            <a:r>
              <a:rPr lang="en-US" sz="1400" dirty="0">
                <a:solidFill>
                  <a:srgbClr val="0000FF"/>
                </a:solidFill>
                <a:latin typeface="Lucida Console" panose="020B0609040504020204" pitchFamily="49" charset="0"/>
                <a:cs typeface="Lucida Sans Unicode" panose="020B0602030504020204" pitchFamily="34" charset="0"/>
              </a:rPr>
              <a:t>Scripts</a:t>
            </a:r>
            <a:r>
              <a:rPr lang="en-US" sz="2000" dirty="0">
                <a:latin typeface="Times New Roman" panose="02020603050405020304" pitchFamily="18" charset="0"/>
                <a:cs typeface="Times New Roman" panose="02020603050405020304" pitchFamily="18" charset="0"/>
              </a:rPr>
              <a:t> pane: </a:t>
            </a:r>
          </a:p>
        </p:txBody>
      </p:sp>
      <p:pic>
        <p:nvPicPr>
          <p:cNvPr id="6" name="Picture 5" descr="A screenshot of a social media post&#10;&#10;Description automatically generated">
            <a:extLst>
              <a:ext uri="{FF2B5EF4-FFF2-40B4-BE49-F238E27FC236}">
                <a16:creationId xmlns:a16="http://schemas.microsoft.com/office/drawing/2014/main" id="{3619E3EC-F9B1-4DB8-8CB5-FBEE6D575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718" y="2209800"/>
            <a:ext cx="4011881" cy="3652483"/>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500BECFE-4993-42DF-9BF6-9C5EF4D18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946" y="4341397"/>
            <a:ext cx="3232586" cy="1017428"/>
          </a:xfrm>
          <a:prstGeom prst="rect">
            <a:avLst/>
          </a:prstGeom>
          <a:effectLst>
            <a:glow rad="63500">
              <a:schemeClr val="accent1">
                <a:satMod val="175000"/>
                <a:alpha val="40000"/>
              </a:schemeClr>
            </a:glow>
          </a:effectLst>
        </p:spPr>
      </p:pic>
      <p:sp>
        <p:nvSpPr>
          <p:cNvPr id="10" name="TextBox 9">
            <a:extLst>
              <a:ext uri="{FF2B5EF4-FFF2-40B4-BE49-F238E27FC236}">
                <a16:creationId xmlns:a16="http://schemas.microsoft.com/office/drawing/2014/main" id="{56F2E774-910F-4F32-8D7D-213D1D274384}"/>
              </a:ext>
            </a:extLst>
          </p:cNvPr>
          <p:cNvSpPr txBox="1"/>
          <p:nvPr/>
        </p:nvSpPr>
        <p:spPr>
          <a:xfrm>
            <a:off x="5607156" y="2886198"/>
            <a:ext cx="2290167" cy="738664"/>
          </a:xfrm>
          <a:prstGeom prst="rect">
            <a:avLst/>
          </a:prstGeom>
          <a:noFill/>
        </p:spPr>
        <p:txBody>
          <a:bodyPr wrap="square" rtlCol="0">
            <a:spAutoFit/>
          </a:bodyPr>
          <a:lstStyle/>
          <a:p>
            <a:r>
              <a:rPr lang="en-US" sz="1400" i="1" dirty="0">
                <a:solidFill>
                  <a:srgbClr val="CC0000"/>
                </a:solidFill>
              </a:rPr>
              <a:t>Note: </a:t>
            </a:r>
            <a:r>
              <a:rPr lang="en-US" sz="1400" dirty="0"/>
              <a:t>Depending on your R version, you may be asked to download an update:</a:t>
            </a:r>
          </a:p>
        </p:txBody>
      </p:sp>
      <p:sp>
        <p:nvSpPr>
          <p:cNvPr id="11" name="Arrow: Down 10">
            <a:extLst>
              <a:ext uri="{FF2B5EF4-FFF2-40B4-BE49-F238E27FC236}">
                <a16:creationId xmlns:a16="http://schemas.microsoft.com/office/drawing/2014/main" id="{9F1E98E5-9698-47C8-96CB-4EDCD35FD9F9}"/>
              </a:ext>
            </a:extLst>
          </p:cNvPr>
          <p:cNvSpPr/>
          <p:nvPr/>
        </p:nvSpPr>
        <p:spPr>
          <a:xfrm>
            <a:off x="6561739" y="3810000"/>
            <a:ext cx="381000" cy="331047"/>
          </a:xfrm>
          <a:prstGeom prst="downArrow">
            <a:avLst/>
          </a:prstGeom>
          <a:solidFill>
            <a:srgbClr val="CC0000"/>
          </a:solidFill>
          <a:ln w="9525" algn="ctr">
            <a:noFill/>
            <a:round/>
            <a:headEnd/>
            <a:tailEnd/>
          </a:ln>
        </p:spPr>
        <p:txBody>
          <a:bodyPr/>
          <a:lstStyle/>
          <a:p>
            <a:endParaRPr lang="en-US">
              <a:solidFill>
                <a:schemeClr val="tx1"/>
              </a:solidFill>
            </a:endParaRPr>
          </a:p>
        </p:txBody>
      </p:sp>
      <p:sp>
        <p:nvSpPr>
          <p:cNvPr id="14" name="Oval 13">
            <a:extLst>
              <a:ext uri="{FF2B5EF4-FFF2-40B4-BE49-F238E27FC236}">
                <a16:creationId xmlns:a16="http://schemas.microsoft.com/office/drawing/2014/main" id="{8AE1D676-9DEF-4547-9E49-261327D34FFD}"/>
              </a:ext>
            </a:extLst>
          </p:cNvPr>
          <p:cNvSpPr/>
          <p:nvPr/>
        </p:nvSpPr>
        <p:spPr>
          <a:xfrm>
            <a:off x="636317" y="2451736"/>
            <a:ext cx="533400" cy="328046"/>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4A05897-9BF2-41E1-A4F1-82C4FB6A4E28}"/>
              </a:ext>
            </a:extLst>
          </p:cNvPr>
          <p:cNvSpPr/>
          <p:nvPr/>
        </p:nvSpPr>
        <p:spPr>
          <a:xfrm>
            <a:off x="3276599" y="4772563"/>
            <a:ext cx="1523999" cy="328046"/>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754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55587D0-0699-4448-9B89-37D39725B078}"/>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12" name="TextBox 11">
            <a:extLst>
              <a:ext uri="{FF2B5EF4-FFF2-40B4-BE49-F238E27FC236}">
                <a16:creationId xmlns:a16="http://schemas.microsoft.com/office/drawing/2014/main" id="{FED0C1B3-80D1-4A7D-B8A0-18655679CCB8}"/>
              </a:ext>
            </a:extLst>
          </p:cNvPr>
          <p:cNvSpPr txBox="1"/>
          <p:nvPr/>
        </p:nvSpPr>
        <p:spPr>
          <a:xfrm>
            <a:off x="914400" y="4128702"/>
            <a:ext cx="7407166" cy="596889"/>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Excel Import</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2" name="TextBox 1">
            <a:extLst>
              <a:ext uri="{FF2B5EF4-FFF2-40B4-BE49-F238E27FC236}">
                <a16:creationId xmlns:a16="http://schemas.microsoft.com/office/drawing/2014/main" id="{DDDF4C57-1AA8-4EEC-A4DA-3604C8526EBA}"/>
              </a:ext>
            </a:extLst>
          </p:cNvPr>
          <p:cNvSpPr txBox="1"/>
          <p:nvPr/>
        </p:nvSpPr>
        <p:spPr>
          <a:xfrm>
            <a:off x="825062" y="1405565"/>
            <a:ext cx="7570076"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When prompted, click the Browse button to locate the Excel file and then click the </a:t>
            </a:r>
            <a:r>
              <a:rPr lang="en-US" sz="1400" dirty="0">
                <a:solidFill>
                  <a:srgbClr val="0000FF"/>
                </a:solidFill>
                <a:latin typeface="Lucida Console" panose="020B0609040504020204" pitchFamily="49" charset="0"/>
                <a:cs typeface="Lucida Sans Unicode" panose="020B0602030504020204" pitchFamily="34" charset="0"/>
              </a:rPr>
              <a:t>Import</a:t>
            </a:r>
            <a:r>
              <a:rPr lang="en-US" sz="2000" dirty="0">
                <a:latin typeface="Times New Roman" panose="02020603050405020304" pitchFamily="18" charset="0"/>
                <a:cs typeface="Times New Roman" panose="02020603050405020304" pitchFamily="18" charset="0"/>
              </a:rPr>
              <a:t> button. There are options. You can select the Excel data </a:t>
            </a:r>
            <a:r>
              <a:rPr lang="en-US" sz="1400" dirty="0">
                <a:solidFill>
                  <a:srgbClr val="0000FF"/>
                </a:solidFill>
                <a:latin typeface="Lucida Console" panose="020B0609040504020204" pitchFamily="49" charset="0"/>
                <a:cs typeface="Lucida Sans Unicode" panose="020B0602030504020204" pitchFamily="34" charset="0"/>
              </a:rPr>
              <a:t>Range</a:t>
            </a:r>
            <a:r>
              <a:rPr lang="en-US" sz="2000" dirty="0">
                <a:latin typeface="Times New Roman" panose="02020603050405020304" pitchFamily="18" charset="0"/>
                <a:cs typeface="Times New Roman" panose="02020603050405020304" pitchFamily="18" charset="0"/>
              </a:rPr>
              <a:t>. You can </a:t>
            </a:r>
            <a:r>
              <a:rPr lang="en-US" sz="1400" dirty="0">
                <a:solidFill>
                  <a:srgbClr val="0000FF"/>
                </a:solidFill>
                <a:latin typeface="Lucida Console" panose="020B0609040504020204" pitchFamily="49" charset="0"/>
                <a:cs typeface="Lucida Sans Unicode" panose="020B0602030504020204" pitchFamily="34" charset="0"/>
              </a:rPr>
              <a:t>Skip</a:t>
            </a:r>
            <a:r>
              <a:rPr lang="en-US" sz="2000" dirty="0">
                <a:latin typeface="Times New Roman" panose="02020603050405020304" pitchFamily="18" charset="0"/>
                <a:cs typeface="Times New Roman" panose="02020603050405020304" pitchFamily="18" charset="0"/>
              </a:rPr>
              <a:t> the first few lines in the Excel file (in case the data does not start on line 1). </a:t>
            </a:r>
          </a:p>
        </p:txBody>
      </p:sp>
      <p:pic>
        <p:nvPicPr>
          <p:cNvPr id="4" name="Picture 3">
            <a:extLst>
              <a:ext uri="{FF2B5EF4-FFF2-40B4-BE49-F238E27FC236}">
                <a16:creationId xmlns:a16="http://schemas.microsoft.com/office/drawing/2014/main" id="{80364A90-A91A-4316-83C7-2F8E2BA1D308}"/>
              </a:ext>
            </a:extLst>
          </p:cNvPr>
          <p:cNvPicPr>
            <a:picLocks noChangeAspect="1"/>
          </p:cNvPicPr>
          <p:nvPr/>
        </p:nvPicPr>
        <p:blipFill>
          <a:blip r:embed="rId2"/>
          <a:stretch>
            <a:fillRect/>
          </a:stretch>
        </p:blipFill>
        <p:spPr>
          <a:xfrm>
            <a:off x="1432034" y="3067770"/>
            <a:ext cx="6096000" cy="2470547"/>
          </a:xfrm>
          <a:prstGeom prst="rect">
            <a:avLst/>
          </a:prstGeom>
        </p:spPr>
      </p:pic>
      <p:sp>
        <p:nvSpPr>
          <p:cNvPr id="14" name="Oval 13">
            <a:extLst>
              <a:ext uri="{FF2B5EF4-FFF2-40B4-BE49-F238E27FC236}">
                <a16:creationId xmlns:a16="http://schemas.microsoft.com/office/drawing/2014/main" id="{8AE1D676-9DEF-4547-9E49-261327D34FFD}"/>
              </a:ext>
            </a:extLst>
          </p:cNvPr>
          <p:cNvSpPr/>
          <p:nvPr/>
        </p:nvSpPr>
        <p:spPr>
          <a:xfrm>
            <a:off x="6934200" y="3307411"/>
            <a:ext cx="533400" cy="328046"/>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F7FF871-8B76-49E0-89DF-FC3914912014}"/>
              </a:ext>
            </a:extLst>
          </p:cNvPr>
          <p:cNvSpPr txBox="1"/>
          <p:nvPr/>
        </p:nvSpPr>
        <p:spPr>
          <a:xfrm>
            <a:off x="3097924" y="5600556"/>
            <a:ext cx="3205655" cy="523220"/>
          </a:xfrm>
          <a:prstGeom prst="rect">
            <a:avLst/>
          </a:prstGeom>
          <a:solidFill>
            <a:schemeClr val="bg1"/>
          </a:solidFill>
        </p:spPr>
        <p:txBody>
          <a:bodyPr wrap="square" rtlCol="0">
            <a:spAutoFit/>
          </a:bodyPr>
          <a:lstStyle/>
          <a:p>
            <a:r>
              <a:rPr lang="en-US" sz="1400" i="1" dirty="0">
                <a:solidFill>
                  <a:srgbClr val="CC0000"/>
                </a:solidFill>
                <a:cs typeface="Times New Roman" panose="02020603050405020304" pitchFamily="18" charset="0"/>
              </a:rPr>
              <a:t>Tip: </a:t>
            </a:r>
            <a:r>
              <a:rPr lang="en-US" sz="1400" dirty="0">
                <a:cs typeface="Times New Roman" panose="02020603050405020304" pitchFamily="18" charset="0"/>
              </a:rPr>
              <a:t>Many spreadsheets have a descriptive title above the data array.</a:t>
            </a:r>
            <a:endParaRPr lang="en-US" sz="1400" dirty="0"/>
          </a:p>
        </p:txBody>
      </p:sp>
      <p:sp>
        <p:nvSpPr>
          <p:cNvPr id="9" name="Oval 8">
            <a:extLst>
              <a:ext uri="{FF2B5EF4-FFF2-40B4-BE49-F238E27FC236}">
                <a16:creationId xmlns:a16="http://schemas.microsoft.com/office/drawing/2014/main" id="{A28708DD-C7E9-4E7F-ABF5-823BAE30C3C5}"/>
              </a:ext>
            </a:extLst>
          </p:cNvPr>
          <p:cNvSpPr/>
          <p:nvPr/>
        </p:nvSpPr>
        <p:spPr>
          <a:xfrm>
            <a:off x="3352800" y="4737107"/>
            <a:ext cx="609600" cy="253992"/>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6602A37C-43E4-49A7-8629-83F5D1EC1BB4}"/>
              </a:ext>
            </a:extLst>
          </p:cNvPr>
          <p:cNvCxnSpPr>
            <a:cxnSpLocks/>
          </p:cNvCxnSpPr>
          <p:nvPr/>
        </p:nvCxnSpPr>
        <p:spPr>
          <a:xfrm flipH="1" flipV="1">
            <a:off x="3962400" y="5105400"/>
            <a:ext cx="381000" cy="432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0A20940D-31BA-4937-9031-C091A8518B60}"/>
              </a:ext>
            </a:extLst>
          </p:cNvPr>
          <p:cNvSpPr/>
          <p:nvPr/>
        </p:nvSpPr>
        <p:spPr>
          <a:xfrm>
            <a:off x="1905000" y="4864103"/>
            <a:ext cx="609600" cy="304800"/>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F2FDADE-9F68-418A-9C6B-A229A3FE4E5D}"/>
              </a:ext>
            </a:extLst>
          </p:cNvPr>
          <p:cNvSpPr/>
          <p:nvPr/>
        </p:nvSpPr>
        <p:spPr>
          <a:xfrm>
            <a:off x="6400800" y="5218836"/>
            <a:ext cx="533400" cy="328046"/>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666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C4622B5-699A-4BDA-BDD1-71E91CE6C643}"/>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16C27389-1E59-40F8-932C-50FA59A1A777}"/>
              </a:ext>
            </a:extLst>
          </p:cNvPr>
          <p:cNvSpPr txBox="1"/>
          <p:nvPr/>
        </p:nvSpPr>
        <p:spPr>
          <a:xfrm>
            <a:off x="762000" y="3875967"/>
            <a:ext cx="7848600" cy="761999"/>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Excel Import</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2" name="TextBox 1">
            <a:extLst>
              <a:ext uri="{FF2B5EF4-FFF2-40B4-BE49-F238E27FC236}">
                <a16:creationId xmlns:a16="http://schemas.microsoft.com/office/drawing/2014/main" id="{DDDF4C57-1AA8-4EEC-A4DA-3604C8526EBA}"/>
              </a:ext>
            </a:extLst>
          </p:cNvPr>
          <p:cNvSpPr txBox="1"/>
          <p:nvPr/>
        </p:nvSpPr>
        <p:spPr>
          <a:xfrm>
            <a:off x="762000" y="1209028"/>
            <a:ext cx="769620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Our file was called </a:t>
            </a:r>
            <a:r>
              <a:rPr lang="en-US" sz="1400" dirty="0">
                <a:solidFill>
                  <a:srgbClr val="0000FF"/>
                </a:solidFill>
                <a:latin typeface="Lucida Console" panose="020B0609040504020204" pitchFamily="49" charset="0"/>
                <a:cs typeface="Lucida Sans Unicode" panose="020B0602030504020204" pitchFamily="34" charset="0"/>
              </a:rPr>
              <a:t>VehicleData.xlsx</a:t>
            </a:r>
            <a:r>
              <a:rPr lang="en-US" sz="2000" dirty="0">
                <a:latin typeface="Times New Roman" panose="02020603050405020304" pitchFamily="18" charset="0"/>
                <a:cs typeface="Times New Roman" panose="02020603050405020304" pitchFamily="18" charset="0"/>
              </a:rPr>
              <a:t>. After importing the file, we see a tab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2000" dirty="0">
                <a:latin typeface="Times New Roman" panose="02020603050405020304" pitchFamily="18" charset="0"/>
                <a:cs typeface="Times New Roman" panose="02020603050405020304" pitchFamily="18" charset="0"/>
              </a:rPr>
              <a:t> in the </a:t>
            </a:r>
            <a:r>
              <a:rPr lang="en-US" sz="1400" dirty="0">
                <a:solidFill>
                  <a:srgbClr val="0000FF"/>
                </a:solidFill>
                <a:latin typeface="Lucida Console" panose="020B0609040504020204" pitchFamily="49" charset="0"/>
                <a:cs typeface="Lucida Sans Unicode" panose="020B0602030504020204" pitchFamily="34" charset="0"/>
              </a:rPr>
              <a:t>Scripts</a:t>
            </a:r>
            <a:r>
              <a:rPr lang="en-US" sz="2000" dirty="0">
                <a:latin typeface="Times New Roman" panose="02020603050405020304" pitchFamily="18" charset="0"/>
                <a:cs typeface="Times New Roman" panose="02020603050405020304" pitchFamily="18" charset="0"/>
              </a:rPr>
              <a:t> window and a view of the data. The new R data frame is named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2000" dirty="0">
                <a:latin typeface="Times New Roman" panose="02020603050405020304" pitchFamily="18" charset="0"/>
                <a:cs typeface="Times New Roman" panose="02020603050405020304" pitchFamily="18" charset="0"/>
              </a:rPr>
              <a:t> (or whatever your file was called).</a:t>
            </a:r>
          </a:p>
        </p:txBody>
      </p:sp>
      <p:sp>
        <p:nvSpPr>
          <p:cNvPr id="8" name="TextBox 7">
            <a:extLst>
              <a:ext uri="{FF2B5EF4-FFF2-40B4-BE49-F238E27FC236}">
                <a16:creationId xmlns:a16="http://schemas.microsoft.com/office/drawing/2014/main" id="{C8D24557-F57F-496A-9828-700C3C197557}"/>
              </a:ext>
            </a:extLst>
          </p:cNvPr>
          <p:cNvSpPr txBox="1"/>
          <p:nvPr/>
        </p:nvSpPr>
        <p:spPr>
          <a:xfrm>
            <a:off x="1434740" y="5880675"/>
            <a:ext cx="5969720" cy="276999"/>
          </a:xfrm>
          <a:prstGeom prst="rect">
            <a:avLst/>
          </a:prstGeom>
          <a:noFill/>
        </p:spPr>
        <p:txBody>
          <a:bodyPr wrap="square" rtlCol="0">
            <a:spAutoFit/>
          </a:bodyPr>
          <a:lstStyle/>
          <a:p>
            <a:r>
              <a:rPr lang="en-US" sz="1200" dirty="0">
                <a:hlinkClick r:id="rId2"/>
              </a:rPr>
              <a:t>https://support.rstudio.com/hc/en-us/articles/218611977-Importing-Data-with-RStudio</a:t>
            </a:r>
            <a:endParaRPr lang="en-US" sz="1200" dirty="0"/>
          </a:p>
        </p:txBody>
      </p:sp>
      <p:pic>
        <p:nvPicPr>
          <p:cNvPr id="13" name="Picture 12">
            <a:extLst>
              <a:ext uri="{FF2B5EF4-FFF2-40B4-BE49-F238E27FC236}">
                <a16:creationId xmlns:a16="http://schemas.microsoft.com/office/drawing/2014/main" id="{1ABD07DB-DAAF-493D-A121-A04CC8F8485E}"/>
              </a:ext>
            </a:extLst>
          </p:cNvPr>
          <p:cNvPicPr>
            <a:picLocks noChangeAspect="1"/>
          </p:cNvPicPr>
          <p:nvPr/>
        </p:nvPicPr>
        <p:blipFill>
          <a:blip r:embed="rId3"/>
          <a:stretch>
            <a:fillRect/>
          </a:stretch>
        </p:blipFill>
        <p:spPr>
          <a:xfrm>
            <a:off x="1558314" y="2253938"/>
            <a:ext cx="5223486" cy="3487748"/>
          </a:xfrm>
          <a:prstGeom prst="rect">
            <a:avLst/>
          </a:prstGeom>
        </p:spPr>
      </p:pic>
      <p:sp>
        <p:nvSpPr>
          <p:cNvPr id="14" name="Oval 13">
            <a:extLst>
              <a:ext uri="{FF2B5EF4-FFF2-40B4-BE49-F238E27FC236}">
                <a16:creationId xmlns:a16="http://schemas.microsoft.com/office/drawing/2014/main" id="{8AE1D676-9DEF-4547-9E49-261327D34FFD}"/>
              </a:ext>
            </a:extLst>
          </p:cNvPr>
          <p:cNvSpPr/>
          <p:nvPr/>
        </p:nvSpPr>
        <p:spPr>
          <a:xfrm>
            <a:off x="3505200" y="2591739"/>
            <a:ext cx="533400" cy="328046"/>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DC0A2AF-6ED3-45BC-9696-57C1A48C1F22}"/>
              </a:ext>
            </a:extLst>
          </p:cNvPr>
          <p:cNvSpPr txBox="1"/>
          <p:nvPr/>
        </p:nvSpPr>
        <p:spPr>
          <a:xfrm>
            <a:off x="7440049" y="3581400"/>
            <a:ext cx="1274301" cy="954107"/>
          </a:xfrm>
          <a:prstGeom prst="rect">
            <a:avLst/>
          </a:prstGeom>
          <a:noFill/>
        </p:spPr>
        <p:txBody>
          <a:bodyPr wrap="square" rtlCol="0">
            <a:spAutoFit/>
          </a:bodyPr>
          <a:lstStyle/>
          <a:p>
            <a:r>
              <a:rPr lang="en-US" sz="1400" dirty="0">
                <a:cs typeface="Times New Roman" panose="02020603050405020304" pitchFamily="18" charset="0"/>
              </a:rPr>
              <a:t>Now you can calculate statistics or make graphs.</a:t>
            </a:r>
            <a:endParaRPr lang="en-US" sz="1400" dirty="0"/>
          </a:p>
        </p:txBody>
      </p:sp>
      <p:sp>
        <p:nvSpPr>
          <p:cNvPr id="17" name="Arrow: Left 16">
            <a:extLst>
              <a:ext uri="{FF2B5EF4-FFF2-40B4-BE49-F238E27FC236}">
                <a16:creationId xmlns:a16="http://schemas.microsoft.com/office/drawing/2014/main" id="{718744B7-330B-4FCF-9971-6A1E44FBA92B}"/>
              </a:ext>
            </a:extLst>
          </p:cNvPr>
          <p:cNvSpPr/>
          <p:nvPr/>
        </p:nvSpPr>
        <p:spPr>
          <a:xfrm>
            <a:off x="7031499" y="3944453"/>
            <a:ext cx="304800" cy="379320"/>
          </a:xfrm>
          <a:prstGeom prst="leftArrow">
            <a:avLst/>
          </a:prstGeom>
          <a:solidFill>
            <a:srgbClr val="CC0000"/>
          </a:solidFill>
          <a:ln w="9525" algn="ctr">
            <a:noFill/>
            <a:round/>
            <a:headEnd/>
            <a:tailEnd/>
          </a:ln>
        </p:spPr>
        <p:txBody>
          <a:bodyPr/>
          <a:lstStyle/>
          <a:p>
            <a:endParaRPr lang="en-US">
              <a:solidFill>
                <a:schemeClr val="tx1"/>
              </a:solidFill>
            </a:endParaRPr>
          </a:p>
        </p:txBody>
      </p:sp>
    </p:spTree>
    <p:extLst>
      <p:ext uri="{BB962C8B-B14F-4D97-AF65-F5344CB8AC3E}">
        <p14:creationId xmlns:p14="http://schemas.microsoft.com/office/powerpoint/2010/main" val="96529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47AF6A3-5FA5-4D34-B159-079B9D1CC9A1}"/>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37744"/>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Analysis</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813955" y="1269031"/>
            <a:ext cx="7391400" cy="3631763"/>
          </a:xfrm>
          <a:prstGeom prst="rect">
            <a:avLst/>
          </a:prstGeom>
          <a:solidFill>
            <a:schemeClr val="bg1"/>
          </a:solidFill>
        </p:spPr>
        <p:txBody>
          <a:bodyPr wrap="square" rtlCol="0">
            <a:spAutoFit/>
          </a:bodyPr>
          <a:lstStyle/>
          <a:p>
            <a:r>
              <a:rPr lang="en-US" sz="2000" dirty="0">
                <a:latin typeface="Times New Roman" pitchFamily="18" charset="0"/>
              </a:rPr>
              <a:t>Once the data are imported to data frame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2000" dirty="0">
                <a:latin typeface="Times New Roman" pitchFamily="18" charset="0"/>
              </a:rPr>
              <a:t> we can view the data, calculate statistics, and so on. For example, to calculate average city miles per gallon (the variable </a:t>
            </a:r>
            <a:r>
              <a:rPr lang="en-US" sz="1400" dirty="0" err="1">
                <a:solidFill>
                  <a:srgbClr val="0000FF"/>
                </a:solidFill>
                <a:latin typeface="Lucida Console" panose="020B0609040504020204" pitchFamily="49" charset="0"/>
                <a:cs typeface="Lucida Sans Unicode" panose="020B0602030504020204" pitchFamily="34" charset="0"/>
              </a:rPr>
              <a:t>CityMPG</a:t>
            </a:r>
            <a:r>
              <a:rPr lang="en-US" sz="2000" dirty="0">
                <a:latin typeface="Times New Roman" pitchFamily="18" charset="0"/>
              </a:rPr>
              <a:t> in the data frame) we use the R function </a:t>
            </a:r>
            <a:r>
              <a:rPr lang="en-US" sz="1400" dirty="0">
                <a:solidFill>
                  <a:srgbClr val="0000FF"/>
                </a:solidFill>
                <a:latin typeface="Lucida Console" panose="020B0609040504020204" pitchFamily="49" charset="0"/>
                <a:cs typeface="Lucida Sans Unicode" panose="020B0602030504020204" pitchFamily="34" charset="0"/>
              </a:rPr>
              <a:t>mean() </a:t>
            </a:r>
            <a:r>
              <a:rPr lang="en-US" sz="2000" dirty="0">
                <a:latin typeface="Times New Roman" pitchFamily="18" charset="0"/>
              </a:rPr>
              <a:t>and name the variable in the data frame followed by </a:t>
            </a:r>
            <a:r>
              <a:rPr lang="en-US" sz="1400" dirty="0">
                <a:solidFill>
                  <a:srgbClr val="0000FF"/>
                </a:solidFill>
                <a:latin typeface="Lucida Console" panose="020B0609040504020204" pitchFamily="49" charset="0"/>
                <a:cs typeface="Lucida Sans Unicode" panose="020B0602030504020204" pitchFamily="34" charset="0"/>
              </a:rPr>
              <a:t>$</a:t>
            </a:r>
            <a:r>
              <a:rPr lang="en-US" sz="2000" dirty="0">
                <a:latin typeface="Times New Roman" pitchFamily="18" charset="0"/>
              </a:rPr>
              <a:t> (the dollar symbol) as follows:</a:t>
            </a:r>
          </a:p>
          <a:p>
            <a:endParaRPr lang="en-US" sz="1200" dirty="0">
              <a:latin typeface="Times New Roman"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mean(</a:t>
            </a:r>
            <a:r>
              <a:rPr lang="en-US" sz="1400" dirty="0" err="1">
                <a:solidFill>
                  <a:srgbClr val="0000FF"/>
                </a:solidFill>
                <a:latin typeface="Lucida Console" panose="020B0609040504020204" pitchFamily="49" charset="0"/>
                <a:cs typeface="Lucida Sans Unicode" panose="020B0602030504020204" pitchFamily="34" charset="0"/>
              </a:rPr>
              <a:t>VehicleData$CityMPG</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[1] 21.98</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Times New Roman" pitchFamily="18" charset="0"/>
              </a:rPr>
              <a:t>We can get additional statistics using the </a:t>
            </a:r>
            <a:r>
              <a:rPr lang="en-US" sz="1400" dirty="0">
                <a:solidFill>
                  <a:srgbClr val="0000FF"/>
                </a:solidFill>
                <a:latin typeface="Lucida Console" panose="020B0609040504020204" pitchFamily="49" charset="0"/>
                <a:cs typeface="Lucida Sans Unicode" panose="020B0602030504020204" pitchFamily="34" charset="0"/>
              </a:rPr>
              <a:t>summary() </a:t>
            </a:r>
            <a:r>
              <a:rPr lang="en-US" sz="2000" dirty="0">
                <a:latin typeface="Times New Roman" pitchFamily="18" charset="0"/>
              </a:rPr>
              <a:t>function.</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 &gt; summary(</a:t>
            </a:r>
            <a:r>
              <a:rPr lang="en-US" sz="1400" dirty="0" err="1">
                <a:solidFill>
                  <a:srgbClr val="0000FF"/>
                </a:solidFill>
                <a:latin typeface="Lucida Console" panose="020B0609040504020204" pitchFamily="49" charset="0"/>
                <a:cs typeface="Lucida Sans Unicode" panose="020B0602030504020204" pitchFamily="34" charset="0"/>
              </a:rPr>
              <a:t>VehicleData$CityMPG</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Min. 1st Qu.  Median    Mean 3rd Qu.    Max. </a:t>
            </a:r>
          </a:p>
          <a:p>
            <a:r>
              <a:rPr lang="en-US" sz="1400" dirty="0">
                <a:latin typeface="Lucida Console" panose="020B0609040504020204" pitchFamily="49" charset="0"/>
                <a:cs typeface="Lucida Sans Unicode" panose="020B0602030504020204" pitchFamily="34" charset="0"/>
              </a:rPr>
              <a:t>  13.00   18.00   22.00   21.98   26.00   31.00</a:t>
            </a:r>
            <a:endParaRPr lang="en-US" dirty="0"/>
          </a:p>
        </p:txBody>
      </p:sp>
      <p:sp>
        <p:nvSpPr>
          <p:cNvPr id="3" name="TextBox 2">
            <a:extLst>
              <a:ext uri="{FF2B5EF4-FFF2-40B4-BE49-F238E27FC236}">
                <a16:creationId xmlns:a16="http://schemas.microsoft.com/office/drawing/2014/main" id="{AA1482FC-05EF-4557-9E53-52509D3638D8}"/>
              </a:ext>
            </a:extLst>
          </p:cNvPr>
          <p:cNvSpPr txBox="1"/>
          <p:nvPr/>
        </p:nvSpPr>
        <p:spPr>
          <a:xfrm>
            <a:off x="6915508" y="2820177"/>
            <a:ext cx="1682970" cy="738664"/>
          </a:xfrm>
          <a:prstGeom prst="rect">
            <a:avLst/>
          </a:prstGeom>
          <a:solidFill>
            <a:schemeClr val="bg1"/>
          </a:solidFill>
        </p:spPr>
        <p:txBody>
          <a:bodyPr wrap="square" rtlCol="0">
            <a:spAutoFit/>
          </a:bodyPr>
          <a:lstStyle/>
          <a:p>
            <a:r>
              <a:rPr lang="en-US" sz="1400" i="1" dirty="0">
                <a:solidFill>
                  <a:srgbClr val="CC0000"/>
                </a:solidFill>
              </a:rPr>
              <a:t>Tip: </a:t>
            </a:r>
            <a:r>
              <a:rPr lang="en-US" sz="1400" dirty="0"/>
              <a:t>Don't forget the </a:t>
            </a:r>
            <a:r>
              <a:rPr lang="en-US" sz="1400" dirty="0">
                <a:solidFill>
                  <a:srgbClr val="0000FF"/>
                </a:solidFill>
                <a:latin typeface="Lucida Console" panose="020B0609040504020204" pitchFamily="49" charset="0"/>
                <a:cs typeface="Lucida Sans Unicode" panose="020B0602030504020204" pitchFamily="34" charset="0"/>
              </a:rPr>
              <a:t>$</a:t>
            </a:r>
            <a:r>
              <a:rPr lang="en-US" sz="1400" dirty="0"/>
              <a:t> symbol before the variable name.</a:t>
            </a:r>
          </a:p>
        </p:txBody>
      </p:sp>
      <p:sp>
        <p:nvSpPr>
          <p:cNvPr id="7" name="Arrow: Left 6">
            <a:extLst>
              <a:ext uri="{FF2B5EF4-FFF2-40B4-BE49-F238E27FC236}">
                <a16:creationId xmlns:a16="http://schemas.microsoft.com/office/drawing/2014/main" id="{CA7790CB-926F-406A-9FC7-F2AE925F37C3}"/>
              </a:ext>
            </a:extLst>
          </p:cNvPr>
          <p:cNvSpPr/>
          <p:nvPr/>
        </p:nvSpPr>
        <p:spPr>
          <a:xfrm>
            <a:off x="6473715" y="2999849"/>
            <a:ext cx="304800" cy="379320"/>
          </a:xfrm>
          <a:prstGeom prst="leftArrow">
            <a:avLst/>
          </a:prstGeom>
          <a:solidFill>
            <a:srgbClr val="CC0000"/>
          </a:solidFill>
          <a:ln w="9525" algn="ctr">
            <a:noFill/>
            <a:round/>
            <a:headEnd/>
            <a:tailEnd/>
          </a:ln>
        </p:spPr>
        <p:txBody>
          <a:bodyPr/>
          <a:lstStyle/>
          <a:p>
            <a:endParaRPr lang="en-US">
              <a:solidFill>
                <a:schemeClr val="tx1"/>
              </a:solidFill>
            </a:endParaRPr>
          </a:p>
        </p:txBody>
      </p:sp>
    </p:spTree>
    <p:extLst>
      <p:ext uri="{BB962C8B-B14F-4D97-AF65-F5344CB8AC3E}">
        <p14:creationId xmlns:p14="http://schemas.microsoft.com/office/powerpoint/2010/main" val="426279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0A04750-0B3F-44B5-ACC9-14EC482D868B}"/>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Analysis</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762000" y="1524000"/>
            <a:ext cx="7696200" cy="3539430"/>
          </a:xfrm>
          <a:prstGeom prst="rect">
            <a:avLst/>
          </a:prstGeom>
          <a:solidFill>
            <a:schemeClr val="bg1"/>
          </a:solidFill>
        </p:spPr>
        <p:txBody>
          <a:bodyPr wrap="square" rtlCol="0">
            <a:spAutoFit/>
          </a:bodyPr>
          <a:lstStyle/>
          <a:p>
            <a:r>
              <a:rPr lang="en-US" sz="2000" dirty="0">
                <a:latin typeface="Times New Roman" pitchFamily="18" charset="0"/>
              </a:rPr>
              <a:t>If our data frame columns have names (as they do here) we can get summary statistics for more than one variable using the </a:t>
            </a:r>
            <a:r>
              <a:rPr lang="en-US" sz="1400" dirty="0">
                <a:solidFill>
                  <a:srgbClr val="0000FF"/>
                </a:solidFill>
                <a:latin typeface="Lucida Console" panose="020B0609040504020204" pitchFamily="49" charset="0"/>
                <a:cs typeface="Lucida Sans Unicode" panose="020B0602030504020204" pitchFamily="34" charset="0"/>
              </a:rPr>
              <a:t>summary() </a:t>
            </a:r>
            <a:r>
              <a:rPr lang="en-US" sz="2000" dirty="0">
                <a:latin typeface="Times New Roman" pitchFamily="18" charset="0"/>
              </a:rPr>
              <a:t>function. For example:</a:t>
            </a:r>
          </a:p>
          <a:p>
            <a:endParaRPr lang="en-US" sz="2000" dirty="0">
              <a:latin typeface="Times New Roman" pitchFamily="18"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MPGData</a:t>
            </a:r>
            <a:r>
              <a:rPr lang="en-US" sz="1400" dirty="0">
                <a:solidFill>
                  <a:srgbClr val="0000FF"/>
                </a:solidFill>
                <a:latin typeface="Lucida Console" panose="020B0609040504020204" pitchFamily="49" charset="0"/>
                <a:cs typeface="Lucida Sans Unicode" panose="020B0602030504020204" pitchFamily="34" charset="0"/>
              </a:rPr>
              <a:t>[c("</a:t>
            </a:r>
            <a:r>
              <a:rPr lang="en-US" sz="1400" dirty="0" err="1">
                <a:solidFill>
                  <a:srgbClr val="0000FF"/>
                </a:solidFill>
                <a:latin typeface="Lucida Console" panose="020B0609040504020204" pitchFamily="49" charset="0"/>
                <a:cs typeface="Lucida Sans Unicode" panose="020B0602030504020204" pitchFamily="34" charset="0"/>
              </a:rPr>
              <a:t>Weight","Length</a:t>
            </a:r>
            <a:r>
              <a:rPr lang="en-US" sz="1400" dirty="0">
                <a:solidFill>
                  <a:srgbClr val="0000FF"/>
                </a:solidFill>
                <a:latin typeface="Lucida Console" panose="020B0609040504020204" pitchFamily="49" charset="0"/>
                <a:cs typeface="Lucida Sans Unicode" panose="020B0602030504020204" pitchFamily="34" charset="0"/>
              </a:rPr>
              <a:t>")])</a:t>
            </a:r>
          </a:p>
          <a:p>
            <a:r>
              <a:rPr lang="en-US" sz="1400" dirty="0">
                <a:latin typeface="Lucida Console" panose="020B0609040504020204" pitchFamily="49" charset="0"/>
                <a:cs typeface="Lucida Sans Unicode" panose="020B0602030504020204" pitchFamily="34" charset="0"/>
              </a:rPr>
              <a:t>     Weight         Length     </a:t>
            </a:r>
          </a:p>
          <a:p>
            <a:r>
              <a:rPr lang="en-US" sz="1400" dirty="0">
                <a:latin typeface="Lucida Console" panose="020B0609040504020204" pitchFamily="49" charset="0"/>
                <a:cs typeface="Lucida Sans Unicode" panose="020B0602030504020204" pitchFamily="34" charset="0"/>
              </a:rPr>
              <a:t> Min.   :2385   Min.   :151.1  </a:t>
            </a:r>
          </a:p>
          <a:p>
            <a:r>
              <a:rPr lang="en-US" sz="1400" dirty="0">
                <a:latin typeface="Lucida Console" panose="020B0609040504020204" pitchFamily="49" charset="0"/>
                <a:cs typeface="Lucida Sans Unicode" panose="020B0602030504020204" pitchFamily="34" charset="0"/>
              </a:rPr>
              <a:t> 1st Qu.:3356   1st Qu.:181.9  </a:t>
            </a:r>
          </a:p>
          <a:p>
            <a:r>
              <a:rPr lang="en-US" sz="1400" dirty="0">
                <a:latin typeface="Lucida Console" panose="020B0609040504020204" pitchFamily="49" charset="0"/>
                <a:cs typeface="Lucida Sans Unicode" panose="020B0602030504020204" pitchFamily="34" charset="0"/>
              </a:rPr>
              <a:t> Median :3662   Median :192.2  </a:t>
            </a:r>
          </a:p>
          <a:p>
            <a:r>
              <a:rPr lang="en-US" sz="1400" dirty="0">
                <a:latin typeface="Lucida Console" panose="020B0609040504020204" pitchFamily="49" charset="0"/>
                <a:cs typeface="Lucida Sans Unicode" panose="020B0602030504020204" pitchFamily="34" charset="0"/>
              </a:rPr>
              <a:t> Mean   :3954   Mean   :190.9  </a:t>
            </a:r>
          </a:p>
          <a:p>
            <a:r>
              <a:rPr lang="en-US" sz="1400" dirty="0">
                <a:latin typeface="Lucida Console" panose="020B0609040504020204" pitchFamily="49" charset="0"/>
                <a:cs typeface="Lucida Sans Unicode" panose="020B0602030504020204" pitchFamily="34" charset="0"/>
              </a:rPr>
              <a:t> 3rd Qu.:4661   3rd Qu.:198.7  </a:t>
            </a:r>
          </a:p>
          <a:p>
            <a:r>
              <a:rPr lang="en-US" sz="1400" dirty="0">
                <a:latin typeface="Lucida Console" panose="020B0609040504020204" pitchFamily="49" charset="0"/>
                <a:cs typeface="Lucida Sans Unicode" panose="020B0602030504020204" pitchFamily="34" charset="0"/>
              </a:rPr>
              <a:t> Max.   :5917   Max.   :231.9 </a:t>
            </a:r>
          </a:p>
          <a:p>
            <a:endParaRPr lang="en-US" sz="1400" dirty="0">
              <a:solidFill>
                <a:srgbClr val="0000FF"/>
              </a:solidFill>
              <a:latin typeface="Lucida Console" panose="020B0609040504020204" pitchFamily="49" charset="0"/>
              <a:cs typeface="Lucida Sans Unicode" panose="020B0602030504020204" pitchFamily="34" charset="0"/>
            </a:endParaRPr>
          </a:p>
          <a:p>
            <a:endParaRPr lang="en-US" dirty="0"/>
          </a:p>
        </p:txBody>
      </p:sp>
      <p:sp>
        <p:nvSpPr>
          <p:cNvPr id="6" name="TextBox 5">
            <a:extLst>
              <a:ext uri="{FF2B5EF4-FFF2-40B4-BE49-F238E27FC236}">
                <a16:creationId xmlns:a16="http://schemas.microsoft.com/office/drawing/2014/main" id="{4D8CD4DC-E1E7-4E19-9037-1C028CC835BF}"/>
              </a:ext>
            </a:extLst>
          </p:cNvPr>
          <p:cNvSpPr txBox="1"/>
          <p:nvPr/>
        </p:nvSpPr>
        <p:spPr>
          <a:xfrm>
            <a:off x="5960024" y="2556570"/>
            <a:ext cx="2067909" cy="954107"/>
          </a:xfrm>
          <a:prstGeom prst="rect">
            <a:avLst/>
          </a:prstGeom>
          <a:noFill/>
        </p:spPr>
        <p:txBody>
          <a:bodyPr wrap="square" rtlCol="0">
            <a:spAutoFit/>
          </a:bodyPr>
          <a:lstStyle/>
          <a:p>
            <a:r>
              <a:rPr lang="en-US" sz="1400" i="1" dirty="0">
                <a:solidFill>
                  <a:srgbClr val="CC0000"/>
                </a:solidFill>
              </a:rPr>
              <a:t>Tip: </a:t>
            </a:r>
            <a:r>
              <a:rPr lang="en-US" sz="1400" dirty="0"/>
              <a:t>Be careful of syntax, e.g., the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 and quotation marks around variable names.</a:t>
            </a:r>
          </a:p>
        </p:txBody>
      </p:sp>
      <p:sp>
        <p:nvSpPr>
          <p:cNvPr id="7" name="Arrow: Left 6">
            <a:extLst>
              <a:ext uri="{FF2B5EF4-FFF2-40B4-BE49-F238E27FC236}">
                <a16:creationId xmlns:a16="http://schemas.microsoft.com/office/drawing/2014/main" id="{126F0398-5FCE-4960-AD4A-D3D07001F4A1}"/>
              </a:ext>
            </a:extLst>
          </p:cNvPr>
          <p:cNvSpPr/>
          <p:nvPr/>
        </p:nvSpPr>
        <p:spPr>
          <a:xfrm>
            <a:off x="5377357" y="2689665"/>
            <a:ext cx="304800" cy="379320"/>
          </a:xfrm>
          <a:prstGeom prst="leftArrow">
            <a:avLst/>
          </a:prstGeom>
          <a:solidFill>
            <a:srgbClr val="CC0000"/>
          </a:solidFill>
          <a:ln w="9525" algn="ctr">
            <a:noFill/>
            <a:round/>
            <a:headEnd/>
            <a:tailEnd/>
          </a:ln>
        </p:spPr>
        <p:txBody>
          <a:bodyPr/>
          <a:lstStyle/>
          <a:p>
            <a:endParaRPr lang="en-US">
              <a:solidFill>
                <a:schemeClr val="tx1"/>
              </a:solidFill>
            </a:endParaRPr>
          </a:p>
        </p:txBody>
      </p:sp>
    </p:spTree>
    <p:extLst>
      <p:ext uri="{BB962C8B-B14F-4D97-AF65-F5344CB8AC3E}">
        <p14:creationId xmlns:p14="http://schemas.microsoft.com/office/powerpoint/2010/main" val="283234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9EFBD11-0C76-4380-BB3C-A6A06152B4CE}"/>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Analysis</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609600" y="1295400"/>
            <a:ext cx="7696200" cy="3447098"/>
          </a:xfrm>
          <a:prstGeom prst="rect">
            <a:avLst/>
          </a:prstGeom>
          <a:solidFill>
            <a:schemeClr val="bg1"/>
          </a:solidFill>
        </p:spPr>
        <p:txBody>
          <a:bodyPr wrap="square" rtlCol="0">
            <a:spAutoFit/>
          </a:bodyPr>
          <a:lstStyle/>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Times New Roman" pitchFamily="18" charset="0"/>
              </a:rPr>
              <a:t>You can also refer to columns in your data frame by number. You can use a colon : if your columns are contiguous (e.g., 6 through 8):</a:t>
            </a:r>
          </a:p>
          <a:p>
            <a:endParaRPr lang="en-US" sz="2000" dirty="0">
              <a:latin typeface="Times New Roman" pitchFamily="18" charset="0"/>
            </a:endParaRP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[c(6:8)])</a:t>
            </a:r>
          </a:p>
          <a:p>
            <a:r>
              <a:rPr lang="en-US" sz="1400" dirty="0">
                <a:latin typeface="Lucida Console" panose="020B0609040504020204" pitchFamily="49" charset="0"/>
                <a:cs typeface="Lucida Sans Unicode" panose="020B0602030504020204" pitchFamily="34" charset="0"/>
              </a:rPr>
              <a:t>       HP            Engine        </a:t>
            </a:r>
            <a:r>
              <a:rPr lang="en-US" sz="1400" dirty="0" err="1">
                <a:latin typeface="Lucida Console" panose="020B0609040504020204" pitchFamily="49" charset="0"/>
                <a:cs typeface="Lucida Sans Unicode" panose="020B0602030504020204" pitchFamily="34" charset="0"/>
              </a:rPr>
              <a:t>CityMPG</a:t>
            </a:r>
            <a:r>
              <a:rPr lang="en-US" sz="1400" dirty="0">
                <a:latin typeface="Lucida Console" panose="020B0609040504020204" pitchFamily="49" charset="0"/>
                <a:cs typeface="Lucida Sans Unicode" panose="020B0602030504020204" pitchFamily="34" charset="0"/>
              </a:rPr>
              <a:t>     </a:t>
            </a:r>
          </a:p>
          <a:p>
            <a:r>
              <a:rPr lang="en-US" sz="1400" dirty="0">
                <a:latin typeface="Lucida Console" panose="020B0609040504020204" pitchFamily="49" charset="0"/>
                <a:cs typeface="Lucida Sans Unicode" panose="020B0602030504020204" pitchFamily="34" charset="0"/>
              </a:rPr>
              <a:t> Min.   :106.0   Min.   :1400   Min.   :13.00  </a:t>
            </a:r>
          </a:p>
          <a:p>
            <a:r>
              <a:rPr lang="en-US" sz="1400" dirty="0">
                <a:latin typeface="Lucida Console" panose="020B0609040504020204" pitchFamily="49" charset="0"/>
                <a:cs typeface="Lucida Sans Unicode" panose="020B0602030504020204" pitchFamily="34" charset="0"/>
              </a:rPr>
              <a:t> 1st Qu.:182.5   1st Qu.:2000   1st Qu.:18.00  </a:t>
            </a:r>
          </a:p>
          <a:p>
            <a:r>
              <a:rPr lang="en-US" sz="1400" dirty="0">
                <a:latin typeface="Lucida Console" panose="020B0609040504020204" pitchFamily="49" charset="0"/>
                <a:cs typeface="Lucida Sans Unicode" panose="020B0602030504020204" pitchFamily="34" charset="0"/>
              </a:rPr>
              <a:t> Median :249.0   Median :2500   Median :22.00  </a:t>
            </a:r>
          </a:p>
          <a:p>
            <a:r>
              <a:rPr lang="en-US" sz="1400" dirty="0">
                <a:latin typeface="Lucida Console" panose="020B0609040504020204" pitchFamily="49" charset="0"/>
                <a:cs typeface="Lucida Sans Unicode" panose="020B0602030504020204" pitchFamily="34" charset="0"/>
              </a:rPr>
              <a:t> Mean   :262.3   Mean   :2898   Mean   :21.98  </a:t>
            </a:r>
          </a:p>
          <a:p>
            <a:r>
              <a:rPr lang="en-US" sz="1400" dirty="0">
                <a:latin typeface="Lucida Console" panose="020B0609040504020204" pitchFamily="49" charset="0"/>
                <a:cs typeface="Lucida Sans Unicode" panose="020B0602030504020204" pitchFamily="34" charset="0"/>
              </a:rPr>
              <a:t> 3rd Qu.:308.0   3rd Qu.:3500   3rd Qu.:26.00  </a:t>
            </a:r>
          </a:p>
          <a:p>
            <a:r>
              <a:rPr lang="en-US" sz="1400" dirty="0">
                <a:latin typeface="Lucida Console" panose="020B0609040504020204" pitchFamily="49" charset="0"/>
                <a:cs typeface="Lucida Sans Unicode" panose="020B0602030504020204" pitchFamily="34" charset="0"/>
              </a:rPr>
              <a:t> Max.   :602.0   Max.   :6200   Max.   :31.00 </a:t>
            </a:r>
          </a:p>
          <a:p>
            <a:endParaRPr lang="en-US" dirty="0"/>
          </a:p>
        </p:txBody>
      </p:sp>
      <p:sp>
        <p:nvSpPr>
          <p:cNvPr id="7" name="TextBox 6">
            <a:extLst>
              <a:ext uri="{FF2B5EF4-FFF2-40B4-BE49-F238E27FC236}">
                <a16:creationId xmlns:a16="http://schemas.microsoft.com/office/drawing/2014/main" id="{2AE4E0F8-C527-449D-892E-D8E8308B4B58}"/>
              </a:ext>
            </a:extLst>
          </p:cNvPr>
          <p:cNvSpPr txBox="1"/>
          <p:nvPr/>
        </p:nvSpPr>
        <p:spPr>
          <a:xfrm>
            <a:off x="6433646" y="2420177"/>
            <a:ext cx="2067909" cy="1384995"/>
          </a:xfrm>
          <a:prstGeom prst="rect">
            <a:avLst/>
          </a:prstGeom>
          <a:noFill/>
        </p:spPr>
        <p:txBody>
          <a:bodyPr wrap="square" rtlCol="0">
            <a:spAutoFit/>
          </a:bodyPr>
          <a:lstStyle/>
          <a:p>
            <a:r>
              <a:rPr lang="en-US" sz="1400" i="1" dirty="0">
                <a:solidFill>
                  <a:srgbClr val="CC0000"/>
                </a:solidFill>
              </a:rPr>
              <a:t>Tip: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c() </a:t>
            </a:r>
            <a:r>
              <a:rPr lang="en-US" sz="1400" dirty="0"/>
              <a:t>function allows you to select more than one variable.  Be careful of syntax, e.g., the $ symbol and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a:t>
            </a:r>
          </a:p>
        </p:txBody>
      </p:sp>
      <p:sp>
        <p:nvSpPr>
          <p:cNvPr id="8" name="Arrow: Left 7">
            <a:extLst>
              <a:ext uri="{FF2B5EF4-FFF2-40B4-BE49-F238E27FC236}">
                <a16:creationId xmlns:a16="http://schemas.microsoft.com/office/drawing/2014/main" id="{BF7B1965-02BD-4F88-8716-312B94722AAB}"/>
              </a:ext>
            </a:extLst>
          </p:cNvPr>
          <p:cNvSpPr/>
          <p:nvPr/>
        </p:nvSpPr>
        <p:spPr>
          <a:xfrm>
            <a:off x="5933091" y="2498182"/>
            <a:ext cx="304800" cy="379320"/>
          </a:xfrm>
          <a:prstGeom prst="leftArrow">
            <a:avLst/>
          </a:prstGeom>
          <a:solidFill>
            <a:srgbClr val="CC0000"/>
          </a:solidFill>
          <a:ln w="9525" algn="ctr">
            <a:noFill/>
            <a:round/>
            <a:headEnd/>
            <a:tailEnd/>
          </a:ln>
        </p:spPr>
        <p:txBody>
          <a:bodyPr/>
          <a:lstStyle/>
          <a:p>
            <a:endParaRPr lang="en-US">
              <a:solidFill>
                <a:schemeClr val="tx1"/>
              </a:solidFill>
            </a:endParaRPr>
          </a:p>
        </p:txBody>
      </p:sp>
      <p:pic>
        <p:nvPicPr>
          <p:cNvPr id="10" name="Picture 9" descr="A picture containing graffiti, drawing&#10;&#10;Description automatically generated">
            <a:extLst>
              <a:ext uri="{FF2B5EF4-FFF2-40B4-BE49-F238E27FC236}">
                <a16:creationId xmlns:a16="http://schemas.microsoft.com/office/drawing/2014/main" id="{F7EB8661-F065-4AA6-8645-857C57148E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6600" y="4134652"/>
            <a:ext cx="863780" cy="702441"/>
          </a:xfrm>
          <a:prstGeom prst="rect">
            <a:avLst/>
          </a:prstGeom>
        </p:spPr>
      </p:pic>
    </p:spTree>
    <p:extLst>
      <p:ext uri="{BB962C8B-B14F-4D97-AF65-F5344CB8AC3E}">
        <p14:creationId xmlns:p14="http://schemas.microsoft.com/office/powerpoint/2010/main" val="2324083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19B7DC7-C199-4297-8C40-27B15C8FFB7A}"/>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Descriptive Statistics</a:t>
            </a:r>
          </a:p>
        </p:txBody>
      </p:sp>
      <p:sp>
        <p:nvSpPr>
          <p:cNvPr id="6" name="TextBox 5">
            <a:extLst>
              <a:ext uri="{FF2B5EF4-FFF2-40B4-BE49-F238E27FC236}">
                <a16:creationId xmlns:a16="http://schemas.microsoft.com/office/drawing/2014/main" id="{B7713A1D-B122-4ACC-854F-FC484225DF5B}"/>
              </a:ext>
            </a:extLst>
          </p:cNvPr>
          <p:cNvSpPr txBox="1"/>
          <p:nvPr/>
        </p:nvSpPr>
        <p:spPr>
          <a:xfrm>
            <a:off x="609600" y="1295400"/>
            <a:ext cx="8153400" cy="2554545"/>
          </a:xfrm>
          <a:prstGeom prst="rect">
            <a:avLst/>
          </a:prstGeom>
          <a:noFill/>
        </p:spPr>
        <p:txBody>
          <a:bodyPr wrap="square" rtlCol="0">
            <a:spAutoFit/>
          </a:bodyPr>
          <a:lstStyle/>
          <a:p>
            <a:endParaRPr lang="en-US" sz="1400" dirty="0">
              <a:solidFill>
                <a:srgbClr val="0000FF"/>
              </a:solidFill>
              <a:latin typeface="Lucida Console" panose="020B0609040504020204" pitchFamily="49" charset="0"/>
              <a:cs typeface="Lucida Sans Unicode" panose="020B0602030504020204" pitchFamily="34" charset="0"/>
            </a:endParaRPr>
          </a:p>
          <a:p>
            <a:r>
              <a:rPr lang="en-US" sz="2000" dirty="0">
                <a:latin typeface="Times New Roman" pitchFamily="18" charset="0"/>
              </a:rPr>
              <a:t>If columns are not contiguous (e.g., 6, 8, 11) use commas as separators:</a:t>
            </a:r>
          </a:p>
          <a:p>
            <a:endParaRPr lang="en-US" sz="1400" dirty="0">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summary(</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solidFill>
                  <a:srgbClr val="0000FF"/>
                </a:solidFill>
                <a:latin typeface="Lucida Console" panose="020B0609040504020204" pitchFamily="49" charset="0"/>
                <a:cs typeface="Lucida Sans Unicode" panose="020B0602030504020204" pitchFamily="34" charset="0"/>
              </a:rPr>
              <a:t>[c(6,8,11)])</a:t>
            </a:r>
          </a:p>
          <a:p>
            <a:r>
              <a:rPr lang="en-US" sz="1400" dirty="0">
                <a:latin typeface="Lucida Console" panose="020B0609040504020204" pitchFamily="49" charset="0"/>
                <a:cs typeface="Lucida Sans Unicode" panose="020B0602030504020204" pitchFamily="34" charset="0"/>
              </a:rPr>
              <a:t>       HP           </a:t>
            </a:r>
            <a:r>
              <a:rPr lang="en-US" sz="1400" dirty="0" err="1">
                <a:latin typeface="Lucida Console" panose="020B0609040504020204" pitchFamily="49" charset="0"/>
                <a:cs typeface="Lucida Sans Unicode" panose="020B0602030504020204" pitchFamily="34" charset="0"/>
              </a:rPr>
              <a:t>CityMPG</a:t>
            </a:r>
            <a:r>
              <a:rPr lang="en-US" sz="1400" dirty="0">
                <a:latin typeface="Lucida Console" panose="020B0609040504020204" pitchFamily="49" charset="0"/>
                <a:cs typeface="Lucida Sans Unicode" panose="020B0602030504020204" pitchFamily="34" charset="0"/>
              </a:rPr>
              <a:t>          Length     </a:t>
            </a:r>
          </a:p>
          <a:p>
            <a:r>
              <a:rPr lang="en-US" sz="1400" dirty="0">
                <a:latin typeface="Lucida Console" panose="020B0609040504020204" pitchFamily="49" charset="0"/>
                <a:cs typeface="Lucida Sans Unicode" panose="020B0602030504020204" pitchFamily="34" charset="0"/>
              </a:rPr>
              <a:t> Min.   :106.0   Min.   :13.00   Min.   :151.1  </a:t>
            </a:r>
          </a:p>
          <a:p>
            <a:r>
              <a:rPr lang="en-US" sz="1400" dirty="0">
                <a:latin typeface="Lucida Console" panose="020B0609040504020204" pitchFamily="49" charset="0"/>
                <a:cs typeface="Lucida Sans Unicode" panose="020B0602030504020204" pitchFamily="34" charset="0"/>
              </a:rPr>
              <a:t> 1st Qu.:182.5   1st Qu.:18.00   1st Qu.:181.9  </a:t>
            </a:r>
          </a:p>
          <a:p>
            <a:r>
              <a:rPr lang="en-US" sz="1400" dirty="0">
                <a:latin typeface="Lucida Console" panose="020B0609040504020204" pitchFamily="49" charset="0"/>
                <a:cs typeface="Lucida Sans Unicode" panose="020B0602030504020204" pitchFamily="34" charset="0"/>
              </a:rPr>
              <a:t> Median :249.0   Median :22.00   Median :192.2  </a:t>
            </a:r>
          </a:p>
          <a:p>
            <a:r>
              <a:rPr lang="en-US" sz="1400" dirty="0">
                <a:latin typeface="Lucida Console" panose="020B0609040504020204" pitchFamily="49" charset="0"/>
                <a:cs typeface="Lucida Sans Unicode" panose="020B0602030504020204" pitchFamily="34" charset="0"/>
              </a:rPr>
              <a:t> Mean   :262.3   Mean   :21.98   Mean   :190.9  </a:t>
            </a:r>
          </a:p>
          <a:p>
            <a:r>
              <a:rPr lang="en-US" sz="1400" dirty="0">
                <a:latin typeface="Lucida Console" panose="020B0609040504020204" pitchFamily="49" charset="0"/>
                <a:cs typeface="Lucida Sans Unicode" panose="020B0602030504020204" pitchFamily="34" charset="0"/>
              </a:rPr>
              <a:t> 3rd Qu.:308.0   3rd Qu.:26.00   3rd Qu.:198.7  </a:t>
            </a:r>
          </a:p>
          <a:p>
            <a:r>
              <a:rPr lang="en-US" sz="1400" dirty="0">
                <a:latin typeface="Lucida Console" panose="020B0609040504020204" pitchFamily="49" charset="0"/>
                <a:cs typeface="Lucida Sans Unicode" panose="020B0602030504020204" pitchFamily="34" charset="0"/>
              </a:rPr>
              <a:t> Max.   :602.0   Max.   :31.00   Max.   :231.9</a:t>
            </a:r>
            <a:endParaRPr lang="en-US" dirty="0"/>
          </a:p>
        </p:txBody>
      </p:sp>
      <p:sp>
        <p:nvSpPr>
          <p:cNvPr id="7" name="TextBox 6">
            <a:extLst>
              <a:ext uri="{FF2B5EF4-FFF2-40B4-BE49-F238E27FC236}">
                <a16:creationId xmlns:a16="http://schemas.microsoft.com/office/drawing/2014/main" id="{BDFE0C33-9BE2-45A0-87B9-AA65E1BDF222}"/>
              </a:ext>
            </a:extLst>
          </p:cNvPr>
          <p:cNvSpPr txBox="1"/>
          <p:nvPr/>
        </p:nvSpPr>
        <p:spPr>
          <a:xfrm>
            <a:off x="6376555" y="2156744"/>
            <a:ext cx="2362200" cy="1169551"/>
          </a:xfrm>
          <a:prstGeom prst="rect">
            <a:avLst/>
          </a:prstGeom>
          <a:noFill/>
        </p:spPr>
        <p:txBody>
          <a:bodyPr wrap="square" rtlCol="0">
            <a:spAutoFit/>
          </a:bodyPr>
          <a:lstStyle/>
          <a:p>
            <a:r>
              <a:rPr lang="en-US" sz="1400" i="1" dirty="0">
                <a:solidFill>
                  <a:srgbClr val="CC0000"/>
                </a:solidFill>
              </a:rPr>
              <a:t>Tip: </a:t>
            </a:r>
            <a:r>
              <a:rPr lang="en-US" sz="1400" dirty="0"/>
              <a:t>The </a:t>
            </a:r>
            <a:r>
              <a:rPr lang="en-US" sz="1400" dirty="0">
                <a:solidFill>
                  <a:srgbClr val="0000FF"/>
                </a:solidFill>
                <a:latin typeface="Lucida Console" panose="020B0609040504020204" pitchFamily="49" charset="0"/>
                <a:cs typeface="Lucida Sans Unicode" panose="020B0602030504020204" pitchFamily="34" charset="0"/>
              </a:rPr>
              <a:t>c() </a:t>
            </a:r>
            <a:r>
              <a:rPr lang="en-US" sz="1400" dirty="0"/>
              <a:t>function allows you to select more than one variable.  Be careful of syntax, e.g., the $ symbol and square brackets </a:t>
            </a:r>
            <a:r>
              <a:rPr lang="en-US" sz="1400" dirty="0">
                <a:solidFill>
                  <a:srgbClr val="0000FF"/>
                </a:solidFill>
                <a:latin typeface="Lucida Console" panose="020B0609040504020204" pitchFamily="49" charset="0"/>
                <a:cs typeface="Lucida Sans Unicode" panose="020B0602030504020204" pitchFamily="34" charset="0"/>
              </a:rPr>
              <a:t>[ ]</a:t>
            </a:r>
            <a:r>
              <a:rPr lang="en-US" sz="1400" dirty="0"/>
              <a:t>.</a:t>
            </a:r>
          </a:p>
        </p:txBody>
      </p:sp>
      <p:sp>
        <p:nvSpPr>
          <p:cNvPr id="8" name="Arrow: Left 7">
            <a:extLst>
              <a:ext uri="{FF2B5EF4-FFF2-40B4-BE49-F238E27FC236}">
                <a16:creationId xmlns:a16="http://schemas.microsoft.com/office/drawing/2014/main" id="{3C720CB9-CF1E-4826-AC0B-DB5E2C36E70E}"/>
              </a:ext>
            </a:extLst>
          </p:cNvPr>
          <p:cNvSpPr/>
          <p:nvPr/>
        </p:nvSpPr>
        <p:spPr>
          <a:xfrm>
            <a:off x="5933091" y="2362200"/>
            <a:ext cx="304800" cy="379320"/>
          </a:xfrm>
          <a:prstGeom prst="leftArrow">
            <a:avLst/>
          </a:prstGeom>
          <a:solidFill>
            <a:srgbClr val="CC0000"/>
          </a:solidFill>
          <a:ln w="9525" algn="ctr">
            <a:noFill/>
            <a:round/>
            <a:headEnd/>
            <a:tailEnd/>
          </a:ln>
        </p:spPr>
        <p:txBody>
          <a:bodyPr/>
          <a:lstStyle/>
          <a:p>
            <a:endParaRPr lang="en-US"/>
          </a:p>
        </p:txBody>
      </p:sp>
      <p:sp>
        <p:nvSpPr>
          <p:cNvPr id="9" name="TextBox 8">
            <a:extLst>
              <a:ext uri="{FF2B5EF4-FFF2-40B4-BE49-F238E27FC236}">
                <a16:creationId xmlns:a16="http://schemas.microsoft.com/office/drawing/2014/main" id="{022F48F9-8FB2-4DDA-AA60-7DBF880E9980}"/>
              </a:ext>
            </a:extLst>
          </p:cNvPr>
          <p:cNvSpPr txBox="1"/>
          <p:nvPr/>
        </p:nvSpPr>
        <p:spPr>
          <a:xfrm>
            <a:off x="2667000" y="4823936"/>
            <a:ext cx="5181600" cy="738664"/>
          </a:xfrm>
          <a:prstGeom prst="rect">
            <a:avLst/>
          </a:prstGeom>
          <a:noFill/>
        </p:spPr>
        <p:txBody>
          <a:bodyPr wrap="square" rtlCol="0">
            <a:spAutoFit/>
          </a:bodyPr>
          <a:lstStyle/>
          <a:p>
            <a:r>
              <a:rPr lang="en-US" sz="1400" i="1" dirty="0">
                <a:solidFill>
                  <a:srgbClr val="CC0000"/>
                </a:solidFill>
              </a:rPr>
              <a:t>Tip: </a:t>
            </a:r>
            <a:r>
              <a:rPr lang="en-US" sz="1400" dirty="0"/>
              <a:t>If you are having trouble keeping track of your variables, the </a:t>
            </a:r>
            <a:r>
              <a:rPr lang="en-US" sz="1400" dirty="0">
                <a:solidFill>
                  <a:srgbClr val="0000FF"/>
                </a:solidFill>
                <a:latin typeface="Lucida Console" panose="020B0609040504020204" pitchFamily="49" charset="0"/>
                <a:cs typeface="Lucida Sans Unicode" panose="020B0602030504020204" pitchFamily="34" charset="0"/>
              </a:rPr>
              <a:t>Console</a:t>
            </a:r>
            <a:r>
              <a:rPr lang="en-US" sz="1400" dirty="0"/>
              <a:t> pane in the upper left of R</a:t>
            </a:r>
            <a:r>
              <a:rPr lang="en-US" sz="1400" dirty="0">
                <a:solidFill>
                  <a:srgbClr val="0000FF"/>
                </a:solidFill>
                <a:latin typeface="Lucida Console" panose="020B0609040504020204" pitchFamily="49" charset="0"/>
                <a:cs typeface="Lucida Sans Unicode" panose="020B0602030504020204" pitchFamily="34" charset="0"/>
              </a:rPr>
              <a:t>S</a:t>
            </a:r>
            <a:r>
              <a:rPr lang="en-US" sz="1400" dirty="0"/>
              <a:t>tudio has tabs for each data frame. Click on </a:t>
            </a:r>
            <a:r>
              <a:rPr lang="en-US" sz="1400" dirty="0" err="1">
                <a:solidFill>
                  <a:srgbClr val="0000FF"/>
                </a:solidFill>
                <a:latin typeface="Lucida Console" panose="020B0609040504020204" pitchFamily="49" charset="0"/>
                <a:cs typeface="Lucida Sans Unicode" panose="020B0602030504020204" pitchFamily="34" charset="0"/>
              </a:rPr>
              <a:t>VehicleData</a:t>
            </a:r>
            <a:r>
              <a:rPr lang="en-US" sz="1400" dirty="0"/>
              <a:t> and you will see a list of the data.</a:t>
            </a:r>
          </a:p>
        </p:txBody>
      </p:sp>
      <p:pic>
        <p:nvPicPr>
          <p:cNvPr id="10" name="Picture 9" descr="A close up of a clock&#10;&#10;Description automatically generated">
            <a:extLst>
              <a:ext uri="{FF2B5EF4-FFF2-40B4-BE49-F238E27FC236}">
                <a16:creationId xmlns:a16="http://schemas.microsoft.com/office/drawing/2014/main" id="{698BB448-3E64-4077-AE39-0C5A21551F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6345" y="4757737"/>
            <a:ext cx="838951" cy="804863"/>
          </a:xfrm>
          <a:prstGeom prst="rect">
            <a:avLst/>
          </a:prstGeom>
        </p:spPr>
      </p:pic>
    </p:spTree>
    <p:extLst>
      <p:ext uri="{BB962C8B-B14F-4D97-AF65-F5344CB8AC3E}">
        <p14:creationId xmlns:p14="http://schemas.microsoft.com/office/powerpoint/2010/main" val="2960565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90CADD9-9570-4D1E-B69C-3A6AB35CE74C}"/>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Saving Your Work</a:t>
            </a:r>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4" name="TextBox 3">
            <a:extLst>
              <a:ext uri="{FF2B5EF4-FFF2-40B4-BE49-F238E27FC236}">
                <a16:creationId xmlns:a16="http://schemas.microsoft.com/office/drawing/2014/main" id="{513A7683-823C-4B64-B7C7-3F9B140ED783}"/>
              </a:ext>
            </a:extLst>
          </p:cNvPr>
          <p:cNvSpPr txBox="1"/>
          <p:nvPr/>
        </p:nvSpPr>
        <p:spPr>
          <a:xfrm>
            <a:off x="513692" y="1274196"/>
            <a:ext cx="7543800" cy="2246769"/>
          </a:xfrm>
          <a:prstGeom prst="rect">
            <a:avLst/>
          </a:prstGeom>
          <a:solidFill>
            <a:schemeClr val="bg1"/>
          </a:solidFill>
        </p:spPr>
        <p:txBody>
          <a:bodyPr wrap="square" rtlCol="0">
            <a:spAutoFit/>
          </a:bodyPr>
          <a:lstStyle/>
          <a:p>
            <a:r>
              <a:rPr lang="en-US" sz="2000" dirty="0">
                <a:latin typeface="Times New Roman" pitchFamily="18" charset="0"/>
              </a:rPr>
              <a:t>To save a script that you have developed, click </a:t>
            </a:r>
            <a:r>
              <a:rPr lang="en-US" sz="1400" dirty="0">
                <a:solidFill>
                  <a:srgbClr val="0000FF"/>
                </a:solidFill>
                <a:latin typeface="Lucida Console" panose="020B0609040504020204" pitchFamily="49" charset="0"/>
                <a:cs typeface="Lucida Sans Unicode" panose="020B0602030504020204" pitchFamily="34" charset="0"/>
              </a:rPr>
              <a:t>File &gt; Save As </a:t>
            </a:r>
            <a:r>
              <a:rPr lang="en-US" sz="2000" dirty="0">
                <a:latin typeface="Times New Roman" pitchFamily="18" charset="0"/>
              </a:rPr>
              <a:t>in the </a:t>
            </a:r>
            <a:r>
              <a:rPr lang="en-US" sz="1400" dirty="0">
                <a:solidFill>
                  <a:srgbClr val="0000FF"/>
                </a:solidFill>
                <a:latin typeface="Lucida Console" panose="020B0609040504020204" pitchFamily="49" charset="0"/>
                <a:cs typeface="Lucida Sans Unicode" panose="020B0602030504020204" pitchFamily="34" charset="0"/>
              </a:rPr>
              <a:t>Script</a:t>
            </a:r>
            <a:r>
              <a:rPr lang="en-US" sz="2000" dirty="0">
                <a:latin typeface="Times New Roman" pitchFamily="18" charset="0"/>
              </a:rPr>
              <a:t> pane to name a folder for your own files (e.g., </a:t>
            </a:r>
            <a:r>
              <a:rPr lang="en-US" sz="1400" dirty="0" err="1">
                <a:solidFill>
                  <a:srgbClr val="0000FF"/>
                </a:solidFill>
                <a:latin typeface="Lucida Console" panose="020B0609040504020204" pitchFamily="49" charset="0"/>
                <a:cs typeface="Lucida Sans Unicode" panose="020B0602030504020204" pitchFamily="34" charset="0"/>
              </a:rPr>
              <a:t>MyRScripts</a:t>
            </a:r>
            <a:r>
              <a:rPr lang="en-US" sz="2000" dirty="0">
                <a:latin typeface="Times New Roman" pitchFamily="18" charset="0"/>
              </a:rPr>
              <a:t>). Instructors may suggest downloading specific CRAN packages to make R tasks a bit easier. To see what packages you already have, click the </a:t>
            </a:r>
            <a:r>
              <a:rPr lang="en-US" sz="1400" dirty="0">
                <a:solidFill>
                  <a:srgbClr val="0000FF"/>
                </a:solidFill>
                <a:latin typeface="Lucida Console" panose="020B0609040504020204" pitchFamily="49" charset="0"/>
                <a:cs typeface="Lucida Sans Unicode" panose="020B0602030504020204" pitchFamily="34" charset="0"/>
              </a:rPr>
              <a:t>Packages</a:t>
            </a:r>
            <a:r>
              <a:rPr lang="en-US" sz="2000" dirty="0">
                <a:latin typeface="Times New Roman" pitchFamily="18" charset="0"/>
              </a:rPr>
              <a:t> tab in lower right pane, or search the CRAN website. Specific R topics are illustrated in chapters in this textbook. See </a:t>
            </a:r>
            <a:r>
              <a:rPr lang="en-US" sz="2000" b="1" dirty="0">
                <a:solidFill>
                  <a:srgbClr val="CC0000"/>
                </a:solidFill>
                <a:latin typeface="Times New Roman" pitchFamily="18" charset="0"/>
              </a:rPr>
              <a:t>Appendix J</a:t>
            </a:r>
            <a:endParaRPr lang="en-US" sz="2000" b="1" dirty="0">
              <a:latin typeface="Times New Roman" pitchFamily="18" charset="0"/>
            </a:endParaRPr>
          </a:p>
          <a:p>
            <a:r>
              <a:rPr lang="en-US" sz="2000" dirty="0">
                <a:latin typeface="Times New Roman" pitchFamily="18" charset="0"/>
              </a:rPr>
              <a:t>for a side-by-side comparison or Excel and R functions.</a:t>
            </a:r>
          </a:p>
        </p:txBody>
      </p:sp>
      <p:sp>
        <p:nvSpPr>
          <p:cNvPr id="9" name="TextBox 8">
            <a:extLst>
              <a:ext uri="{FF2B5EF4-FFF2-40B4-BE49-F238E27FC236}">
                <a16:creationId xmlns:a16="http://schemas.microsoft.com/office/drawing/2014/main" id="{39F9DA73-DB8A-4CA5-AA33-6E4BB5CB553B}"/>
              </a:ext>
            </a:extLst>
          </p:cNvPr>
          <p:cNvSpPr txBox="1"/>
          <p:nvPr/>
        </p:nvSpPr>
        <p:spPr>
          <a:xfrm>
            <a:off x="637681" y="4038600"/>
            <a:ext cx="7134719" cy="1169551"/>
          </a:xfrm>
          <a:prstGeom prst="rect">
            <a:avLst/>
          </a:prstGeom>
          <a:solidFill>
            <a:schemeClr val="bg1"/>
          </a:solidFill>
        </p:spPr>
        <p:txBody>
          <a:bodyPr wrap="square" rtlCol="0">
            <a:spAutoFit/>
          </a:bodyPr>
          <a:lstStyle/>
          <a:p>
            <a:r>
              <a:rPr lang="en-US" sz="1400" dirty="0">
                <a:solidFill>
                  <a:srgbClr val="0000FF"/>
                </a:solidFill>
                <a:latin typeface="Lucida Console" panose="020B0609040504020204" pitchFamily="49" charset="0"/>
                <a:cs typeface="Lucida Sans Unicode" panose="020B0602030504020204" pitchFamily="34" charset="0"/>
              </a:rPr>
              <a:t>&gt; rm()        # to remove a variable in R</a:t>
            </a:r>
          </a:p>
          <a:p>
            <a:r>
              <a:rPr lang="en-US" sz="1400" dirty="0">
                <a:solidFill>
                  <a:srgbClr val="0000FF"/>
                </a:solidFill>
                <a:latin typeface="Lucida Console" panose="020B0609040504020204" pitchFamily="49" charset="0"/>
                <a:cs typeface="Lucida Sans Unicode" panose="020B0602030504020204" pitchFamily="34" charset="0"/>
              </a:rPr>
              <a:t>&gt; ls()        # to see all the variables you have created</a:t>
            </a:r>
          </a:p>
          <a:p>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Ctrl-L      # to clear the Console (in Windows)</a:t>
            </a:r>
          </a:p>
          <a:p>
            <a:r>
              <a:rPr lang="en-US" sz="1400" dirty="0">
                <a:solidFill>
                  <a:srgbClr val="0000FF"/>
                </a:solidFill>
                <a:latin typeface="Lucida Console" panose="020B0609040504020204" pitchFamily="49" charset="0"/>
                <a:cs typeface="Lucida Sans Unicode" panose="020B0602030504020204" pitchFamily="34" charset="0"/>
              </a:rPr>
              <a:t>&gt; Option-L    # to clear the Console (in </a:t>
            </a:r>
            <a:r>
              <a:rPr lang="en-US" sz="1400" dirty="0" err="1">
                <a:solidFill>
                  <a:srgbClr val="0000FF"/>
                </a:solidFill>
                <a:latin typeface="Lucida Console" panose="020B0609040504020204" pitchFamily="49" charset="0"/>
                <a:cs typeface="Lucida Sans Unicode" panose="020B0602030504020204" pitchFamily="34" charset="0"/>
              </a:rPr>
              <a:t>MaxOS</a:t>
            </a:r>
            <a:r>
              <a:rPr lang="en-US" sz="1400" dirty="0">
                <a:solidFill>
                  <a:srgbClr val="0000FF"/>
                </a:solidFill>
                <a:latin typeface="Lucida Console" panose="020B0609040504020204" pitchFamily="49" charset="0"/>
                <a:cs typeface="Lucida Sans Unicode" panose="020B0602030504020204" pitchFamily="34" charset="0"/>
              </a:rPr>
              <a:t>)</a:t>
            </a:r>
            <a:endParaRPr lang="en-US" dirty="0"/>
          </a:p>
        </p:txBody>
      </p:sp>
      <p:sp>
        <p:nvSpPr>
          <p:cNvPr id="3" name="TextBox 2">
            <a:extLst>
              <a:ext uri="{FF2B5EF4-FFF2-40B4-BE49-F238E27FC236}">
                <a16:creationId xmlns:a16="http://schemas.microsoft.com/office/drawing/2014/main" id="{27FD85C5-BA5C-4FE2-9A18-5E40BE7E099E}"/>
              </a:ext>
            </a:extLst>
          </p:cNvPr>
          <p:cNvSpPr txBox="1"/>
          <p:nvPr/>
        </p:nvSpPr>
        <p:spPr>
          <a:xfrm>
            <a:off x="7654771" y="4338532"/>
            <a:ext cx="1104900" cy="954107"/>
          </a:xfrm>
          <a:prstGeom prst="rect">
            <a:avLst/>
          </a:prstGeom>
          <a:solidFill>
            <a:schemeClr val="bg1"/>
          </a:solidFill>
        </p:spPr>
        <p:txBody>
          <a:bodyPr wrap="square" rtlCol="0">
            <a:spAutoFit/>
          </a:bodyPr>
          <a:lstStyle/>
          <a:p>
            <a:r>
              <a:rPr lang="en-US" sz="1400" i="1" dirty="0">
                <a:solidFill>
                  <a:srgbClr val="CC0000"/>
                </a:solidFill>
              </a:rPr>
              <a:t>Bonus: </a:t>
            </a:r>
            <a:r>
              <a:rPr lang="en-US" sz="1400" dirty="0"/>
              <a:t>A few useful R functions or commands:</a:t>
            </a:r>
          </a:p>
        </p:txBody>
      </p:sp>
      <p:sp>
        <p:nvSpPr>
          <p:cNvPr id="8" name="Arrow: Left 7">
            <a:extLst>
              <a:ext uri="{FF2B5EF4-FFF2-40B4-BE49-F238E27FC236}">
                <a16:creationId xmlns:a16="http://schemas.microsoft.com/office/drawing/2014/main" id="{FF5477AC-AF08-44F6-AE04-2363E1F6B2CE}"/>
              </a:ext>
            </a:extLst>
          </p:cNvPr>
          <p:cNvSpPr/>
          <p:nvPr/>
        </p:nvSpPr>
        <p:spPr>
          <a:xfrm>
            <a:off x="7214367" y="4378563"/>
            <a:ext cx="304800" cy="3793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Woodcut Baseball 39.gif">
            <a:extLst>
              <a:ext uri="{FF2B5EF4-FFF2-40B4-BE49-F238E27FC236}">
                <a16:creationId xmlns:a16="http://schemas.microsoft.com/office/drawing/2014/main" id="{E4D097EE-10D7-4F0B-9875-772852CD2B0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68238" y="3637236"/>
            <a:ext cx="940697" cy="802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373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Online Resources</a:t>
            </a:r>
          </a:p>
        </p:txBody>
      </p:sp>
      <p:sp>
        <p:nvSpPr>
          <p:cNvPr id="2" name="TextBox 1">
            <a:extLst>
              <a:ext uri="{FF2B5EF4-FFF2-40B4-BE49-F238E27FC236}">
                <a16:creationId xmlns:a16="http://schemas.microsoft.com/office/drawing/2014/main" id="{4BA940C0-E019-4804-936E-35B77F1EEA69}"/>
              </a:ext>
            </a:extLst>
          </p:cNvPr>
          <p:cNvSpPr txBox="1"/>
          <p:nvPr/>
        </p:nvSpPr>
        <p:spPr>
          <a:xfrm>
            <a:off x="876300" y="3810000"/>
            <a:ext cx="7467600" cy="101566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latin typeface="Times New Roman" pitchFamily="18" charset="0"/>
              </a:rPr>
              <a:t> R Bloggers</a:t>
            </a:r>
          </a:p>
          <a:p>
            <a:r>
              <a:rPr lang="en-US" dirty="0"/>
              <a:t>      </a:t>
            </a:r>
            <a:r>
              <a:rPr lang="en-US" dirty="0">
                <a:hlinkClick r:id="rId2"/>
              </a:rPr>
              <a:t>https://www.r-bloggers.com/learning-statistics-on-youtube/</a:t>
            </a:r>
            <a:endParaRPr lang="en-US" dirty="0"/>
          </a:p>
          <a:p>
            <a:endParaRPr lang="en-US" dirty="0"/>
          </a:p>
        </p:txBody>
      </p:sp>
      <p:pic>
        <p:nvPicPr>
          <p:cNvPr id="4" name="Picture 3">
            <a:extLst>
              <a:ext uri="{FF2B5EF4-FFF2-40B4-BE49-F238E27FC236}">
                <a16:creationId xmlns:a16="http://schemas.microsoft.com/office/drawing/2014/main" id="{3726D91F-B8BE-4659-BD3C-2CE00E009A6B}"/>
              </a:ext>
            </a:extLst>
          </p:cNvPr>
          <p:cNvPicPr>
            <a:picLocks noChangeAspect="1"/>
          </p:cNvPicPr>
          <p:nvPr/>
        </p:nvPicPr>
        <p:blipFill>
          <a:blip r:embed="rId3"/>
          <a:stretch>
            <a:fillRect/>
          </a:stretch>
        </p:blipFill>
        <p:spPr>
          <a:xfrm>
            <a:off x="7302636" y="901423"/>
            <a:ext cx="1091928" cy="834747"/>
          </a:xfrm>
          <a:prstGeom prst="rect">
            <a:avLst/>
          </a:prstGeom>
        </p:spPr>
      </p:pic>
      <p:sp>
        <p:nvSpPr>
          <p:cNvPr id="5" name="TextBox 4">
            <a:extLst>
              <a:ext uri="{FF2B5EF4-FFF2-40B4-BE49-F238E27FC236}">
                <a16:creationId xmlns:a16="http://schemas.microsoft.com/office/drawing/2014/main" id="{47024C4E-9D07-45A2-A37C-9E4C6366348E}"/>
              </a:ext>
            </a:extLst>
          </p:cNvPr>
          <p:cNvSpPr txBox="1"/>
          <p:nvPr/>
        </p:nvSpPr>
        <p:spPr>
          <a:xfrm>
            <a:off x="1066800" y="1895922"/>
            <a:ext cx="5568882" cy="1754326"/>
          </a:xfrm>
          <a:prstGeom prst="rect">
            <a:avLst/>
          </a:prstGeom>
          <a:noFill/>
        </p:spPr>
        <p:txBody>
          <a:bodyPr wrap="square" rtlCol="0">
            <a:spAutoFit/>
          </a:bodyPr>
          <a:lstStyle/>
          <a:p>
            <a:r>
              <a:rPr lang="en-US" dirty="0"/>
              <a:t>The Internet offers many videos and documents to help you learn R. How to decide which is best for your specific need? You might want to check out </a:t>
            </a:r>
            <a:r>
              <a:rPr lang="en-US" dirty="0">
                <a:hlinkClick r:id="rId4"/>
              </a:rPr>
              <a:t>R-Bloggers.com</a:t>
            </a:r>
            <a:r>
              <a:rPr lang="en-US" dirty="0"/>
              <a:t>. This site helps R bloggers and users connect. It lists various channels by topic, and tells whether authors provided slides, code, or additional materials.</a:t>
            </a:r>
          </a:p>
        </p:txBody>
      </p:sp>
    </p:spTree>
    <p:extLst>
      <p:ext uri="{BB962C8B-B14F-4D97-AF65-F5344CB8AC3E}">
        <p14:creationId xmlns:p14="http://schemas.microsoft.com/office/powerpoint/2010/main" val="397536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Online Tutorials</a:t>
            </a:r>
          </a:p>
        </p:txBody>
      </p:sp>
      <p:sp>
        <p:nvSpPr>
          <p:cNvPr id="2" name="TextBox 1">
            <a:extLst>
              <a:ext uri="{FF2B5EF4-FFF2-40B4-BE49-F238E27FC236}">
                <a16:creationId xmlns:a16="http://schemas.microsoft.com/office/drawing/2014/main" id="{4BA940C0-E019-4804-936E-35B77F1EEA69}"/>
              </a:ext>
            </a:extLst>
          </p:cNvPr>
          <p:cNvSpPr txBox="1"/>
          <p:nvPr/>
        </p:nvSpPr>
        <p:spPr>
          <a:xfrm>
            <a:off x="838200" y="1752600"/>
            <a:ext cx="7467600" cy="372409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2400" dirty="0">
                <a:latin typeface="Times New Roman" pitchFamily="18" charset="0"/>
              </a:rPr>
              <a:t> Mike Marin Statistics and R Programming</a:t>
            </a:r>
          </a:p>
          <a:p>
            <a:r>
              <a:rPr lang="en-US" dirty="0"/>
              <a:t>      </a:t>
            </a:r>
            <a:r>
              <a:rPr lang="en-US" dirty="0">
                <a:hlinkClick r:id="rId2"/>
              </a:rPr>
              <a:t>https://www.youtube.com/user/marinstatlectures/playlist</a:t>
            </a:r>
            <a:endParaRPr lang="en-US" dirty="0"/>
          </a:p>
          <a:p>
            <a:endParaRPr lang="en-US" dirty="0"/>
          </a:p>
          <a:p>
            <a:pPr marL="285750" indent="-285750">
              <a:buFont typeface="Arial" panose="020B0604020202020204" pitchFamily="34" charset="0"/>
              <a:buChar char="•"/>
            </a:pPr>
            <a:r>
              <a:rPr lang="en-US" dirty="0"/>
              <a:t> </a:t>
            </a:r>
            <a:r>
              <a:rPr lang="en-US" sz="2400" dirty="0">
                <a:latin typeface="Times New Roman" pitchFamily="18" charset="0"/>
              </a:rPr>
              <a:t>Econometrics Academy (includes advanced topics)</a:t>
            </a:r>
          </a:p>
          <a:p>
            <a:r>
              <a:rPr lang="en-US" dirty="0"/>
              <a:t>      </a:t>
            </a:r>
            <a:r>
              <a:rPr lang="en-US" dirty="0">
                <a:hlinkClick r:id="rId3"/>
              </a:rPr>
              <a:t>https://www.youtube.com/user/econometricsacademy/playlists/</a:t>
            </a:r>
            <a:endParaRPr lang="en-US" dirty="0"/>
          </a:p>
          <a:p>
            <a:endParaRPr lang="en-US" dirty="0"/>
          </a:p>
          <a:p>
            <a:pPr marL="285750" indent="-285750">
              <a:buFont typeface="Arial" panose="020B0604020202020204" pitchFamily="34" charset="0"/>
              <a:buChar char="•"/>
            </a:pPr>
            <a:r>
              <a:rPr lang="en-US" dirty="0"/>
              <a:t> </a:t>
            </a:r>
            <a:r>
              <a:rPr lang="en-US" sz="2400" dirty="0" err="1">
                <a:latin typeface="Times New Roman" pitchFamily="18" charset="0"/>
              </a:rPr>
              <a:t>Codecademy</a:t>
            </a:r>
            <a:endParaRPr lang="en-US" sz="2400" dirty="0">
              <a:latin typeface="Times New Roman" pitchFamily="18" charset="0"/>
            </a:endParaRPr>
          </a:p>
          <a:p>
            <a:r>
              <a:rPr lang="en-US" sz="2400" dirty="0"/>
              <a:t>      </a:t>
            </a:r>
            <a:r>
              <a:rPr lang="en-US" dirty="0">
                <a:hlinkClick r:id="rId4"/>
              </a:rPr>
              <a:t>https://www.codecademy.com/</a:t>
            </a:r>
            <a:endParaRPr lang="en-US" dirty="0"/>
          </a:p>
          <a:p>
            <a:endParaRPr lang="en-US" dirty="0"/>
          </a:p>
          <a:p>
            <a:pPr marL="342900" indent="-342900">
              <a:buFont typeface="Arial" panose="020B0604020202020204" pitchFamily="34" charset="0"/>
              <a:buChar char="•"/>
            </a:pPr>
            <a:r>
              <a:rPr lang="en-US" sz="2400" dirty="0" err="1">
                <a:latin typeface="Times New Roman" pitchFamily="18" charset="0"/>
              </a:rPr>
              <a:t>Jalayer</a:t>
            </a:r>
            <a:r>
              <a:rPr lang="en-US" sz="2400" dirty="0">
                <a:latin typeface="Times New Roman" pitchFamily="18" charset="0"/>
              </a:rPr>
              <a:t> Academy</a:t>
            </a:r>
          </a:p>
          <a:p>
            <a:r>
              <a:rPr lang="en-US" dirty="0">
                <a:hlinkClick r:id="rId5"/>
              </a:rPr>
              <a:t>      https://www.youtube.com/channel/UCTprjveyeUA-pn6b7KbGhmQ</a:t>
            </a:r>
            <a:endParaRPr lang="en-US" dirty="0"/>
          </a:p>
        </p:txBody>
      </p:sp>
      <p:sp>
        <p:nvSpPr>
          <p:cNvPr id="3" name="TextBox 2">
            <a:extLst>
              <a:ext uri="{FF2B5EF4-FFF2-40B4-BE49-F238E27FC236}">
                <a16:creationId xmlns:a16="http://schemas.microsoft.com/office/drawing/2014/main" id="{3118ED37-3E5F-419B-B823-366EB2F56936}"/>
              </a:ext>
            </a:extLst>
          </p:cNvPr>
          <p:cNvSpPr txBox="1"/>
          <p:nvPr/>
        </p:nvSpPr>
        <p:spPr>
          <a:xfrm>
            <a:off x="5486400" y="870228"/>
            <a:ext cx="1600200" cy="738664"/>
          </a:xfrm>
          <a:prstGeom prst="rect">
            <a:avLst/>
          </a:prstGeom>
          <a:noFill/>
        </p:spPr>
        <p:txBody>
          <a:bodyPr wrap="square" rtlCol="0">
            <a:spAutoFit/>
          </a:bodyPr>
          <a:lstStyle/>
          <a:p>
            <a:r>
              <a:rPr lang="en-US" sz="1400" dirty="0">
                <a:solidFill>
                  <a:srgbClr val="C00000"/>
                </a:solidFill>
                <a:latin typeface="Times New Roman" panose="02020603050405020304" pitchFamily="18" charset="0"/>
                <a:cs typeface="Times New Roman" panose="02020603050405020304" pitchFamily="18" charset="0"/>
              </a:rPr>
              <a:t>These are only a few examples. Try your own search!</a:t>
            </a:r>
          </a:p>
        </p:txBody>
      </p:sp>
      <p:pic>
        <p:nvPicPr>
          <p:cNvPr id="4" name="Picture 3">
            <a:extLst>
              <a:ext uri="{FF2B5EF4-FFF2-40B4-BE49-F238E27FC236}">
                <a16:creationId xmlns:a16="http://schemas.microsoft.com/office/drawing/2014/main" id="{3726D91F-B8BE-4659-BD3C-2CE00E009A6B}"/>
              </a:ext>
            </a:extLst>
          </p:cNvPr>
          <p:cNvPicPr>
            <a:picLocks noChangeAspect="1"/>
          </p:cNvPicPr>
          <p:nvPr/>
        </p:nvPicPr>
        <p:blipFill>
          <a:blip r:embed="rId6"/>
          <a:stretch>
            <a:fillRect/>
          </a:stretch>
        </p:blipFill>
        <p:spPr>
          <a:xfrm>
            <a:off x="7302636" y="901423"/>
            <a:ext cx="1091928" cy="834747"/>
          </a:xfrm>
          <a:prstGeom prst="rect">
            <a:avLst/>
          </a:prstGeom>
        </p:spPr>
      </p:pic>
    </p:spTree>
    <p:extLst>
      <p:ext uri="{BB962C8B-B14F-4D97-AF65-F5344CB8AC3E}">
        <p14:creationId xmlns:p14="http://schemas.microsoft.com/office/powerpoint/2010/main" val="410860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1143000" y="4724400"/>
            <a:ext cx="6629400" cy="1077218"/>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i="1" dirty="0">
                <a:solidFill>
                  <a:schemeClr val="accent2"/>
                </a:solidFill>
              </a:rPr>
              <a:t>Disclaimer</a:t>
            </a:r>
            <a:r>
              <a:rPr lang="en-US" sz="1600" dirty="0"/>
              <a:t>  The web links listed here are not intended as endorsements, but rather as sources of information.  The web evolves continually, so any list is quickly outdated.  The web links change with annoying frequency! But these suggestions provide a place to start.</a:t>
            </a:r>
          </a:p>
        </p:txBody>
      </p:sp>
      <p:pic>
        <p:nvPicPr>
          <p:cNvPr id="2048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057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B8B84D7-407A-4689-868C-2D1AFC2B12E3}"/>
              </a:ext>
            </a:extLst>
          </p:cNvPr>
          <p:cNvSpPr txBox="1"/>
          <p:nvPr/>
        </p:nvSpPr>
        <p:spPr>
          <a:xfrm>
            <a:off x="762000" y="633800"/>
            <a:ext cx="7162800" cy="1231106"/>
          </a:xfrm>
          <a:prstGeom prst="rect">
            <a:avLst/>
          </a:prstGeom>
          <a:noFill/>
        </p:spPr>
        <p:txBody>
          <a:bodyPr wrap="square" rtlCol="0">
            <a:spAutoFit/>
          </a:bodyPr>
          <a:lstStyle/>
          <a:p>
            <a:pPr algn="ctr"/>
            <a:r>
              <a:rPr lang="en-US" sz="2800" i="1" dirty="0">
                <a:latin typeface="Comic Sans MS" panose="030F0702030302020204" pitchFamily="66" charset="0"/>
              </a:rPr>
              <a:t>Better things are coming …</a:t>
            </a:r>
            <a:br>
              <a:rPr lang="en-US" i="1" dirty="0">
                <a:latin typeface="Comic Sans MS" panose="030F0702030302020204" pitchFamily="66" charset="0"/>
              </a:rPr>
            </a:br>
            <a:br>
              <a:rPr lang="en-US" dirty="0"/>
            </a:br>
            <a:r>
              <a:rPr lang="en-US" sz="2800" dirty="0">
                <a:solidFill>
                  <a:srgbClr val="C00000"/>
                </a:solidFill>
                <a:effectLst>
                  <a:outerShdw blurRad="38100" dist="38100" dir="2700000" algn="tl">
                    <a:srgbClr val="000000">
                      <a:alpha val="43137"/>
                    </a:srgbClr>
                  </a:outerShdw>
                </a:effectLst>
              </a:rPr>
              <a:t>THIS PRESENTATION IS ALWAYS EVOLVING </a:t>
            </a:r>
          </a:p>
        </p:txBody>
      </p:sp>
      <p:sp>
        <p:nvSpPr>
          <p:cNvPr id="5" name="TextBox 4">
            <a:extLst>
              <a:ext uri="{FF2B5EF4-FFF2-40B4-BE49-F238E27FC236}">
                <a16:creationId xmlns:a16="http://schemas.microsoft.com/office/drawing/2014/main" id="{8503EC7C-3A50-48E7-B6EF-A102FF7E453D}"/>
              </a:ext>
            </a:extLst>
          </p:cNvPr>
          <p:cNvSpPr txBox="1"/>
          <p:nvPr/>
        </p:nvSpPr>
        <p:spPr>
          <a:xfrm>
            <a:off x="685800" y="4337805"/>
            <a:ext cx="7772400" cy="421094"/>
          </a:xfrm>
          <a:prstGeom prst="rect">
            <a:avLst/>
          </a:prstGeom>
          <a:solidFill>
            <a:schemeClr val="bg1"/>
          </a:solidFill>
        </p:spPr>
        <p:txBody>
          <a:bodyPr wrap="squar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16219</TotalTime>
  <Words>2674</Words>
  <Application>Microsoft Office PowerPoint</Application>
  <PresentationFormat>On-screen Show (4:3)</PresentationFormat>
  <Paragraphs>232</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Comic Sans MS</vt:lpstr>
      <vt:lpstr>Lucida Console</vt:lpstr>
      <vt:lpstr>Lucida Sans Unicode</vt:lpstr>
      <vt:lpstr>Times New Roman</vt:lpstr>
      <vt:lpstr>Retrospect</vt:lpstr>
      <vt:lpstr>Using R and RStudio</vt:lpstr>
      <vt:lpstr>What is R?</vt:lpstr>
      <vt:lpstr>What is R Studio?</vt:lpstr>
      <vt:lpstr>What Does R Offer?</vt:lpstr>
      <vt:lpstr>Installing R</vt:lpstr>
      <vt:lpstr>Installing RStudio</vt:lpstr>
      <vt:lpstr>RStudio Interface</vt:lpstr>
      <vt:lpstr>Four Screen View</vt:lpstr>
      <vt:lpstr>Vectors and Functions</vt:lpstr>
      <vt:lpstr>Vectors and Functions</vt:lpstr>
      <vt:lpstr>Manipulating Data</vt:lpstr>
      <vt:lpstr>Vectors and Functions</vt:lpstr>
      <vt:lpstr>Vectors and Functions</vt:lpstr>
      <vt:lpstr>Spreadsheet Data</vt:lpstr>
      <vt:lpstr>Clipboard Import</vt:lpstr>
      <vt:lpstr>Excel Import</vt:lpstr>
      <vt:lpstr>Excel Import</vt:lpstr>
      <vt:lpstr>Excel Import</vt:lpstr>
      <vt:lpstr>Data Analysis</vt:lpstr>
      <vt:lpstr>Data Analysis</vt:lpstr>
      <vt:lpstr>Data Analysis</vt:lpstr>
      <vt:lpstr>Descriptive Statistics</vt:lpstr>
      <vt:lpstr>Saving Your Work</vt:lpstr>
      <vt:lpstr>Online Resources</vt:lpstr>
      <vt:lpstr>Online Tutorials</vt:lpstr>
      <vt:lpstr>PowerPoint Presentation</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R and RStudio</dc:title>
  <dc:subject>Chapter 1 - Overview of Statistics</dc:subject>
  <dc:creator>David P. Doane</dc:creator>
  <dc:description>Copyright (c) 2025 by McGraw Hill LLC. This material is intended solely for educational use licensed users of Connect. It may not be copied or resold.</dc:description>
  <cp:lastModifiedBy>Elango Selvaraj</cp:lastModifiedBy>
  <cp:revision>281</cp:revision>
  <dcterms:created xsi:type="dcterms:W3CDTF">2000-08-22T13:07:54Z</dcterms:created>
  <dcterms:modified xsi:type="dcterms:W3CDTF">2023-11-29T09:52:25Z</dcterms:modified>
</cp:coreProperties>
</file>