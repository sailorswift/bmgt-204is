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handoutMasterIdLst>
    <p:handoutMasterId r:id="rId20"/>
  </p:handoutMasterIdLst>
  <p:sldIdLst>
    <p:sldId id="256" r:id="rId2"/>
    <p:sldId id="326" r:id="rId3"/>
    <p:sldId id="313" r:id="rId4"/>
    <p:sldId id="328" r:id="rId5"/>
    <p:sldId id="309" r:id="rId6"/>
    <p:sldId id="324" r:id="rId7"/>
    <p:sldId id="308" r:id="rId8"/>
    <p:sldId id="327" r:id="rId9"/>
    <p:sldId id="310" r:id="rId10"/>
    <p:sldId id="311" r:id="rId11"/>
    <p:sldId id="312" r:id="rId12"/>
    <p:sldId id="268" r:id="rId13"/>
    <p:sldId id="305" r:id="rId14"/>
    <p:sldId id="315" r:id="rId15"/>
    <p:sldId id="325" r:id="rId16"/>
    <p:sldId id="316" r:id="rId17"/>
    <p:sldId id="323" r:id="rId18"/>
    <p:sldId id="31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FF6699"/>
    <a:srgbClr val="CC0000"/>
    <a:srgbClr val="CCFFCC"/>
    <a:srgbClr val="99FF66"/>
    <a:srgbClr val="CCFF99"/>
    <a:srgbClr val="99CC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737" autoAdjust="0"/>
  </p:normalViewPr>
  <p:slideViewPr>
    <p:cSldViewPr>
      <p:cViewPr varScale="1">
        <p:scale>
          <a:sx n="106" d="100"/>
          <a:sy n="106" d="100"/>
        </p:scale>
        <p:origin x="176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522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522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522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7A3CBD10-5C86-4F70-8655-E4A8EAB74FD7}" type="slidenum">
              <a:rPr lang="en-US"/>
              <a:pPr>
                <a:defRPr/>
              </a:pPr>
              <a:t>‹#›</a:t>
            </a:fld>
            <a:endParaRPr lang="en-US"/>
          </a:p>
        </p:txBody>
      </p:sp>
    </p:spTree>
    <p:extLst>
      <p:ext uri="{BB962C8B-B14F-4D97-AF65-F5344CB8AC3E}">
        <p14:creationId xmlns:p14="http://schemas.microsoft.com/office/powerpoint/2010/main" val="270783774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307114E-5038-4B46-A3D5-1209E0939280}"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28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863CCF5-9E94-4A1A-A318-B2BFD39BCDC8}" type="slidenum">
              <a:rPr lang="en-US" smtClean="0"/>
              <a:pPr>
                <a:defRPr/>
              </a:pPr>
              <a:t>‹#›</a:t>
            </a:fld>
            <a:endParaRPr lang="en-US"/>
          </a:p>
        </p:txBody>
      </p:sp>
    </p:spTree>
    <p:extLst>
      <p:ext uri="{BB962C8B-B14F-4D97-AF65-F5344CB8AC3E}">
        <p14:creationId xmlns:p14="http://schemas.microsoft.com/office/powerpoint/2010/main" val="124162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2285A96-B2F4-4694-B4C0-4FC2969CB4B5}"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1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E037947-5F4E-4D0C-A385-86C60AD229CC}" type="slidenum">
              <a:rPr lang="en-US" smtClean="0"/>
              <a:pPr>
                <a:defRPr/>
              </a:pPr>
              <a:t>‹#›</a:t>
            </a:fld>
            <a:endParaRPr lang="en-US"/>
          </a:p>
        </p:txBody>
      </p:sp>
    </p:spTree>
    <p:extLst>
      <p:ext uri="{BB962C8B-B14F-4D97-AF65-F5344CB8AC3E}">
        <p14:creationId xmlns:p14="http://schemas.microsoft.com/office/powerpoint/2010/main" val="127799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84960D1-C91D-4F3B-AAAE-8C8C30181442}" type="slidenum">
              <a:rPr lang="en-US" smtClean="0"/>
              <a:pPr>
                <a:defRPr/>
              </a:pPr>
              <a:t>‹#›</a:t>
            </a:fld>
            <a:endParaRPr lang="en-US"/>
          </a:p>
        </p:txBody>
      </p:sp>
    </p:spTree>
    <p:extLst>
      <p:ext uri="{BB962C8B-B14F-4D97-AF65-F5344CB8AC3E}">
        <p14:creationId xmlns:p14="http://schemas.microsoft.com/office/powerpoint/2010/main" val="90057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A7537E1-6C11-4D0F-B779-FAC410DB9D62}" type="slidenum">
              <a:rPr lang="en-US" smtClean="0"/>
              <a:pPr>
                <a:defRPr/>
              </a:pPr>
              <a:t>‹#›</a:t>
            </a:fld>
            <a:endParaRPr lang="en-US"/>
          </a:p>
        </p:txBody>
      </p:sp>
    </p:spTree>
    <p:extLst>
      <p:ext uri="{BB962C8B-B14F-4D97-AF65-F5344CB8AC3E}">
        <p14:creationId xmlns:p14="http://schemas.microsoft.com/office/powerpoint/2010/main" val="273466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17A62B87-4578-4631-844C-093FF7C2F0C9}" type="slidenum">
              <a:rPr lang="en-US" smtClean="0"/>
              <a:pPr>
                <a:defRPr/>
              </a:pPr>
              <a:t>‹#›</a:t>
            </a:fld>
            <a:endParaRPr lang="en-US"/>
          </a:p>
        </p:txBody>
      </p:sp>
    </p:spTree>
    <p:extLst>
      <p:ext uri="{BB962C8B-B14F-4D97-AF65-F5344CB8AC3E}">
        <p14:creationId xmlns:p14="http://schemas.microsoft.com/office/powerpoint/2010/main" val="257479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257873B9-F45E-4C2F-B884-3821251671A4}" type="slidenum">
              <a:rPr lang="en-US" smtClean="0"/>
              <a:pPr>
                <a:defRPr/>
              </a:pPr>
              <a:t>‹#›</a:t>
            </a:fld>
            <a:endParaRPr lang="en-US"/>
          </a:p>
        </p:txBody>
      </p:sp>
    </p:spTree>
    <p:extLst>
      <p:ext uri="{BB962C8B-B14F-4D97-AF65-F5344CB8AC3E}">
        <p14:creationId xmlns:p14="http://schemas.microsoft.com/office/powerpoint/2010/main" val="373585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70C658B-03C2-4326-A5F1-22458048EC1C}" type="slidenum">
              <a:rPr lang="en-US" smtClean="0"/>
              <a:pPr>
                <a:defRPr/>
              </a:pPr>
              <a:t>‹#›</a:t>
            </a:fld>
            <a:endParaRPr lang="en-US"/>
          </a:p>
        </p:txBody>
      </p:sp>
    </p:spTree>
    <p:extLst>
      <p:ext uri="{BB962C8B-B14F-4D97-AF65-F5344CB8AC3E}">
        <p14:creationId xmlns:p14="http://schemas.microsoft.com/office/powerpoint/2010/main" val="325946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74EC3B6-5FB7-4C64-B2B4-70DE3B4D03A1}" type="slidenum">
              <a:rPr lang="en-US" smtClean="0"/>
              <a:pPr>
                <a:defRPr/>
              </a:pPr>
              <a:t>‹#›</a:t>
            </a:fld>
            <a:endParaRPr lang="en-US"/>
          </a:p>
        </p:txBody>
      </p:sp>
    </p:spTree>
    <p:extLst>
      <p:ext uri="{BB962C8B-B14F-4D97-AF65-F5344CB8AC3E}">
        <p14:creationId xmlns:p14="http://schemas.microsoft.com/office/powerpoint/2010/main" val="300215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D1F65CB-0DE6-43F6-98AB-6BC27E09AD3D}" type="slidenum">
              <a:rPr lang="en-US" smtClean="0"/>
              <a:pPr>
                <a:defRPr/>
              </a:pPr>
              <a:t>‹#›</a:t>
            </a:fld>
            <a:endParaRPr lang="en-US"/>
          </a:p>
        </p:txBody>
      </p:sp>
    </p:spTree>
    <p:extLst>
      <p:ext uri="{BB962C8B-B14F-4D97-AF65-F5344CB8AC3E}">
        <p14:creationId xmlns:p14="http://schemas.microsoft.com/office/powerpoint/2010/main" val="2309234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52380919-8FC1-4BE1-8082-DA50856078A3}" type="slidenum">
              <a:rPr lang="en-US" smtClean="0"/>
              <a:pPr>
                <a:defRPr/>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7910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en.wikipedia.org/wiki/Comparison_of_statistical_package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r-project.org/"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statskingdom.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minitab.com/en-us/academic/"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jmpdiscovery.co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statcrunch.com/"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sas.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spss.com/"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stata.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palisade.com/stattools/"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grafiti.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xlstat.com/en"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highered.mheducation.com/sites/0077425995/"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statista.com/"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ncss.co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cytel.com/software/statxact"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resample.com/"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ww.rti.org/sudaan"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www.scausa.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power-analysis.com/"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statease.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statmodel.com/"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esri.com/en-us/home"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palisade.com/risk/"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www.arenasimulation.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514600" y="2133600"/>
            <a:ext cx="3810000" cy="1371600"/>
          </a:xfrm>
        </p:spPr>
        <p:txBody>
          <a:bodyPr>
            <a:normAutofit/>
          </a:bodyPr>
          <a:lstStyle/>
          <a:p>
            <a:pPr algn="ctr">
              <a:defRPr/>
            </a:pPr>
            <a:r>
              <a:rPr lang="en-US" sz="44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Statistical Software</a:t>
            </a:r>
          </a:p>
        </p:txBody>
      </p:sp>
      <p:sp>
        <p:nvSpPr>
          <p:cNvPr id="2051" name="Text Box 12"/>
          <p:cNvSpPr txBox="1">
            <a:spLocks noChangeArrowheads="1"/>
          </p:cNvSpPr>
          <p:nvPr/>
        </p:nvSpPr>
        <p:spPr bwMode="auto">
          <a:xfrm>
            <a:off x="1143000" y="5562600"/>
            <a:ext cx="7315200" cy="523220"/>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b="1" dirty="0">
                <a:solidFill>
                  <a:srgbClr val="993300"/>
                </a:solidFill>
              </a:rPr>
              <a:t>© McGraw Hill LLC. All rights reserved. No reproduction or distribution without the prior written consent of McGraw Hill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5"/>
          <p:cNvSpPr>
            <a:spLocks noGrp="1" noChangeArrowheads="1"/>
          </p:cNvSpPr>
          <p:nvPr>
            <p:ph type="ctrTitle"/>
          </p:nvPr>
        </p:nvSpPr>
        <p:spPr>
          <a:xfrm>
            <a:off x="0" y="228600"/>
            <a:ext cx="9144000" cy="731520"/>
          </a:xfrm>
          <a:noFill/>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The “Right” Software?</a:t>
            </a:r>
          </a:p>
        </p:txBody>
      </p:sp>
      <p:sp>
        <p:nvSpPr>
          <p:cNvPr id="3075" name="Text Box 6"/>
          <p:cNvSpPr txBox="1">
            <a:spLocks noChangeArrowheads="1"/>
          </p:cNvSpPr>
          <p:nvPr/>
        </p:nvSpPr>
        <p:spPr bwMode="auto">
          <a:xfrm>
            <a:off x="838200" y="1103243"/>
            <a:ext cx="6172200" cy="414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a:solidFill>
                  <a:schemeClr val="accent1">
                    <a:lumMod val="75000"/>
                  </a:schemeClr>
                </a:solidFill>
                <a:latin typeface="Arial" charset="0"/>
              </a:rPr>
              <a:t>All- purpose stand-alone software</a:t>
            </a:r>
          </a:p>
          <a:p>
            <a:pPr lvl="1">
              <a:spcBef>
                <a:spcPct val="10000"/>
              </a:spcBef>
            </a:pPr>
            <a:r>
              <a:rPr lang="en-US" sz="1800" dirty="0"/>
              <a:t>“Packages” that you buy or license for your organization. Covers a variety of statistical tasks.  Professional licenses usually expensive, but there may be student versions.</a:t>
            </a:r>
          </a:p>
          <a:p>
            <a:pPr>
              <a:spcBef>
                <a:spcPct val="50000"/>
              </a:spcBef>
              <a:buFontTx/>
              <a:buBlip>
                <a:blip r:embed="rId2"/>
              </a:buBlip>
            </a:pPr>
            <a:r>
              <a:rPr lang="en-US" dirty="0"/>
              <a:t>   </a:t>
            </a:r>
            <a:r>
              <a:rPr lang="en-US" dirty="0">
                <a:solidFill>
                  <a:schemeClr val="accent1">
                    <a:lumMod val="75000"/>
                  </a:schemeClr>
                </a:solidFill>
                <a:latin typeface="Arial" charset="0"/>
              </a:rPr>
              <a:t>Add-ins that work with Excel</a:t>
            </a:r>
          </a:p>
          <a:p>
            <a:pPr lvl="1">
              <a:spcBef>
                <a:spcPct val="10000"/>
              </a:spcBef>
            </a:pPr>
            <a:r>
              <a:rPr lang="en-US" sz="1800" dirty="0"/>
              <a:t>Some are comprehensive, while others focus on tasks taught in introductory statistics classes (cheap). Usually written in VBA. Download and install in Excel.</a:t>
            </a:r>
          </a:p>
          <a:p>
            <a:pPr indent="-342900">
              <a:spcBef>
                <a:spcPct val="50000"/>
              </a:spcBef>
              <a:buBlip>
                <a:blip r:embed="rId2"/>
              </a:buBlip>
            </a:pPr>
            <a:r>
              <a:rPr lang="en-US" dirty="0"/>
              <a:t>  </a:t>
            </a:r>
            <a:r>
              <a:rPr lang="en-US" dirty="0">
                <a:solidFill>
                  <a:schemeClr val="accent1">
                    <a:lumMod val="75000"/>
                  </a:schemeClr>
                </a:solidFill>
                <a:latin typeface="Arial" charset="0"/>
              </a:rPr>
              <a:t>Professional, special-purpose tools</a:t>
            </a:r>
          </a:p>
          <a:p>
            <a:pPr lvl="1">
              <a:spcBef>
                <a:spcPct val="10000"/>
              </a:spcBef>
            </a:pPr>
            <a:r>
              <a:rPr lang="en-US" sz="1800" dirty="0"/>
              <a:t>Optimized for specific tasks (e.g., data mining, geographic information systems).  Generally expensive, but lower-priced Excel-based versions or discounts may be available.</a:t>
            </a:r>
            <a:endParaRPr lang="en-US" dirty="0"/>
          </a:p>
        </p:txBody>
      </p:sp>
      <p:pic>
        <p:nvPicPr>
          <p:cNvPr id="3076" name="Picture 7" descr="Business 9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6138" y="2497931"/>
            <a:ext cx="1947862"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8"/>
          <p:cNvSpPr txBox="1">
            <a:spLocks noChangeArrowheads="1"/>
          </p:cNvSpPr>
          <p:nvPr/>
        </p:nvSpPr>
        <p:spPr bwMode="auto">
          <a:xfrm>
            <a:off x="7199186" y="4648200"/>
            <a:ext cx="1600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en-US" sz="1600" dirty="0">
                <a:solidFill>
                  <a:schemeClr val="accent1">
                    <a:lumMod val="75000"/>
                  </a:schemeClr>
                </a:solidFill>
              </a:rPr>
              <a:t>Choose the “right” software for your needs</a:t>
            </a:r>
          </a:p>
        </p:txBody>
      </p:sp>
      <p:sp>
        <p:nvSpPr>
          <p:cNvPr id="3" name="TextBox 2">
            <a:extLst>
              <a:ext uri="{FF2B5EF4-FFF2-40B4-BE49-F238E27FC236}">
                <a16:creationId xmlns:a16="http://schemas.microsoft.com/office/drawing/2014/main" id="{188E3826-46ED-9057-F948-D68294F1700B}"/>
              </a:ext>
            </a:extLst>
          </p:cNvPr>
          <p:cNvSpPr txBox="1"/>
          <p:nvPr/>
        </p:nvSpPr>
        <p:spPr>
          <a:xfrm>
            <a:off x="914400" y="5570091"/>
            <a:ext cx="6472428" cy="369332"/>
          </a:xfrm>
          <a:prstGeom prst="rect">
            <a:avLst/>
          </a:prstGeom>
          <a:noFill/>
        </p:spPr>
        <p:txBody>
          <a:bodyPr wrap="square">
            <a:spAutoFit/>
          </a:bodyPr>
          <a:lstStyle/>
          <a:p>
            <a:r>
              <a:rPr lang="en-US" dirty="0">
                <a:hlinkClick r:id="rId4"/>
              </a:rPr>
              <a:t>https://en.wikipedia.org/wiki/Comparison_of_statistical_packages</a:t>
            </a:r>
            <a:endParaRPr lang="en-US" dirty="0"/>
          </a:p>
        </p:txBody>
      </p:sp>
      <p:sp>
        <p:nvSpPr>
          <p:cNvPr id="4" name="Arrow: Left-Up 3">
            <a:extLst>
              <a:ext uri="{FF2B5EF4-FFF2-40B4-BE49-F238E27FC236}">
                <a16:creationId xmlns:a16="http://schemas.microsoft.com/office/drawing/2014/main" id="{0FDCF06B-4386-6B5D-7EEC-5F18DD760963}"/>
              </a:ext>
            </a:extLst>
          </p:cNvPr>
          <p:cNvSpPr/>
          <p:nvPr/>
        </p:nvSpPr>
        <p:spPr>
          <a:xfrm>
            <a:off x="7554468" y="5570091"/>
            <a:ext cx="531686" cy="327789"/>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I</a:t>
            </a:r>
          </a:p>
        </p:txBody>
      </p:sp>
      <p:sp>
        <p:nvSpPr>
          <p:cNvPr id="4099" name="Text Box 3"/>
          <p:cNvSpPr txBox="1">
            <a:spLocks noChangeArrowheads="1"/>
          </p:cNvSpPr>
          <p:nvPr/>
        </p:nvSpPr>
        <p:spPr bwMode="auto">
          <a:xfrm>
            <a:off x="914400" y="1676400"/>
            <a:ext cx="78486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R  </a:t>
            </a:r>
            <a:r>
              <a:rPr lang="en-US" sz="1800" dirty="0">
                <a:solidFill>
                  <a:srgbClr val="0000FF"/>
                </a:solidFill>
                <a:latin typeface="Arial" charset="0"/>
                <a:hlinkClick r:id="rId3"/>
              </a:rPr>
              <a:t>https://www.r-project.org/</a:t>
            </a:r>
            <a:endParaRPr lang="en-US" dirty="0">
              <a:solidFill>
                <a:srgbClr val="0000FF"/>
              </a:solidFill>
              <a:latin typeface="Arial" charset="0"/>
            </a:endParaRPr>
          </a:p>
          <a:p>
            <a:pPr lvl="1">
              <a:spcBef>
                <a:spcPct val="50000"/>
              </a:spcBef>
              <a:buFontTx/>
              <a:buChar char="•"/>
            </a:pPr>
            <a:r>
              <a:rPr lang="en-US" sz="1800" dirty="0"/>
              <a:t> powerful, well-documented, Python compatible</a:t>
            </a:r>
          </a:p>
          <a:p>
            <a:pPr lvl="1">
              <a:spcBef>
                <a:spcPct val="50000"/>
              </a:spcBef>
              <a:buFontTx/>
              <a:buChar char="•"/>
            </a:pPr>
            <a:r>
              <a:rPr lang="en-US" sz="1800" dirty="0"/>
              <a:t> free but requires training and coding</a:t>
            </a:r>
          </a:p>
          <a:p>
            <a:pPr lvl="1">
              <a:spcBef>
                <a:spcPct val="50000"/>
              </a:spcBef>
              <a:buFontTx/>
              <a:buChar char="•"/>
            </a:pPr>
            <a:r>
              <a:rPr lang="en-US" sz="1800" dirty="0"/>
              <a:t> good reputation among statisticians</a:t>
            </a:r>
          </a:p>
          <a:p>
            <a:pPr>
              <a:spcBef>
                <a:spcPct val="50000"/>
              </a:spcBef>
              <a:buFontTx/>
              <a:buBlip>
                <a:blip r:embed="rId2"/>
              </a:buBlip>
            </a:pPr>
            <a:r>
              <a:rPr lang="en-US" dirty="0"/>
              <a:t>Statistics Kingdom   </a:t>
            </a:r>
            <a:r>
              <a:rPr lang="en-US" sz="1800" dirty="0">
                <a:solidFill>
                  <a:srgbClr val="0000FF"/>
                </a:solidFill>
                <a:latin typeface="Arial" charset="0"/>
                <a:hlinkClick r:id="rId4"/>
              </a:rPr>
              <a:t>https://www.statskingdom.com/</a:t>
            </a:r>
            <a:endParaRPr lang="en-US" sz="1800" dirty="0"/>
          </a:p>
          <a:p>
            <a:pPr lvl="1">
              <a:spcBef>
                <a:spcPct val="50000"/>
              </a:spcBef>
              <a:buFontTx/>
              <a:buChar char="•"/>
            </a:pPr>
            <a:r>
              <a:rPr lang="en-US" sz="1800" dirty="0"/>
              <a:t> common tests, distributions, charts, and calculators</a:t>
            </a:r>
          </a:p>
          <a:p>
            <a:pPr lvl="1">
              <a:spcBef>
                <a:spcPct val="50000"/>
              </a:spcBef>
              <a:buFontTx/>
              <a:buChar char="•"/>
            </a:pPr>
            <a:r>
              <a:rPr lang="en-US" sz="1800" dirty="0"/>
              <a:t> includes regression, sample size, confidence intervals</a:t>
            </a:r>
          </a:p>
          <a:p>
            <a:pPr lvl="1">
              <a:spcBef>
                <a:spcPct val="50000"/>
              </a:spcBef>
              <a:buFontTx/>
              <a:buChar char="•"/>
            </a:pPr>
            <a:r>
              <a:rPr lang="en-US" sz="1800" dirty="0"/>
              <a:t> free, intuitive, has examples and practice tests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II</a:t>
            </a:r>
          </a:p>
        </p:txBody>
      </p:sp>
      <p:sp>
        <p:nvSpPr>
          <p:cNvPr id="4099" name="Text Box 3"/>
          <p:cNvSpPr txBox="1">
            <a:spLocks noChangeArrowheads="1"/>
          </p:cNvSpPr>
          <p:nvPr/>
        </p:nvSpPr>
        <p:spPr bwMode="auto">
          <a:xfrm>
            <a:off x="914400" y="1676400"/>
            <a:ext cx="78486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MINITAB  </a:t>
            </a:r>
            <a:r>
              <a:rPr lang="en-US" sz="1800" dirty="0">
                <a:solidFill>
                  <a:srgbClr val="0000FF"/>
                </a:solidFill>
                <a:latin typeface="Arial" charset="0"/>
                <a:hlinkClick r:id="rId3"/>
              </a:rPr>
              <a:t>https://www.minitab.com/en-us/academic/</a:t>
            </a:r>
            <a:endParaRPr lang="en-US" sz="1800" dirty="0"/>
          </a:p>
          <a:p>
            <a:pPr lvl="1">
              <a:spcBef>
                <a:spcPct val="50000"/>
              </a:spcBef>
              <a:buFontTx/>
              <a:buChar char="•"/>
            </a:pPr>
            <a:r>
              <a:rPr lang="en-US" sz="1800" dirty="0"/>
              <a:t> attractive student rental version</a:t>
            </a:r>
          </a:p>
          <a:p>
            <a:pPr lvl="1">
              <a:spcBef>
                <a:spcPct val="50000"/>
              </a:spcBef>
              <a:buFontTx/>
              <a:buChar char="•"/>
            </a:pPr>
            <a:r>
              <a:rPr lang="en-US" sz="1800" dirty="0"/>
              <a:t> full-featured, especially strong DOE and SQC</a:t>
            </a:r>
          </a:p>
          <a:p>
            <a:pPr lvl="1">
              <a:spcBef>
                <a:spcPct val="50000"/>
              </a:spcBef>
              <a:buFontTx/>
              <a:buChar char="•"/>
            </a:pPr>
            <a:r>
              <a:rPr lang="en-US" sz="1800" dirty="0"/>
              <a:t> exportable graphs, good support</a:t>
            </a:r>
          </a:p>
          <a:p>
            <a:pPr>
              <a:spcBef>
                <a:spcPct val="50000"/>
              </a:spcBef>
              <a:buFontTx/>
              <a:buBlip>
                <a:blip r:embed="rId2"/>
              </a:buBlip>
            </a:pPr>
            <a:r>
              <a:rPr lang="en-US" dirty="0"/>
              <a:t> JMP   </a:t>
            </a:r>
            <a:r>
              <a:rPr lang="en-US" sz="1800" dirty="0">
                <a:solidFill>
                  <a:srgbClr val="0000FF"/>
                </a:solidFill>
                <a:latin typeface="Arial" charset="0"/>
                <a:hlinkClick r:id="rId4"/>
              </a:rPr>
              <a:t>https://www.jmpdiscovery.com</a:t>
            </a:r>
            <a:endParaRPr lang="en-US" dirty="0">
              <a:solidFill>
                <a:srgbClr val="0000FF"/>
              </a:solidFill>
              <a:latin typeface="Arial" charset="0"/>
            </a:endParaRPr>
          </a:p>
          <a:p>
            <a:pPr lvl="1">
              <a:spcBef>
                <a:spcPct val="50000"/>
              </a:spcBef>
              <a:buFontTx/>
              <a:buChar char="•"/>
            </a:pPr>
            <a:r>
              <a:rPr lang="en-US" sz="1800" dirty="0"/>
              <a:t> affordable educational version (by SAS)</a:t>
            </a:r>
          </a:p>
          <a:p>
            <a:pPr lvl="1">
              <a:spcBef>
                <a:spcPct val="50000"/>
              </a:spcBef>
              <a:buFontTx/>
              <a:buChar char="•"/>
            </a:pPr>
            <a:r>
              <a:rPr lang="en-US" sz="1800" dirty="0"/>
              <a:t> comprehensive, strong visualization and graphics</a:t>
            </a:r>
          </a:p>
          <a:p>
            <a:pPr lvl="1">
              <a:spcBef>
                <a:spcPct val="50000"/>
              </a:spcBef>
              <a:buFontTx/>
              <a:buChar char="•"/>
            </a:pPr>
            <a:r>
              <a:rPr lang="en-US" sz="1800" dirty="0"/>
              <a:t> somewhat oriented toward social research</a:t>
            </a:r>
          </a:p>
        </p:txBody>
      </p:sp>
    </p:spTree>
    <p:extLst>
      <p:ext uri="{BB962C8B-B14F-4D97-AF65-F5344CB8AC3E}">
        <p14:creationId xmlns:p14="http://schemas.microsoft.com/office/powerpoint/2010/main" val="2517769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III</a:t>
            </a:r>
          </a:p>
        </p:txBody>
      </p:sp>
      <p:sp>
        <p:nvSpPr>
          <p:cNvPr id="7171" name="Text Box 1027"/>
          <p:cNvSpPr txBox="1">
            <a:spLocks noChangeArrowheads="1"/>
          </p:cNvSpPr>
          <p:nvPr/>
        </p:nvSpPr>
        <p:spPr bwMode="auto">
          <a:xfrm>
            <a:off x="914400" y="1676400"/>
            <a:ext cx="73914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err="1"/>
              <a:t>StatCrunch</a:t>
            </a:r>
            <a:r>
              <a:rPr lang="en-US" dirty="0"/>
              <a:t>     </a:t>
            </a:r>
            <a:r>
              <a:rPr lang="en-US" sz="1800" dirty="0">
                <a:solidFill>
                  <a:srgbClr val="0000FF"/>
                </a:solidFill>
                <a:latin typeface="Arial" charset="0"/>
                <a:hlinkClick r:id="rId3"/>
              </a:rPr>
              <a:t>https://www.statcrunch.com/</a:t>
            </a:r>
            <a:endParaRPr lang="en-US" sz="1800" dirty="0">
              <a:solidFill>
                <a:srgbClr val="0000FF"/>
              </a:solidFill>
              <a:latin typeface="Arial" charset="0"/>
            </a:endParaRPr>
          </a:p>
          <a:p>
            <a:pPr lvl="1">
              <a:spcBef>
                <a:spcPct val="50000"/>
              </a:spcBef>
              <a:buFontTx/>
              <a:buChar char="•"/>
            </a:pPr>
            <a:r>
              <a:rPr lang="en-US" sz="1800" dirty="0"/>
              <a:t> basic statistics, graphs, and tables</a:t>
            </a:r>
          </a:p>
          <a:p>
            <a:pPr lvl="1">
              <a:spcBef>
                <a:spcPct val="50000"/>
              </a:spcBef>
              <a:buFontTx/>
              <a:buChar char="•"/>
            </a:pPr>
            <a:r>
              <a:rPr lang="en-US" sz="1800" dirty="0"/>
              <a:t> includes survey data sets</a:t>
            </a:r>
          </a:p>
          <a:p>
            <a:pPr lvl="1">
              <a:spcBef>
                <a:spcPct val="50000"/>
              </a:spcBef>
              <a:buFontTx/>
              <a:buChar char="•"/>
            </a:pPr>
            <a:r>
              <a:rPr lang="en-US" sz="1800" dirty="0"/>
              <a:t> student pricing available (Pearson)</a:t>
            </a:r>
          </a:p>
          <a:p>
            <a:pPr>
              <a:spcBef>
                <a:spcPct val="50000"/>
              </a:spcBef>
              <a:buFontTx/>
              <a:buBlip>
                <a:blip r:embed="rId2"/>
              </a:buBlip>
            </a:pPr>
            <a:r>
              <a:rPr lang="en-US" dirty="0"/>
              <a:t> SAS  </a:t>
            </a:r>
            <a:r>
              <a:rPr lang="en-US" sz="1800" dirty="0">
                <a:solidFill>
                  <a:srgbClr val="0000FF"/>
                </a:solidFill>
                <a:latin typeface="Arial" charset="0"/>
                <a:hlinkClick r:id="rId4"/>
              </a:rPr>
              <a:t>https://www.sas.com</a:t>
            </a:r>
            <a:endParaRPr lang="en-US" dirty="0">
              <a:solidFill>
                <a:srgbClr val="0000FF"/>
              </a:solidFill>
              <a:latin typeface="Arial" charset="0"/>
            </a:endParaRPr>
          </a:p>
          <a:p>
            <a:pPr lvl="1">
              <a:spcBef>
                <a:spcPct val="50000"/>
              </a:spcBef>
              <a:buFontTx/>
              <a:buChar char="•"/>
            </a:pPr>
            <a:r>
              <a:rPr lang="en-US" sz="1800" dirty="0"/>
              <a:t> high-end software that does everything</a:t>
            </a:r>
          </a:p>
          <a:p>
            <a:pPr lvl="1">
              <a:spcBef>
                <a:spcPct val="50000"/>
              </a:spcBef>
              <a:buFontTx/>
              <a:buChar char="•"/>
            </a:pPr>
            <a:r>
              <a:rPr lang="en-US" sz="1800" dirty="0"/>
              <a:t> used by researchers and certified accuracy</a:t>
            </a:r>
          </a:p>
          <a:p>
            <a:pPr lvl="1">
              <a:spcBef>
                <a:spcPct val="50000"/>
              </a:spcBef>
              <a:buFontTx/>
              <a:buChar char="•"/>
            </a:pPr>
            <a:r>
              <a:rPr lang="en-US" sz="1800" dirty="0"/>
              <a:t> powerful command language requires training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IV</a:t>
            </a:r>
          </a:p>
        </p:txBody>
      </p:sp>
      <p:sp>
        <p:nvSpPr>
          <p:cNvPr id="5123" name="Text Box 3"/>
          <p:cNvSpPr txBox="1">
            <a:spLocks noChangeArrowheads="1"/>
          </p:cNvSpPr>
          <p:nvPr/>
        </p:nvSpPr>
        <p:spPr bwMode="auto">
          <a:xfrm>
            <a:off x="914400" y="1676400"/>
            <a:ext cx="72390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SPSS   </a:t>
            </a:r>
            <a:r>
              <a:rPr lang="en-US" sz="1800" dirty="0">
                <a:solidFill>
                  <a:srgbClr val="0000FF"/>
                </a:solidFill>
                <a:latin typeface="Arial" charset="0"/>
                <a:hlinkClick r:id="rId3"/>
              </a:rPr>
              <a:t>http://www.spss.com</a:t>
            </a:r>
            <a:endParaRPr lang="en-US" dirty="0">
              <a:solidFill>
                <a:srgbClr val="0000FF"/>
              </a:solidFill>
              <a:latin typeface="Arial" charset="0"/>
            </a:endParaRPr>
          </a:p>
          <a:p>
            <a:pPr lvl="1">
              <a:spcBef>
                <a:spcPct val="50000"/>
              </a:spcBef>
              <a:buFontTx/>
              <a:buChar char="•"/>
            </a:pPr>
            <a:r>
              <a:rPr lang="en-US" sz="1800" dirty="0"/>
              <a:t> high-end software that does everything </a:t>
            </a:r>
          </a:p>
          <a:p>
            <a:pPr lvl="1">
              <a:spcBef>
                <a:spcPct val="50000"/>
              </a:spcBef>
              <a:buFontTx/>
              <a:buChar char="•"/>
            </a:pPr>
            <a:r>
              <a:rPr lang="en-US" sz="1800" dirty="0"/>
              <a:t> affordable educational version</a:t>
            </a:r>
          </a:p>
          <a:p>
            <a:pPr lvl="1">
              <a:spcBef>
                <a:spcPct val="50000"/>
              </a:spcBef>
              <a:buFontTx/>
              <a:buChar char="•"/>
            </a:pPr>
            <a:r>
              <a:rPr lang="en-US" sz="1800" dirty="0"/>
              <a:t> somewhat oriented toward social research</a:t>
            </a:r>
          </a:p>
          <a:p>
            <a:pPr>
              <a:spcBef>
                <a:spcPct val="50000"/>
              </a:spcBef>
              <a:buFontTx/>
              <a:buBlip>
                <a:blip r:embed="rId2"/>
              </a:buBlip>
            </a:pPr>
            <a:r>
              <a:rPr lang="en-US" dirty="0"/>
              <a:t>  Stata   </a:t>
            </a:r>
            <a:r>
              <a:rPr lang="en-US" sz="1800" dirty="0">
                <a:solidFill>
                  <a:srgbClr val="0000FF"/>
                </a:solidFill>
                <a:latin typeface="Arial" charset="0"/>
                <a:hlinkClick r:id="rId4"/>
              </a:rPr>
              <a:t>https://www.stata.com/</a:t>
            </a:r>
            <a:endParaRPr lang="en-US" dirty="0">
              <a:solidFill>
                <a:srgbClr val="0000FF"/>
              </a:solidFill>
              <a:latin typeface="Arial" charset="0"/>
            </a:endParaRPr>
          </a:p>
          <a:p>
            <a:pPr lvl="1">
              <a:spcBef>
                <a:spcPct val="50000"/>
              </a:spcBef>
              <a:buFontTx/>
              <a:buChar char="•"/>
            </a:pPr>
            <a:r>
              <a:rPr lang="en-US" sz="1800" dirty="0"/>
              <a:t> powerful modern statistics package</a:t>
            </a:r>
          </a:p>
          <a:p>
            <a:pPr lvl="1">
              <a:spcBef>
                <a:spcPct val="50000"/>
              </a:spcBef>
              <a:buFontTx/>
              <a:buChar char="•"/>
            </a:pPr>
            <a:r>
              <a:rPr lang="en-US" sz="1800" dirty="0"/>
              <a:t> Strong Bayesian, forecasting, nonparametric</a:t>
            </a:r>
          </a:p>
          <a:p>
            <a:pPr lvl="1">
              <a:spcBef>
                <a:spcPct val="50000"/>
              </a:spcBef>
              <a:buFontTx/>
              <a:buChar char="•"/>
            </a:pPr>
            <a:r>
              <a:rPr lang="en-US" sz="1800" dirty="0"/>
              <a:t> command coding (Python, </a:t>
            </a:r>
            <a:r>
              <a:rPr lang="en-US" sz="1800" dirty="0" err="1"/>
              <a:t>Jupyter</a:t>
            </a:r>
            <a:r>
              <a:rPr lang="en-US" sz="1800" dirty="0"/>
              <a:t> Notebook)</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V</a:t>
            </a:r>
          </a:p>
        </p:txBody>
      </p:sp>
      <p:sp>
        <p:nvSpPr>
          <p:cNvPr id="6147" name="Text Box 3"/>
          <p:cNvSpPr txBox="1">
            <a:spLocks noChangeArrowheads="1"/>
          </p:cNvSpPr>
          <p:nvPr/>
        </p:nvSpPr>
        <p:spPr bwMode="auto">
          <a:xfrm>
            <a:off x="914400" y="1676400"/>
            <a:ext cx="72390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err="1"/>
              <a:t>StatTools</a:t>
            </a:r>
            <a:r>
              <a:rPr lang="en-US" dirty="0"/>
              <a:t>   </a:t>
            </a:r>
            <a:r>
              <a:rPr lang="en-US" sz="1800" dirty="0">
                <a:solidFill>
                  <a:srgbClr val="0000FF"/>
                </a:solidFill>
                <a:latin typeface="Arial" charset="0"/>
                <a:hlinkClick r:id="rId3"/>
              </a:rPr>
              <a:t>https://www.palisade.com/stattools/</a:t>
            </a:r>
            <a:endParaRPr lang="en-US" dirty="0">
              <a:solidFill>
                <a:srgbClr val="0000FF"/>
              </a:solidFill>
              <a:latin typeface="Arial" charset="0"/>
            </a:endParaRPr>
          </a:p>
          <a:p>
            <a:pPr lvl="1">
              <a:spcBef>
                <a:spcPct val="50000"/>
              </a:spcBef>
              <a:buFontTx/>
              <a:buChar char="•"/>
            </a:pPr>
            <a:r>
              <a:rPr lang="en-US" sz="1800" dirty="0"/>
              <a:t> powerful, spreadsheet-oriented</a:t>
            </a:r>
          </a:p>
          <a:p>
            <a:pPr lvl="1">
              <a:spcBef>
                <a:spcPct val="50000"/>
              </a:spcBef>
              <a:buFontTx/>
              <a:buChar char="•"/>
            </a:pPr>
            <a:r>
              <a:rPr lang="en-US" sz="1800" dirty="0"/>
              <a:t> commercial or student version</a:t>
            </a:r>
          </a:p>
          <a:p>
            <a:pPr lvl="1">
              <a:spcBef>
                <a:spcPct val="50000"/>
              </a:spcBef>
              <a:buFontTx/>
              <a:buChar char="•"/>
            </a:pPr>
            <a:r>
              <a:rPr lang="en-US" sz="1800" dirty="0"/>
              <a:t> part of suite of other Palisade tools</a:t>
            </a:r>
          </a:p>
          <a:p>
            <a:pPr>
              <a:spcBef>
                <a:spcPct val="50000"/>
              </a:spcBef>
              <a:buFontTx/>
              <a:buBlip>
                <a:blip r:embed="rId2"/>
              </a:buBlip>
            </a:pPr>
            <a:r>
              <a:rPr lang="en-US" dirty="0"/>
              <a:t>  SYSTAT    </a:t>
            </a:r>
            <a:r>
              <a:rPr lang="en-US" sz="1800" dirty="0">
                <a:solidFill>
                  <a:srgbClr val="0000FF"/>
                </a:solidFill>
                <a:latin typeface="Arial" charset="0"/>
                <a:hlinkClick r:id="rId4"/>
              </a:rPr>
              <a:t>https://grafiti.com/</a:t>
            </a:r>
            <a:endParaRPr lang="en-US" sz="1800" dirty="0">
              <a:solidFill>
                <a:srgbClr val="0000FF"/>
              </a:solidFill>
              <a:latin typeface="Arial" charset="0"/>
            </a:endParaRPr>
          </a:p>
          <a:p>
            <a:pPr lvl="1">
              <a:spcBef>
                <a:spcPct val="50000"/>
              </a:spcBef>
              <a:buFontTx/>
              <a:buChar char="•"/>
            </a:pPr>
            <a:r>
              <a:rPr lang="en-US" sz="1800" dirty="0"/>
              <a:t> powerful general-purpose package</a:t>
            </a:r>
          </a:p>
          <a:p>
            <a:pPr lvl="1">
              <a:spcBef>
                <a:spcPct val="50000"/>
              </a:spcBef>
              <a:buFontTx/>
              <a:buChar char="•"/>
            </a:pPr>
            <a:r>
              <a:rPr lang="en-US" sz="1800" dirty="0"/>
              <a:t> good for data visualization</a:t>
            </a:r>
          </a:p>
          <a:p>
            <a:pPr lvl="1">
              <a:spcBef>
                <a:spcPct val="50000"/>
              </a:spcBef>
              <a:buFontTx/>
              <a:buChar char="•"/>
            </a:pPr>
            <a:r>
              <a:rPr lang="en-US" sz="1800" dirty="0"/>
              <a:t> versatile but requires training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VIII</a:t>
            </a:r>
          </a:p>
        </p:txBody>
      </p:sp>
      <p:sp>
        <p:nvSpPr>
          <p:cNvPr id="8195" name="Text Box 3"/>
          <p:cNvSpPr txBox="1">
            <a:spLocks noChangeArrowheads="1"/>
          </p:cNvSpPr>
          <p:nvPr/>
        </p:nvSpPr>
        <p:spPr bwMode="auto">
          <a:xfrm>
            <a:off x="914400" y="1676400"/>
            <a:ext cx="78486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err="1"/>
              <a:t>XLStat</a:t>
            </a:r>
            <a:r>
              <a:rPr lang="en-US" dirty="0"/>
              <a:t>   </a:t>
            </a:r>
            <a:r>
              <a:rPr lang="en-US" sz="1800" dirty="0">
                <a:solidFill>
                  <a:srgbClr val="0000FF"/>
                </a:solidFill>
                <a:latin typeface="Arial" charset="0"/>
                <a:hlinkClick r:id="rId3"/>
              </a:rPr>
              <a:t>https://www.xlstat.com/en</a:t>
            </a:r>
            <a:r>
              <a:rPr lang="en-US" sz="1800" dirty="0">
                <a:solidFill>
                  <a:srgbClr val="0000FF"/>
                </a:solidFill>
                <a:latin typeface="Arial" charset="0"/>
              </a:rPr>
              <a:t>/</a:t>
            </a:r>
          </a:p>
          <a:p>
            <a:pPr lvl="1">
              <a:spcBef>
                <a:spcPct val="50000"/>
              </a:spcBef>
              <a:buFontTx/>
              <a:buChar char="•"/>
            </a:pPr>
            <a:r>
              <a:rPr lang="en-US" sz="1800" dirty="0"/>
              <a:t> easy to use Excel add-in</a:t>
            </a:r>
          </a:p>
          <a:p>
            <a:pPr lvl="1">
              <a:spcBef>
                <a:spcPct val="50000"/>
              </a:spcBef>
              <a:buFontTx/>
              <a:buChar char="•"/>
            </a:pPr>
            <a:r>
              <a:rPr lang="en-US" sz="1800" dirty="0"/>
              <a:t> growing user base in business and universities</a:t>
            </a:r>
          </a:p>
          <a:p>
            <a:pPr lvl="1">
              <a:spcBef>
                <a:spcPts val="600"/>
              </a:spcBef>
              <a:buFontTx/>
              <a:buChar char="•"/>
            </a:pPr>
            <a:r>
              <a:rPr lang="en-US" sz="1800" dirty="0"/>
              <a:t> student pricing may be available</a:t>
            </a:r>
            <a:r>
              <a:rPr lang="en-US" dirty="0"/>
              <a:t>  </a:t>
            </a:r>
          </a:p>
          <a:p>
            <a:pPr>
              <a:spcBef>
                <a:spcPct val="50000"/>
              </a:spcBef>
              <a:buFontTx/>
              <a:buBlip>
                <a:blip r:embed="rId2"/>
              </a:buBlip>
            </a:pPr>
            <a:r>
              <a:rPr lang="en-US" dirty="0"/>
              <a:t> </a:t>
            </a:r>
            <a:r>
              <a:rPr lang="en-US" dirty="0" err="1"/>
              <a:t>MegaStat</a:t>
            </a:r>
            <a:r>
              <a:rPr lang="en-US" dirty="0"/>
              <a:t>	</a:t>
            </a:r>
            <a:r>
              <a:rPr lang="en-US" sz="1800" dirty="0">
                <a:solidFill>
                  <a:srgbClr val="0000FF"/>
                </a:solidFill>
                <a:latin typeface="Arial" charset="0"/>
                <a:hlinkClick r:id="rId4"/>
              </a:rPr>
              <a:t>https://highered.mheducation.com/sites/0077425995/</a:t>
            </a:r>
            <a:endParaRPr lang="en-US" sz="1800" dirty="0">
              <a:solidFill>
                <a:srgbClr val="0000FF"/>
              </a:solidFill>
              <a:latin typeface="Arial" charset="0"/>
            </a:endParaRPr>
          </a:p>
          <a:p>
            <a:pPr lvl="1">
              <a:spcBef>
                <a:spcPct val="50000"/>
              </a:spcBef>
              <a:buFontTx/>
              <a:buChar char="•"/>
            </a:pPr>
            <a:r>
              <a:rPr lang="en-US" sz="1800" dirty="0"/>
              <a:t> easy to use Excel add-in</a:t>
            </a:r>
          </a:p>
          <a:p>
            <a:pPr lvl="1">
              <a:spcBef>
                <a:spcPct val="50000"/>
              </a:spcBef>
              <a:buFontTx/>
              <a:buChar char="•"/>
            </a:pPr>
            <a:r>
              <a:rPr lang="en-US" sz="1800" dirty="0"/>
              <a:t> carefully formatted and accurate</a:t>
            </a:r>
          </a:p>
          <a:p>
            <a:pPr lvl="1">
              <a:spcBef>
                <a:spcPct val="50000"/>
              </a:spcBef>
              <a:buFontTx/>
              <a:buChar char="•"/>
            </a:pPr>
            <a:r>
              <a:rPr lang="en-US" sz="1800" dirty="0"/>
              <a:t> inexpensive student pricing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General Statistics - IX</a:t>
            </a:r>
          </a:p>
        </p:txBody>
      </p:sp>
      <p:sp>
        <p:nvSpPr>
          <p:cNvPr id="9219" name="Text Box 3"/>
          <p:cNvSpPr txBox="1">
            <a:spLocks noChangeArrowheads="1"/>
          </p:cNvSpPr>
          <p:nvPr/>
        </p:nvSpPr>
        <p:spPr bwMode="auto">
          <a:xfrm>
            <a:off x="1066800" y="1688306"/>
            <a:ext cx="54102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err="1"/>
              <a:t>Statistica</a:t>
            </a:r>
            <a:r>
              <a:rPr lang="en-US" dirty="0"/>
              <a:t> </a:t>
            </a:r>
            <a:r>
              <a:rPr lang="en-US" sz="1800" dirty="0">
                <a:solidFill>
                  <a:srgbClr val="0000FF"/>
                </a:solidFill>
                <a:latin typeface="Arial" charset="0"/>
                <a:hlinkClick r:id="rId3"/>
              </a:rPr>
              <a:t>https://www.statista.com/</a:t>
            </a:r>
            <a:endParaRPr lang="en-US" sz="1800" dirty="0">
              <a:solidFill>
                <a:srgbClr val="0000FF"/>
              </a:solidFill>
              <a:latin typeface="Arial" charset="0"/>
            </a:endParaRPr>
          </a:p>
          <a:p>
            <a:pPr lvl="1">
              <a:spcBef>
                <a:spcPct val="50000"/>
              </a:spcBef>
              <a:buFontTx/>
              <a:buChar char="•"/>
            </a:pPr>
            <a:r>
              <a:rPr lang="en-US" sz="1800" dirty="0"/>
              <a:t> powerful professional software</a:t>
            </a:r>
          </a:p>
          <a:p>
            <a:pPr lvl="1">
              <a:spcBef>
                <a:spcPct val="50000"/>
              </a:spcBef>
              <a:buFontTx/>
              <a:buChar char="•"/>
            </a:pPr>
            <a:r>
              <a:rPr lang="en-US" sz="1800" dirty="0"/>
              <a:t> comprehensive, large user base</a:t>
            </a:r>
          </a:p>
          <a:p>
            <a:pPr lvl="1">
              <a:spcBef>
                <a:spcPct val="50000"/>
              </a:spcBef>
              <a:buFontTx/>
              <a:buChar char="•"/>
            </a:pPr>
            <a:r>
              <a:rPr lang="en-US" sz="1800" dirty="0"/>
              <a:t> not cheap</a:t>
            </a:r>
          </a:p>
          <a:p>
            <a:pPr>
              <a:spcBef>
                <a:spcPct val="50000"/>
              </a:spcBef>
              <a:buFontTx/>
              <a:buBlip>
                <a:blip r:embed="rId2"/>
              </a:buBlip>
            </a:pPr>
            <a:r>
              <a:rPr lang="en-US" dirty="0"/>
              <a:t>  NCSS  </a:t>
            </a:r>
            <a:r>
              <a:rPr lang="en-US" sz="1800" dirty="0">
                <a:solidFill>
                  <a:srgbClr val="0000FF"/>
                </a:solidFill>
                <a:latin typeface="Arial" charset="0"/>
                <a:hlinkClick r:id="rId4"/>
              </a:rPr>
              <a:t>https://www.ncss.com/</a:t>
            </a:r>
            <a:endParaRPr lang="en-US" dirty="0">
              <a:solidFill>
                <a:srgbClr val="0000FF"/>
              </a:solidFill>
              <a:latin typeface="Arial" charset="0"/>
            </a:endParaRPr>
          </a:p>
          <a:p>
            <a:pPr lvl="1">
              <a:spcBef>
                <a:spcPct val="50000"/>
              </a:spcBef>
              <a:buFontTx/>
              <a:buChar char="•"/>
            </a:pPr>
            <a:r>
              <a:rPr lang="en-US" sz="1800" dirty="0"/>
              <a:t> comprehensive tests, nice graphics</a:t>
            </a:r>
          </a:p>
          <a:p>
            <a:pPr lvl="1">
              <a:spcBef>
                <a:spcPct val="50000"/>
              </a:spcBef>
              <a:buFontTx/>
              <a:buChar char="•"/>
            </a:pPr>
            <a:r>
              <a:rPr lang="en-US" sz="1800" dirty="0"/>
              <a:t> power, sample size, DOE, survival analysis</a:t>
            </a:r>
          </a:p>
          <a:p>
            <a:pPr lvl="1">
              <a:spcBef>
                <a:spcPct val="50000"/>
              </a:spcBef>
              <a:buFontTx/>
              <a:buChar char="•"/>
            </a:pPr>
            <a:r>
              <a:rPr lang="en-US" sz="1800" dirty="0"/>
              <a:t> academic pricing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Special Topics I</a:t>
            </a:r>
          </a:p>
        </p:txBody>
      </p:sp>
      <p:sp>
        <p:nvSpPr>
          <p:cNvPr id="10243" name="Text Box 3"/>
          <p:cNvSpPr txBox="1">
            <a:spLocks noChangeArrowheads="1"/>
          </p:cNvSpPr>
          <p:nvPr/>
        </p:nvSpPr>
        <p:spPr bwMode="auto">
          <a:xfrm>
            <a:off x="990600" y="1676400"/>
            <a:ext cx="7239000"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err="1"/>
              <a:t>StatExact</a:t>
            </a:r>
            <a:r>
              <a:rPr lang="en-US" dirty="0"/>
              <a:t>   </a:t>
            </a:r>
            <a:r>
              <a:rPr lang="en-US" sz="1800" dirty="0">
                <a:solidFill>
                  <a:srgbClr val="0000FF"/>
                </a:solidFill>
                <a:latin typeface="Arial" charset="0"/>
                <a:hlinkClick r:id="rId3"/>
              </a:rPr>
              <a:t>https://www.cytel.com/software/statxact</a:t>
            </a:r>
            <a:endParaRPr lang="en-US" dirty="0">
              <a:solidFill>
                <a:srgbClr val="0000FF"/>
              </a:solidFill>
              <a:latin typeface="Arial" charset="0"/>
            </a:endParaRPr>
          </a:p>
          <a:p>
            <a:pPr lvl="1">
              <a:spcBef>
                <a:spcPct val="50000"/>
              </a:spcBef>
              <a:buFontTx/>
              <a:buChar char="•"/>
            </a:pPr>
            <a:r>
              <a:rPr lang="en-US" sz="1800" dirty="0"/>
              <a:t> comprehensive tests for inference and power</a:t>
            </a:r>
          </a:p>
          <a:p>
            <a:pPr lvl="1">
              <a:spcBef>
                <a:spcPct val="50000"/>
              </a:spcBef>
              <a:buFontTx/>
              <a:buChar char="•"/>
            </a:pPr>
            <a:r>
              <a:rPr lang="en-US" sz="1800" dirty="0"/>
              <a:t> user friendly, graphical orientation</a:t>
            </a:r>
          </a:p>
          <a:p>
            <a:pPr lvl="1">
              <a:spcBef>
                <a:spcPct val="50000"/>
              </a:spcBef>
              <a:buFontTx/>
              <a:buChar char="•"/>
            </a:pPr>
            <a:r>
              <a:rPr lang="en-US" sz="1800" dirty="0"/>
              <a:t> small sample orientation</a:t>
            </a:r>
          </a:p>
          <a:p>
            <a:pPr>
              <a:spcBef>
                <a:spcPct val="50000"/>
              </a:spcBef>
              <a:buFontTx/>
              <a:buBlip>
                <a:blip r:embed="rId2"/>
              </a:buBlip>
            </a:pPr>
            <a:r>
              <a:rPr lang="en-US" dirty="0"/>
              <a:t>  Resampling Stats  </a:t>
            </a:r>
            <a:r>
              <a:rPr lang="en-US" sz="1800" dirty="0">
                <a:solidFill>
                  <a:srgbClr val="0000FF"/>
                </a:solidFill>
                <a:latin typeface="Arial" charset="0"/>
                <a:hlinkClick r:id="rId4"/>
              </a:rPr>
              <a:t>https://www.resample.com/</a:t>
            </a:r>
            <a:endParaRPr lang="en-US" sz="1800" dirty="0">
              <a:solidFill>
                <a:srgbClr val="0000FF"/>
              </a:solidFill>
              <a:latin typeface="Arial" charset="0"/>
            </a:endParaRPr>
          </a:p>
          <a:p>
            <a:pPr lvl="1">
              <a:spcBef>
                <a:spcPct val="50000"/>
              </a:spcBef>
              <a:buFontTx/>
              <a:buChar char="•"/>
            </a:pPr>
            <a:r>
              <a:rPr lang="en-US" sz="1800" dirty="0"/>
              <a:t> student version available</a:t>
            </a:r>
          </a:p>
          <a:p>
            <a:pPr lvl="1">
              <a:spcBef>
                <a:spcPct val="50000"/>
              </a:spcBef>
              <a:buFontTx/>
              <a:buChar char="•"/>
            </a:pPr>
            <a:r>
              <a:rPr lang="en-US" sz="1800" dirty="0"/>
              <a:t> limited focus</a:t>
            </a:r>
          </a:p>
          <a:p>
            <a:pPr lvl="1">
              <a:spcBef>
                <a:spcPct val="50000"/>
              </a:spcBef>
              <a:buFontTx/>
              <a:buChar char="•"/>
            </a:pPr>
            <a:r>
              <a:rPr lang="en-US" sz="1800" dirty="0"/>
              <a:t> uses simulation methods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Special Topics II</a:t>
            </a:r>
          </a:p>
        </p:txBody>
      </p:sp>
      <p:sp>
        <p:nvSpPr>
          <p:cNvPr id="11267" name="Text Box 3"/>
          <p:cNvSpPr txBox="1">
            <a:spLocks noChangeArrowheads="1"/>
          </p:cNvSpPr>
          <p:nvPr/>
        </p:nvSpPr>
        <p:spPr bwMode="auto">
          <a:xfrm>
            <a:off x="1143000" y="1600200"/>
            <a:ext cx="6324600" cy="3508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Sudaan11   </a:t>
            </a:r>
            <a:r>
              <a:rPr lang="en-US" sz="1800" dirty="0">
                <a:solidFill>
                  <a:srgbClr val="0000FF"/>
                </a:solidFill>
                <a:latin typeface="Arial" charset="0"/>
                <a:hlinkClick r:id="rId3"/>
              </a:rPr>
              <a:t>http://www.rti.org/sudaan</a:t>
            </a:r>
            <a:endParaRPr lang="en-US" dirty="0">
              <a:solidFill>
                <a:srgbClr val="0000FF"/>
              </a:solidFill>
              <a:latin typeface="Arial" charset="0"/>
            </a:endParaRPr>
          </a:p>
          <a:p>
            <a:pPr lvl="1">
              <a:spcBef>
                <a:spcPct val="50000"/>
              </a:spcBef>
              <a:buFontTx/>
              <a:buChar char="•"/>
            </a:pPr>
            <a:r>
              <a:rPr lang="en-US" sz="1800" dirty="0"/>
              <a:t> survey research, economics, education</a:t>
            </a:r>
          </a:p>
          <a:p>
            <a:pPr lvl="1">
              <a:spcBef>
                <a:spcPct val="50000"/>
              </a:spcBef>
              <a:buFontTx/>
              <a:buChar char="•"/>
            </a:pPr>
            <a:r>
              <a:rPr lang="en-US" sz="1800" dirty="0"/>
              <a:t> biostatistics, medical, analytics</a:t>
            </a:r>
          </a:p>
          <a:p>
            <a:pPr lvl="1">
              <a:spcBef>
                <a:spcPct val="50000"/>
              </a:spcBef>
              <a:buFontTx/>
              <a:buChar char="•"/>
            </a:pPr>
            <a:r>
              <a:rPr lang="en-US" sz="1800" dirty="0"/>
              <a:t> consultants available</a:t>
            </a:r>
          </a:p>
          <a:p>
            <a:pPr>
              <a:spcBef>
                <a:spcPct val="50000"/>
              </a:spcBef>
              <a:buFontTx/>
              <a:buBlip>
                <a:blip r:embed="rId2"/>
              </a:buBlip>
            </a:pPr>
            <a:r>
              <a:rPr lang="en-US" dirty="0"/>
              <a:t>   SCA	 </a:t>
            </a:r>
            <a:r>
              <a:rPr lang="en-US" sz="1800" dirty="0">
                <a:solidFill>
                  <a:srgbClr val="0000FF"/>
                </a:solidFill>
                <a:latin typeface="Arial" charset="0"/>
                <a:hlinkClick r:id="rId4"/>
              </a:rPr>
              <a:t>http://www.scausa.com</a:t>
            </a:r>
            <a:endParaRPr lang="en-US" sz="1800" dirty="0">
              <a:solidFill>
                <a:srgbClr val="0000FF"/>
              </a:solidFill>
              <a:latin typeface="Arial" charset="0"/>
            </a:endParaRPr>
          </a:p>
          <a:p>
            <a:pPr lvl="1">
              <a:spcBef>
                <a:spcPct val="50000"/>
              </a:spcBef>
              <a:buFontTx/>
              <a:buChar char="•"/>
            </a:pPr>
            <a:r>
              <a:rPr lang="en-US" sz="1800" dirty="0"/>
              <a:t> time series and econometrics</a:t>
            </a:r>
          </a:p>
          <a:p>
            <a:pPr lvl="1">
              <a:spcBef>
                <a:spcPct val="50000"/>
              </a:spcBef>
              <a:buFontTx/>
              <a:buChar char="•"/>
            </a:pPr>
            <a:r>
              <a:rPr lang="en-US" sz="1800" dirty="0"/>
              <a:t> training seminars offered</a:t>
            </a:r>
          </a:p>
          <a:p>
            <a:pPr lvl="1">
              <a:spcBef>
                <a:spcPct val="50000"/>
              </a:spcBef>
              <a:buFontTx/>
              <a:buChar char="•"/>
            </a:pPr>
            <a:r>
              <a:rPr lang="en-US" sz="1800" dirty="0"/>
              <a:t> student pricing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Power and Sample Size</a:t>
            </a:r>
          </a:p>
        </p:txBody>
      </p:sp>
      <p:sp>
        <p:nvSpPr>
          <p:cNvPr id="12291" name="Text Box 8"/>
          <p:cNvSpPr txBox="1">
            <a:spLocks noChangeArrowheads="1"/>
          </p:cNvSpPr>
          <p:nvPr/>
        </p:nvSpPr>
        <p:spPr bwMode="auto">
          <a:xfrm>
            <a:off x="1143000" y="1524000"/>
            <a:ext cx="723900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Power and Precision   </a:t>
            </a:r>
            <a:r>
              <a:rPr lang="en-US" sz="1800" dirty="0">
                <a:solidFill>
                  <a:srgbClr val="0000FF"/>
                </a:solidFill>
                <a:latin typeface="Arial" charset="0"/>
                <a:hlinkClick r:id="rId3"/>
              </a:rPr>
              <a:t>https://www.power-analysis.com/</a:t>
            </a:r>
            <a:endParaRPr lang="en-US" dirty="0">
              <a:solidFill>
                <a:srgbClr val="0000FF"/>
              </a:solidFill>
              <a:latin typeface="Arial" charset="0"/>
            </a:endParaRPr>
          </a:p>
          <a:p>
            <a:pPr lvl="1">
              <a:spcBef>
                <a:spcPct val="50000"/>
              </a:spcBef>
              <a:buFontTx/>
              <a:buChar char="•"/>
            </a:pPr>
            <a:r>
              <a:rPr lang="en-US" sz="1800" dirty="0"/>
              <a:t> Power analysis, research design</a:t>
            </a:r>
          </a:p>
          <a:p>
            <a:pPr lvl="1">
              <a:spcBef>
                <a:spcPct val="50000"/>
              </a:spcBef>
              <a:buFontTx/>
              <a:buChar char="•"/>
            </a:pPr>
            <a:r>
              <a:rPr lang="en-US" sz="1800" dirty="0"/>
              <a:t> Report generation capabilities</a:t>
            </a:r>
          </a:p>
          <a:p>
            <a:pPr>
              <a:spcBef>
                <a:spcPct val="50000"/>
              </a:spcBef>
              <a:buFontTx/>
              <a:buBlip>
                <a:blip r:embed="rId2"/>
              </a:buBlip>
            </a:pPr>
            <a:r>
              <a:rPr lang="en-US" dirty="0"/>
              <a:t>  </a:t>
            </a:r>
            <a:r>
              <a:rPr lang="en-US" sz="1800" dirty="0"/>
              <a:t> </a:t>
            </a:r>
            <a:r>
              <a:rPr lang="en-US" dirty="0"/>
              <a:t>Stat-Ease </a:t>
            </a:r>
            <a:r>
              <a:rPr lang="en-US" sz="1800" dirty="0">
                <a:solidFill>
                  <a:srgbClr val="0000FF"/>
                </a:solidFill>
                <a:latin typeface="Arial" charset="0"/>
                <a:hlinkClick r:id="rId4"/>
              </a:rPr>
              <a:t>https://www.statease.com/</a:t>
            </a:r>
            <a:endParaRPr lang="en-US" sz="1800" dirty="0">
              <a:solidFill>
                <a:srgbClr val="0000FF"/>
              </a:solidFill>
              <a:latin typeface="Arial" charset="0"/>
            </a:endParaRPr>
          </a:p>
          <a:p>
            <a:pPr lvl="1">
              <a:spcBef>
                <a:spcPct val="50000"/>
              </a:spcBef>
              <a:buFontTx/>
              <a:buChar char="•"/>
            </a:pPr>
            <a:r>
              <a:rPr lang="en-US" dirty="0"/>
              <a:t> </a:t>
            </a:r>
            <a:r>
              <a:rPr lang="en-US" sz="1800" dirty="0"/>
              <a:t>For research design of experiments</a:t>
            </a:r>
          </a:p>
          <a:p>
            <a:pPr lvl="1">
              <a:spcBef>
                <a:spcPct val="50000"/>
              </a:spcBef>
              <a:buFontTx/>
              <a:buChar char="•"/>
            </a:pPr>
            <a:r>
              <a:rPr lang="en-US" sz="1800" dirty="0"/>
              <a:t>  Advanced features for specialists</a:t>
            </a:r>
          </a:p>
          <a:p>
            <a:pPr>
              <a:spcBef>
                <a:spcPct val="50000"/>
              </a:spcBef>
              <a:buFontTx/>
              <a:buChar char="•"/>
            </a:pPr>
            <a:endParaRPr lang="en-US"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Data Mining</a:t>
            </a:r>
          </a:p>
        </p:txBody>
      </p:sp>
      <p:sp>
        <p:nvSpPr>
          <p:cNvPr id="13315" name="Text Box 3"/>
          <p:cNvSpPr txBox="1">
            <a:spLocks noChangeArrowheads="1"/>
          </p:cNvSpPr>
          <p:nvPr/>
        </p:nvSpPr>
        <p:spPr bwMode="auto">
          <a:xfrm>
            <a:off x="1219200" y="1600200"/>
            <a:ext cx="67056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dirty="0"/>
              <a:t>You can use Python and R for data mining. The list of commercial packages changes rapidly so do your own search. Here are a few recently popular ones:</a:t>
            </a:r>
          </a:p>
          <a:p>
            <a:pPr algn="ctr">
              <a:spcBef>
                <a:spcPct val="50000"/>
              </a:spcBef>
            </a:pPr>
            <a:r>
              <a:rPr lang="en-US" sz="1800" b="1" dirty="0">
                <a:solidFill>
                  <a:srgbClr val="0070C0"/>
                </a:solidFill>
                <a:latin typeface="+mn-lt"/>
              </a:rPr>
              <a:t>Apache Mahout    </a:t>
            </a:r>
            <a:r>
              <a:rPr lang="en-US" sz="1800" b="1" dirty="0" err="1">
                <a:solidFill>
                  <a:srgbClr val="C00000"/>
                </a:solidFill>
                <a:latin typeface="+mn-lt"/>
              </a:rPr>
              <a:t>DataMelt</a:t>
            </a:r>
            <a:r>
              <a:rPr lang="en-US" sz="1800" b="1" dirty="0">
                <a:latin typeface="+mn-lt"/>
              </a:rPr>
              <a:t>    </a:t>
            </a:r>
            <a:r>
              <a:rPr lang="en-US" sz="1800" b="1" dirty="0">
                <a:solidFill>
                  <a:srgbClr val="7030A0"/>
                </a:solidFill>
                <a:latin typeface="+mn-lt"/>
              </a:rPr>
              <a:t>Dundas BI</a:t>
            </a:r>
            <a:r>
              <a:rPr lang="en-US" sz="1800" b="1" dirty="0">
                <a:latin typeface="+mn-lt"/>
              </a:rPr>
              <a:t>    </a:t>
            </a:r>
            <a:r>
              <a:rPr lang="en-US" sz="1800" b="1" dirty="0">
                <a:solidFill>
                  <a:schemeClr val="bg2">
                    <a:lumMod val="50000"/>
                  </a:schemeClr>
                </a:solidFill>
                <a:latin typeface="+mn-lt"/>
              </a:rPr>
              <a:t>H2O</a:t>
            </a:r>
          </a:p>
          <a:p>
            <a:pPr algn="ctr">
              <a:spcBef>
                <a:spcPct val="50000"/>
              </a:spcBef>
            </a:pPr>
            <a:r>
              <a:rPr lang="en-US" sz="1800" b="1" dirty="0">
                <a:solidFill>
                  <a:schemeClr val="accent1">
                    <a:lumMod val="75000"/>
                  </a:schemeClr>
                </a:solidFill>
                <a:latin typeface="+mn-lt"/>
              </a:rPr>
              <a:t>KNIME</a:t>
            </a:r>
            <a:r>
              <a:rPr lang="en-US" sz="1800" b="1" dirty="0">
                <a:latin typeface="+mn-lt"/>
              </a:rPr>
              <a:t>   </a:t>
            </a:r>
            <a:r>
              <a:rPr lang="en-US" sz="1800" b="1" dirty="0" err="1">
                <a:solidFill>
                  <a:srgbClr val="7030A0"/>
                </a:solidFill>
                <a:latin typeface="+mn-lt"/>
              </a:rPr>
              <a:t>MonkeyLearn</a:t>
            </a:r>
            <a:r>
              <a:rPr lang="en-US" sz="1800" b="1" dirty="0">
                <a:latin typeface="+mn-lt"/>
              </a:rPr>
              <a:t>     </a:t>
            </a:r>
            <a:r>
              <a:rPr lang="en-US" sz="1800" b="1" dirty="0">
                <a:solidFill>
                  <a:srgbClr val="0070C0"/>
                </a:solidFill>
                <a:latin typeface="+mn-lt"/>
              </a:rPr>
              <a:t>Oracle Data Mining  </a:t>
            </a:r>
          </a:p>
          <a:p>
            <a:pPr algn="ctr">
              <a:spcBef>
                <a:spcPct val="50000"/>
              </a:spcBef>
            </a:pPr>
            <a:r>
              <a:rPr lang="en-US" sz="1800" b="1" dirty="0">
                <a:solidFill>
                  <a:schemeClr val="accent2">
                    <a:lumMod val="60000"/>
                    <a:lumOff val="40000"/>
                  </a:schemeClr>
                </a:solidFill>
                <a:latin typeface="+mn-lt"/>
              </a:rPr>
              <a:t>Orange</a:t>
            </a:r>
            <a:r>
              <a:rPr lang="en-US" sz="1800" b="1" dirty="0">
                <a:latin typeface="+mn-lt"/>
              </a:rPr>
              <a:t>     </a:t>
            </a:r>
            <a:r>
              <a:rPr lang="en-US" sz="1800" b="1" dirty="0">
                <a:solidFill>
                  <a:srgbClr val="00B050"/>
                </a:solidFill>
                <a:latin typeface="+mn-lt"/>
              </a:rPr>
              <a:t>RapidMiner</a:t>
            </a:r>
            <a:r>
              <a:rPr lang="en-US" sz="1800" b="1" dirty="0">
                <a:latin typeface="+mn-lt"/>
              </a:rPr>
              <a:t>    </a:t>
            </a:r>
            <a:r>
              <a:rPr lang="en-US" sz="1800" b="1" dirty="0">
                <a:solidFill>
                  <a:schemeClr val="accent1">
                    <a:lumMod val="75000"/>
                  </a:schemeClr>
                </a:solidFill>
                <a:latin typeface="+mn-lt"/>
              </a:rPr>
              <a:t>Rattle</a:t>
            </a:r>
            <a:r>
              <a:rPr lang="en-US" sz="1800" b="1" dirty="0">
                <a:latin typeface="+mn-lt"/>
              </a:rPr>
              <a:t>    SAS Data Mining </a:t>
            </a:r>
          </a:p>
          <a:p>
            <a:pPr algn="ctr">
              <a:spcBef>
                <a:spcPct val="50000"/>
              </a:spcBef>
            </a:pPr>
            <a:r>
              <a:rPr lang="en-US" sz="1800" b="1" dirty="0">
                <a:latin typeface="+mn-lt"/>
              </a:rPr>
              <a:t> </a:t>
            </a:r>
            <a:r>
              <a:rPr lang="en-US" sz="1800" b="1" dirty="0">
                <a:solidFill>
                  <a:srgbClr val="00B050"/>
                </a:solidFill>
                <a:latin typeface="+mn-lt"/>
              </a:rPr>
              <a:t>Sisense</a:t>
            </a:r>
            <a:r>
              <a:rPr lang="en-US" sz="1800" b="1" dirty="0">
                <a:latin typeface="+mn-lt"/>
              </a:rPr>
              <a:t>     </a:t>
            </a:r>
            <a:r>
              <a:rPr lang="en-US" sz="1800" b="1" dirty="0">
                <a:solidFill>
                  <a:srgbClr val="7030A0"/>
                </a:solidFill>
                <a:latin typeface="+mn-lt"/>
              </a:rPr>
              <a:t>SPSS Modeler (IBM)    </a:t>
            </a:r>
            <a:r>
              <a:rPr lang="en-US" sz="1800" b="1" dirty="0">
                <a:solidFill>
                  <a:schemeClr val="accent2">
                    <a:lumMod val="60000"/>
                    <a:lumOff val="40000"/>
                  </a:schemeClr>
                </a:solidFill>
                <a:latin typeface="+mn-lt"/>
              </a:rPr>
              <a:t>Teradata</a:t>
            </a:r>
            <a:r>
              <a:rPr lang="en-US" sz="1800" b="1" dirty="0">
                <a:latin typeface="+mn-lt"/>
              </a:rPr>
              <a:t> </a:t>
            </a:r>
          </a:p>
          <a:p>
            <a:pPr>
              <a:spcBef>
                <a:spcPct val="50000"/>
              </a:spcBef>
            </a:pPr>
            <a:r>
              <a:rPr lang="en-US"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Meta-Analysis</a:t>
            </a:r>
          </a:p>
        </p:txBody>
      </p:sp>
      <p:sp>
        <p:nvSpPr>
          <p:cNvPr id="14339" name="Text Box 3"/>
          <p:cNvSpPr txBox="1">
            <a:spLocks noChangeArrowheads="1"/>
          </p:cNvSpPr>
          <p:nvPr/>
        </p:nvSpPr>
        <p:spPr bwMode="auto">
          <a:xfrm>
            <a:off x="1524000" y="1600200"/>
            <a:ext cx="6172200" cy="309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a:t>
            </a:r>
            <a:r>
              <a:rPr lang="en-US" dirty="0" err="1"/>
              <a:t>Biostat</a:t>
            </a:r>
            <a:r>
              <a:rPr lang="en-US" dirty="0"/>
              <a:t>	</a:t>
            </a:r>
            <a:r>
              <a:rPr lang="en-US" sz="1800" dirty="0">
                <a:solidFill>
                  <a:srgbClr val="0000FF"/>
                </a:solidFill>
                <a:latin typeface="Arial" charset="0"/>
              </a:rPr>
              <a:t>https://www.meta-analysis.com/</a:t>
            </a:r>
          </a:p>
          <a:p>
            <a:pPr lvl="1">
              <a:spcBef>
                <a:spcPct val="50000"/>
              </a:spcBef>
              <a:buFontTx/>
              <a:buChar char="•"/>
            </a:pPr>
            <a:r>
              <a:rPr lang="en-US" sz="1800" dirty="0"/>
              <a:t> For research synthesis</a:t>
            </a:r>
          </a:p>
          <a:p>
            <a:pPr lvl="1">
              <a:spcBef>
                <a:spcPct val="50000"/>
              </a:spcBef>
              <a:buFontTx/>
              <a:buChar char="•"/>
            </a:pPr>
            <a:r>
              <a:rPr lang="en-US" sz="1800" dirty="0"/>
              <a:t> Report-generating capabilities</a:t>
            </a:r>
          </a:p>
          <a:p>
            <a:pPr>
              <a:spcBef>
                <a:spcPct val="50000"/>
              </a:spcBef>
              <a:buFontTx/>
              <a:buBlip>
                <a:blip r:embed="rId2"/>
              </a:buBlip>
            </a:pPr>
            <a:r>
              <a:rPr lang="en-US" dirty="0"/>
              <a:t> </a:t>
            </a:r>
            <a:r>
              <a:rPr lang="en-US" dirty="0" err="1"/>
              <a:t>MPlus</a:t>
            </a:r>
            <a:r>
              <a:rPr lang="en-US" dirty="0"/>
              <a:t>   </a:t>
            </a:r>
            <a:r>
              <a:rPr lang="en-US" sz="1800" dirty="0">
                <a:solidFill>
                  <a:srgbClr val="0000FF"/>
                </a:solidFill>
                <a:latin typeface="Arial" charset="0"/>
                <a:hlinkClick r:id="rId3"/>
              </a:rPr>
              <a:t>https://www.statmodel.com</a:t>
            </a:r>
            <a:endParaRPr lang="en-US" dirty="0">
              <a:solidFill>
                <a:srgbClr val="0000FF"/>
              </a:solidFill>
              <a:latin typeface="Arial" charset="0"/>
            </a:endParaRPr>
          </a:p>
          <a:p>
            <a:pPr lvl="1">
              <a:spcBef>
                <a:spcPct val="50000"/>
              </a:spcBef>
              <a:buFontTx/>
              <a:buChar char="•"/>
            </a:pPr>
            <a:r>
              <a:rPr lang="en-US" sz="1800" dirty="0"/>
              <a:t> specialized, comprehensive</a:t>
            </a:r>
          </a:p>
          <a:p>
            <a:pPr lvl="1">
              <a:spcBef>
                <a:spcPct val="50000"/>
              </a:spcBef>
              <a:buFontTx/>
              <a:buChar char="•"/>
            </a:pPr>
            <a:r>
              <a:rPr lang="en-US" sz="1800" dirty="0"/>
              <a:t> advanced features (e.g., Structural Equation Modeling)</a:t>
            </a:r>
          </a:p>
          <a:p>
            <a:pPr lvl="1">
              <a:spcBef>
                <a:spcPct val="50000"/>
              </a:spcBef>
              <a:buFontTx/>
              <a:buChar char="•"/>
            </a:pPr>
            <a:r>
              <a:rPr lang="en-US" sz="1800" dirty="0"/>
              <a:t> student pricing $195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Geographic Information Systems</a:t>
            </a:r>
          </a:p>
        </p:txBody>
      </p:sp>
      <p:sp>
        <p:nvSpPr>
          <p:cNvPr id="15363" name="Text Box 3"/>
          <p:cNvSpPr txBox="1">
            <a:spLocks noChangeArrowheads="1"/>
          </p:cNvSpPr>
          <p:nvPr/>
        </p:nvSpPr>
        <p:spPr bwMode="auto">
          <a:xfrm>
            <a:off x="1371600" y="2362200"/>
            <a:ext cx="6172200"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Blip>
                <a:blip r:embed="rId2"/>
              </a:buBlip>
            </a:pPr>
            <a:r>
              <a:rPr lang="en-US" dirty="0"/>
              <a:t>  ArcGIS   </a:t>
            </a:r>
            <a:r>
              <a:rPr lang="en-US" sz="1800" dirty="0">
                <a:solidFill>
                  <a:srgbClr val="0000FF"/>
                </a:solidFill>
                <a:latin typeface="Arial" charset="0"/>
              </a:rPr>
              <a:t>https://www.</a:t>
            </a:r>
            <a:r>
              <a:rPr lang="en-US" sz="1800" dirty="0">
                <a:solidFill>
                  <a:srgbClr val="0000FF"/>
                </a:solidFill>
                <a:latin typeface="Arial" charset="0"/>
                <a:hlinkClick r:id="rId3">
                  <a:extLst>
                    <a:ext uri="{A12FA001-AC4F-418D-AE19-62706E023703}">
                      <ahyp:hlinkClr xmlns:ahyp="http://schemas.microsoft.com/office/drawing/2018/hyperlinkcolor" val="tx"/>
                    </a:ext>
                  </a:extLst>
                </a:hlinkClick>
              </a:rPr>
              <a:t>esri</a:t>
            </a:r>
            <a:r>
              <a:rPr lang="en-US" sz="1800" dirty="0">
                <a:solidFill>
                  <a:srgbClr val="0000FF"/>
                </a:solidFill>
                <a:latin typeface="Arial" charset="0"/>
              </a:rPr>
              <a:t>.com/en-us/home	</a:t>
            </a:r>
          </a:p>
          <a:p>
            <a:pPr lvl="1">
              <a:spcBef>
                <a:spcPct val="50000"/>
              </a:spcBef>
              <a:buFontTx/>
              <a:buChar char="•"/>
            </a:pPr>
            <a:r>
              <a:rPr lang="en-US" sz="1800" dirty="0"/>
              <a:t> Display, analyze geographic information</a:t>
            </a:r>
          </a:p>
          <a:p>
            <a:pPr lvl="1">
              <a:spcBef>
                <a:spcPct val="50000"/>
              </a:spcBef>
              <a:buFontTx/>
              <a:buChar char="•"/>
            </a:pPr>
            <a:r>
              <a:rPr lang="en-US" sz="1800" dirty="0"/>
              <a:t> Hot area of statistics</a:t>
            </a:r>
          </a:p>
          <a:p>
            <a:pPr lvl="1">
              <a:spcBef>
                <a:spcPct val="50000"/>
              </a:spcBef>
              <a:buFontTx/>
              <a:buChar char="•"/>
            </a:pPr>
            <a:r>
              <a:rPr lang="en-US" sz="1800" dirty="0"/>
              <a:t> For professionals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0" y="228600"/>
            <a:ext cx="9144000" cy="731520"/>
          </a:xfrm>
        </p:spPr>
        <p:txBody>
          <a:bodyPr>
            <a:no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Simulation</a:t>
            </a:r>
          </a:p>
        </p:txBody>
      </p:sp>
      <p:sp>
        <p:nvSpPr>
          <p:cNvPr id="16387" name="Text Box 3"/>
          <p:cNvSpPr txBox="1">
            <a:spLocks noChangeArrowheads="1"/>
          </p:cNvSpPr>
          <p:nvPr/>
        </p:nvSpPr>
        <p:spPr bwMode="auto">
          <a:xfrm>
            <a:off x="1295400" y="1371600"/>
            <a:ext cx="6172200" cy="392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FontTx/>
              <a:buBlip>
                <a:blip r:embed="rId2"/>
              </a:buBlip>
            </a:pPr>
            <a:r>
              <a:rPr lang="en-US" dirty="0"/>
              <a:t>  @Risk  </a:t>
            </a:r>
            <a:r>
              <a:rPr lang="en-US" sz="1800" dirty="0">
                <a:solidFill>
                  <a:srgbClr val="0000FF"/>
                </a:solidFill>
                <a:latin typeface="Arial" charset="0"/>
                <a:hlinkClick r:id="rId3"/>
              </a:rPr>
              <a:t>https://www.palisade.com/risk/</a:t>
            </a:r>
            <a:endParaRPr lang="en-US" sz="1800" dirty="0">
              <a:solidFill>
                <a:srgbClr val="0000FF"/>
              </a:solidFill>
              <a:latin typeface="Arial" charset="0"/>
            </a:endParaRPr>
          </a:p>
          <a:p>
            <a:pPr lvl="1">
              <a:spcBef>
                <a:spcPct val="50000"/>
              </a:spcBef>
              <a:buFontTx/>
              <a:buChar char="•"/>
            </a:pPr>
            <a:r>
              <a:rPr lang="en-US" sz="1800" dirty="0"/>
              <a:t> Simulation using spreadsheet add-ins</a:t>
            </a:r>
          </a:p>
          <a:p>
            <a:pPr lvl="1">
              <a:spcBef>
                <a:spcPct val="50000"/>
              </a:spcBef>
              <a:buFontTx/>
              <a:buChar char="•"/>
            </a:pPr>
            <a:r>
              <a:rPr lang="en-US" sz="1800" dirty="0"/>
              <a:t> Report-generating capabilities</a:t>
            </a:r>
          </a:p>
          <a:p>
            <a:pPr lvl="1">
              <a:spcBef>
                <a:spcPct val="50000"/>
              </a:spcBef>
              <a:buFontTx/>
              <a:buChar char="•"/>
            </a:pPr>
            <a:r>
              <a:rPr lang="en-US" sz="1800" dirty="0">
                <a:solidFill>
                  <a:srgbClr val="0000FF"/>
                </a:solidFill>
                <a:latin typeface="Arial" charset="0"/>
              </a:rPr>
              <a:t> </a:t>
            </a:r>
            <a:r>
              <a:rPr lang="en-US" sz="1800" dirty="0"/>
              <a:t>Graphical summaries</a:t>
            </a:r>
          </a:p>
          <a:p>
            <a:pPr>
              <a:spcBef>
                <a:spcPct val="50000"/>
              </a:spcBef>
              <a:buFontTx/>
              <a:buBlip>
                <a:blip r:embed="rId2"/>
              </a:buBlip>
            </a:pPr>
            <a:r>
              <a:rPr lang="en-US" dirty="0"/>
              <a:t>  Arena  </a:t>
            </a:r>
            <a:r>
              <a:rPr lang="en-US" sz="1800" dirty="0">
                <a:solidFill>
                  <a:srgbClr val="0000FF"/>
                </a:solidFill>
                <a:latin typeface="Arial" charset="0"/>
                <a:hlinkClick r:id="rId4"/>
              </a:rPr>
              <a:t>https://www.arenasimulation.com/</a:t>
            </a:r>
            <a:endParaRPr lang="en-US" sz="1800" dirty="0">
              <a:solidFill>
                <a:srgbClr val="0000FF"/>
              </a:solidFill>
              <a:latin typeface="Arial" charset="0"/>
            </a:endParaRPr>
          </a:p>
          <a:p>
            <a:pPr lvl="1">
              <a:spcBef>
                <a:spcPct val="50000"/>
              </a:spcBef>
              <a:buFontTx/>
              <a:buChar char="•"/>
            </a:pPr>
            <a:r>
              <a:rPr lang="en-US" sz="1800" dirty="0"/>
              <a:t> Discrete event simulation</a:t>
            </a:r>
          </a:p>
          <a:p>
            <a:pPr lvl="1">
              <a:spcBef>
                <a:spcPct val="50000"/>
              </a:spcBef>
              <a:buFontTx/>
              <a:buChar char="•"/>
            </a:pPr>
            <a:r>
              <a:rPr lang="en-US" sz="1800" dirty="0"/>
              <a:t> Reports, graphical summaries, flowcharting</a:t>
            </a:r>
          </a:p>
          <a:p>
            <a:pPr lvl="1">
              <a:spcBef>
                <a:spcPct val="50000"/>
              </a:spcBef>
              <a:buFontTx/>
              <a:buChar char="•"/>
            </a:pPr>
            <a:r>
              <a:rPr lang="en-US" sz="1800" dirty="0"/>
              <a:t> Import/export to </a:t>
            </a:r>
            <a:r>
              <a:rPr lang="en-US" sz="1800" dirty="0" err="1"/>
              <a:t>Miscrosoft</a:t>
            </a:r>
            <a:r>
              <a:rPr lang="en-US" sz="1800" dirty="0"/>
              <a:t> Excel or Access</a:t>
            </a:r>
          </a:p>
          <a:p>
            <a:pPr lvl="1">
              <a:spcBef>
                <a:spcPct val="50000"/>
              </a:spcBef>
              <a:buFontTx/>
              <a:buChar char="•"/>
            </a:pPr>
            <a:r>
              <a:rPr lang="en-US" sz="1800" dirty="0"/>
              <a:t> Includes Visual Basic for Applications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8"/>
          <p:cNvSpPr>
            <a:spLocks noGrp="1" noChangeArrowheads="1"/>
          </p:cNvSpPr>
          <p:nvPr>
            <p:ph type="ctrTitle"/>
          </p:nvPr>
        </p:nvSpPr>
        <p:spPr>
          <a:xfrm>
            <a:off x="0" y="228600"/>
            <a:ext cx="9144000" cy="731520"/>
          </a:xfrm>
          <a:noFill/>
        </p:spPr>
        <p:txBody>
          <a:bodyPr>
            <a:normAutofit/>
          </a:bodyPr>
          <a:lstStyle/>
          <a:p>
            <a:pPr algn="ctr"/>
            <a:r>
              <a:rPr lang="en-US" sz="3600" b="1" dirty="0">
                <a:solidFill>
                  <a:schemeClr val="accent1">
                    <a:lumMod val="75000"/>
                  </a:schemeClr>
                </a:solidFill>
                <a:effectLst>
                  <a:outerShdw blurRad="38100" dist="38100" dir="2700000" algn="tl">
                    <a:srgbClr val="000000"/>
                  </a:outerShdw>
                </a:effectLst>
                <a:latin typeface="Arial" panose="020B0604020202020204" pitchFamily="34" charset="0"/>
                <a:cs typeface="Arial" panose="020B0604020202020204" pitchFamily="34" charset="0"/>
              </a:rPr>
              <a:t>Things Change …</a:t>
            </a:r>
          </a:p>
        </p:txBody>
      </p:sp>
      <p:sp>
        <p:nvSpPr>
          <p:cNvPr id="19459" name="Text Box 10"/>
          <p:cNvSpPr txBox="1">
            <a:spLocks noChangeArrowheads="1"/>
          </p:cNvSpPr>
          <p:nvPr/>
        </p:nvSpPr>
        <p:spPr bwMode="auto">
          <a:xfrm>
            <a:off x="1727994" y="1752600"/>
            <a:ext cx="5410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dirty="0"/>
              <a:t>Statistical software evolves.  Do your own research.  Ask professionals for advice.</a:t>
            </a:r>
          </a:p>
        </p:txBody>
      </p:sp>
      <p:pic>
        <p:nvPicPr>
          <p:cNvPr id="19460" name="Picture 11" descr="Learning to Fly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3124200"/>
            <a:ext cx="1673751"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8"/>
          <p:cNvSpPr txBox="1">
            <a:spLocks noChangeArrowheads="1"/>
          </p:cNvSpPr>
          <p:nvPr/>
        </p:nvSpPr>
        <p:spPr bwMode="auto">
          <a:xfrm>
            <a:off x="1143000" y="4724400"/>
            <a:ext cx="6629400" cy="1077218"/>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i="1" dirty="0">
                <a:solidFill>
                  <a:schemeClr val="accent2"/>
                </a:solidFill>
              </a:rPr>
              <a:t>Disclaimer</a:t>
            </a:r>
            <a:r>
              <a:rPr lang="en-US" sz="1600" dirty="0"/>
              <a:t>  The web links listed here are not intended as endorsements, but rather as sources of information.  The commercial market evolves continually, so any list is quickly outdated.  The web links change with annoying frequency! But these suggestions may provide a place to start.</a:t>
            </a:r>
          </a:p>
        </p:txBody>
      </p:sp>
      <p:pic>
        <p:nvPicPr>
          <p:cNvPr id="20483"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0574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B8B84D7-407A-4689-868C-2D1AFC2B12E3}"/>
              </a:ext>
            </a:extLst>
          </p:cNvPr>
          <p:cNvSpPr txBox="1"/>
          <p:nvPr/>
        </p:nvSpPr>
        <p:spPr>
          <a:xfrm>
            <a:off x="762000" y="633800"/>
            <a:ext cx="7162800" cy="1231106"/>
          </a:xfrm>
          <a:prstGeom prst="rect">
            <a:avLst/>
          </a:prstGeom>
          <a:noFill/>
        </p:spPr>
        <p:txBody>
          <a:bodyPr wrap="square" rtlCol="0">
            <a:spAutoFit/>
          </a:bodyPr>
          <a:lstStyle/>
          <a:p>
            <a:pPr algn="ctr"/>
            <a:r>
              <a:rPr lang="en-US" sz="2800" i="1" dirty="0">
                <a:latin typeface="Comic Sans MS" panose="030F0702030302020204" pitchFamily="66" charset="0"/>
              </a:rPr>
              <a:t>Better things are coming …</a:t>
            </a:r>
            <a:br>
              <a:rPr lang="en-US" i="1" dirty="0">
                <a:latin typeface="Comic Sans MS" panose="030F0702030302020204" pitchFamily="66" charset="0"/>
              </a:rPr>
            </a:br>
            <a:br>
              <a:rPr lang="en-US" dirty="0"/>
            </a:br>
            <a:r>
              <a:rPr lang="en-US" sz="2800" dirty="0">
                <a:solidFill>
                  <a:srgbClr val="C00000"/>
                </a:solidFill>
                <a:effectLst>
                  <a:outerShdw blurRad="38100" dist="38100" dir="2700000" algn="tl">
                    <a:srgbClr val="000000">
                      <a:alpha val="43137"/>
                    </a:srgbClr>
                  </a:outerShdw>
                </a:effectLst>
              </a:rPr>
              <a:t>THIS PRESENTATION IS ALWAYS EVOLVING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2715</TotalTime>
  <Words>1033</Words>
  <Application>Microsoft Office PowerPoint</Application>
  <PresentationFormat>On-screen Show (4:3)</PresentationFormat>
  <Paragraphs>133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Comic Sans MS</vt:lpstr>
      <vt:lpstr>Retrospect</vt:lpstr>
      <vt:lpstr>Statistical Software</vt:lpstr>
      <vt:lpstr>The “Right” Software?</vt:lpstr>
      <vt:lpstr>General Statistics - I</vt:lpstr>
      <vt:lpstr>General Statistics - II</vt:lpstr>
      <vt:lpstr>General Statistics - III</vt:lpstr>
      <vt:lpstr>General Statistics - IV</vt:lpstr>
      <vt:lpstr>General Statistics - V</vt:lpstr>
      <vt:lpstr>General Statistics - VIII</vt:lpstr>
      <vt:lpstr>General Statistics - IX</vt:lpstr>
      <vt:lpstr>Special Topics I</vt:lpstr>
      <vt:lpstr>Special Topics II</vt:lpstr>
      <vt:lpstr>Power and Sample Size</vt:lpstr>
      <vt:lpstr>Data Mining</vt:lpstr>
      <vt:lpstr>Meta-Analysis</vt:lpstr>
      <vt:lpstr>Geographic Information Systems</vt:lpstr>
      <vt:lpstr>Simulation</vt:lpstr>
      <vt:lpstr>Things Change …</vt:lpstr>
      <vt:lpstr>PowerPoint Presentation</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Products and Services</dc:title>
  <dc:subject>Chapter 1 - Overview of Statistics</dc:subject>
  <dc:creator>David P. Doane</dc:creator>
  <dc:description>Copyright (c) 2025 by McGraw Hill LLC. This material is intended solely for educational use licensed users of Connect. It may not be copied or resold.</dc:description>
  <cp:lastModifiedBy>Gunasundari Kuppan</cp:lastModifiedBy>
  <cp:revision>126</cp:revision>
  <dcterms:created xsi:type="dcterms:W3CDTF">2000-08-22T13:07:54Z</dcterms:created>
  <dcterms:modified xsi:type="dcterms:W3CDTF">2024-11-13T07:29:25Z</dcterms:modified>
</cp:coreProperties>
</file>