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4"/>
  </p:notesMasterIdLst>
  <p:sldIdLst>
    <p:sldId id="270" r:id="rId2"/>
    <p:sldId id="262" r:id="rId3"/>
    <p:sldId id="275" r:id="rId4"/>
    <p:sldId id="294" r:id="rId5"/>
    <p:sldId id="276" r:id="rId6"/>
    <p:sldId id="273" r:id="rId7"/>
    <p:sldId id="293" r:id="rId8"/>
    <p:sldId id="347" r:id="rId9"/>
    <p:sldId id="290" r:id="rId10"/>
    <p:sldId id="295" r:id="rId11"/>
    <p:sldId id="288" r:id="rId12"/>
    <p:sldId id="287" r:id="rId13"/>
    <p:sldId id="291" r:id="rId14"/>
    <p:sldId id="292" r:id="rId15"/>
    <p:sldId id="296" r:id="rId16"/>
    <p:sldId id="266" r:id="rId17"/>
    <p:sldId id="304" r:id="rId18"/>
    <p:sldId id="303" r:id="rId19"/>
    <p:sldId id="302" r:id="rId20"/>
    <p:sldId id="386" r:id="rId21"/>
    <p:sldId id="314" r:id="rId22"/>
    <p:sldId id="309" r:id="rId23"/>
    <p:sldId id="382" r:id="rId24"/>
    <p:sldId id="310" r:id="rId25"/>
    <p:sldId id="317" r:id="rId26"/>
    <p:sldId id="326" r:id="rId27"/>
    <p:sldId id="318" r:id="rId28"/>
    <p:sldId id="387" r:id="rId29"/>
    <p:sldId id="271" r:id="rId30"/>
    <p:sldId id="297" r:id="rId31"/>
    <p:sldId id="380" r:id="rId32"/>
    <p:sldId id="381" r:id="rId33"/>
    <p:sldId id="327" r:id="rId34"/>
    <p:sldId id="323" r:id="rId35"/>
    <p:sldId id="321" r:id="rId36"/>
    <p:sldId id="300" r:id="rId37"/>
    <p:sldId id="320" r:id="rId38"/>
    <p:sldId id="299" r:id="rId39"/>
    <p:sldId id="315" r:id="rId40"/>
    <p:sldId id="316" r:id="rId41"/>
    <p:sldId id="336" r:id="rId42"/>
    <p:sldId id="376" r:id="rId43"/>
    <p:sldId id="334" r:id="rId44"/>
    <p:sldId id="345" r:id="rId45"/>
    <p:sldId id="346" r:id="rId46"/>
    <p:sldId id="341" r:id="rId47"/>
    <p:sldId id="337" r:id="rId48"/>
    <p:sldId id="354" r:id="rId49"/>
    <p:sldId id="355" r:id="rId50"/>
    <p:sldId id="388" r:id="rId51"/>
    <p:sldId id="361" r:id="rId52"/>
    <p:sldId id="371" r:id="rId53"/>
    <p:sldId id="360" r:id="rId54"/>
    <p:sldId id="357" r:id="rId55"/>
    <p:sldId id="389" r:id="rId56"/>
    <p:sldId id="359" r:id="rId57"/>
    <p:sldId id="390" r:id="rId58"/>
    <p:sldId id="356" r:id="rId59"/>
    <p:sldId id="391" r:id="rId60"/>
    <p:sldId id="367" r:id="rId61"/>
    <p:sldId id="370" r:id="rId62"/>
    <p:sldId id="373"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04" autoAdjust="0"/>
    <p:restoredTop sz="94660"/>
  </p:normalViewPr>
  <p:slideViewPr>
    <p:cSldViewPr snapToGrid="0">
      <p:cViewPr varScale="1">
        <p:scale>
          <a:sx n="63" d="100"/>
          <a:sy n="63" d="100"/>
        </p:scale>
        <p:origin x="82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156A6-7566-49F2-B7BF-90036F2F2137}" type="datetimeFigureOut">
              <a:rPr lang="en-US" smtClean="0"/>
              <a:t>11/29/2023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B6A41-E100-4204-97B4-FCBA113F6E4B}" type="slidenum">
              <a:rPr lang="en-US" smtClean="0"/>
              <a:t>‹#›</a:t>
            </a:fld>
            <a:endParaRPr lang="en-US"/>
          </a:p>
        </p:txBody>
      </p:sp>
    </p:spTree>
    <p:extLst>
      <p:ext uri="{BB962C8B-B14F-4D97-AF65-F5344CB8AC3E}">
        <p14:creationId xmlns:p14="http://schemas.microsoft.com/office/powerpoint/2010/main" val="2722178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A56358FD-B01F-4BF0-98D6-0E0CC18177D0}" type="datetime1">
              <a:rPr lang="en-US" smtClean="0"/>
              <a:t>11/29/2023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DA298C-A6DD-49F2-B618-DC3FEA59E4D9}" type="datetime1">
              <a:rPr lang="en-US" smtClean="0"/>
              <a:t>11/29/2023</a:t>
            </a:fld>
            <a:endParaRPr lang="en-US" dirty="0"/>
          </a:p>
        </p:txBody>
      </p:sp>
      <p:sp>
        <p:nvSpPr>
          <p:cNvPr id="5" name="Footer Placeholder 4"/>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2FDBF3B-451E-4D3D-B6EF-6EBE02F6E3E5}" type="datetime1">
              <a:rPr lang="en-US" smtClean="0"/>
              <a:t>11/29/2023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108E38-4C8F-47AB-8309-64AC14E20C46}" type="datetime1">
              <a:rPr lang="en-US" smtClean="0"/>
              <a:t>11/29/2023</a:t>
            </a:fld>
            <a:endParaRPr lang="en-US" dirty="0"/>
          </a:p>
        </p:txBody>
      </p:sp>
      <p:sp>
        <p:nvSpPr>
          <p:cNvPr id="6" name="Footer Placeholder 5"/>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F43DD2-7937-4000-ACBE-D1CF55E9A793}" type="datetime1">
              <a:rPr lang="en-US" smtClean="0"/>
              <a:t>11/29/2023</a:t>
            </a:fld>
            <a:endParaRPr lang="en-US" dirty="0"/>
          </a:p>
        </p:txBody>
      </p:sp>
      <p:sp>
        <p:nvSpPr>
          <p:cNvPr id="8" name="Footer Placeholder 7"/>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B34571-D89B-4B36-948B-70FA443C1125}" type="datetime1">
              <a:rPr lang="en-US" smtClean="0"/>
              <a:t>11/29/2023</a:t>
            </a:fld>
            <a:endParaRPr lang="en-US" dirty="0"/>
          </a:p>
        </p:txBody>
      </p:sp>
      <p:sp>
        <p:nvSpPr>
          <p:cNvPr id="4" name="Footer Placeholder 3"/>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C57104-2F48-41D3-8C4B-735582E61417}" type="datetime1">
              <a:rPr lang="en-US" smtClean="0"/>
              <a:t>11/29/2023</a:t>
            </a:fld>
            <a:endParaRPr lang="en-US" dirty="0"/>
          </a:p>
        </p:txBody>
      </p:sp>
      <p:sp>
        <p:nvSpPr>
          <p:cNvPr id="3" name="Footer Placeholder 2"/>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722EC03-A73E-4004-91DB-89FB51E7A265}" type="datetime1">
              <a:rPr lang="en-US" smtClean="0"/>
              <a:t>11/29/2023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 McGraw Hill LLC. All rights reserved. No reproduction or distribution without the prior written consent of McGraw Hill LLC.</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64A801C-7E04-4AF8-AA90-CE3348530EB7}" type="datetime1">
              <a:rPr lang="en-US" smtClean="0"/>
              <a:t>11/29/2023</a:t>
            </a:fld>
            <a:endParaRPr lang="en-US" dirty="0"/>
          </a:p>
        </p:txBody>
      </p:sp>
      <p:sp>
        <p:nvSpPr>
          <p:cNvPr id="6" name="Footer Placeholder 5"/>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A67C01-8D5C-4ED5-9A9E-9AA1FE109DE4}" type="datetime1">
              <a:rPr lang="en-US" smtClean="0"/>
              <a:t>11/29/2023</a:t>
            </a:fld>
            <a:endParaRPr lang="en-US" dirty="0"/>
          </a:p>
        </p:txBody>
      </p:sp>
      <p:sp>
        <p:nvSpPr>
          <p:cNvPr id="5" name="Footer Placeholder 4"/>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73F8773-8055-4D0B-BC4C-71021DA6F32A}" type="datetime1">
              <a:rPr lang="en-US" smtClean="0"/>
              <a:t>11/29/2023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47396DD-66E7-425E-82B0-36A929CB60B2}" type="datetime1">
              <a:rPr lang="en-US" smtClean="0"/>
              <a:t>11/29/2023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 McGraw Hill LLC. All rights reserved. No reproduction or distribution without the prior written consent of McGraw Hill LLC.</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8.xml"/><Relationship Id="rId3" Type="http://schemas.openxmlformats.org/officeDocument/2006/relationships/slide" Target="slide3.xml"/><Relationship Id="rId7" Type="http://schemas.openxmlformats.org/officeDocument/2006/relationships/slide" Target="slide36.xml"/><Relationship Id="rId12"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30.xml"/><Relationship Id="rId11" Type="http://schemas.openxmlformats.org/officeDocument/2006/relationships/image" Target="../media/image1.png"/><Relationship Id="rId5" Type="http://schemas.openxmlformats.org/officeDocument/2006/relationships/slide" Target="slide25.xml"/><Relationship Id="rId10" Type="http://schemas.openxmlformats.org/officeDocument/2006/relationships/slide" Target="slide47.xml"/><Relationship Id="rId4" Type="http://schemas.openxmlformats.org/officeDocument/2006/relationships/slide" Target="slide16.xml"/><Relationship Id="rId9" Type="http://schemas.openxmlformats.org/officeDocument/2006/relationships/slide" Target="slide4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slide" Target="slide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wmf"/><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slide" Target="slide1.xml"/><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5.gif"/><Relationship Id="rId7" Type="http://schemas.openxmlformats.org/officeDocument/2006/relationships/image" Target="../media/image16.emf"/><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slide" Target="slide1.xml"/><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jpg"/><Relationship Id="rId7" Type="http://schemas.openxmlformats.org/officeDocument/2006/relationships/image" Target="../media/image19.png"/><Relationship Id="rId2" Type="http://schemas.openxmlformats.org/officeDocument/2006/relationships/image" Target="../media/image20.jpg"/><Relationship Id="rId1" Type="http://schemas.openxmlformats.org/officeDocument/2006/relationships/slideLayout" Target="../slideLayouts/slideLayout7.xml"/><Relationship Id="rId6" Type="http://schemas.openxmlformats.org/officeDocument/2006/relationships/slide" Target="slide1.xml"/><Relationship Id="rId11" Type="http://schemas.openxmlformats.org/officeDocument/2006/relationships/image" Target="../media/image27.png"/><Relationship Id="rId5" Type="http://schemas.openxmlformats.org/officeDocument/2006/relationships/image" Target="../media/image23.jpg"/><Relationship Id="rId10" Type="http://schemas.openxmlformats.org/officeDocument/2006/relationships/image" Target="../media/image26.png"/><Relationship Id="rId4" Type="http://schemas.openxmlformats.org/officeDocument/2006/relationships/image" Target="../media/image22.jp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19.png"/><Relationship Id="rId2" Type="http://schemas.openxmlformats.org/officeDocument/2006/relationships/image" Target="../media/image28.emf"/><Relationship Id="rId1"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image" Target="../media/image5.gif"/><Relationship Id="rId4" Type="http://schemas.openxmlformats.org/officeDocument/2006/relationships/image" Target="../media/image30.jpg"/></Relationships>
</file>

<file path=ppt/slides/_rels/slide8.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3.png"/><Relationship Id="rId2" Type="http://schemas.openxmlformats.org/officeDocument/2006/relationships/image" Target="../media/image31.jp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slide" Target="slide1.xml"/><Relationship Id="rId4" Type="http://schemas.openxmlformats.org/officeDocument/2006/relationships/image" Target="../media/image5.gif"/></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emf"/><Relationship Id="rId7" Type="http://schemas.openxmlformats.org/officeDocument/2006/relationships/image" Target="../media/image39.jp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emf"/><Relationship Id="rId9"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image" Target="../media/image43.emf"/><Relationship Id="rId4" Type="http://schemas.openxmlformats.org/officeDocument/2006/relationships/image" Target="../media/image42.emf"/></Relationships>
</file>

<file path=ppt/slides/_rels/slide11.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46.emf"/></Relationships>
</file>

<file path=ppt/slides/_rels/slide12.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slide" Target="slide1.xml"/><Relationship Id="rId4" Type="http://schemas.openxmlformats.org/officeDocument/2006/relationships/image" Target="../media/image49.emf"/></Relationships>
</file>

<file path=ppt/slides/_rels/slide1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56.png"/><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46.emf"/></Relationships>
</file>

<file path=ppt/slides/_rels/slide16.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57.jpg"/><Relationship Id="rId7" Type="http://schemas.openxmlformats.org/officeDocument/2006/relationships/image" Target="../media/image5.gif"/><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59.jpg"/><Relationship Id="rId5" Type="http://schemas.openxmlformats.org/officeDocument/2006/relationships/image" Target="../media/image58.jpg"/><Relationship Id="rId4" Type="http://schemas.openxmlformats.org/officeDocument/2006/relationships/image" Target="../media/image38.jpg"/></Relationships>
</file>

<file path=ppt/slides/_rels/slide17.xml.rels><?xml version="1.0" encoding="UTF-8" standalone="yes"?>
<Relationships xmlns="http://schemas.openxmlformats.org/package/2006/relationships"><Relationship Id="rId3" Type="http://schemas.openxmlformats.org/officeDocument/2006/relationships/image" Target="../media/image5.gif"/><Relationship Id="rId7" Type="http://schemas.openxmlformats.org/officeDocument/2006/relationships/slide" Target="slide1.xml"/><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60.jpg"/><Relationship Id="rId5" Type="http://schemas.openxmlformats.org/officeDocument/2006/relationships/image" Target="../media/image59.jpg"/><Relationship Id="rId4" Type="http://schemas.openxmlformats.org/officeDocument/2006/relationships/image" Target="../media/image37.jpg"/></Relationships>
</file>

<file path=ppt/slides/_rels/slide18.xml.rels><?xml version="1.0" encoding="UTF-8" standalone="yes"?>
<Relationships xmlns="http://schemas.openxmlformats.org/package/2006/relationships"><Relationship Id="rId3" Type="http://schemas.openxmlformats.org/officeDocument/2006/relationships/image" Target="../media/image5.gif"/><Relationship Id="rId7" Type="http://schemas.openxmlformats.org/officeDocument/2006/relationships/slide" Target="slide1.xml"/><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63.jpg"/><Relationship Id="rId5" Type="http://schemas.openxmlformats.org/officeDocument/2006/relationships/image" Target="../media/image62.jpg"/><Relationship Id="rId4" Type="http://schemas.openxmlformats.org/officeDocument/2006/relationships/image" Target="../media/image61.jpg"/></Relationships>
</file>

<file path=ppt/slides/_rels/slide19.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slide" Target="slide1.xml"/><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66.jpg"/><Relationship Id="rId5" Type="http://schemas.openxmlformats.org/officeDocument/2006/relationships/image" Target="../media/image65.emf"/><Relationship Id="rId4" Type="http://schemas.openxmlformats.org/officeDocument/2006/relationships/image" Target="../media/image64.emf"/></Relationships>
</file>

<file path=ppt/slides/_rels/slide2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slide" Target="slide1.xml"/><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9.emf"/></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 Target="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jpg"/><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75.jpg"/></Relationships>
</file>

<file path=ppt/slides/_rels/slide23.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image" Target="../media/image76.jpg"/><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slide" Target="slide1.xml"/></Relationships>
</file>

<file path=ppt/slides/_rels/slide24.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image" Target="../media/image78.emf"/><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80.jpg"/></Relationships>
</file>

<file path=ppt/slides/_rels/slide25.xml.rels><?xml version="1.0" encoding="UTF-8" standalone="yes"?>
<Relationships xmlns="http://schemas.openxmlformats.org/package/2006/relationships"><Relationship Id="rId8" Type="http://schemas.openxmlformats.org/officeDocument/2006/relationships/image" Target="../media/image85.emf"/><Relationship Id="rId3" Type="http://schemas.openxmlformats.org/officeDocument/2006/relationships/image" Target="../media/image82.emf"/><Relationship Id="rId7" Type="http://schemas.openxmlformats.org/officeDocument/2006/relationships/slide" Target="slide1.xml"/><Relationship Id="rId2" Type="http://schemas.openxmlformats.org/officeDocument/2006/relationships/image" Target="../media/image81.emf"/><Relationship Id="rId1" Type="http://schemas.openxmlformats.org/officeDocument/2006/relationships/slideLayout" Target="../slideLayouts/slideLayout7.xml"/><Relationship Id="rId6" Type="http://schemas.openxmlformats.org/officeDocument/2006/relationships/image" Target="../media/image52.jpeg"/><Relationship Id="rId5" Type="http://schemas.openxmlformats.org/officeDocument/2006/relationships/image" Target="../media/image84.emf"/><Relationship Id="rId4" Type="http://schemas.openxmlformats.org/officeDocument/2006/relationships/image" Target="../media/image83.emf"/></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6.emf"/><Relationship Id="rId1" Type="http://schemas.openxmlformats.org/officeDocument/2006/relationships/slideLayout" Target="../slideLayouts/slideLayout7.xml"/><Relationship Id="rId4" Type="http://schemas.openxmlformats.org/officeDocument/2006/relationships/image" Target="../media/image70.emf"/></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5.gif"/><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emf"/><Relationship Id="rId5" Type="http://schemas.openxmlformats.org/officeDocument/2006/relationships/image" Target="../media/image70.emf"/><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8" Type="http://schemas.openxmlformats.org/officeDocument/2006/relationships/image" Target="../media/image92.emf"/><Relationship Id="rId3" Type="http://schemas.openxmlformats.org/officeDocument/2006/relationships/image" Target="../media/image88.emf"/><Relationship Id="rId7" Type="http://schemas.openxmlformats.org/officeDocument/2006/relationships/image" Target="../media/image91.png"/><Relationship Id="rId2"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slide" Target="slide1.xml"/><Relationship Id="rId4" Type="http://schemas.openxmlformats.org/officeDocument/2006/relationships/image" Target="../media/image89.emf"/></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gif"/><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94.png"/><Relationship Id="rId1" Type="http://schemas.openxmlformats.org/officeDocument/2006/relationships/slideLayout" Target="../slideLayouts/slideLayout7.xml"/><Relationship Id="rId4" Type="http://schemas.openxmlformats.org/officeDocument/2006/relationships/image" Target="../media/image39.jpg"/></Relationships>
</file>

<file path=ppt/slides/_rels/slide31.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64.emf"/><Relationship Id="rId1" Type="http://schemas.openxmlformats.org/officeDocument/2006/relationships/slideLayout" Target="../slideLayouts/slideLayout7.xml"/><Relationship Id="rId4" Type="http://schemas.openxmlformats.org/officeDocument/2006/relationships/slide" Target="slide1.xml"/></Relationships>
</file>

<file path=ppt/slides/_rels/slide32.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79.jpg"/><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slide" Target="slide1.xml"/></Relationships>
</file>

<file path=ppt/slides/_rels/slide33.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slideLayout" Target="../slideLayouts/slideLayout7.xml"/><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6.jpg"/><Relationship Id="rId1" Type="http://schemas.openxmlformats.org/officeDocument/2006/relationships/slideLayout" Target="../slideLayouts/slideLayout7.xml"/><Relationship Id="rId5" Type="http://schemas.openxmlformats.org/officeDocument/2006/relationships/image" Target="../media/image100.emf"/><Relationship Id="rId4" Type="http://schemas.openxmlformats.org/officeDocument/2006/relationships/slide" Target="slide1.xml"/></Relationships>
</file>

<file path=ppt/slides/_rels/slide35.xml.rels><?xml version="1.0" encoding="UTF-8" standalone="yes"?>
<Relationships xmlns="http://schemas.openxmlformats.org/package/2006/relationships"><Relationship Id="rId3" Type="http://schemas.openxmlformats.org/officeDocument/2006/relationships/image" Target="../media/image102.emf"/><Relationship Id="rId7" Type="http://schemas.openxmlformats.org/officeDocument/2006/relationships/image" Target="../media/image100.emf"/><Relationship Id="rId2" Type="http://schemas.openxmlformats.org/officeDocument/2006/relationships/image" Target="../media/image101.jpg"/><Relationship Id="rId1" Type="http://schemas.openxmlformats.org/officeDocument/2006/relationships/slideLayout" Target="../slideLayouts/slideLayout7.xml"/><Relationship Id="rId6" Type="http://schemas.openxmlformats.org/officeDocument/2006/relationships/image" Target="../media/image104.emf"/><Relationship Id="rId5" Type="http://schemas.openxmlformats.org/officeDocument/2006/relationships/image" Target="../media/image103.png"/><Relationship Id="rId4"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image" Target="../media/image108.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107.png"/><Relationship Id="rId4" Type="http://schemas.openxmlformats.org/officeDocument/2006/relationships/image" Target="../media/image106.png"/></Relationships>
</file>

<file path=ppt/slides/_rels/slide37.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5.gif"/><Relationship Id="rId7" Type="http://schemas.openxmlformats.org/officeDocument/2006/relationships/image" Target="../media/image111.png"/><Relationship Id="rId2"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image" Target="../media/image104.emf"/><Relationship Id="rId4" Type="http://schemas.openxmlformats.org/officeDocument/2006/relationships/image" Target="../media/image110.emf"/></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13.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15.png"/><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40.xml.rels><?xml version="1.0" encoding="UTF-8" standalone="yes"?>
<Relationships xmlns="http://schemas.openxmlformats.org/package/2006/relationships"><Relationship Id="rId3" Type="http://schemas.openxmlformats.org/officeDocument/2006/relationships/image" Target="../media/image118.jpg"/><Relationship Id="rId2" Type="http://schemas.openxmlformats.org/officeDocument/2006/relationships/image" Target="../media/image117.png"/><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119.jpg"/></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0.gif"/><Relationship Id="rId1" Type="http://schemas.openxmlformats.org/officeDocument/2006/relationships/slideLayout" Target="../slideLayouts/slideLayout7.xml"/><Relationship Id="rId4" Type="http://schemas.openxmlformats.org/officeDocument/2006/relationships/image" Target="../media/image121.emf"/></Relationships>
</file>

<file path=ppt/slides/_rels/slide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2.png"/><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4.emf"/><Relationship Id="rId1" Type="http://schemas.openxmlformats.org/officeDocument/2006/relationships/slideLayout" Target="../slideLayouts/slideLayout7.xml"/><Relationship Id="rId5" Type="http://schemas.openxmlformats.org/officeDocument/2006/relationships/image" Target="../media/image120.gif"/><Relationship Id="rId4" Type="http://schemas.openxmlformats.org/officeDocument/2006/relationships/image" Target="../media/image125.png"/></Relationships>
</file>

<file path=ppt/slides/_rels/slide44.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6.jpg"/><Relationship Id="rId1" Type="http://schemas.openxmlformats.org/officeDocument/2006/relationships/slideLayout" Target="../slideLayouts/slideLayout7.xml"/><Relationship Id="rId4" Type="http://schemas.openxmlformats.org/officeDocument/2006/relationships/slide" Target="slide1.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7.emf"/><Relationship Id="rId1" Type="http://schemas.openxmlformats.org/officeDocument/2006/relationships/slideLayout" Target="../slideLayouts/slideLayout7.xml"/><Relationship Id="rId5" Type="http://schemas.openxmlformats.org/officeDocument/2006/relationships/image" Target="../media/image129.png"/><Relationship Id="rId4" Type="http://schemas.openxmlformats.org/officeDocument/2006/relationships/image" Target="../media/image128.png"/></Relationships>
</file>

<file path=ppt/slides/_rels/slide46.xml.rels><?xml version="1.0" encoding="UTF-8" standalone="yes"?>
<Relationships xmlns="http://schemas.openxmlformats.org/package/2006/relationships"><Relationship Id="rId3" Type="http://schemas.openxmlformats.org/officeDocument/2006/relationships/image" Target="../media/image130.jpg"/><Relationship Id="rId2" Type="http://schemas.openxmlformats.org/officeDocument/2006/relationships/image" Target="../media/image127.emf"/><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120.gif"/></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20.gif"/><Relationship Id="rId1" Type="http://schemas.openxmlformats.org/officeDocument/2006/relationships/slideLayout" Target="../slideLayouts/slideLayout7.xml"/><Relationship Id="rId4" Type="http://schemas.openxmlformats.org/officeDocument/2006/relationships/image" Target="../media/image131.png"/></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32.png"/><Relationship Id="rId1" Type="http://schemas.openxmlformats.org/officeDocument/2006/relationships/slideLayout" Target="../slideLayouts/slideLayout7.xml"/><Relationship Id="rId4" Type="http://schemas.openxmlformats.org/officeDocument/2006/relationships/image" Target="../media/image5.gif"/></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137.png"/><Relationship Id="rId4" Type="http://schemas.openxmlformats.org/officeDocument/2006/relationships/image" Target="../media/image136.png"/></Relationships>
</file>

<file path=ppt/slides/_rels/slide5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34.png"/><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138.png"/></Relationships>
</file>

<file path=ppt/slides/_rels/slide5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141.png"/><Relationship Id="rId4" Type="http://schemas.openxmlformats.org/officeDocument/2006/relationships/image" Target="../media/image140.png"/></Relationships>
</file>

<file path=ppt/slides/_rels/slide5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143.wmf"/></Relationships>
</file>

<file path=ppt/slides/_rels/slide5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145.wmf"/><Relationship Id="rId4" Type="http://schemas.openxmlformats.org/officeDocument/2006/relationships/image" Target="../media/image5.gif"/></Relationships>
</file>

<file path=ppt/slides/_rels/slide56.xml.rels><?xml version="1.0" encoding="UTF-8" standalone="yes"?>
<Relationships xmlns="http://schemas.openxmlformats.org/package/2006/relationships"><Relationship Id="rId3" Type="http://schemas.openxmlformats.org/officeDocument/2006/relationships/image" Target="../media/image120.gif"/><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46.png"/><Relationship Id="rId5" Type="http://schemas.openxmlformats.org/officeDocument/2006/relationships/image" Target="../media/image144.png"/><Relationship Id="rId4" Type="http://schemas.openxmlformats.org/officeDocument/2006/relationships/image" Target="../media/image5.gi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1.xml"/><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image" Target="../media/image147.wmf"/></Relationships>
</file>

<file path=ppt/slides/_rels/slide58.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20.gif"/><Relationship Id="rId7" Type="http://schemas.openxmlformats.org/officeDocument/2006/relationships/image" Target="../media/image151.png"/><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20.gif"/><Relationship Id="rId2"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s>
</file>

<file path=ppt/slides/_rels/slide6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34.png"/><Relationship Id="rId1" Type="http://schemas.openxmlformats.org/officeDocument/2006/relationships/slideLayout" Target="../slideLayouts/slideLayout7.xml"/><Relationship Id="rId5" Type="http://schemas.openxmlformats.org/officeDocument/2006/relationships/image" Target="../media/image5.gif"/><Relationship Id="rId4" Type="http://schemas.openxmlformats.org/officeDocument/2006/relationships/slide" Target="slide1.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34.png"/><Relationship Id="rId1" Type="http://schemas.openxmlformats.org/officeDocument/2006/relationships/slideLayout" Target="../slideLayouts/slideLayout7.xml"/><Relationship Id="rId4" Type="http://schemas.openxmlformats.org/officeDocument/2006/relationships/image" Target="../media/image157.png"/></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5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Excel for WINDOWS</a:t>
            </a:r>
          </a:p>
        </p:txBody>
      </p:sp>
      <p:sp>
        <p:nvSpPr>
          <p:cNvPr id="7" name="Subtitle 2"/>
          <p:cNvSpPr txBox="1">
            <a:spLocks/>
          </p:cNvSpPr>
          <p:nvPr/>
        </p:nvSpPr>
        <p:spPr>
          <a:xfrm>
            <a:off x="455357" y="1197573"/>
            <a:ext cx="11272452" cy="348422"/>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cap="all" dirty="0">
                <a:solidFill>
                  <a:schemeClr val="accent2"/>
                </a:solidFill>
              </a:rPr>
              <a:t>Applied Statistics for Business and economics, 8e</a:t>
            </a:r>
          </a:p>
        </p:txBody>
      </p:sp>
      <p:sp>
        <p:nvSpPr>
          <p:cNvPr id="9" name="TextBox 8"/>
          <p:cNvSpPr txBox="1"/>
          <p:nvPr/>
        </p:nvSpPr>
        <p:spPr>
          <a:xfrm>
            <a:off x="455357" y="1545995"/>
            <a:ext cx="3967992" cy="338554"/>
          </a:xfrm>
          <a:prstGeom prst="rect">
            <a:avLst/>
          </a:prstGeom>
          <a:noFill/>
        </p:spPr>
        <p:txBody>
          <a:bodyPr wrap="square" rtlCol="0">
            <a:spAutoFit/>
          </a:bodyPr>
          <a:lstStyle/>
          <a:p>
            <a:r>
              <a:rPr lang="en-US" sz="1600" dirty="0"/>
              <a:t>David P. Doane and Lori E. Seward</a:t>
            </a:r>
          </a:p>
        </p:txBody>
      </p:sp>
      <p:sp>
        <p:nvSpPr>
          <p:cNvPr id="11" name="TextBox 10"/>
          <p:cNvSpPr txBox="1"/>
          <p:nvPr/>
        </p:nvSpPr>
        <p:spPr>
          <a:xfrm>
            <a:off x="1591630" y="3839068"/>
            <a:ext cx="3228022" cy="923330"/>
          </a:xfrm>
          <a:prstGeom prst="rect">
            <a:avLst/>
          </a:prstGeom>
          <a:solidFill>
            <a:schemeClr val="bg1"/>
          </a:solidFill>
        </p:spPr>
        <p:txBody>
          <a:bodyPr wrap="square" rtlCol="0">
            <a:spAutoFit/>
          </a:bodyPr>
          <a:lstStyle/>
          <a:p>
            <a:r>
              <a:rPr lang="en-US" b="1" dirty="0">
                <a:solidFill>
                  <a:schemeClr val="accent1">
                    <a:lumMod val="50000"/>
                    <a:alpha val="69000"/>
                  </a:schemeClr>
                </a:solidFill>
              </a:rPr>
              <a:t>GETTING STARTED</a:t>
            </a:r>
          </a:p>
          <a:p>
            <a:pPr marL="285750" indent="-285750">
              <a:buFont typeface="Arial" panose="020B0604020202020204" pitchFamily="34" charset="0"/>
              <a:buChar char="•"/>
            </a:pPr>
            <a:r>
              <a:rPr lang="en-US" dirty="0">
                <a:solidFill>
                  <a:schemeClr val="tx1">
                    <a:alpha val="69000"/>
                  </a:schemeClr>
                </a:solidFill>
              </a:rPr>
              <a:t> </a:t>
            </a:r>
            <a:r>
              <a:rPr lang="en-US" dirty="0">
                <a:solidFill>
                  <a:schemeClr val="tx1">
                    <a:alpha val="69000"/>
                  </a:schemeClr>
                </a:solidFill>
                <a:hlinkClick r:id="rId2" action="ppaction://hlinksldjump"/>
              </a:rPr>
              <a:t>Navigation</a:t>
            </a:r>
            <a:endParaRPr lang="en-US" dirty="0">
              <a:solidFill>
                <a:schemeClr val="tx1">
                  <a:alpha val="69000"/>
                </a:schemeClr>
              </a:solidFill>
            </a:endParaRPr>
          </a:p>
          <a:p>
            <a:pPr marL="285750" indent="-285750">
              <a:buFont typeface="Arial" panose="020B0604020202020204" pitchFamily="34" charset="0"/>
              <a:buChar char="•"/>
            </a:pPr>
            <a:r>
              <a:rPr lang="en-US" dirty="0">
                <a:solidFill>
                  <a:schemeClr val="tx1">
                    <a:alpha val="69000"/>
                  </a:schemeClr>
                </a:solidFill>
                <a:hlinkClick r:id="rId3" action="ppaction://hlinksldjump"/>
              </a:rPr>
              <a:t> Excel Ribbons</a:t>
            </a:r>
            <a:endParaRPr lang="en-US" dirty="0">
              <a:solidFill>
                <a:schemeClr val="tx1">
                  <a:alpha val="69000"/>
                </a:schemeClr>
              </a:solidFill>
            </a:endParaRPr>
          </a:p>
        </p:txBody>
      </p:sp>
      <p:sp>
        <p:nvSpPr>
          <p:cNvPr id="12" name="TextBox 11"/>
          <p:cNvSpPr txBox="1"/>
          <p:nvPr/>
        </p:nvSpPr>
        <p:spPr>
          <a:xfrm>
            <a:off x="6139208" y="3731484"/>
            <a:ext cx="3047999" cy="2862322"/>
          </a:xfrm>
          <a:prstGeom prst="rect">
            <a:avLst/>
          </a:prstGeom>
          <a:solidFill>
            <a:schemeClr val="bg1"/>
          </a:solidFill>
        </p:spPr>
        <p:txBody>
          <a:bodyPr wrap="square" rtlCol="0">
            <a:spAutoFit/>
          </a:bodyPr>
          <a:lstStyle/>
          <a:p>
            <a:r>
              <a:rPr lang="en-US" b="1" dirty="0">
                <a:solidFill>
                  <a:schemeClr val="accent1">
                    <a:lumMod val="50000"/>
                    <a:alpha val="69000"/>
                  </a:schemeClr>
                </a:solidFill>
              </a:rPr>
              <a:t>EXCEL TOPICS</a:t>
            </a:r>
          </a:p>
          <a:p>
            <a:pPr marL="342900" indent="-342900">
              <a:buFont typeface="+mj-lt"/>
              <a:buAutoNum type="arabicPeriod"/>
            </a:pPr>
            <a:r>
              <a:rPr lang="en-US" dirty="0">
                <a:solidFill>
                  <a:schemeClr val="tx1">
                    <a:alpha val="69000"/>
                  </a:schemeClr>
                </a:solidFill>
                <a:hlinkClick r:id="rId4" action="ppaction://hlinksldjump"/>
              </a:rPr>
              <a:t>Basic Charts</a:t>
            </a:r>
            <a:endParaRPr lang="en-US" dirty="0">
              <a:solidFill>
                <a:schemeClr val="tx1">
                  <a:alpha val="69000"/>
                </a:schemeClr>
              </a:solidFill>
            </a:endParaRPr>
          </a:p>
          <a:p>
            <a:pPr marL="342900" indent="-342900">
              <a:buFont typeface="+mj-lt"/>
              <a:buAutoNum type="arabicPeriod"/>
            </a:pPr>
            <a:r>
              <a:rPr lang="en-US" dirty="0">
                <a:solidFill>
                  <a:schemeClr val="tx1">
                    <a:alpha val="69000"/>
                  </a:schemeClr>
                </a:solidFill>
                <a:hlinkClick r:id="rId5" action="ppaction://hlinksldjump"/>
              </a:rPr>
              <a:t>Histograms</a:t>
            </a:r>
            <a:endParaRPr lang="en-US" dirty="0">
              <a:solidFill>
                <a:schemeClr val="tx1">
                  <a:alpha val="69000"/>
                </a:schemeClr>
              </a:solidFill>
            </a:endParaRPr>
          </a:p>
          <a:p>
            <a:pPr marL="342900" indent="-342900">
              <a:buFont typeface="+mj-lt"/>
              <a:buAutoNum type="arabicPeriod"/>
            </a:pPr>
            <a:r>
              <a:rPr lang="en-US" dirty="0">
                <a:solidFill>
                  <a:schemeClr val="tx1">
                    <a:alpha val="69000"/>
                  </a:schemeClr>
                </a:solidFill>
                <a:hlinkClick r:id="rId6" action="ppaction://hlinksldjump"/>
              </a:rPr>
              <a:t>Scatter Plots</a:t>
            </a:r>
            <a:endParaRPr lang="en-US" dirty="0">
              <a:solidFill>
                <a:schemeClr val="tx1">
                  <a:alpha val="69000"/>
                </a:schemeClr>
              </a:solidFill>
            </a:endParaRPr>
          </a:p>
          <a:p>
            <a:pPr marL="342900" indent="-342900">
              <a:buFont typeface="+mj-lt"/>
              <a:buAutoNum type="arabicPeriod"/>
            </a:pPr>
            <a:r>
              <a:rPr lang="en-US" dirty="0">
                <a:solidFill>
                  <a:schemeClr val="tx1">
                    <a:alpha val="69000"/>
                  </a:schemeClr>
                </a:solidFill>
                <a:hlinkClick r:id="rId7" action="ppaction://hlinksldjump"/>
              </a:rPr>
              <a:t>Descriptive Statistics</a:t>
            </a:r>
            <a:endParaRPr lang="en-US" dirty="0">
              <a:solidFill>
                <a:schemeClr val="tx1">
                  <a:alpha val="69000"/>
                </a:schemeClr>
              </a:solidFill>
            </a:endParaRPr>
          </a:p>
          <a:p>
            <a:pPr marL="342900" indent="-342900">
              <a:buFont typeface="+mj-lt"/>
              <a:buAutoNum type="arabicPeriod"/>
            </a:pPr>
            <a:r>
              <a:rPr lang="en-US" dirty="0">
                <a:solidFill>
                  <a:schemeClr val="tx1">
                    <a:alpha val="69000"/>
                  </a:schemeClr>
                </a:solidFill>
                <a:hlinkClick r:id="rId8" action="ppaction://hlinksldjump"/>
              </a:rPr>
              <a:t>Pivot Tables</a:t>
            </a:r>
            <a:endParaRPr lang="en-US" dirty="0">
              <a:solidFill>
                <a:schemeClr val="tx1">
                  <a:alpha val="69000"/>
                </a:schemeClr>
              </a:solidFill>
            </a:endParaRPr>
          </a:p>
          <a:p>
            <a:pPr marL="342900" indent="-342900">
              <a:buFont typeface="+mj-lt"/>
              <a:buAutoNum type="arabicPeriod"/>
            </a:pPr>
            <a:r>
              <a:rPr lang="en-US" dirty="0" err="1">
                <a:solidFill>
                  <a:schemeClr val="tx1">
                    <a:alpha val="69000"/>
                  </a:schemeClr>
                </a:solidFill>
                <a:hlinkClick r:id="rId9" action="ppaction://hlinksldjump"/>
              </a:rPr>
              <a:t>MegaStat</a:t>
            </a:r>
            <a:r>
              <a:rPr lang="en-US" dirty="0">
                <a:solidFill>
                  <a:schemeClr val="tx1">
                    <a:alpha val="69000"/>
                  </a:schemeClr>
                </a:solidFill>
                <a:hlinkClick r:id="rId9" action="ppaction://hlinksldjump"/>
              </a:rPr>
              <a:t>*</a:t>
            </a:r>
            <a:endParaRPr lang="en-US" dirty="0">
              <a:solidFill>
                <a:schemeClr val="tx1">
                  <a:alpha val="69000"/>
                </a:schemeClr>
              </a:solidFill>
            </a:endParaRPr>
          </a:p>
          <a:p>
            <a:pPr marL="342900" indent="-342900">
              <a:buFont typeface="+mj-lt"/>
              <a:buAutoNum type="arabicPeriod"/>
            </a:pPr>
            <a:r>
              <a:rPr lang="en-US" dirty="0">
                <a:solidFill>
                  <a:schemeClr val="tx1">
                    <a:alpha val="69000"/>
                  </a:schemeClr>
                </a:solidFill>
                <a:hlinkClick r:id="rId10" action="ppaction://hlinksldjump"/>
              </a:rPr>
              <a:t>Minitab*</a:t>
            </a:r>
            <a:endParaRPr lang="en-US" dirty="0">
              <a:solidFill>
                <a:schemeClr val="tx1">
                  <a:alpha val="69000"/>
                </a:schemeClr>
              </a:solidFill>
            </a:endParaRPr>
          </a:p>
          <a:p>
            <a:r>
              <a:rPr lang="en-US" dirty="0">
                <a:solidFill>
                  <a:schemeClr val="tx1">
                    <a:alpha val="69000"/>
                  </a:schemeClr>
                </a:solidFill>
              </a:rPr>
              <a:t>     </a:t>
            </a:r>
            <a:endParaRPr lang="en-US" sz="800" dirty="0">
              <a:solidFill>
                <a:schemeClr val="tx1">
                  <a:alpha val="69000"/>
                </a:schemeClr>
              </a:solidFill>
            </a:endParaRPr>
          </a:p>
          <a:p>
            <a:r>
              <a:rPr lang="en-US" dirty="0">
                <a:solidFill>
                  <a:schemeClr val="tx1">
                    <a:alpha val="69000"/>
                  </a:schemeClr>
                </a:solidFill>
              </a:rPr>
              <a:t>     </a:t>
            </a:r>
            <a:r>
              <a:rPr lang="en-US" sz="1200" dirty="0">
                <a:solidFill>
                  <a:schemeClr val="tx1">
                    <a:alpha val="69000"/>
                  </a:schemeClr>
                </a:solidFill>
              </a:rPr>
              <a:t>*Optional</a:t>
            </a:r>
          </a:p>
        </p:txBody>
      </p:sp>
      <p:sp>
        <p:nvSpPr>
          <p:cNvPr id="2" name="TextBox 1"/>
          <p:cNvSpPr txBox="1"/>
          <p:nvPr/>
        </p:nvSpPr>
        <p:spPr>
          <a:xfrm>
            <a:off x="1241451" y="2181754"/>
            <a:ext cx="4294821" cy="646331"/>
          </a:xfrm>
          <a:prstGeom prst="rect">
            <a:avLst/>
          </a:prstGeom>
          <a:noFill/>
        </p:spPr>
        <p:txBody>
          <a:bodyPr wrap="square" rtlCol="0">
            <a:spAutoFit/>
          </a:bodyPr>
          <a:lstStyle/>
          <a:p>
            <a:pPr algn="ctr"/>
            <a:r>
              <a:rPr lang="en-US" dirty="0"/>
              <a:t>In this tutorial, use your keyboard’s arrow keys to advance slides </a:t>
            </a:r>
          </a:p>
        </p:txBody>
      </p:sp>
      <p:sp>
        <p:nvSpPr>
          <p:cNvPr id="14" name="Right Arrow 13"/>
          <p:cNvSpPr/>
          <p:nvPr/>
        </p:nvSpPr>
        <p:spPr>
          <a:xfrm>
            <a:off x="5536272" y="2219451"/>
            <a:ext cx="333628" cy="2939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p:nvCxnSpPr>
        <p:spPr>
          <a:xfrm>
            <a:off x="4711063" y="3663818"/>
            <a:ext cx="1184242" cy="698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834291" y="3663818"/>
            <a:ext cx="363136" cy="698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81569" y="3279690"/>
            <a:ext cx="4805203" cy="369332"/>
          </a:xfrm>
          <a:prstGeom prst="rect">
            <a:avLst/>
          </a:prstGeom>
          <a:noFill/>
        </p:spPr>
        <p:txBody>
          <a:bodyPr wrap="square" rtlCol="0">
            <a:spAutoFit/>
          </a:bodyPr>
          <a:lstStyle/>
          <a:p>
            <a:pPr algn="ctr"/>
            <a:r>
              <a:rPr lang="en-US" dirty="0"/>
              <a:t>Click on a topic below to jump to it</a:t>
            </a:r>
          </a:p>
        </p:txBody>
      </p:sp>
      <p:sp>
        <p:nvSpPr>
          <p:cNvPr id="18" name="TextBox 17"/>
          <p:cNvSpPr txBox="1"/>
          <p:nvPr/>
        </p:nvSpPr>
        <p:spPr>
          <a:xfrm>
            <a:off x="2823141" y="2897633"/>
            <a:ext cx="764999" cy="369332"/>
          </a:xfrm>
          <a:prstGeom prst="rect">
            <a:avLst/>
          </a:prstGeom>
          <a:noFill/>
        </p:spPr>
        <p:txBody>
          <a:bodyPr wrap="square" rtlCol="0">
            <a:spAutoFit/>
          </a:bodyPr>
          <a:lstStyle/>
          <a:p>
            <a:pPr algn="ctr"/>
            <a:r>
              <a:rPr lang="en-US" dirty="0"/>
              <a:t>or</a:t>
            </a:r>
          </a:p>
        </p:txBody>
      </p:sp>
      <p:pic>
        <p:nvPicPr>
          <p:cNvPr id="3" name="Picture 2"/>
          <p:cNvPicPr>
            <a:picLocks noChangeAspect="1"/>
          </p:cNvPicPr>
          <p:nvPr/>
        </p:nvPicPr>
        <p:blipFill>
          <a:blip r:embed="rId11"/>
          <a:stretch>
            <a:fillRect/>
          </a:stretch>
        </p:blipFill>
        <p:spPr>
          <a:xfrm>
            <a:off x="6091583" y="1963185"/>
            <a:ext cx="2495550" cy="1009650"/>
          </a:xfrm>
          <a:prstGeom prst="rect">
            <a:avLst/>
          </a:prstGeom>
        </p:spPr>
      </p:pic>
      <p:pic>
        <p:nvPicPr>
          <p:cNvPr id="4" name="Picture 3">
            <a:extLst>
              <a:ext uri="{FF2B5EF4-FFF2-40B4-BE49-F238E27FC236}">
                <a16:creationId xmlns:a16="http://schemas.microsoft.com/office/drawing/2014/main" id="{F06D6A9C-5323-4259-A19B-AF3D6BD60D5F}"/>
              </a:ext>
            </a:extLst>
          </p:cNvPr>
          <p:cNvPicPr>
            <a:picLocks noChangeAspect="1"/>
          </p:cNvPicPr>
          <p:nvPr/>
        </p:nvPicPr>
        <p:blipFill>
          <a:blip r:embed="rId12"/>
          <a:stretch>
            <a:fillRect/>
          </a:stretch>
        </p:blipFill>
        <p:spPr>
          <a:xfrm>
            <a:off x="8808816" y="677454"/>
            <a:ext cx="2604752" cy="2786902"/>
          </a:xfrm>
          <a:prstGeom prst="rect">
            <a:avLst/>
          </a:prstGeom>
        </p:spPr>
      </p:pic>
      <p:sp>
        <p:nvSpPr>
          <p:cNvPr id="6" name="Footer Placeholder 5">
            <a:extLst>
              <a:ext uri="{FF2B5EF4-FFF2-40B4-BE49-F238E27FC236}">
                <a16:creationId xmlns:a16="http://schemas.microsoft.com/office/drawing/2014/main" id="{521C53F7-C169-163A-DEBC-2EC0DCDC7965}"/>
              </a:ext>
            </a:extLst>
          </p:cNvPr>
          <p:cNvSpPr>
            <a:spLocks noGrp="1"/>
          </p:cNvSpPr>
          <p:nvPr>
            <p:ph type="ftr" sz="quarter" idx="11"/>
          </p:nvPr>
        </p:nvSpPr>
        <p:spPr>
          <a:xfrm>
            <a:off x="2020824" y="6547939"/>
            <a:ext cx="8819895" cy="310061"/>
          </a:xfrm>
        </p:spPr>
        <p:txBody>
          <a:bodyPr/>
          <a:lstStyle/>
          <a:p>
            <a:pPr algn="ctr"/>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55225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544017" y="3151343"/>
            <a:ext cx="1019175" cy="49530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EXCEL </a:t>
            </a:r>
            <a:r>
              <a:rPr lang="en-US" sz="3200" dirty="0" err="1">
                <a:solidFill>
                  <a:schemeClr val="accent1"/>
                </a:solidFill>
              </a:rPr>
              <a:t>NAVIgation</a:t>
            </a:r>
            <a:endParaRPr lang="en-US" sz="3200" dirty="0">
              <a:solidFill>
                <a:schemeClr val="accent1"/>
              </a:solidFill>
            </a:endParaRPr>
          </a:p>
        </p:txBody>
      </p:sp>
      <p:sp>
        <p:nvSpPr>
          <p:cNvPr id="4" name="TextBox 3"/>
          <p:cNvSpPr txBox="1"/>
          <p:nvPr/>
        </p:nvSpPr>
        <p:spPr>
          <a:xfrm>
            <a:off x="7439444" y="1634258"/>
            <a:ext cx="3423377" cy="738664"/>
          </a:xfrm>
          <a:prstGeom prst="rect">
            <a:avLst/>
          </a:prstGeom>
          <a:noFill/>
        </p:spPr>
        <p:txBody>
          <a:bodyPr wrap="square" rtlCol="0">
            <a:spAutoFit/>
          </a:bodyPr>
          <a:lstStyle/>
          <a:p>
            <a:r>
              <a:rPr lang="en-US" sz="1400" dirty="0"/>
              <a:t>In a big worksheet, you may not be able to see it all. Use the touch pad, mouse, or arrow keys to move around the spreadsheet. </a:t>
            </a:r>
          </a:p>
        </p:txBody>
      </p:sp>
      <p:sp>
        <p:nvSpPr>
          <p:cNvPr id="8" name="TextBox 7"/>
          <p:cNvSpPr txBox="1"/>
          <p:nvPr/>
        </p:nvSpPr>
        <p:spPr>
          <a:xfrm>
            <a:off x="8056327" y="4785203"/>
            <a:ext cx="2806493" cy="646331"/>
          </a:xfrm>
          <a:prstGeom prst="rect">
            <a:avLst/>
          </a:prstGeom>
          <a:noFill/>
        </p:spPr>
        <p:txBody>
          <a:bodyPr wrap="square" rtlCol="0">
            <a:spAutoFit/>
          </a:bodyPr>
          <a:lstStyle/>
          <a:p>
            <a:r>
              <a:rPr lang="en-US" sz="1200" i="1" dirty="0">
                <a:solidFill>
                  <a:srgbClr val="C00000"/>
                </a:solidFill>
              </a:rPr>
              <a:t>Tip:  </a:t>
            </a:r>
            <a:r>
              <a:rPr lang="en-US" sz="1200" dirty="0"/>
              <a:t>Search the web to download a list of Windows keyboard shortcut commands.</a:t>
            </a:r>
          </a:p>
        </p:txBody>
      </p:sp>
      <p:sp>
        <p:nvSpPr>
          <p:cNvPr id="9" name="TextBox 8"/>
          <p:cNvSpPr txBox="1"/>
          <p:nvPr/>
        </p:nvSpPr>
        <p:spPr>
          <a:xfrm>
            <a:off x="1682792" y="4300938"/>
            <a:ext cx="1536881" cy="646331"/>
          </a:xfrm>
          <a:prstGeom prst="rect">
            <a:avLst/>
          </a:prstGeom>
          <a:noFill/>
        </p:spPr>
        <p:txBody>
          <a:bodyPr wrap="square" rtlCol="0">
            <a:spAutoFit/>
          </a:bodyPr>
          <a:lstStyle/>
          <a:p>
            <a:r>
              <a:rPr lang="en-US" sz="1200" i="1" dirty="0">
                <a:solidFill>
                  <a:schemeClr val="accent1">
                    <a:lumMod val="75000"/>
                  </a:schemeClr>
                </a:solidFill>
              </a:rPr>
              <a:t>Example: </a:t>
            </a:r>
            <a:r>
              <a:rPr lang="en-US" sz="1200" dirty="0"/>
              <a:t>Copy a data range to a different location</a:t>
            </a:r>
          </a:p>
        </p:txBody>
      </p:sp>
      <p:pic>
        <p:nvPicPr>
          <p:cNvPr id="10" name="Picture 9"/>
          <p:cNvPicPr>
            <a:picLocks noChangeAspect="1"/>
          </p:cNvPicPr>
          <p:nvPr/>
        </p:nvPicPr>
        <p:blipFill>
          <a:blip r:embed="rId3"/>
          <a:stretch>
            <a:fillRect/>
          </a:stretch>
        </p:blipFill>
        <p:spPr>
          <a:xfrm>
            <a:off x="4301150" y="3312459"/>
            <a:ext cx="2133333" cy="3133333"/>
          </a:xfrm>
          <a:prstGeom prst="rect">
            <a:avLst/>
          </a:prstGeom>
        </p:spPr>
      </p:pic>
      <p:pic>
        <p:nvPicPr>
          <p:cNvPr id="11" name="Picture 10"/>
          <p:cNvPicPr>
            <a:picLocks noChangeAspect="1"/>
          </p:cNvPicPr>
          <p:nvPr/>
        </p:nvPicPr>
        <p:blipFill>
          <a:blip r:embed="rId4"/>
          <a:stretch>
            <a:fillRect/>
          </a:stretch>
        </p:blipFill>
        <p:spPr>
          <a:xfrm>
            <a:off x="7316124" y="4898119"/>
            <a:ext cx="758207" cy="458489"/>
          </a:xfrm>
          <a:prstGeom prst="rect">
            <a:avLst/>
          </a:prstGeom>
        </p:spPr>
      </p:pic>
      <p:sp>
        <p:nvSpPr>
          <p:cNvPr id="12" name="TextBox 11"/>
          <p:cNvSpPr txBox="1"/>
          <p:nvPr/>
        </p:nvSpPr>
        <p:spPr>
          <a:xfrm>
            <a:off x="455357" y="1920177"/>
            <a:ext cx="3333749" cy="1031051"/>
          </a:xfrm>
          <a:prstGeom prst="rect">
            <a:avLst/>
          </a:prstGeom>
          <a:noFill/>
        </p:spPr>
        <p:txBody>
          <a:bodyPr wrap="square" rtlCol="0">
            <a:spAutoFit/>
          </a:bodyPr>
          <a:lstStyle/>
          <a:p>
            <a:r>
              <a:rPr lang="en-US" sz="1400" dirty="0"/>
              <a:t>Three often-used key commands:</a:t>
            </a:r>
          </a:p>
          <a:p>
            <a:pPr>
              <a:spcBef>
                <a:spcPts val="600"/>
              </a:spcBef>
            </a:pPr>
            <a:r>
              <a:rPr lang="en-US" sz="1400" dirty="0"/>
              <a:t>		</a:t>
            </a:r>
            <a:r>
              <a:rPr lang="en-US" sz="1400" dirty="0">
                <a:solidFill>
                  <a:schemeClr val="accent1">
                    <a:lumMod val="50000"/>
                  </a:schemeClr>
                </a:solidFill>
              </a:rPr>
              <a:t>Ctrl-x</a:t>
            </a:r>
            <a:r>
              <a:rPr lang="en-US" sz="1400" dirty="0"/>
              <a:t>		Cut selection</a:t>
            </a:r>
          </a:p>
          <a:p>
            <a:r>
              <a:rPr lang="en-US" sz="1400" dirty="0"/>
              <a:t>		</a:t>
            </a:r>
            <a:r>
              <a:rPr lang="en-US" sz="1400" dirty="0">
                <a:solidFill>
                  <a:schemeClr val="accent1">
                    <a:lumMod val="50000"/>
                  </a:schemeClr>
                </a:solidFill>
              </a:rPr>
              <a:t>Ctrl-c</a:t>
            </a:r>
            <a:r>
              <a:rPr lang="en-US" sz="1400" dirty="0"/>
              <a:t>	Copy selection</a:t>
            </a:r>
          </a:p>
          <a:p>
            <a:r>
              <a:rPr lang="en-US" sz="1400" dirty="0"/>
              <a:t>		</a:t>
            </a:r>
            <a:r>
              <a:rPr lang="en-US" sz="1400" dirty="0">
                <a:solidFill>
                  <a:schemeClr val="accent1">
                    <a:lumMod val="50000"/>
                  </a:schemeClr>
                </a:solidFill>
              </a:rPr>
              <a:t>Ctrl-v</a:t>
            </a:r>
            <a:r>
              <a:rPr lang="en-US" sz="1400" dirty="0"/>
              <a:t>		Paste selection</a:t>
            </a:r>
          </a:p>
        </p:txBody>
      </p:sp>
      <p:sp>
        <p:nvSpPr>
          <p:cNvPr id="13" name="Right Arrow 12"/>
          <p:cNvSpPr/>
          <p:nvPr/>
        </p:nvSpPr>
        <p:spPr>
          <a:xfrm>
            <a:off x="3886200" y="4681314"/>
            <a:ext cx="414950" cy="4336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8915743" y="2631243"/>
            <a:ext cx="485775" cy="461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descr="C:\Users\doane\AppData\Local\Microsoft\Windows\Temporary Internet Files\Content.IE5\3CB5N1BZ\MC900056988[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64587" y="1511901"/>
            <a:ext cx="1730792" cy="143932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6"/>
          <a:stretch>
            <a:fillRect/>
          </a:stretch>
        </p:blipFill>
        <p:spPr>
          <a:xfrm>
            <a:off x="7895064" y="3165943"/>
            <a:ext cx="2495550" cy="1009650"/>
          </a:xfrm>
          <a:prstGeom prst="rect">
            <a:avLst/>
          </a:prstGeom>
        </p:spPr>
      </p:pic>
      <p:sp>
        <p:nvSpPr>
          <p:cNvPr id="22" name="Arrow: Down 21"/>
          <p:cNvSpPr/>
          <p:nvPr/>
        </p:nvSpPr>
        <p:spPr>
          <a:xfrm>
            <a:off x="1882042" y="1507063"/>
            <a:ext cx="412577" cy="4131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0428847" y="6307292"/>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sp>
        <p:nvSpPr>
          <p:cNvPr id="3" name="Footer Placeholder 2">
            <a:extLst>
              <a:ext uri="{FF2B5EF4-FFF2-40B4-BE49-F238E27FC236}">
                <a16:creationId xmlns:a16="http://schemas.microsoft.com/office/drawing/2014/main" id="{50A85C4F-E8DC-F81E-7A55-929396BA525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512456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855158" y="2706169"/>
            <a:ext cx="2270206" cy="3270636"/>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FILE RIBBON</a:t>
            </a:r>
          </a:p>
        </p:txBody>
      </p:sp>
      <p:sp>
        <p:nvSpPr>
          <p:cNvPr id="10" name="TextBox 9"/>
          <p:cNvSpPr txBox="1"/>
          <p:nvPr/>
        </p:nvSpPr>
        <p:spPr>
          <a:xfrm>
            <a:off x="9736442" y="1243853"/>
            <a:ext cx="1563101" cy="646331"/>
          </a:xfrm>
          <a:prstGeom prst="rect">
            <a:avLst/>
          </a:prstGeom>
          <a:noFill/>
        </p:spPr>
        <p:txBody>
          <a:bodyPr wrap="square" rtlCol="0">
            <a:spAutoFit/>
          </a:bodyPr>
          <a:lstStyle/>
          <a:p>
            <a:r>
              <a:rPr lang="en-US" sz="1200" dirty="0">
                <a:solidFill>
                  <a:schemeClr val="accent1">
                    <a:lumMod val="75000"/>
                  </a:schemeClr>
                </a:solidFill>
              </a:rPr>
              <a:t>Choose </a:t>
            </a:r>
            <a:r>
              <a:rPr lang="en-US" sz="1200" i="1" dirty="0">
                <a:solidFill>
                  <a:srgbClr val="C00000"/>
                </a:solidFill>
              </a:rPr>
              <a:t>Account</a:t>
            </a:r>
            <a:r>
              <a:rPr lang="en-US" sz="1200" dirty="0">
                <a:solidFill>
                  <a:schemeClr val="accent1">
                    <a:lumMod val="75000"/>
                  </a:schemeClr>
                </a:solidFill>
              </a:rPr>
              <a:t> to check your Excel version and license.</a:t>
            </a:r>
          </a:p>
        </p:txBody>
      </p:sp>
      <p:sp>
        <p:nvSpPr>
          <p:cNvPr id="19" name="TextBox 18"/>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13" name="Picture 12"/>
          <p:cNvPicPr>
            <a:picLocks noChangeAspect="1"/>
          </p:cNvPicPr>
          <p:nvPr/>
        </p:nvPicPr>
        <p:blipFill>
          <a:blip r:embed="rId4"/>
          <a:stretch>
            <a:fillRect/>
          </a:stretch>
        </p:blipFill>
        <p:spPr>
          <a:xfrm>
            <a:off x="636587" y="1238484"/>
            <a:ext cx="657225" cy="657225"/>
          </a:xfrm>
          <a:prstGeom prst="rect">
            <a:avLst/>
          </a:prstGeom>
        </p:spPr>
      </p:pic>
      <p:pic>
        <p:nvPicPr>
          <p:cNvPr id="15" name="Picture 14"/>
          <p:cNvPicPr>
            <a:picLocks noChangeAspect="1"/>
          </p:cNvPicPr>
          <p:nvPr/>
        </p:nvPicPr>
        <p:blipFill>
          <a:blip r:embed="rId5"/>
          <a:stretch>
            <a:fillRect/>
          </a:stretch>
        </p:blipFill>
        <p:spPr>
          <a:xfrm>
            <a:off x="565433" y="2709250"/>
            <a:ext cx="2597372" cy="3184493"/>
          </a:xfrm>
          <a:prstGeom prst="rect">
            <a:avLst/>
          </a:prstGeom>
        </p:spPr>
      </p:pic>
      <p:pic>
        <p:nvPicPr>
          <p:cNvPr id="16" name="Picture 15"/>
          <p:cNvPicPr>
            <a:picLocks noChangeAspect="1"/>
          </p:cNvPicPr>
          <p:nvPr/>
        </p:nvPicPr>
        <p:blipFill>
          <a:blip r:embed="rId6"/>
          <a:stretch>
            <a:fillRect/>
          </a:stretch>
        </p:blipFill>
        <p:spPr>
          <a:xfrm>
            <a:off x="7350793" y="1221144"/>
            <a:ext cx="848773" cy="4320445"/>
          </a:xfrm>
          <a:prstGeom prst="rect">
            <a:avLst/>
          </a:prstGeom>
        </p:spPr>
      </p:pic>
      <p:pic>
        <p:nvPicPr>
          <p:cNvPr id="17" name="Picture 16"/>
          <p:cNvPicPr>
            <a:picLocks noChangeAspect="1"/>
          </p:cNvPicPr>
          <p:nvPr/>
        </p:nvPicPr>
        <p:blipFill>
          <a:blip r:embed="rId7"/>
          <a:stretch>
            <a:fillRect/>
          </a:stretch>
        </p:blipFill>
        <p:spPr>
          <a:xfrm>
            <a:off x="8366247" y="2230194"/>
            <a:ext cx="2565464" cy="2118741"/>
          </a:xfrm>
          <a:prstGeom prst="rect">
            <a:avLst/>
          </a:prstGeom>
        </p:spPr>
      </p:pic>
      <p:sp>
        <p:nvSpPr>
          <p:cNvPr id="29" name="TextBox 28"/>
          <p:cNvSpPr txBox="1"/>
          <p:nvPr/>
        </p:nvSpPr>
        <p:spPr>
          <a:xfrm>
            <a:off x="3880012" y="2182608"/>
            <a:ext cx="2445488" cy="276999"/>
          </a:xfrm>
          <a:prstGeom prst="rect">
            <a:avLst/>
          </a:prstGeom>
          <a:noFill/>
        </p:spPr>
        <p:txBody>
          <a:bodyPr wrap="square" rtlCol="0">
            <a:spAutoFit/>
          </a:bodyPr>
          <a:lstStyle/>
          <a:p>
            <a:r>
              <a:rPr lang="en-US" sz="1200" dirty="0">
                <a:solidFill>
                  <a:schemeClr val="accent1">
                    <a:lumMod val="75000"/>
                  </a:schemeClr>
                </a:solidFill>
              </a:rPr>
              <a:t>Choose your file name and location.</a:t>
            </a:r>
          </a:p>
        </p:txBody>
      </p:sp>
      <p:sp>
        <p:nvSpPr>
          <p:cNvPr id="34" name="TextBox 33"/>
          <p:cNvSpPr txBox="1"/>
          <p:nvPr/>
        </p:nvSpPr>
        <p:spPr>
          <a:xfrm>
            <a:off x="1975624" y="1238484"/>
            <a:ext cx="1423068" cy="461665"/>
          </a:xfrm>
          <a:prstGeom prst="rect">
            <a:avLst/>
          </a:prstGeom>
          <a:noFill/>
        </p:spPr>
        <p:txBody>
          <a:bodyPr wrap="square" rtlCol="0">
            <a:spAutoFit/>
          </a:bodyPr>
          <a:lstStyle/>
          <a:p>
            <a:r>
              <a:rPr lang="en-US" sz="1200" dirty="0">
                <a:solidFill>
                  <a:schemeClr val="accent1">
                    <a:lumMod val="75000"/>
                  </a:schemeClr>
                </a:solidFill>
              </a:rPr>
              <a:t>Upper left corner of Excel ribbon</a:t>
            </a:r>
          </a:p>
        </p:txBody>
      </p:sp>
      <p:sp>
        <p:nvSpPr>
          <p:cNvPr id="37" name="Oval 36"/>
          <p:cNvSpPr/>
          <p:nvPr/>
        </p:nvSpPr>
        <p:spPr>
          <a:xfrm>
            <a:off x="565433" y="3450080"/>
            <a:ext cx="537354" cy="267756"/>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eft Arrow 17"/>
          <p:cNvSpPr/>
          <p:nvPr/>
        </p:nvSpPr>
        <p:spPr>
          <a:xfrm>
            <a:off x="1461130" y="1316513"/>
            <a:ext cx="362258" cy="32012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3802047" y="4163278"/>
            <a:ext cx="622039" cy="356418"/>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7376467" y="4517140"/>
            <a:ext cx="625513" cy="320674"/>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27881" y="2163980"/>
            <a:ext cx="2472477" cy="276999"/>
          </a:xfrm>
          <a:prstGeom prst="rect">
            <a:avLst/>
          </a:prstGeom>
          <a:noFill/>
        </p:spPr>
        <p:txBody>
          <a:bodyPr wrap="square" rtlCol="0">
            <a:spAutoFit/>
          </a:bodyPr>
          <a:lstStyle/>
          <a:p>
            <a:r>
              <a:rPr lang="en-US" sz="1200" dirty="0">
                <a:solidFill>
                  <a:schemeClr val="accent1">
                    <a:lumMod val="75000"/>
                  </a:schemeClr>
                </a:solidFill>
              </a:rPr>
              <a:t>Open new file or browse for old file.</a:t>
            </a:r>
          </a:p>
        </p:txBody>
      </p:sp>
      <p:sp>
        <p:nvSpPr>
          <p:cNvPr id="40" name="TextBox 39"/>
          <p:cNvSpPr txBox="1"/>
          <p:nvPr/>
        </p:nvSpPr>
        <p:spPr>
          <a:xfrm>
            <a:off x="4979678" y="1225258"/>
            <a:ext cx="2069430" cy="646331"/>
          </a:xfrm>
          <a:prstGeom prst="rect">
            <a:avLst/>
          </a:prstGeom>
          <a:noFill/>
        </p:spPr>
        <p:txBody>
          <a:bodyPr wrap="square" rtlCol="0">
            <a:spAutoFit/>
          </a:bodyPr>
          <a:lstStyle/>
          <a:p>
            <a:r>
              <a:rPr lang="en-US" sz="1200" dirty="0">
                <a:solidFill>
                  <a:schemeClr val="accent1">
                    <a:lumMod val="75000"/>
                  </a:schemeClr>
                </a:solidFill>
              </a:rPr>
              <a:t>Click the file icon to save using current file name and location. </a:t>
            </a:r>
          </a:p>
        </p:txBody>
      </p:sp>
      <p:pic>
        <p:nvPicPr>
          <p:cNvPr id="41" name="Picture 40"/>
          <p:cNvPicPr>
            <a:picLocks noChangeAspect="1"/>
          </p:cNvPicPr>
          <p:nvPr/>
        </p:nvPicPr>
        <p:blipFill>
          <a:blip r:embed="rId4"/>
          <a:stretch>
            <a:fillRect/>
          </a:stretch>
        </p:blipFill>
        <p:spPr>
          <a:xfrm>
            <a:off x="3829484" y="1239136"/>
            <a:ext cx="657225" cy="657225"/>
          </a:xfrm>
          <a:prstGeom prst="rect">
            <a:avLst/>
          </a:prstGeom>
        </p:spPr>
      </p:pic>
      <p:sp>
        <p:nvSpPr>
          <p:cNvPr id="42" name="Oval 41"/>
          <p:cNvSpPr/>
          <p:nvPr/>
        </p:nvSpPr>
        <p:spPr>
          <a:xfrm>
            <a:off x="3891661" y="1280224"/>
            <a:ext cx="442812" cy="356418"/>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p:cNvPicPr>
            <a:picLocks noChangeAspect="1"/>
          </p:cNvPicPr>
          <p:nvPr/>
        </p:nvPicPr>
        <p:blipFill>
          <a:blip r:embed="rId4"/>
          <a:stretch>
            <a:fillRect/>
          </a:stretch>
        </p:blipFill>
        <p:spPr>
          <a:xfrm>
            <a:off x="8366247" y="1238484"/>
            <a:ext cx="657225" cy="657225"/>
          </a:xfrm>
          <a:prstGeom prst="rect">
            <a:avLst/>
          </a:prstGeom>
        </p:spPr>
      </p:pic>
      <p:pic>
        <p:nvPicPr>
          <p:cNvPr id="44" name="Picture 43"/>
          <p:cNvPicPr>
            <a:picLocks noChangeAspect="1"/>
          </p:cNvPicPr>
          <p:nvPr/>
        </p:nvPicPr>
        <p:blipFill>
          <a:blip r:embed="rId8"/>
          <a:stretch>
            <a:fillRect/>
          </a:stretch>
        </p:blipFill>
        <p:spPr>
          <a:xfrm>
            <a:off x="9236075" y="4641322"/>
            <a:ext cx="758207" cy="458489"/>
          </a:xfrm>
          <a:prstGeom prst="rect">
            <a:avLst/>
          </a:prstGeom>
        </p:spPr>
      </p:pic>
      <p:sp>
        <p:nvSpPr>
          <p:cNvPr id="45" name="TextBox 44"/>
          <p:cNvSpPr txBox="1"/>
          <p:nvPr/>
        </p:nvSpPr>
        <p:spPr>
          <a:xfrm>
            <a:off x="8469724" y="5099811"/>
            <a:ext cx="2336460" cy="1015663"/>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In long edits, periodically use </a:t>
            </a:r>
            <a:r>
              <a:rPr lang="en-US" sz="1200" i="1" dirty="0">
                <a:solidFill>
                  <a:srgbClr val="C00000"/>
                </a:solidFill>
              </a:rPr>
              <a:t>Save As </a:t>
            </a:r>
            <a:r>
              <a:rPr lang="en-US" sz="1200" dirty="0">
                <a:solidFill>
                  <a:schemeClr val="accent1">
                    <a:lumMod val="75000"/>
                  </a:schemeClr>
                </a:solidFill>
              </a:rPr>
              <a:t>with a new file name (e.g., </a:t>
            </a:r>
            <a:r>
              <a:rPr lang="en-US" sz="1200" i="1" dirty="0">
                <a:solidFill>
                  <a:srgbClr val="C00000"/>
                </a:solidFill>
              </a:rPr>
              <a:t>Sales-Version 03</a:t>
            </a:r>
            <a:r>
              <a:rPr lang="en-US" sz="1200" dirty="0">
                <a:solidFill>
                  <a:schemeClr val="accent1">
                    <a:lumMod val="75000"/>
                  </a:schemeClr>
                </a:solidFill>
              </a:rPr>
              <a:t>) in case you accidentally mess up the file.</a:t>
            </a:r>
          </a:p>
        </p:txBody>
      </p:sp>
      <p:sp>
        <p:nvSpPr>
          <p:cNvPr id="46" name="Left Arrow 45"/>
          <p:cNvSpPr/>
          <p:nvPr/>
        </p:nvSpPr>
        <p:spPr>
          <a:xfrm>
            <a:off x="4548886" y="1309251"/>
            <a:ext cx="362258" cy="32012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Left Arrow 46"/>
          <p:cNvSpPr/>
          <p:nvPr/>
        </p:nvSpPr>
        <p:spPr>
          <a:xfrm>
            <a:off x="9252921" y="1277668"/>
            <a:ext cx="362258" cy="32012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47871" y="1548423"/>
            <a:ext cx="442812" cy="356418"/>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8469724" y="1569617"/>
            <a:ext cx="442812" cy="356418"/>
          </a:xfrm>
          <a:prstGeom prst="ellipse">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E5BC6C57-4A1C-D3FF-45AE-80B9A994CE11}"/>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5076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34461" y="1212188"/>
            <a:ext cx="9315450" cy="150495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HOME</a:t>
            </a:r>
          </a:p>
        </p:txBody>
      </p:sp>
      <p:sp>
        <p:nvSpPr>
          <p:cNvPr id="8" name="Rounded Rectangle 7"/>
          <p:cNvSpPr/>
          <p:nvPr/>
        </p:nvSpPr>
        <p:spPr>
          <a:xfrm>
            <a:off x="9099937" y="1427462"/>
            <a:ext cx="675147" cy="46777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910384" y="1810477"/>
            <a:ext cx="840854" cy="862338"/>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201521" y="5670287"/>
            <a:ext cx="2956498" cy="461665"/>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The </a:t>
            </a:r>
            <a:r>
              <a:rPr lang="en-US" sz="1200" dirty="0">
                <a:solidFill>
                  <a:srgbClr val="C00000"/>
                </a:solidFill>
              </a:rPr>
              <a:t>Home</a:t>
            </a:r>
            <a:r>
              <a:rPr lang="en-US" sz="1200" dirty="0">
                <a:solidFill>
                  <a:schemeClr val="accent1">
                    <a:lumMod val="75000"/>
                  </a:schemeClr>
                </a:solidFill>
              </a:rPr>
              <a:t> tab has so many useful features that you will use it often.</a:t>
            </a:r>
          </a:p>
        </p:txBody>
      </p:sp>
      <p:pic>
        <p:nvPicPr>
          <p:cNvPr id="33" name="Picture 32"/>
          <p:cNvPicPr>
            <a:picLocks noChangeAspect="1"/>
          </p:cNvPicPr>
          <p:nvPr/>
        </p:nvPicPr>
        <p:blipFill>
          <a:blip r:embed="rId3"/>
          <a:stretch>
            <a:fillRect/>
          </a:stretch>
        </p:blipFill>
        <p:spPr>
          <a:xfrm>
            <a:off x="3528944" y="5603385"/>
            <a:ext cx="758207" cy="458489"/>
          </a:xfrm>
          <a:prstGeom prst="rect">
            <a:avLst/>
          </a:prstGeom>
        </p:spPr>
      </p:pic>
      <p:pic>
        <p:nvPicPr>
          <p:cNvPr id="10" name="Picture 9"/>
          <p:cNvPicPr>
            <a:picLocks noChangeAspect="1"/>
          </p:cNvPicPr>
          <p:nvPr/>
        </p:nvPicPr>
        <p:blipFill>
          <a:blip r:embed="rId4"/>
          <a:stretch>
            <a:fillRect/>
          </a:stretch>
        </p:blipFill>
        <p:spPr>
          <a:xfrm>
            <a:off x="587846" y="4627649"/>
            <a:ext cx="1736540" cy="1550180"/>
          </a:xfrm>
          <a:prstGeom prst="rect">
            <a:avLst/>
          </a:prstGeom>
        </p:spPr>
      </p:pic>
      <p:sp>
        <p:nvSpPr>
          <p:cNvPr id="25" name="Rounded Rectangle 24"/>
          <p:cNvSpPr/>
          <p:nvPr/>
        </p:nvSpPr>
        <p:spPr>
          <a:xfrm>
            <a:off x="552959" y="1910941"/>
            <a:ext cx="514969" cy="51104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534461" y="2983840"/>
            <a:ext cx="2324486" cy="646331"/>
          </a:xfrm>
          <a:prstGeom prst="rect">
            <a:avLst/>
          </a:prstGeom>
          <a:noFill/>
        </p:spPr>
        <p:txBody>
          <a:bodyPr wrap="square" rtlCol="0">
            <a:spAutoFit/>
          </a:bodyPr>
          <a:lstStyle/>
          <a:p>
            <a:r>
              <a:rPr lang="en-US" sz="1200" dirty="0">
                <a:solidFill>
                  <a:srgbClr val="C00000"/>
                </a:solidFill>
              </a:rPr>
              <a:t>Paste</a:t>
            </a:r>
          </a:p>
          <a:p>
            <a:r>
              <a:rPr lang="en-US" sz="1200" dirty="0">
                <a:solidFill>
                  <a:schemeClr val="accent1">
                    <a:lumMod val="75000"/>
                  </a:schemeClr>
                </a:solidFill>
              </a:rPr>
              <a:t>When you click </a:t>
            </a:r>
            <a:r>
              <a:rPr lang="en-US" sz="1200" dirty="0">
                <a:solidFill>
                  <a:srgbClr val="C00000"/>
                </a:solidFill>
              </a:rPr>
              <a:t>Paste</a:t>
            </a:r>
            <a:r>
              <a:rPr lang="en-US" sz="1200" dirty="0">
                <a:solidFill>
                  <a:schemeClr val="accent1">
                    <a:lumMod val="75000"/>
                  </a:schemeClr>
                </a:solidFill>
              </a:rPr>
              <a:t> you get Excel’s default format. </a:t>
            </a:r>
          </a:p>
        </p:txBody>
      </p:sp>
      <p:sp>
        <p:nvSpPr>
          <p:cNvPr id="28" name="Rounded Rectangle 27"/>
          <p:cNvSpPr/>
          <p:nvPr/>
        </p:nvSpPr>
        <p:spPr>
          <a:xfrm>
            <a:off x="610151" y="5934161"/>
            <a:ext cx="915553" cy="17774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552959" y="3648305"/>
            <a:ext cx="2766073" cy="646331"/>
          </a:xfrm>
          <a:prstGeom prst="rect">
            <a:avLst/>
          </a:prstGeom>
          <a:noFill/>
        </p:spPr>
        <p:txBody>
          <a:bodyPr wrap="square" rtlCol="0">
            <a:spAutoFit/>
          </a:bodyPr>
          <a:lstStyle/>
          <a:p>
            <a:r>
              <a:rPr lang="en-US" sz="1200" dirty="0">
                <a:solidFill>
                  <a:srgbClr val="C00000"/>
                </a:solidFill>
              </a:rPr>
              <a:t>Paste Special</a:t>
            </a:r>
            <a:r>
              <a:rPr lang="en-US" sz="1200" dirty="0">
                <a:solidFill>
                  <a:schemeClr val="accent1">
                    <a:lumMod val="75000"/>
                  </a:schemeClr>
                </a:solidFill>
              </a:rPr>
              <a:t> </a:t>
            </a:r>
          </a:p>
          <a:p>
            <a:r>
              <a:rPr lang="en-US" sz="1200" dirty="0">
                <a:solidFill>
                  <a:schemeClr val="accent1">
                    <a:lumMod val="75000"/>
                  </a:schemeClr>
                </a:solidFill>
              </a:rPr>
              <a:t>Lets you choose a format that may be more suitable.</a:t>
            </a:r>
          </a:p>
        </p:txBody>
      </p:sp>
      <p:sp>
        <p:nvSpPr>
          <p:cNvPr id="36" name="Up Arrow 35"/>
          <p:cNvSpPr/>
          <p:nvPr/>
        </p:nvSpPr>
        <p:spPr>
          <a:xfrm>
            <a:off x="696428" y="2717712"/>
            <a:ext cx="277481" cy="253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666322" y="4328125"/>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4153298" y="2891508"/>
            <a:ext cx="3172865" cy="830997"/>
          </a:xfrm>
          <a:prstGeom prst="rect">
            <a:avLst/>
          </a:prstGeom>
          <a:noFill/>
        </p:spPr>
        <p:txBody>
          <a:bodyPr wrap="square" rtlCol="0">
            <a:spAutoFit/>
          </a:bodyPr>
          <a:lstStyle/>
          <a:p>
            <a:r>
              <a:rPr lang="en-US" sz="1200" dirty="0">
                <a:solidFill>
                  <a:srgbClr val="C00000"/>
                </a:solidFill>
              </a:rPr>
              <a:t>Cell Format</a:t>
            </a:r>
          </a:p>
          <a:p>
            <a:r>
              <a:rPr lang="en-US" sz="1200" dirty="0">
                <a:solidFill>
                  <a:schemeClr val="accent1">
                    <a:lumMod val="75000"/>
                  </a:schemeClr>
                </a:solidFill>
              </a:rPr>
              <a:t>Displaying more decimals than are necessary is annoying.  Poor decimal alignment makes it hard to read.</a:t>
            </a:r>
          </a:p>
        </p:txBody>
      </p:sp>
      <p:sp>
        <p:nvSpPr>
          <p:cNvPr id="40" name="Up Arrow 39"/>
          <p:cNvSpPr/>
          <p:nvPr/>
        </p:nvSpPr>
        <p:spPr>
          <a:xfrm>
            <a:off x="5320247" y="2739140"/>
            <a:ext cx="277481" cy="253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5"/>
          <a:stretch>
            <a:fillRect/>
          </a:stretch>
        </p:blipFill>
        <p:spPr>
          <a:xfrm>
            <a:off x="4383613" y="4054723"/>
            <a:ext cx="1367625" cy="1386867"/>
          </a:xfrm>
          <a:prstGeom prst="rect">
            <a:avLst/>
          </a:prstGeom>
        </p:spPr>
      </p:pic>
      <p:pic>
        <p:nvPicPr>
          <p:cNvPr id="14" name="Picture 13"/>
          <p:cNvPicPr>
            <a:picLocks noChangeAspect="1"/>
          </p:cNvPicPr>
          <p:nvPr/>
        </p:nvPicPr>
        <p:blipFill>
          <a:blip r:embed="rId6"/>
          <a:stretch>
            <a:fillRect/>
          </a:stretch>
        </p:blipFill>
        <p:spPr>
          <a:xfrm>
            <a:off x="6012455" y="4054722"/>
            <a:ext cx="1328550" cy="1386867"/>
          </a:xfrm>
          <a:prstGeom prst="rect">
            <a:avLst/>
          </a:prstGeom>
        </p:spPr>
      </p:pic>
      <p:sp>
        <p:nvSpPr>
          <p:cNvPr id="41" name="TextBox 40"/>
          <p:cNvSpPr txBox="1"/>
          <p:nvPr/>
        </p:nvSpPr>
        <p:spPr>
          <a:xfrm>
            <a:off x="7624510" y="2891508"/>
            <a:ext cx="2973430" cy="1015663"/>
          </a:xfrm>
          <a:prstGeom prst="rect">
            <a:avLst/>
          </a:prstGeom>
          <a:noFill/>
        </p:spPr>
        <p:txBody>
          <a:bodyPr wrap="square" rtlCol="0">
            <a:spAutoFit/>
          </a:bodyPr>
          <a:lstStyle/>
          <a:p>
            <a:r>
              <a:rPr lang="en-US" sz="1200" dirty="0">
                <a:solidFill>
                  <a:srgbClr val="C00000"/>
                </a:solidFill>
              </a:rPr>
              <a:t>Sharing</a:t>
            </a:r>
          </a:p>
          <a:p>
            <a:r>
              <a:rPr lang="en-US" sz="1200" dirty="0">
                <a:solidFill>
                  <a:schemeClr val="accent1">
                    <a:lumMod val="75000"/>
                  </a:schemeClr>
                </a:solidFill>
              </a:rPr>
              <a:t>Your team members can copy the shared workbook and add their data to the copy. Works best with </a:t>
            </a:r>
            <a:r>
              <a:rPr lang="en-US" sz="1200" dirty="0">
                <a:solidFill>
                  <a:srgbClr val="C00000"/>
                </a:solidFill>
              </a:rPr>
              <a:t>Cloud</a:t>
            </a:r>
            <a:r>
              <a:rPr lang="en-US" sz="1200" dirty="0">
                <a:solidFill>
                  <a:schemeClr val="accent1">
                    <a:lumMod val="75000"/>
                  </a:schemeClr>
                </a:solidFill>
              </a:rPr>
              <a:t> storage, but tricky to use effectively.</a:t>
            </a:r>
          </a:p>
        </p:txBody>
      </p:sp>
      <p:sp>
        <p:nvSpPr>
          <p:cNvPr id="43" name="Up Arrow 42"/>
          <p:cNvSpPr/>
          <p:nvPr/>
        </p:nvSpPr>
        <p:spPr>
          <a:xfrm>
            <a:off x="9054598" y="2727350"/>
            <a:ext cx="277481" cy="253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6238754" y="3739001"/>
            <a:ext cx="732510" cy="276999"/>
          </a:xfrm>
          <a:prstGeom prst="rect">
            <a:avLst/>
          </a:prstGeom>
          <a:noFill/>
        </p:spPr>
        <p:txBody>
          <a:bodyPr wrap="square" rtlCol="0">
            <a:spAutoFit/>
          </a:bodyPr>
          <a:lstStyle/>
          <a:p>
            <a:r>
              <a:rPr lang="en-US" sz="1200" dirty="0"/>
              <a:t>Better</a:t>
            </a:r>
          </a:p>
        </p:txBody>
      </p:sp>
      <p:sp>
        <p:nvSpPr>
          <p:cNvPr id="46" name="TextBox 45"/>
          <p:cNvSpPr txBox="1"/>
          <p:nvPr/>
        </p:nvSpPr>
        <p:spPr>
          <a:xfrm>
            <a:off x="4761219" y="3722229"/>
            <a:ext cx="750371" cy="276999"/>
          </a:xfrm>
          <a:prstGeom prst="rect">
            <a:avLst/>
          </a:prstGeom>
          <a:noFill/>
        </p:spPr>
        <p:txBody>
          <a:bodyPr wrap="square" rtlCol="0">
            <a:spAutoFit/>
          </a:bodyPr>
          <a:lstStyle/>
          <a:p>
            <a:r>
              <a:rPr lang="en-US" sz="1200" dirty="0"/>
              <a:t>Poor</a:t>
            </a:r>
          </a:p>
        </p:txBody>
      </p:sp>
      <p:pic>
        <p:nvPicPr>
          <p:cNvPr id="47" name="Picture 46"/>
          <p:cNvPicPr>
            <a:picLocks noChangeAspect="1"/>
          </p:cNvPicPr>
          <p:nvPr/>
        </p:nvPicPr>
        <p:blipFill>
          <a:blip r:embed="rId7"/>
          <a:stretch>
            <a:fillRect/>
          </a:stretch>
        </p:blipFill>
        <p:spPr>
          <a:xfrm>
            <a:off x="7913155" y="4527408"/>
            <a:ext cx="2256581" cy="1106075"/>
          </a:xfrm>
          <a:prstGeom prst="rect">
            <a:avLst/>
          </a:prstGeom>
        </p:spPr>
      </p:pic>
      <p:sp>
        <p:nvSpPr>
          <p:cNvPr id="48" name="Down Arrow 47"/>
          <p:cNvSpPr/>
          <p:nvPr/>
        </p:nvSpPr>
        <p:spPr>
          <a:xfrm>
            <a:off x="8940511" y="4104173"/>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10592709" y="6444395"/>
            <a:ext cx="1298962" cy="276999"/>
          </a:xfrm>
          <a:prstGeom prst="rect">
            <a:avLst/>
          </a:prstGeom>
          <a:noFill/>
        </p:spPr>
        <p:txBody>
          <a:bodyPr wrap="square" rtlCol="0">
            <a:spAutoFit/>
          </a:bodyPr>
          <a:lstStyle/>
          <a:p>
            <a:r>
              <a:rPr lang="en-US" sz="1200" i="1" dirty="0">
                <a:hlinkClick r:id="rId8" action="ppaction://hlinksldjump"/>
              </a:rPr>
              <a:t>Back to top menu</a:t>
            </a:r>
            <a:endParaRPr lang="en-US" sz="1200" i="1" dirty="0"/>
          </a:p>
        </p:txBody>
      </p:sp>
      <p:sp>
        <p:nvSpPr>
          <p:cNvPr id="34" name="Down Arrow 36"/>
          <p:cNvSpPr/>
          <p:nvPr/>
        </p:nvSpPr>
        <p:spPr>
          <a:xfrm>
            <a:off x="5290307" y="3776534"/>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6"/>
          <p:cNvSpPr/>
          <p:nvPr/>
        </p:nvSpPr>
        <p:spPr>
          <a:xfrm>
            <a:off x="6892000" y="3776534"/>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EA364F4D-3611-5360-B84C-8573459F89F8}"/>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735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Home</a:t>
            </a:r>
          </a:p>
        </p:txBody>
      </p:sp>
      <p:sp>
        <p:nvSpPr>
          <p:cNvPr id="9" name="TextBox 8"/>
          <p:cNvSpPr txBox="1"/>
          <p:nvPr/>
        </p:nvSpPr>
        <p:spPr>
          <a:xfrm>
            <a:off x="3629765" y="4420055"/>
            <a:ext cx="2230138" cy="1200329"/>
          </a:xfrm>
          <a:prstGeom prst="rect">
            <a:avLst/>
          </a:prstGeom>
          <a:noFill/>
        </p:spPr>
        <p:txBody>
          <a:bodyPr wrap="square" rtlCol="0">
            <a:spAutoFit/>
          </a:bodyPr>
          <a:lstStyle/>
          <a:p>
            <a:r>
              <a:rPr lang="en-US" sz="1200" dirty="0">
                <a:solidFill>
                  <a:srgbClr val="C00000"/>
                </a:solidFill>
              </a:rPr>
              <a:t>Conditional Formatting</a:t>
            </a:r>
          </a:p>
          <a:p>
            <a:r>
              <a:rPr lang="en-US" sz="1200" dirty="0">
                <a:solidFill>
                  <a:schemeClr val="accent1">
                    <a:lumMod val="75000"/>
                  </a:schemeClr>
                </a:solidFill>
              </a:rPr>
              <a:t>Highlight cells in color based on the data value from a rule (e.g., &gt;3) or built-in bars, colors, or icons. Useful to spot unusual values in a large data array.</a:t>
            </a:r>
          </a:p>
        </p:txBody>
      </p:sp>
      <p:pic>
        <p:nvPicPr>
          <p:cNvPr id="7" name="Picture 6"/>
          <p:cNvPicPr>
            <a:picLocks noChangeAspect="1"/>
          </p:cNvPicPr>
          <p:nvPr/>
        </p:nvPicPr>
        <p:blipFill>
          <a:blip r:embed="rId2"/>
          <a:stretch>
            <a:fillRect/>
          </a:stretch>
        </p:blipFill>
        <p:spPr>
          <a:xfrm>
            <a:off x="6184121" y="3370762"/>
            <a:ext cx="2181225" cy="2381250"/>
          </a:xfrm>
          <a:prstGeom prst="rect">
            <a:avLst/>
          </a:prstGeom>
        </p:spPr>
      </p:pic>
      <p:pic>
        <p:nvPicPr>
          <p:cNvPr id="8" name="Picture 7"/>
          <p:cNvPicPr>
            <a:picLocks noChangeAspect="1"/>
          </p:cNvPicPr>
          <p:nvPr/>
        </p:nvPicPr>
        <p:blipFill>
          <a:blip r:embed="rId3"/>
          <a:stretch>
            <a:fillRect/>
          </a:stretch>
        </p:blipFill>
        <p:spPr>
          <a:xfrm>
            <a:off x="8484395" y="3379535"/>
            <a:ext cx="1790700" cy="1640684"/>
          </a:xfrm>
          <a:prstGeom prst="rect">
            <a:avLst/>
          </a:prstGeom>
        </p:spPr>
      </p:pic>
      <p:sp>
        <p:nvSpPr>
          <p:cNvPr id="12" name="Right Arrow 11"/>
          <p:cNvSpPr/>
          <p:nvPr/>
        </p:nvSpPr>
        <p:spPr>
          <a:xfrm>
            <a:off x="5806998" y="4561387"/>
            <a:ext cx="265411" cy="2436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606936" y="5290347"/>
            <a:ext cx="1782343" cy="461665"/>
          </a:xfrm>
          <a:prstGeom prst="rect">
            <a:avLst/>
          </a:prstGeom>
          <a:noFill/>
        </p:spPr>
        <p:txBody>
          <a:bodyPr wrap="square" rtlCol="0">
            <a:spAutoFit/>
          </a:bodyPr>
          <a:lstStyle/>
          <a:p>
            <a:r>
              <a:rPr lang="en-US" sz="1200" dirty="0">
                <a:solidFill>
                  <a:srgbClr val="C00000"/>
                </a:solidFill>
              </a:rPr>
              <a:t>Clear  </a:t>
            </a:r>
            <a:r>
              <a:rPr lang="en-US" sz="1200" dirty="0">
                <a:solidFill>
                  <a:schemeClr val="accent1">
                    <a:lumMod val="75000"/>
                  </a:schemeClr>
                </a:solidFill>
              </a:rPr>
              <a:t>Remove formats as well as data in cells. </a:t>
            </a:r>
          </a:p>
        </p:txBody>
      </p:sp>
      <p:sp>
        <p:nvSpPr>
          <p:cNvPr id="14" name="TextBox 13"/>
          <p:cNvSpPr txBox="1"/>
          <p:nvPr/>
        </p:nvSpPr>
        <p:spPr>
          <a:xfrm>
            <a:off x="1536569" y="3327274"/>
            <a:ext cx="1823319" cy="830997"/>
          </a:xfrm>
          <a:prstGeom prst="rect">
            <a:avLst/>
          </a:prstGeom>
          <a:noFill/>
        </p:spPr>
        <p:txBody>
          <a:bodyPr wrap="square" rtlCol="0">
            <a:spAutoFit/>
          </a:bodyPr>
          <a:lstStyle/>
          <a:p>
            <a:r>
              <a:rPr lang="en-US" sz="1200" dirty="0">
                <a:solidFill>
                  <a:srgbClr val="C00000"/>
                </a:solidFill>
              </a:rPr>
              <a:t>Fonts</a:t>
            </a:r>
          </a:p>
          <a:p>
            <a:r>
              <a:rPr lang="en-US" sz="1200" dirty="0">
                <a:solidFill>
                  <a:schemeClr val="accent1">
                    <a:lumMod val="75000"/>
                  </a:schemeClr>
                </a:solidFill>
              </a:rPr>
              <a:t>Bold, italic, underline, background color, font color.  </a:t>
            </a:r>
          </a:p>
        </p:txBody>
      </p:sp>
      <p:sp>
        <p:nvSpPr>
          <p:cNvPr id="15" name="TextBox 14"/>
          <p:cNvSpPr txBox="1"/>
          <p:nvPr/>
        </p:nvSpPr>
        <p:spPr>
          <a:xfrm>
            <a:off x="3653069" y="3304172"/>
            <a:ext cx="1113995" cy="1009650"/>
          </a:xfrm>
          <a:prstGeom prst="rect">
            <a:avLst/>
          </a:prstGeom>
          <a:noFill/>
        </p:spPr>
        <p:txBody>
          <a:bodyPr wrap="square" rtlCol="0">
            <a:spAutoFit/>
          </a:bodyPr>
          <a:lstStyle/>
          <a:p>
            <a:r>
              <a:rPr lang="en-US" sz="1200" dirty="0">
                <a:solidFill>
                  <a:srgbClr val="C00000"/>
                </a:solidFill>
              </a:rPr>
              <a:t>Text Alignment</a:t>
            </a:r>
          </a:p>
          <a:p>
            <a:r>
              <a:rPr lang="en-US" sz="1200" dirty="0">
                <a:solidFill>
                  <a:schemeClr val="accent1">
                    <a:lumMod val="75000"/>
                  </a:schemeClr>
                </a:solidFill>
              </a:rPr>
              <a:t>Justify left, center, right, indent.</a:t>
            </a:r>
          </a:p>
        </p:txBody>
      </p:sp>
      <p:sp>
        <p:nvSpPr>
          <p:cNvPr id="16" name="TextBox 15"/>
          <p:cNvSpPr txBox="1"/>
          <p:nvPr/>
        </p:nvSpPr>
        <p:spPr>
          <a:xfrm>
            <a:off x="4759082" y="3323355"/>
            <a:ext cx="1622864" cy="1015663"/>
          </a:xfrm>
          <a:prstGeom prst="rect">
            <a:avLst/>
          </a:prstGeom>
          <a:noFill/>
        </p:spPr>
        <p:txBody>
          <a:bodyPr wrap="square" rtlCol="0">
            <a:spAutoFit/>
          </a:bodyPr>
          <a:lstStyle/>
          <a:p>
            <a:r>
              <a:rPr lang="en-US" sz="1200" dirty="0">
                <a:solidFill>
                  <a:srgbClr val="C00000"/>
                </a:solidFill>
              </a:rPr>
              <a:t>Number Format</a:t>
            </a:r>
          </a:p>
          <a:p>
            <a:r>
              <a:rPr lang="en-US" sz="1200" dirty="0">
                <a:solidFill>
                  <a:schemeClr val="accent1">
                    <a:lumMod val="75000"/>
                  </a:schemeClr>
                </a:solidFill>
              </a:rPr>
              <a:t>Currency, percent, decimals, currency, or custom.</a:t>
            </a:r>
          </a:p>
        </p:txBody>
      </p:sp>
      <p:sp>
        <p:nvSpPr>
          <p:cNvPr id="28" name="Up Arrow 27"/>
          <p:cNvSpPr/>
          <p:nvPr/>
        </p:nvSpPr>
        <p:spPr>
          <a:xfrm>
            <a:off x="2263965" y="2922060"/>
            <a:ext cx="221138" cy="19218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Up Arrow 28"/>
          <p:cNvSpPr/>
          <p:nvPr/>
        </p:nvSpPr>
        <p:spPr>
          <a:xfrm>
            <a:off x="4004803" y="2915922"/>
            <a:ext cx="221138" cy="19218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Up Arrow 30"/>
          <p:cNvSpPr/>
          <p:nvPr/>
        </p:nvSpPr>
        <p:spPr>
          <a:xfrm>
            <a:off x="9270649" y="5062154"/>
            <a:ext cx="238125" cy="22341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Up Arrow 32"/>
          <p:cNvSpPr/>
          <p:nvPr/>
        </p:nvSpPr>
        <p:spPr>
          <a:xfrm>
            <a:off x="5303890" y="2913322"/>
            <a:ext cx="221138" cy="19218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Up Arrow 34"/>
          <p:cNvSpPr/>
          <p:nvPr/>
        </p:nvSpPr>
        <p:spPr>
          <a:xfrm>
            <a:off x="7044728" y="2910111"/>
            <a:ext cx="221138" cy="19218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641714" y="5119035"/>
            <a:ext cx="2718174" cy="830997"/>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Appearance is important in business. Make your spreadsheet look nice. You can never tell who is going to see your work.</a:t>
            </a:r>
          </a:p>
        </p:txBody>
      </p:sp>
      <p:pic>
        <p:nvPicPr>
          <p:cNvPr id="36" name="Picture 35"/>
          <p:cNvPicPr>
            <a:picLocks noChangeAspect="1"/>
          </p:cNvPicPr>
          <p:nvPr/>
        </p:nvPicPr>
        <p:blipFill>
          <a:blip r:embed="rId4"/>
          <a:stretch>
            <a:fillRect/>
          </a:stretch>
        </p:blipFill>
        <p:spPr>
          <a:xfrm>
            <a:off x="1437318" y="4663036"/>
            <a:ext cx="758207" cy="455999"/>
          </a:xfrm>
          <a:prstGeom prst="rect">
            <a:avLst/>
          </a:prstGeom>
        </p:spPr>
      </p:pic>
      <p:sp>
        <p:nvSpPr>
          <p:cNvPr id="32" name="TextBox 31"/>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pic>
        <p:nvPicPr>
          <p:cNvPr id="2" name="Picture 1"/>
          <p:cNvPicPr>
            <a:picLocks noChangeAspect="1"/>
          </p:cNvPicPr>
          <p:nvPr/>
        </p:nvPicPr>
        <p:blipFill>
          <a:blip r:embed="rId6"/>
          <a:stretch>
            <a:fillRect/>
          </a:stretch>
        </p:blipFill>
        <p:spPr>
          <a:xfrm>
            <a:off x="455357" y="1155628"/>
            <a:ext cx="9527629" cy="1623805"/>
          </a:xfrm>
          <a:prstGeom prst="rect">
            <a:avLst/>
          </a:prstGeom>
        </p:spPr>
      </p:pic>
      <p:sp>
        <p:nvSpPr>
          <p:cNvPr id="34" name="Rounded Rectangle 33"/>
          <p:cNvSpPr/>
          <p:nvPr/>
        </p:nvSpPr>
        <p:spPr>
          <a:xfrm>
            <a:off x="8356739" y="2345880"/>
            <a:ext cx="387605" cy="264244"/>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p:cNvSpPr/>
          <p:nvPr/>
        </p:nvSpPr>
        <p:spPr>
          <a:xfrm>
            <a:off x="5937341" y="1878669"/>
            <a:ext cx="1565952" cy="19462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4987735" y="1878669"/>
            <a:ext cx="860171" cy="688499"/>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3389519" y="1895639"/>
            <a:ext cx="1411539" cy="64028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1274325" y="1896389"/>
            <a:ext cx="2085563" cy="64028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ounded Rectangle 26"/>
          <p:cNvSpPr/>
          <p:nvPr/>
        </p:nvSpPr>
        <p:spPr>
          <a:xfrm>
            <a:off x="8546551" y="3631582"/>
            <a:ext cx="1277934" cy="85372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1B3F2C93-60AB-4010-BF9A-4E2B26F6733A}"/>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61138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HOME</a:t>
            </a:r>
          </a:p>
        </p:txBody>
      </p:sp>
      <p:sp>
        <p:nvSpPr>
          <p:cNvPr id="9" name="TextBox 8"/>
          <p:cNvSpPr txBox="1"/>
          <p:nvPr/>
        </p:nvSpPr>
        <p:spPr>
          <a:xfrm>
            <a:off x="8199434" y="5246452"/>
            <a:ext cx="1896905" cy="830997"/>
          </a:xfrm>
          <a:prstGeom prst="rect">
            <a:avLst/>
          </a:prstGeom>
          <a:noFill/>
        </p:spPr>
        <p:txBody>
          <a:bodyPr wrap="square" rtlCol="0">
            <a:spAutoFit/>
          </a:bodyPr>
          <a:lstStyle/>
          <a:p>
            <a:r>
              <a:rPr lang="en-US" sz="1200" dirty="0">
                <a:solidFill>
                  <a:srgbClr val="C00000"/>
                </a:solidFill>
              </a:rPr>
              <a:t>Conditional Formatting </a:t>
            </a:r>
            <a:r>
              <a:rPr lang="en-US" sz="1200" dirty="0">
                <a:solidFill>
                  <a:schemeClr val="accent1">
                    <a:lumMod val="75000"/>
                  </a:schemeClr>
                </a:solidFill>
              </a:rPr>
              <a:t> gives a quick impression of high/low data values.</a:t>
            </a:r>
          </a:p>
        </p:txBody>
      </p:sp>
      <p:pic>
        <p:nvPicPr>
          <p:cNvPr id="3" name="Picture 2"/>
          <p:cNvPicPr>
            <a:picLocks noChangeAspect="1"/>
          </p:cNvPicPr>
          <p:nvPr/>
        </p:nvPicPr>
        <p:blipFill>
          <a:blip r:embed="rId2"/>
          <a:stretch>
            <a:fillRect/>
          </a:stretch>
        </p:blipFill>
        <p:spPr>
          <a:xfrm>
            <a:off x="4327098" y="3022126"/>
            <a:ext cx="1209675" cy="2438400"/>
          </a:xfrm>
          <a:prstGeom prst="rect">
            <a:avLst/>
          </a:prstGeom>
        </p:spPr>
      </p:pic>
      <p:pic>
        <p:nvPicPr>
          <p:cNvPr id="12" name="Picture 11"/>
          <p:cNvPicPr>
            <a:picLocks noChangeAspect="1"/>
          </p:cNvPicPr>
          <p:nvPr/>
        </p:nvPicPr>
        <p:blipFill>
          <a:blip r:embed="rId3"/>
          <a:stretch>
            <a:fillRect/>
          </a:stretch>
        </p:blipFill>
        <p:spPr>
          <a:xfrm>
            <a:off x="6216042" y="4973169"/>
            <a:ext cx="1609725" cy="1609725"/>
          </a:xfrm>
          <a:prstGeom prst="rect">
            <a:avLst/>
          </a:prstGeom>
        </p:spPr>
      </p:pic>
      <p:pic>
        <p:nvPicPr>
          <p:cNvPr id="14" name="Picture 13"/>
          <p:cNvPicPr>
            <a:picLocks noChangeAspect="1"/>
          </p:cNvPicPr>
          <p:nvPr/>
        </p:nvPicPr>
        <p:blipFill>
          <a:blip r:embed="rId4"/>
          <a:stretch>
            <a:fillRect/>
          </a:stretch>
        </p:blipFill>
        <p:spPr>
          <a:xfrm>
            <a:off x="8527943" y="3042742"/>
            <a:ext cx="1876425" cy="2019300"/>
          </a:xfrm>
          <a:prstGeom prst="rect">
            <a:avLst/>
          </a:prstGeom>
        </p:spPr>
      </p:pic>
      <p:pic>
        <p:nvPicPr>
          <p:cNvPr id="15" name="Picture 14"/>
          <p:cNvPicPr>
            <a:picLocks noChangeAspect="1"/>
          </p:cNvPicPr>
          <p:nvPr/>
        </p:nvPicPr>
        <p:blipFill>
          <a:blip r:embed="rId5"/>
          <a:stretch>
            <a:fillRect/>
          </a:stretch>
        </p:blipFill>
        <p:spPr>
          <a:xfrm>
            <a:off x="5920510" y="3022126"/>
            <a:ext cx="2162175" cy="1362075"/>
          </a:xfrm>
          <a:prstGeom prst="rect">
            <a:avLst/>
          </a:prstGeom>
        </p:spPr>
      </p:pic>
      <p:sp>
        <p:nvSpPr>
          <p:cNvPr id="17" name="Right Arrow 16"/>
          <p:cNvSpPr/>
          <p:nvPr/>
        </p:nvSpPr>
        <p:spPr>
          <a:xfrm>
            <a:off x="8199434" y="3483540"/>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6226407" y="3611094"/>
            <a:ext cx="849496" cy="74415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2084821" y="2329764"/>
            <a:ext cx="960998" cy="276999"/>
          </a:xfrm>
          <a:prstGeom prst="rect">
            <a:avLst/>
          </a:prstGeom>
          <a:noFill/>
        </p:spPr>
        <p:txBody>
          <a:bodyPr wrap="square" rtlCol="0">
            <a:spAutoFit/>
          </a:bodyPr>
          <a:lstStyle/>
          <a:p>
            <a:pPr algn="ctr"/>
            <a:r>
              <a:rPr lang="en-US" sz="1200" i="1" dirty="0"/>
              <a:t>Icon Sets</a:t>
            </a:r>
          </a:p>
        </p:txBody>
      </p:sp>
      <p:sp>
        <p:nvSpPr>
          <p:cNvPr id="41" name="TextBox 40"/>
          <p:cNvSpPr txBox="1"/>
          <p:nvPr/>
        </p:nvSpPr>
        <p:spPr>
          <a:xfrm>
            <a:off x="6326916" y="4679835"/>
            <a:ext cx="1173042" cy="276999"/>
          </a:xfrm>
          <a:prstGeom prst="rect">
            <a:avLst/>
          </a:prstGeom>
          <a:noFill/>
        </p:spPr>
        <p:txBody>
          <a:bodyPr wrap="square" rtlCol="0">
            <a:spAutoFit/>
          </a:bodyPr>
          <a:lstStyle/>
          <a:p>
            <a:pPr algn="ctr"/>
            <a:r>
              <a:rPr lang="en-US" sz="1200" i="1" dirty="0"/>
              <a:t>Color Scales</a:t>
            </a:r>
          </a:p>
        </p:txBody>
      </p:sp>
      <p:sp>
        <p:nvSpPr>
          <p:cNvPr id="42" name="TextBox 41"/>
          <p:cNvSpPr txBox="1"/>
          <p:nvPr/>
        </p:nvSpPr>
        <p:spPr>
          <a:xfrm>
            <a:off x="4225539" y="2373264"/>
            <a:ext cx="1173042" cy="276999"/>
          </a:xfrm>
          <a:prstGeom prst="rect">
            <a:avLst/>
          </a:prstGeom>
          <a:noFill/>
        </p:spPr>
        <p:txBody>
          <a:bodyPr wrap="square" rtlCol="0">
            <a:spAutoFit/>
          </a:bodyPr>
          <a:lstStyle/>
          <a:p>
            <a:pPr algn="ctr"/>
            <a:r>
              <a:rPr lang="en-US" sz="1200" i="1" dirty="0"/>
              <a:t>Data Bars</a:t>
            </a:r>
          </a:p>
        </p:txBody>
      </p:sp>
      <p:sp>
        <p:nvSpPr>
          <p:cNvPr id="43" name="Left Arrow 42"/>
          <p:cNvSpPr/>
          <p:nvPr/>
        </p:nvSpPr>
        <p:spPr>
          <a:xfrm>
            <a:off x="5522226" y="3207262"/>
            <a:ext cx="268307"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6817408" y="4421623"/>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0592709" y="6444395"/>
            <a:ext cx="1298962" cy="276999"/>
          </a:xfrm>
          <a:prstGeom prst="rect">
            <a:avLst/>
          </a:prstGeom>
          <a:noFill/>
        </p:spPr>
        <p:txBody>
          <a:bodyPr wrap="square" rtlCol="0">
            <a:spAutoFit/>
          </a:bodyPr>
          <a:lstStyle/>
          <a:p>
            <a:r>
              <a:rPr lang="en-US" sz="1200" i="1" dirty="0">
                <a:hlinkClick r:id="rId6" action="ppaction://hlinksldjump"/>
              </a:rPr>
              <a:t>Back to top menu</a:t>
            </a:r>
            <a:endParaRPr lang="en-US" sz="1200" i="1" dirty="0"/>
          </a:p>
        </p:txBody>
      </p:sp>
      <p:pic>
        <p:nvPicPr>
          <p:cNvPr id="21" name="Picture 20"/>
          <p:cNvPicPr>
            <a:picLocks noChangeAspect="1"/>
          </p:cNvPicPr>
          <p:nvPr/>
        </p:nvPicPr>
        <p:blipFill>
          <a:blip r:embed="rId7"/>
          <a:stretch>
            <a:fillRect/>
          </a:stretch>
        </p:blipFill>
        <p:spPr>
          <a:xfrm>
            <a:off x="512486" y="1217913"/>
            <a:ext cx="9640183" cy="1642988"/>
          </a:xfrm>
          <a:prstGeom prst="rect">
            <a:avLst/>
          </a:prstGeom>
        </p:spPr>
      </p:pic>
      <p:sp>
        <p:nvSpPr>
          <p:cNvPr id="34" name="Rounded Rectangle 33"/>
          <p:cNvSpPr/>
          <p:nvPr/>
        </p:nvSpPr>
        <p:spPr>
          <a:xfrm>
            <a:off x="5920510" y="1914752"/>
            <a:ext cx="1520783" cy="29080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5985304" y="3024425"/>
            <a:ext cx="1658679" cy="29103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8"/>
          <a:stretch>
            <a:fillRect/>
          </a:stretch>
        </p:blipFill>
        <p:spPr>
          <a:xfrm>
            <a:off x="455357" y="2940915"/>
            <a:ext cx="1304762" cy="1380952"/>
          </a:xfrm>
          <a:prstGeom prst="rect">
            <a:avLst/>
          </a:prstGeom>
        </p:spPr>
      </p:pic>
      <p:pic>
        <p:nvPicPr>
          <p:cNvPr id="16" name="Picture 15"/>
          <p:cNvPicPr>
            <a:picLocks noChangeAspect="1"/>
          </p:cNvPicPr>
          <p:nvPr/>
        </p:nvPicPr>
        <p:blipFill>
          <a:blip r:embed="rId9"/>
          <a:stretch>
            <a:fillRect/>
          </a:stretch>
        </p:blipFill>
        <p:spPr>
          <a:xfrm>
            <a:off x="1908115" y="2950206"/>
            <a:ext cx="1009524" cy="1066667"/>
          </a:xfrm>
          <a:prstGeom prst="rect">
            <a:avLst/>
          </a:prstGeom>
        </p:spPr>
      </p:pic>
      <p:pic>
        <p:nvPicPr>
          <p:cNvPr id="18" name="Picture 17"/>
          <p:cNvPicPr>
            <a:picLocks noChangeAspect="1"/>
          </p:cNvPicPr>
          <p:nvPr/>
        </p:nvPicPr>
        <p:blipFill>
          <a:blip r:embed="rId10"/>
          <a:stretch>
            <a:fillRect/>
          </a:stretch>
        </p:blipFill>
        <p:spPr>
          <a:xfrm>
            <a:off x="3091433" y="2945611"/>
            <a:ext cx="809524" cy="771429"/>
          </a:xfrm>
          <a:prstGeom prst="rect">
            <a:avLst/>
          </a:prstGeom>
        </p:spPr>
      </p:pic>
      <p:pic>
        <p:nvPicPr>
          <p:cNvPr id="19" name="Picture 18"/>
          <p:cNvPicPr>
            <a:picLocks noChangeAspect="1"/>
          </p:cNvPicPr>
          <p:nvPr/>
        </p:nvPicPr>
        <p:blipFill>
          <a:blip r:embed="rId11"/>
          <a:stretch>
            <a:fillRect/>
          </a:stretch>
        </p:blipFill>
        <p:spPr>
          <a:xfrm>
            <a:off x="512486" y="4538917"/>
            <a:ext cx="2533333" cy="1447619"/>
          </a:xfrm>
          <a:prstGeom prst="rect">
            <a:avLst/>
          </a:prstGeom>
        </p:spPr>
      </p:pic>
      <p:sp>
        <p:nvSpPr>
          <p:cNvPr id="2" name="Footer Placeholder 1">
            <a:extLst>
              <a:ext uri="{FF2B5EF4-FFF2-40B4-BE49-F238E27FC236}">
                <a16:creationId xmlns:a16="http://schemas.microsoft.com/office/drawing/2014/main" id="{81378C7E-7632-5AB8-EC09-1FA695561CDD}"/>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857375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4868597" y="3836944"/>
            <a:ext cx="1816988" cy="1357567"/>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HOME</a:t>
            </a:r>
          </a:p>
        </p:txBody>
      </p:sp>
      <p:sp>
        <p:nvSpPr>
          <p:cNvPr id="29" name="Rounded Rectangle 28"/>
          <p:cNvSpPr/>
          <p:nvPr/>
        </p:nvSpPr>
        <p:spPr>
          <a:xfrm>
            <a:off x="5003403" y="3881515"/>
            <a:ext cx="1599416" cy="21254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4266834" y="3076375"/>
            <a:ext cx="2816196" cy="461665"/>
          </a:xfrm>
          <a:prstGeom prst="rect">
            <a:avLst/>
          </a:prstGeom>
          <a:noFill/>
        </p:spPr>
        <p:txBody>
          <a:bodyPr wrap="square" rtlCol="0">
            <a:spAutoFit/>
          </a:bodyPr>
          <a:lstStyle/>
          <a:p>
            <a:pPr algn="ctr"/>
            <a:r>
              <a:rPr lang="en-US" sz="1200" i="1" dirty="0">
                <a:solidFill>
                  <a:srgbClr val="C00000"/>
                </a:solidFill>
              </a:rPr>
              <a:t>Example: </a:t>
            </a:r>
            <a:r>
              <a:rPr lang="en-US" sz="1200" dirty="0">
                <a:solidFill>
                  <a:schemeClr val="accent1">
                    <a:lumMod val="75000"/>
                  </a:schemeClr>
                </a:solidFill>
              </a:rPr>
              <a:t>Kentucky Derby winning times 2000-2016 (17 years)</a:t>
            </a:r>
          </a:p>
        </p:txBody>
      </p:sp>
      <p:sp>
        <p:nvSpPr>
          <p:cNvPr id="32" name="TextBox 31"/>
          <p:cNvSpPr txBox="1"/>
          <p:nvPr/>
        </p:nvSpPr>
        <p:spPr>
          <a:xfrm>
            <a:off x="1694333" y="3253493"/>
            <a:ext cx="2273275" cy="276999"/>
          </a:xfrm>
          <a:prstGeom prst="rect">
            <a:avLst/>
          </a:prstGeom>
          <a:noFill/>
        </p:spPr>
        <p:txBody>
          <a:bodyPr wrap="square" rtlCol="0">
            <a:spAutoFit/>
          </a:bodyPr>
          <a:lstStyle/>
          <a:p>
            <a:r>
              <a:rPr lang="en-US" sz="1200" i="1" dirty="0"/>
              <a:t>Highlight Cell Rules and Icons</a:t>
            </a:r>
          </a:p>
        </p:txBody>
      </p:sp>
      <p:pic>
        <p:nvPicPr>
          <p:cNvPr id="4" name="Picture 3"/>
          <p:cNvPicPr>
            <a:picLocks noChangeAspect="1"/>
          </p:cNvPicPr>
          <p:nvPr/>
        </p:nvPicPr>
        <p:blipFill>
          <a:blip r:embed="rId3"/>
          <a:stretch>
            <a:fillRect/>
          </a:stretch>
        </p:blipFill>
        <p:spPr>
          <a:xfrm>
            <a:off x="7860800" y="3672754"/>
            <a:ext cx="1943100" cy="2543175"/>
          </a:xfrm>
          <a:prstGeom prst="rect">
            <a:avLst/>
          </a:prstGeom>
        </p:spPr>
      </p:pic>
      <p:pic>
        <p:nvPicPr>
          <p:cNvPr id="6" name="Picture 5"/>
          <p:cNvPicPr>
            <a:picLocks noChangeAspect="1"/>
          </p:cNvPicPr>
          <p:nvPr/>
        </p:nvPicPr>
        <p:blipFill>
          <a:blip r:embed="rId4"/>
          <a:stretch>
            <a:fillRect/>
          </a:stretch>
        </p:blipFill>
        <p:spPr>
          <a:xfrm>
            <a:off x="1694334" y="3610432"/>
            <a:ext cx="1781175" cy="2543175"/>
          </a:xfrm>
          <a:prstGeom prst="rect">
            <a:avLst/>
          </a:prstGeom>
        </p:spPr>
      </p:pic>
      <p:sp>
        <p:nvSpPr>
          <p:cNvPr id="20" name="Rounded Rectangle 19"/>
          <p:cNvSpPr/>
          <p:nvPr/>
        </p:nvSpPr>
        <p:spPr>
          <a:xfrm>
            <a:off x="5003403" y="4430263"/>
            <a:ext cx="1088180" cy="702174"/>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4266834" y="4363327"/>
            <a:ext cx="268307"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926231" y="5568286"/>
            <a:ext cx="2385104" cy="461665"/>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Colors are attractive, but may oversimplify data ranks.</a:t>
            </a:r>
          </a:p>
        </p:txBody>
      </p:sp>
      <p:pic>
        <p:nvPicPr>
          <p:cNvPr id="33" name="Picture 32"/>
          <p:cNvPicPr>
            <a:picLocks noChangeAspect="1"/>
          </p:cNvPicPr>
          <p:nvPr/>
        </p:nvPicPr>
        <p:blipFill>
          <a:blip r:embed="rId5"/>
          <a:stretch>
            <a:fillRect/>
          </a:stretch>
        </p:blipFill>
        <p:spPr>
          <a:xfrm>
            <a:off x="4266834" y="5561309"/>
            <a:ext cx="758207" cy="458489"/>
          </a:xfrm>
          <a:prstGeom prst="rect">
            <a:avLst/>
          </a:prstGeom>
        </p:spPr>
      </p:pic>
      <p:sp>
        <p:nvSpPr>
          <p:cNvPr id="24" name="TextBox 23"/>
          <p:cNvSpPr txBox="1"/>
          <p:nvPr/>
        </p:nvSpPr>
        <p:spPr>
          <a:xfrm>
            <a:off x="10592709" y="6444395"/>
            <a:ext cx="1298962" cy="276999"/>
          </a:xfrm>
          <a:prstGeom prst="rect">
            <a:avLst/>
          </a:prstGeom>
          <a:noFill/>
        </p:spPr>
        <p:txBody>
          <a:bodyPr wrap="square" rtlCol="0">
            <a:spAutoFit/>
          </a:bodyPr>
          <a:lstStyle/>
          <a:p>
            <a:r>
              <a:rPr lang="en-US" sz="1200" i="1" dirty="0">
                <a:hlinkClick r:id="rId6" action="ppaction://hlinksldjump"/>
              </a:rPr>
              <a:t>Back to top menu</a:t>
            </a:r>
            <a:endParaRPr lang="en-US" sz="1200" i="1" dirty="0"/>
          </a:p>
        </p:txBody>
      </p:sp>
      <p:sp>
        <p:nvSpPr>
          <p:cNvPr id="25" name="TextBox 24"/>
          <p:cNvSpPr txBox="1"/>
          <p:nvPr/>
        </p:nvSpPr>
        <p:spPr>
          <a:xfrm>
            <a:off x="7855129" y="3251747"/>
            <a:ext cx="2273275" cy="276999"/>
          </a:xfrm>
          <a:prstGeom prst="rect">
            <a:avLst/>
          </a:prstGeom>
          <a:noFill/>
        </p:spPr>
        <p:txBody>
          <a:bodyPr wrap="square" rtlCol="0">
            <a:spAutoFit/>
          </a:bodyPr>
          <a:lstStyle/>
          <a:p>
            <a:r>
              <a:rPr lang="en-US" sz="1200" i="1" dirty="0"/>
              <a:t>Highlight Cell Rules and Icons</a:t>
            </a:r>
          </a:p>
        </p:txBody>
      </p:sp>
      <p:pic>
        <p:nvPicPr>
          <p:cNvPr id="23" name="Picture 22"/>
          <p:cNvPicPr>
            <a:picLocks noChangeAspect="1"/>
          </p:cNvPicPr>
          <p:nvPr/>
        </p:nvPicPr>
        <p:blipFill>
          <a:blip r:embed="rId7"/>
          <a:stretch>
            <a:fillRect/>
          </a:stretch>
        </p:blipFill>
        <p:spPr>
          <a:xfrm>
            <a:off x="455357" y="1176907"/>
            <a:ext cx="9640183" cy="1642988"/>
          </a:xfrm>
          <a:prstGeom prst="rect">
            <a:avLst/>
          </a:prstGeom>
        </p:spPr>
      </p:pic>
      <p:sp>
        <p:nvSpPr>
          <p:cNvPr id="19" name="Rounded Rectangle 18"/>
          <p:cNvSpPr/>
          <p:nvPr/>
        </p:nvSpPr>
        <p:spPr>
          <a:xfrm>
            <a:off x="5914630" y="1896178"/>
            <a:ext cx="1624820" cy="24818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a:off x="7253700" y="4363327"/>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B0021F14-F2DB-84CF-5013-D4C8CE35A50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983667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HOME</a:t>
            </a:r>
          </a:p>
        </p:txBody>
      </p:sp>
      <p:sp>
        <p:nvSpPr>
          <p:cNvPr id="9" name="TextBox 8"/>
          <p:cNvSpPr txBox="1"/>
          <p:nvPr/>
        </p:nvSpPr>
        <p:spPr>
          <a:xfrm>
            <a:off x="8258174" y="2403005"/>
            <a:ext cx="1610235" cy="276999"/>
          </a:xfrm>
          <a:prstGeom prst="rect">
            <a:avLst/>
          </a:prstGeom>
          <a:noFill/>
        </p:spPr>
        <p:txBody>
          <a:bodyPr wrap="square" rtlCol="0">
            <a:spAutoFit/>
          </a:bodyPr>
          <a:lstStyle/>
          <a:p>
            <a:r>
              <a:rPr lang="en-US" sz="1200" i="1" dirty="0"/>
              <a:t>Custom Sort</a:t>
            </a:r>
          </a:p>
        </p:txBody>
      </p:sp>
      <p:sp>
        <p:nvSpPr>
          <p:cNvPr id="31" name="TextBox 30"/>
          <p:cNvSpPr txBox="1"/>
          <p:nvPr/>
        </p:nvSpPr>
        <p:spPr>
          <a:xfrm>
            <a:off x="4208086" y="3084692"/>
            <a:ext cx="3039840" cy="461665"/>
          </a:xfrm>
          <a:prstGeom prst="rect">
            <a:avLst/>
          </a:prstGeom>
          <a:noFill/>
        </p:spPr>
        <p:txBody>
          <a:bodyPr wrap="square" rtlCol="0">
            <a:spAutoFit/>
          </a:bodyPr>
          <a:lstStyle/>
          <a:p>
            <a:pPr algn="ctr"/>
            <a:r>
              <a:rPr lang="en-US" sz="1200" i="1" dirty="0">
                <a:solidFill>
                  <a:srgbClr val="C00000"/>
                </a:solidFill>
              </a:rPr>
              <a:t>Example: </a:t>
            </a:r>
            <a:r>
              <a:rPr lang="en-US" sz="1200" dirty="0">
                <a:solidFill>
                  <a:schemeClr val="accent1">
                    <a:lumMod val="75000"/>
                  </a:schemeClr>
                </a:solidFill>
              </a:rPr>
              <a:t>Kentucky Derby winning times 2000-2016 (17 years)</a:t>
            </a:r>
          </a:p>
        </p:txBody>
      </p:sp>
      <p:pic>
        <p:nvPicPr>
          <p:cNvPr id="2" name="Picture 1"/>
          <p:cNvPicPr>
            <a:picLocks noChangeAspect="1"/>
          </p:cNvPicPr>
          <p:nvPr/>
        </p:nvPicPr>
        <p:blipFill>
          <a:blip r:embed="rId2"/>
          <a:stretch>
            <a:fillRect/>
          </a:stretch>
        </p:blipFill>
        <p:spPr>
          <a:xfrm>
            <a:off x="8359106" y="3458545"/>
            <a:ext cx="1869896" cy="2743200"/>
          </a:xfrm>
          <a:prstGeom prst="rect">
            <a:avLst/>
          </a:prstGeom>
        </p:spPr>
      </p:pic>
      <p:pic>
        <p:nvPicPr>
          <p:cNvPr id="3" name="Picture 2"/>
          <p:cNvPicPr>
            <a:picLocks noChangeAspect="1"/>
          </p:cNvPicPr>
          <p:nvPr/>
        </p:nvPicPr>
        <p:blipFill>
          <a:blip r:embed="rId3"/>
          <a:stretch>
            <a:fillRect/>
          </a:stretch>
        </p:blipFill>
        <p:spPr>
          <a:xfrm>
            <a:off x="1079633" y="3326569"/>
            <a:ext cx="1934570" cy="2743200"/>
          </a:xfrm>
          <a:prstGeom prst="rect">
            <a:avLst/>
          </a:prstGeom>
        </p:spPr>
      </p:pic>
      <p:sp>
        <p:nvSpPr>
          <p:cNvPr id="21" name="Left Arrow 20"/>
          <p:cNvSpPr/>
          <p:nvPr/>
        </p:nvSpPr>
        <p:spPr>
          <a:xfrm>
            <a:off x="3178387" y="4005996"/>
            <a:ext cx="268307"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a:off x="9031093" y="3084692"/>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Down Arrow 26"/>
          <p:cNvSpPr/>
          <p:nvPr/>
        </p:nvSpPr>
        <p:spPr>
          <a:xfrm>
            <a:off x="9580167" y="2411922"/>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4978108" y="5844866"/>
            <a:ext cx="2492257" cy="461665"/>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sorting the data may tell you all you need to know.</a:t>
            </a:r>
          </a:p>
        </p:txBody>
      </p:sp>
      <p:pic>
        <p:nvPicPr>
          <p:cNvPr id="33" name="Picture 32"/>
          <p:cNvPicPr>
            <a:picLocks noChangeAspect="1"/>
          </p:cNvPicPr>
          <p:nvPr/>
        </p:nvPicPr>
        <p:blipFill>
          <a:blip r:embed="rId4"/>
          <a:stretch>
            <a:fillRect/>
          </a:stretch>
        </p:blipFill>
        <p:spPr>
          <a:xfrm>
            <a:off x="4219901" y="5823479"/>
            <a:ext cx="758207" cy="458489"/>
          </a:xfrm>
          <a:prstGeom prst="rect">
            <a:avLst/>
          </a:prstGeom>
        </p:spPr>
      </p:pic>
      <p:sp>
        <p:nvSpPr>
          <p:cNvPr id="24" name="TextBox 23"/>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pic>
        <p:nvPicPr>
          <p:cNvPr id="23" name="Picture 22"/>
          <p:cNvPicPr>
            <a:picLocks noChangeAspect="1"/>
          </p:cNvPicPr>
          <p:nvPr/>
        </p:nvPicPr>
        <p:blipFill>
          <a:blip r:embed="rId6"/>
          <a:stretch>
            <a:fillRect/>
          </a:stretch>
        </p:blipFill>
        <p:spPr>
          <a:xfrm>
            <a:off x="454264" y="1246032"/>
            <a:ext cx="9640183" cy="1642988"/>
          </a:xfrm>
          <a:prstGeom prst="rect">
            <a:avLst/>
          </a:prstGeom>
        </p:spPr>
      </p:pic>
      <p:sp>
        <p:nvSpPr>
          <p:cNvPr id="8" name="Rounded Rectangle 7"/>
          <p:cNvSpPr/>
          <p:nvPr/>
        </p:nvSpPr>
        <p:spPr>
          <a:xfrm>
            <a:off x="8715867" y="1961911"/>
            <a:ext cx="565628" cy="75586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7"/>
          <a:stretch>
            <a:fillRect/>
          </a:stretch>
        </p:blipFill>
        <p:spPr>
          <a:xfrm>
            <a:off x="3775062" y="3642531"/>
            <a:ext cx="4375771" cy="2016724"/>
          </a:xfrm>
          <a:prstGeom prst="rect">
            <a:avLst/>
          </a:prstGeom>
        </p:spPr>
      </p:pic>
      <p:sp>
        <p:nvSpPr>
          <p:cNvPr id="6" name="Footer Placeholder 5">
            <a:extLst>
              <a:ext uri="{FF2B5EF4-FFF2-40B4-BE49-F238E27FC236}">
                <a16:creationId xmlns:a16="http://schemas.microsoft.com/office/drawing/2014/main" id="{C0EC88C1-85BC-AE8F-1172-4538A0882410}"/>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50840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3368" y="1134288"/>
            <a:ext cx="10964228" cy="1397318"/>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insert</a:t>
            </a:r>
          </a:p>
        </p:txBody>
      </p:sp>
      <p:sp>
        <p:nvSpPr>
          <p:cNvPr id="6" name="Rounded Rectangle 5"/>
          <p:cNvSpPr/>
          <p:nvPr/>
        </p:nvSpPr>
        <p:spPr>
          <a:xfrm>
            <a:off x="574838" y="1731252"/>
            <a:ext cx="501608" cy="55988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194291" y="1695368"/>
            <a:ext cx="963441" cy="83623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3"/>
          <a:stretch>
            <a:fillRect/>
          </a:stretch>
        </p:blipFill>
        <p:spPr>
          <a:xfrm>
            <a:off x="493368" y="3625436"/>
            <a:ext cx="1885599" cy="2856577"/>
          </a:xfrm>
          <a:prstGeom prst="rect">
            <a:avLst/>
          </a:prstGeom>
        </p:spPr>
      </p:pic>
      <p:pic>
        <p:nvPicPr>
          <p:cNvPr id="16" name="Picture 15"/>
          <p:cNvPicPr>
            <a:picLocks noChangeAspect="1"/>
          </p:cNvPicPr>
          <p:nvPr/>
        </p:nvPicPr>
        <p:blipFill>
          <a:blip r:embed="rId4"/>
          <a:stretch>
            <a:fillRect/>
          </a:stretch>
        </p:blipFill>
        <p:spPr>
          <a:xfrm>
            <a:off x="3444242" y="3378788"/>
            <a:ext cx="3099432" cy="1920222"/>
          </a:xfrm>
          <a:prstGeom prst="rect">
            <a:avLst/>
          </a:prstGeom>
        </p:spPr>
      </p:pic>
      <p:sp>
        <p:nvSpPr>
          <p:cNvPr id="20" name="Right Arrow 19"/>
          <p:cNvSpPr/>
          <p:nvPr/>
        </p:nvSpPr>
        <p:spPr>
          <a:xfrm>
            <a:off x="2863979" y="3801168"/>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55357" y="2533439"/>
            <a:ext cx="2664825" cy="1015663"/>
          </a:xfrm>
          <a:prstGeom prst="rect">
            <a:avLst/>
          </a:prstGeom>
          <a:noFill/>
        </p:spPr>
        <p:txBody>
          <a:bodyPr wrap="square" rtlCol="0">
            <a:spAutoFit/>
          </a:bodyPr>
          <a:lstStyle/>
          <a:p>
            <a:r>
              <a:rPr lang="en-US" sz="1200" dirty="0">
                <a:solidFill>
                  <a:srgbClr val="C00000"/>
                </a:solidFill>
              </a:rPr>
              <a:t>Pivot Table</a:t>
            </a:r>
          </a:p>
          <a:p>
            <a:r>
              <a:rPr lang="en-US" sz="1200" dirty="0">
                <a:solidFill>
                  <a:schemeClr val="accent1">
                    <a:lumMod val="75000"/>
                  </a:schemeClr>
                </a:solidFill>
              </a:rPr>
              <a:t>Summarize and explore numerical data in a row-column cross-tabulation by category (see </a:t>
            </a:r>
            <a:r>
              <a:rPr lang="en-US" sz="1200" dirty="0">
                <a:solidFill>
                  <a:srgbClr val="C00000"/>
                </a:solidFill>
              </a:rPr>
              <a:t>Tutorial 5</a:t>
            </a:r>
            <a:r>
              <a:rPr lang="en-US" sz="1200" dirty="0">
                <a:solidFill>
                  <a:schemeClr val="accent1">
                    <a:lumMod val="75000"/>
                  </a:schemeClr>
                </a:solidFill>
              </a:rPr>
              <a:t> for details).</a:t>
            </a:r>
          </a:p>
        </p:txBody>
      </p:sp>
      <p:sp>
        <p:nvSpPr>
          <p:cNvPr id="22" name="TextBox 21"/>
          <p:cNvSpPr txBox="1"/>
          <p:nvPr/>
        </p:nvSpPr>
        <p:spPr>
          <a:xfrm>
            <a:off x="3393878" y="2547713"/>
            <a:ext cx="2660144" cy="646331"/>
          </a:xfrm>
          <a:prstGeom prst="rect">
            <a:avLst/>
          </a:prstGeom>
          <a:noFill/>
        </p:spPr>
        <p:txBody>
          <a:bodyPr wrap="square" rtlCol="0">
            <a:spAutoFit/>
          </a:bodyPr>
          <a:lstStyle/>
          <a:p>
            <a:r>
              <a:rPr lang="en-US" sz="1200" dirty="0">
                <a:solidFill>
                  <a:srgbClr val="C00000"/>
                </a:solidFill>
              </a:rPr>
              <a:t>Example</a:t>
            </a:r>
          </a:p>
          <a:p>
            <a:r>
              <a:rPr lang="en-US" sz="1200" dirty="0">
                <a:solidFill>
                  <a:schemeClr val="accent1">
                    <a:lumMod val="75000"/>
                  </a:schemeClr>
                </a:solidFill>
              </a:rPr>
              <a:t>Total and average square feet by subdivision and home type.</a:t>
            </a:r>
          </a:p>
        </p:txBody>
      </p:sp>
      <p:sp>
        <p:nvSpPr>
          <p:cNvPr id="29" name="TextBox 28"/>
          <p:cNvSpPr txBox="1"/>
          <p:nvPr/>
        </p:nvSpPr>
        <p:spPr>
          <a:xfrm>
            <a:off x="6838187" y="2577421"/>
            <a:ext cx="2179449" cy="1015663"/>
          </a:xfrm>
          <a:prstGeom prst="rect">
            <a:avLst/>
          </a:prstGeom>
          <a:noFill/>
        </p:spPr>
        <p:txBody>
          <a:bodyPr wrap="square" rtlCol="0">
            <a:spAutoFit/>
          </a:bodyPr>
          <a:lstStyle/>
          <a:p>
            <a:r>
              <a:rPr lang="en-US" sz="1200" dirty="0">
                <a:solidFill>
                  <a:srgbClr val="C00000"/>
                </a:solidFill>
              </a:rPr>
              <a:t>Charts</a:t>
            </a:r>
          </a:p>
          <a:p>
            <a:r>
              <a:rPr lang="en-US" sz="1200" dirty="0">
                <a:solidFill>
                  <a:schemeClr val="accent1">
                    <a:lumMod val="75000"/>
                  </a:schemeClr>
                </a:solidFill>
              </a:rPr>
              <a:t>Scatter, line, and column charts are often used in data analysis. Less-used charts are not shown.</a:t>
            </a:r>
          </a:p>
        </p:txBody>
      </p:sp>
      <p:pic>
        <p:nvPicPr>
          <p:cNvPr id="26" name="Picture 25"/>
          <p:cNvPicPr>
            <a:picLocks noChangeAspect="1"/>
          </p:cNvPicPr>
          <p:nvPr/>
        </p:nvPicPr>
        <p:blipFill>
          <a:blip r:embed="rId5"/>
          <a:stretch>
            <a:fillRect/>
          </a:stretch>
        </p:blipFill>
        <p:spPr>
          <a:xfrm>
            <a:off x="7812394" y="3840711"/>
            <a:ext cx="3557588" cy="1071563"/>
          </a:xfrm>
          <a:prstGeom prst="rect">
            <a:avLst/>
          </a:prstGeom>
          <a:ln>
            <a:solidFill>
              <a:schemeClr val="accent1">
                <a:shade val="50000"/>
              </a:schemeClr>
            </a:solidFill>
          </a:ln>
        </p:spPr>
      </p:pic>
      <p:pic>
        <p:nvPicPr>
          <p:cNvPr id="25" name="Picture 24"/>
          <p:cNvPicPr>
            <a:picLocks noChangeAspect="1"/>
          </p:cNvPicPr>
          <p:nvPr/>
        </p:nvPicPr>
        <p:blipFill>
          <a:blip r:embed="rId6"/>
          <a:stretch>
            <a:fillRect/>
          </a:stretch>
        </p:blipFill>
        <p:spPr>
          <a:xfrm>
            <a:off x="7700952" y="5070723"/>
            <a:ext cx="3669030" cy="1054418"/>
          </a:xfrm>
          <a:prstGeom prst="rect">
            <a:avLst/>
          </a:prstGeom>
          <a:ln>
            <a:solidFill>
              <a:schemeClr val="accent1">
                <a:shade val="50000"/>
              </a:schemeClr>
            </a:solidFill>
          </a:ln>
        </p:spPr>
      </p:pic>
      <p:pic>
        <p:nvPicPr>
          <p:cNvPr id="28" name="Picture 27"/>
          <p:cNvPicPr>
            <a:picLocks noChangeAspect="1"/>
          </p:cNvPicPr>
          <p:nvPr/>
        </p:nvPicPr>
        <p:blipFill>
          <a:blip r:embed="rId7"/>
          <a:stretch>
            <a:fillRect/>
          </a:stretch>
        </p:blipFill>
        <p:spPr>
          <a:xfrm>
            <a:off x="9552612" y="2586679"/>
            <a:ext cx="1817370" cy="1131570"/>
          </a:xfrm>
          <a:prstGeom prst="rect">
            <a:avLst/>
          </a:prstGeom>
          <a:ln>
            <a:solidFill>
              <a:schemeClr val="accent1">
                <a:shade val="50000"/>
              </a:schemeClr>
            </a:solidFill>
          </a:ln>
        </p:spPr>
      </p:pic>
      <p:sp>
        <p:nvSpPr>
          <p:cNvPr id="32" name="TextBox 31"/>
          <p:cNvSpPr txBox="1"/>
          <p:nvPr/>
        </p:nvSpPr>
        <p:spPr>
          <a:xfrm>
            <a:off x="4636507" y="5597932"/>
            <a:ext cx="2144269" cy="646331"/>
          </a:xfrm>
          <a:prstGeom prst="rect">
            <a:avLst/>
          </a:prstGeom>
          <a:noFill/>
        </p:spPr>
        <p:txBody>
          <a:bodyPr wrap="square" rtlCol="0">
            <a:spAutoFit/>
          </a:bodyPr>
          <a:lstStyle/>
          <a:p>
            <a:r>
              <a:rPr lang="en-US" sz="1200" i="1" dirty="0">
                <a:solidFill>
                  <a:srgbClr val="C00000"/>
                </a:solidFill>
              </a:rPr>
              <a:t>Note:</a:t>
            </a:r>
            <a:r>
              <a:rPr lang="en-US" sz="1200" dirty="0">
                <a:solidFill>
                  <a:srgbClr val="C00000"/>
                </a:solidFill>
              </a:rPr>
              <a:t> </a:t>
            </a:r>
            <a:r>
              <a:rPr lang="en-US" sz="1200" dirty="0">
                <a:solidFill>
                  <a:schemeClr val="accent1">
                    <a:lumMod val="75000"/>
                  </a:schemeClr>
                </a:solidFill>
              </a:rPr>
              <a:t>These examples show only a few features of the </a:t>
            </a:r>
            <a:r>
              <a:rPr lang="en-US" sz="1200" dirty="0">
                <a:solidFill>
                  <a:srgbClr val="C00000"/>
                </a:solidFill>
              </a:rPr>
              <a:t>Insert</a:t>
            </a:r>
            <a:r>
              <a:rPr lang="en-US" sz="1200" dirty="0">
                <a:solidFill>
                  <a:schemeClr val="accent1">
                    <a:lumMod val="75000"/>
                  </a:schemeClr>
                </a:solidFill>
              </a:rPr>
              <a:t> tab.</a:t>
            </a:r>
          </a:p>
        </p:txBody>
      </p:sp>
      <p:pic>
        <p:nvPicPr>
          <p:cNvPr id="41" name="Picture 4" descr="C:\Users\doane\AppData\Local\Microsoft\Windows\Temporary Internet Files\Content.IE5\4NRDV50F\MC900431538[1].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8201" y="5483694"/>
            <a:ext cx="955381" cy="885212"/>
          </a:xfrm>
          <a:prstGeom prst="rect">
            <a:avLst/>
          </a:prstGeom>
          <a:noFill/>
          <a:extLst>
            <a:ext uri="{909E8E84-426E-40DD-AFC4-6F175D3DCCD1}">
              <a14:hiddenFill xmlns:a14="http://schemas.microsoft.com/office/drawing/2010/main">
                <a:solidFill>
                  <a:srgbClr val="FFFFFF"/>
                </a:solidFill>
              </a14:hiddenFill>
            </a:ext>
          </a:extLst>
        </p:spPr>
      </p:pic>
      <p:sp>
        <p:nvSpPr>
          <p:cNvPr id="42" name="Right Arrow 41"/>
          <p:cNvSpPr/>
          <p:nvPr/>
        </p:nvSpPr>
        <p:spPr>
          <a:xfrm>
            <a:off x="9108173" y="2692755"/>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0592709" y="6444395"/>
            <a:ext cx="1298962" cy="276999"/>
          </a:xfrm>
          <a:prstGeom prst="rect">
            <a:avLst/>
          </a:prstGeom>
          <a:noFill/>
        </p:spPr>
        <p:txBody>
          <a:bodyPr wrap="square" rtlCol="0">
            <a:spAutoFit/>
          </a:bodyPr>
          <a:lstStyle/>
          <a:p>
            <a:r>
              <a:rPr lang="en-US" sz="1200" i="1" dirty="0">
                <a:hlinkClick r:id="rId9" action="ppaction://hlinksldjump"/>
              </a:rPr>
              <a:t>Back to top menu</a:t>
            </a:r>
            <a:endParaRPr lang="en-US" sz="1200" i="1" dirty="0"/>
          </a:p>
        </p:txBody>
      </p:sp>
      <p:sp>
        <p:nvSpPr>
          <p:cNvPr id="2" name="Footer Placeholder 1">
            <a:extLst>
              <a:ext uri="{FF2B5EF4-FFF2-40B4-BE49-F238E27FC236}">
                <a16:creationId xmlns:a16="http://schemas.microsoft.com/office/drawing/2014/main" id="{1D9C8A73-A914-FD72-BE63-A17AB26DFC48}"/>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4012846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539975" y="1179646"/>
            <a:ext cx="10972800" cy="139841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insert</a:t>
            </a:r>
          </a:p>
        </p:txBody>
      </p:sp>
      <p:sp>
        <p:nvSpPr>
          <p:cNvPr id="6" name="Rounded Rectangle 5"/>
          <p:cNvSpPr/>
          <p:nvPr/>
        </p:nvSpPr>
        <p:spPr>
          <a:xfrm>
            <a:off x="3032614" y="1706172"/>
            <a:ext cx="351112" cy="345358"/>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9838896" y="1760610"/>
            <a:ext cx="378726" cy="46672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319491" y="2646218"/>
            <a:ext cx="3426246" cy="830997"/>
          </a:xfrm>
          <a:prstGeom prst="rect">
            <a:avLst/>
          </a:prstGeom>
          <a:noFill/>
        </p:spPr>
        <p:txBody>
          <a:bodyPr wrap="square" rtlCol="0">
            <a:spAutoFit/>
          </a:bodyPr>
          <a:lstStyle/>
          <a:p>
            <a:r>
              <a:rPr lang="en-US" sz="1200" dirty="0">
                <a:solidFill>
                  <a:srgbClr val="C00000"/>
                </a:solidFill>
              </a:rPr>
              <a:t>Shapes</a:t>
            </a:r>
          </a:p>
          <a:p>
            <a:r>
              <a:rPr lang="en-US" sz="1200" dirty="0">
                <a:solidFill>
                  <a:schemeClr val="accent1">
                    <a:lumMod val="75000"/>
                  </a:schemeClr>
                </a:solidFill>
              </a:rPr>
              <a:t>Use arrows and shapes to point out items of interest. For example, these transparent rectangles with glowing edges.</a:t>
            </a:r>
          </a:p>
        </p:txBody>
      </p:sp>
      <p:sp>
        <p:nvSpPr>
          <p:cNvPr id="22" name="TextBox 21"/>
          <p:cNvSpPr txBox="1"/>
          <p:nvPr/>
        </p:nvSpPr>
        <p:spPr>
          <a:xfrm>
            <a:off x="6859452" y="2738552"/>
            <a:ext cx="1978206" cy="830997"/>
          </a:xfrm>
          <a:prstGeom prst="rect">
            <a:avLst/>
          </a:prstGeom>
          <a:noFill/>
        </p:spPr>
        <p:txBody>
          <a:bodyPr wrap="square" rtlCol="0">
            <a:spAutoFit/>
          </a:bodyPr>
          <a:lstStyle/>
          <a:p>
            <a:r>
              <a:rPr lang="en-US" sz="1200" dirty="0">
                <a:solidFill>
                  <a:srgbClr val="C00000"/>
                </a:solidFill>
              </a:rPr>
              <a:t>Text Box</a:t>
            </a:r>
          </a:p>
          <a:p>
            <a:r>
              <a:rPr lang="en-US" sz="1200" dirty="0">
                <a:solidFill>
                  <a:schemeClr val="accent1">
                    <a:lumMod val="75000"/>
                  </a:schemeClr>
                </a:solidFill>
              </a:rPr>
              <a:t>Good alternative to typing in cells because you can drag it around.</a:t>
            </a:r>
          </a:p>
        </p:txBody>
      </p:sp>
      <p:sp>
        <p:nvSpPr>
          <p:cNvPr id="29" name="TextBox 28"/>
          <p:cNvSpPr txBox="1"/>
          <p:nvPr/>
        </p:nvSpPr>
        <p:spPr>
          <a:xfrm>
            <a:off x="4979942" y="2738552"/>
            <a:ext cx="1757937" cy="646331"/>
          </a:xfrm>
          <a:prstGeom prst="rect">
            <a:avLst/>
          </a:prstGeom>
          <a:noFill/>
        </p:spPr>
        <p:txBody>
          <a:bodyPr wrap="square" rtlCol="0">
            <a:spAutoFit/>
          </a:bodyPr>
          <a:lstStyle/>
          <a:p>
            <a:r>
              <a:rPr lang="en-US" sz="1200" dirty="0">
                <a:solidFill>
                  <a:srgbClr val="C00000"/>
                </a:solidFill>
              </a:rPr>
              <a:t>Hyperlink</a:t>
            </a:r>
          </a:p>
          <a:p>
            <a:r>
              <a:rPr lang="en-US" sz="1200" dirty="0">
                <a:solidFill>
                  <a:schemeClr val="accent1">
                    <a:lumMod val="75000"/>
                  </a:schemeClr>
                </a:solidFill>
              </a:rPr>
              <a:t>So reader can jump to a web site.</a:t>
            </a:r>
          </a:p>
        </p:txBody>
      </p:sp>
      <p:sp>
        <p:nvSpPr>
          <p:cNvPr id="18" name="Rounded Rectangle 17"/>
          <p:cNvSpPr/>
          <p:nvPr/>
        </p:nvSpPr>
        <p:spPr>
          <a:xfrm>
            <a:off x="9332695" y="1782336"/>
            <a:ext cx="486454" cy="44301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10257117" y="1758628"/>
            <a:ext cx="874025" cy="46672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1474304" y="3720467"/>
            <a:ext cx="2081386" cy="2482029"/>
          </a:xfrm>
          <a:prstGeom prst="rect">
            <a:avLst/>
          </a:prstGeom>
        </p:spPr>
      </p:pic>
      <p:pic>
        <p:nvPicPr>
          <p:cNvPr id="9" name="Picture 8"/>
          <p:cNvPicPr>
            <a:picLocks noChangeAspect="1"/>
          </p:cNvPicPr>
          <p:nvPr/>
        </p:nvPicPr>
        <p:blipFill>
          <a:blip r:embed="rId4"/>
          <a:stretch>
            <a:fillRect/>
          </a:stretch>
        </p:blipFill>
        <p:spPr>
          <a:xfrm>
            <a:off x="8322888" y="3938723"/>
            <a:ext cx="3216362" cy="2102276"/>
          </a:xfrm>
          <a:prstGeom prst="rect">
            <a:avLst/>
          </a:prstGeom>
        </p:spPr>
      </p:pic>
      <p:sp>
        <p:nvSpPr>
          <p:cNvPr id="31" name="Rounded Rectangle 30"/>
          <p:cNvSpPr/>
          <p:nvPr/>
        </p:nvSpPr>
        <p:spPr>
          <a:xfrm flipH="1">
            <a:off x="1973409" y="3837470"/>
            <a:ext cx="220164" cy="16780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flipH="1">
            <a:off x="1442508" y="5639714"/>
            <a:ext cx="719270" cy="22169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8972237" y="2783142"/>
            <a:ext cx="2517735" cy="830997"/>
          </a:xfrm>
          <a:prstGeom prst="rect">
            <a:avLst/>
          </a:prstGeom>
          <a:noFill/>
        </p:spPr>
        <p:txBody>
          <a:bodyPr wrap="square" rtlCol="0">
            <a:spAutoFit/>
          </a:bodyPr>
          <a:lstStyle/>
          <a:p>
            <a:r>
              <a:rPr lang="en-US" sz="1200" dirty="0">
                <a:solidFill>
                  <a:srgbClr val="C00000"/>
                </a:solidFill>
              </a:rPr>
              <a:t>Equations and Symbols</a:t>
            </a:r>
          </a:p>
          <a:p>
            <a:r>
              <a:rPr lang="en-US" sz="1200" dirty="0">
                <a:solidFill>
                  <a:schemeClr val="accent1">
                    <a:lumMod val="75000"/>
                  </a:schemeClr>
                </a:solidFill>
              </a:rPr>
              <a:t>Sometimes useful in reports, but you can also use </a:t>
            </a:r>
            <a:r>
              <a:rPr lang="en-US" sz="1200" dirty="0">
                <a:solidFill>
                  <a:srgbClr val="C00000"/>
                </a:solidFill>
              </a:rPr>
              <a:t>Symbol</a:t>
            </a:r>
            <a:r>
              <a:rPr lang="en-US" sz="1200" dirty="0">
                <a:solidFill>
                  <a:schemeClr val="accent1">
                    <a:lumMod val="75000"/>
                  </a:schemeClr>
                </a:solidFill>
              </a:rPr>
              <a:t> font to convert </a:t>
            </a:r>
            <a:r>
              <a:rPr lang="en-US" sz="1200" dirty="0">
                <a:solidFill>
                  <a:srgbClr val="C00000"/>
                </a:solidFill>
              </a:rPr>
              <a:t>a b m s</a:t>
            </a:r>
            <a:r>
              <a:rPr lang="en-US" sz="1200" dirty="0">
                <a:solidFill>
                  <a:schemeClr val="accent1">
                    <a:lumMod val="75000"/>
                  </a:schemeClr>
                </a:solidFill>
              </a:rPr>
              <a:t> to </a:t>
            </a:r>
            <a:r>
              <a:rPr lang="en-US" sz="1200" dirty="0">
                <a:solidFill>
                  <a:srgbClr val="C00000"/>
                </a:solidFill>
                <a:latin typeface="Symbol" panose="05050102010706020507" pitchFamily="18" charset="2"/>
              </a:rPr>
              <a:t>a b m s</a:t>
            </a:r>
            <a:r>
              <a:rPr lang="en-US" sz="1200" dirty="0">
                <a:solidFill>
                  <a:schemeClr val="accent1">
                    <a:lumMod val="75000"/>
                  </a:schemeClr>
                </a:solidFill>
              </a:rPr>
              <a:t>.</a:t>
            </a:r>
          </a:p>
        </p:txBody>
      </p:sp>
      <p:pic>
        <p:nvPicPr>
          <p:cNvPr id="49" name="Picture 48"/>
          <p:cNvPicPr>
            <a:picLocks noChangeAspect="1"/>
          </p:cNvPicPr>
          <p:nvPr/>
        </p:nvPicPr>
        <p:blipFill>
          <a:blip r:embed="rId5"/>
          <a:stretch>
            <a:fillRect/>
          </a:stretch>
        </p:blipFill>
        <p:spPr>
          <a:xfrm>
            <a:off x="4973832" y="3837470"/>
            <a:ext cx="2674196" cy="1692075"/>
          </a:xfrm>
          <a:prstGeom prst="rect">
            <a:avLst/>
          </a:prstGeom>
        </p:spPr>
      </p:pic>
      <p:sp>
        <p:nvSpPr>
          <p:cNvPr id="52" name="Down Arrow 51"/>
          <p:cNvSpPr/>
          <p:nvPr/>
        </p:nvSpPr>
        <p:spPr>
          <a:xfrm>
            <a:off x="2793074" y="3478590"/>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p:cNvCxnSpPr/>
          <p:nvPr/>
        </p:nvCxnSpPr>
        <p:spPr>
          <a:xfrm flipH="1">
            <a:off x="7626149" y="2947230"/>
            <a:ext cx="1448403" cy="129768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8837658" y="3614139"/>
            <a:ext cx="1209168" cy="181438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0592709" y="6444395"/>
            <a:ext cx="1298962" cy="276999"/>
          </a:xfrm>
          <a:prstGeom prst="rect">
            <a:avLst/>
          </a:prstGeom>
          <a:noFill/>
        </p:spPr>
        <p:txBody>
          <a:bodyPr wrap="square" rtlCol="0">
            <a:spAutoFit/>
          </a:bodyPr>
          <a:lstStyle/>
          <a:p>
            <a:r>
              <a:rPr lang="en-US" sz="1200" i="1" dirty="0">
                <a:hlinkClick r:id="rId6" action="ppaction://hlinksldjump"/>
              </a:rPr>
              <a:t>Back to top menu</a:t>
            </a:r>
            <a:endParaRPr lang="en-US" sz="1200" i="1" dirty="0"/>
          </a:p>
        </p:txBody>
      </p:sp>
      <p:cxnSp>
        <p:nvCxnSpPr>
          <p:cNvPr id="25" name="Straight Arrow Connector 24"/>
          <p:cNvCxnSpPr>
            <a:endCxn id="6" idx="2"/>
          </p:cNvCxnSpPr>
          <p:nvPr/>
        </p:nvCxnSpPr>
        <p:spPr>
          <a:xfrm flipV="1">
            <a:off x="2993119" y="2051530"/>
            <a:ext cx="215051" cy="90316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A2DD70A2-5153-D146-E59A-5DAA17320F8D}"/>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59517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6090" y="1166750"/>
            <a:ext cx="10706100" cy="160020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page layout</a:t>
            </a:r>
          </a:p>
        </p:txBody>
      </p:sp>
      <p:sp>
        <p:nvSpPr>
          <p:cNvPr id="6" name="Rounded Rectangle 5"/>
          <p:cNvSpPr/>
          <p:nvPr/>
        </p:nvSpPr>
        <p:spPr>
          <a:xfrm>
            <a:off x="531209" y="1787061"/>
            <a:ext cx="1216568" cy="75937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678341" y="1889911"/>
            <a:ext cx="600075" cy="42862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3306596" y="1889911"/>
            <a:ext cx="489900" cy="65652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427308" y="3082178"/>
            <a:ext cx="4129706" cy="646331"/>
          </a:xfrm>
          <a:prstGeom prst="rect">
            <a:avLst/>
          </a:prstGeom>
          <a:noFill/>
        </p:spPr>
        <p:txBody>
          <a:bodyPr wrap="square" rtlCol="0">
            <a:spAutoFit/>
          </a:bodyPr>
          <a:lstStyle/>
          <a:p>
            <a:r>
              <a:rPr lang="en-US" sz="1200" dirty="0">
                <a:solidFill>
                  <a:srgbClr val="C00000"/>
                </a:solidFill>
              </a:rPr>
              <a:t>Gridlines</a:t>
            </a:r>
          </a:p>
          <a:p>
            <a:r>
              <a:rPr lang="en-US" sz="1200" dirty="0">
                <a:solidFill>
                  <a:schemeClr val="accent1">
                    <a:lumMod val="75000"/>
                  </a:schemeClr>
                </a:solidFill>
              </a:rPr>
              <a:t>They make it easier to locate data values, but may be unattractive in a report. It’s your choice.</a:t>
            </a:r>
          </a:p>
        </p:txBody>
      </p:sp>
      <p:sp>
        <p:nvSpPr>
          <p:cNvPr id="10" name="TextBox 9"/>
          <p:cNvSpPr txBox="1"/>
          <p:nvPr/>
        </p:nvSpPr>
        <p:spPr>
          <a:xfrm>
            <a:off x="3033043" y="3082178"/>
            <a:ext cx="1662994" cy="1015663"/>
          </a:xfrm>
          <a:prstGeom prst="rect">
            <a:avLst/>
          </a:prstGeom>
          <a:noFill/>
        </p:spPr>
        <p:txBody>
          <a:bodyPr wrap="square" rtlCol="0">
            <a:spAutoFit/>
          </a:bodyPr>
          <a:lstStyle/>
          <a:p>
            <a:r>
              <a:rPr lang="en-US" sz="1200" dirty="0">
                <a:solidFill>
                  <a:srgbClr val="C00000"/>
                </a:solidFill>
              </a:rPr>
              <a:t>Print Area</a:t>
            </a:r>
          </a:p>
          <a:p>
            <a:r>
              <a:rPr lang="en-US" sz="1200" dirty="0">
                <a:solidFill>
                  <a:schemeClr val="accent1">
                    <a:lumMod val="75000"/>
                  </a:schemeClr>
                </a:solidFill>
              </a:rPr>
              <a:t>Save paper. Print only the portion of the worksheet that you actually need.</a:t>
            </a:r>
          </a:p>
        </p:txBody>
      </p:sp>
      <p:sp>
        <p:nvSpPr>
          <p:cNvPr id="11" name="TextBox 10"/>
          <p:cNvSpPr txBox="1"/>
          <p:nvPr/>
        </p:nvSpPr>
        <p:spPr>
          <a:xfrm>
            <a:off x="531208" y="3082178"/>
            <a:ext cx="1968923" cy="1015663"/>
          </a:xfrm>
          <a:prstGeom prst="rect">
            <a:avLst/>
          </a:prstGeom>
          <a:noFill/>
        </p:spPr>
        <p:txBody>
          <a:bodyPr wrap="square" rtlCol="0">
            <a:spAutoFit/>
          </a:bodyPr>
          <a:lstStyle/>
          <a:p>
            <a:r>
              <a:rPr lang="en-US" sz="1200" dirty="0">
                <a:solidFill>
                  <a:srgbClr val="C00000"/>
                </a:solidFill>
              </a:rPr>
              <a:t>Themes</a:t>
            </a:r>
          </a:p>
          <a:p>
            <a:r>
              <a:rPr lang="en-US" sz="1200" dirty="0">
                <a:solidFill>
                  <a:schemeClr val="accent1">
                    <a:lumMod val="75000"/>
                  </a:schemeClr>
                </a:solidFill>
              </a:rPr>
              <a:t>Make your colors and layout more consistent. Or are  you a do-it-your-</a:t>
            </a:r>
            <a:r>
              <a:rPr lang="en-US" sz="1200" dirty="0" err="1">
                <a:solidFill>
                  <a:schemeClr val="accent1">
                    <a:lumMod val="75000"/>
                  </a:schemeClr>
                </a:solidFill>
              </a:rPr>
              <a:t>selfer</a:t>
            </a:r>
            <a:r>
              <a:rPr lang="en-US" sz="1200" dirty="0">
                <a:solidFill>
                  <a:schemeClr val="accent1">
                    <a:lumMod val="75000"/>
                  </a:schemeClr>
                </a:solidFill>
              </a:rPr>
              <a:t> ?</a:t>
            </a:r>
          </a:p>
        </p:txBody>
      </p:sp>
      <p:pic>
        <p:nvPicPr>
          <p:cNvPr id="4" name="Picture 3"/>
          <p:cNvPicPr>
            <a:picLocks noChangeAspect="1"/>
          </p:cNvPicPr>
          <p:nvPr/>
        </p:nvPicPr>
        <p:blipFill>
          <a:blip r:embed="rId3"/>
          <a:stretch>
            <a:fillRect/>
          </a:stretch>
        </p:blipFill>
        <p:spPr>
          <a:xfrm>
            <a:off x="7753823" y="4025380"/>
            <a:ext cx="1328550" cy="1386867"/>
          </a:xfrm>
          <a:prstGeom prst="rect">
            <a:avLst/>
          </a:prstGeom>
        </p:spPr>
      </p:pic>
      <p:pic>
        <p:nvPicPr>
          <p:cNvPr id="12" name="Picture 11"/>
          <p:cNvPicPr>
            <a:picLocks noChangeAspect="1"/>
          </p:cNvPicPr>
          <p:nvPr/>
        </p:nvPicPr>
        <p:blipFill>
          <a:blip r:embed="rId4"/>
          <a:stretch>
            <a:fillRect/>
          </a:stretch>
        </p:blipFill>
        <p:spPr>
          <a:xfrm>
            <a:off x="5427308" y="4025380"/>
            <a:ext cx="1328550" cy="1386867"/>
          </a:xfrm>
          <a:prstGeom prst="rect">
            <a:avLst/>
          </a:prstGeom>
        </p:spPr>
      </p:pic>
      <p:sp>
        <p:nvSpPr>
          <p:cNvPr id="13" name="TextBox 12"/>
          <p:cNvSpPr txBox="1"/>
          <p:nvPr/>
        </p:nvSpPr>
        <p:spPr>
          <a:xfrm>
            <a:off x="7056438" y="4025380"/>
            <a:ext cx="452437" cy="369332"/>
          </a:xfrm>
          <a:prstGeom prst="rect">
            <a:avLst/>
          </a:prstGeom>
          <a:noFill/>
        </p:spPr>
        <p:txBody>
          <a:bodyPr wrap="square" rtlCol="0">
            <a:spAutoFit/>
          </a:bodyPr>
          <a:lstStyle/>
          <a:p>
            <a:pPr algn="ctr"/>
            <a:r>
              <a:rPr lang="en-US" dirty="0"/>
              <a:t>or</a:t>
            </a:r>
          </a:p>
        </p:txBody>
      </p:sp>
      <p:sp>
        <p:nvSpPr>
          <p:cNvPr id="15" name="TextBox 14"/>
          <p:cNvSpPr txBox="1"/>
          <p:nvPr/>
        </p:nvSpPr>
        <p:spPr>
          <a:xfrm>
            <a:off x="7052198" y="4426425"/>
            <a:ext cx="452437" cy="584775"/>
          </a:xfrm>
          <a:prstGeom prst="rect">
            <a:avLst/>
          </a:prstGeom>
          <a:noFill/>
        </p:spPr>
        <p:txBody>
          <a:bodyPr wrap="square" rtlCol="0">
            <a:spAutoFit/>
          </a:bodyPr>
          <a:lstStyle/>
          <a:p>
            <a:r>
              <a:rPr lang="en-US" sz="3200" b="1" dirty="0">
                <a:solidFill>
                  <a:srgbClr val="C00000"/>
                </a:solidFill>
                <a:latin typeface="Arial" panose="020B0604020202020204" pitchFamily="34" charset="0"/>
                <a:cs typeface="Arial" panose="020B0604020202020204" pitchFamily="34" charset="0"/>
              </a:rPr>
              <a:t>?</a:t>
            </a:r>
          </a:p>
        </p:txBody>
      </p:sp>
      <p:sp>
        <p:nvSpPr>
          <p:cNvPr id="14" name="TextBox 13"/>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3" name="Footer Placeholder 2">
            <a:extLst>
              <a:ext uri="{FF2B5EF4-FFF2-40B4-BE49-F238E27FC236}">
                <a16:creationId xmlns:a16="http://schemas.microsoft.com/office/drawing/2014/main" id="{B35548A7-FC4B-CB88-3A50-CB90B1C2A6C5}"/>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668276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6988" y="1234100"/>
            <a:ext cx="11753850" cy="158115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formulas</a:t>
            </a:r>
          </a:p>
        </p:txBody>
      </p:sp>
      <p:pic>
        <p:nvPicPr>
          <p:cNvPr id="7" name="Picture 6"/>
          <p:cNvPicPr>
            <a:picLocks noChangeAspect="1"/>
          </p:cNvPicPr>
          <p:nvPr/>
        </p:nvPicPr>
        <p:blipFill>
          <a:blip r:embed="rId3"/>
          <a:stretch>
            <a:fillRect/>
          </a:stretch>
        </p:blipFill>
        <p:spPr>
          <a:xfrm>
            <a:off x="2410637" y="2884534"/>
            <a:ext cx="1731645" cy="3800475"/>
          </a:xfrm>
          <a:prstGeom prst="rect">
            <a:avLst/>
          </a:prstGeom>
        </p:spPr>
      </p:pic>
      <p:pic>
        <p:nvPicPr>
          <p:cNvPr id="16" name="Picture 15"/>
          <p:cNvPicPr>
            <a:picLocks noChangeAspect="1"/>
          </p:cNvPicPr>
          <p:nvPr/>
        </p:nvPicPr>
        <p:blipFill>
          <a:blip r:embed="rId4"/>
          <a:stretch>
            <a:fillRect/>
          </a:stretch>
        </p:blipFill>
        <p:spPr>
          <a:xfrm>
            <a:off x="6929446" y="3267818"/>
            <a:ext cx="1581386" cy="3033905"/>
          </a:xfrm>
          <a:prstGeom prst="rect">
            <a:avLst/>
          </a:prstGeom>
        </p:spPr>
      </p:pic>
      <p:sp>
        <p:nvSpPr>
          <p:cNvPr id="17" name="TextBox 16"/>
          <p:cNvSpPr txBox="1"/>
          <p:nvPr/>
        </p:nvSpPr>
        <p:spPr>
          <a:xfrm>
            <a:off x="4361605" y="2957042"/>
            <a:ext cx="2003927" cy="830997"/>
          </a:xfrm>
          <a:prstGeom prst="rect">
            <a:avLst/>
          </a:prstGeom>
          <a:noFill/>
        </p:spPr>
        <p:txBody>
          <a:bodyPr wrap="square" rtlCol="0">
            <a:spAutoFit/>
          </a:bodyPr>
          <a:lstStyle/>
          <a:p>
            <a:r>
              <a:rPr lang="en-US" sz="1200" dirty="0">
                <a:solidFill>
                  <a:srgbClr val="C00000"/>
                </a:solidFill>
              </a:rPr>
              <a:t>More Functions</a:t>
            </a:r>
          </a:p>
          <a:p>
            <a:r>
              <a:rPr lang="en-US" sz="1200" dirty="0">
                <a:solidFill>
                  <a:schemeClr val="accent1">
                    <a:lumMod val="75000"/>
                  </a:schemeClr>
                </a:solidFill>
              </a:rPr>
              <a:t>You can shorten the drop-down list of functions to </a:t>
            </a:r>
            <a:r>
              <a:rPr lang="en-US" sz="1200" dirty="0">
                <a:solidFill>
                  <a:srgbClr val="C00000"/>
                </a:solidFill>
              </a:rPr>
              <a:t>Statistical</a:t>
            </a:r>
            <a:r>
              <a:rPr lang="en-US" sz="1200" dirty="0">
                <a:solidFill>
                  <a:schemeClr val="accent1">
                    <a:lumMod val="75000"/>
                  </a:schemeClr>
                </a:solidFill>
              </a:rPr>
              <a:t>.</a:t>
            </a:r>
            <a:endParaRPr lang="en-US" sz="1200" dirty="0">
              <a:solidFill>
                <a:srgbClr val="C00000"/>
              </a:solidFill>
            </a:endParaRPr>
          </a:p>
        </p:txBody>
      </p:sp>
      <p:sp>
        <p:nvSpPr>
          <p:cNvPr id="18" name="Rounded Rectangle 17"/>
          <p:cNvSpPr/>
          <p:nvPr/>
        </p:nvSpPr>
        <p:spPr>
          <a:xfrm>
            <a:off x="4957838" y="1887877"/>
            <a:ext cx="563285" cy="7867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90950" y="3099303"/>
            <a:ext cx="1367130" cy="1558208"/>
          </a:xfrm>
          <a:prstGeom prst="rect">
            <a:avLst/>
          </a:prstGeom>
          <a:noFill/>
        </p:spPr>
        <p:txBody>
          <a:bodyPr wrap="square" rtlCol="0">
            <a:spAutoFit/>
          </a:bodyPr>
          <a:lstStyle/>
          <a:p>
            <a:r>
              <a:rPr lang="en-US" sz="1200" dirty="0">
                <a:solidFill>
                  <a:srgbClr val="C00000"/>
                </a:solidFill>
              </a:rPr>
              <a:t>Insert Function</a:t>
            </a:r>
          </a:p>
          <a:p>
            <a:r>
              <a:rPr lang="en-US" sz="1200" dirty="0">
                <a:solidFill>
                  <a:schemeClr val="accent1">
                    <a:lumMod val="75000"/>
                  </a:schemeClr>
                </a:solidFill>
              </a:rPr>
              <a:t>Puts a function in a cell using this menu. After a while, you’ll learn the syntax of common statistics functions.</a:t>
            </a:r>
            <a:endParaRPr lang="en-US" sz="1200" dirty="0">
              <a:solidFill>
                <a:srgbClr val="C00000"/>
              </a:solidFill>
            </a:endParaRPr>
          </a:p>
        </p:txBody>
      </p:sp>
      <p:sp>
        <p:nvSpPr>
          <p:cNvPr id="20" name="Down Arrow 19"/>
          <p:cNvSpPr/>
          <p:nvPr/>
        </p:nvSpPr>
        <p:spPr>
          <a:xfrm>
            <a:off x="4911129" y="3929246"/>
            <a:ext cx="288242" cy="241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a:off x="6142741" y="4509660"/>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1978119" y="3015513"/>
            <a:ext cx="285750" cy="295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pic>
        <p:nvPicPr>
          <p:cNvPr id="3" name="Picture 2"/>
          <p:cNvPicPr>
            <a:picLocks noChangeAspect="1"/>
          </p:cNvPicPr>
          <p:nvPr/>
        </p:nvPicPr>
        <p:blipFill>
          <a:blip r:embed="rId6"/>
          <a:stretch>
            <a:fillRect/>
          </a:stretch>
        </p:blipFill>
        <p:spPr>
          <a:xfrm>
            <a:off x="4467243" y="4453539"/>
            <a:ext cx="1228725" cy="1400175"/>
          </a:xfrm>
          <a:prstGeom prst="rect">
            <a:avLst/>
          </a:prstGeom>
        </p:spPr>
      </p:pic>
      <p:sp>
        <p:nvSpPr>
          <p:cNvPr id="15" name="Rounded Rectangle 17"/>
          <p:cNvSpPr/>
          <p:nvPr/>
        </p:nvSpPr>
        <p:spPr>
          <a:xfrm>
            <a:off x="585625" y="1887877"/>
            <a:ext cx="563285" cy="7867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17"/>
          <p:cNvSpPr/>
          <p:nvPr/>
        </p:nvSpPr>
        <p:spPr>
          <a:xfrm>
            <a:off x="4447539" y="4453539"/>
            <a:ext cx="1160474" cy="262278"/>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C21F247E-D4F8-F894-3D0E-685793D46875}"/>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812043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31557" y="1258286"/>
            <a:ext cx="11772900" cy="1590675"/>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data</a:t>
            </a:r>
          </a:p>
        </p:txBody>
      </p:sp>
      <p:sp>
        <p:nvSpPr>
          <p:cNvPr id="6" name="Rounded Rectangle 5"/>
          <p:cNvSpPr/>
          <p:nvPr/>
        </p:nvSpPr>
        <p:spPr>
          <a:xfrm>
            <a:off x="9488510" y="1951032"/>
            <a:ext cx="1104199" cy="30603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268333" y="3181350"/>
            <a:ext cx="1981312" cy="1200329"/>
          </a:xfrm>
          <a:prstGeom prst="rect">
            <a:avLst/>
          </a:prstGeom>
          <a:noFill/>
        </p:spPr>
        <p:txBody>
          <a:bodyPr wrap="square" rtlCol="0">
            <a:spAutoFit/>
          </a:bodyPr>
          <a:lstStyle/>
          <a:p>
            <a:r>
              <a:rPr lang="en-US" sz="1200" dirty="0">
                <a:solidFill>
                  <a:srgbClr val="C00000"/>
                </a:solidFill>
              </a:rPr>
              <a:t>Data Analysis</a:t>
            </a:r>
          </a:p>
          <a:p>
            <a:r>
              <a:rPr lang="en-US" sz="1200" dirty="0">
                <a:solidFill>
                  <a:schemeClr val="accent1">
                    <a:lumMod val="75000"/>
                  </a:schemeClr>
                </a:solidFill>
              </a:rPr>
              <a:t>Instead of entering your own cell functions, you can do many kinds of analysis from a menu (see </a:t>
            </a:r>
            <a:r>
              <a:rPr lang="en-US" sz="1200" dirty="0">
                <a:solidFill>
                  <a:srgbClr val="C00000"/>
                </a:solidFill>
              </a:rPr>
              <a:t>Tutorial 4</a:t>
            </a:r>
            <a:r>
              <a:rPr lang="en-US" sz="1200" dirty="0">
                <a:solidFill>
                  <a:schemeClr val="accent1">
                    <a:lumMod val="75000"/>
                  </a:schemeClr>
                </a:solidFill>
              </a:rPr>
              <a:t>).</a:t>
            </a:r>
            <a:endParaRPr lang="en-US" sz="1200" dirty="0">
              <a:solidFill>
                <a:srgbClr val="C00000"/>
              </a:solidFill>
            </a:endParaRPr>
          </a:p>
        </p:txBody>
      </p:sp>
      <p:sp>
        <p:nvSpPr>
          <p:cNvPr id="12" name="TextBox 11"/>
          <p:cNvSpPr txBox="1"/>
          <p:nvPr/>
        </p:nvSpPr>
        <p:spPr>
          <a:xfrm>
            <a:off x="3502779" y="5201097"/>
            <a:ext cx="3063273" cy="830997"/>
          </a:xfrm>
          <a:prstGeom prst="rect">
            <a:avLst/>
          </a:prstGeom>
          <a:noFill/>
        </p:spPr>
        <p:txBody>
          <a:bodyPr wrap="square" rtlCol="0">
            <a:spAutoFit/>
          </a:bodyPr>
          <a:lstStyle/>
          <a:p>
            <a:r>
              <a:rPr lang="en-US" sz="1200" dirty="0">
                <a:solidFill>
                  <a:schemeClr val="accent1">
                    <a:lumMod val="75000"/>
                  </a:schemeClr>
                </a:solidFill>
              </a:rPr>
              <a:t>The </a:t>
            </a:r>
            <a:r>
              <a:rPr lang="en-US" sz="1200" dirty="0">
                <a:solidFill>
                  <a:srgbClr val="C00000"/>
                </a:solidFill>
              </a:rPr>
              <a:t>Data Analysis </a:t>
            </a:r>
            <a:r>
              <a:rPr lang="en-US" sz="1200" dirty="0">
                <a:solidFill>
                  <a:schemeClr val="accent1">
                    <a:lumMod val="75000"/>
                  </a:schemeClr>
                </a:solidFill>
              </a:rPr>
              <a:t>tools</a:t>
            </a:r>
            <a:r>
              <a:rPr lang="en-US" sz="1200" dirty="0">
                <a:solidFill>
                  <a:srgbClr val="C00000"/>
                </a:solidFill>
              </a:rPr>
              <a:t> </a:t>
            </a:r>
            <a:r>
              <a:rPr lang="en-US" sz="1200" dirty="0">
                <a:solidFill>
                  <a:schemeClr val="accent1">
                    <a:lumMod val="75000"/>
                  </a:schemeClr>
                </a:solidFill>
              </a:rPr>
              <a:t>will </a:t>
            </a:r>
            <a:r>
              <a:rPr lang="en-US" sz="1200" i="1" dirty="0">
                <a:solidFill>
                  <a:schemeClr val="accent1">
                    <a:lumMod val="75000"/>
                  </a:schemeClr>
                </a:solidFill>
              </a:rPr>
              <a:t>not</a:t>
            </a:r>
            <a:r>
              <a:rPr lang="en-US" sz="1200" dirty="0">
                <a:solidFill>
                  <a:schemeClr val="accent1">
                    <a:lumMod val="75000"/>
                  </a:schemeClr>
                </a:solidFill>
              </a:rPr>
              <a:t> appear on the spreadsheet </a:t>
            </a:r>
            <a:r>
              <a:rPr lang="en-US" sz="1200" dirty="0">
                <a:solidFill>
                  <a:srgbClr val="C00000"/>
                </a:solidFill>
              </a:rPr>
              <a:t>Data</a:t>
            </a:r>
            <a:r>
              <a:rPr lang="en-US" sz="1200" dirty="0">
                <a:solidFill>
                  <a:schemeClr val="accent1">
                    <a:lumMod val="75000"/>
                  </a:schemeClr>
                </a:solidFill>
              </a:rPr>
              <a:t> ribbon tab unless they were installed from </a:t>
            </a:r>
            <a:r>
              <a:rPr lang="en-US" sz="1200" dirty="0">
                <a:solidFill>
                  <a:srgbClr val="C00000"/>
                </a:solidFill>
              </a:rPr>
              <a:t>File &gt; Options &gt; Add-ins &gt; Go</a:t>
            </a:r>
            <a:r>
              <a:rPr lang="en-US" sz="1200" dirty="0">
                <a:solidFill>
                  <a:schemeClr val="accent1">
                    <a:lumMod val="75000"/>
                  </a:schemeClr>
                </a:solidFill>
              </a:rPr>
              <a:t>. </a:t>
            </a:r>
          </a:p>
        </p:txBody>
      </p:sp>
      <p:sp>
        <p:nvSpPr>
          <p:cNvPr id="15" name="Left Arrow 14"/>
          <p:cNvSpPr/>
          <p:nvPr/>
        </p:nvSpPr>
        <p:spPr>
          <a:xfrm>
            <a:off x="4715708" y="3596938"/>
            <a:ext cx="409575" cy="3402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a:off x="6849595" y="5284007"/>
            <a:ext cx="400050" cy="3780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3" descr="C:\Users\doane\AppData\Local\Microsoft\Windows\Temporary Internet Files\Content.IE5\YJVGYIN5\MP900439244[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5423" y="5284007"/>
            <a:ext cx="727357" cy="48490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pic>
        <p:nvPicPr>
          <p:cNvPr id="2" name="Picture 1"/>
          <p:cNvPicPr>
            <a:picLocks noChangeAspect="1"/>
          </p:cNvPicPr>
          <p:nvPr/>
        </p:nvPicPr>
        <p:blipFill>
          <a:blip r:embed="rId5"/>
          <a:stretch>
            <a:fillRect/>
          </a:stretch>
        </p:blipFill>
        <p:spPr>
          <a:xfrm>
            <a:off x="643859" y="3039665"/>
            <a:ext cx="3705225" cy="1866900"/>
          </a:xfrm>
          <a:prstGeom prst="rect">
            <a:avLst/>
          </a:prstGeom>
        </p:spPr>
      </p:pic>
      <p:pic>
        <p:nvPicPr>
          <p:cNvPr id="7" name="Picture 6"/>
          <p:cNvPicPr>
            <a:picLocks noChangeAspect="1"/>
          </p:cNvPicPr>
          <p:nvPr/>
        </p:nvPicPr>
        <p:blipFill>
          <a:blip r:embed="rId6"/>
          <a:stretch>
            <a:fillRect/>
          </a:stretch>
        </p:blipFill>
        <p:spPr>
          <a:xfrm>
            <a:off x="7929912" y="3039665"/>
            <a:ext cx="2359051" cy="3271437"/>
          </a:xfrm>
          <a:prstGeom prst="rect">
            <a:avLst/>
          </a:prstGeom>
        </p:spPr>
      </p:pic>
      <p:sp>
        <p:nvSpPr>
          <p:cNvPr id="4" name="Footer Placeholder 3">
            <a:extLst>
              <a:ext uri="{FF2B5EF4-FFF2-40B4-BE49-F238E27FC236}">
                <a16:creationId xmlns:a16="http://schemas.microsoft.com/office/drawing/2014/main" id="{4AB359F0-49A7-E1A3-BE12-3E4A312F425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91813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2025" y="1249050"/>
            <a:ext cx="9344025" cy="1571625"/>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review</a:t>
            </a:r>
          </a:p>
        </p:txBody>
      </p:sp>
      <p:sp>
        <p:nvSpPr>
          <p:cNvPr id="4" name="TextBox 3"/>
          <p:cNvSpPr txBox="1"/>
          <p:nvPr/>
        </p:nvSpPr>
        <p:spPr>
          <a:xfrm>
            <a:off x="5704235" y="3406567"/>
            <a:ext cx="2649793" cy="830997"/>
          </a:xfrm>
          <a:prstGeom prst="rect">
            <a:avLst/>
          </a:prstGeom>
          <a:noFill/>
        </p:spPr>
        <p:txBody>
          <a:bodyPr wrap="square" rtlCol="0">
            <a:spAutoFit/>
          </a:bodyPr>
          <a:lstStyle/>
          <a:p>
            <a:r>
              <a:rPr lang="en-US" sz="1200" dirty="0">
                <a:solidFill>
                  <a:srgbClr val="C00000"/>
                </a:solidFill>
              </a:rPr>
              <a:t>Protect Sheet</a:t>
            </a:r>
          </a:p>
          <a:p>
            <a:r>
              <a:rPr lang="en-US" sz="1200" dirty="0">
                <a:solidFill>
                  <a:schemeClr val="accent1">
                    <a:lumMod val="75000"/>
                  </a:schemeClr>
                </a:solidFill>
              </a:rPr>
              <a:t>You probably won’t need this. Use it to prevent others from changing essential cells by accident.</a:t>
            </a:r>
            <a:endParaRPr lang="en-US" sz="1200" dirty="0">
              <a:solidFill>
                <a:srgbClr val="C00000"/>
              </a:solidFill>
            </a:endParaRPr>
          </a:p>
        </p:txBody>
      </p:sp>
      <p:sp>
        <p:nvSpPr>
          <p:cNvPr id="6" name="TextBox 5"/>
          <p:cNvSpPr txBox="1"/>
          <p:nvPr/>
        </p:nvSpPr>
        <p:spPr>
          <a:xfrm>
            <a:off x="1238490" y="3347083"/>
            <a:ext cx="2582221" cy="1015663"/>
          </a:xfrm>
          <a:prstGeom prst="rect">
            <a:avLst/>
          </a:prstGeom>
          <a:noFill/>
        </p:spPr>
        <p:txBody>
          <a:bodyPr wrap="square" rtlCol="0">
            <a:spAutoFit/>
          </a:bodyPr>
          <a:lstStyle/>
          <a:p>
            <a:r>
              <a:rPr lang="en-US" sz="1200" dirty="0">
                <a:solidFill>
                  <a:srgbClr val="C00000"/>
                </a:solidFill>
              </a:rPr>
              <a:t>Show All Comments</a:t>
            </a:r>
          </a:p>
          <a:p>
            <a:r>
              <a:rPr lang="en-US" sz="1200" dirty="0">
                <a:solidFill>
                  <a:schemeClr val="accent1">
                    <a:lumMod val="75000"/>
                  </a:schemeClr>
                </a:solidFill>
              </a:rPr>
              <a:t>If you have annotated your cells with inserted comments (or if someone else has) you can see them all.</a:t>
            </a:r>
            <a:endParaRPr lang="en-US" sz="1200" dirty="0">
              <a:solidFill>
                <a:srgbClr val="C00000"/>
              </a:solidFill>
            </a:endParaRPr>
          </a:p>
        </p:txBody>
      </p:sp>
      <p:sp>
        <p:nvSpPr>
          <p:cNvPr id="7" name="Rounded Rectangle 6"/>
          <p:cNvSpPr/>
          <p:nvPr/>
        </p:nvSpPr>
        <p:spPr>
          <a:xfrm>
            <a:off x="4505401" y="2138983"/>
            <a:ext cx="1427614" cy="26855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933015" y="1924800"/>
            <a:ext cx="548808" cy="72580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3" name="Footer Placeholder 2">
            <a:extLst>
              <a:ext uri="{FF2B5EF4-FFF2-40B4-BE49-F238E27FC236}">
                <a16:creationId xmlns:a16="http://schemas.microsoft.com/office/drawing/2014/main" id="{8FBE4383-7F8A-36D1-7716-8EC8CD077540}"/>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057397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55357" y="1145552"/>
            <a:ext cx="9334500" cy="1590675"/>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Ribbon TABS - view</a:t>
            </a:r>
          </a:p>
        </p:txBody>
      </p:sp>
      <p:sp>
        <p:nvSpPr>
          <p:cNvPr id="4" name="Rounded Rectangle 3"/>
          <p:cNvSpPr/>
          <p:nvPr/>
        </p:nvSpPr>
        <p:spPr>
          <a:xfrm>
            <a:off x="5617302" y="2195162"/>
            <a:ext cx="937550" cy="34168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596696" y="2153097"/>
            <a:ext cx="723151" cy="31582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3292499" y="1856716"/>
            <a:ext cx="966584" cy="29638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63092" y="2990315"/>
            <a:ext cx="1894708" cy="646331"/>
          </a:xfrm>
          <a:prstGeom prst="rect">
            <a:avLst/>
          </a:prstGeom>
          <a:noFill/>
        </p:spPr>
        <p:txBody>
          <a:bodyPr wrap="square" rtlCol="0">
            <a:spAutoFit/>
          </a:bodyPr>
          <a:lstStyle/>
          <a:p>
            <a:r>
              <a:rPr lang="en-US" sz="1200" dirty="0">
                <a:solidFill>
                  <a:srgbClr val="C00000"/>
                </a:solidFill>
              </a:rPr>
              <a:t>Formula Bar</a:t>
            </a:r>
          </a:p>
          <a:p>
            <a:r>
              <a:rPr lang="en-US" sz="1200" dirty="0">
                <a:solidFill>
                  <a:schemeClr val="accent1">
                    <a:lumMod val="75000"/>
                  </a:schemeClr>
                </a:solidFill>
              </a:rPr>
              <a:t>Hide the formula bar. Most users like to see it.</a:t>
            </a:r>
            <a:endParaRPr lang="en-US" sz="1200" dirty="0">
              <a:solidFill>
                <a:srgbClr val="C00000"/>
              </a:solidFill>
            </a:endParaRPr>
          </a:p>
        </p:txBody>
      </p:sp>
      <p:sp>
        <p:nvSpPr>
          <p:cNvPr id="10" name="TextBox 9"/>
          <p:cNvSpPr txBox="1"/>
          <p:nvPr/>
        </p:nvSpPr>
        <p:spPr>
          <a:xfrm>
            <a:off x="5408271" y="2994130"/>
            <a:ext cx="2092124" cy="1015663"/>
          </a:xfrm>
          <a:prstGeom prst="rect">
            <a:avLst/>
          </a:prstGeom>
          <a:noFill/>
        </p:spPr>
        <p:txBody>
          <a:bodyPr wrap="square" rtlCol="0">
            <a:spAutoFit/>
          </a:bodyPr>
          <a:lstStyle/>
          <a:p>
            <a:r>
              <a:rPr lang="en-US" sz="1200" dirty="0">
                <a:solidFill>
                  <a:srgbClr val="C00000"/>
                </a:solidFill>
              </a:rPr>
              <a:t>Freeze Panes</a:t>
            </a:r>
          </a:p>
          <a:p>
            <a:r>
              <a:rPr lang="en-US" sz="1200" dirty="0">
                <a:solidFill>
                  <a:schemeClr val="accent1">
                    <a:lumMod val="75000"/>
                  </a:schemeClr>
                </a:solidFill>
              </a:rPr>
              <a:t>Most often used to display column headings as you scroll down a long worksheet.</a:t>
            </a:r>
            <a:endParaRPr lang="en-US" sz="1200" dirty="0">
              <a:solidFill>
                <a:srgbClr val="C00000"/>
              </a:solidFill>
            </a:endParaRPr>
          </a:p>
        </p:txBody>
      </p:sp>
      <p:sp>
        <p:nvSpPr>
          <p:cNvPr id="11" name="TextBox 10"/>
          <p:cNvSpPr txBox="1"/>
          <p:nvPr/>
        </p:nvSpPr>
        <p:spPr>
          <a:xfrm>
            <a:off x="569648" y="2897983"/>
            <a:ext cx="2508385" cy="1015663"/>
          </a:xfrm>
          <a:prstGeom prst="rect">
            <a:avLst/>
          </a:prstGeom>
          <a:noFill/>
        </p:spPr>
        <p:txBody>
          <a:bodyPr wrap="square" rtlCol="0">
            <a:spAutoFit/>
          </a:bodyPr>
          <a:lstStyle/>
          <a:p>
            <a:r>
              <a:rPr lang="en-US" sz="1200" dirty="0">
                <a:solidFill>
                  <a:srgbClr val="C00000"/>
                </a:solidFill>
              </a:rPr>
              <a:t>Gridlines</a:t>
            </a:r>
          </a:p>
          <a:p>
            <a:r>
              <a:rPr lang="en-US" sz="1200" dirty="0">
                <a:solidFill>
                  <a:schemeClr val="accent1">
                    <a:lumMod val="75000"/>
                  </a:schemeClr>
                </a:solidFill>
              </a:rPr>
              <a:t>Make it easier to locate data values, but may be unattractive in a report. Option is also on the </a:t>
            </a:r>
            <a:r>
              <a:rPr lang="en-US" sz="1200" dirty="0">
                <a:solidFill>
                  <a:srgbClr val="C00000"/>
                </a:solidFill>
              </a:rPr>
              <a:t>Page Layout</a:t>
            </a:r>
            <a:r>
              <a:rPr lang="en-US" sz="1200" dirty="0">
                <a:solidFill>
                  <a:schemeClr val="accent1">
                    <a:lumMod val="75000"/>
                  </a:schemeClr>
                </a:solidFill>
              </a:rPr>
              <a:t> tab.</a:t>
            </a:r>
          </a:p>
        </p:txBody>
      </p:sp>
      <p:pic>
        <p:nvPicPr>
          <p:cNvPr id="12" name="Picture 11"/>
          <p:cNvPicPr>
            <a:picLocks noChangeAspect="1"/>
          </p:cNvPicPr>
          <p:nvPr/>
        </p:nvPicPr>
        <p:blipFill>
          <a:blip r:embed="rId3"/>
          <a:stretch>
            <a:fillRect/>
          </a:stretch>
        </p:blipFill>
        <p:spPr>
          <a:xfrm>
            <a:off x="2906134" y="4358069"/>
            <a:ext cx="1328550" cy="1386867"/>
          </a:xfrm>
          <a:prstGeom prst="rect">
            <a:avLst/>
          </a:prstGeom>
        </p:spPr>
      </p:pic>
      <p:pic>
        <p:nvPicPr>
          <p:cNvPr id="13" name="Picture 12"/>
          <p:cNvPicPr>
            <a:picLocks noChangeAspect="1"/>
          </p:cNvPicPr>
          <p:nvPr/>
        </p:nvPicPr>
        <p:blipFill>
          <a:blip r:embed="rId4"/>
          <a:stretch>
            <a:fillRect/>
          </a:stretch>
        </p:blipFill>
        <p:spPr>
          <a:xfrm>
            <a:off x="718403" y="4358070"/>
            <a:ext cx="1328550" cy="1386867"/>
          </a:xfrm>
          <a:prstGeom prst="rect">
            <a:avLst/>
          </a:prstGeom>
        </p:spPr>
      </p:pic>
      <p:sp>
        <p:nvSpPr>
          <p:cNvPr id="14" name="TextBox 13"/>
          <p:cNvSpPr txBox="1"/>
          <p:nvPr/>
        </p:nvSpPr>
        <p:spPr>
          <a:xfrm>
            <a:off x="2291485" y="4495650"/>
            <a:ext cx="452437" cy="369332"/>
          </a:xfrm>
          <a:prstGeom prst="rect">
            <a:avLst/>
          </a:prstGeom>
          <a:noFill/>
        </p:spPr>
        <p:txBody>
          <a:bodyPr wrap="square" rtlCol="0">
            <a:spAutoFit/>
          </a:bodyPr>
          <a:lstStyle/>
          <a:p>
            <a:pPr algn="ctr"/>
            <a:r>
              <a:rPr lang="en-US" dirty="0"/>
              <a:t>or</a:t>
            </a:r>
          </a:p>
        </p:txBody>
      </p:sp>
      <p:sp>
        <p:nvSpPr>
          <p:cNvPr id="15" name="TextBox 14"/>
          <p:cNvSpPr txBox="1"/>
          <p:nvPr/>
        </p:nvSpPr>
        <p:spPr>
          <a:xfrm>
            <a:off x="2291486" y="4864982"/>
            <a:ext cx="452437" cy="584775"/>
          </a:xfrm>
          <a:prstGeom prst="rect">
            <a:avLst/>
          </a:prstGeom>
          <a:noFill/>
        </p:spPr>
        <p:txBody>
          <a:bodyPr wrap="square" rtlCol="0">
            <a:spAutoFit/>
          </a:bodyPr>
          <a:lstStyle/>
          <a:p>
            <a:r>
              <a:rPr lang="en-US" sz="3200" b="1" dirty="0">
                <a:solidFill>
                  <a:srgbClr val="C00000"/>
                </a:solidFill>
                <a:latin typeface="Arial" panose="020B0604020202020204" pitchFamily="34" charset="0"/>
                <a:cs typeface="Arial" panose="020B0604020202020204" pitchFamily="34" charset="0"/>
              </a:rPr>
              <a:t>?</a:t>
            </a:r>
          </a:p>
        </p:txBody>
      </p:sp>
      <p:sp>
        <p:nvSpPr>
          <p:cNvPr id="16" name="Rounded Rectangle 15"/>
          <p:cNvSpPr/>
          <p:nvPr/>
        </p:nvSpPr>
        <p:spPr>
          <a:xfrm>
            <a:off x="8243948" y="1845347"/>
            <a:ext cx="705371" cy="52065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748587" y="2990315"/>
            <a:ext cx="2041270" cy="830997"/>
          </a:xfrm>
          <a:prstGeom prst="rect">
            <a:avLst/>
          </a:prstGeom>
          <a:noFill/>
        </p:spPr>
        <p:txBody>
          <a:bodyPr wrap="square" rtlCol="0">
            <a:spAutoFit/>
          </a:bodyPr>
          <a:lstStyle/>
          <a:p>
            <a:r>
              <a:rPr lang="en-US" sz="1200" dirty="0">
                <a:solidFill>
                  <a:srgbClr val="C00000"/>
                </a:solidFill>
              </a:rPr>
              <a:t>Macros</a:t>
            </a:r>
          </a:p>
          <a:p>
            <a:r>
              <a:rPr lang="en-US" sz="1200" dirty="0">
                <a:solidFill>
                  <a:schemeClr val="accent1">
                    <a:lumMod val="75000"/>
                  </a:schemeClr>
                </a:solidFill>
              </a:rPr>
              <a:t>Advanced feature. Used to repeat a series of steps in a calculation.</a:t>
            </a:r>
            <a:endParaRPr lang="en-US" sz="1200" dirty="0">
              <a:solidFill>
                <a:srgbClr val="C00000"/>
              </a:solidFill>
            </a:endParaRP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2" name="Footer Placeholder 1">
            <a:extLst>
              <a:ext uri="{FF2B5EF4-FFF2-40B4-BE49-F238E27FC236}">
                <a16:creationId xmlns:a16="http://schemas.microsoft.com/office/drawing/2014/main" id="{B2A2CD62-78ED-A047-D8DB-EF7FDE03C4A2}"/>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8577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2"/>
          <a:stretch>
            <a:fillRect/>
          </a:stretch>
        </p:blipFill>
        <p:spPr>
          <a:xfrm>
            <a:off x="455357" y="1205005"/>
            <a:ext cx="10972800" cy="139841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9" name="Rounded Rectangle 8"/>
          <p:cNvSpPr/>
          <p:nvPr/>
        </p:nvSpPr>
        <p:spPr>
          <a:xfrm>
            <a:off x="5191558" y="1795260"/>
            <a:ext cx="366367" cy="27911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005330" y="5798064"/>
            <a:ext cx="3430396" cy="646331"/>
          </a:xfrm>
          <a:prstGeom prst="rect">
            <a:avLst/>
          </a:prstGeom>
          <a:noFill/>
        </p:spPr>
        <p:txBody>
          <a:bodyPr wrap="square" rtlCol="0">
            <a:spAutoFit/>
          </a:bodyPr>
          <a:lstStyle/>
          <a:p>
            <a:r>
              <a:rPr lang="en-US" sz="1200" i="1" dirty="0">
                <a:solidFill>
                  <a:srgbClr val="C00000"/>
                </a:solidFill>
              </a:rPr>
              <a:t>Tip:</a:t>
            </a:r>
            <a:r>
              <a:rPr lang="en-US" sz="1200" dirty="0">
                <a:solidFill>
                  <a:srgbClr val="C00000"/>
                </a:solidFill>
              </a:rPr>
              <a:t> </a:t>
            </a:r>
            <a:r>
              <a:rPr lang="en-US" sz="1200" dirty="0">
                <a:solidFill>
                  <a:schemeClr val="accent1">
                    <a:lumMod val="75000"/>
                  </a:schemeClr>
                </a:solidFill>
              </a:rPr>
              <a:t>This tutorial omits Excel charts that tend to distort the data, even though they might be visually appealing. </a:t>
            </a:r>
          </a:p>
        </p:txBody>
      </p:sp>
      <p:pic>
        <p:nvPicPr>
          <p:cNvPr id="12" name="Picture 11"/>
          <p:cNvPicPr>
            <a:picLocks noChangeAspect="1"/>
          </p:cNvPicPr>
          <p:nvPr/>
        </p:nvPicPr>
        <p:blipFill>
          <a:blip r:embed="rId3"/>
          <a:stretch>
            <a:fillRect/>
          </a:stretch>
        </p:blipFill>
        <p:spPr>
          <a:xfrm>
            <a:off x="8622742" y="2809283"/>
            <a:ext cx="3019425" cy="1152525"/>
          </a:xfrm>
          <a:prstGeom prst="rect">
            <a:avLst/>
          </a:prstGeom>
        </p:spPr>
      </p:pic>
      <p:sp>
        <p:nvSpPr>
          <p:cNvPr id="13" name="TextBox 12"/>
          <p:cNvSpPr txBox="1"/>
          <p:nvPr/>
        </p:nvSpPr>
        <p:spPr>
          <a:xfrm>
            <a:off x="4705421" y="2742188"/>
            <a:ext cx="3663075" cy="846386"/>
          </a:xfrm>
          <a:prstGeom prst="rect">
            <a:avLst/>
          </a:prstGeom>
          <a:noFill/>
        </p:spPr>
        <p:txBody>
          <a:bodyPr wrap="square" rtlCol="0">
            <a:spAutoFit/>
          </a:bodyPr>
          <a:lstStyle/>
          <a:p>
            <a:pPr algn="ctr"/>
            <a:r>
              <a:rPr lang="en-US" sz="1100" b="1" dirty="0">
                <a:solidFill>
                  <a:schemeClr val="accent1">
                    <a:lumMod val="75000"/>
                  </a:schemeClr>
                </a:solidFill>
              </a:rPr>
              <a:t>COLUMN AND BAR CHARTS</a:t>
            </a:r>
          </a:p>
          <a:p>
            <a:pPr>
              <a:spcBef>
                <a:spcPts val="600"/>
              </a:spcBef>
            </a:pPr>
            <a:r>
              <a:rPr lang="en-US" sz="1100" dirty="0"/>
              <a:t>Both charts display numerical data, either vertically (</a:t>
            </a:r>
            <a:r>
              <a:rPr lang="en-US" sz="1100" b="1" dirty="0">
                <a:solidFill>
                  <a:schemeClr val="accent1">
                    <a:lumMod val="75000"/>
                  </a:schemeClr>
                </a:solidFill>
              </a:rPr>
              <a:t>column chart</a:t>
            </a:r>
            <a:r>
              <a:rPr lang="en-US" sz="1100" dirty="0"/>
              <a:t>) or horizontally (</a:t>
            </a:r>
            <a:r>
              <a:rPr lang="en-US" sz="1100" b="1" dirty="0">
                <a:solidFill>
                  <a:schemeClr val="accent1">
                    <a:lumMod val="75000"/>
                  </a:schemeClr>
                </a:solidFill>
              </a:rPr>
              <a:t>bar chart</a:t>
            </a:r>
            <a:r>
              <a:rPr lang="en-US" sz="1100" dirty="0"/>
              <a:t>). Axis labels represent either a data attribute or time.</a:t>
            </a:r>
          </a:p>
        </p:txBody>
      </p:sp>
      <p:pic>
        <p:nvPicPr>
          <p:cNvPr id="14" name="Picture 13"/>
          <p:cNvPicPr>
            <a:picLocks noChangeAspect="1"/>
          </p:cNvPicPr>
          <p:nvPr/>
        </p:nvPicPr>
        <p:blipFill>
          <a:blip r:embed="rId4"/>
          <a:stretch>
            <a:fillRect/>
          </a:stretch>
        </p:blipFill>
        <p:spPr>
          <a:xfrm>
            <a:off x="455357" y="2743905"/>
            <a:ext cx="4076700" cy="1171575"/>
          </a:xfrm>
          <a:prstGeom prst="rect">
            <a:avLst/>
          </a:prstGeom>
        </p:spPr>
      </p:pic>
      <p:sp>
        <p:nvSpPr>
          <p:cNvPr id="15" name="TextBox 14"/>
          <p:cNvSpPr txBox="1"/>
          <p:nvPr/>
        </p:nvSpPr>
        <p:spPr>
          <a:xfrm>
            <a:off x="4399657" y="3816949"/>
            <a:ext cx="3968839" cy="1846659"/>
          </a:xfrm>
          <a:prstGeom prst="rect">
            <a:avLst/>
          </a:prstGeom>
          <a:noFill/>
        </p:spPr>
        <p:txBody>
          <a:bodyPr wrap="square" rtlCol="0">
            <a:spAutoFit/>
          </a:bodyPr>
          <a:lstStyle/>
          <a:p>
            <a:pPr algn="ctr">
              <a:spcAft>
                <a:spcPts val="600"/>
              </a:spcAft>
            </a:pPr>
            <a:r>
              <a:rPr lang="en-US" sz="1100" b="1" dirty="0">
                <a:solidFill>
                  <a:schemeClr val="accent1">
                    <a:lumMod val="75000"/>
                  </a:schemeClr>
                </a:solidFill>
              </a:rPr>
              <a:t>RECOMMENDATIONS</a:t>
            </a:r>
          </a:p>
          <a:p>
            <a:pPr marL="182880" indent="-182880">
              <a:spcAft>
                <a:spcPts val="600"/>
              </a:spcAft>
              <a:buFont typeface="+mj-lt"/>
              <a:buAutoNum type="arabicPeriod"/>
            </a:pPr>
            <a:r>
              <a:rPr lang="en-US" sz="1100" dirty="0"/>
              <a:t>If the variable is a time series, put axis labels (e.g., years) on the horizontal X-axis with time increasing from left to right. </a:t>
            </a:r>
          </a:p>
          <a:p>
            <a:pPr marL="182880" indent="-182880">
              <a:spcAft>
                <a:spcPts val="600"/>
              </a:spcAft>
              <a:buFont typeface="+mj-lt"/>
              <a:buAutoNum type="arabicPeriod"/>
            </a:pPr>
            <a:r>
              <a:rPr lang="en-US" sz="1100" dirty="0"/>
              <a:t>Height or length of each bar should be proportional to its data value. This is easy, since Excel defaults to a zero origin. </a:t>
            </a:r>
          </a:p>
          <a:p>
            <a:pPr marL="182880" indent="-182880">
              <a:spcAft>
                <a:spcPts val="600"/>
              </a:spcAft>
              <a:buFont typeface="+mj-lt"/>
              <a:buAutoNum type="arabicPeriod"/>
            </a:pPr>
            <a:r>
              <a:rPr lang="en-US" sz="1100" dirty="0"/>
              <a:t>Add value labels at the top (or end) of each column (bar) except when labels would impair legibility.</a:t>
            </a:r>
          </a:p>
        </p:txBody>
      </p:sp>
      <p:pic>
        <p:nvPicPr>
          <p:cNvPr id="3" name="Picture 2"/>
          <p:cNvPicPr>
            <a:picLocks noChangeAspect="1"/>
          </p:cNvPicPr>
          <p:nvPr/>
        </p:nvPicPr>
        <p:blipFill>
          <a:blip r:embed="rId5"/>
          <a:stretch>
            <a:fillRect/>
          </a:stretch>
        </p:blipFill>
        <p:spPr>
          <a:xfrm>
            <a:off x="8650195" y="4110808"/>
            <a:ext cx="2964517" cy="1781176"/>
          </a:xfrm>
          <a:prstGeom prst="rect">
            <a:avLst/>
          </a:prstGeom>
        </p:spPr>
      </p:pic>
      <p:pic>
        <p:nvPicPr>
          <p:cNvPr id="17" name="Picture 16"/>
          <p:cNvPicPr>
            <a:picLocks noChangeAspect="1"/>
          </p:cNvPicPr>
          <p:nvPr/>
        </p:nvPicPr>
        <p:blipFill>
          <a:blip r:embed="rId6"/>
          <a:stretch>
            <a:fillRect/>
          </a:stretch>
        </p:blipFill>
        <p:spPr>
          <a:xfrm>
            <a:off x="455357" y="4055970"/>
            <a:ext cx="3040063" cy="1824038"/>
          </a:xfrm>
          <a:prstGeom prst="rect">
            <a:avLst/>
          </a:prstGeom>
        </p:spPr>
      </p:pic>
      <p:pic>
        <p:nvPicPr>
          <p:cNvPr id="18" name="Picture 17"/>
          <p:cNvPicPr>
            <a:picLocks noChangeAspect="1"/>
          </p:cNvPicPr>
          <p:nvPr/>
        </p:nvPicPr>
        <p:blipFill>
          <a:blip r:embed="rId7"/>
          <a:stretch>
            <a:fillRect/>
          </a:stretch>
        </p:blipFill>
        <p:spPr>
          <a:xfrm>
            <a:off x="4326317" y="5891984"/>
            <a:ext cx="758207" cy="458489"/>
          </a:xfrm>
          <a:prstGeom prst="rect">
            <a:avLst/>
          </a:prstGeom>
        </p:spPr>
      </p:pic>
      <p:sp>
        <p:nvSpPr>
          <p:cNvPr id="16" name="TextBox 15"/>
          <p:cNvSpPr txBox="1"/>
          <p:nvPr/>
        </p:nvSpPr>
        <p:spPr>
          <a:xfrm>
            <a:off x="10592709" y="6444395"/>
            <a:ext cx="1298962" cy="276999"/>
          </a:xfrm>
          <a:prstGeom prst="rect">
            <a:avLst/>
          </a:prstGeom>
          <a:noFill/>
        </p:spPr>
        <p:txBody>
          <a:bodyPr wrap="square" rtlCol="0">
            <a:spAutoFit/>
          </a:bodyPr>
          <a:lstStyle/>
          <a:p>
            <a:r>
              <a:rPr lang="en-US" sz="1200" i="1" dirty="0">
                <a:hlinkClick r:id="rId8" action="ppaction://hlinksldjump"/>
              </a:rPr>
              <a:t>Back to top menu</a:t>
            </a:r>
            <a:endParaRPr lang="en-US" sz="1200" i="1" dirty="0"/>
          </a:p>
        </p:txBody>
      </p:sp>
      <p:sp>
        <p:nvSpPr>
          <p:cNvPr id="2" name="Footer Placeholder 1">
            <a:extLst>
              <a:ext uri="{FF2B5EF4-FFF2-40B4-BE49-F238E27FC236}">
                <a16:creationId xmlns:a16="http://schemas.microsoft.com/office/drawing/2014/main" id="{7222F605-5504-A17E-62E6-DF0B19B7A050}"/>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753338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521089" y="1158984"/>
            <a:ext cx="10972800" cy="139841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9" name="Rounded Rectangle 8"/>
          <p:cNvSpPr/>
          <p:nvPr/>
        </p:nvSpPr>
        <p:spPr>
          <a:xfrm>
            <a:off x="5271560" y="1904058"/>
            <a:ext cx="366367" cy="27911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259374" y="3199363"/>
            <a:ext cx="3240240" cy="646331"/>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If your data only cover a few time periods, consider using a simple column chart with labeled data values.</a:t>
            </a:r>
          </a:p>
        </p:txBody>
      </p:sp>
      <p:pic>
        <p:nvPicPr>
          <p:cNvPr id="18" name="Picture 17"/>
          <p:cNvPicPr>
            <a:picLocks noChangeAspect="1"/>
          </p:cNvPicPr>
          <p:nvPr/>
        </p:nvPicPr>
        <p:blipFill>
          <a:blip r:embed="rId3"/>
          <a:stretch>
            <a:fillRect/>
          </a:stretch>
        </p:blipFill>
        <p:spPr>
          <a:xfrm>
            <a:off x="9500390" y="2776384"/>
            <a:ext cx="758207" cy="458489"/>
          </a:xfrm>
          <a:prstGeom prst="rect">
            <a:avLst/>
          </a:prstGeom>
        </p:spPr>
      </p:pic>
      <p:sp>
        <p:nvSpPr>
          <p:cNvPr id="22" name="TextBox 21"/>
          <p:cNvSpPr txBox="1"/>
          <p:nvPr/>
        </p:nvSpPr>
        <p:spPr>
          <a:xfrm>
            <a:off x="4920027" y="2687423"/>
            <a:ext cx="2622445" cy="677108"/>
          </a:xfrm>
          <a:prstGeom prst="rect">
            <a:avLst/>
          </a:prstGeom>
          <a:noFill/>
        </p:spPr>
        <p:txBody>
          <a:bodyPr wrap="square" rtlCol="0">
            <a:spAutoFit/>
          </a:bodyPr>
          <a:lstStyle/>
          <a:p>
            <a:pPr algn="ctr"/>
            <a:r>
              <a:rPr lang="en-US" sz="1100" b="1" dirty="0">
                <a:solidFill>
                  <a:schemeClr val="accent1">
                    <a:lumMod val="75000"/>
                  </a:schemeClr>
                </a:solidFill>
              </a:rPr>
              <a:t>LINE CHARTS</a:t>
            </a:r>
          </a:p>
          <a:p>
            <a:pPr>
              <a:spcBef>
                <a:spcPts val="600"/>
              </a:spcBef>
            </a:pPr>
            <a:r>
              <a:rPr lang="en-US" sz="1100" dirty="0"/>
              <a:t>A </a:t>
            </a:r>
            <a:r>
              <a:rPr lang="en-US" sz="1100" b="1" dirty="0">
                <a:solidFill>
                  <a:schemeClr val="accent1">
                    <a:lumMod val="75000"/>
                  </a:schemeClr>
                </a:solidFill>
              </a:rPr>
              <a:t>line chart</a:t>
            </a:r>
            <a:r>
              <a:rPr lang="en-US" sz="1100" dirty="0"/>
              <a:t> is used to reveal patterns and trends over time.</a:t>
            </a:r>
          </a:p>
        </p:txBody>
      </p:sp>
      <p:pic>
        <p:nvPicPr>
          <p:cNvPr id="12" name="Picture 11"/>
          <p:cNvPicPr>
            <a:picLocks noChangeAspect="1"/>
          </p:cNvPicPr>
          <p:nvPr/>
        </p:nvPicPr>
        <p:blipFill>
          <a:blip r:embed="rId4"/>
          <a:stretch>
            <a:fillRect/>
          </a:stretch>
        </p:blipFill>
        <p:spPr>
          <a:xfrm>
            <a:off x="455357" y="2681480"/>
            <a:ext cx="3952875" cy="1190625"/>
          </a:xfrm>
          <a:prstGeom prst="rect">
            <a:avLst/>
          </a:prstGeom>
        </p:spPr>
      </p:pic>
      <p:pic>
        <p:nvPicPr>
          <p:cNvPr id="3" name="Picture 2"/>
          <p:cNvPicPr>
            <a:picLocks noChangeAspect="1"/>
          </p:cNvPicPr>
          <p:nvPr/>
        </p:nvPicPr>
        <p:blipFill>
          <a:blip r:embed="rId5"/>
          <a:stretch>
            <a:fillRect/>
          </a:stretch>
        </p:blipFill>
        <p:spPr>
          <a:xfrm>
            <a:off x="8186425" y="4043324"/>
            <a:ext cx="3386138" cy="2031683"/>
          </a:xfrm>
          <a:prstGeom prst="rect">
            <a:avLst/>
          </a:prstGeom>
        </p:spPr>
      </p:pic>
      <p:pic>
        <p:nvPicPr>
          <p:cNvPr id="6" name="Picture 5"/>
          <p:cNvPicPr>
            <a:picLocks noChangeAspect="1"/>
          </p:cNvPicPr>
          <p:nvPr/>
        </p:nvPicPr>
        <p:blipFill>
          <a:blip r:embed="rId6"/>
          <a:stretch>
            <a:fillRect/>
          </a:stretch>
        </p:blipFill>
        <p:spPr>
          <a:xfrm>
            <a:off x="521089" y="3996191"/>
            <a:ext cx="3380635" cy="2031796"/>
          </a:xfrm>
          <a:prstGeom prst="rect">
            <a:avLst/>
          </a:prstGeom>
        </p:spPr>
      </p:pic>
      <p:sp>
        <p:nvSpPr>
          <p:cNvPr id="2" name="TextBox 1"/>
          <p:cNvSpPr txBox="1"/>
          <p:nvPr/>
        </p:nvSpPr>
        <p:spPr>
          <a:xfrm>
            <a:off x="4182256" y="3522529"/>
            <a:ext cx="3947539" cy="2677656"/>
          </a:xfrm>
          <a:prstGeom prst="rect">
            <a:avLst/>
          </a:prstGeom>
          <a:noFill/>
        </p:spPr>
        <p:txBody>
          <a:bodyPr wrap="square" rtlCol="0">
            <a:spAutoFit/>
          </a:bodyPr>
          <a:lstStyle/>
          <a:p>
            <a:pPr algn="ctr"/>
            <a:r>
              <a:rPr lang="en-US" sz="1100" b="1" dirty="0">
                <a:solidFill>
                  <a:schemeClr val="accent1">
                    <a:lumMod val="75000"/>
                  </a:schemeClr>
                </a:solidFill>
              </a:rPr>
              <a:t>REOMMENDATIONS</a:t>
            </a:r>
          </a:p>
          <a:p>
            <a:endParaRPr lang="en-US" sz="1100" dirty="0"/>
          </a:p>
          <a:p>
            <a:pPr marL="182880" indent="-182880">
              <a:spcAft>
                <a:spcPts val="600"/>
              </a:spcAft>
              <a:buFont typeface="+mj-lt"/>
              <a:buAutoNum type="arabicPeriod"/>
            </a:pPr>
            <a:r>
              <a:rPr lang="en-US" sz="1100" dirty="0"/>
              <a:t>Use a line chart only for </a:t>
            </a:r>
            <a:r>
              <a:rPr lang="en-US" sz="1100" i="1" dirty="0"/>
              <a:t>time series data</a:t>
            </a:r>
            <a:r>
              <a:rPr lang="en-US" sz="1100" dirty="0"/>
              <a:t> </a:t>
            </a:r>
            <a:r>
              <a:rPr lang="en-US" sz="1100" i="1" dirty="0"/>
              <a:t>y</a:t>
            </a:r>
            <a:r>
              <a:rPr lang="en-US" sz="1100" i="1" baseline="-25000" dirty="0"/>
              <a:t>1</a:t>
            </a:r>
            <a:r>
              <a:rPr lang="en-US" sz="1100" i="1" dirty="0"/>
              <a:t>, y</a:t>
            </a:r>
            <a:r>
              <a:rPr lang="en-US" sz="1100" i="1" baseline="-25000" dirty="0"/>
              <a:t>2</a:t>
            </a:r>
            <a:r>
              <a:rPr lang="en-US" sz="1100" i="1" dirty="0"/>
              <a:t>, …, </a:t>
            </a:r>
            <a:r>
              <a:rPr lang="en-US" sz="1100" i="1" dirty="0" err="1"/>
              <a:t>y</a:t>
            </a:r>
            <a:r>
              <a:rPr lang="en-US" sz="1100" i="1" baseline="-25000" dirty="0" err="1"/>
              <a:t>n</a:t>
            </a:r>
            <a:r>
              <a:rPr lang="en-US" sz="1100" i="1" baseline="-25000" dirty="0"/>
              <a:t> </a:t>
            </a:r>
            <a:r>
              <a:rPr lang="en-US" sz="1100" dirty="0"/>
              <a:t>over </a:t>
            </a:r>
            <a:r>
              <a:rPr lang="en-US" sz="1100" i="1" dirty="0"/>
              <a:t>n</a:t>
            </a:r>
            <a:r>
              <a:rPr lang="en-US" sz="1100" dirty="0"/>
              <a:t> time periods</a:t>
            </a:r>
            <a:r>
              <a:rPr lang="en-US" sz="1100" i="1" dirty="0"/>
              <a:t>.</a:t>
            </a:r>
            <a:endParaRPr lang="en-US" sz="1100" dirty="0"/>
          </a:p>
          <a:p>
            <a:pPr marL="182880" indent="-182880">
              <a:spcAft>
                <a:spcPts val="600"/>
              </a:spcAft>
              <a:buFont typeface="+mj-lt"/>
              <a:buAutoNum type="arabicPeriod"/>
            </a:pPr>
            <a:r>
              <a:rPr lang="en-US" sz="1100" dirty="0"/>
              <a:t>Put the numerical variable(s) on the </a:t>
            </a:r>
            <a:r>
              <a:rPr lang="en-US" sz="1100" i="1" dirty="0"/>
              <a:t>Y</a:t>
            </a:r>
            <a:r>
              <a:rPr lang="en-US" sz="1100" dirty="0"/>
              <a:t>-axis and time on the </a:t>
            </a:r>
            <a:r>
              <a:rPr lang="en-US" sz="1100" i="1" dirty="0"/>
              <a:t>X</a:t>
            </a:r>
            <a:r>
              <a:rPr lang="en-US" sz="1100" dirty="0"/>
              <a:t>-axis with time increasing from left to right.</a:t>
            </a:r>
          </a:p>
          <a:p>
            <a:pPr marL="182880" indent="-182880">
              <a:spcAft>
                <a:spcPts val="600"/>
              </a:spcAft>
              <a:buFont typeface="+mj-lt"/>
              <a:buAutoNum type="arabicPeriod"/>
            </a:pPr>
            <a:r>
              <a:rPr lang="en-US" sz="1100" dirty="0"/>
              <a:t>Except for log scales, use a zero origin on the </a:t>
            </a:r>
            <a:r>
              <a:rPr lang="en-US" sz="1100" i="1" dirty="0"/>
              <a:t>Y</a:t>
            </a:r>
            <a:r>
              <a:rPr lang="en-US" sz="1100" dirty="0"/>
              <a:t>-axis (this is the default in Excel).</a:t>
            </a:r>
          </a:p>
          <a:p>
            <a:pPr marL="182880" indent="-182880">
              <a:spcAft>
                <a:spcPts val="600"/>
              </a:spcAft>
              <a:buFont typeface="+mj-lt"/>
              <a:buAutoNum type="arabicPeriod"/>
            </a:pPr>
            <a:r>
              <a:rPr lang="en-US" sz="1100" dirty="0"/>
              <a:t>Omit data labels if the data cover many time periods.</a:t>
            </a:r>
          </a:p>
          <a:p>
            <a:pPr marL="182880" indent="-182880">
              <a:spcAft>
                <a:spcPts val="600"/>
              </a:spcAft>
              <a:buFont typeface="+mj-lt"/>
              <a:buAutoNum type="arabicPeriod"/>
            </a:pPr>
            <a:r>
              <a:rPr lang="en-US" sz="1100" dirty="0"/>
              <a:t>Use gridlines to help the reader see data values.</a:t>
            </a:r>
          </a:p>
          <a:p>
            <a:pPr marL="182880" indent="-182880">
              <a:spcAft>
                <a:spcPts val="600"/>
              </a:spcAft>
              <a:buFont typeface="+mj-lt"/>
              <a:buAutoNum type="arabicPeriod"/>
            </a:pPr>
            <a:r>
              <a:rPr lang="en-US" sz="1100" dirty="0"/>
              <a:t>Data markers (squares, triangles, circles) are useful unless there are lots of data values.</a:t>
            </a:r>
          </a:p>
        </p:txBody>
      </p:sp>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sp>
        <p:nvSpPr>
          <p:cNvPr id="4" name="Footer Placeholder 3">
            <a:extLst>
              <a:ext uri="{FF2B5EF4-FFF2-40B4-BE49-F238E27FC236}">
                <a16:creationId xmlns:a16="http://schemas.microsoft.com/office/drawing/2014/main" id="{9273E9B4-C609-3F5C-1361-D4AFB56F7828}"/>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062879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455357" y="1247279"/>
            <a:ext cx="10972800" cy="139841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9" name="Rounded Rectangle 8"/>
          <p:cNvSpPr/>
          <p:nvPr/>
        </p:nvSpPr>
        <p:spPr>
          <a:xfrm>
            <a:off x="5146724" y="2205229"/>
            <a:ext cx="366367" cy="27911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509874" y="5425374"/>
            <a:ext cx="3240323" cy="646331"/>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2-D pie charts are easier to interpret, but you may see 3-D charts in business because of their visual impact.</a:t>
            </a:r>
          </a:p>
        </p:txBody>
      </p:sp>
      <p:pic>
        <p:nvPicPr>
          <p:cNvPr id="18" name="Picture 17"/>
          <p:cNvPicPr>
            <a:picLocks noChangeAspect="1"/>
          </p:cNvPicPr>
          <p:nvPr/>
        </p:nvPicPr>
        <p:blipFill>
          <a:blip r:embed="rId3"/>
          <a:stretch>
            <a:fillRect/>
          </a:stretch>
        </p:blipFill>
        <p:spPr>
          <a:xfrm>
            <a:off x="1775167" y="4912539"/>
            <a:ext cx="758207" cy="458489"/>
          </a:xfrm>
          <a:prstGeom prst="rect">
            <a:avLst/>
          </a:prstGeom>
        </p:spPr>
      </p:pic>
      <p:pic>
        <p:nvPicPr>
          <p:cNvPr id="16" name="Picture 15"/>
          <p:cNvPicPr>
            <a:picLocks noChangeAspect="1"/>
          </p:cNvPicPr>
          <p:nvPr/>
        </p:nvPicPr>
        <p:blipFill>
          <a:blip r:embed="rId4"/>
          <a:stretch>
            <a:fillRect/>
          </a:stretch>
        </p:blipFill>
        <p:spPr>
          <a:xfrm>
            <a:off x="7446707" y="2758154"/>
            <a:ext cx="3981450" cy="1133475"/>
          </a:xfrm>
          <a:prstGeom prst="rect">
            <a:avLst/>
          </a:prstGeom>
        </p:spPr>
      </p:pic>
      <p:sp>
        <p:nvSpPr>
          <p:cNvPr id="20" name="TextBox 19"/>
          <p:cNvSpPr txBox="1"/>
          <p:nvPr/>
        </p:nvSpPr>
        <p:spPr>
          <a:xfrm>
            <a:off x="3766475" y="4058241"/>
            <a:ext cx="4044484" cy="1923604"/>
          </a:xfrm>
          <a:prstGeom prst="rect">
            <a:avLst/>
          </a:prstGeom>
          <a:noFill/>
        </p:spPr>
        <p:txBody>
          <a:bodyPr wrap="square" rtlCol="0">
            <a:spAutoFit/>
          </a:bodyPr>
          <a:lstStyle/>
          <a:p>
            <a:pPr algn="ctr">
              <a:spcAft>
                <a:spcPts val="600"/>
              </a:spcAft>
            </a:pPr>
            <a:r>
              <a:rPr lang="en-US" sz="1100" b="1" dirty="0">
                <a:solidFill>
                  <a:schemeClr val="accent1">
                    <a:lumMod val="75000"/>
                  </a:schemeClr>
                </a:solidFill>
              </a:rPr>
              <a:t>RECOMMENDATIONS</a:t>
            </a:r>
          </a:p>
          <a:p>
            <a:pPr marL="182880" indent="-182880">
              <a:spcAft>
                <a:spcPts val="600"/>
              </a:spcAft>
              <a:buFont typeface="+mj-lt"/>
              <a:buAutoNum type="arabicPeriod"/>
            </a:pPr>
            <a:r>
              <a:rPr lang="en-US" sz="1100" dirty="0"/>
              <a:t>Pie chart data must represent parts of a whole (e.g., percent market share).</a:t>
            </a:r>
          </a:p>
          <a:p>
            <a:pPr marL="182880" indent="-182880">
              <a:spcAft>
                <a:spcPts val="600"/>
              </a:spcAft>
              <a:buFont typeface="+mj-lt"/>
              <a:buAutoNum type="arabicPeriod"/>
            </a:pPr>
            <a:r>
              <a:rPr lang="en-US" sz="1100" dirty="0"/>
              <a:t>Each slices should be labeled with its data value (or percent).</a:t>
            </a:r>
          </a:p>
          <a:p>
            <a:pPr marL="182880" indent="-182880">
              <a:spcAft>
                <a:spcPts val="600"/>
              </a:spcAft>
              <a:buFont typeface="+mj-lt"/>
              <a:buAutoNum type="arabicPeriod"/>
            </a:pPr>
            <a:r>
              <a:rPr lang="en-US" sz="1100" dirty="0"/>
              <a:t>Pie charts can only convey a general idea of the data values. </a:t>
            </a:r>
          </a:p>
          <a:p>
            <a:pPr marL="182880" indent="-182880">
              <a:spcAft>
                <a:spcPts val="600"/>
              </a:spcAft>
              <a:buFont typeface="+mj-lt"/>
              <a:buAutoNum type="arabicPeriod"/>
            </a:pPr>
            <a:r>
              <a:rPr lang="en-US" sz="1100" dirty="0"/>
              <a:t>Pie charts are ineffective when they have too many slices (typically 2 to 7). Exploded pie (right) may help.</a:t>
            </a:r>
          </a:p>
        </p:txBody>
      </p:sp>
      <p:sp>
        <p:nvSpPr>
          <p:cNvPr id="22" name="TextBox 21"/>
          <p:cNvSpPr txBox="1"/>
          <p:nvPr/>
        </p:nvSpPr>
        <p:spPr>
          <a:xfrm>
            <a:off x="4434374" y="2758154"/>
            <a:ext cx="2576444" cy="846386"/>
          </a:xfrm>
          <a:prstGeom prst="rect">
            <a:avLst/>
          </a:prstGeom>
          <a:noFill/>
        </p:spPr>
        <p:txBody>
          <a:bodyPr wrap="square" rtlCol="0">
            <a:spAutoFit/>
          </a:bodyPr>
          <a:lstStyle/>
          <a:p>
            <a:pPr algn="ctr"/>
            <a:r>
              <a:rPr lang="en-US" sz="1100" b="1" dirty="0">
                <a:solidFill>
                  <a:schemeClr val="accent1">
                    <a:lumMod val="75000"/>
                  </a:schemeClr>
                </a:solidFill>
              </a:rPr>
              <a:t>PIE CHARTS</a:t>
            </a:r>
          </a:p>
          <a:p>
            <a:pPr>
              <a:spcBef>
                <a:spcPts val="600"/>
              </a:spcBef>
            </a:pPr>
            <a:r>
              <a:rPr lang="en-US" sz="1100" dirty="0"/>
              <a:t>A </a:t>
            </a:r>
            <a:r>
              <a:rPr lang="en-US" sz="1100" b="1" dirty="0">
                <a:solidFill>
                  <a:schemeClr val="accent1">
                    <a:lumMod val="75000"/>
                  </a:schemeClr>
                </a:solidFill>
              </a:rPr>
              <a:t>pie chart </a:t>
            </a:r>
            <a:r>
              <a:rPr lang="en-US" sz="1100" dirty="0"/>
              <a:t>is a circle divided into slices. Each slice’s area represents a percent or part of a whole.</a:t>
            </a:r>
          </a:p>
        </p:txBody>
      </p:sp>
      <p:pic>
        <p:nvPicPr>
          <p:cNvPr id="2" name="Picture 1"/>
          <p:cNvPicPr>
            <a:picLocks noChangeAspect="1"/>
          </p:cNvPicPr>
          <p:nvPr/>
        </p:nvPicPr>
        <p:blipFill>
          <a:blip r:embed="rId5"/>
          <a:stretch>
            <a:fillRect/>
          </a:stretch>
        </p:blipFill>
        <p:spPr>
          <a:xfrm>
            <a:off x="8570687" y="4085054"/>
            <a:ext cx="2857470" cy="2226802"/>
          </a:xfrm>
          <a:prstGeom prst="rect">
            <a:avLst/>
          </a:prstGeom>
        </p:spPr>
      </p:pic>
      <p:pic>
        <p:nvPicPr>
          <p:cNvPr id="4" name="Picture 3"/>
          <p:cNvPicPr>
            <a:picLocks noChangeAspect="1"/>
          </p:cNvPicPr>
          <p:nvPr/>
        </p:nvPicPr>
        <p:blipFill>
          <a:blip r:embed="rId6"/>
          <a:stretch>
            <a:fillRect/>
          </a:stretch>
        </p:blipFill>
        <p:spPr>
          <a:xfrm>
            <a:off x="509874" y="2846871"/>
            <a:ext cx="3068119" cy="2011323"/>
          </a:xfrm>
          <a:prstGeom prst="rect">
            <a:avLst/>
          </a:prstGeom>
        </p:spPr>
      </p:pic>
      <p:sp>
        <p:nvSpPr>
          <p:cNvPr id="12" name="TextBox 11"/>
          <p:cNvSpPr txBox="1"/>
          <p:nvPr/>
        </p:nvSpPr>
        <p:spPr>
          <a:xfrm>
            <a:off x="10592709" y="6444395"/>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sp>
        <p:nvSpPr>
          <p:cNvPr id="3" name="Footer Placeholder 2">
            <a:extLst>
              <a:ext uri="{FF2B5EF4-FFF2-40B4-BE49-F238E27FC236}">
                <a16:creationId xmlns:a16="http://schemas.microsoft.com/office/drawing/2014/main" id="{C74A7212-38AB-938A-90FD-0464ADB9BD2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444328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547853" y="1276618"/>
            <a:ext cx="10972800" cy="139841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9" name="Rounded Rectangle 8"/>
          <p:cNvSpPr/>
          <p:nvPr/>
        </p:nvSpPr>
        <p:spPr>
          <a:xfrm>
            <a:off x="5569285" y="2249829"/>
            <a:ext cx="347317" cy="26857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789175" y="2732004"/>
            <a:ext cx="3477938" cy="1107996"/>
          </a:xfrm>
          <a:prstGeom prst="rect">
            <a:avLst/>
          </a:prstGeom>
          <a:noFill/>
        </p:spPr>
        <p:txBody>
          <a:bodyPr wrap="square" rtlCol="0">
            <a:spAutoFit/>
          </a:bodyPr>
          <a:lstStyle/>
          <a:p>
            <a:pPr algn="ctr"/>
            <a:r>
              <a:rPr lang="en-US" sz="1100" b="1" dirty="0">
                <a:solidFill>
                  <a:schemeClr val="accent1">
                    <a:lumMod val="75000"/>
                  </a:schemeClr>
                </a:solidFill>
              </a:rPr>
              <a:t>SCATTER PLOT</a:t>
            </a:r>
          </a:p>
          <a:p>
            <a:endParaRPr lang="en-US" sz="1100" dirty="0"/>
          </a:p>
          <a:p>
            <a:r>
              <a:rPr lang="en-US" sz="1100" dirty="0"/>
              <a:t>A </a:t>
            </a:r>
            <a:r>
              <a:rPr lang="en-US" sz="1100" b="1" dirty="0">
                <a:solidFill>
                  <a:schemeClr val="accent1">
                    <a:lumMod val="75000"/>
                  </a:schemeClr>
                </a:solidFill>
              </a:rPr>
              <a:t>scatter plot </a:t>
            </a:r>
            <a:r>
              <a:rPr lang="en-US" sz="1100" dirty="0"/>
              <a:t>is used to reveal relationships between two variables. It plots </a:t>
            </a:r>
            <a:r>
              <a:rPr lang="en-US" sz="1100" i="1" dirty="0"/>
              <a:t>n</a:t>
            </a:r>
            <a:r>
              <a:rPr lang="en-US" sz="1100" dirty="0"/>
              <a:t> pairs of observations (</a:t>
            </a:r>
            <a:r>
              <a:rPr lang="en-US" sz="1100" i="1" dirty="0"/>
              <a:t>x</a:t>
            </a:r>
            <a:r>
              <a:rPr lang="en-US" sz="1100" baseline="-25000" dirty="0"/>
              <a:t>1</a:t>
            </a:r>
            <a:r>
              <a:rPr lang="en-US" sz="1100" dirty="0"/>
              <a:t>, </a:t>
            </a:r>
            <a:r>
              <a:rPr lang="en-US" sz="1100" i="1" dirty="0"/>
              <a:t>y</a:t>
            </a:r>
            <a:r>
              <a:rPr lang="en-US" sz="1100" baseline="-25000" dirty="0"/>
              <a:t>1</a:t>
            </a:r>
            <a:r>
              <a:rPr lang="en-US" sz="1100" dirty="0"/>
              <a:t>), (</a:t>
            </a:r>
            <a:r>
              <a:rPr lang="en-US" sz="1100" i="1" dirty="0"/>
              <a:t>x</a:t>
            </a:r>
            <a:r>
              <a:rPr lang="en-US" sz="1100" baseline="-25000" dirty="0"/>
              <a:t>2</a:t>
            </a:r>
            <a:r>
              <a:rPr lang="en-US" sz="1100" dirty="0"/>
              <a:t>, </a:t>
            </a:r>
            <a:r>
              <a:rPr lang="en-US" sz="1100" i="1" dirty="0"/>
              <a:t>y</a:t>
            </a:r>
            <a:r>
              <a:rPr lang="en-US" sz="1100" baseline="-25000" dirty="0"/>
              <a:t>2</a:t>
            </a:r>
            <a:r>
              <a:rPr lang="en-US" sz="1100" dirty="0"/>
              <a:t>), . . . , (</a:t>
            </a:r>
            <a:r>
              <a:rPr lang="en-US" sz="1100" i="1" dirty="0" err="1"/>
              <a:t>x</a:t>
            </a:r>
            <a:r>
              <a:rPr lang="en-US" sz="1100" i="1" baseline="-25000" dirty="0" err="1"/>
              <a:t>n</a:t>
            </a:r>
            <a:r>
              <a:rPr lang="en-US" sz="1100" dirty="0"/>
              <a:t>, </a:t>
            </a:r>
            <a:r>
              <a:rPr lang="en-US" sz="1100" i="1" dirty="0" err="1"/>
              <a:t>y</a:t>
            </a:r>
            <a:r>
              <a:rPr lang="en-US" sz="1100" i="1" baseline="-25000" dirty="0" err="1"/>
              <a:t>n</a:t>
            </a:r>
            <a:r>
              <a:rPr lang="en-US" sz="1100" dirty="0"/>
              <a:t>) as dots (or some other symbol) on an X-Y graph.</a:t>
            </a:r>
          </a:p>
        </p:txBody>
      </p:sp>
      <p:pic>
        <p:nvPicPr>
          <p:cNvPr id="19" name="Picture 18"/>
          <p:cNvPicPr>
            <a:picLocks noChangeAspect="1"/>
          </p:cNvPicPr>
          <p:nvPr/>
        </p:nvPicPr>
        <p:blipFill>
          <a:blip r:embed="rId3"/>
          <a:stretch>
            <a:fillRect/>
          </a:stretch>
        </p:blipFill>
        <p:spPr>
          <a:xfrm>
            <a:off x="2778530" y="2773232"/>
            <a:ext cx="1895788" cy="1180396"/>
          </a:xfrm>
          <a:prstGeom prst="rect">
            <a:avLst/>
          </a:prstGeom>
        </p:spPr>
      </p:pic>
      <p:pic>
        <p:nvPicPr>
          <p:cNvPr id="21" name="Picture 20"/>
          <p:cNvPicPr>
            <a:picLocks noChangeAspect="1"/>
          </p:cNvPicPr>
          <p:nvPr/>
        </p:nvPicPr>
        <p:blipFill>
          <a:blip r:embed="rId4"/>
          <a:stretch>
            <a:fillRect/>
          </a:stretch>
        </p:blipFill>
        <p:spPr>
          <a:xfrm>
            <a:off x="585607" y="4336158"/>
            <a:ext cx="2884706" cy="1984529"/>
          </a:xfrm>
          <a:prstGeom prst="rect">
            <a:avLst/>
          </a:prstGeom>
        </p:spPr>
      </p:pic>
      <p:pic>
        <p:nvPicPr>
          <p:cNvPr id="4" name="Picture 3"/>
          <p:cNvPicPr>
            <a:picLocks noChangeAspect="1"/>
          </p:cNvPicPr>
          <p:nvPr/>
        </p:nvPicPr>
        <p:blipFill>
          <a:blip r:embed="rId5"/>
          <a:stretch>
            <a:fillRect/>
          </a:stretch>
        </p:blipFill>
        <p:spPr>
          <a:xfrm>
            <a:off x="585607" y="2819991"/>
            <a:ext cx="1646760" cy="1326956"/>
          </a:xfrm>
          <a:prstGeom prst="rect">
            <a:avLst/>
          </a:prstGeom>
        </p:spPr>
      </p:pic>
      <p:sp>
        <p:nvSpPr>
          <p:cNvPr id="22" name="Down Arrow 21"/>
          <p:cNvSpPr/>
          <p:nvPr/>
        </p:nvSpPr>
        <p:spPr>
          <a:xfrm>
            <a:off x="3057553" y="3947216"/>
            <a:ext cx="289418" cy="335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2385129" y="3192796"/>
            <a:ext cx="287657" cy="3092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2821702" y="2864238"/>
            <a:ext cx="761121" cy="101280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a:picLocks noChangeAspect="1"/>
          </p:cNvPicPr>
          <p:nvPr/>
        </p:nvPicPr>
        <p:blipFill>
          <a:blip r:embed="rId6"/>
          <a:stretch>
            <a:fillRect/>
          </a:stretch>
        </p:blipFill>
        <p:spPr>
          <a:xfrm>
            <a:off x="8072930" y="4146947"/>
            <a:ext cx="3264017" cy="2173740"/>
          </a:xfrm>
          <a:prstGeom prst="rect">
            <a:avLst/>
          </a:prstGeom>
        </p:spPr>
      </p:pic>
      <p:sp>
        <p:nvSpPr>
          <p:cNvPr id="25" name="TextBox 24"/>
          <p:cNvSpPr txBox="1"/>
          <p:nvPr/>
        </p:nvSpPr>
        <p:spPr>
          <a:xfrm>
            <a:off x="8607105" y="2956331"/>
            <a:ext cx="2847449" cy="461665"/>
          </a:xfrm>
          <a:prstGeom prst="rect">
            <a:avLst/>
          </a:prstGeom>
          <a:noFill/>
        </p:spPr>
        <p:txBody>
          <a:bodyPr wrap="square" rtlCol="0">
            <a:spAutoFit/>
          </a:bodyPr>
          <a:lstStyle/>
          <a:p>
            <a:r>
              <a:rPr lang="en-US" sz="1200" dirty="0">
                <a:solidFill>
                  <a:schemeClr val="accent1">
                    <a:lumMod val="75000"/>
                  </a:schemeClr>
                </a:solidFill>
              </a:rPr>
              <a:t>Add title and axis labels, change plot area colors, format axis scales (e.g., decimals).</a:t>
            </a:r>
          </a:p>
        </p:txBody>
      </p:sp>
      <p:sp>
        <p:nvSpPr>
          <p:cNvPr id="26" name="Down Arrow 25"/>
          <p:cNvSpPr/>
          <p:nvPr/>
        </p:nvSpPr>
        <p:spPr>
          <a:xfrm>
            <a:off x="9704939" y="3643313"/>
            <a:ext cx="289418" cy="335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842991" y="4019337"/>
            <a:ext cx="4147222" cy="2354491"/>
          </a:xfrm>
          <a:prstGeom prst="rect">
            <a:avLst/>
          </a:prstGeom>
          <a:noFill/>
        </p:spPr>
        <p:txBody>
          <a:bodyPr wrap="square" rtlCol="0">
            <a:spAutoFit/>
          </a:bodyPr>
          <a:lstStyle/>
          <a:p>
            <a:pPr algn="ctr"/>
            <a:r>
              <a:rPr lang="en-US" sz="1100" b="1" dirty="0">
                <a:solidFill>
                  <a:schemeClr val="accent1">
                    <a:lumMod val="75000"/>
                  </a:schemeClr>
                </a:solidFill>
              </a:rPr>
              <a:t>RECOMMENDATIONS</a:t>
            </a:r>
          </a:p>
          <a:p>
            <a:endParaRPr lang="en-US" sz="1100" dirty="0"/>
          </a:p>
          <a:p>
            <a:pPr marL="228600" indent="-228600">
              <a:spcAft>
                <a:spcPts val="600"/>
              </a:spcAft>
              <a:buFont typeface="+mj-lt"/>
              <a:buAutoNum type="arabicPeriod"/>
            </a:pPr>
            <a:r>
              <a:rPr lang="en-US" sz="1100" dirty="0"/>
              <a:t>Select the (</a:t>
            </a:r>
            <a:r>
              <a:rPr lang="en-US" sz="1100" i="1" dirty="0"/>
              <a:t>x</a:t>
            </a:r>
            <a:r>
              <a:rPr lang="en-US" sz="1100" dirty="0"/>
              <a:t>, </a:t>
            </a:r>
            <a:r>
              <a:rPr lang="en-US" sz="1100" i="1" dirty="0"/>
              <a:t>y</a:t>
            </a:r>
            <a:r>
              <a:rPr lang="en-US" sz="1100" dirty="0"/>
              <a:t>) data (not column headings - you can add axis labels later). Click </a:t>
            </a:r>
            <a:r>
              <a:rPr lang="en-US" sz="1100" dirty="0">
                <a:solidFill>
                  <a:srgbClr val="C00000"/>
                </a:solidFill>
              </a:rPr>
              <a:t>Insert</a:t>
            </a:r>
            <a:r>
              <a:rPr lang="en-US" sz="1100" dirty="0"/>
              <a:t> and the </a:t>
            </a:r>
            <a:r>
              <a:rPr lang="en-US" sz="1100" dirty="0">
                <a:solidFill>
                  <a:srgbClr val="C00000"/>
                </a:solidFill>
              </a:rPr>
              <a:t>Scatter</a:t>
            </a:r>
            <a:r>
              <a:rPr lang="en-US" sz="1100" dirty="0"/>
              <a:t> icon. </a:t>
            </a:r>
          </a:p>
          <a:p>
            <a:pPr marL="228600" indent="-228600">
              <a:spcAft>
                <a:spcPts val="600"/>
              </a:spcAft>
              <a:buFont typeface="+mj-lt"/>
              <a:buAutoNum type="arabicPeriod"/>
            </a:pPr>
            <a:r>
              <a:rPr lang="en-US" sz="1100" dirty="0"/>
              <a:t>The first column you select will go on the X-axis, but a scatter plot does not presume cause-and-effect.</a:t>
            </a:r>
          </a:p>
          <a:p>
            <a:pPr marL="228600" indent="-228600">
              <a:spcAft>
                <a:spcPts val="600"/>
              </a:spcAft>
              <a:buFont typeface="+mj-lt"/>
              <a:buAutoNum type="arabicPeriod"/>
            </a:pPr>
            <a:r>
              <a:rPr lang="en-US" sz="1100" dirty="0"/>
              <a:t>Click on the chart to select it, The </a:t>
            </a:r>
            <a:r>
              <a:rPr lang="en-US" sz="1100" dirty="0">
                <a:solidFill>
                  <a:srgbClr val="C00000"/>
                </a:solidFill>
              </a:rPr>
              <a:t>Format</a:t>
            </a:r>
            <a:r>
              <a:rPr lang="en-US" sz="1100" dirty="0"/>
              <a:t> and </a:t>
            </a:r>
            <a:r>
              <a:rPr lang="en-US" sz="1100" dirty="0">
                <a:solidFill>
                  <a:srgbClr val="C00000"/>
                </a:solidFill>
              </a:rPr>
              <a:t>Design</a:t>
            </a:r>
            <a:r>
              <a:rPr lang="en-US" sz="1100" dirty="0"/>
              <a:t> ribbons will become active. Apply styles or edit chart features to improve clarity. </a:t>
            </a:r>
          </a:p>
          <a:p>
            <a:pPr marL="228600" indent="-228600">
              <a:spcAft>
                <a:spcPts val="600"/>
              </a:spcAft>
              <a:buFont typeface="+mj-lt"/>
              <a:buAutoNum type="arabicPeriod"/>
            </a:pPr>
            <a:r>
              <a:rPr lang="en-US" sz="1100" dirty="0"/>
              <a:t>Alternatively, right-click on any chart feature (e.g., title, chart area, plot area,  axis, data series). Explore edit options until you are satisfied with its appearance.</a:t>
            </a:r>
          </a:p>
        </p:txBody>
      </p:sp>
      <p:sp>
        <p:nvSpPr>
          <p:cNvPr id="16" name="TextBox 15"/>
          <p:cNvSpPr txBox="1"/>
          <p:nvPr/>
        </p:nvSpPr>
        <p:spPr>
          <a:xfrm>
            <a:off x="10592709" y="6444395"/>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sp>
        <p:nvSpPr>
          <p:cNvPr id="2" name="Footer Placeholder 1">
            <a:extLst>
              <a:ext uri="{FF2B5EF4-FFF2-40B4-BE49-F238E27FC236}">
                <a16:creationId xmlns:a16="http://schemas.microsoft.com/office/drawing/2014/main" id="{1265ADCA-6C83-62E1-6686-4ADA4716A438}"/>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210664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pic>
        <p:nvPicPr>
          <p:cNvPr id="2" name="Picture 1"/>
          <p:cNvPicPr>
            <a:picLocks noChangeAspect="1"/>
          </p:cNvPicPr>
          <p:nvPr/>
        </p:nvPicPr>
        <p:blipFill>
          <a:blip r:embed="rId2"/>
          <a:stretch>
            <a:fillRect/>
          </a:stretch>
        </p:blipFill>
        <p:spPr>
          <a:xfrm>
            <a:off x="543661" y="1221144"/>
            <a:ext cx="9213081" cy="1405977"/>
          </a:xfrm>
          <a:prstGeom prst="rect">
            <a:avLst/>
          </a:prstGeom>
        </p:spPr>
      </p:pic>
      <p:pic>
        <p:nvPicPr>
          <p:cNvPr id="4" name="Picture 3"/>
          <p:cNvPicPr>
            <a:picLocks noChangeAspect="1"/>
          </p:cNvPicPr>
          <p:nvPr/>
        </p:nvPicPr>
        <p:blipFill>
          <a:blip r:embed="rId3"/>
          <a:stretch>
            <a:fillRect/>
          </a:stretch>
        </p:blipFill>
        <p:spPr>
          <a:xfrm>
            <a:off x="5150201" y="2762189"/>
            <a:ext cx="1278126" cy="1292018"/>
          </a:xfrm>
          <a:prstGeom prst="rect">
            <a:avLst/>
          </a:prstGeom>
        </p:spPr>
      </p:pic>
      <p:sp>
        <p:nvSpPr>
          <p:cNvPr id="7" name="TextBox 6"/>
          <p:cNvSpPr txBox="1"/>
          <p:nvPr/>
        </p:nvSpPr>
        <p:spPr>
          <a:xfrm>
            <a:off x="2289698" y="2762189"/>
            <a:ext cx="2490526" cy="938719"/>
          </a:xfrm>
          <a:prstGeom prst="rect">
            <a:avLst/>
          </a:prstGeom>
          <a:noFill/>
        </p:spPr>
        <p:txBody>
          <a:bodyPr wrap="square" rtlCol="0">
            <a:spAutoFit/>
          </a:bodyPr>
          <a:lstStyle/>
          <a:p>
            <a:pPr algn="ctr"/>
            <a:r>
              <a:rPr lang="en-US" sz="1100" b="1" dirty="0">
                <a:solidFill>
                  <a:schemeClr val="accent1">
                    <a:lumMod val="75000"/>
                  </a:schemeClr>
                </a:solidFill>
              </a:rPr>
              <a:t>STATISTICS CHARTS</a:t>
            </a:r>
          </a:p>
          <a:p>
            <a:endParaRPr lang="en-US" sz="1100" dirty="0"/>
          </a:p>
          <a:p>
            <a:r>
              <a:rPr lang="en-US" sz="1100" dirty="0"/>
              <a:t>The middle chart icon on the </a:t>
            </a:r>
            <a:r>
              <a:rPr lang="en-US" sz="1100" b="1" dirty="0">
                <a:solidFill>
                  <a:schemeClr val="accent1">
                    <a:lumMod val="75000"/>
                  </a:schemeClr>
                </a:solidFill>
              </a:rPr>
              <a:t>Insert</a:t>
            </a:r>
            <a:r>
              <a:rPr lang="en-US" sz="1100" dirty="0"/>
              <a:t> ribbon offers two charts that are useful in a statistics class.</a:t>
            </a:r>
          </a:p>
        </p:txBody>
      </p:sp>
      <p:sp>
        <p:nvSpPr>
          <p:cNvPr id="9" name="TextBox 8"/>
          <p:cNvSpPr txBox="1"/>
          <p:nvPr/>
        </p:nvSpPr>
        <p:spPr>
          <a:xfrm>
            <a:off x="2220522" y="4197789"/>
            <a:ext cx="2656875" cy="1523494"/>
          </a:xfrm>
          <a:prstGeom prst="rect">
            <a:avLst/>
          </a:prstGeom>
          <a:noFill/>
        </p:spPr>
        <p:txBody>
          <a:bodyPr wrap="square" rtlCol="0">
            <a:spAutoFit/>
          </a:bodyPr>
          <a:lstStyle/>
          <a:p>
            <a:pPr algn="ctr"/>
            <a:r>
              <a:rPr lang="en-US" sz="1100" b="1" dirty="0">
                <a:solidFill>
                  <a:schemeClr val="accent1">
                    <a:lumMod val="75000"/>
                  </a:schemeClr>
                </a:solidFill>
              </a:rPr>
              <a:t>RECOMMENDATIONS</a:t>
            </a:r>
          </a:p>
          <a:p>
            <a:endParaRPr lang="en-US" sz="1100" dirty="0"/>
          </a:p>
          <a:p>
            <a:pPr marL="228600" indent="-228600">
              <a:spcAft>
                <a:spcPts val="600"/>
              </a:spcAft>
              <a:buFont typeface="+mj-lt"/>
              <a:buAutoNum type="arabicPeriod"/>
            </a:pPr>
            <a:r>
              <a:rPr lang="en-US" sz="1100" dirty="0"/>
              <a:t>The </a:t>
            </a:r>
            <a:r>
              <a:rPr lang="en-US" sz="1100" b="1" dirty="0">
                <a:solidFill>
                  <a:schemeClr val="accent1">
                    <a:lumMod val="75000"/>
                  </a:schemeClr>
                </a:solidFill>
              </a:rPr>
              <a:t>Histogram</a:t>
            </a:r>
            <a:r>
              <a:rPr lang="en-US" sz="1100" dirty="0"/>
              <a:t> is quick, though it has unattractive bin limits.</a:t>
            </a:r>
          </a:p>
          <a:p>
            <a:pPr marL="228600" indent="-228600">
              <a:spcAft>
                <a:spcPts val="600"/>
              </a:spcAft>
              <a:buFont typeface="+mj-lt"/>
              <a:buAutoNum type="arabicPeriod"/>
            </a:pPr>
            <a:r>
              <a:rPr lang="en-US" sz="1100" dirty="0"/>
              <a:t>The </a:t>
            </a:r>
            <a:r>
              <a:rPr lang="en-US" sz="1100" b="1" dirty="0">
                <a:solidFill>
                  <a:schemeClr val="accent1">
                    <a:lumMod val="75000"/>
                  </a:schemeClr>
                </a:solidFill>
              </a:rPr>
              <a:t>Box and Whisker </a:t>
            </a:r>
            <a:r>
              <a:rPr lang="en-US" sz="1100" dirty="0"/>
              <a:t>plot shows the range, quartiles, fences, and outliers. Refer to your statistics text for further explanation.</a:t>
            </a:r>
          </a:p>
        </p:txBody>
      </p:sp>
      <p:sp>
        <p:nvSpPr>
          <p:cNvPr id="14" name="Rounded Rectangle 8"/>
          <p:cNvSpPr/>
          <p:nvPr/>
        </p:nvSpPr>
        <p:spPr>
          <a:xfrm>
            <a:off x="4280312" y="1996441"/>
            <a:ext cx="347317" cy="26857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p:nvPicPr>
        <p:blipFill>
          <a:blip r:embed="rId4"/>
          <a:stretch>
            <a:fillRect/>
          </a:stretch>
        </p:blipFill>
        <p:spPr>
          <a:xfrm>
            <a:off x="6848557" y="4527741"/>
            <a:ext cx="2819261" cy="1693540"/>
          </a:xfrm>
          <a:prstGeom prst="rect">
            <a:avLst/>
          </a:prstGeom>
          <a:ln>
            <a:solidFill>
              <a:schemeClr val="tx1"/>
            </a:solidFill>
          </a:ln>
        </p:spPr>
      </p:pic>
      <p:pic>
        <p:nvPicPr>
          <p:cNvPr id="17" name="Picture 16"/>
          <p:cNvPicPr>
            <a:picLocks noChangeAspect="1"/>
          </p:cNvPicPr>
          <p:nvPr/>
        </p:nvPicPr>
        <p:blipFill>
          <a:blip r:embed="rId5"/>
          <a:stretch>
            <a:fillRect/>
          </a:stretch>
        </p:blipFill>
        <p:spPr>
          <a:xfrm>
            <a:off x="6848557" y="2730661"/>
            <a:ext cx="2819261" cy="1693540"/>
          </a:xfrm>
          <a:prstGeom prst="rect">
            <a:avLst/>
          </a:prstGeom>
          <a:ln>
            <a:solidFill>
              <a:schemeClr val="tx1"/>
            </a:solidFill>
          </a:ln>
        </p:spPr>
      </p:pic>
      <p:pic>
        <p:nvPicPr>
          <p:cNvPr id="18" name="Picture 17"/>
          <p:cNvPicPr>
            <a:picLocks noChangeAspect="1"/>
          </p:cNvPicPr>
          <p:nvPr/>
        </p:nvPicPr>
        <p:blipFill>
          <a:blip r:embed="rId6"/>
          <a:stretch>
            <a:fillRect/>
          </a:stretch>
        </p:blipFill>
        <p:spPr>
          <a:xfrm>
            <a:off x="537288" y="2856485"/>
            <a:ext cx="1630877" cy="2103051"/>
          </a:xfrm>
          <a:prstGeom prst="rect">
            <a:avLst/>
          </a:prstGeom>
        </p:spPr>
      </p:pic>
      <p:sp>
        <p:nvSpPr>
          <p:cNvPr id="12" name="Right Arrow 15"/>
          <p:cNvSpPr/>
          <p:nvPr/>
        </p:nvSpPr>
        <p:spPr>
          <a:xfrm>
            <a:off x="4711656" y="3156988"/>
            <a:ext cx="331482" cy="2912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428847" y="6316719"/>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sp>
        <p:nvSpPr>
          <p:cNvPr id="3" name="Footer Placeholder 2">
            <a:extLst>
              <a:ext uri="{FF2B5EF4-FFF2-40B4-BE49-F238E27FC236}">
                <a16:creationId xmlns:a16="http://schemas.microsoft.com/office/drawing/2014/main" id="{5880B352-101B-EB14-6089-5FDABA21E1B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556486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7" name="TextBox 6"/>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9" name="TextBox 8"/>
          <p:cNvSpPr txBox="1"/>
          <p:nvPr/>
        </p:nvSpPr>
        <p:spPr>
          <a:xfrm>
            <a:off x="8297308" y="1221144"/>
            <a:ext cx="2828222" cy="2123658"/>
          </a:xfrm>
          <a:prstGeom prst="rect">
            <a:avLst/>
          </a:prstGeom>
          <a:noFill/>
        </p:spPr>
        <p:txBody>
          <a:bodyPr wrap="square" rtlCol="0">
            <a:spAutoFit/>
          </a:bodyPr>
          <a:lstStyle/>
          <a:p>
            <a:pPr algn="ctr"/>
            <a:r>
              <a:rPr lang="en-US" sz="1100" b="1" dirty="0">
                <a:solidFill>
                  <a:schemeClr val="accent1">
                    <a:lumMod val="75000"/>
                  </a:schemeClr>
                </a:solidFill>
              </a:rPr>
              <a:t>EDITING A CHART</a:t>
            </a:r>
          </a:p>
          <a:p>
            <a:endParaRPr lang="en-US" sz="1100" b="1" dirty="0"/>
          </a:p>
          <a:p>
            <a:r>
              <a:rPr lang="en-US" sz="1100" dirty="0"/>
              <a:t>To customize a chart, click on it. Its border will change to show that it has been selected, and the </a:t>
            </a:r>
            <a:r>
              <a:rPr lang="en-US" sz="1100" b="1" dirty="0">
                <a:solidFill>
                  <a:schemeClr val="accent1">
                    <a:lumMod val="75000"/>
                  </a:schemeClr>
                </a:solidFill>
              </a:rPr>
              <a:t>Design</a:t>
            </a:r>
            <a:r>
              <a:rPr lang="en-US" sz="1100" i="1" dirty="0"/>
              <a:t> </a:t>
            </a:r>
            <a:r>
              <a:rPr lang="en-US" sz="1100" dirty="0"/>
              <a:t>and </a:t>
            </a:r>
            <a:r>
              <a:rPr lang="en-US" sz="1100" b="1" dirty="0">
                <a:solidFill>
                  <a:schemeClr val="accent1">
                    <a:lumMod val="75000"/>
                  </a:schemeClr>
                </a:solidFill>
              </a:rPr>
              <a:t>Format</a:t>
            </a:r>
            <a:r>
              <a:rPr lang="en-US" sz="1100" i="1" dirty="0"/>
              <a:t> </a:t>
            </a:r>
            <a:r>
              <a:rPr lang="en-US" sz="1100" dirty="0"/>
              <a:t>ribbons will become active. Edit the chart features using the drop-down menus. </a:t>
            </a:r>
          </a:p>
          <a:p>
            <a:endParaRPr lang="en-US" sz="1100" dirty="0"/>
          </a:p>
          <a:p>
            <a:r>
              <a:rPr lang="en-US" sz="1100" dirty="0"/>
              <a:t>Explore the </a:t>
            </a:r>
            <a:r>
              <a:rPr lang="en-US" sz="1100" b="1" dirty="0">
                <a:solidFill>
                  <a:schemeClr val="accent1">
                    <a:lumMod val="75000"/>
                  </a:schemeClr>
                </a:solidFill>
              </a:rPr>
              <a:t>Format</a:t>
            </a:r>
            <a:r>
              <a:rPr lang="en-US" sz="1100" dirty="0"/>
              <a:t> and </a:t>
            </a:r>
            <a:r>
              <a:rPr lang="en-US" sz="1100" b="1" dirty="0">
                <a:solidFill>
                  <a:schemeClr val="accent1">
                    <a:lumMod val="75000"/>
                  </a:schemeClr>
                </a:solidFill>
              </a:rPr>
              <a:t>Design</a:t>
            </a:r>
            <a:r>
              <a:rPr lang="en-US" sz="1100" dirty="0"/>
              <a:t> options and templates until you are satisfied with the graph’s appearance.</a:t>
            </a:r>
          </a:p>
        </p:txBody>
      </p:sp>
      <p:pic>
        <p:nvPicPr>
          <p:cNvPr id="2" name="Picture 1"/>
          <p:cNvPicPr>
            <a:picLocks noChangeAspect="1"/>
          </p:cNvPicPr>
          <p:nvPr/>
        </p:nvPicPr>
        <p:blipFill>
          <a:blip r:embed="rId3"/>
          <a:stretch>
            <a:fillRect/>
          </a:stretch>
        </p:blipFill>
        <p:spPr>
          <a:xfrm>
            <a:off x="455357" y="1221144"/>
            <a:ext cx="7446896" cy="5311129"/>
          </a:xfrm>
          <a:prstGeom prst="rect">
            <a:avLst/>
          </a:prstGeom>
        </p:spPr>
      </p:pic>
      <p:sp>
        <p:nvSpPr>
          <p:cNvPr id="11" name="Rounded Rectangle 22"/>
          <p:cNvSpPr/>
          <p:nvPr/>
        </p:nvSpPr>
        <p:spPr>
          <a:xfrm>
            <a:off x="5123533" y="1428082"/>
            <a:ext cx="576016" cy="36207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22"/>
          <p:cNvSpPr/>
          <p:nvPr/>
        </p:nvSpPr>
        <p:spPr>
          <a:xfrm>
            <a:off x="455357" y="1712848"/>
            <a:ext cx="1230224" cy="622728"/>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Left 3"/>
          <p:cNvSpPr/>
          <p:nvPr/>
        </p:nvSpPr>
        <p:spPr>
          <a:xfrm>
            <a:off x="7987229" y="1790157"/>
            <a:ext cx="310079" cy="31136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A3FC45E-7EC5-6239-072F-95FA28C28EB1}"/>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665056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3" name="TextBox 2"/>
          <p:cNvSpPr txBox="1"/>
          <p:nvPr/>
        </p:nvSpPr>
        <p:spPr>
          <a:xfrm>
            <a:off x="455356" y="1465550"/>
            <a:ext cx="3323429" cy="1446550"/>
          </a:xfrm>
          <a:prstGeom prst="rect">
            <a:avLst/>
          </a:prstGeom>
          <a:noFill/>
        </p:spPr>
        <p:txBody>
          <a:bodyPr wrap="square" rtlCol="0">
            <a:spAutoFit/>
          </a:bodyPr>
          <a:lstStyle/>
          <a:p>
            <a:pPr algn="ctr"/>
            <a:r>
              <a:rPr lang="en-US" sz="1100" b="1" dirty="0">
                <a:solidFill>
                  <a:schemeClr val="accent1">
                    <a:lumMod val="75000"/>
                  </a:schemeClr>
                </a:solidFill>
              </a:rPr>
              <a:t>EDITING A CHART</a:t>
            </a:r>
          </a:p>
          <a:p>
            <a:endParaRPr lang="en-US" sz="1100" dirty="0"/>
          </a:p>
          <a:p>
            <a:r>
              <a:rPr lang="en-US" sz="1100" dirty="0"/>
              <a:t>Instead of using the </a:t>
            </a:r>
            <a:r>
              <a:rPr lang="en-US" sz="1100" b="1" dirty="0">
                <a:solidFill>
                  <a:schemeClr val="accent1">
                    <a:lumMod val="75000"/>
                  </a:schemeClr>
                </a:solidFill>
              </a:rPr>
              <a:t>Format</a:t>
            </a:r>
            <a:r>
              <a:rPr lang="en-US" sz="1100" dirty="0"/>
              <a:t> and </a:t>
            </a:r>
            <a:r>
              <a:rPr lang="en-US" sz="1100" b="1" dirty="0">
                <a:solidFill>
                  <a:schemeClr val="accent1">
                    <a:lumMod val="75000"/>
                  </a:schemeClr>
                </a:solidFill>
              </a:rPr>
              <a:t>Design</a:t>
            </a:r>
            <a:r>
              <a:rPr lang="en-US" sz="1100" dirty="0"/>
              <a:t> ribbons, you can simply right-click on any feature of your graph (e.g., chart area, plot area, </a:t>
            </a:r>
            <a:r>
              <a:rPr lang="en-US" sz="1100" i="1" dirty="0"/>
              <a:t>X</a:t>
            </a:r>
            <a:r>
              <a:rPr lang="en-US" sz="1100" dirty="0"/>
              <a:t>-axis, </a:t>
            </a:r>
            <a:r>
              <a:rPr lang="en-US" sz="1100" i="1" dirty="0"/>
              <a:t>Y</a:t>
            </a:r>
            <a:r>
              <a:rPr lang="en-US" sz="1100" dirty="0"/>
              <a:t>-axis, chart type). For example, to improve the axis scale, right-click on the axis and choose </a:t>
            </a:r>
            <a:r>
              <a:rPr lang="en-US" sz="1100" b="1" dirty="0">
                <a:solidFill>
                  <a:schemeClr val="accent1">
                    <a:lumMod val="75000"/>
                  </a:schemeClr>
                </a:solidFill>
              </a:rPr>
              <a:t>Format Axis</a:t>
            </a:r>
            <a:r>
              <a:rPr lang="en-US" sz="1100" dirty="0"/>
              <a:t>.</a:t>
            </a:r>
          </a:p>
        </p:txBody>
      </p:sp>
      <p:pic>
        <p:nvPicPr>
          <p:cNvPr id="4" name="Picture 3"/>
          <p:cNvPicPr>
            <a:picLocks noChangeAspect="1"/>
          </p:cNvPicPr>
          <p:nvPr/>
        </p:nvPicPr>
        <p:blipFill>
          <a:blip r:embed="rId2"/>
          <a:stretch>
            <a:fillRect/>
          </a:stretch>
        </p:blipFill>
        <p:spPr>
          <a:xfrm>
            <a:off x="4743784" y="1465550"/>
            <a:ext cx="2273024" cy="4192300"/>
          </a:xfrm>
          <a:prstGeom prst="rect">
            <a:avLst/>
          </a:prstGeom>
        </p:spPr>
      </p:pic>
      <p:pic>
        <p:nvPicPr>
          <p:cNvPr id="8" name="Picture 7"/>
          <p:cNvPicPr>
            <a:picLocks noChangeAspect="1"/>
          </p:cNvPicPr>
          <p:nvPr/>
        </p:nvPicPr>
        <p:blipFill>
          <a:blip r:embed="rId3"/>
          <a:stretch>
            <a:fillRect/>
          </a:stretch>
        </p:blipFill>
        <p:spPr>
          <a:xfrm>
            <a:off x="7308608" y="2554526"/>
            <a:ext cx="3695492" cy="2276687"/>
          </a:xfrm>
          <a:prstGeom prst="rect">
            <a:avLst/>
          </a:prstGeom>
        </p:spPr>
      </p:pic>
      <p:pic>
        <p:nvPicPr>
          <p:cNvPr id="11" name="Picture 10"/>
          <p:cNvPicPr>
            <a:picLocks noChangeAspect="1"/>
          </p:cNvPicPr>
          <p:nvPr/>
        </p:nvPicPr>
        <p:blipFill>
          <a:blip r:embed="rId4"/>
          <a:stretch>
            <a:fillRect/>
          </a:stretch>
        </p:blipFill>
        <p:spPr>
          <a:xfrm>
            <a:off x="519537" y="2987229"/>
            <a:ext cx="3480007" cy="2526687"/>
          </a:xfrm>
          <a:prstGeom prst="rect">
            <a:avLst/>
          </a:prstGeom>
        </p:spPr>
      </p:pic>
      <p:sp>
        <p:nvSpPr>
          <p:cNvPr id="13" name="Right Arrow 12"/>
          <p:cNvSpPr/>
          <p:nvPr/>
        </p:nvSpPr>
        <p:spPr>
          <a:xfrm>
            <a:off x="4322854" y="3786010"/>
            <a:ext cx="310393" cy="2721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597366" y="1465550"/>
            <a:ext cx="3320350" cy="600164"/>
          </a:xfrm>
          <a:prstGeom prst="rect">
            <a:avLst/>
          </a:prstGeom>
          <a:noFill/>
        </p:spPr>
        <p:txBody>
          <a:bodyPr wrap="square" rtlCol="0">
            <a:spAutoFit/>
          </a:bodyPr>
          <a:lstStyle/>
          <a:p>
            <a:r>
              <a:rPr lang="en-US" sz="1100" dirty="0"/>
              <a:t>To add or change colors, click on the chart area or plot area. Explore the options until you are satisfied with the graph’s appearance.</a:t>
            </a:r>
          </a:p>
        </p:txBody>
      </p:sp>
      <p:sp>
        <p:nvSpPr>
          <p:cNvPr id="17" name="Down Arrow 16"/>
          <p:cNvSpPr/>
          <p:nvPr/>
        </p:nvSpPr>
        <p:spPr>
          <a:xfrm>
            <a:off x="9080121" y="2142340"/>
            <a:ext cx="289418" cy="335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2" name="Footer Placeholder 1">
            <a:extLst>
              <a:ext uri="{FF2B5EF4-FFF2-40B4-BE49-F238E27FC236}">
                <a16:creationId xmlns:a16="http://schemas.microsoft.com/office/drawing/2014/main" id="{900A53FB-BC13-106E-6C58-3874DDFBEEC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171900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3" name="TextBox 2"/>
          <p:cNvSpPr txBox="1"/>
          <p:nvPr/>
        </p:nvSpPr>
        <p:spPr>
          <a:xfrm>
            <a:off x="5805535" y="1353464"/>
            <a:ext cx="4429135" cy="1107996"/>
          </a:xfrm>
          <a:prstGeom prst="rect">
            <a:avLst/>
          </a:prstGeom>
          <a:noFill/>
        </p:spPr>
        <p:txBody>
          <a:bodyPr wrap="square" rtlCol="0">
            <a:spAutoFit/>
          </a:bodyPr>
          <a:lstStyle/>
          <a:p>
            <a:pPr algn="ctr"/>
            <a:r>
              <a:rPr lang="en-US" sz="1100" b="1" dirty="0">
                <a:solidFill>
                  <a:schemeClr val="accent1">
                    <a:lumMod val="75000"/>
                  </a:schemeClr>
                </a:solidFill>
              </a:rPr>
              <a:t>TIME SERIES LABELS</a:t>
            </a:r>
          </a:p>
          <a:p>
            <a:endParaRPr lang="en-US" sz="1100" dirty="0"/>
          </a:p>
          <a:p>
            <a:r>
              <a:rPr lang="en-US" sz="1100" dirty="0"/>
              <a:t>On a line graph, Excel uses 1, 2, 3, … for the X-axis labels. To replace (e.g., with year labels) click on the graph and choose </a:t>
            </a:r>
            <a:r>
              <a:rPr lang="en-US" sz="1100" b="1" dirty="0">
                <a:solidFill>
                  <a:schemeClr val="accent1">
                    <a:lumMod val="75000"/>
                  </a:schemeClr>
                </a:solidFill>
              </a:rPr>
              <a:t>Select Data</a:t>
            </a:r>
            <a:r>
              <a:rPr lang="en-US" sz="1100" dirty="0"/>
              <a:t>. Click in the white space by </a:t>
            </a:r>
            <a:r>
              <a:rPr lang="en-US" sz="1100" b="1" dirty="0">
                <a:solidFill>
                  <a:schemeClr val="accent1">
                    <a:lumMod val="75000"/>
                  </a:schemeClr>
                </a:solidFill>
              </a:rPr>
              <a:t>Horizontal (Category) axis labels </a:t>
            </a:r>
            <a:r>
              <a:rPr lang="en-US" sz="1100" dirty="0"/>
              <a:t>and enter the cell range for the </a:t>
            </a:r>
            <a:r>
              <a:rPr lang="en-US" sz="1100" i="1" dirty="0"/>
              <a:t>X</a:t>
            </a:r>
            <a:r>
              <a:rPr lang="en-US" sz="1100" dirty="0"/>
              <a:t>-axis labels.</a:t>
            </a:r>
          </a:p>
        </p:txBody>
      </p:sp>
      <p:pic>
        <p:nvPicPr>
          <p:cNvPr id="10" name="Picture 9"/>
          <p:cNvPicPr>
            <a:picLocks noChangeAspect="1"/>
          </p:cNvPicPr>
          <p:nvPr/>
        </p:nvPicPr>
        <p:blipFill>
          <a:blip r:embed="rId2"/>
          <a:stretch>
            <a:fillRect/>
          </a:stretch>
        </p:blipFill>
        <p:spPr>
          <a:xfrm>
            <a:off x="6091583" y="2784346"/>
            <a:ext cx="2927289" cy="3005350"/>
          </a:xfrm>
          <a:prstGeom prst="rect">
            <a:avLst/>
          </a:prstGeom>
        </p:spPr>
      </p:pic>
      <p:pic>
        <p:nvPicPr>
          <p:cNvPr id="12" name="Picture 11"/>
          <p:cNvPicPr>
            <a:picLocks noChangeAspect="1"/>
          </p:cNvPicPr>
          <p:nvPr/>
        </p:nvPicPr>
        <p:blipFill>
          <a:blip r:embed="rId3"/>
          <a:stretch>
            <a:fillRect/>
          </a:stretch>
        </p:blipFill>
        <p:spPr>
          <a:xfrm>
            <a:off x="561908" y="1454095"/>
            <a:ext cx="4755735" cy="3229014"/>
          </a:xfrm>
          <a:prstGeom prst="rect">
            <a:avLst/>
          </a:prstGeom>
        </p:spPr>
      </p:pic>
      <p:cxnSp>
        <p:nvCxnSpPr>
          <p:cNvPr id="13" name="Straight Arrow Connector 12"/>
          <p:cNvCxnSpPr/>
          <p:nvPr/>
        </p:nvCxnSpPr>
        <p:spPr>
          <a:xfrm flipH="1">
            <a:off x="7603958" y="2469416"/>
            <a:ext cx="337567" cy="23624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sp>
        <p:nvSpPr>
          <p:cNvPr id="8" name="TextBox 7"/>
          <p:cNvSpPr txBox="1"/>
          <p:nvPr/>
        </p:nvSpPr>
        <p:spPr>
          <a:xfrm>
            <a:off x="940551" y="5271238"/>
            <a:ext cx="3240240" cy="461665"/>
          </a:xfrm>
          <a:prstGeom prst="rect">
            <a:avLst/>
          </a:prstGeom>
          <a:noFill/>
        </p:spPr>
        <p:txBody>
          <a:bodyPr wrap="square" rtlCol="0">
            <a:spAutoFit/>
          </a:bodyPr>
          <a:lstStyle/>
          <a:p>
            <a:r>
              <a:rPr lang="en-US" sz="1200" i="1" dirty="0">
                <a:solidFill>
                  <a:srgbClr val="C00000"/>
                </a:solidFill>
              </a:rPr>
              <a:t>Tip: </a:t>
            </a:r>
            <a:r>
              <a:rPr lang="en-US" sz="1200" dirty="0">
                <a:solidFill>
                  <a:schemeClr val="accent1">
                    <a:lumMod val="75000"/>
                  </a:schemeClr>
                </a:solidFill>
              </a:rPr>
              <a:t>Without clear time axis labels, others won’t know what you are talking about.</a:t>
            </a:r>
          </a:p>
        </p:txBody>
      </p:sp>
      <p:pic>
        <p:nvPicPr>
          <p:cNvPr id="9" name="Picture 8"/>
          <p:cNvPicPr>
            <a:picLocks noChangeAspect="1"/>
          </p:cNvPicPr>
          <p:nvPr/>
        </p:nvPicPr>
        <p:blipFill>
          <a:blip r:embed="rId5"/>
          <a:stretch>
            <a:fillRect/>
          </a:stretch>
        </p:blipFill>
        <p:spPr>
          <a:xfrm>
            <a:off x="2181568" y="4797189"/>
            <a:ext cx="758207" cy="458489"/>
          </a:xfrm>
          <a:prstGeom prst="rect">
            <a:avLst/>
          </a:prstGeom>
        </p:spPr>
      </p:pic>
      <p:sp>
        <p:nvSpPr>
          <p:cNvPr id="2" name="Footer Placeholder 1">
            <a:extLst>
              <a:ext uri="{FF2B5EF4-FFF2-40B4-BE49-F238E27FC236}">
                <a16:creationId xmlns:a16="http://schemas.microsoft.com/office/drawing/2014/main" id="{D5A7F83F-4170-308F-60B9-C9ABEC8665F7}"/>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707995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2354" y="2804063"/>
            <a:ext cx="4140406" cy="2487156"/>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1 – Basic charts</a:t>
            </a:r>
          </a:p>
        </p:txBody>
      </p:sp>
      <p:sp>
        <p:nvSpPr>
          <p:cNvPr id="3" name="TextBox 2"/>
          <p:cNvSpPr txBox="1"/>
          <p:nvPr/>
        </p:nvSpPr>
        <p:spPr>
          <a:xfrm>
            <a:off x="562062" y="1370434"/>
            <a:ext cx="4658428" cy="1277273"/>
          </a:xfrm>
          <a:prstGeom prst="rect">
            <a:avLst/>
          </a:prstGeom>
          <a:noFill/>
        </p:spPr>
        <p:txBody>
          <a:bodyPr wrap="square" rtlCol="0">
            <a:spAutoFit/>
          </a:bodyPr>
          <a:lstStyle/>
          <a:p>
            <a:pPr algn="ctr"/>
            <a:r>
              <a:rPr lang="en-US" sz="1100" b="1" dirty="0">
                <a:solidFill>
                  <a:schemeClr val="accent1">
                    <a:lumMod val="75000"/>
                  </a:schemeClr>
                </a:solidFill>
              </a:rPr>
              <a:t>TRENDLINE</a:t>
            </a:r>
          </a:p>
          <a:p>
            <a:pPr algn="ctr"/>
            <a:endParaRPr lang="en-US" sz="1100" b="1" dirty="0">
              <a:solidFill>
                <a:schemeClr val="accent1">
                  <a:lumMod val="75000"/>
                </a:schemeClr>
              </a:solidFill>
            </a:endParaRPr>
          </a:p>
          <a:p>
            <a:r>
              <a:rPr lang="en-US" sz="1100" dirty="0"/>
              <a:t>If you wish to add a fitted trend to a line chart, right-click on the data series and choose </a:t>
            </a:r>
            <a:r>
              <a:rPr lang="en-US" sz="1100" b="1" dirty="0">
                <a:solidFill>
                  <a:schemeClr val="accent1">
                    <a:lumMod val="75000"/>
                  </a:schemeClr>
                </a:solidFill>
              </a:rPr>
              <a:t>Add </a:t>
            </a:r>
            <a:r>
              <a:rPr lang="en-US" sz="1100" b="1" dirty="0" err="1">
                <a:solidFill>
                  <a:schemeClr val="accent1">
                    <a:lumMod val="75000"/>
                  </a:schemeClr>
                </a:solidFill>
              </a:rPr>
              <a:t>Trendline</a:t>
            </a:r>
            <a:r>
              <a:rPr lang="en-US" sz="1100" dirty="0"/>
              <a:t>. By default, the fitted trend will be linear. In this example, this fitted linear trend suggests that, on average, Porsche sales increased by 1099 units annually over this 15 year period.</a:t>
            </a:r>
          </a:p>
        </p:txBody>
      </p:sp>
      <p:pic>
        <p:nvPicPr>
          <p:cNvPr id="9" name="Picture 8"/>
          <p:cNvPicPr>
            <a:picLocks noChangeAspect="1"/>
          </p:cNvPicPr>
          <p:nvPr/>
        </p:nvPicPr>
        <p:blipFill>
          <a:blip r:embed="rId3"/>
          <a:stretch>
            <a:fillRect/>
          </a:stretch>
        </p:blipFill>
        <p:spPr>
          <a:xfrm>
            <a:off x="5712084" y="1370434"/>
            <a:ext cx="2273438" cy="4787770"/>
          </a:xfrm>
          <a:prstGeom prst="rect">
            <a:avLst/>
          </a:prstGeom>
        </p:spPr>
      </p:pic>
      <p:sp>
        <p:nvSpPr>
          <p:cNvPr id="10" name="TextBox 9"/>
          <p:cNvSpPr txBox="1"/>
          <p:nvPr/>
        </p:nvSpPr>
        <p:spPr>
          <a:xfrm>
            <a:off x="8346906" y="4764739"/>
            <a:ext cx="2299324" cy="1446550"/>
          </a:xfrm>
          <a:prstGeom prst="rect">
            <a:avLst/>
          </a:prstGeom>
          <a:noFill/>
        </p:spPr>
        <p:txBody>
          <a:bodyPr wrap="square" rtlCol="0">
            <a:spAutoFit/>
          </a:bodyPr>
          <a:lstStyle/>
          <a:p>
            <a:r>
              <a:rPr lang="en-US" sz="1100" dirty="0"/>
              <a:t>You can extrapolate the trend, as shown here for two periods (but there is no guarantee the forecast will be credible). </a:t>
            </a:r>
          </a:p>
          <a:p>
            <a:endParaRPr lang="en-US" sz="1100" dirty="0"/>
          </a:p>
          <a:p>
            <a:r>
              <a:rPr lang="en-US" sz="1100" dirty="0"/>
              <a:t>There is an option to display the trend equation and its </a:t>
            </a:r>
            <a:r>
              <a:rPr lang="en-US" sz="1100" i="1" dirty="0"/>
              <a:t>R</a:t>
            </a:r>
            <a:r>
              <a:rPr lang="en-US" sz="1100" baseline="30000" dirty="0"/>
              <a:t>2</a:t>
            </a:r>
            <a:r>
              <a:rPr lang="en-US" sz="1100" dirty="0"/>
              <a:t> statistic (a measure of “fit” of the line). </a:t>
            </a:r>
          </a:p>
        </p:txBody>
      </p:sp>
      <p:sp>
        <p:nvSpPr>
          <p:cNvPr id="11" name="TextBox 10"/>
          <p:cNvSpPr txBox="1"/>
          <p:nvPr/>
        </p:nvSpPr>
        <p:spPr>
          <a:xfrm>
            <a:off x="8341288" y="1349784"/>
            <a:ext cx="2569910" cy="1277273"/>
          </a:xfrm>
          <a:prstGeom prst="rect">
            <a:avLst/>
          </a:prstGeom>
          <a:noFill/>
        </p:spPr>
        <p:txBody>
          <a:bodyPr wrap="square" rtlCol="0">
            <a:spAutoFit/>
          </a:bodyPr>
          <a:lstStyle/>
          <a:p>
            <a:r>
              <a:rPr lang="en-US" sz="1100" dirty="0"/>
              <a:t>By default, the fitted trend will be linear. While a linear trend is easy to interpret, it may not be the best choice. </a:t>
            </a:r>
          </a:p>
          <a:p>
            <a:endParaRPr lang="en-US" sz="1100" dirty="0"/>
          </a:p>
          <a:p>
            <a:r>
              <a:rPr lang="en-US" sz="1100" dirty="0"/>
              <a:t>After fitting the trend, you can click on the trend line and pick a different trend (or edit line color, style, and thickness).</a:t>
            </a:r>
          </a:p>
        </p:txBody>
      </p:sp>
      <p:pic>
        <p:nvPicPr>
          <p:cNvPr id="12" name="Picture 11"/>
          <p:cNvPicPr>
            <a:picLocks noChangeAspect="1"/>
          </p:cNvPicPr>
          <p:nvPr/>
        </p:nvPicPr>
        <p:blipFill>
          <a:blip r:embed="rId4"/>
          <a:stretch>
            <a:fillRect/>
          </a:stretch>
        </p:blipFill>
        <p:spPr>
          <a:xfrm>
            <a:off x="8477116" y="3358826"/>
            <a:ext cx="1645251" cy="1182025"/>
          </a:xfrm>
          <a:prstGeom prst="rect">
            <a:avLst/>
          </a:prstGeom>
        </p:spPr>
      </p:pic>
      <p:cxnSp>
        <p:nvCxnSpPr>
          <p:cNvPr id="15" name="Straight Arrow Connector 14"/>
          <p:cNvCxnSpPr/>
          <p:nvPr/>
        </p:nvCxnSpPr>
        <p:spPr>
          <a:xfrm flipH="1">
            <a:off x="6652727" y="1950098"/>
            <a:ext cx="1623526" cy="6811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6067850" y="2491675"/>
            <a:ext cx="514224" cy="33550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5781558" y="4764740"/>
            <a:ext cx="2102809" cy="28312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5781558" y="5458232"/>
            <a:ext cx="1742337" cy="47964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endCxn id="18" idx="3"/>
          </p:cNvCxnSpPr>
          <p:nvPr/>
        </p:nvCxnSpPr>
        <p:spPr>
          <a:xfrm flipH="1" flipV="1">
            <a:off x="7884367" y="4906301"/>
            <a:ext cx="462538" cy="33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7259216" y="5654351"/>
            <a:ext cx="1087689" cy="61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Down Arrow 25"/>
          <p:cNvSpPr/>
          <p:nvPr/>
        </p:nvSpPr>
        <p:spPr>
          <a:xfrm>
            <a:off x="9155032" y="2955399"/>
            <a:ext cx="289418" cy="335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1184657" y="5616852"/>
            <a:ext cx="2995127" cy="430887"/>
          </a:xfrm>
          <a:prstGeom prst="rect">
            <a:avLst/>
          </a:prstGeom>
          <a:noFill/>
        </p:spPr>
        <p:txBody>
          <a:bodyPr wrap="square" rtlCol="0">
            <a:spAutoFit/>
          </a:bodyPr>
          <a:lstStyle/>
          <a:p>
            <a:r>
              <a:rPr lang="en-US" sz="1100" dirty="0"/>
              <a:t>If the displayed trend line equation is too small, you can enlarge its font (as was done here).</a:t>
            </a:r>
          </a:p>
        </p:txBody>
      </p:sp>
      <p:cxnSp>
        <p:nvCxnSpPr>
          <p:cNvPr id="30" name="Straight Arrow Connector 29"/>
          <p:cNvCxnSpPr/>
          <p:nvPr/>
        </p:nvCxnSpPr>
        <p:spPr>
          <a:xfrm flipV="1">
            <a:off x="2183363" y="3554963"/>
            <a:ext cx="765110" cy="209938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2056832" y="3247160"/>
            <a:ext cx="1515631" cy="38117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4" name="Footer Placeholder 3">
            <a:extLst>
              <a:ext uri="{FF2B5EF4-FFF2-40B4-BE49-F238E27FC236}">
                <a16:creationId xmlns:a16="http://schemas.microsoft.com/office/drawing/2014/main" id="{B8932B44-41B9-DC98-1A13-E149A32C3AEC}"/>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039279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2 - Histograms</a:t>
            </a:r>
          </a:p>
        </p:txBody>
      </p:sp>
      <p:sp>
        <p:nvSpPr>
          <p:cNvPr id="10" name="TextBox 1"/>
          <p:cNvSpPr txBox="1"/>
          <p:nvPr/>
        </p:nvSpPr>
        <p:spPr>
          <a:xfrm>
            <a:off x="2608050" y="3090408"/>
            <a:ext cx="3138964" cy="297350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b="1" dirty="0">
                <a:solidFill>
                  <a:schemeClr val="accent1">
                    <a:lumMod val="75000"/>
                  </a:schemeClr>
                </a:solidFill>
              </a:rPr>
              <a:t>HOW MANY BINS?</a:t>
            </a:r>
          </a:p>
          <a:p>
            <a:endParaRPr lang="en-US" sz="1100" i="1" dirty="0"/>
          </a:p>
          <a:p>
            <a:r>
              <a:rPr lang="en-US" sz="1100" i="1" dirty="0" err="1"/>
              <a:t>Sturges</a:t>
            </a:r>
            <a:r>
              <a:rPr lang="en-US" sz="1100" i="1" dirty="0"/>
              <a:t>' Rule </a:t>
            </a:r>
            <a:r>
              <a:rPr lang="en-US" sz="1100" dirty="0"/>
              <a:t>suggests that the ideal number of bins (</a:t>
            </a:r>
            <a:r>
              <a:rPr lang="en-US" sz="1100" i="1" dirty="0"/>
              <a:t>k</a:t>
            </a:r>
            <a:r>
              <a:rPr lang="en-US" sz="1100" dirty="0"/>
              <a:t>) for a histogram of </a:t>
            </a:r>
            <a:r>
              <a:rPr lang="en-US" sz="1100" i="1" dirty="0"/>
              <a:t>n</a:t>
            </a:r>
            <a:r>
              <a:rPr lang="en-US" sz="1100" dirty="0"/>
              <a:t> observations is:</a:t>
            </a:r>
          </a:p>
          <a:p>
            <a:endParaRPr lang="en-US" sz="1100" dirty="0"/>
          </a:p>
          <a:p>
            <a:pPr marL="0" marR="0" indent="0" defTabSz="914400" eaLnBrk="1" fontAlgn="auto" latinLnBrk="0" hangingPunct="1">
              <a:lnSpc>
                <a:spcPct val="100000"/>
              </a:lnSpc>
              <a:spcBef>
                <a:spcPts val="0"/>
              </a:spcBef>
              <a:spcAft>
                <a:spcPts val="0"/>
              </a:spcAft>
              <a:buClrTx/>
              <a:buSzTx/>
              <a:buFontTx/>
              <a:buNone/>
              <a:tabLst/>
              <a:defRPr/>
            </a:pPr>
            <a:r>
              <a:rPr lang="en-US" sz="1100" i="1" dirty="0"/>
              <a:t>k</a:t>
            </a:r>
            <a:r>
              <a:rPr lang="en-US" sz="1100" dirty="0"/>
              <a:t> = 1 + log</a:t>
            </a:r>
            <a:r>
              <a:rPr lang="en-US" sz="1100" baseline="-25000" dirty="0"/>
              <a:t>2</a:t>
            </a:r>
            <a:r>
              <a:rPr lang="en-US" sz="1100" dirty="0"/>
              <a:t>(</a:t>
            </a:r>
            <a:r>
              <a:rPr lang="en-US" sz="1100" i="1" dirty="0"/>
              <a:t>n</a:t>
            </a:r>
            <a:r>
              <a:rPr lang="en-US" sz="1100" dirty="0"/>
              <a:t>) or </a:t>
            </a:r>
            <a:r>
              <a:rPr lang="en-US" sz="1100" i="1" dirty="0">
                <a:solidFill>
                  <a:schemeClr val="dk1"/>
                </a:solidFill>
                <a:effectLst/>
                <a:latin typeface="+mn-lt"/>
                <a:ea typeface="+mn-ea"/>
                <a:cs typeface="+mn-cs"/>
              </a:rPr>
              <a:t>k</a:t>
            </a:r>
            <a:r>
              <a:rPr lang="en-US" sz="1100" dirty="0">
                <a:solidFill>
                  <a:schemeClr val="dk1"/>
                </a:solidFill>
                <a:effectLst/>
                <a:latin typeface="+mn-lt"/>
                <a:ea typeface="+mn-ea"/>
                <a:cs typeface="+mn-cs"/>
              </a:rPr>
              <a:t> = 1 + 3.3 log</a:t>
            </a:r>
            <a:r>
              <a:rPr lang="en-US" sz="1100" baseline="-25000" dirty="0">
                <a:solidFill>
                  <a:schemeClr val="dk1"/>
                </a:solidFill>
                <a:effectLst/>
                <a:latin typeface="+mn-lt"/>
                <a:ea typeface="+mn-ea"/>
                <a:cs typeface="+mn-cs"/>
              </a:rPr>
              <a:t>10</a:t>
            </a:r>
            <a:r>
              <a:rPr lang="en-US" sz="1100" dirty="0">
                <a:solidFill>
                  <a:schemeClr val="dk1"/>
                </a:solidFill>
                <a:effectLst/>
                <a:latin typeface="+mn-lt"/>
                <a:ea typeface="+mn-ea"/>
                <a:cs typeface="+mn-cs"/>
              </a:rPr>
              <a:t>(</a:t>
            </a:r>
            <a:r>
              <a:rPr lang="en-US" sz="1100" i="1" dirty="0">
                <a:solidFill>
                  <a:schemeClr val="dk1"/>
                </a:solidFill>
                <a:effectLst/>
                <a:latin typeface="+mn-lt"/>
                <a:ea typeface="+mn-ea"/>
                <a:cs typeface="+mn-cs"/>
              </a:rPr>
              <a:t>n</a:t>
            </a:r>
            <a:r>
              <a:rPr lang="en-US" sz="1100" dirty="0">
                <a:solidFill>
                  <a:schemeClr val="dk1"/>
                </a:solidFill>
                <a:effectLst/>
                <a:latin typeface="+mn-lt"/>
                <a:ea typeface="+mn-ea"/>
                <a:cs typeface="+mn-cs"/>
              </a:rPr>
              <a:t>)</a:t>
            </a:r>
          </a:p>
          <a:p>
            <a:pPr marL="0" marR="0" indent="0" defTabSz="914400" eaLnBrk="1" fontAlgn="auto" latinLnBrk="0" hangingPunct="1">
              <a:lnSpc>
                <a:spcPct val="100000"/>
              </a:lnSpc>
              <a:spcBef>
                <a:spcPts val="0"/>
              </a:spcBef>
              <a:spcAft>
                <a:spcPts val="0"/>
              </a:spcAft>
              <a:buClrTx/>
              <a:buSzTx/>
              <a:buFontTx/>
              <a:buNone/>
              <a:tabLst/>
              <a:defRPr/>
            </a:pPr>
            <a:endParaRPr lang="en-US" sz="1100" dirty="0">
              <a:solidFill>
                <a:schemeClr val="dk1"/>
              </a:solidFill>
              <a:effectLst/>
              <a:latin typeface="+mn-lt"/>
              <a:ea typeface="+mn-ea"/>
              <a:cs typeface="+mn-cs"/>
            </a:endParaRPr>
          </a:p>
          <a:p>
            <a:pPr marL="0" marR="0" indent="0" defTabSz="914400" eaLnBrk="1" fontAlgn="auto" latinLnBrk="0" hangingPunct="1">
              <a:lnSpc>
                <a:spcPct val="100000"/>
              </a:lnSpc>
              <a:spcBef>
                <a:spcPts val="0"/>
              </a:spcBef>
              <a:spcAft>
                <a:spcPts val="0"/>
              </a:spcAft>
              <a:buClrTx/>
              <a:buSzTx/>
              <a:buFontTx/>
              <a:buNone/>
              <a:tabLst/>
              <a:defRPr/>
            </a:pPr>
            <a:r>
              <a:rPr lang="en-US" sz="1100" dirty="0">
                <a:solidFill>
                  <a:schemeClr val="dk1"/>
                </a:solidFill>
                <a:effectLst/>
                <a:latin typeface="+mn-lt"/>
                <a:ea typeface="+mn-ea"/>
                <a:cs typeface="+mn-cs"/>
              </a:rPr>
              <a:t>For </a:t>
            </a:r>
            <a:r>
              <a:rPr lang="en-US" sz="1100" i="1" dirty="0">
                <a:solidFill>
                  <a:schemeClr val="dk1"/>
                </a:solidFill>
                <a:effectLst/>
                <a:latin typeface="+mn-lt"/>
                <a:ea typeface="+mn-ea"/>
                <a:cs typeface="+mn-cs"/>
              </a:rPr>
              <a:t>n</a:t>
            </a:r>
            <a:r>
              <a:rPr lang="en-US" sz="1100" dirty="0">
                <a:solidFill>
                  <a:schemeClr val="dk1"/>
                </a:solidFill>
                <a:effectLst/>
                <a:latin typeface="+mn-lt"/>
                <a:ea typeface="+mn-ea"/>
                <a:cs typeface="+mn-cs"/>
              </a:rPr>
              <a:t> = 117 observations,</a:t>
            </a:r>
            <a:r>
              <a:rPr lang="en-US" sz="1100" baseline="0" dirty="0">
                <a:solidFill>
                  <a:schemeClr val="dk1"/>
                </a:solidFill>
                <a:effectLst/>
                <a:latin typeface="+mn-lt"/>
                <a:ea typeface="+mn-ea"/>
                <a:cs typeface="+mn-cs"/>
              </a:rPr>
              <a:t> </a:t>
            </a:r>
            <a:r>
              <a:rPr lang="en-US" sz="1100" baseline="0" dirty="0" err="1">
                <a:solidFill>
                  <a:schemeClr val="dk1"/>
                </a:solidFill>
                <a:effectLst/>
                <a:latin typeface="+mn-lt"/>
                <a:ea typeface="+mn-ea"/>
                <a:cs typeface="+mn-cs"/>
              </a:rPr>
              <a:t>Sturges</a:t>
            </a:r>
            <a:r>
              <a:rPr lang="en-US" sz="1100" baseline="0" dirty="0">
                <a:solidFill>
                  <a:schemeClr val="dk1"/>
                </a:solidFill>
                <a:effectLst/>
                <a:latin typeface="+mn-lt"/>
                <a:ea typeface="+mn-ea"/>
                <a:cs typeface="+mn-cs"/>
              </a:rPr>
              <a:t>' Rule suggests:</a:t>
            </a:r>
          </a:p>
          <a:p>
            <a:pPr marL="0" marR="0" indent="0" defTabSz="914400" eaLnBrk="1" fontAlgn="auto" latinLnBrk="0" hangingPunct="1">
              <a:lnSpc>
                <a:spcPct val="100000"/>
              </a:lnSpc>
              <a:spcBef>
                <a:spcPts val="0"/>
              </a:spcBef>
              <a:spcAft>
                <a:spcPts val="0"/>
              </a:spcAft>
              <a:buClrTx/>
              <a:buSzTx/>
              <a:buFontTx/>
              <a:buNone/>
              <a:tabLst/>
              <a:defRPr/>
            </a:pPr>
            <a:endParaRPr lang="en-US" sz="1100" baseline="0" dirty="0">
              <a:solidFill>
                <a:schemeClr val="dk1"/>
              </a:solidFill>
              <a:effectLst/>
              <a:latin typeface="+mn-lt"/>
              <a:ea typeface="+mn-ea"/>
              <a:cs typeface="+mn-cs"/>
            </a:endParaRPr>
          </a:p>
          <a:p>
            <a:pPr marL="0" marR="0" indent="0" defTabSz="914400" eaLnBrk="1" fontAlgn="auto" latinLnBrk="0" hangingPunct="1">
              <a:lnSpc>
                <a:spcPct val="100000"/>
              </a:lnSpc>
              <a:spcBef>
                <a:spcPts val="0"/>
              </a:spcBef>
              <a:spcAft>
                <a:spcPts val="0"/>
              </a:spcAft>
              <a:buClrTx/>
              <a:buSzTx/>
              <a:buFontTx/>
              <a:buNone/>
              <a:tabLst/>
              <a:defRPr/>
            </a:pPr>
            <a:r>
              <a:rPr lang="en-US" sz="1100" i="1" baseline="0" dirty="0">
                <a:solidFill>
                  <a:schemeClr val="dk1"/>
                </a:solidFill>
                <a:effectLst/>
                <a:latin typeface="+mn-lt"/>
                <a:ea typeface="+mn-ea"/>
                <a:cs typeface="+mn-cs"/>
              </a:rPr>
              <a:t>k</a:t>
            </a:r>
            <a:r>
              <a:rPr lang="en-US" sz="1100" baseline="0" dirty="0">
                <a:solidFill>
                  <a:schemeClr val="dk1"/>
                </a:solidFill>
                <a:effectLst/>
                <a:latin typeface="+mn-lt"/>
                <a:ea typeface="+mn-ea"/>
                <a:cs typeface="+mn-cs"/>
              </a:rPr>
              <a:t> = 1 + 3.3 log</a:t>
            </a:r>
            <a:r>
              <a:rPr lang="en-US" sz="1100" baseline="-25000" dirty="0">
                <a:solidFill>
                  <a:schemeClr val="dk1"/>
                </a:solidFill>
                <a:effectLst/>
                <a:latin typeface="+mn-lt"/>
                <a:ea typeface="+mn-ea"/>
                <a:cs typeface="+mn-cs"/>
              </a:rPr>
              <a:t>10</a:t>
            </a:r>
            <a:r>
              <a:rPr lang="en-US" sz="1100" baseline="0" dirty="0">
                <a:solidFill>
                  <a:schemeClr val="dk1"/>
                </a:solidFill>
                <a:effectLst/>
                <a:latin typeface="+mn-lt"/>
                <a:ea typeface="+mn-ea"/>
                <a:cs typeface="+mn-cs"/>
              </a:rPr>
              <a:t>(117) = 1 + 3.3 (2.068) = 7.87 or 8 bins.</a:t>
            </a:r>
          </a:p>
          <a:p>
            <a:pPr marL="0" marR="0" indent="0" defTabSz="914400" eaLnBrk="1" fontAlgn="auto" latinLnBrk="0" hangingPunct="1">
              <a:lnSpc>
                <a:spcPct val="100000"/>
              </a:lnSpc>
              <a:spcBef>
                <a:spcPts val="0"/>
              </a:spcBef>
              <a:spcAft>
                <a:spcPts val="0"/>
              </a:spcAft>
              <a:buClrTx/>
              <a:buSzTx/>
              <a:buFontTx/>
              <a:buNone/>
              <a:tabLst/>
              <a:defRPr/>
            </a:pPr>
            <a:endParaRPr lang="en-US" dirty="0"/>
          </a:p>
          <a:p>
            <a:pPr marL="0" marR="0" indent="0" defTabSz="914400" eaLnBrk="1" fontAlgn="auto" latinLnBrk="0" hangingPunct="1">
              <a:lnSpc>
                <a:spcPct val="100000"/>
              </a:lnSpc>
              <a:spcBef>
                <a:spcPts val="0"/>
              </a:spcBef>
              <a:spcAft>
                <a:spcPts val="0"/>
              </a:spcAft>
              <a:buClrTx/>
              <a:buSzTx/>
              <a:buFontTx/>
              <a:buNone/>
              <a:tabLst/>
              <a:defRPr/>
            </a:pPr>
            <a:r>
              <a:rPr lang="en-US" dirty="0"/>
              <a:t>This is only a suggestion. Define any bins you wish to get </a:t>
            </a:r>
            <a:r>
              <a:rPr lang="en-US" sz="1100" baseline="0" dirty="0">
                <a:solidFill>
                  <a:schemeClr val="dk1"/>
                </a:solidFill>
                <a:effectLst/>
                <a:latin typeface="+mn-lt"/>
                <a:ea typeface="+mn-ea"/>
                <a:cs typeface="+mn-cs"/>
              </a:rPr>
              <a:t>“nice” bin limits.</a:t>
            </a:r>
            <a:endParaRPr lang="en-US" sz="1100" dirty="0"/>
          </a:p>
        </p:txBody>
      </p:sp>
      <p:pic>
        <p:nvPicPr>
          <p:cNvPr id="11" name="Picture 10"/>
          <p:cNvPicPr>
            <a:picLocks noChangeAspect="1"/>
          </p:cNvPicPr>
          <p:nvPr/>
        </p:nvPicPr>
        <p:blipFill>
          <a:blip r:embed="rId2"/>
          <a:stretch>
            <a:fillRect/>
          </a:stretch>
        </p:blipFill>
        <p:spPr>
          <a:xfrm>
            <a:off x="8836592" y="4224404"/>
            <a:ext cx="882634" cy="1925973"/>
          </a:xfrm>
          <a:prstGeom prst="rect">
            <a:avLst/>
          </a:prstGeom>
        </p:spPr>
      </p:pic>
      <p:pic>
        <p:nvPicPr>
          <p:cNvPr id="12" name="Picture 11"/>
          <p:cNvPicPr>
            <a:picLocks noChangeAspect="1"/>
          </p:cNvPicPr>
          <p:nvPr/>
        </p:nvPicPr>
        <p:blipFill>
          <a:blip r:embed="rId3"/>
          <a:stretch>
            <a:fillRect/>
          </a:stretch>
        </p:blipFill>
        <p:spPr>
          <a:xfrm>
            <a:off x="7751106" y="4238385"/>
            <a:ext cx="863796" cy="1309125"/>
          </a:xfrm>
          <a:prstGeom prst="rect">
            <a:avLst/>
          </a:prstGeom>
        </p:spPr>
      </p:pic>
      <p:pic>
        <p:nvPicPr>
          <p:cNvPr id="13" name="Picture 12"/>
          <p:cNvPicPr>
            <a:picLocks noChangeAspect="1"/>
          </p:cNvPicPr>
          <p:nvPr/>
        </p:nvPicPr>
        <p:blipFill>
          <a:blip r:embed="rId4"/>
          <a:stretch>
            <a:fillRect/>
          </a:stretch>
        </p:blipFill>
        <p:spPr>
          <a:xfrm>
            <a:off x="6530085" y="4226602"/>
            <a:ext cx="909014" cy="1226185"/>
          </a:xfrm>
          <a:prstGeom prst="rect">
            <a:avLst/>
          </a:prstGeom>
        </p:spPr>
      </p:pic>
      <p:sp>
        <p:nvSpPr>
          <p:cNvPr id="15" name="TextBox 14"/>
          <p:cNvSpPr txBox="1"/>
          <p:nvPr/>
        </p:nvSpPr>
        <p:spPr>
          <a:xfrm>
            <a:off x="454320" y="2470534"/>
            <a:ext cx="5291657" cy="430887"/>
          </a:xfrm>
          <a:prstGeom prst="rect">
            <a:avLst/>
          </a:prstGeom>
          <a:noFill/>
        </p:spPr>
        <p:txBody>
          <a:bodyPr wrap="square" rtlCol="0">
            <a:spAutoFit/>
          </a:bodyPr>
          <a:lstStyle/>
          <a:p>
            <a:r>
              <a:rPr lang="en-US" sz="1100" i="1" dirty="0">
                <a:solidFill>
                  <a:srgbClr val="C00000"/>
                </a:solidFill>
              </a:rPr>
              <a:t>Example:</a:t>
            </a:r>
            <a:r>
              <a:rPr lang="en-US" sz="1100" dirty="0"/>
              <a:t> caffeine content of </a:t>
            </a:r>
            <a:r>
              <a:rPr lang="en-US" sz="1100" i="1" dirty="0"/>
              <a:t>n</a:t>
            </a:r>
            <a:r>
              <a:rPr lang="en-US" sz="1100" dirty="0"/>
              <a:t> = 117 soft drinks. We examine the data and discover that its range is from 0.0 to 21.0. Our bins must cover this range.</a:t>
            </a:r>
          </a:p>
        </p:txBody>
      </p:sp>
      <p:sp>
        <p:nvSpPr>
          <p:cNvPr id="16" name="TextBox 15"/>
          <p:cNvSpPr txBox="1"/>
          <p:nvPr/>
        </p:nvSpPr>
        <p:spPr>
          <a:xfrm>
            <a:off x="489803" y="1291204"/>
            <a:ext cx="4212624" cy="938719"/>
          </a:xfrm>
          <a:prstGeom prst="rect">
            <a:avLst/>
          </a:prstGeom>
          <a:noFill/>
        </p:spPr>
        <p:txBody>
          <a:bodyPr wrap="square" rtlCol="0">
            <a:spAutoFit/>
          </a:bodyPr>
          <a:lstStyle/>
          <a:p>
            <a:pPr algn="ctr"/>
            <a:r>
              <a:rPr lang="en-US" sz="1100" b="1" dirty="0">
                <a:solidFill>
                  <a:schemeClr val="accent1">
                    <a:lumMod val="75000"/>
                  </a:schemeClr>
                </a:solidFill>
              </a:rPr>
              <a:t>HISTOGRAM</a:t>
            </a:r>
          </a:p>
          <a:p>
            <a:endParaRPr lang="en-US" sz="1100" dirty="0"/>
          </a:p>
          <a:p>
            <a:r>
              <a:rPr lang="en-US" sz="1100" dirty="0"/>
              <a:t>A </a:t>
            </a:r>
            <a:r>
              <a:rPr lang="en-US" sz="1100" dirty="0">
                <a:solidFill>
                  <a:schemeClr val="accent1">
                    <a:lumMod val="75000"/>
                  </a:schemeClr>
                </a:solidFill>
              </a:rPr>
              <a:t>histogram</a:t>
            </a:r>
            <a:r>
              <a:rPr lang="en-US" sz="1100" dirty="0"/>
              <a:t> is a column chart whose </a:t>
            </a:r>
            <a:r>
              <a:rPr lang="en-US" sz="1100" i="1" dirty="0"/>
              <a:t>Y</a:t>
            </a:r>
            <a:r>
              <a:rPr lang="en-US" sz="1100" dirty="0"/>
              <a:t>-axis shows the number of data values (or a percentage) within each bin of a frequency distribution and whose </a:t>
            </a:r>
            <a:r>
              <a:rPr lang="en-US" sz="1100" i="1" dirty="0"/>
              <a:t>X</a:t>
            </a:r>
            <a:r>
              <a:rPr lang="en-US" sz="1100" dirty="0"/>
              <a:t>-axis ticks show the end points of each bin. </a:t>
            </a:r>
          </a:p>
        </p:txBody>
      </p:sp>
      <p:pic>
        <p:nvPicPr>
          <p:cNvPr id="18" name="Picture 17"/>
          <p:cNvPicPr>
            <a:picLocks noChangeAspect="1"/>
          </p:cNvPicPr>
          <p:nvPr/>
        </p:nvPicPr>
        <p:blipFill>
          <a:blip r:embed="rId5"/>
          <a:stretch>
            <a:fillRect/>
          </a:stretch>
        </p:blipFill>
        <p:spPr>
          <a:xfrm>
            <a:off x="7676737" y="1372047"/>
            <a:ext cx="3546893" cy="2144176"/>
          </a:xfrm>
          <a:prstGeom prst="rect">
            <a:avLst/>
          </a:prstGeom>
        </p:spPr>
      </p:pic>
      <p:sp>
        <p:nvSpPr>
          <p:cNvPr id="19" name="TextBox 18"/>
          <p:cNvSpPr txBox="1"/>
          <p:nvPr/>
        </p:nvSpPr>
        <p:spPr>
          <a:xfrm>
            <a:off x="5905501" y="2806156"/>
            <a:ext cx="1547268" cy="1200329"/>
          </a:xfrm>
          <a:prstGeom prst="rect">
            <a:avLst/>
          </a:prstGeom>
          <a:noFill/>
        </p:spPr>
        <p:txBody>
          <a:bodyPr wrap="square" rtlCol="0">
            <a:spAutoFit/>
          </a:bodyPr>
          <a:lstStyle/>
          <a:p>
            <a:r>
              <a:rPr lang="en-US" sz="1200" i="1" dirty="0">
                <a:solidFill>
                  <a:srgbClr val="C00000"/>
                </a:solidFill>
              </a:rPr>
              <a:t>Note: </a:t>
            </a:r>
            <a:r>
              <a:rPr lang="en-US" sz="1200" dirty="0">
                <a:solidFill>
                  <a:schemeClr val="accent1">
                    <a:lumMod val="75000"/>
                  </a:schemeClr>
                </a:solidFill>
              </a:rPr>
              <a:t>Excel puts its </a:t>
            </a:r>
            <a:r>
              <a:rPr lang="en-US" sz="1200" i="1" dirty="0">
                <a:solidFill>
                  <a:schemeClr val="accent1">
                    <a:lumMod val="75000"/>
                  </a:schemeClr>
                </a:solidFill>
              </a:rPr>
              <a:t>X</a:t>
            </a:r>
            <a:r>
              <a:rPr lang="en-US" sz="1200" dirty="0">
                <a:solidFill>
                  <a:schemeClr val="accent1">
                    <a:lumMod val="75000"/>
                  </a:schemeClr>
                </a:solidFill>
              </a:rPr>
              <a:t>-axis labels in the middle of each column, so they do not align with the bin limits.</a:t>
            </a:r>
          </a:p>
        </p:txBody>
      </p:sp>
      <p:sp>
        <p:nvSpPr>
          <p:cNvPr id="20" name="Down Arrow 19"/>
          <p:cNvSpPr/>
          <p:nvPr/>
        </p:nvSpPr>
        <p:spPr>
          <a:xfrm>
            <a:off x="1116473" y="3105805"/>
            <a:ext cx="304800" cy="2630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a:off x="5905500" y="4695825"/>
            <a:ext cx="304800" cy="2648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7725687" y="4224405"/>
            <a:ext cx="889215" cy="137438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p:cNvSpPr/>
          <p:nvPr/>
        </p:nvSpPr>
        <p:spPr>
          <a:xfrm>
            <a:off x="8116856" y="3745455"/>
            <a:ext cx="323850" cy="30360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p:nvPr/>
        </p:nvCxnSpPr>
        <p:spPr>
          <a:xfrm>
            <a:off x="7487985" y="3486151"/>
            <a:ext cx="790796" cy="85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8364346" y="3226971"/>
            <a:ext cx="250556" cy="2095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 descr="C:\Users\doane\AppData\Local\Microsoft\Windows\Temporary Internet Files\Content.IE5\YJVGYIN5\MP900439244[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38350" y="2305290"/>
            <a:ext cx="711395" cy="47426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10592709" y="6444395"/>
            <a:ext cx="1298962" cy="276999"/>
          </a:xfrm>
          <a:prstGeom prst="rect">
            <a:avLst/>
          </a:prstGeom>
          <a:noFill/>
        </p:spPr>
        <p:txBody>
          <a:bodyPr wrap="square" rtlCol="0">
            <a:spAutoFit/>
          </a:bodyPr>
          <a:lstStyle/>
          <a:p>
            <a:r>
              <a:rPr lang="en-US" sz="1200" i="1" dirty="0">
                <a:hlinkClick r:id="rId7" action="ppaction://hlinksldjump"/>
              </a:rPr>
              <a:t>Back to top menu</a:t>
            </a:r>
            <a:endParaRPr lang="en-US" sz="1200" i="1" dirty="0"/>
          </a:p>
        </p:txBody>
      </p:sp>
      <p:pic>
        <p:nvPicPr>
          <p:cNvPr id="2" name="Picture 1"/>
          <p:cNvPicPr>
            <a:picLocks noChangeAspect="1"/>
          </p:cNvPicPr>
          <p:nvPr/>
        </p:nvPicPr>
        <p:blipFill>
          <a:blip r:embed="rId8"/>
          <a:stretch>
            <a:fillRect/>
          </a:stretch>
        </p:blipFill>
        <p:spPr>
          <a:xfrm>
            <a:off x="600878" y="3583951"/>
            <a:ext cx="1687314" cy="2175826"/>
          </a:xfrm>
          <a:prstGeom prst="rect">
            <a:avLst/>
          </a:prstGeom>
        </p:spPr>
      </p:pic>
      <p:sp>
        <p:nvSpPr>
          <p:cNvPr id="3" name="Footer Placeholder 2">
            <a:extLst>
              <a:ext uri="{FF2B5EF4-FFF2-40B4-BE49-F238E27FC236}">
                <a16:creationId xmlns:a16="http://schemas.microsoft.com/office/drawing/2014/main" id="{75C34AEA-9E6D-95B0-D00D-6AAB4D5972FA}"/>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554667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2 - histograms</a:t>
            </a:r>
          </a:p>
        </p:txBody>
      </p:sp>
      <p:sp>
        <p:nvSpPr>
          <p:cNvPr id="7" name="TextBox 6"/>
          <p:cNvSpPr txBox="1"/>
          <p:nvPr/>
        </p:nvSpPr>
        <p:spPr>
          <a:xfrm>
            <a:off x="3147503" y="1241707"/>
            <a:ext cx="4442676" cy="769441"/>
          </a:xfrm>
          <a:prstGeom prst="rect">
            <a:avLst/>
          </a:prstGeom>
          <a:noFill/>
        </p:spPr>
        <p:txBody>
          <a:bodyPr wrap="square" rtlCol="0">
            <a:spAutoFit/>
          </a:bodyPr>
          <a:lstStyle/>
          <a:p>
            <a:pPr algn="ctr"/>
            <a:r>
              <a:rPr lang="en-US" sz="1100" b="1" dirty="0">
                <a:solidFill>
                  <a:schemeClr val="accent1">
                    <a:lumMod val="75000"/>
                  </a:schemeClr>
                </a:solidFill>
              </a:rPr>
              <a:t>THREE METHODS</a:t>
            </a:r>
          </a:p>
          <a:p>
            <a:endParaRPr lang="en-US" sz="1000" dirty="0">
              <a:solidFill>
                <a:schemeClr val="accent1">
                  <a:lumMod val="75000"/>
                </a:schemeClr>
              </a:solidFill>
            </a:endParaRPr>
          </a:p>
          <a:p>
            <a:r>
              <a:rPr lang="en-US" sz="1100" dirty="0"/>
              <a:t>There are three ways to make a histogram in Excel. The final result will look about the same after some editing.</a:t>
            </a:r>
          </a:p>
        </p:txBody>
      </p:sp>
      <p:graphicFrame>
        <p:nvGraphicFramePr>
          <p:cNvPr id="9" name="Table 8"/>
          <p:cNvGraphicFramePr>
            <a:graphicFrameLocks noGrp="1"/>
          </p:cNvGraphicFramePr>
          <p:nvPr>
            <p:extLst>
              <p:ext uri="{D42A27DB-BD31-4B8C-83A1-F6EECF244321}">
                <p14:modId xmlns:p14="http://schemas.microsoft.com/office/powerpoint/2010/main" val="2371179402"/>
              </p:ext>
            </p:extLst>
          </p:nvPr>
        </p:nvGraphicFramePr>
        <p:xfrm>
          <a:off x="1304842" y="2160122"/>
          <a:ext cx="8555596" cy="1539240"/>
        </p:xfrm>
        <a:graphic>
          <a:graphicData uri="http://schemas.openxmlformats.org/drawingml/2006/table">
            <a:tbl>
              <a:tblPr firstRow="1" bandRow="1">
                <a:tableStyleId>{5C22544A-7EE6-4342-B048-85BDC9FD1C3A}</a:tableStyleId>
              </a:tblPr>
              <a:tblGrid>
                <a:gridCol w="3450915">
                  <a:extLst>
                    <a:ext uri="{9D8B030D-6E8A-4147-A177-3AD203B41FA5}">
                      <a16:colId xmlns:a16="http://schemas.microsoft.com/office/drawing/2014/main" val="1825880440"/>
                    </a:ext>
                  </a:extLst>
                </a:gridCol>
                <a:gridCol w="2252816">
                  <a:extLst>
                    <a:ext uri="{9D8B030D-6E8A-4147-A177-3AD203B41FA5}">
                      <a16:colId xmlns:a16="http://schemas.microsoft.com/office/drawing/2014/main" val="423461206"/>
                    </a:ext>
                  </a:extLst>
                </a:gridCol>
                <a:gridCol w="2851865">
                  <a:extLst>
                    <a:ext uri="{9D8B030D-6E8A-4147-A177-3AD203B41FA5}">
                      <a16:colId xmlns:a16="http://schemas.microsoft.com/office/drawing/2014/main" val="979041183"/>
                    </a:ext>
                  </a:extLst>
                </a:gridCol>
              </a:tblGrid>
              <a:tr h="254411">
                <a:tc>
                  <a:txBody>
                    <a:bodyPr/>
                    <a:lstStyle/>
                    <a:p>
                      <a:r>
                        <a:rPr lang="en-US" sz="1100" dirty="0">
                          <a:solidFill>
                            <a:schemeClr val="accent1">
                              <a:lumMod val="75000"/>
                            </a:schemeClr>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solidFill>
                            <a:schemeClr val="accent1">
                              <a:lumMod val="75000"/>
                            </a:schemeClr>
                          </a:solidFill>
                        </a:rPr>
                        <a:t>Pro</a:t>
                      </a:r>
                      <a:endParaRPr lang="en-US" sz="1100"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solidFill>
                            <a:schemeClr val="accent1">
                              <a:lumMod val="75000"/>
                            </a:schemeClr>
                          </a:solidFill>
                        </a:rPr>
                        <a:t>Con</a:t>
                      </a:r>
                      <a:endParaRPr lang="en-US" sz="1100"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60601914"/>
                  </a:ext>
                </a:extLst>
              </a:tr>
              <a:tr h="370840">
                <a:tc>
                  <a:txBody>
                    <a:bodyPr/>
                    <a:lstStyle/>
                    <a:p>
                      <a:r>
                        <a:rPr lang="en-US" sz="1100" b="1">
                          <a:solidFill>
                            <a:schemeClr val="accent1">
                              <a:lumMod val="75000"/>
                            </a:schemeClr>
                          </a:solidFill>
                        </a:rPr>
                        <a:t>Method A. </a:t>
                      </a:r>
                      <a:r>
                        <a:rPr lang="en-US" sz="1100" b="0">
                          <a:solidFill>
                            <a:schemeClr val="dk1"/>
                          </a:solidFill>
                        </a:rPr>
                        <a:t>Use</a:t>
                      </a:r>
                      <a:r>
                        <a:rPr lang="en-US" sz="1100" b="0" baseline="0">
                          <a:solidFill>
                            <a:schemeClr val="dk1"/>
                          </a:solidFill>
                        </a:rPr>
                        <a:t> the Insert tab to insert a so-called “statistics chart”</a:t>
                      </a:r>
                      <a:r>
                        <a:rPr lang="en-US" sz="1100"/>
                        <a:t> with default </a:t>
                      </a:r>
                      <a:r>
                        <a:rPr lang="en-US" sz="1100" baseline="0"/>
                        <a:t>bins</a:t>
                      </a:r>
                      <a:r>
                        <a:rPr lang="en-US" sz="1100"/>
                        <a:t>.</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Quick and easy</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dirty="0"/>
                        <a:t>Weird bin limits. Requires editing.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81852"/>
                  </a:ext>
                </a:extLst>
              </a:tr>
              <a:tr h="370840">
                <a:tc>
                  <a:txBody>
                    <a:bodyPr/>
                    <a:lstStyle/>
                    <a:p>
                      <a:r>
                        <a:rPr lang="en-US" sz="1100" b="1">
                          <a:solidFill>
                            <a:schemeClr val="accent1">
                              <a:lumMod val="75000"/>
                            </a:schemeClr>
                          </a:solidFill>
                        </a:rPr>
                        <a:t>Method B. </a:t>
                      </a:r>
                      <a:r>
                        <a:rPr lang="en-US" sz="1100"/>
                        <a:t>Use the </a:t>
                      </a:r>
                      <a:r>
                        <a:rPr lang="en-US" sz="1100">
                          <a:solidFill>
                            <a:srgbClr val="C00000"/>
                          </a:solidFill>
                        </a:rPr>
                        <a:t>Data Analysis </a:t>
                      </a:r>
                      <a:r>
                        <a:rPr lang="en-US" sz="1100"/>
                        <a:t>tool</a:t>
                      </a:r>
                      <a:r>
                        <a:rPr lang="en-US" sz="1100" baseline="0"/>
                        <a:t> menu</a:t>
                      </a:r>
                      <a:r>
                        <a:rPr lang="en-US" sz="1100"/>
                        <a:t> with bins that you define</a:t>
                      </a:r>
                      <a:r>
                        <a:rPr lang="en-US" sz="1100" baseline="0"/>
                        <a:t> (or automatic bins)</a:t>
                      </a:r>
                      <a:r>
                        <a:rPr lang="en-US" sz="1100"/>
                        <a:t>.</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Quick and easy. Allows user-defined bins.</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dirty="0"/>
                        <a:t>Requires editing. Bin labels are centered instead of at </a:t>
                      </a:r>
                      <a:r>
                        <a:rPr lang="en-US" sz="1100" dirty="0" err="1"/>
                        <a:t>cutpoints</a:t>
                      </a:r>
                      <a:r>
                        <a:rPr lang="en-US" sz="11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7715379"/>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b="1" kern="1200">
                          <a:solidFill>
                            <a:schemeClr val="accent1">
                              <a:lumMod val="75000"/>
                            </a:schemeClr>
                          </a:solidFill>
                          <a:latin typeface="+mn-lt"/>
                          <a:ea typeface="+mn-ea"/>
                          <a:cs typeface="+mn-cs"/>
                        </a:rPr>
                        <a:t>Method C. </a:t>
                      </a:r>
                      <a:r>
                        <a:rPr lang="en-US" sz="1100"/>
                        <a:t>Make a bar chart using the </a:t>
                      </a:r>
                      <a:r>
                        <a:rPr lang="en-US" sz="1100">
                          <a:solidFill>
                            <a:srgbClr val="C00000"/>
                          </a:solidFill>
                        </a:rPr>
                        <a:t>=FREQUENCY </a:t>
                      </a:r>
                      <a:r>
                        <a:rPr lang="en-US" sz="1100"/>
                        <a:t>array function with your bins.</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dirty="0"/>
                        <a:t>Allows you full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dirty="0"/>
                        <a:t>Requires</a:t>
                      </a:r>
                      <a:r>
                        <a:rPr lang="en-US" sz="1100" baseline="0" dirty="0"/>
                        <a:t> editing and array function </a:t>
                      </a:r>
                      <a:r>
                        <a:rPr lang="en-US" sz="1100" baseline="0" dirty="0">
                          <a:solidFill>
                            <a:srgbClr val="C00000"/>
                          </a:solidFill>
                        </a:rPr>
                        <a:t>=FREQUENCY(data range, bin range)</a:t>
                      </a:r>
                      <a:r>
                        <a:rPr lang="en-US" sz="1100" baseline="0" dirty="0"/>
                        <a:t>.</a:t>
                      </a:r>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325414"/>
                  </a:ext>
                </a:extLst>
              </a:tr>
            </a:tbl>
          </a:graphicData>
        </a:graphic>
      </p:graphicFrame>
      <p:pic>
        <p:nvPicPr>
          <p:cNvPr id="18" name="Picture 17"/>
          <p:cNvPicPr>
            <a:picLocks noChangeAspect="1"/>
          </p:cNvPicPr>
          <p:nvPr/>
        </p:nvPicPr>
        <p:blipFill>
          <a:blip r:embed="rId2"/>
          <a:stretch>
            <a:fillRect/>
          </a:stretch>
        </p:blipFill>
        <p:spPr>
          <a:xfrm>
            <a:off x="6257941" y="4302246"/>
            <a:ext cx="3170319" cy="1916529"/>
          </a:xfrm>
          <a:prstGeom prst="rect">
            <a:avLst/>
          </a:prstGeom>
          <a:ln>
            <a:solidFill>
              <a:schemeClr val="tx1"/>
            </a:solidFill>
          </a:ln>
        </p:spPr>
      </p:pic>
      <p:sp>
        <p:nvSpPr>
          <p:cNvPr id="19" name="TextBox 18"/>
          <p:cNvSpPr txBox="1"/>
          <p:nvPr/>
        </p:nvSpPr>
        <p:spPr>
          <a:xfrm>
            <a:off x="3301769" y="4015976"/>
            <a:ext cx="916544" cy="261610"/>
          </a:xfrm>
          <a:prstGeom prst="rect">
            <a:avLst/>
          </a:prstGeom>
          <a:noFill/>
        </p:spPr>
        <p:txBody>
          <a:bodyPr wrap="square" rtlCol="0">
            <a:spAutoFit/>
          </a:bodyPr>
          <a:lstStyle/>
          <a:p>
            <a:r>
              <a:rPr lang="en-US" sz="1100" i="1" dirty="0"/>
              <a:t>Method A</a:t>
            </a:r>
          </a:p>
        </p:txBody>
      </p:sp>
      <p:sp>
        <p:nvSpPr>
          <p:cNvPr id="20" name="TextBox 19"/>
          <p:cNvSpPr txBox="1"/>
          <p:nvPr/>
        </p:nvSpPr>
        <p:spPr>
          <a:xfrm>
            <a:off x="7049887" y="3999779"/>
            <a:ext cx="2017337" cy="261610"/>
          </a:xfrm>
          <a:prstGeom prst="rect">
            <a:avLst/>
          </a:prstGeom>
          <a:noFill/>
        </p:spPr>
        <p:txBody>
          <a:bodyPr wrap="square" rtlCol="0">
            <a:spAutoFit/>
          </a:bodyPr>
          <a:lstStyle/>
          <a:p>
            <a:r>
              <a:rPr lang="en-US" sz="1100" i="1" dirty="0"/>
              <a:t>Method B or C (edited)</a:t>
            </a:r>
          </a:p>
        </p:txBody>
      </p:sp>
      <p:sp>
        <p:nvSpPr>
          <p:cNvPr id="11" name="TextBox 10"/>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4" name="Picture 3"/>
          <p:cNvPicPr>
            <a:picLocks noChangeAspect="1"/>
          </p:cNvPicPr>
          <p:nvPr/>
        </p:nvPicPr>
        <p:blipFill>
          <a:blip r:embed="rId4"/>
          <a:stretch>
            <a:fillRect/>
          </a:stretch>
        </p:blipFill>
        <p:spPr>
          <a:xfrm>
            <a:off x="2151242" y="4285952"/>
            <a:ext cx="3217599" cy="1932823"/>
          </a:xfrm>
          <a:prstGeom prst="rect">
            <a:avLst/>
          </a:prstGeom>
          <a:ln>
            <a:solidFill>
              <a:schemeClr val="tx1"/>
            </a:solidFill>
          </a:ln>
        </p:spPr>
      </p:pic>
      <p:sp>
        <p:nvSpPr>
          <p:cNvPr id="2" name="Footer Placeholder 1">
            <a:extLst>
              <a:ext uri="{FF2B5EF4-FFF2-40B4-BE49-F238E27FC236}">
                <a16:creationId xmlns:a16="http://schemas.microsoft.com/office/drawing/2014/main" id="{9684C83F-C1B5-9250-4A76-C53873ABDE2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4208420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2"/>
          <a:stretch>
            <a:fillRect/>
          </a:stretch>
        </p:blipFill>
        <p:spPr>
          <a:xfrm>
            <a:off x="543661" y="1221144"/>
            <a:ext cx="9213081" cy="1405977"/>
          </a:xfrm>
          <a:prstGeom prst="rect">
            <a:avLst/>
          </a:prstGeom>
        </p:spPr>
      </p:pic>
      <p:sp>
        <p:nvSpPr>
          <p:cNvPr id="24" name="Rounded Rectangle 8"/>
          <p:cNvSpPr/>
          <p:nvPr/>
        </p:nvSpPr>
        <p:spPr>
          <a:xfrm>
            <a:off x="4280312" y="1996441"/>
            <a:ext cx="347317" cy="26857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2 - histograms</a:t>
            </a:r>
          </a:p>
        </p:txBody>
      </p:sp>
      <p:sp>
        <p:nvSpPr>
          <p:cNvPr id="8" name="TextBox 7"/>
          <p:cNvSpPr txBox="1"/>
          <p:nvPr/>
        </p:nvSpPr>
        <p:spPr>
          <a:xfrm>
            <a:off x="455357" y="2822693"/>
            <a:ext cx="1735986" cy="430887"/>
          </a:xfrm>
          <a:prstGeom prst="rect">
            <a:avLst/>
          </a:prstGeom>
          <a:noFill/>
        </p:spPr>
        <p:txBody>
          <a:bodyPr wrap="square" rtlCol="0">
            <a:spAutoFit/>
          </a:bodyPr>
          <a:lstStyle/>
          <a:p>
            <a:r>
              <a:rPr lang="en-US" sz="1100" b="1" dirty="0">
                <a:solidFill>
                  <a:schemeClr val="accent1">
                    <a:lumMod val="75000"/>
                  </a:schemeClr>
                </a:solidFill>
              </a:rPr>
              <a:t>Step 1: </a:t>
            </a:r>
            <a:r>
              <a:rPr lang="en-US" sz="1100" dirty="0"/>
              <a:t>Highlight the data range.</a:t>
            </a:r>
          </a:p>
        </p:txBody>
      </p:sp>
      <p:sp>
        <p:nvSpPr>
          <p:cNvPr id="15" name="TextBox 14"/>
          <p:cNvSpPr txBox="1"/>
          <p:nvPr/>
        </p:nvSpPr>
        <p:spPr>
          <a:xfrm>
            <a:off x="2753204" y="2804859"/>
            <a:ext cx="3229224" cy="430887"/>
          </a:xfrm>
          <a:prstGeom prst="rect">
            <a:avLst/>
          </a:prstGeom>
          <a:noFill/>
        </p:spPr>
        <p:txBody>
          <a:bodyPr wrap="square" rtlCol="0">
            <a:spAutoFit/>
          </a:bodyPr>
          <a:lstStyle/>
          <a:p>
            <a:r>
              <a:rPr lang="en-US" sz="1100" b="1" dirty="0">
                <a:solidFill>
                  <a:schemeClr val="accent1">
                    <a:lumMod val="75000"/>
                  </a:schemeClr>
                </a:solidFill>
              </a:rPr>
              <a:t>Step 2: </a:t>
            </a:r>
            <a:r>
              <a:rPr lang="en-US" sz="1100" dirty="0"/>
              <a:t>From the </a:t>
            </a:r>
            <a:r>
              <a:rPr lang="en-US" sz="1100" dirty="0">
                <a:solidFill>
                  <a:srgbClr val="C00000"/>
                </a:solidFill>
              </a:rPr>
              <a:t>Insert</a:t>
            </a:r>
            <a:r>
              <a:rPr lang="en-US" sz="1100" dirty="0"/>
              <a:t> ribbon, click the middle chart icon and choose Histogram</a:t>
            </a:r>
          </a:p>
        </p:txBody>
      </p:sp>
      <p:sp>
        <p:nvSpPr>
          <p:cNvPr id="38" name="Right Arrow 37"/>
          <p:cNvSpPr/>
          <p:nvPr/>
        </p:nvSpPr>
        <p:spPr>
          <a:xfrm>
            <a:off x="5014224" y="4006640"/>
            <a:ext cx="271954" cy="284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6544289" y="2937780"/>
            <a:ext cx="1851195" cy="461665"/>
          </a:xfrm>
          <a:prstGeom prst="rect">
            <a:avLst/>
          </a:prstGeom>
          <a:noFill/>
        </p:spPr>
        <p:txBody>
          <a:bodyPr wrap="square" rtlCol="0">
            <a:spAutoFit/>
          </a:bodyPr>
          <a:lstStyle/>
          <a:p>
            <a:pPr algn="ctr"/>
            <a:r>
              <a:rPr lang="en-US" sz="1200" b="1" dirty="0">
                <a:solidFill>
                  <a:schemeClr val="accent1">
                    <a:lumMod val="75000"/>
                  </a:schemeClr>
                </a:solidFill>
              </a:rPr>
              <a:t>METHOD A</a:t>
            </a:r>
          </a:p>
          <a:p>
            <a:pPr algn="ctr"/>
            <a:r>
              <a:rPr lang="en-US" sz="1200" b="1" dirty="0">
                <a:solidFill>
                  <a:schemeClr val="accent1">
                    <a:lumMod val="75000"/>
                  </a:schemeClr>
                </a:solidFill>
              </a:rPr>
              <a:t>Insert Chart</a:t>
            </a:r>
          </a:p>
        </p:txBody>
      </p:sp>
      <p:sp>
        <p:nvSpPr>
          <p:cNvPr id="22" name="TextBox 21"/>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25" name="Picture 24"/>
          <p:cNvPicPr>
            <a:picLocks noChangeAspect="1"/>
          </p:cNvPicPr>
          <p:nvPr/>
        </p:nvPicPr>
        <p:blipFill>
          <a:blip r:embed="rId4"/>
          <a:stretch>
            <a:fillRect/>
          </a:stretch>
        </p:blipFill>
        <p:spPr>
          <a:xfrm>
            <a:off x="2946804" y="3425594"/>
            <a:ext cx="1694997" cy="1713420"/>
          </a:xfrm>
          <a:prstGeom prst="rect">
            <a:avLst/>
          </a:prstGeom>
        </p:spPr>
      </p:pic>
      <p:pic>
        <p:nvPicPr>
          <p:cNvPr id="26" name="Picture 25"/>
          <p:cNvPicPr>
            <a:picLocks noChangeAspect="1"/>
          </p:cNvPicPr>
          <p:nvPr/>
        </p:nvPicPr>
        <p:blipFill>
          <a:blip r:embed="rId5"/>
          <a:stretch>
            <a:fillRect/>
          </a:stretch>
        </p:blipFill>
        <p:spPr>
          <a:xfrm>
            <a:off x="6091583" y="3439546"/>
            <a:ext cx="2819261" cy="1693540"/>
          </a:xfrm>
          <a:prstGeom prst="rect">
            <a:avLst/>
          </a:prstGeom>
          <a:ln>
            <a:solidFill>
              <a:schemeClr val="tx1"/>
            </a:solidFill>
          </a:ln>
        </p:spPr>
      </p:pic>
      <p:pic>
        <p:nvPicPr>
          <p:cNvPr id="27" name="Picture 26"/>
          <p:cNvPicPr>
            <a:picLocks noChangeAspect="1"/>
          </p:cNvPicPr>
          <p:nvPr/>
        </p:nvPicPr>
        <p:blipFill>
          <a:blip r:embed="rId6"/>
          <a:stretch>
            <a:fillRect/>
          </a:stretch>
        </p:blipFill>
        <p:spPr>
          <a:xfrm>
            <a:off x="560466" y="3399445"/>
            <a:ext cx="1630877" cy="2103051"/>
          </a:xfrm>
          <a:prstGeom prst="rect">
            <a:avLst/>
          </a:prstGeom>
        </p:spPr>
      </p:pic>
      <p:sp>
        <p:nvSpPr>
          <p:cNvPr id="29" name="TextBox 28"/>
          <p:cNvSpPr txBox="1"/>
          <p:nvPr/>
        </p:nvSpPr>
        <p:spPr>
          <a:xfrm>
            <a:off x="5881093" y="5319733"/>
            <a:ext cx="3240240" cy="646331"/>
          </a:xfrm>
          <a:prstGeom prst="rect">
            <a:avLst/>
          </a:prstGeom>
          <a:noFill/>
        </p:spPr>
        <p:txBody>
          <a:bodyPr wrap="square" rtlCol="0">
            <a:spAutoFit/>
          </a:bodyPr>
          <a:lstStyle/>
          <a:p>
            <a:r>
              <a:rPr lang="en-US" sz="1200" i="1" dirty="0">
                <a:solidFill>
                  <a:srgbClr val="C00000"/>
                </a:solidFill>
              </a:rPr>
              <a:t>Comment: </a:t>
            </a:r>
            <a:r>
              <a:rPr lang="en-US" sz="1200" dirty="0">
                <a:solidFill>
                  <a:schemeClr val="accent1">
                    <a:lumMod val="75000"/>
                  </a:schemeClr>
                </a:solidFill>
              </a:rPr>
              <a:t>Method A gives a quick histogram, though its bin limits are weird and you can’t choose the bins.</a:t>
            </a:r>
          </a:p>
        </p:txBody>
      </p:sp>
      <p:pic>
        <p:nvPicPr>
          <p:cNvPr id="30" name="Picture 29"/>
          <p:cNvPicPr>
            <a:picLocks noChangeAspect="1"/>
          </p:cNvPicPr>
          <p:nvPr/>
        </p:nvPicPr>
        <p:blipFill>
          <a:blip r:embed="rId7"/>
          <a:stretch>
            <a:fillRect/>
          </a:stretch>
        </p:blipFill>
        <p:spPr>
          <a:xfrm>
            <a:off x="5150201" y="5333719"/>
            <a:ext cx="758207" cy="458489"/>
          </a:xfrm>
          <a:prstGeom prst="rect">
            <a:avLst/>
          </a:prstGeom>
        </p:spPr>
      </p:pic>
      <p:sp>
        <p:nvSpPr>
          <p:cNvPr id="2" name="Footer Placeholder 1">
            <a:extLst>
              <a:ext uri="{FF2B5EF4-FFF2-40B4-BE49-F238E27FC236}">
                <a16:creationId xmlns:a16="http://schemas.microsoft.com/office/drawing/2014/main" id="{1FBF3A05-E87E-B701-62A2-D72123B8CF2A}"/>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754259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465721" y="1241701"/>
            <a:ext cx="7929132" cy="139137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2 - histograms</a:t>
            </a:r>
          </a:p>
        </p:txBody>
      </p:sp>
      <p:pic>
        <p:nvPicPr>
          <p:cNvPr id="2" name="Picture 1"/>
          <p:cNvPicPr>
            <a:picLocks noChangeAspect="1"/>
          </p:cNvPicPr>
          <p:nvPr/>
        </p:nvPicPr>
        <p:blipFill>
          <a:blip r:embed="rId3"/>
          <a:stretch>
            <a:fillRect/>
          </a:stretch>
        </p:blipFill>
        <p:spPr>
          <a:xfrm>
            <a:off x="5883984" y="4803991"/>
            <a:ext cx="1516702" cy="1379833"/>
          </a:xfrm>
          <a:prstGeom prst="rect">
            <a:avLst/>
          </a:prstGeom>
        </p:spPr>
      </p:pic>
      <p:sp>
        <p:nvSpPr>
          <p:cNvPr id="8" name="TextBox 7"/>
          <p:cNvSpPr txBox="1"/>
          <p:nvPr/>
        </p:nvSpPr>
        <p:spPr>
          <a:xfrm>
            <a:off x="455357" y="2822693"/>
            <a:ext cx="1735986" cy="600164"/>
          </a:xfrm>
          <a:prstGeom prst="rect">
            <a:avLst/>
          </a:prstGeom>
          <a:noFill/>
        </p:spPr>
        <p:txBody>
          <a:bodyPr wrap="square" rtlCol="0">
            <a:spAutoFit/>
          </a:bodyPr>
          <a:lstStyle/>
          <a:p>
            <a:r>
              <a:rPr lang="en-US" sz="1100" b="1" dirty="0">
                <a:solidFill>
                  <a:schemeClr val="accent1">
                    <a:lumMod val="75000"/>
                  </a:schemeClr>
                </a:solidFill>
              </a:rPr>
              <a:t>Step 1: </a:t>
            </a:r>
            <a:r>
              <a:rPr lang="en-US" sz="1100" dirty="0"/>
              <a:t>Examine the data and set up appropriate bins.</a:t>
            </a:r>
          </a:p>
        </p:txBody>
      </p:sp>
      <p:pic>
        <p:nvPicPr>
          <p:cNvPr id="9" name="Picture 8"/>
          <p:cNvPicPr>
            <a:picLocks noChangeAspect="1"/>
          </p:cNvPicPr>
          <p:nvPr/>
        </p:nvPicPr>
        <p:blipFill>
          <a:blip r:embed="rId4"/>
          <a:stretch>
            <a:fillRect/>
          </a:stretch>
        </p:blipFill>
        <p:spPr>
          <a:xfrm>
            <a:off x="408534" y="3734301"/>
            <a:ext cx="1036928" cy="1497464"/>
          </a:xfrm>
          <a:prstGeom prst="rect">
            <a:avLst/>
          </a:prstGeom>
        </p:spPr>
      </p:pic>
      <p:sp>
        <p:nvSpPr>
          <p:cNvPr id="14" name="TextBox 13"/>
          <p:cNvSpPr txBox="1"/>
          <p:nvPr/>
        </p:nvSpPr>
        <p:spPr>
          <a:xfrm>
            <a:off x="522646" y="5875533"/>
            <a:ext cx="1269281" cy="600164"/>
          </a:xfrm>
          <a:prstGeom prst="rect">
            <a:avLst/>
          </a:prstGeom>
          <a:noFill/>
        </p:spPr>
        <p:txBody>
          <a:bodyPr wrap="square" rtlCol="0">
            <a:spAutoFit/>
          </a:bodyPr>
          <a:lstStyle/>
          <a:p>
            <a:r>
              <a:rPr lang="en-US" sz="1100" i="1" dirty="0">
                <a:solidFill>
                  <a:srgbClr val="C00000"/>
                </a:solidFill>
              </a:rPr>
              <a:t>Note: </a:t>
            </a:r>
            <a:r>
              <a:rPr lang="en-US" sz="1100" dirty="0"/>
              <a:t>Excel only looks at the upper bin limit.</a:t>
            </a:r>
          </a:p>
        </p:txBody>
      </p:sp>
      <p:sp>
        <p:nvSpPr>
          <p:cNvPr id="15" name="TextBox 14"/>
          <p:cNvSpPr txBox="1"/>
          <p:nvPr/>
        </p:nvSpPr>
        <p:spPr>
          <a:xfrm>
            <a:off x="2191343" y="2815573"/>
            <a:ext cx="3229224" cy="430887"/>
          </a:xfrm>
          <a:prstGeom prst="rect">
            <a:avLst/>
          </a:prstGeom>
          <a:noFill/>
        </p:spPr>
        <p:txBody>
          <a:bodyPr wrap="square" rtlCol="0">
            <a:spAutoFit/>
          </a:bodyPr>
          <a:lstStyle/>
          <a:p>
            <a:r>
              <a:rPr lang="en-US" sz="1100" b="1" dirty="0">
                <a:solidFill>
                  <a:schemeClr val="accent1">
                    <a:lumMod val="75000"/>
                  </a:schemeClr>
                </a:solidFill>
              </a:rPr>
              <a:t>Step 2: </a:t>
            </a:r>
            <a:r>
              <a:rPr lang="en-US" sz="1100" dirty="0"/>
              <a:t>From the </a:t>
            </a:r>
            <a:r>
              <a:rPr lang="en-US" sz="1100" dirty="0">
                <a:solidFill>
                  <a:srgbClr val="C00000"/>
                </a:solidFill>
              </a:rPr>
              <a:t>Data</a:t>
            </a:r>
            <a:r>
              <a:rPr lang="en-US" sz="1100" dirty="0"/>
              <a:t> ribbon, open the Data </a:t>
            </a:r>
            <a:r>
              <a:rPr lang="en-US" sz="1100" dirty="0">
                <a:solidFill>
                  <a:srgbClr val="C00000"/>
                </a:solidFill>
              </a:rPr>
              <a:t>Analysis</a:t>
            </a:r>
            <a:r>
              <a:rPr lang="en-US" sz="1100" dirty="0"/>
              <a:t> menu and choose </a:t>
            </a:r>
            <a:r>
              <a:rPr lang="en-US" sz="1100" dirty="0">
                <a:solidFill>
                  <a:srgbClr val="C00000"/>
                </a:solidFill>
              </a:rPr>
              <a:t>Histogram</a:t>
            </a:r>
            <a:r>
              <a:rPr lang="en-US" sz="1100" dirty="0"/>
              <a:t>.</a:t>
            </a:r>
          </a:p>
        </p:txBody>
      </p:sp>
      <p:sp>
        <p:nvSpPr>
          <p:cNvPr id="17" name="Rounded Rectangle 16"/>
          <p:cNvSpPr/>
          <p:nvPr/>
        </p:nvSpPr>
        <p:spPr>
          <a:xfrm flipH="1">
            <a:off x="7073906" y="1823431"/>
            <a:ext cx="984425" cy="25002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flipH="1">
            <a:off x="1028700" y="4080477"/>
            <a:ext cx="504216" cy="11620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216617" y="3484370"/>
            <a:ext cx="2669847" cy="430887"/>
          </a:xfrm>
          <a:prstGeom prst="rect">
            <a:avLst/>
          </a:prstGeom>
          <a:noFill/>
        </p:spPr>
        <p:txBody>
          <a:bodyPr wrap="square" rtlCol="0">
            <a:spAutoFit/>
          </a:bodyPr>
          <a:lstStyle/>
          <a:p>
            <a:r>
              <a:rPr lang="en-US" sz="1100" b="1" dirty="0">
                <a:solidFill>
                  <a:schemeClr val="accent1">
                    <a:lumMod val="75000"/>
                  </a:schemeClr>
                </a:solidFill>
              </a:rPr>
              <a:t>Step 3: </a:t>
            </a:r>
            <a:r>
              <a:rPr lang="en-US" sz="1100" dirty="0"/>
              <a:t>Enter the data range, bin range, and chart output location.</a:t>
            </a:r>
          </a:p>
        </p:txBody>
      </p:sp>
      <p:sp>
        <p:nvSpPr>
          <p:cNvPr id="20" name="Right Arrow 19"/>
          <p:cNvSpPr/>
          <p:nvPr/>
        </p:nvSpPr>
        <p:spPr>
          <a:xfrm>
            <a:off x="5581818" y="2961481"/>
            <a:ext cx="271954" cy="284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Up Arrow 20"/>
          <p:cNvSpPr/>
          <p:nvPr/>
        </p:nvSpPr>
        <p:spPr>
          <a:xfrm>
            <a:off x="1147933" y="5341053"/>
            <a:ext cx="257174" cy="24765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3500098" y="4008252"/>
            <a:ext cx="266701" cy="244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5445841" y="4661502"/>
            <a:ext cx="271954" cy="284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5933746" y="4530697"/>
            <a:ext cx="1563227" cy="261610"/>
          </a:xfrm>
          <a:prstGeom prst="rect">
            <a:avLst/>
          </a:prstGeom>
          <a:noFill/>
        </p:spPr>
        <p:txBody>
          <a:bodyPr wrap="square" rtlCol="0">
            <a:spAutoFit/>
          </a:bodyPr>
          <a:lstStyle/>
          <a:p>
            <a:r>
              <a:rPr lang="en-US" sz="1100" i="1" dirty="0"/>
              <a:t>Method A results</a:t>
            </a:r>
          </a:p>
        </p:txBody>
      </p:sp>
      <p:sp>
        <p:nvSpPr>
          <p:cNvPr id="40" name="TextBox 39"/>
          <p:cNvSpPr txBox="1"/>
          <p:nvPr/>
        </p:nvSpPr>
        <p:spPr>
          <a:xfrm>
            <a:off x="8772574" y="4143142"/>
            <a:ext cx="1851195" cy="461665"/>
          </a:xfrm>
          <a:prstGeom prst="rect">
            <a:avLst/>
          </a:prstGeom>
          <a:noFill/>
        </p:spPr>
        <p:txBody>
          <a:bodyPr wrap="square" rtlCol="0">
            <a:spAutoFit/>
          </a:bodyPr>
          <a:lstStyle/>
          <a:p>
            <a:pPr algn="ctr"/>
            <a:r>
              <a:rPr lang="en-US" sz="1200" b="1" dirty="0">
                <a:solidFill>
                  <a:schemeClr val="accent1">
                    <a:lumMod val="75000"/>
                  </a:schemeClr>
                </a:solidFill>
              </a:rPr>
              <a:t>METHOD B</a:t>
            </a:r>
          </a:p>
          <a:p>
            <a:pPr algn="ctr"/>
            <a:r>
              <a:rPr lang="en-US" sz="1200" b="1" dirty="0">
                <a:solidFill>
                  <a:schemeClr val="accent1">
                    <a:lumMod val="75000"/>
                  </a:schemeClr>
                </a:solidFill>
              </a:rPr>
              <a:t>Data Analysis</a:t>
            </a:r>
          </a:p>
        </p:txBody>
      </p:sp>
      <p:sp>
        <p:nvSpPr>
          <p:cNvPr id="22" name="TextBox 21"/>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pic>
        <p:nvPicPr>
          <p:cNvPr id="7" name="Picture 6"/>
          <p:cNvPicPr>
            <a:picLocks noChangeAspect="1"/>
          </p:cNvPicPr>
          <p:nvPr/>
        </p:nvPicPr>
        <p:blipFill>
          <a:blip r:embed="rId6"/>
          <a:stretch>
            <a:fillRect/>
          </a:stretch>
        </p:blipFill>
        <p:spPr>
          <a:xfrm>
            <a:off x="5883984" y="2815573"/>
            <a:ext cx="3092951" cy="1558402"/>
          </a:xfrm>
          <a:prstGeom prst="rect">
            <a:avLst/>
          </a:prstGeom>
        </p:spPr>
      </p:pic>
      <p:pic>
        <p:nvPicPr>
          <p:cNvPr id="11" name="Picture 10"/>
          <p:cNvPicPr>
            <a:picLocks noChangeAspect="1"/>
          </p:cNvPicPr>
          <p:nvPr/>
        </p:nvPicPr>
        <p:blipFill>
          <a:blip r:embed="rId7"/>
          <a:stretch>
            <a:fillRect/>
          </a:stretch>
        </p:blipFill>
        <p:spPr>
          <a:xfrm>
            <a:off x="2230459" y="4325627"/>
            <a:ext cx="2982050" cy="2219552"/>
          </a:xfrm>
          <a:prstGeom prst="rect">
            <a:avLst/>
          </a:prstGeom>
        </p:spPr>
      </p:pic>
      <p:pic>
        <p:nvPicPr>
          <p:cNvPr id="12" name="Picture 11"/>
          <p:cNvPicPr>
            <a:picLocks noChangeAspect="1"/>
          </p:cNvPicPr>
          <p:nvPr/>
        </p:nvPicPr>
        <p:blipFill>
          <a:blip r:embed="rId8"/>
          <a:stretch>
            <a:fillRect/>
          </a:stretch>
        </p:blipFill>
        <p:spPr>
          <a:xfrm>
            <a:off x="7543085" y="4707273"/>
            <a:ext cx="3002870" cy="1515210"/>
          </a:xfrm>
          <a:prstGeom prst="rect">
            <a:avLst/>
          </a:prstGeom>
        </p:spPr>
      </p:pic>
      <p:sp>
        <p:nvSpPr>
          <p:cNvPr id="3" name="Footer Placeholder 2">
            <a:extLst>
              <a:ext uri="{FF2B5EF4-FFF2-40B4-BE49-F238E27FC236}">
                <a16:creationId xmlns:a16="http://schemas.microsoft.com/office/drawing/2014/main" id="{6FA87B0B-142F-D7B8-79DF-1F4A2AA82C28}"/>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7768795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2 - histograms</a:t>
            </a:r>
          </a:p>
        </p:txBody>
      </p:sp>
      <p:sp>
        <p:nvSpPr>
          <p:cNvPr id="7" name="TextBox 8"/>
          <p:cNvSpPr txBox="1"/>
          <p:nvPr/>
        </p:nvSpPr>
        <p:spPr>
          <a:xfrm>
            <a:off x="8291815" y="1924234"/>
            <a:ext cx="2695271" cy="50091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i="0" baseline="0" dirty="0">
                <a:solidFill>
                  <a:schemeClr val="accent1">
                    <a:lumMod val="75000"/>
                  </a:schemeClr>
                </a:solidFill>
                <a:effectLst/>
                <a:latin typeface="+mn-lt"/>
                <a:ea typeface="+mn-ea"/>
                <a:cs typeface="+mn-cs"/>
              </a:rPr>
              <a:t>Step 1: </a:t>
            </a:r>
            <a:r>
              <a:rPr lang="en-US" sz="1100" i="0" baseline="0" dirty="0">
                <a:solidFill>
                  <a:schemeClr val="dk1"/>
                </a:solidFill>
                <a:effectLst/>
                <a:latin typeface="+mn-lt"/>
                <a:ea typeface="+mn-ea"/>
                <a:cs typeface="+mn-cs"/>
              </a:rPr>
              <a:t>Create “nice” bins that cover the range (only the upper bin limits are used).</a:t>
            </a:r>
          </a:p>
          <a:p>
            <a:endParaRPr lang="en-US" sz="1100" dirty="0"/>
          </a:p>
        </p:txBody>
      </p:sp>
      <p:sp>
        <p:nvSpPr>
          <p:cNvPr id="9" name="TextBox 8"/>
          <p:cNvSpPr txBox="1"/>
          <p:nvPr/>
        </p:nvSpPr>
        <p:spPr>
          <a:xfrm>
            <a:off x="8291815" y="2596291"/>
            <a:ext cx="2390471" cy="40750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2. </a:t>
            </a:r>
            <a:r>
              <a:rPr lang="en-US" dirty="0"/>
              <a:t>Create a blank column for frequencies. </a:t>
            </a:r>
          </a:p>
          <a:p>
            <a:endParaRPr lang="en-US" sz="1100" dirty="0"/>
          </a:p>
        </p:txBody>
      </p:sp>
      <p:sp>
        <p:nvSpPr>
          <p:cNvPr id="10" name="TextBox 8"/>
          <p:cNvSpPr txBox="1"/>
          <p:nvPr/>
        </p:nvSpPr>
        <p:spPr>
          <a:xfrm>
            <a:off x="8287812" y="3065070"/>
            <a:ext cx="3093011" cy="93763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3. </a:t>
            </a:r>
            <a:r>
              <a:rPr lang="en-US" dirty="0"/>
              <a:t>Highlight the empty frequency cells and type the array function in the edit window. Its syntax is </a:t>
            </a:r>
            <a:r>
              <a:rPr lang="en-US" sz="1100" i="0" baseline="0" dirty="0">
                <a:solidFill>
                  <a:schemeClr val="dk1"/>
                </a:solidFill>
                <a:effectLst/>
                <a:latin typeface="+mn-lt"/>
                <a:ea typeface="+mn-ea"/>
                <a:cs typeface="+mn-cs"/>
              </a:rPr>
              <a:t> </a:t>
            </a:r>
            <a:r>
              <a:rPr lang="en-US" sz="1100" i="0" baseline="0" dirty="0">
                <a:solidFill>
                  <a:schemeClr val="accent1">
                    <a:lumMod val="75000"/>
                  </a:schemeClr>
                </a:solidFill>
                <a:effectLst/>
                <a:latin typeface="+mn-lt"/>
                <a:ea typeface="+mn-ea"/>
                <a:cs typeface="+mn-cs"/>
              </a:rPr>
              <a:t>=</a:t>
            </a:r>
            <a:r>
              <a:rPr lang="en-US" sz="1100" i="0" baseline="0" dirty="0">
                <a:solidFill>
                  <a:schemeClr val="accent1">
                    <a:lumMod val="50000"/>
                  </a:schemeClr>
                </a:solidFill>
                <a:effectLst/>
                <a:latin typeface="+mn-lt"/>
                <a:ea typeface="+mn-ea"/>
                <a:cs typeface="+mn-cs"/>
              </a:rPr>
              <a:t>FREQUENCY(data range, bin range)</a:t>
            </a:r>
            <a:r>
              <a:rPr lang="en-US" sz="1100" i="0" baseline="0" dirty="0">
                <a:solidFill>
                  <a:schemeClr val="dk1"/>
                </a:solidFill>
                <a:effectLst/>
                <a:latin typeface="+mn-lt"/>
                <a:ea typeface="+mn-ea"/>
                <a:cs typeface="+mn-cs"/>
              </a:rPr>
              <a:t>. </a:t>
            </a:r>
            <a:r>
              <a:rPr lang="en-US" dirty="0"/>
              <a:t>T</a:t>
            </a:r>
            <a:r>
              <a:rPr lang="en-US" sz="1100" i="0" baseline="0" dirty="0">
                <a:solidFill>
                  <a:schemeClr val="dk1"/>
                </a:solidFill>
                <a:effectLst/>
                <a:latin typeface="+mn-lt"/>
                <a:ea typeface="+mn-ea"/>
                <a:cs typeface="+mn-cs"/>
              </a:rPr>
              <a:t>hen </a:t>
            </a:r>
            <a:r>
              <a:rPr lang="en-US" sz="1100" i="1" baseline="0" dirty="0">
                <a:solidFill>
                  <a:srgbClr val="C00000"/>
                </a:solidFill>
                <a:effectLst/>
                <a:latin typeface="+mn-lt"/>
                <a:ea typeface="+mn-ea"/>
                <a:cs typeface="+mn-cs"/>
              </a:rPr>
              <a:t>simultaneously</a:t>
            </a:r>
            <a:r>
              <a:rPr lang="en-US" sz="1100" i="0" baseline="0" dirty="0">
                <a:solidFill>
                  <a:schemeClr val="dk1"/>
                </a:solidFill>
                <a:effectLst/>
                <a:latin typeface="+mn-lt"/>
                <a:ea typeface="+mn-ea"/>
                <a:cs typeface="+mn-cs"/>
              </a:rPr>
              <a:t> press </a:t>
            </a:r>
            <a:r>
              <a:rPr lang="en-US" sz="1100" i="0" baseline="0" dirty="0">
                <a:solidFill>
                  <a:schemeClr val="accent1">
                    <a:lumMod val="50000"/>
                  </a:schemeClr>
                </a:solidFill>
                <a:effectLst/>
                <a:latin typeface="+mn-lt"/>
                <a:ea typeface="+mn-ea"/>
                <a:cs typeface="+mn-cs"/>
              </a:rPr>
              <a:t>Ctrl-Shift-Enter</a:t>
            </a:r>
            <a:r>
              <a:rPr lang="en-US" sz="1100" i="0" baseline="0" dirty="0">
                <a:solidFill>
                  <a:schemeClr val="dk1"/>
                </a:solidFill>
                <a:effectLst/>
                <a:latin typeface="+mn-lt"/>
                <a:ea typeface="+mn-ea"/>
                <a:cs typeface="+mn-cs"/>
              </a:rPr>
              <a:t>.</a:t>
            </a:r>
            <a:endParaRPr lang="en-US" sz="1100" dirty="0"/>
          </a:p>
        </p:txBody>
      </p:sp>
      <p:sp>
        <p:nvSpPr>
          <p:cNvPr id="11" name="TextBox 8"/>
          <p:cNvSpPr txBox="1"/>
          <p:nvPr/>
        </p:nvSpPr>
        <p:spPr>
          <a:xfrm>
            <a:off x="8313605" y="4117707"/>
            <a:ext cx="2490484" cy="45592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i="0" baseline="0" dirty="0">
                <a:solidFill>
                  <a:schemeClr val="accent1">
                    <a:lumMod val="75000"/>
                  </a:schemeClr>
                </a:solidFill>
                <a:effectLst/>
                <a:latin typeface="+mn-lt"/>
                <a:ea typeface="+mn-ea"/>
                <a:cs typeface="+mn-cs"/>
              </a:rPr>
              <a:t>Step 4. </a:t>
            </a:r>
            <a:r>
              <a:rPr lang="en-US" sz="1100" i="0" baseline="0" dirty="0">
                <a:solidFill>
                  <a:schemeClr val="dk1"/>
                </a:solidFill>
                <a:effectLst/>
                <a:latin typeface="+mn-lt"/>
                <a:ea typeface="+mn-ea"/>
                <a:cs typeface="+mn-cs"/>
              </a:rPr>
              <a:t>Highlight the frequencies and insert a</a:t>
            </a:r>
            <a:r>
              <a:rPr lang="en-US" sz="1100" i="0" dirty="0">
                <a:solidFill>
                  <a:schemeClr val="dk1"/>
                </a:solidFill>
                <a:effectLst/>
                <a:latin typeface="+mn-lt"/>
                <a:ea typeface="+mn-ea"/>
                <a:cs typeface="+mn-cs"/>
              </a:rPr>
              <a:t> column chart.</a:t>
            </a:r>
            <a:endParaRPr lang="en-US" sz="1100" dirty="0"/>
          </a:p>
        </p:txBody>
      </p:sp>
      <p:sp>
        <p:nvSpPr>
          <p:cNvPr id="12" name="TextBox 8"/>
          <p:cNvSpPr txBox="1"/>
          <p:nvPr/>
        </p:nvSpPr>
        <p:spPr>
          <a:xfrm>
            <a:off x="8309600" y="4648470"/>
            <a:ext cx="2628596" cy="49841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5. </a:t>
            </a:r>
            <a:r>
              <a:rPr lang="en-US" dirty="0"/>
              <a:t>Edit the chart, e.g., widen the bars and reduce gap width.</a:t>
            </a:r>
            <a:endParaRPr lang="en-US" sz="1100" dirty="0"/>
          </a:p>
          <a:p>
            <a:endParaRPr lang="en-US" sz="1100" dirty="0"/>
          </a:p>
        </p:txBody>
      </p:sp>
      <p:sp>
        <p:nvSpPr>
          <p:cNvPr id="15" name="TextBox 14"/>
          <p:cNvSpPr txBox="1"/>
          <p:nvPr/>
        </p:nvSpPr>
        <p:spPr>
          <a:xfrm>
            <a:off x="8561452" y="1336658"/>
            <a:ext cx="1851195" cy="461665"/>
          </a:xfrm>
          <a:prstGeom prst="rect">
            <a:avLst/>
          </a:prstGeom>
          <a:noFill/>
        </p:spPr>
        <p:txBody>
          <a:bodyPr wrap="square" rtlCol="0">
            <a:spAutoFit/>
          </a:bodyPr>
          <a:lstStyle/>
          <a:p>
            <a:pPr algn="ctr"/>
            <a:r>
              <a:rPr lang="en-US" sz="1200" b="1" dirty="0">
                <a:solidFill>
                  <a:schemeClr val="accent1">
                    <a:lumMod val="75000"/>
                  </a:schemeClr>
                </a:solidFill>
              </a:rPr>
              <a:t>METHOD C</a:t>
            </a:r>
          </a:p>
          <a:p>
            <a:pPr algn="ctr"/>
            <a:r>
              <a:rPr lang="en-US" sz="1200" b="1" dirty="0">
                <a:solidFill>
                  <a:schemeClr val="accent1">
                    <a:lumMod val="75000"/>
                  </a:schemeClr>
                </a:solidFill>
              </a:rPr>
              <a:t>Do-It-Yourself</a:t>
            </a:r>
          </a:p>
        </p:txBody>
      </p:sp>
      <p:sp>
        <p:nvSpPr>
          <p:cNvPr id="19" name="TextBox 18"/>
          <p:cNvSpPr txBox="1"/>
          <p:nvPr/>
        </p:nvSpPr>
        <p:spPr>
          <a:xfrm>
            <a:off x="2383093" y="5545337"/>
            <a:ext cx="3775336" cy="430887"/>
          </a:xfrm>
          <a:prstGeom prst="rect">
            <a:avLst/>
          </a:prstGeom>
          <a:noFill/>
        </p:spPr>
        <p:txBody>
          <a:bodyPr wrap="square" rtlCol="0">
            <a:spAutoFit/>
          </a:bodyPr>
          <a:lstStyle/>
          <a:p>
            <a:r>
              <a:rPr lang="en-US" sz="1100" i="1" dirty="0">
                <a:solidFill>
                  <a:srgbClr val="C00000"/>
                </a:solidFill>
              </a:rPr>
              <a:t>Note: </a:t>
            </a:r>
            <a:r>
              <a:rPr lang="en-US" sz="1100" dirty="0"/>
              <a:t>An array function has squiggly brackets { }. Its range cells cannot be edited except as a whole.</a:t>
            </a:r>
          </a:p>
        </p:txBody>
      </p:sp>
      <p:pic>
        <p:nvPicPr>
          <p:cNvPr id="20" name="Picture 19"/>
          <p:cNvPicPr>
            <a:picLocks noChangeAspect="1"/>
          </p:cNvPicPr>
          <p:nvPr/>
        </p:nvPicPr>
        <p:blipFill>
          <a:blip r:embed="rId2"/>
          <a:stretch>
            <a:fillRect/>
          </a:stretch>
        </p:blipFill>
        <p:spPr>
          <a:xfrm>
            <a:off x="1388245" y="5517735"/>
            <a:ext cx="758207" cy="458489"/>
          </a:xfrm>
          <a:prstGeom prst="rect">
            <a:avLst/>
          </a:prstGeom>
        </p:spPr>
      </p:pic>
      <p:sp>
        <p:nvSpPr>
          <p:cNvPr id="14" name="TextBox 13"/>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2" name="Picture 1"/>
          <p:cNvPicPr>
            <a:picLocks noChangeAspect="1"/>
          </p:cNvPicPr>
          <p:nvPr/>
        </p:nvPicPr>
        <p:blipFill>
          <a:blip r:embed="rId4"/>
          <a:stretch>
            <a:fillRect/>
          </a:stretch>
        </p:blipFill>
        <p:spPr>
          <a:xfrm>
            <a:off x="537105" y="1294011"/>
            <a:ext cx="7396914" cy="4075453"/>
          </a:xfrm>
          <a:prstGeom prst="rect">
            <a:avLst/>
          </a:prstGeom>
        </p:spPr>
      </p:pic>
      <p:cxnSp>
        <p:nvCxnSpPr>
          <p:cNvPr id="17" name="Straight Arrow Connector 16"/>
          <p:cNvCxnSpPr/>
          <p:nvPr/>
        </p:nvCxnSpPr>
        <p:spPr>
          <a:xfrm flipH="1">
            <a:off x="4439798" y="3207688"/>
            <a:ext cx="3800939" cy="1304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3150824" y="2528186"/>
            <a:ext cx="209321" cy="30171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C93547BC-7BA8-3343-5177-FBBF3487B4BC}"/>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85579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65811" y="1268216"/>
            <a:ext cx="7431968" cy="5301517"/>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scatter plots</a:t>
            </a:r>
          </a:p>
        </p:txBody>
      </p:sp>
      <p:sp>
        <p:nvSpPr>
          <p:cNvPr id="11" name="TextBox 8"/>
          <p:cNvSpPr txBox="1"/>
          <p:nvPr/>
        </p:nvSpPr>
        <p:spPr>
          <a:xfrm>
            <a:off x="8387176" y="1446674"/>
            <a:ext cx="2205533" cy="3467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i="0" baseline="0" dirty="0">
                <a:solidFill>
                  <a:schemeClr val="accent1">
                    <a:lumMod val="75000"/>
                  </a:schemeClr>
                </a:solidFill>
                <a:effectLst/>
                <a:latin typeface="+mn-lt"/>
                <a:ea typeface="+mn-ea"/>
                <a:cs typeface="+mn-cs"/>
              </a:rPr>
              <a:t>Step 1: </a:t>
            </a:r>
            <a:r>
              <a:rPr lang="en-US" sz="1100" i="0" baseline="0" dirty="0">
                <a:solidFill>
                  <a:schemeClr val="dk1"/>
                </a:solidFill>
                <a:effectLst/>
                <a:latin typeface="+mn-lt"/>
                <a:ea typeface="+mn-ea"/>
                <a:cs typeface="+mn-cs"/>
              </a:rPr>
              <a:t>Click on the </a:t>
            </a:r>
            <a:r>
              <a:rPr lang="en-US" dirty="0">
                <a:solidFill>
                  <a:schemeClr val="accent1">
                    <a:lumMod val="75000"/>
                  </a:schemeClr>
                </a:solidFill>
              </a:rPr>
              <a:t>Insert</a:t>
            </a:r>
            <a:r>
              <a:rPr lang="en-US" sz="1100" i="0" baseline="0" dirty="0">
                <a:solidFill>
                  <a:schemeClr val="dk1"/>
                </a:solidFill>
                <a:effectLst/>
                <a:latin typeface="+mn-lt"/>
                <a:ea typeface="+mn-ea"/>
                <a:cs typeface="+mn-cs"/>
              </a:rPr>
              <a:t> tab.</a:t>
            </a:r>
            <a:endParaRPr lang="en-US" sz="1100" dirty="0"/>
          </a:p>
        </p:txBody>
      </p:sp>
      <p:sp>
        <p:nvSpPr>
          <p:cNvPr id="12" name="TextBox 11"/>
          <p:cNvSpPr txBox="1"/>
          <p:nvPr/>
        </p:nvSpPr>
        <p:spPr>
          <a:xfrm>
            <a:off x="8387176" y="1800154"/>
            <a:ext cx="2561119" cy="113782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2. </a:t>
            </a:r>
            <a:r>
              <a:rPr lang="en-US" dirty="0"/>
              <a:t>Highlight the two data columns. The first column is </a:t>
            </a:r>
            <a:r>
              <a:rPr lang="en-US" i="1" dirty="0"/>
              <a:t>X</a:t>
            </a:r>
            <a:r>
              <a:rPr lang="en-US" dirty="0"/>
              <a:t> (horizontal axis) and the second column is </a:t>
            </a:r>
            <a:r>
              <a:rPr lang="en-US" i="1" dirty="0"/>
              <a:t>Y</a:t>
            </a:r>
            <a:r>
              <a:rPr lang="en-US" dirty="0"/>
              <a:t> (vertical axis). Don’t include the column headings – you can add axis titles later.</a:t>
            </a:r>
          </a:p>
          <a:p>
            <a:endParaRPr lang="en-US" sz="1100" dirty="0"/>
          </a:p>
        </p:txBody>
      </p:sp>
      <p:sp>
        <p:nvSpPr>
          <p:cNvPr id="13" name="TextBox 8"/>
          <p:cNvSpPr txBox="1"/>
          <p:nvPr/>
        </p:nvSpPr>
        <p:spPr>
          <a:xfrm>
            <a:off x="8425828" y="5167536"/>
            <a:ext cx="2483813" cy="63074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4. </a:t>
            </a:r>
            <a:r>
              <a:rPr lang="en-US" dirty="0"/>
              <a:t>Edit the scatter plot to improve its appearance (axis labels, title, fonts, colors, </a:t>
            </a:r>
            <a:r>
              <a:rPr lang="en-US" dirty="0" err="1"/>
              <a:t>etc</a:t>
            </a:r>
            <a:r>
              <a:rPr lang="en-US" dirty="0"/>
              <a:t>).</a:t>
            </a:r>
            <a:endParaRPr lang="en-US" sz="1100" dirty="0"/>
          </a:p>
        </p:txBody>
      </p:sp>
      <p:sp>
        <p:nvSpPr>
          <p:cNvPr id="7" name="Rounded Rectangle 6"/>
          <p:cNvSpPr/>
          <p:nvPr/>
        </p:nvSpPr>
        <p:spPr>
          <a:xfrm>
            <a:off x="1465243" y="1523404"/>
            <a:ext cx="330506" cy="26394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3624447" y="2001864"/>
            <a:ext cx="286541" cy="26448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387176" y="3026742"/>
            <a:ext cx="2095915" cy="646331"/>
          </a:xfrm>
          <a:prstGeom prst="rect">
            <a:avLst/>
          </a:prstGeom>
          <a:noFill/>
        </p:spPr>
        <p:txBody>
          <a:bodyPr wrap="square" rtlCol="0">
            <a:spAutoFit/>
          </a:bodyPr>
          <a:lstStyle/>
          <a:p>
            <a:r>
              <a:rPr lang="en-US" sz="1100" b="1" dirty="0">
                <a:solidFill>
                  <a:schemeClr val="accent1">
                    <a:lumMod val="75000"/>
                  </a:schemeClr>
                </a:solidFill>
              </a:rPr>
              <a:t>Step 3. </a:t>
            </a:r>
            <a:r>
              <a:rPr lang="en-US" sz="1200" dirty="0"/>
              <a:t>Click on the </a:t>
            </a:r>
            <a:r>
              <a:rPr lang="en-US" sz="1100" dirty="0">
                <a:solidFill>
                  <a:schemeClr val="accent1">
                    <a:lumMod val="75000"/>
                  </a:schemeClr>
                </a:solidFill>
              </a:rPr>
              <a:t>Scatter</a:t>
            </a:r>
            <a:r>
              <a:rPr lang="en-US" sz="1200" dirty="0"/>
              <a:t> icon. A simple scatter plot is usually best.</a:t>
            </a:r>
          </a:p>
        </p:txBody>
      </p:sp>
      <p:sp>
        <p:nvSpPr>
          <p:cNvPr id="15" name="TextBox 14"/>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22" name="Picture 21"/>
          <p:cNvPicPr>
            <a:picLocks noChangeAspect="1"/>
          </p:cNvPicPr>
          <p:nvPr/>
        </p:nvPicPr>
        <p:blipFill>
          <a:blip r:embed="rId4"/>
          <a:stretch>
            <a:fillRect/>
          </a:stretch>
        </p:blipFill>
        <p:spPr>
          <a:xfrm>
            <a:off x="8487239" y="3719287"/>
            <a:ext cx="1895788" cy="1180396"/>
          </a:xfrm>
          <a:prstGeom prst="rect">
            <a:avLst/>
          </a:prstGeom>
        </p:spPr>
      </p:pic>
      <p:sp>
        <p:nvSpPr>
          <p:cNvPr id="26" name="Rounded Rectangle 22"/>
          <p:cNvSpPr/>
          <p:nvPr/>
        </p:nvSpPr>
        <p:spPr>
          <a:xfrm>
            <a:off x="8587058" y="3857049"/>
            <a:ext cx="708185" cy="66239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231B3F57-90EE-BCCD-CEB2-074433E5C2A2}"/>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557341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scatter plots</a:t>
            </a:r>
          </a:p>
        </p:txBody>
      </p:sp>
      <p:sp>
        <p:nvSpPr>
          <p:cNvPr id="2" name="TextBox 1"/>
          <p:cNvSpPr txBox="1"/>
          <p:nvPr/>
        </p:nvSpPr>
        <p:spPr>
          <a:xfrm>
            <a:off x="4042987" y="1805133"/>
            <a:ext cx="3694868" cy="2559893"/>
          </a:xfrm>
          <a:prstGeom prst="rect">
            <a:avLst/>
          </a:prstGeom>
          <a:noFill/>
        </p:spPr>
        <p:txBody>
          <a:bodyPr wrap="square" rtlCol="0">
            <a:spAutoFit/>
          </a:bodyPr>
          <a:lstStyle/>
          <a:p>
            <a:pPr algn="ctr"/>
            <a:r>
              <a:rPr lang="en-US" sz="1100" b="1" dirty="0">
                <a:solidFill>
                  <a:schemeClr val="accent1">
                    <a:lumMod val="75000"/>
                  </a:schemeClr>
                </a:solidFill>
              </a:rPr>
              <a:t>CUSTOMIZE THE CHART</a:t>
            </a:r>
          </a:p>
          <a:p>
            <a:endParaRPr lang="en-US" sz="1100" dirty="0"/>
          </a:p>
          <a:p>
            <a:r>
              <a:rPr lang="en-US" sz="1100" dirty="0"/>
              <a:t>A graph’s appearance is important in business. Here are some ideas to improve almost any Excel default chart, as illustrated here for a scatter plot. </a:t>
            </a:r>
          </a:p>
          <a:p>
            <a:endParaRPr lang="en-US" sz="1100" dirty="0"/>
          </a:p>
          <a:p>
            <a:pPr marL="171450" indent="-171450">
              <a:buFont typeface="Arial" panose="020B0604020202020204" pitchFamily="34" charset="0"/>
              <a:buChar char="•"/>
            </a:pPr>
            <a:r>
              <a:rPr lang="en-US" sz="1100" dirty="0"/>
              <a:t>Add clear titles (chart, </a:t>
            </a:r>
            <a:r>
              <a:rPr lang="en-US" sz="1100" i="1" dirty="0"/>
              <a:t>x</a:t>
            </a:r>
            <a:r>
              <a:rPr lang="en-US" sz="1100" dirty="0"/>
              <a:t>-axis, </a:t>
            </a:r>
            <a:r>
              <a:rPr lang="en-US" sz="1100" i="1" dirty="0"/>
              <a:t>y</a:t>
            </a:r>
            <a:r>
              <a:rPr lang="en-US" sz="1100" dirty="0"/>
              <a:t>-axis).</a:t>
            </a:r>
          </a:p>
          <a:p>
            <a:pPr marL="171450" indent="-171450">
              <a:buFont typeface="Arial" panose="020B0604020202020204" pitchFamily="34" charset="0"/>
              <a:buChar char="•"/>
            </a:pPr>
            <a:r>
              <a:rPr lang="en-US" sz="1100" dirty="0"/>
              <a:t>Improve the axis scales (min, max, ticks).</a:t>
            </a:r>
          </a:p>
          <a:p>
            <a:pPr marL="171450" indent="-171450">
              <a:buFont typeface="Arial" panose="020B0604020202020204" pitchFamily="34" charset="0"/>
              <a:buChar char="•"/>
            </a:pPr>
            <a:r>
              <a:rPr lang="en-US" sz="1100" dirty="0"/>
              <a:t>Change color or patterns in the plot area or chart area.</a:t>
            </a:r>
          </a:p>
          <a:p>
            <a:pPr marL="171450" indent="-171450">
              <a:buFont typeface="Arial" panose="020B0604020202020204" pitchFamily="34" charset="0"/>
              <a:buChar char="•"/>
            </a:pPr>
            <a:r>
              <a:rPr lang="en-US" sz="1100" dirty="0"/>
              <a:t>Format decimals to make axis scales more readable.</a:t>
            </a:r>
          </a:p>
          <a:p>
            <a:pPr marL="171450" indent="-171450">
              <a:buFont typeface="Arial" panose="020B0604020202020204" pitchFamily="34" charset="0"/>
              <a:buChar char="•"/>
            </a:pPr>
            <a:r>
              <a:rPr lang="en-US" sz="1100" dirty="0"/>
              <a:t>Improve markers and lines (size, color).</a:t>
            </a:r>
          </a:p>
          <a:p>
            <a:pPr marL="171450" indent="-171450">
              <a:buFont typeface="Arial" panose="020B0604020202020204" pitchFamily="34" charset="0"/>
              <a:buChar char="•"/>
            </a:pPr>
            <a:r>
              <a:rPr lang="en-US" sz="1100" dirty="0"/>
              <a:t>Change scale origin if necessary for clarity.</a:t>
            </a:r>
          </a:p>
          <a:p>
            <a:pPr marL="171450" indent="-171450">
              <a:buFont typeface="Arial" panose="020B0604020202020204" pitchFamily="34" charset="0"/>
              <a:buChar char="•"/>
            </a:pPr>
            <a:r>
              <a:rPr lang="en-US" sz="1100" dirty="0"/>
              <a:t>Add a trend line on a scatter plot.</a:t>
            </a:r>
          </a:p>
          <a:p>
            <a:pPr marL="171450" indent="-171450">
              <a:buFont typeface="Arial" panose="020B0604020202020204" pitchFamily="34" charset="0"/>
              <a:buChar char="•"/>
            </a:pPr>
            <a:r>
              <a:rPr lang="en-US" sz="1100" dirty="0"/>
              <a:t>Adjust font sizes for readability.</a:t>
            </a:r>
          </a:p>
        </p:txBody>
      </p:sp>
      <p:pic>
        <p:nvPicPr>
          <p:cNvPr id="4" name="Picture 3"/>
          <p:cNvPicPr>
            <a:picLocks noChangeAspect="1"/>
          </p:cNvPicPr>
          <p:nvPr/>
        </p:nvPicPr>
        <p:blipFill>
          <a:blip r:embed="rId2"/>
          <a:stretch>
            <a:fillRect/>
          </a:stretch>
        </p:blipFill>
        <p:spPr>
          <a:xfrm>
            <a:off x="594158" y="2138758"/>
            <a:ext cx="3236097" cy="2226268"/>
          </a:xfrm>
          <a:prstGeom prst="rect">
            <a:avLst/>
          </a:prstGeom>
        </p:spPr>
      </p:pic>
      <p:pic>
        <p:nvPicPr>
          <p:cNvPr id="13" name="Picture 12"/>
          <p:cNvPicPr>
            <a:picLocks noChangeAspect="1"/>
          </p:cNvPicPr>
          <p:nvPr/>
        </p:nvPicPr>
        <p:blipFill>
          <a:blip r:embed="rId3"/>
          <a:stretch>
            <a:fillRect/>
          </a:stretch>
        </p:blipFill>
        <p:spPr>
          <a:xfrm>
            <a:off x="7737855" y="2138758"/>
            <a:ext cx="3270909" cy="2443085"/>
          </a:xfrm>
          <a:prstGeom prst="rect">
            <a:avLst/>
          </a:prstGeom>
        </p:spPr>
      </p:pic>
      <p:sp>
        <p:nvSpPr>
          <p:cNvPr id="14" name="TextBox 13"/>
          <p:cNvSpPr txBox="1"/>
          <p:nvPr/>
        </p:nvSpPr>
        <p:spPr>
          <a:xfrm>
            <a:off x="862926" y="1772569"/>
            <a:ext cx="1946246" cy="261610"/>
          </a:xfrm>
          <a:prstGeom prst="rect">
            <a:avLst/>
          </a:prstGeom>
          <a:noFill/>
        </p:spPr>
        <p:txBody>
          <a:bodyPr wrap="square" rtlCol="0">
            <a:spAutoFit/>
          </a:bodyPr>
          <a:lstStyle/>
          <a:p>
            <a:r>
              <a:rPr lang="en-US" sz="1100" i="1" dirty="0"/>
              <a:t>Excel Default Scatter Plot</a:t>
            </a:r>
          </a:p>
        </p:txBody>
      </p:sp>
      <p:sp>
        <p:nvSpPr>
          <p:cNvPr id="19" name="TextBox 18"/>
          <p:cNvSpPr txBox="1"/>
          <p:nvPr/>
        </p:nvSpPr>
        <p:spPr>
          <a:xfrm>
            <a:off x="8422672" y="1780703"/>
            <a:ext cx="2326743" cy="261610"/>
          </a:xfrm>
          <a:prstGeom prst="rect">
            <a:avLst/>
          </a:prstGeom>
          <a:noFill/>
        </p:spPr>
        <p:txBody>
          <a:bodyPr wrap="square" rtlCol="0">
            <a:spAutoFit/>
          </a:bodyPr>
          <a:lstStyle/>
          <a:p>
            <a:r>
              <a:rPr lang="en-US" sz="1100" i="1" dirty="0"/>
              <a:t>Customized Scatter Plot</a:t>
            </a:r>
          </a:p>
        </p:txBody>
      </p:sp>
      <p:sp>
        <p:nvSpPr>
          <p:cNvPr id="20" name="TextBox 19"/>
          <p:cNvSpPr txBox="1"/>
          <p:nvPr/>
        </p:nvSpPr>
        <p:spPr>
          <a:xfrm>
            <a:off x="976878" y="5009268"/>
            <a:ext cx="2202206" cy="461665"/>
          </a:xfrm>
          <a:prstGeom prst="rect">
            <a:avLst/>
          </a:prstGeom>
          <a:noFill/>
        </p:spPr>
        <p:txBody>
          <a:bodyPr wrap="square" rtlCol="0">
            <a:spAutoFit/>
          </a:bodyPr>
          <a:lstStyle/>
          <a:p>
            <a:r>
              <a:rPr lang="en-US" sz="1200" dirty="0">
                <a:solidFill>
                  <a:schemeClr val="accent1">
                    <a:lumMod val="75000"/>
                  </a:schemeClr>
                </a:solidFill>
              </a:rPr>
              <a:t>No title, no axis labels, poor format on axis numbers.</a:t>
            </a:r>
          </a:p>
        </p:txBody>
      </p:sp>
      <p:sp>
        <p:nvSpPr>
          <p:cNvPr id="11" name="TextBox 10"/>
          <p:cNvSpPr txBox="1"/>
          <p:nvPr/>
        </p:nvSpPr>
        <p:spPr>
          <a:xfrm>
            <a:off x="7737855" y="4765263"/>
            <a:ext cx="3382234" cy="769441"/>
          </a:xfrm>
          <a:prstGeom prst="rect">
            <a:avLst/>
          </a:prstGeom>
          <a:noFill/>
        </p:spPr>
        <p:txBody>
          <a:bodyPr wrap="square" rtlCol="0">
            <a:spAutoFit/>
          </a:bodyPr>
          <a:lstStyle/>
          <a:p>
            <a:r>
              <a:rPr lang="en-US" sz="1100" i="1" dirty="0">
                <a:solidFill>
                  <a:srgbClr val="C00000"/>
                </a:solidFill>
              </a:rPr>
              <a:t>Note: </a:t>
            </a:r>
            <a:r>
              <a:rPr lang="en-US" sz="1100" dirty="0">
                <a:solidFill>
                  <a:schemeClr val="accent1">
                    <a:lumMod val="75000"/>
                  </a:schemeClr>
                </a:solidFill>
              </a:rPr>
              <a:t>If you add a fitted regression (which Excel calls a “trend”) you suggest cause-and-effect. Do higher college graduation rates cause higher per capita income in a state?</a:t>
            </a:r>
          </a:p>
        </p:txBody>
      </p:sp>
      <p:sp>
        <p:nvSpPr>
          <p:cNvPr id="3" name="Up Arrow 2"/>
          <p:cNvSpPr/>
          <p:nvPr/>
        </p:nvSpPr>
        <p:spPr>
          <a:xfrm>
            <a:off x="1943758" y="4638745"/>
            <a:ext cx="268447" cy="22502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sp>
        <p:nvSpPr>
          <p:cNvPr id="6" name="Footer Placeholder 5">
            <a:extLst>
              <a:ext uri="{FF2B5EF4-FFF2-40B4-BE49-F238E27FC236}">
                <a16:creationId xmlns:a16="http://schemas.microsoft.com/office/drawing/2014/main" id="{506B6C28-3CCE-C198-7B25-F6C64A3A9D0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522498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scatter plots</a:t>
            </a:r>
          </a:p>
        </p:txBody>
      </p:sp>
      <p:sp>
        <p:nvSpPr>
          <p:cNvPr id="11" name="TextBox 8"/>
          <p:cNvSpPr txBox="1"/>
          <p:nvPr/>
        </p:nvSpPr>
        <p:spPr>
          <a:xfrm>
            <a:off x="7867378" y="1523719"/>
            <a:ext cx="2205533" cy="34675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b="1" i="0" baseline="0" dirty="0">
                <a:solidFill>
                  <a:schemeClr val="accent1">
                    <a:lumMod val="75000"/>
                  </a:schemeClr>
                </a:solidFill>
                <a:effectLst/>
                <a:latin typeface="+mn-lt"/>
                <a:ea typeface="+mn-ea"/>
                <a:cs typeface="+mn-cs"/>
              </a:rPr>
              <a:t>Step 1: </a:t>
            </a:r>
            <a:r>
              <a:rPr lang="en-US" sz="1100" i="0" baseline="0" dirty="0">
                <a:solidFill>
                  <a:schemeClr val="dk1"/>
                </a:solidFill>
                <a:effectLst/>
                <a:latin typeface="+mn-lt"/>
                <a:ea typeface="+mn-ea"/>
                <a:cs typeface="+mn-cs"/>
              </a:rPr>
              <a:t>C</a:t>
            </a:r>
            <a:r>
              <a:rPr lang="en-US" sz="1100" i="0" dirty="0">
                <a:solidFill>
                  <a:schemeClr val="dk1"/>
                </a:solidFill>
                <a:effectLst/>
                <a:latin typeface="+mn-lt"/>
                <a:ea typeface="+mn-ea"/>
                <a:cs typeface="+mn-cs"/>
              </a:rPr>
              <a:t>l</a:t>
            </a:r>
            <a:r>
              <a:rPr lang="en-US" sz="1100" i="0" baseline="0" dirty="0">
                <a:solidFill>
                  <a:schemeClr val="dk1"/>
                </a:solidFill>
                <a:effectLst/>
                <a:latin typeface="+mn-lt"/>
                <a:ea typeface="+mn-ea"/>
                <a:cs typeface="+mn-cs"/>
              </a:rPr>
              <a:t>ick</a:t>
            </a:r>
            <a:r>
              <a:rPr lang="en-US" sz="1100" i="0" dirty="0">
                <a:solidFill>
                  <a:schemeClr val="dk1"/>
                </a:solidFill>
                <a:effectLst/>
                <a:latin typeface="+mn-lt"/>
                <a:ea typeface="+mn-ea"/>
                <a:cs typeface="+mn-cs"/>
              </a:rPr>
              <a:t> on the dots in your scatter plot.</a:t>
            </a:r>
            <a:endParaRPr lang="en-US" sz="1100" dirty="0"/>
          </a:p>
        </p:txBody>
      </p:sp>
      <p:sp>
        <p:nvSpPr>
          <p:cNvPr id="12" name="TextBox 11"/>
          <p:cNvSpPr txBox="1"/>
          <p:nvPr/>
        </p:nvSpPr>
        <p:spPr>
          <a:xfrm>
            <a:off x="7867378" y="2071272"/>
            <a:ext cx="2760808" cy="40168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2. </a:t>
            </a:r>
            <a:r>
              <a:rPr lang="en-US" dirty="0"/>
              <a:t>Right-click and choose </a:t>
            </a:r>
            <a:r>
              <a:rPr lang="en-US" dirty="0">
                <a:solidFill>
                  <a:schemeClr val="accent1">
                    <a:lumMod val="75000"/>
                  </a:schemeClr>
                </a:solidFill>
              </a:rPr>
              <a:t>Add </a:t>
            </a:r>
            <a:r>
              <a:rPr lang="en-US" dirty="0" err="1">
                <a:solidFill>
                  <a:schemeClr val="accent1">
                    <a:lumMod val="75000"/>
                  </a:schemeClr>
                </a:solidFill>
              </a:rPr>
              <a:t>Trendline</a:t>
            </a:r>
            <a:r>
              <a:rPr lang="en-US" dirty="0"/>
              <a:t>. The default is </a:t>
            </a:r>
            <a:r>
              <a:rPr lang="en-US" dirty="0">
                <a:solidFill>
                  <a:schemeClr val="accent1">
                    <a:lumMod val="75000"/>
                  </a:schemeClr>
                </a:solidFill>
              </a:rPr>
              <a:t>Linear</a:t>
            </a:r>
            <a:r>
              <a:rPr lang="en-US" dirty="0"/>
              <a:t>.</a:t>
            </a:r>
          </a:p>
          <a:p>
            <a:endParaRPr lang="en-US" sz="1100" dirty="0"/>
          </a:p>
        </p:txBody>
      </p:sp>
      <p:sp>
        <p:nvSpPr>
          <p:cNvPr id="13" name="TextBox 8"/>
          <p:cNvSpPr txBox="1"/>
          <p:nvPr/>
        </p:nvSpPr>
        <p:spPr>
          <a:xfrm>
            <a:off x="7867378" y="2588386"/>
            <a:ext cx="2511336" cy="40782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b="1" dirty="0">
                <a:solidFill>
                  <a:schemeClr val="accent1">
                    <a:lumMod val="75000"/>
                  </a:schemeClr>
                </a:solidFill>
              </a:rPr>
              <a:t>Step 3. </a:t>
            </a:r>
            <a:r>
              <a:rPr lang="en-US" dirty="0"/>
              <a:t>Click options to display the equation and </a:t>
            </a:r>
            <a:r>
              <a:rPr lang="en-US" i="1" dirty="0"/>
              <a:t>R</a:t>
            </a:r>
            <a:r>
              <a:rPr lang="en-US" baseline="30000" dirty="0"/>
              <a:t>2</a:t>
            </a:r>
            <a:r>
              <a:rPr lang="en-US" dirty="0"/>
              <a:t> of the fitted line.</a:t>
            </a:r>
            <a:endParaRPr lang="en-US" sz="1100" dirty="0"/>
          </a:p>
        </p:txBody>
      </p:sp>
      <p:pic>
        <p:nvPicPr>
          <p:cNvPr id="8" name="Picture 7"/>
          <p:cNvPicPr>
            <a:picLocks noChangeAspect="1"/>
          </p:cNvPicPr>
          <p:nvPr/>
        </p:nvPicPr>
        <p:blipFill>
          <a:blip r:embed="rId2"/>
          <a:stretch>
            <a:fillRect/>
          </a:stretch>
        </p:blipFill>
        <p:spPr>
          <a:xfrm>
            <a:off x="5127870" y="1470094"/>
            <a:ext cx="1974774" cy="4158793"/>
          </a:xfrm>
          <a:prstGeom prst="rect">
            <a:avLst/>
          </a:prstGeom>
        </p:spPr>
      </p:pic>
      <p:sp>
        <p:nvSpPr>
          <p:cNvPr id="3" name="TextBox 2"/>
          <p:cNvSpPr txBox="1"/>
          <p:nvPr/>
        </p:nvSpPr>
        <p:spPr>
          <a:xfrm>
            <a:off x="8230935" y="1129717"/>
            <a:ext cx="2052834" cy="276999"/>
          </a:xfrm>
          <a:prstGeom prst="rect">
            <a:avLst/>
          </a:prstGeom>
          <a:noFill/>
        </p:spPr>
        <p:txBody>
          <a:bodyPr wrap="square" rtlCol="0">
            <a:spAutoFit/>
          </a:bodyPr>
          <a:lstStyle/>
          <a:p>
            <a:r>
              <a:rPr lang="en-US" sz="1200" i="1" dirty="0"/>
              <a:t>To add a trend line:</a:t>
            </a:r>
          </a:p>
        </p:txBody>
      </p:sp>
      <p:sp>
        <p:nvSpPr>
          <p:cNvPr id="4" name="Right Arrow 3"/>
          <p:cNvSpPr/>
          <p:nvPr/>
        </p:nvSpPr>
        <p:spPr>
          <a:xfrm>
            <a:off x="4801465" y="2637646"/>
            <a:ext cx="326404" cy="2925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255006" y="2464064"/>
            <a:ext cx="722096" cy="21460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5117794" y="4997644"/>
            <a:ext cx="1645201" cy="40106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p:cNvPicPr>
            <a:picLocks noChangeAspect="1"/>
          </p:cNvPicPr>
          <p:nvPr/>
        </p:nvPicPr>
        <p:blipFill>
          <a:blip r:embed="rId3"/>
          <a:stretch>
            <a:fillRect/>
          </a:stretch>
        </p:blipFill>
        <p:spPr>
          <a:xfrm>
            <a:off x="7430291" y="3323083"/>
            <a:ext cx="3770119" cy="2518831"/>
          </a:xfrm>
          <a:prstGeom prst="rect">
            <a:avLst/>
          </a:prstGeom>
        </p:spPr>
      </p:pic>
      <p:sp>
        <p:nvSpPr>
          <p:cNvPr id="31" name="Down Arrow 30"/>
          <p:cNvSpPr/>
          <p:nvPr/>
        </p:nvSpPr>
        <p:spPr>
          <a:xfrm>
            <a:off x="8854682" y="3079658"/>
            <a:ext cx="253064" cy="2053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pic>
        <p:nvPicPr>
          <p:cNvPr id="9" name="Picture 8"/>
          <p:cNvPicPr>
            <a:picLocks noChangeAspect="1"/>
          </p:cNvPicPr>
          <p:nvPr/>
        </p:nvPicPr>
        <p:blipFill>
          <a:blip r:embed="rId5"/>
          <a:stretch>
            <a:fillRect/>
          </a:stretch>
        </p:blipFill>
        <p:spPr>
          <a:xfrm>
            <a:off x="667206" y="1464062"/>
            <a:ext cx="3972479" cy="2429214"/>
          </a:xfrm>
          <a:prstGeom prst="rect">
            <a:avLst/>
          </a:prstGeom>
        </p:spPr>
      </p:pic>
      <p:sp>
        <p:nvSpPr>
          <p:cNvPr id="18" name="Rounded Rectangle 6"/>
          <p:cNvSpPr/>
          <p:nvPr/>
        </p:nvSpPr>
        <p:spPr>
          <a:xfrm>
            <a:off x="3367539" y="3481150"/>
            <a:ext cx="722096" cy="21460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472E30EE-AAB8-5D7D-4EFB-6FCF1548239A}"/>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140693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scatter plots</a:t>
            </a:r>
          </a:p>
        </p:txBody>
      </p:sp>
      <p:sp>
        <p:nvSpPr>
          <p:cNvPr id="15" name="TextBox 8"/>
          <p:cNvSpPr txBox="1"/>
          <p:nvPr/>
        </p:nvSpPr>
        <p:spPr>
          <a:xfrm>
            <a:off x="4713476" y="1656163"/>
            <a:ext cx="2449055" cy="31467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b="1" dirty="0">
                <a:solidFill>
                  <a:schemeClr val="accent1">
                    <a:lumMod val="75000"/>
                  </a:schemeClr>
                </a:solidFill>
              </a:rPr>
              <a:t>SUGGESTIONS</a:t>
            </a:r>
          </a:p>
          <a:p>
            <a:endParaRPr lang="en-US" dirty="0"/>
          </a:p>
          <a:p>
            <a:pPr marL="228600" indent="-228600">
              <a:spcAft>
                <a:spcPts val="600"/>
              </a:spcAft>
              <a:buFont typeface="+mj-lt"/>
              <a:buAutoNum type="arabicPeriod"/>
            </a:pPr>
            <a:r>
              <a:rPr lang="en-US" dirty="0"/>
              <a:t>Add a title and axis labels.</a:t>
            </a:r>
          </a:p>
          <a:p>
            <a:pPr marL="228600" indent="-228600">
              <a:spcAft>
                <a:spcPts val="600"/>
              </a:spcAft>
              <a:buFont typeface="+mj-lt"/>
              <a:buAutoNum type="arabicPeriod"/>
            </a:pPr>
            <a:r>
              <a:rPr lang="en-US" dirty="0"/>
              <a:t>Move the trend equation text box to a better location and increase its font size for readability. </a:t>
            </a:r>
          </a:p>
          <a:p>
            <a:pPr marL="228600" indent="-228600">
              <a:spcAft>
                <a:spcPts val="600"/>
              </a:spcAft>
              <a:buFont typeface="+mj-lt"/>
              <a:buAutoNum type="arabicPeriod"/>
            </a:pPr>
            <a:r>
              <a:rPr lang="en-US" dirty="0"/>
              <a:t>Click on the </a:t>
            </a:r>
            <a:r>
              <a:rPr lang="en-US" dirty="0" err="1"/>
              <a:t>trendline</a:t>
            </a:r>
            <a:r>
              <a:rPr lang="en-US" dirty="0"/>
              <a:t>. Change its color, style, and width.</a:t>
            </a:r>
          </a:p>
          <a:p>
            <a:pPr marL="228600" indent="-228600">
              <a:spcAft>
                <a:spcPts val="600"/>
              </a:spcAft>
              <a:buFont typeface="+mj-lt"/>
              <a:buAutoNum type="arabicPeriod"/>
            </a:pPr>
            <a:r>
              <a:rPr lang="en-US" dirty="0"/>
              <a:t>Right-click on the </a:t>
            </a:r>
            <a:r>
              <a:rPr lang="en-US" i="1" dirty="0"/>
              <a:t>X</a:t>
            </a:r>
            <a:r>
              <a:rPr lang="en-US" dirty="0"/>
              <a:t>-axis and adjust the scale decimals (on the </a:t>
            </a:r>
            <a:r>
              <a:rPr lang="en-US" dirty="0">
                <a:solidFill>
                  <a:schemeClr val="accent1">
                    <a:lumMod val="75000"/>
                  </a:schemeClr>
                </a:solidFill>
              </a:rPr>
              <a:t>Number</a:t>
            </a:r>
            <a:r>
              <a:rPr lang="en-US" dirty="0"/>
              <a:t> menu).</a:t>
            </a:r>
          </a:p>
          <a:p>
            <a:pPr marL="228600" indent="-228600">
              <a:spcAft>
                <a:spcPts val="600"/>
              </a:spcAft>
              <a:buFont typeface="+mj-lt"/>
              <a:buAutoNum type="arabicPeriod"/>
            </a:pPr>
            <a:r>
              <a:rPr lang="en-US" dirty="0"/>
              <a:t>Right-click on the </a:t>
            </a:r>
            <a:r>
              <a:rPr lang="en-US" i="1" dirty="0"/>
              <a:t>Y</a:t>
            </a:r>
            <a:r>
              <a:rPr lang="en-US" dirty="0"/>
              <a:t>-axis and use comma format (on the </a:t>
            </a:r>
            <a:r>
              <a:rPr lang="en-US" dirty="0">
                <a:solidFill>
                  <a:schemeClr val="accent1">
                    <a:lumMod val="75000"/>
                  </a:schemeClr>
                </a:solidFill>
              </a:rPr>
              <a:t>Number</a:t>
            </a:r>
            <a:r>
              <a:rPr lang="en-US" dirty="0"/>
              <a:t> menu).</a:t>
            </a:r>
            <a:endParaRPr lang="en-US" sz="1100" dirty="0"/>
          </a:p>
        </p:txBody>
      </p:sp>
      <p:pic>
        <p:nvPicPr>
          <p:cNvPr id="3" name="Picture 2"/>
          <p:cNvPicPr>
            <a:picLocks noChangeAspect="1"/>
          </p:cNvPicPr>
          <p:nvPr/>
        </p:nvPicPr>
        <p:blipFill>
          <a:blip r:embed="rId2"/>
          <a:stretch>
            <a:fillRect/>
          </a:stretch>
        </p:blipFill>
        <p:spPr>
          <a:xfrm>
            <a:off x="591063" y="2055092"/>
            <a:ext cx="4122413" cy="2754200"/>
          </a:xfrm>
          <a:prstGeom prst="rect">
            <a:avLst/>
          </a:prstGeom>
        </p:spPr>
      </p:pic>
      <p:sp>
        <p:nvSpPr>
          <p:cNvPr id="4" name="TextBox 3"/>
          <p:cNvSpPr txBox="1"/>
          <p:nvPr/>
        </p:nvSpPr>
        <p:spPr>
          <a:xfrm>
            <a:off x="2049379" y="1668167"/>
            <a:ext cx="1205779" cy="261610"/>
          </a:xfrm>
          <a:prstGeom prst="rect">
            <a:avLst/>
          </a:prstGeom>
          <a:noFill/>
        </p:spPr>
        <p:txBody>
          <a:bodyPr wrap="none" rtlCol="0">
            <a:spAutoFit/>
          </a:bodyPr>
          <a:lstStyle/>
          <a:p>
            <a:r>
              <a:rPr lang="en-US" sz="1100" i="1" dirty="0"/>
              <a:t>Excel default trend</a:t>
            </a:r>
          </a:p>
        </p:txBody>
      </p:sp>
      <p:pic>
        <p:nvPicPr>
          <p:cNvPr id="6" name="Picture 5"/>
          <p:cNvPicPr>
            <a:picLocks noChangeAspect="1"/>
          </p:cNvPicPr>
          <p:nvPr/>
        </p:nvPicPr>
        <p:blipFill>
          <a:blip r:embed="rId3"/>
          <a:stretch>
            <a:fillRect/>
          </a:stretch>
        </p:blipFill>
        <p:spPr>
          <a:xfrm>
            <a:off x="7562760" y="2055092"/>
            <a:ext cx="3722184" cy="2780149"/>
          </a:xfrm>
          <a:prstGeom prst="rect">
            <a:avLst/>
          </a:prstGeom>
        </p:spPr>
      </p:pic>
      <p:sp>
        <p:nvSpPr>
          <p:cNvPr id="19" name="TextBox 18"/>
          <p:cNvSpPr txBox="1"/>
          <p:nvPr/>
        </p:nvSpPr>
        <p:spPr>
          <a:xfrm>
            <a:off x="8697829" y="1668167"/>
            <a:ext cx="1133644" cy="261610"/>
          </a:xfrm>
          <a:prstGeom prst="rect">
            <a:avLst/>
          </a:prstGeom>
          <a:noFill/>
        </p:spPr>
        <p:txBody>
          <a:bodyPr wrap="none" rtlCol="0">
            <a:spAutoFit/>
          </a:bodyPr>
          <a:lstStyle/>
          <a:p>
            <a:r>
              <a:rPr lang="en-US" sz="1100" i="1" dirty="0"/>
              <a:t>Customized chart</a:t>
            </a:r>
          </a:p>
        </p:txBody>
      </p:sp>
      <p:sp>
        <p:nvSpPr>
          <p:cNvPr id="8" name="TextBox 7"/>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sp>
        <p:nvSpPr>
          <p:cNvPr id="2" name="Footer Placeholder 1">
            <a:extLst>
              <a:ext uri="{FF2B5EF4-FFF2-40B4-BE49-F238E27FC236}">
                <a16:creationId xmlns:a16="http://schemas.microsoft.com/office/drawing/2014/main" id="{2969CF1C-D368-8F0F-4300-BC96E5F2689B}"/>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440747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scatter plots</a:t>
            </a:r>
          </a:p>
        </p:txBody>
      </p:sp>
      <p:sp>
        <p:nvSpPr>
          <p:cNvPr id="17" name="TextBox 16"/>
          <p:cNvSpPr txBox="1"/>
          <p:nvPr/>
        </p:nvSpPr>
        <p:spPr>
          <a:xfrm>
            <a:off x="7538091" y="4558110"/>
            <a:ext cx="3451549" cy="830997"/>
          </a:xfrm>
          <a:prstGeom prst="rect">
            <a:avLst/>
          </a:prstGeom>
          <a:noFill/>
        </p:spPr>
        <p:txBody>
          <a:bodyPr wrap="square" rtlCol="0">
            <a:spAutoFit/>
          </a:bodyPr>
          <a:lstStyle/>
          <a:p>
            <a:r>
              <a:rPr lang="en-US" sz="1200" i="1" dirty="0">
                <a:solidFill>
                  <a:srgbClr val="C00000"/>
                </a:solidFill>
              </a:rPr>
              <a:t>Option: </a:t>
            </a:r>
            <a:r>
              <a:rPr lang="en-US" sz="1200" dirty="0">
                <a:solidFill>
                  <a:schemeClr val="accent1">
                    <a:lumMod val="75000"/>
                  </a:schemeClr>
                </a:solidFill>
              </a:rPr>
              <a:t>Regression treats </a:t>
            </a:r>
            <a:r>
              <a:rPr lang="en-US" sz="1200" i="1" dirty="0">
                <a:solidFill>
                  <a:schemeClr val="accent1">
                    <a:lumMod val="75000"/>
                  </a:schemeClr>
                </a:solidFill>
              </a:rPr>
              <a:t>X</a:t>
            </a:r>
            <a:r>
              <a:rPr lang="en-US" sz="1200" dirty="0">
                <a:solidFill>
                  <a:schemeClr val="accent1">
                    <a:lumMod val="75000"/>
                  </a:schemeClr>
                </a:solidFill>
              </a:rPr>
              <a:t> as the </a:t>
            </a:r>
            <a:r>
              <a:rPr lang="en-US" sz="1200" i="1" dirty="0">
                <a:solidFill>
                  <a:schemeClr val="accent1">
                    <a:lumMod val="75000"/>
                  </a:schemeClr>
                </a:solidFill>
              </a:rPr>
              <a:t>independent</a:t>
            </a:r>
            <a:r>
              <a:rPr lang="en-US" sz="1200" dirty="0">
                <a:solidFill>
                  <a:schemeClr val="accent1">
                    <a:lumMod val="75000"/>
                  </a:schemeClr>
                </a:solidFill>
              </a:rPr>
              <a:t> variable, suggesting that each extra percent in college graduation is associated with $919 of extra per capita income. Is that reasonable? </a:t>
            </a:r>
          </a:p>
        </p:txBody>
      </p:sp>
      <p:pic>
        <p:nvPicPr>
          <p:cNvPr id="19" name="Picture 18"/>
          <p:cNvPicPr>
            <a:picLocks noChangeAspect="1"/>
          </p:cNvPicPr>
          <p:nvPr/>
        </p:nvPicPr>
        <p:blipFill>
          <a:blip r:embed="rId2"/>
          <a:stretch>
            <a:fillRect/>
          </a:stretch>
        </p:blipFill>
        <p:spPr>
          <a:xfrm>
            <a:off x="523074" y="1543456"/>
            <a:ext cx="3558199" cy="2369657"/>
          </a:xfrm>
          <a:prstGeom prst="rect">
            <a:avLst/>
          </a:prstGeom>
        </p:spPr>
      </p:pic>
      <p:sp>
        <p:nvSpPr>
          <p:cNvPr id="21" name="Rounded Rectangle 20"/>
          <p:cNvSpPr/>
          <p:nvPr/>
        </p:nvSpPr>
        <p:spPr>
          <a:xfrm flipH="1">
            <a:off x="899370" y="3379525"/>
            <a:ext cx="411060" cy="32758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676179" y="4558110"/>
            <a:ext cx="3505295" cy="646331"/>
          </a:xfrm>
          <a:prstGeom prst="rect">
            <a:avLst/>
          </a:prstGeom>
          <a:noFill/>
        </p:spPr>
        <p:txBody>
          <a:bodyPr wrap="square" rtlCol="0">
            <a:spAutoFit/>
          </a:bodyPr>
          <a:lstStyle/>
          <a:p>
            <a:r>
              <a:rPr lang="en-US" sz="1200" i="1" dirty="0">
                <a:solidFill>
                  <a:srgbClr val="C00000"/>
                </a:solidFill>
              </a:rPr>
              <a:t>Option: </a:t>
            </a:r>
            <a:r>
              <a:rPr lang="en-US" sz="1200" dirty="0">
                <a:solidFill>
                  <a:schemeClr val="accent1">
                    <a:lumMod val="75000"/>
                  </a:schemeClr>
                </a:solidFill>
              </a:rPr>
              <a:t>The default origin (0, 0) is conservative, but “wastes” much of the graph. Should we change the origin, say to (15, 20000) to reveal more detail?</a:t>
            </a:r>
          </a:p>
        </p:txBody>
      </p:sp>
      <p:sp>
        <p:nvSpPr>
          <p:cNvPr id="14" name="Up Arrow 13"/>
          <p:cNvSpPr/>
          <p:nvPr/>
        </p:nvSpPr>
        <p:spPr>
          <a:xfrm>
            <a:off x="918033" y="4030207"/>
            <a:ext cx="324623" cy="3395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Up Arrow 27"/>
          <p:cNvSpPr/>
          <p:nvPr/>
        </p:nvSpPr>
        <p:spPr>
          <a:xfrm>
            <a:off x="9056413" y="4030207"/>
            <a:ext cx="324623" cy="3395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8"/>
          <p:cNvSpPr txBox="1"/>
          <p:nvPr/>
        </p:nvSpPr>
        <p:spPr>
          <a:xfrm>
            <a:off x="4319799" y="1469759"/>
            <a:ext cx="2801166" cy="244335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b="1" dirty="0">
                <a:solidFill>
                  <a:schemeClr val="accent1">
                    <a:lumMod val="75000"/>
                  </a:schemeClr>
                </a:solidFill>
              </a:rPr>
              <a:t>MORE OPTIONS</a:t>
            </a:r>
          </a:p>
          <a:p>
            <a:pPr marL="228600" indent="-228600">
              <a:spcAft>
                <a:spcPts val="600"/>
              </a:spcAft>
              <a:buFont typeface="+mj-lt"/>
              <a:buAutoNum type="arabicPeriod"/>
            </a:pPr>
            <a:endParaRPr lang="en-US" dirty="0"/>
          </a:p>
          <a:p>
            <a:pPr marL="228600" indent="-228600">
              <a:spcAft>
                <a:spcPts val="600"/>
              </a:spcAft>
              <a:buFont typeface="+mj-lt"/>
              <a:buAutoNum type="arabicPeriod"/>
            </a:pPr>
            <a:r>
              <a:rPr lang="en-US" dirty="0"/>
              <a:t>Click on the X or Y axis to adjust the origin (</a:t>
            </a:r>
            <a:r>
              <a:rPr lang="en-US" i="1" dirty="0" err="1"/>
              <a:t>X</a:t>
            </a:r>
            <a:r>
              <a:rPr lang="en-US" baseline="-25000" dirty="0" err="1"/>
              <a:t>min</a:t>
            </a:r>
            <a:r>
              <a:rPr lang="en-US" dirty="0"/>
              <a:t> , </a:t>
            </a:r>
            <a:r>
              <a:rPr lang="en-US" i="1" dirty="0" err="1"/>
              <a:t>Y</a:t>
            </a:r>
            <a:r>
              <a:rPr lang="en-US" baseline="-25000" dirty="0" err="1"/>
              <a:t>min</a:t>
            </a:r>
            <a:r>
              <a:rPr lang="en-US" dirty="0"/>
              <a:t>) if you think that more detail is needed.</a:t>
            </a:r>
          </a:p>
          <a:p>
            <a:pPr marL="228600" indent="-228600">
              <a:spcAft>
                <a:spcPts val="600"/>
              </a:spcAft>
              <a:buFont typeface="+mj-lt"/>
              <a:buAutoNum type="arabicPeriod"/>
            </a:pPr>
            <a:r>
              <a:rPr lang="en-US" dirty="0"/>
              <a:t>The </a:t>
            </a:r>
            <a:r>
              <a:rPr lang="en-US" dirty="0" err="1"/>
              <a:t>trendline</a:t>
            </a:r>
            <a:r>
              <a:rPr lang="en-US" dirty="0"/>
              <a:t> does not have to be linear. You can click on it and choose a different functional form.</a:t>
            </a:r>
          </a:p>
          <a:p>
            <a:pPr marL="228600" indent="-228600">
              <a:spcAft>
                <a:spcPts val="600"/>
              </a:spcAft>
              <a:buFont typeface="+mj-lt"/>
              <a:buAutoNum type="arabicPeriod"/>
            </a:pPr>
            <a:r>
              <a:rPr lang="en-US" dirty="0"/>
              <a:t>Click the Chart Area or Plot Area to try different colors, or try styles from the </a:t>
            </a:r>
            <a:r>
              <a:rPr lang="en-US" dirty="0">
                <a:solidFill>
                  <a:schemeClr val="accent1">
                    <a:lumMod val="75000"/>
                  </a:schemeClr>
                </a:solidFill>
              </a:rPr>
              <a:t>Design</a:t>
            </a:r>
            <a:r>
              <a:rPr lang="en-US" dirty="0"/>
              <a:t> ribbon.</a:t>
            </a:r>
          </a:p>
          <a:p>
            <a:endParaRPr lang="en-US" sz="1100" dirty="0"/>
          </a:p>
        </p:txBody>
      </p:sp>
      <p:sp>
        <p:nvSpPr>
          <p:cNvPr id="32" name="TextBox 31"/>
          <p:cNvSpPr txBox="1"/>
          <p:nvPr/>
        </p:nvSpPr>
        <p:spPr>
          <a:xfrm>
            <a:off x="4853605" y="4604277"/>
            <a:ext cx="1885405" cy="600164"/>
          </a:xfrm>
          <a:prstGeom prst="rect">
            <a:avLst/>
          </a:prstGeom>
          <a:noFill/>
        </p:spPr>
        <p:txBody>
          <a:bodyPr wrap="square" rtlCol="0">
            <a:spAutoFit/>
          </a:bodyPr>
          <a:lstStyle/>
          <a:p>
            <a:r>
              <a:rPr lang="en-US" sz="1100" i="1" dirty="0">
                <a:solidFill>
                  <a:srgbClr val="C00000"/>
                </a:solidFill>
              </a:rPr>
              <a:t>Note:  </a:t>
            </a:r>
            <a:r>
              <a:rPr lang="en-US" sz="1100" dirty="0">
                <a:solidFill>
                  <a:schemeClr val="accent1">
                    <a:lumMod val="75000"/>
                  </a:schemeClr>
                </a:solidFill>
              </a:rPr>
              <a:t>A non-linear trend may give a better fit, but may be harder to interpret.</a:t>
            </a:r>
          </a:p>
        </p:txBody>
      </p:sp>
      <p:pic>
        <p:nvPicPr>
          <p:cNvPr id="33" name="Picture 32"/>
          <p:cNvPicPr>
            <a:picLocks noChangeAspect="1"/>
          </p:cNvPicPr>
          <p:nvPr/>
        </p:nvPicPr>
        <p:blipFill>
          <a:blip r:embed="rId3"/>
          <a:stretch>
            <a:fillRect/>
          </a:stretch>
        </p:blipFill>
        <p:spPr>
          <a:xfrm>
            <a:off x="5341279" y="4139485"/>
            <a:ext cx="758207" cy="458489"/>
          </a:xfrm>
          <a:prstGeom prst="rect">
            <a:avLst/>
          </a:prstGeom>
        </p:spPr>
      </p:pic>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pic>
        <p:nvPicPr>
          <p:cNvPr id="2" name="Picture 1"/>
          <p:cNvPicPr>
            <a:picLocks noChangeAspect="1"/>
          </p:cNvPicPr>
          <p:nvPr/>
        </p:nvPicPr>
        <p:blipFill>
          <a:blip r:embed="rId5"/>
          <a:stretch>
            <a:fillRect/>
          </a:stretch>
        </p:blipFill>
        <p:spPr>
          <a:xfrm>
            <a:off x="7120965" y="1543456"/>
            <a:ext cx="3475458" cy="2328511"/>
          </a:xfrm>
          <a:prstGeom prst="rect">
            <a:avLst/>
          </a:prstGeom>
        </p:spPr>
      </p:pic>
      <p:sp>
        <p:nvSpPr>
          <p:cNvPr id="3" name="Footer Placeholder 2">
            <a:extLst>
              <a:ext uri="{FF2B5EF4-FFF2-40B4-BE49-F238E27FC236}">
                <a16:creationId xmlns:a16="http://schemas.microsoft.com/office/drawing/2014/main" id="{938797E1-C76A-286D-B9FD-A288E7FF360C}"/>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792928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3 – </a:t>
            </a:r>
            <a:r>
              <a:rPr lang="en-US" sz="3200" dirty="0" err="1">
                <a:solidFill>
                  <a:schemeClr val="accent1"/>
                </a:solidFill>
              </a:rPr>
              <a:t>SCATTEr</a:t>
            </a:r>
            <a:r>
              <a:rPr lang="en-US" sz="3200" dirty="0">
                <a:solidFill>
                  <a:schemeClr val="accent1"/>
                </a:solidFill>
              </a:rPr>
              <a:t> PLOTS</a:t>
            </a:r>
          </a:p>
        </p:txBody>
      </p:sp>
      <p:pic>
        <p:nvPicPr>
          <p:cNvPr id="3" name="Picture 2"/>
          <p:cNvPicPr>
            <a:picLocks noChangeAspect="1"/>
          </p:cNvPicPr>
          <p:nvPr/>
        </p:nvPicPr>
        <p:blipFill>
          <a:blip r:embed="rId2"/>
          <a:stretch>
            <a:fillRect/>
          </a:stretch>
        </p:blipFill>
        <p:spPr>
          <a:xfrm>
            <a:off x="455357" y="1360809"/>
            <a:ext cx="7951286" cy="1072861"/>
          </a:xfrm>
          <a:prstGeom prst="rect">
            <a:avLst/>
          </a:prstGeom>
        </p:spPr>
      </p:pic>
      <p:sp>
        <p:nvSpPr>
          <p:cNvPr id="6" name="Rounded Rectangle 5"/>
          <p:cNvSpPr/>
          <p:nvPr/>
        </p:nvSpPr>
        <p:spPr>
          <a:xfrm>
            <a:off x="7134137" y="1889465"/>
            <a:ext cx="1133475" cy="222674"/>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6400765" y="2640501"/>
            <a:ext cx="3959445" cy="2680046"/>
          </a:xfrm>
          <a:prstGeom prst="rect">
            <a:avLst/>
          </a:prstGeom>
        </p:spPr>
      </p:pic>
      <p:sp>
        <p:nvSpPr>
          <p:cNvPr id="12" name="TextBox 11"/>
          <p:cNvSpPr txBox="1"/>
          <p:nvPr/>
        </p:nvSpPr>
        <p:spPr>
          <a:xfrm>
            <a:off x="2686572" y="2659706"/>
            <a:ext cx="3054352" cy="646331"/>
          </a:xfrm>
          <a:prstGeom prst="rect">
            <a:avLst/>
          </a:prstGeom>
          <a:noFill/>
        </p:spPr>
        <p:txBody>
          <a:bodyPr wrap="square" rtlCol="0">
            <a:spAutoFit/>
          </a:bodyPr>
          <a:lstStyle/>
          <a:p>
            <a:r>
              <a:rPr lang="en-US" sz="1200" i="1" dirty="0">
                <a:solidFill>
                  <a:srgbClr val="C00000"/>
                </a:solidFill>
              </a:rPr>
              <a:t>Note: </a:t>
            </a:r>
            <a:r>
              <a:rPr lang="en-US" sz="1200" dirty="0"/>
              <a:t>The </a:t>
            </a:r>
            <a:r>
              <a:rPr lang="en-US" sz="1200" dirty="0">
                <a:solidFill>
                  <a:srgbClr val="C00000"/>
                </a:solidFill>
              </a:rPr>
              <a:t>Regression</a:t>
            </a:r>
            <a:r>
              <a:rPr lang="en-US" sz="1200" dirty="0"/>
              <a:t> option gives you </a:t>
            </a:r>
            <a:r>
              <a:rPr lang="en-US" sz="1200" i="1" dirty="0"/>
              <a:t>R</a:t>
            </a:r>
            <a:r>
              <a:rPr lang="en-US" sz="1200" baseline="30000" dirty="0"/>
              <a:t>2</a:t>
            </a:r>
            <a:r>
              <a:rPr lang="en-US" sz="1200" dirty="0"/>
              <a:t> and estimated coefficients, but also includes tests of significance.</a:t>
            </a:r>
          </a:p>
        </p:txBody>
      </p:sp>
      <p:sp>
        <p:nvSpPr>
          <p:cNvPr id="13" name="Rounded Rectangle 12"/>
          <p:cNvSpPr/>
          <p:nvPr/>
        </p:nvSpPr>
        <p:spPr>
          <a:xfrm>
            <a:off x="7200466" y="4991878"/>
            <a:ext cx="403984" cy="29625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7152253" y="3230892"/>
            <a:ext cx="500409" cy="15029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8380487" y="3046089"/>
            <a:ext cx="1461311" cy="769441"/>
          </a:xfrm>
          <a:prstGeom prst="rect">
            <a:avLst/>
          </a:prstGeom>
          <a:noFill/>
        </p:spPr>
        <p:txBody>
          <a:bodyPr wrap="square" rtlCol="0">
            <a:spAutoFit/>
          </a:bodyPr>
          <a:lstStyle/>
          <a:p>
            <a:r>
              <a:rPr lang="en-US" sz="1100" i="1" dirty="0">
                <a:solidFill>
                  <a:srgbClr val="C00000"/>
                </a:solidFill>
              </a:rPr>
              <a:t>Note:  </a:t>
            </a:r>
            <a:r>
              <a:rPr lang="en-US" sz="1100" dirty="0"/>
              <a:t>The scatter plot </a:t>
            </a:r>
            <a:r>
              <a:rPr lang="en-US" sz="1100" dirty="0" err="1"/>
              <a:t>trendline</a:t>
            </a:r>
            <a:r>
              <a:rPr lang="en-US" sz="1100" dirty="0"/>
              <a:t> shows only the circled statistics.</a:t>
            </a:r>
          </a:p>
        </p:txBody>
      </p:sp>
      <p:sp>
        <p:nvSpPr>
          <p:cNvPr id="17" name="Left Arrow 16"/>
          <p:cNvSpPr/>
          <p:nvPr/>
        </p:nvSpPr>
        <p:spPr>
          <a:xfrm>
            <a:off x="7974951" y="3226062"/>
            <a:ext cx="292661" cy="31024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111142" y="1527026"/>
            <a:ext cx="1949793" cy="646331"/>
          </a:xfrm>
          <a:prstGeom prst="rect">
            <a:avLst/>
          </a:prstGeom>
          <a:noFill/>
        </p:spPr>
        <p:txBody>
          <a:bodyPr wrap="square" rtlCol="0">
            <a:spAutoFit/>
          </a:bodyPr>
          <a:lstStyle/>
          <a:p>
            <a:pPr>
              <a:spcBef>
                <a:spcPts val="600"/>
              </a:spcBef>
            </a:pPr>
            <a:r>
              <a:rPr lang="en-US" sz="1200" dirty="0"/>
              <a:t>From the </a:t>
            </a:r>
            <a:r>
              <a:rPr lang="en-US" sz="1200" dirty="0">
                <a:solidFill>
                  <a:srgbClr val="C00000"/>
                </a:solidFill>
              </a:rPr>
              <a:t>Data</a:t>
            </a:r>
            <a:r>
              <a:rPr lang="en-US" sz="1200" dirty="0"/>
              <a:t> ribbon, choose </a:t>
            </a:r>
            <a:r>
              <a:rPr lang="en-US" sz="1200" dirty="0">
                <a:solidFill>
                  <a:srgbClr val="C00000"/>
                </a:solidFill>
              </a:rPr>
              <a:t>Data Analysis </a:t>
            </a:r>
            <a:r>
              <a:rPr lang="en-US" sz="1200" dirty="0"/>
              <a:t>and </a:t>
            </a:r>
            <a:r>
              <a:rPr lang="en-US" sz="1200" dirty="0">
                <a:solidFill>
                  <a:srgbClr val="C00000"/>
                </a:solidFill>
              </a:rPr>
              <a:t>Regression</a:t>
            </a:r>
            <a:r>
              <a:rPr lang="en-US" sz="1200" dirty="0"/>
              <a:t>.</a:t>
            </a:r>
          </a:p>
        </p:txBody>
      </p:sp>
      <p:sp>
        <p:nvSpPr>
          <p:cNvPr id="19" name="Left Arrow 18"/>
          <p:cNvSpPr/>
          <p:nvPr/>
        </p:nvSpPr>
        <p:spPr>
          <a:xfrm>
            <a:off x="8652201" y="1666220"/>
            <a:ext cx="307910" cy="3452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pic>
        <p:nvPicPr>
          <p:cNvPr id="2" name="Picture 1"/>
          <p:cNvPicPr>
            <a:picLocks noChangeAspect="1"/>
          </p:cNvPicPr>
          <p:nvPr/>
        </p:nvPicPr>
        <p:blipFill>
          <a:blip r:embed="rId5"/>
          <a:stretch>
            <a:fillRect/>
          </a:stretch>
        </p:blipFill>
        <p:spPr>
          <a:xfrm>
            <a:off x="2495021" y="3889207"/>
            <a:ext cx="3705225" cy="1866900"/>
          </a:xfrm>
          <a:prstGeom prst="rect">
            <a:avLst/>
          </a:prstGeom>
        </p:spPr>
      </p:pic>
      <p:pic>
        <p:nvPicPr>
          <p:cNvPr id="20" name="Picture 19"/>
          <p:cNvPicPr>
            <a:picLocks noChangeAspect="1"/>
          </p:cNvPicPr>
          <p:nvPr/>
        </p:nvPicPr>
        <p:blipFill>
          <a:blip r:embed="rId6"/>
          <a:stretch>
            <a:fillRect/>
          </a:stretch>
        </p:blipFill>
        <p:spPr>
          <a:xfrm>
            <a:off x="455357" y="2706472"/>
            <a:ext cx="1869231" cy="1526451"/>
          </a:xfrm>
          <a:prstGeom prst="rect">
            <a:avLst/>
          </a:prstGeom>
        </p:spPr>
      </p:pic>
      <p:pic>
        <p:nvPicPr>
          <p:cNvPr id="21" name="Picture 20"/>
          <p:cNvPicPr>
            <a:picLocks noChangeAspect="1"/>
          </p:cNvPicPr>
          <p:nvPr/>
        </p:nvPicPr>
        <p:blipFill>
          <a:blip r:embed="rId7"/>
          <a:stretch>
            <a:fillRect/>
          </a:stretch>
        </p:blipFill>
        <p:spPr>
          <a:xfrm>
            <a:off x="455357" y="4523903"/>
            <a:ext cx="1839146" cy="1232204"/>
          </a:xfrm>
          <a:prstGeom prst="rect">
            <a:avLst/>
          </a:prstGeom>
        </p:spPr>
      </p:pic>
      <p:sp>
        <p:nvSpPr>
          <p:cNvPr id="22" name="Down Arrow 30"/>
          <p:cNvSpPr/>
          <p:nvPr/>
        </p:nvSpPr>
        <p:spPr>
          <a:xfrm>
            <a:off x="4044026" y="3460903"/>
            <a:ext cx="318650" cy="3044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9956C346-3849-C95E-A8A1-476A5FF6B7B0}"/>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258020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98955" y="1287584"/>
            <a:ext cx="4612023" cy="1416427"/>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4 – DATA ANALYSIS</a:t>
            </a:r>
          </a:p>
        </p:txBody>
      </p:sp>
      <p:sp>
        <p:nvSpPr>
          <p:cNvPr id="8" name="TextBox 7"/>
          <p:cNvSpPr txBox="1"/>
          <p:nvPr/>
        </p:nvSpPr>
        <p:spPr>
          <a:xfrm>
            <a:off x="6512895" y="1298671"/>
            <a:ext cx="3194944" cy="1092607"/>
          </a:xfrm>
          <a:prstGeom prst="rect">
            <a:avLst/>
          </a:prstGeom>
          <a:noFill/>
        </p:spPr>
        <p:txBody>
          <a:bodyPr wrap="square" rtlCol="0">
            <a:spAutoFit/>
          </a:bodyPr>
          <a:lstStyle/>
          <a:p>
            <a:pPr algn="ctr"/>
            <a:r>
              <a:rPr lang="en-US" sz="1200" b="1" dirty="0">
                <a:solidFill>
                  <a:schemeClr val="accent1">
                    <a:lumMod val="75000"/>
                  </a:schemeClr>
                </a:solidFill>
              </a:rPr>
              <a:t>Do It Yourself Method</a:t>
            </a:r>
          </a:p>
          <a:p>
            <a:pPr>
              <a:spcBef>
                <a:spcPts val="600"/>
              </a:spcBef>
            </a:pPr>
            <a:r>
              <a:rPr lang="en-US" sz="1200" dirty="0"/>
              <a:t>From the </a:t>
            </a:r>
            <a:r>
              <a:rPr lang="en-US" sz="1200" dirty="0">
                <a:solidFill>
                  <a:srgbClr val="C00000"/>
                </a:solidFill>
              </a:rPr>
              <a:t>Formulas</a:t>
            </a:r>
            <a:r>
              <a:rPr lang="en-US" sz="1200" dirty="0"/>
              <a:t> ribbon, you can insert a function in a cell to find various statistics, such as the </a:t>
            </a:r>
            <a:r>
              <a:rPr lang="en-US" sz="1200" i="1" dirty="0"/>
              <a:t>X</a:t>
            </a:r>
            <a:r>
              <a:rPr lang="en-US" sz="1200" dirty="0"/>
              <a:t>-</a:t>
            </a:r>
            <a:r>
              <a:rPr lang="en-US" sz="1200" i="1" dirty="0"/>
              <a:t>Y</a:t>
            </a:r>
            <a:r>
              <a:rPr lang="en-US" sz="1200" dirty="0"/>
              <a:t> correlation coefficient.</a:t>
            </a:r>
          </a:p>
        </p:txBody>
      </p:sp>
      <p:sp>
        <p:nvSpPr>
          <p:cNvPr id="6" name="Rounded Rectangle 5"/>
          <p:cNvSpPr/>
          <p:nvPr/>
        </p:nvSpPr>
        <p:spPr>
          <a:xfrm>
            <a:off x="624906" y="1865576"/>
            <a:ext cx="494676" cy="704834"/>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622949" y="1833465"/>
            <a:ext cx="639142" cy="76905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58317" y="2891614"/>
            <a:ext cx="2267492" cy="430887"/>
          </a:xfrm>
          <a:prstGeom prst="rect">
            <a:avLst/>
          </a:prstGeom>
          <a:noFill/>
        </p:spPr>
        <p:txBody>
          <a:bodyPr wrap="square" rtlCol="0">
            <a:spAutoFit/>
          </a:bodyPr>
          <a:lstStyle/>
          <a:p>
            <a:r>
              <a:rPr lang="en-US" sz="1100" b="1" dirty="0">
                <a:solidFill>
                  <a:schemeClr val="accent1">
                    <a:lumMod val="75000"/>
                  </a:schemeClr>
                </a:solidFill>
              </a:rPr>
              <a:t>Option 1: </a:t>
            </a:r>
            <a:r>
              <a:rPr lang="en-US" sz="1100" dirty="0"/>
              <a:t>Use </a:t>
            </a:r>
            <a:r>
              <a:rPr lang="en-US" sz="1100" dirty="0">
                <a:solidFill>
                  <a:srgbClr val="C00000"/>
                </a:solidFill>
              </a:rPr>
              <a:t>Insert Function </a:t>
            </a:r>
            <a:r>
              <a:rPr lang="en-US" sz="1100" dirty="0"/>
              <a:t>to set up the function in a cell.</a:t>
            </a:r>
          </a:p>
        </p:txBody>
      </p:sp>
      <p:sp>
        <p:nvSpPr>
          <p:cNvPr id="17" name="TextBox 16"/>
          <p:cNvSpPr txBox="1"/>
          <p:nvPr/>
        </p:nvSpPr>
        <p:spPr>
          <a:xfrm>
            <a:off x="4340599" y="2830994"/>
            <a:ext cx="1819521" cy="938719"/>
          </a:xfrm>
          <a:prstGeom prst="rect">
            <a:avLst/>
          </a:prstGeom>
          <a:noFill/>
        </p:spPr>
        <p:txBody>
          <a:bodyPr wrap="square" rtlCol="0">
            <a:spAutoFit/>
          </a:bodyPr>
          <a:lstStyle/>
          <a:p>
            <a:r>
              <a:rPr lang="en-US" sz="1100" b="1" dirty="0">
                <a:solidFill>
                  <a:schemeClr val="accent1">
                    <a:lumMod val="75000"/>
                  </a:schemeClr>
                </a:solidFill>
              </a:rPr>
              <a:t>Option 2: </a:t>
            </a:r>
            <a:r>
              <a:rPr lang="en-US" sz="1100" dirty="0"/>
              <a:t>Use the </a:t>
            </a:r>
            <a:r>
              <a:rPr lang="en-US" sz="1100" dirty="0">
                <a:solidFill>
                  <a:srgbClr val="C00000"/>
                </a:solidFill>
              </a:rPr>
              <a:t>More Functions menu </a:t>
            </a:r>
            <a:r>
              <a:rPr lang="en-US" sz="1100" dirty="0"/>
              <a:t>and choose </a:t>
            </a:r>
            <a:r>
              <a:rPr lang="en-US" sz="1100" dirty="0">
                <a:solidFill>
                  <a:srgbClr val="C00000"/>
                </a:solidFill>
              </a:rPr>
              <a:t>Statistical</a:t>
            </a:r>
            <a:r>
              <a:rPr lang="en-US" sz="1100" dirty="0"/>
              <a:t> functions to find the one you want.</a:t>
            </a:r>
          </a:p>
        </p:txBody>
      </p:sp>
      <p:sp>
        <p:nvSpPr>
          <p:cNvPr id="3" name="Right Arrow 2"/>
          <p:cNvSpPr/>
          <p:nvPr/>
        </p:nvSpPr>
        <p:spPr>
          <a:xfrm>
            <a:off x="3909486" y="4867862"/>
            <a:ext cx="316669" cy="298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eft Arrow 3"/>
          <p:cNvSpPr/>
          <p:nvPr/>
        </p:nvSpPr>
        <p:spPr>
          <a:xfrm>
            <a:off x="5945145" y="1833465"/>
            <a:ext cx="307910" cy="3452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9" name="Picture 8"/>
          <p:cNvPicPr>
            <a:picLocks noChangeAspect="1"/>
          </p:cNvPicPr>
          <p:nvPr/>
        </p:nvPicPr>
        <p:blipFill>
          <a:blip r:embed="rId4"/>
          <a:stretch>
            <a:fillRect/>
          </a:stretch>
        </p:blipFill>
        <p:spPr>
          <a:xfrm>
            <a:off x="4305512" y="4348403"/>
            <a:ext cx="3674917" cy="1684076"/>
          </a:xfrm>
          <a:prstGeom prst="rect">
            <a:avLst/>
          </a:prstGeom>
        </p:spPr>
      </p:pic>
      <p:pic>
        <p:nvPicPr>
          <p:cNvPr id="11" name="Picture 10"/>
          <p:cNvPicPr>
            <a:picLocks noChangeAspect="1"/>
          </p:cNvPicPr>
          <p:nvPr/>
        </p:nvPicPr>
        <p:blipFill>
          <a:blip r:embed="rId5"/>
          <a:stretch>
            <a:fillRect/>
          </a:stretch>
        </p:blipFill>
        <p:spPr>
          <a:xfrm>
            <a:off x="624906" y="3345054"/>
            <a:ext cx="3051575" cy="2687425"/>
          </a:xfrm>
          <a:prstGeom prst="rect">
            <a:avLst/>
          </a:prstGeom>
        </p:spPr>
      </p:pic>
      <p:pic>
        <p:nvPicPr>
          <p:cNvPr id="21" name="Picture 20"/>
          <p:cNvPicPr>
            <a:picLocks noChangeAspect="1"/>
          </p:cNvPicPr>
          <p:nvPr/>
        </p:nvPicPr>
        <p:blipFill>
          <a:blip r:embed="rId6"/>
          <a:stretch>
            <a:fillRect/>
          </a:stretch>
        </p:blipFill>
        <p:spPr>
          <a:xfrm>
            <a:off x="6793977" y="2570410"/>
            <a:ext cx="1228725" cy="1400175"/>
          </a:xfrm>
          <a:prstGeom prst="rect">
            <a:avLst/>
          </a:prstGeom>
        </p:spPr>
      </p:pic>
      <p:sp>
        <p:nvSpPr>
          <p:cNvPr id="22" name="Rounded Rectangle 13"/>
          <p:cNvSpPr/>
          <p:nvPr/>
        </p:nvSpPr>
        <p:spPr>
          <a:xfrm>
            <a:off x="6784857" y="2602521"/>
            <a:ext cx="1398836" cy="228473"/>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7"/>
          <a:stretch>
            <a:fillRect/>
          </a:stretch>
        </p:blipFill>
        <p:spPr>
          <a:xfrm>
            <a:off x="8802801" y="2509903"/>
            <a:ext cx="1048263" cy="3313390"/>
          </a:xfrm>
          <a:prstGeom prst="rect">
            <a:avLst/>
          </a:prstGeom>
          <a:ln>
            <a:solidFill>
              <a:schemeClr val="tx1"/>
            </a:solidFill>
          </a:ln>
        </p:spPr>
      </p:pic>
      <p:sp>
        <p:nvSpPr>
          <p:cNvPr id="23" name="Rounded Rectangle 13"/>
          <p:cNvSpPr/>
          <p:nvPr/>
        </p:nvSpPr>
        <p:spPr>
          <a:xfrm>
            <a:off x="8802801" y="5486399"/>
            <a:ext cx="583488" cy="19250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
          <p:cNvSpPr/>
          <p:nvPr/>
        </p:nvSpPr>
        <p:spPr>
          <a:xfrm>
            <a:off x="6201920" y="3071260"/>
            <a:ext cx="316669" cy="298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
          <p:cNvSpPr/>
          <p:nvPr/>
        </p:nvSpPr>
        <p:spPr>
          <a:xfrm>
            <a:off x="8432438" y="3076942"/>
            <a:ext cx="316669" cy="2985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39C9EBA3-5837-F648-3AFC-C9844496D14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6419268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574326" y="1209164"/>
            <a:ext cx="7840980" cy="123444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4 –Descriptive statistics</a:t>
            </a:r>
          </a:p>
        </p:txBody>
      </p:sp>
      <p:sp>
        <p:nvSpPr>
          <p:cNvPr id="6" name="Rounded Rectangle 5"/>
          <p:cNvSpPr/>
          <p:nvPr/>
        </p:nvSpPr>
        <p:spPr>
          <a:xfrm>
            <a:off x="7170148" y="1722162"/>
            <a:ext cx="1043863" cy="24082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059779" y="1209164"/>
            <a:ext cx="2538663" cy="1092607"/>
          </a:xfrm>
          <a:prstGeom prst="rect">
            <a:avLst/>
          </a:prstGeom>
          <a:noFill/>
        </p:spPr>
        <p:txBody>
          <a:bodyPr wrap="square" rtlCol="0">
            <a:spAutoFit/>
          </a:bodyPr>
          <a:lstStyle/>
          <a:p>
            <a:pPr algn="ctr"/>
            <a:r>
              <a:rPr lang="en-US" sz="1200" b="1" dirty="0">
                <a:solidFill>
                  <a:schemeClr val="accent1">
                    <a:lumMod val="75000"/>
                  </a:schemeClr>
                </a:solidFill>
              </a:rPr>
              <a:t>Data Analysis Tools</a:t>
            </a:r>
          </a:p>
          <a:p>
            <a:pPr>
              <a:spcBef>
                <a:spcPts val="600"/>
              </a:spcBef>
            </a:pPr>
            <a:r>
              <a:rPr lang="en-US" sz="1200" dirty="0"/>
              <a:t>From the </a:t>
            </a:r>
            <a:r>
              <a:rPr lang="en-US" sz="1200" dirty="0">
                <a:solidFill>
                  <a:srgbClr val="C00000"/>
                </a:solidFill>
              </a:rPr>
              <a:t>Data</a:t>
            </a:r>
            <a:r>
              <a:rPr lang="en-US" sz="1200" dirty="0"/>
              <a:t> ribbon, you can get common descriptive statistics without entering your own cell formulas.</a:t>
            </a:r>
          </a:p>
        </p:txBody>
      </p:sp>
      <p:sp>
        <p:nvSpPr>
          <p:cNvPr id="8" name="TextBox 7"/>
          <p:cNvSpPr txBox="1"/>
          <p:nvPr/>
        </p:nvSpPr>
        <p:spPr>
          <a:xfrm>
            <a:off x="564209" y="5279801"/>
            <a:ext cx="2346942" cy="600164"/>
          </a:xfrm>
          <a:prstGeom prst="rect">
            <a:avLst/>
          </a:prstGeom>
          <a:noFill/>
        </p:spPr>
        <p:txBody>
          <a:bodyPr wrap="square" rtlCol="0">
            <a:spAutoFit/>
          </a:bodyPr>
          <a:lstStyle/>
          <a:p>
            <a:r>
              <a:rPr lang="en-US" sz="1100" i="1" dirty="0">
                <a:solidFill>
                  <a:srgbClr val="C00000"/>
                </a:solidFill>
              </a:rPr>
              <a:t>Note:  </a:t>
            </a:r>
            <a:r>
              <a:rPr lang="en-US" sz="1100" dirty="0">
                <a:solidFill>
                  <a:schemeClr val="accent1">
                    <a:lumMod val="75000"/>
                  </a:schemeClr>
                </a:solidFill>
              </a:rPr>
              <a:t>A disadvantage of using the convenient </a:t>
            </a:r>
            <a:r>
              <a:rPr lang="en-US" sz="1100" dirty="0">
                <a:solidFill>
                  <a:srgbClr val="C00000"/>
                </a:solidFill>
              </a:rPr>
              <a:t>Data Analysis </a:t>
            </a:r>
            <a:r>
              <a:rPr lang="en-US" sz="1100" dirty="0">
                <a:solidFill>
                  <a:schemeClr val="accent1">
                    <a:lumMod val="75000"/>
                  </a:schemeClr>
                </a:solidFill>
              </a:rPr>
              <a:t>menu is that you can’t choose the statistics.</a:t>
            </a:r>
          </a:p>
        </p:txBody>
      </p:sp>
      <p:pic>
        <p:nvPicPr>
          <p:cNvPr id="9" name="Picture 8"/>
          <p:cNvPicPr>
            <a:picLocks noChangeAspect="1"/>
          </p:cNvPicPr>
          <p:nvPr/>
        </p:nvPicPr>
        <p:blipFill>
          <a:blip r:embed="rId3"/>
          <a:stretch>
            <a:fillRect/>
          </a:stretch>
        </p:blipFill>
        <p:spPr>
          <a:xfrm>
            <a:off x="1042399" y="4821312"/>
            <a:ext cx="758207" cy="458489"/>
          </a:xfrm>
          <a:prstGeom prst="rect">
            <a:avLst/>
          </a:prstGeom>
        </p:spPr>
      </p:pic>
      <p:pic>
        <p:nvPicPr>
          <p:cNvPr id="11" name="Picture 10"/>
          <p:cNvPicPr>
            <a:picLocks noChangeAspect="1"/>
          </p:cNvPicPr>
          <p:nvPr/>
        </p:nvPicPr>
        <p:blipFill>
          <a:blip r:embed="rId4"/>
          <a:stretch>
            <a:fillRect/>
          </a:stretch>
        </p:blipFill>
        <p:spPr>
          <a:xfrm>
            <a:off x="8292844" y="2646200"/>
            <a:ext cx="2866568" cy="3026853"/>
          </a:xfrm>
          <a:prstGeom prst="rect">
            <a:avLst/>
          </a:prstGeom>
        </p:spPr>
      </p:pic>
      <p:sp>
        <p:nvSpPr>
          <p:cNvPr id="12" name="Left Arrow 11"/>
          <p:cNvSpPr/>
          <p:nvPr/>
        </p:nvSpPr>
        <p:spPr>
          <a:xfrm>
            <a:off x="8652201" y="1666220"/>
            <a:ext cx="307910" cy="3452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5"/>
          <a:stretch>
            <a:fillRect/>
          </a:stretch>
        </p:blipFill>
        <p:spPr>
          <a:xfrm>
            <a:off x="602653" y="2775394"/>
            <a:ext cx="1869231" cy="1526451"/>
          </a:xfrm>
          <a:prstGeom prst="rect">
            <a:avLst/>
          </a:prstGeom>
        </p:spPr>
      </p:pic>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6" action="ppaction://hlinksldjump"/>
              </a:rPr>
              <a:t>Back to top menu</a:t>
            </a:r>
            <a:endParaRPr lang="en-US" sz="1200" i="1" dirty="0"/>
          </a:p>
        </p:txBody>
      </p:sp>
      <p:pic>
        <p:nvPicPr>
          <p:cNvPr id="16" name="Picture 15"/>
          <p:cNvPicPr>
            <a:picLocks noChangeAspect="1"/>
          </p:cNvPicPr>
          <p:nvPr/>
        </p:nvPicPr>
        <p:blipFill>
          <a:blip r:embed="rId7"/>
          <a:stretch>
            <a:fillRect/>
          </a:stretch>
        </p:blipFill>
        <p:spPr>
          <a:xfrm>
            <a:off x="2833936" y="2553055"/>
            <a:ext cx="3229980" cy="1663929"/>
          </a:xfrm>
          <a:prstGeom prst="rect">
            <a:avLst/>
          </a:prstGeom>
        </p:spPr>
      </p:pic>
      <p:pic>
        <p:nvPicPr>
          <p:cNvPr id="18" name="Picture 17"/>
          <p:cNvPicPr>
            <a:picLocks noChangeAspect="1"/>
          </p:cNvPicPr>
          <p:nvPr/>
        </p:nvPicPr>
        <p:blipFill>
          <a:blip r:embed="rId8"/>
          <a:stretch>
            <a:fillRect/>
          </a:stretch>
        </p:blipFill>
        <p:spPr>
          <a:xfrm>
            <a:off x="4596342" y="3645604"/>
            <a:ext cx="3167686" cy="2798791"/>
          </a:xfrm>
          <a:prstGeom prst="rect">
            <a:avLst/>
          </a:prstGeom>
        </p:spPr>
      </p:pic>
      <p:sp>
        <p:nvSpPr>
          <p:cNvPr id="2" name="Footer Placeholder 1">
            <a:extLst>
              <a:ext uri="{FF2B5EF4-FFF2-40B4-BE49-F238E27FC236}">
                <a16:creationId xmlns:a16="http://schemas.microsoft.com/office/drawing/2014/main" id="{2CAC7461-4D8B-6A54-8C7B-AAD1ECC27A9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816135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6772" y="1221143"/>
            <a:ext cx="7171248" cy="5132031"/>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5 – pivot tables</a:t>
            </a:r>
          </a:p>
        </p:txBody>
      </p:sp>
      <p:sp>
        <p:nvSpPr>
          <p:cNvPr id="4" name="TextBox 3"/>
          <p:cNvSpPr txBox="1"/>
          <p:nvPr/>
        </p:nvSpPr>
        <p:spPr>
          <a:xfrm>
            <a:off x="7904547" y="1571968"/>
            <a:ext cx="2757860" cy="3416320"/>
          </a:xfrm>
          <a:prstGeom prst="rect">
            <a:avLst/>
          </a:prstGeom>
          <a:noFill/>
        </p:spPr>
        <p:txBody>
          <a:bodyPr wrap="square" rtlCol="0">
            <a:spAutoFit/>
          </a:bodyPr>
          <a:lstStyle/>
          <a:p>
            <a:pPr algn="ctr"/>
            <a:r>
              <a:rPr lang="en-US" sz="1200" b="1" dirty="0">
                <a:solidFill>
                  <a:schemeClr val="accent1">
                    <a:lumMod val="75000"/>
                  </a:schemeClr>
                </a:solidFill>
              </a:rPr>
              <a:t>PIVOT TABLE STEPS 1-3</a:t>
            </a:r>
          </a:p>
          <a:p>
            <a:endParaRPr lang="en-US" sz="1200" dirty="0"/>
          </a:p>
          <a:p>
            <a:pPr marL="228600" indent="-228600">
              <a:buFont typeface="+mj-lt"/>
              <a:buAutoNum type="arabicPeriod"/>
            </a:pPr>
            <a:r>
              <a:rPr lang="en-US" sz="1200" dirty="0"/>
              <a:t>On the </a:t>
            </a:r>
            <a:r>
              <a:rPr lang="en-US" sz="1200" dirty="0">
                <a:solidFill>
                  <a:srgbClr val="C00000"/>
                </a:solidFill>
              </a:rPr>
              <a:t>Insert</a:t>
            </a:r>
            <a:r>
              <a:rPr lang="en-US" sz="1200" dirty="0"/>
              <a:t> tab, click </a:t>
            </a:r>
            <a:r>
              <a:rPr lang="en-US" sz="1200" dirty="0">
                <a:solidFill>
                  <a:srgbClr val="C00000"/>
                </a:solidFill>
              </a:rPr>
              <a:t>PivotTable</a:t>
            </a:r>
            <a:r>
              <a:rPr lang="en-US" sz="1200" dirty="0"/>
              <a:t>. In the worksheet, your data should be surrounded by a dashed line. If it isn't, click and drag to select your data. </a:t>
            </a:r>
          </a:p>
          <a:p>
            <a:pPr marL="228600" indent="-228600">
              <a:buFont typeface="+mj-lt"/>
              <a:buAutoNum type="arabicPeriod"/>
            </a:pPr>
            <a:endParaRPr lang="en-US" sz="1200" dirty="0"/>
          </a:p>
          <a:p>
            <a:pPr marL="228600" indent="-228600">
              <a:buFont typeface="+mj-lt"/>
              <a:buAutoNum type="arabicPeriod"/>
            </a:pPr>
            <a:r>
              <a:rPr lang="en-US" sz="1200" dirty="0"/>
              <a:t>When you do this, the </a:t>
            </a:r>
            <a:r>
              <a:rPr lang="en-US" sz="1200" dirty="0">
                <a:solidFill>
                  <a:srgbClr val="C00000"/>
                </a:solidFill>
              </a:rPr>
              <a:t>Table/Range</a:t>
            </a:r>
            <a:r>
              <a:rPr lang="en-US" sz="1200" dirty="0"/>
              <a:t> box will automatically fill with your selected cell range.</a:t>
            </a:r>
          </a:p>
          <a:p>
            <a:pPr marL="228600" indent="-228600">
              <a:buFont typeface="+mj-lt"/>
              <a:buAutoNum type="arabicPeriod"/>
            </a:pPr>
            <a:endParaRPr lang="en-US" sz="1200" dirty="0"/>
          </a:p>
          <a:p>
            <a:pPr marL="228600" indent="-228600">
              <a:buFont typeface="+mj-lt"/>
              <a:buAutoNum type="arabicPeriod"/>
            </a:pPr>
            <a:r>
              <a:rPr lang="en-US" sz="1200" dirty="0"/>
              <a:t>Choose where to place the pivot table. If you choose </a:t>
            </a:r>
            <a:r>
              <a:rPr lang="en-US" sz="1200" dirty="0">
                <a:solidFill>
                  <a:srgbClr val="C00000"/>
                </a:solidFill>
              </a:rPr>
              <a:t>Existing worksheet</a:t>
            </a:r>
            <a:r>
              <a:rPr lang="en-US" sz="1200" dirty="0"/>
              <a:t>, specify  the upper left corner of the pivot table table’s desired location typing a cell reference (by clicking in a cell). </a:t>
            </a:r>
          </a:p>
          <a:p>
            <a:endParaRPr lang="en-US" sz="1200" dirty="0"/>
          </a:p>
        </p:txBody>
      </p:sp>
      <p:sp>
        <p:nvSpPr>
          <p:cNvPr id="7" name="Rounded Rectangle 6"/>
          <p:cNvSpPr/>
          <p:nvPr/>
        </p:nvSpPr>
        <p:spPr>
          <a:xfrm>
            <a:off x="1435789" y="1468692"/>
            <a:ext cx="424556" cy="206551"/>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76772" y="1657846"/>
            <a:ext cx="445315" cy="466229"/>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3" name="Picture 2"/>
          <p:cNvPicPr>
            <a:picLocks noChangeAspect="1"/>
          </p:cNvPicPr>
          <p:nvPr/>
        </p:nvPicPr>
        <p:blipFill>
          <a:blip r:embed="rId4"/>
          <a:stretch>
            <a:fillRect/>
          </a:stretch>
        </p:blipFill>
        <p:spPr>
          <a:xfrm>
            <a:off x="2838930" y="2725120"/>
            <a:ext cx="2531347" cy="2263168"/>
          </a:xfrm>
          <a:prstGeom prst="rect">
            <a:avLst/>
          </a:prstGeom>
        </p:spPr>
      </p:pic>
      <p:sp>
        <p:nvSpPr>
          <p:cNvPr id="12" name="Rounded Rectangle 11"/>
          <p:cNvSpPr/>
          <p:nvPr/>
        </p:nvSpPr>
        <p:spPr>
          <a:xfrm>
            <a:off x="3161604" y="3209193"/>
            <a:ext cx="1829495" cy="18170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2943224" y="4181475"/>
            <a:ext cx="790575" cy="2857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2216B39-7054-EEE9-9F23-575B1A2670F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5287716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533400" y="1218158"/>
            <a:ext cx="7239311" cy="5168978"/>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5 – pivot tables</a:t>
            </a:r>
          </a:p>
        </p:txBody>
      </p:sp>
      <p:sp>
        <p:nvSpPr>
          <p:cNvPr id="4" name="TextBox 3"/>
          <p:cNvSpPr txBox="1"/>
          <p:nvPr/>
        </p:nvSpPr>
        <p:spPr>
          <a:xfrm>
            <a:off x="8430936" y="2108915"/>
            <a:ext cx="2646397" cy="3416320"/>
          </a:xfrm>
          <a:prstGeom prst="rect">
            <a:avLst/>
          </a:prstGeom>
          <a:noFill/>
        </p:spPr>
        <p:txBody>
          <a:bodyPr wrap="square" rtlCol="0">
            <a:spAutoFit/>
          </a:bodyPr>
          <a:lstStyle/>
          <a:p>
            <a:pPr algn="ctr"/>
            <a:r>
              <a:rPr lang="en-US" sz="1200" b="1" dirty="0">
                <a:solidFill>
                  <a:schemeClr val="accent1">
                    <a:lumMod val="75000"/>
                  </a:schemeClr>
                </a:solidFill>
              </a:rPr>
              <a:t>PIVOT TABLE STEPS 4-6</a:t>
            </a:r>
          </a:p>
          <a:p>
            <a:endParaRPr lang="en-US" sz="1200" dirty="0"/>
          </a:p>
          <a:p>
            <a:pPr marL="228600" indent="-228600">
              <a:buFont typeface="+mj-lt"/>
              <a:buAutoNum type="arabicPeriod" startAt="4"/>
            </a:pPr>
            <a:r>
              <a:rPr lang="en-US" sz="1200" dirty="0"/>
              <a:t>On the</a:t>
            </a:r>
            <a:r>
              <a:rPr lang="en-US" sz="1200" dirty="0">
                <a:solidFill>
                  <a:srgbClr val="C00000"/>
                </a:solidFill>
              </a:rPr>
              <a:t> Pivot Table/Analyze</a:t>
            </a:r>
            <a:r>
              <a:rPr lang="en-US" sz="1200" dirty="0"/>
              <a:t> ribbon tab, click on </a:t>
            </a:r>
            <a:r>
              <a:rPr lang="en-US" sz="1200" dirty="0">
                <a:solidFill>
                  <a:srgbClr val="C00000"/>
                </a:solidFill>
              </a:rPr>
              <a:t>Field Settings</a:t>
            </a:r>
            <a:endParaRPr lang="en-US" sz="1200" dirty="0"/>
          </a:p>
          <a:p>
            <a:pPr marL="228600" indent="-228600">
              <a:buFont typeface="+mj-lt"/>
              <a:buAutoNum type="arabicPeriod" startAt="4"/>
            </a:pPr>
            <a:endParaRPr lang="en-US" sz="1200" dirty="0"/>
          </a:p>
          <a:p>
            <a:pPr marL="228600" indent="-228600">
              <a:buFont typeface="+mj-lt"/>
              <a:buAutoNum type="arabicPeriod" startAt="4"/>
            </a:pPr>
            <a:r>
              <a:rPr lang="en-US" sz="1200" dirty="0"/>
              <a:t>In the </a:t>
            </a:r>
            <a:r>
              <a:rPr lang="en-US" sz="1200" dirty="0">
                <a:solidFill>
                  <a:srgbClr val="C00000"/>
                </a:solidFill>
              </a:rPr>
              <a:t>FIELD NAME </a:t>
            </a:r>
            <a:r>
              <a:rPr lang="en-US" sz="1200" dirty="0"/>
              <a:t>area, check the boxes for fields that you will display. </a:t>
            </a:r>
          </a:p>
          <a:p>
            <a:pPr marL="228600" indent="-228600">
              <a:buFont typeface="+mj-lt"/>
              <a:buAutoNum type="arabicPeriod" startAt="4"/>
            </a:pPr>
            <a:endParaRPr lang="en-US" sz="1200" dirty="0"/>
          </a:p>
          <a:p>
            <a:pPr marL="228600" indent="-228600">
              <a:buFont typeface="+mj-lt"/>
              <a:buAutoNum type="arabicPeriod" startAt="4"/>
            </a:pPr>
            <a:r>
              <a:rPr lang="en-US" sz="1200" dirty="0"/>
              <a:t>Drag the fields to the desired location in the pivot table.  In the </a:t>
            </a:r>
            <a:r>
              <a:rPr lang="en-US" sz="1200" dirty="0">
                <a:solidFill>
                  <a:schemeClr val="accent1">
                    <a:lumMod val="75000"/>
                  </a:schemeClr>
                </a:solidFill>
              </a:rPr>
              <a:t>Values</a:t>
            </a:r>
            <a:r>
              <a:rPr lang="en-US" sz="1200" dirty="0"/>
              <a:t> area, choose the </a:t>
            </a:r>
            <a:r>
              <a:rPr lang="en-US" sz="1200" i="1" dirty="0"/>
              <a:t>numeric</a:t>
            </a:r>
            <a:r>
              <a:rPr lang="en-US" sz="1200" dirty="0"/>
              <a:t> field that is the focus of your analysis. Choose </a:t>
            </a:r>
            <a:r>
              <a:rPr lang="en-US" sz="1200" i="1" dirty="0"/>
              <a:t>non-numeric</a:t>
            </a:r>
            <a:r>
              <a:rPr lang="en-US" sz="1200" dirty="0"/>
              <a:t> fields (categories, labels, or dates) for the </a:t>
            </a:r>
            <a:r>
              <a:rPr lang="en-US" sz="1200" dirty="0">
                <a:solidFill>
                  <a:schemeClr val="accent1">
                    <a:lumMod val="75000"/>
                  </a:schemeClr>
                </a:solidFill>
              </a:rPr>
              <a:t>Rows</a:t>
            </a:r>
            <a:r>
              <a:rPr lang="en-US" sz="1200" dirty="0"/>
              <a:t> or </a:t>
            </a:r>
            <a:r>
              <a:rPr lang="en-US" sz="1200" dirty="0">
                <a:solidFill>
                  <a:schemeClr val="accent1">
                    <a:lumMod val="75000"/>
                  </a:schemeClr>
                </a:solidFill>
              </a:rPr>
              <a:t>Columns</a:t>
            </a:r>
            <a:r>
              <a:rPr lang="en-US" sz="1200" dirty="0"/>
              <a:t>.</a:t>
            </a:r>
          </a:p>
        </p:txBody>
      </p:sp>
      <p:sp>
        <p:nvSpPr>
          <p:cNvPr id="7" name="Rounded Rectangle 6"/>
          <p:cNvSpPr/>
          <p:nvPr/>
        </p:nvSpPr>
        <p:spPr>
          <a:xfrm>
            <a:off x="965232" y="1990725"/>
            <a:ext cx="720693" cy="22860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623123" y="1424855"/>
            <a:ext cx="501328" cy="27059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6" name="Picture 5"/>
          <p:cNvPicPr>
            <a:picLocks noChangeAspect="1"/>
          </p:cNvPicPr>
          <p:nvPr/>
        </p:nvPicPr>
        <p:blipFill>
          <a:blip r:embed="rId4"/>
          <a:stretch>
            <a:fillRect/>
          </a:stretch>
        </p:blipFill>
        <p:spPr>
          <a:xfrm>
            <a:off x="5866666" y="2340528"/>
            <a:ext cx="1906045" cy="3656495"/>
          </a:xfrm>
          <a:prstGeom prst="rect">
            <a:avLst/>
          </a:prstGeom>
        </p:spPr>
      </p:pic>
      <p:sp>
        <p:nvSpPr>
          <p:cNvPr id="9" name="Rounded Rectangle 8"/>
          <p:cNvSpPr/>
          <p:nvPr/>
        </p:nvSpPr>
        <p:spPr>
          <a:xfrm>
            <a:off x="5866666" y="3171825"/>
            <a:ext cx="800834" cy="523875"/>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CFD39129-42AF-9027-B97D-66A15D7FFE4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672407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4025026" y="2232746"/>
            <a:ext cx="3048350" cy="2607034"/>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5 – pivot tables</a:t>
            </a:r>
          </a:p>
        </p:txBody>
      </p:sp>
      <p:pic>
        <p:nvPicPr>
          <p:cNvPr id="2" name="Picture 1"/>
          <p:cNvPicPr>
            <a:picLocks noChangeAspect="1"/>
          </p:cNvPicPr>
          <p:nvPr/>
        </p:nvPicPr>
        <p:blipFill>
          <a:blip r:embed="rId3"/>
          <a:stretch>
            <a:fillRect/>
          </a:stretch>
        </p:blipFill>
        <p:spPr>
          <a:xfrm>
            <a:off x="3195382" y="4111154"/>
            <a:ext cx="447675" cy="676275"/>
          </a:xfrm>
          <a:prstGeom prst="rect">
            <a:avLst/>
          </a:prstGeom>
        </p:spPr>
      </p:pic>
      <p:pic>
        <p:nvPicPr>
          <p:cNvPr id="6" name="Picture 5"/>
          <p:cNvPicPr>
            <a:picLocks noChangeAspect="1"/>
          </p:cNvPicPr>
          <p:nvPr/>
        </p:nvPicPr>
        <p:blipFill>
          <a:blip r:embed="rId4"/>
          <a:stretch>
            <a:fillRect/>
          </a:stretch>
        </p:blipFill>
        <p:spPr>
          <a:xfrm>
            <a:off x="7593479" y="2478446"/>
            <a:ext cx="3209925" cy="2038350"/>
          </a:xfrm>
          <a:prstGeom prst="rect">
            <a:avLst/>
          </a:prstGeom>
        </p:spPr>
      </p:pic>
      <p:sp>
        <p:nvSpPr>
          <p:cNvPr id="8" name="TextBox 7"/>
          <p:cNvSpPr txBox="1"/>
          <p:nvPr/>
        </p:nvSpPr>
        <p:spPr>
          <a:xfrm>
            <a:off x="587229" y="1472734"/>
            <a:ext cx="2646397" cy="3970318"/>
          </a:xfrm>
          <a:prstGeom prst="rect">
            <a:avLst/>
          </a:prstGeom>
          <a:noFill/>
        </p:spPr>
        <p:txBody>
          <a:bodyPr wrap="square" rtlCol="0">
            <a:spAutoFit/>
          </a:bodyPr>
          <a:lstStyle/>
          <a:p>
            <a:pPr algn="ctr"/>
            <a:r>
              <a:rPr lang="en-US" sz="1200" b="1" dirty="0">
                <a:solidFill>
                  <a:schemeClr val="accent1">
                    <a:lumMod val="75000"/>
                  </a:schemeClr>
                </a:solidFill>
              </a:rPr>
              <a:t>OPTIONS</a:t>
            </a:r>
          </a:p>
          <a:p>
            <a:endParaRPr lang="en-US" sz="1200" dirty="0"/>
          </a:p>
          <a:p>
            <a:pPr marL="228600" indent="-228600">
              <a:buFont typeface="+mj-lt"/>
              <a:buAutoNum type="arabicPeriod"/>
            </a:pPr>
            <a:r>
              <a:rPr lang="en-US" sz="1200" dirty="0"/>
              <a:t>Once you have created the pivot table, you can edit it (e.g., column width, decimals) for improved readability.</a:t>
            </a:r>
          </a:p>
          <a:p>
            <a:pPr marL="228600" indent="-228600">
              <a:buFont typeface="+mj-lt"/>
              <a:buAutoNum type="arabicPeriod"/>
            </a:pPr>
            <a:endParaRPr lang="en-US" sz="1200" dirty="0"/>
          </a:p>
          <a:p>
            <a:pPr marL="228600" indent="-228600">
              <a:buFont typeface="+mj-lt"/>
              <a:buAutoNum type="arabicPeriod"/>
            </a:pPr>
            <a:r>
              <a:rPr lang="en-US" sz="1200" dirty="0"/>
              <a:t>You can make a copy of the table in another location. Highlight the entire table, and use copy-paste. This is useful if you want to edit the </a:t>
            </a:r>
            <a:r>
              <a:rPr lang="en-US" sz="1200" dirty="0">
                <a:solidFill>
                  <a:schemeClr val="accent1">
                    <a:lumMod val="75000"/>
                  </a:schemeClr>
                </a:solidFill>
              </a:rPr>
              <a:t>Value</a:t>
            </a:r>
            <a:r>
              <a:rPr lang="en-US" sz="1200" dirty="0"/>
              <a:t> field without changing the original table.</a:t>
            </a:r>
          </a:p>
          <a:p>
            <a:pPr marL="228600" indent="-228600">
              <a:buFont typeface="+mj-lt"/>
              <a:buAutoNum type="arabicPeriod"/>
            </a:pPr>
            <a:endParaRPr lang="en-US" sz="1200" dirty="0"/>
          </a:p>
          <a:p>
            <a:pPr marL="228600" indent="-228600">
              <a:buFont typeface="+mj-lt"/>
              <a:buAutoNum type="arabicPeriod"/>
            </a:pPr>
            <a:r>
              <a:rPr lang="en-US" sz="1200" dirty="0"/>
              <a:t>To change the </a:t>
            </a:r>
            <a:r>
              <a:rPr lang="en-US" sz="1200" dirty="0">
                <a:solidFill>
                  <a:schemeClr val="accent1">
                    <a:lumMod val="75000"/>
                  </a:schemeClr>
                </a:solidFill>
              </a:rPr>
              <a:t>Value</a:t>
            </a:r>
            <a:r>
              <a:rPr lang="en-US" sz="1200" dirty="0"/>
              <a:t> field, click on </a:t>
            </a:r>
            <a:r>
              <a:rPr lang="en-US" sz="1200" dirty="0">
                <a:solidFill>
                  <a:srgbClr val="C00000"/>
                </a:solidFill>
              </a:rPr>
              <a:t>Field Settings </a:t>
            </a:r>
            <a:r>
              <a:rPr lang="en-US" sz="1200" dirty="0"/>
              <a:t>in the </a:t>
            </a:r>
            <a:r>
              <a:rPr lang="en-US" sz="1200" dirty="0">
                <a:solidFill>
                  <a:srgbClr val="C00000"/>
                </a:solidFill>
              </a:rPr>
              <a:t>Pivot Table Analyze</a:t>
            </a:r>
            <a:r>
              <a:rPr lang="en-US" sz="1200" dirty="0"/>
              <a:t> ribbon tab. For example, you can display the mean (Average) or the number of data items (Count) in each cell.</a:t>
            </a:r>
          </a:p>
          <a:p>
            <a:endParaRPr lang="en-US" sz="1200" dirty="0"/>
          </a:p>
        </p:txBody>
      </p:sp>
      <p:sp>
        <p:nvSpPr>
          <p:cNvPr id="4" name="TextBox 3"/>
          <p:cNvSpPr txBox="1"/>
          <p:nvPr/>
        </p:nvSpPr>
        <p:spPr>
          <a:xfrm>
            <a:off x="8128933" y="1641266"/>
            <a:ext cx="2273416" cy="430887"/>
          </a:xfrm>
          <a:prstGeom prst="rect">
            <a:avLst/>
          </a:prstGeom>
          <a:noFill/>
        </p:spPr>
        <p:txBody>
          <a:bodyPr wrap="square" rtlCol="0">
            <a:spAutoFit/>
          </a:bodyPr>
          <a:lstStyle/>
          <a:p>
            <a:r>
              <a:rPr lang="en-US" sz="1100" i="1" dirty="0"/>
              <a:t>Original pivot table displaying total square feet of all homes by category</a:t>
            </a:r>
          </a:p>
        </p:txBody>
      </p:sp>
      <p:sp>
        <p:nvSpPr>
          <p:cNvPr id="9" name="TextBox 8"/>
          <p:cNvSpPr txBox="1"/>
          <p:nvPr/>
        </p:nvSpPr>
        <p:spPr>
          <a:xfrm>
            <a:off x="8128933" y="4891677"/>
            <a:ext cx="2273416" cy="430887"/>
          </a:xfrm>
          <a:prstGeom prst="rect">
            <a:avLst/>
          </a:prstGeom>
          <a:noFill/>
        </p:spPr>
        <p:txBody>
          <a:bodyPr wrap="square" rtlCol="0">
            <a:spAutoFit/>
          </a:bodyPr>
          <a:lstStyle/>
          <a:p>
            <a:r>
              <a:rPr lang="en-US" sz="1100" i="1" dirty="0"/>
              <a:t>Copy of pivot table displaying average square feet of homes by category</a:t>
            </a:r>
          </a:p>
        </p:txBody>
      </p:sp>
      <p:sp>
        <p:nvSpPr>
          <p:cNvPr id="10" name="Rounded Rectangle 9"/>
          <p:cNvSpPr/>
          <p:nvPr/>
        </p:nvSpPr>
        <p:spPr>
          <a:xfrm>
            <a:off x="4103687" y="3829050"/>
            <a:ext cx="487363" cy="141250"/>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7335951" y="3970300"/>
            <a:ext cx="197189" cy="266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781731" y="2647840"/>
            <a:ext cx="3082012" cy="954177"/>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781731" y="3628108"/>
            <a:ext cx="3051843" cy="940586"/>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9198441" y="4376857"/>
            <a:ext cx="253469" cy="4629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9759820" y="2049307"/>
            <a:ext cx="9331" cy="955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3" name="Footer Placeholder 2">
            <a:extLst>
              <a:ext uri="{FF2B5EF4-FFF2-40B4-BE49-F238E27FC236}">
                <a16:creationId xmlns:a16="http://schemas.microsoft.com/office/drawing/2014/main" id="{D9664A31-05FE-1A59-8871-5E58F50F8FE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9764123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9" name="TextBox 8"/>
          <p:cNvSpPr txBox="1"/>
          <p:nvPr/>
        </p:nvSpPr>
        <p:spPr>
          <a:xfrm>
            <a:off x="1287451" y="1254600"/>
            <a:ext cx="3259436" cy="830997"/>
          </a:xfrm>
          <a:prstGeom prst="rect">
            <a:avLst/>
          </a:prstGeom>
          <a:noFill/>
        </p:spPr>
        <p:txBody>
          <a:bodyPr wrap="square" rtlCol="0">
            <a:spAutoFit/>
          </a:bodyPr>
          <a:lstStyle/>
          <a:p>
            <a:r>
              <a:rPr lang="en-US" sz="1200" b="1" dirty="0" err="1">
                <a:solidFill>
                  <a:schemeClr val="accent1">
                    <a:lumMod val="75000"/>
                  </a:schemeClr>
                </a:solidFill>
              </a:rPr>
              <a:t>MegaStat</a:t>
            </a:r>
            <a:r>
              <a:rPr lang="en-US" sz="1200" dirty="0"/>
              <a:t> is an Excel add-in with easy-to-use menus for statistical analysis on Mac or PC. Download it from McGraw-Hill’s Connect website*.</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845" y="1368902"/>
            <a:ext cx="559927" cy="537176"/>
          </a:xfrm>
          <a:prstGeom prst="rect">
            <a:avLst/>
          </a:prstGeom>
        </p:spPr>
      </p:pic>
      <p:sp>
        <p:nvSpPr>
          <p:cNvPr id="19" name="TextBox 18"/>
          <p:cNvSpPr txBox="1"/>
          <p:nvPr/>
        </p:nvSpPr>
        <p:spPr>
          <a:xfrm>
            <a:off x="2020509" y="2133350"/>
            <a:ext cx="1793320" cy="276999"/>
          </a:xfrm>
          <a:prstGeom prst="rect">
            <a:avLst/>
          </a:prstGeom>
          <a:noFill/>
        </p:spPr>
        <p:txBody>
          <a:bodyPr wrap="square" rtlCol="0">
            <a:spAutoFit/>
          </a:bodyPr>
          <a:lstStyle/>
          <a:p>
            <a:r>
              <a:rPr lang="en-US" sz="1200" dirty="0"/>
              <a:t>* It costs about $15.</a:t>
            </a:r>
          </a:p>
        </p:txBody>
      </p:sp>
      <p:sp>
        <p:nvSpPr>
          <p:cNvPr id="11" name="TextBox 10"/>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12" name="TextBox 11"/>
          <p:cNvSpPr txBox="1"/>
          <p:nvPr/>
        </p:nvSpPr>
        <p:spPr>
          <a:xfrm>
            <a:off x="6690184" y="1460753"/>
            <a:ext cx="3704337" cy="1184940"/>
          </a:xfrm>
          <a:prstGeom prst="rect">
            <a:avLst/>
          </a:prstGeom>
          <a:noFill/>
        </p:spPr>
        <p:txBody>
          <a:bodyPr wrap="square" rtlCol="0">
            <a:spAutoFit/>
          </a:bodyPr>
          <a:lstStyle>
            <a:defPPr>
              <a:defRPr lang="en-US"/>
            </a:defPPr>
            <a:lvl1pPr>
              <a:defRPr sz="1100" i="1"/>
            </a:lvl1pPr>
          </a:lstStyle>
          <a:p>
            <a:pPr algn="ctr"/>
            <a:r>
              <a:rPr lang="en-US" sz="1200" b="1" i="0" dirty="0">
                <a:solidFill>
                  <a:schemeClr val="accent1">
                    <a:lumMod val="75000"/>
                  </a:schemeClr>
                </a:solidFill>
              </a:rPr>
              <a:t>INSTALLING</a:t>
            </a:r>
          </a:p>
          <a:p>
            <a:pPr algn="ctr"/>
            <a:endParaRPr lang="en-US" dirty="0"/>
          </a:p>
          <a:p>
            <a:r>
              <a:rPr lang="en-US" sz="1200" b="1" i="0" dirty="0">
                <a:solidFill>
                  <a:schemeClr val="accent1">
                    <a:lumMod val="75000"/>
                  </a:schemeClr>
                </a:solidFill>
              </a:rPr>
              <a:t>Step 1: </a:t>
            </a:r>
            <a:r>
              <a:rPr lang="en-US" sz="1200" i="0" dirty="0"/>
              <a:t>Click the installation workbook </a:t>
            </a:r>
            <a:r>
              <a:rPr lang="en-US" sz="1200" i="0" dirty="0" err="1">
                <a:solidFill>
                  <a:srgbClr val="0070C0"/>
                </a:solidFill>
              </a:rPr>
              <a:t>MegaStat</a:t>
            </a:r>
            <a:r>
              <a:rPr lang="en-US" sz="1200" i="0" dirty="0">
                <a:solidFill>
                  <a:srgbClr val="0070C0"/>
                </a:solidFill>
              </a:rPr>
              <a:t> Add-In Installer.xlsm.</a:t>
            </a:r>
            <a:r>
              <a:rPr lang="en-US" sz="1200" i="0" dirty="0"/>
              <a:t> The two files </a:t>
            </a:r>
            <a:r>
              <a:rPr lang="en-US" sz="1200" i="0" dirty="0">
                <a:solidFill>
                  <a:srgbClr val="0070C0"/>
                </a:solidFill>
              </a:rPr>
              <a:t>MegaStat.xlam</a:t>
            </a:r>
            <a:r>
              <a:rPr lang="en-US" sz="1200" i="0" dirty="0"/>
              <a:t> and </a:t>
            </a:r>
            <a:r>
              <a:rPr lang="en-US" sz="1200" i="0" dirty="0">
                <a:solidFill>
                  <a:srgbClr val="0070C0"/>
                </a:solidFill>
              </a:rPr>
              <a:t>MegaStat.chm </a:t>
            </a:r>
            <a:r>
              <a:rPr lang="en-US" sz="1200" i="0" dirty="0"/>
              <a:t>must be in the same folder as the installation workbook. </a:t>
            </a:r>
          </a:p>
        </p:txBody>
      </p:sp>
      <p:sp>
        <p:nvSpPr>
          <p:cNvPr id="14" name="TextBox 13"/>
          <p:cNvSpPr txBox="1"/>
          <p:nvPr/>
        </p:nvSpPr>
        <p:spPr>
          <a:xfrm>
            <a:off x="6690184" y="2885302"/>
            <a:ext cx="3704338" cy="1384995"/>
          </a:xfrm>
          <a:prstGeom prst="rect">
            <a:avLst/>
          </a:prstGeom>
          <a:noFill/>
        </p:spPr>
        <p:txBody>
          <a:bodyPr wrap="square" rtlCol="0">
            <a:spAutoFit/>
          </a:bodyPr>
          <a:lstStyle>
            <a:defPPr>
              <a:defRPr lang="en-US"/>
            </a:defPPr>
            <a:lvl1pPr>
              <a:defRPr sz="1100" i="1"/>
            </a:lvl1pPr>
          </a:lstStyle>
          <a:p>
            <a:r>
              <a:rPr lang="en-US" sz="1200" b="1" i="0" dirty="0">
                <a:solidFill>
                  <a:schemeClr val="accent1">
                    <a:lumMod val="75000"/>
                  </a:schemeClr>
                </a:solidFill>
              </a:rPr>
              <a:t>Step 2: </a:t>
            </a:r>
            <a:r>
              <a:rPr lang="en-US" sz="1200" i="0" dirty="0"/>
              <a:t>When you open the installation workbook there will be an </a:t>
            </a:r>
            <a:r>
              <a:rPr lang="en-US" sz="1200" i="0" dirty="0">
                <a:solidFill>
                  <a:srgbClr val="0070C0"/>
                </a:solidFill>
              </a:rPr>
              <a:t>Install </a:t>
            </a:r>
            <a:r>
              <a:rPr lang="en-US" sz="1200" i="0" dirty="0" err="1">
                <a:solidFill>
                  <a:srgbClr val="0070C0"/>
                </a:solidFill>
              </a:rPr>
              <a:t>MegaStat</a:t>
            </a:r>
            <a:r>
              <a:rPr lang="en-US" sz="1200" i="0" dirty="0">
                <a:solidFill>
                  <a:srgbClr val="0070C0"/>
                </a:solidFill>
              </a:rPr>
              <a:t> </a:t>
            </a:r>
            <a:r>
              <a:rPr lang="en-US" sz="1200" i="0" dirty="0"/>
              <a:t>button. Click it and the </a:t>
            </a:r>
            <a:r>
              <a:rPr lang="en-US" sz="1200" i="0" dirty="0" err="1"/>
              <a:t>MegaStat</a:t>
            </a:r>
            <a:r>
              <a:rPr lang="en-US" sz="1200" i="0" dirty="0"/>
              <a:t> files will be copied to the </a:t>
            </a:r>
            <a:r>
              <a:rPr lang="en-US" sz="1200" i="0" dirty="0">
                <a:solidFill>
                  <a:srgbClr val="0070C0"/>
                </a:solidFill>
              </a:rPr>
              <a:t>Add-ins</a:t>
            </a:r>
            <a:r>
              <a:rPr lang="en-US" sz="1200" i="0" dirty="0"/>
              <a:t> folder and </a:t>
            </a:r>
            <a:r>
              <a:rPr lang="en-US" sz="1200" i="0" dirty="0" err="1"/>
              <a:t>MegaStat</a:t>
            </a:r>
            <a:r>
              <a:rPr lang="en-US" sz="1200" i="0" dirty="0"/>
              <a:t> will be placed on the </a:t>
            </a:r>
            <a:r>
              <a:rPr lang="en-US" sz="1200" i="0" dirty="0">
                <a:solidFill>
                  <a:srgbClr val="0070C0"/>
                </a:solidFill>
              </a:rPr>
              <a:t>Add-ins</a:t>
            </a:r>
            <a:r>
              <a:rPr lang="en-US" sz="1200" i="0" dirty="0"/>
              <a:t> ribbon. When you open the installer workbook you may be asked to click </a:t>
            </a:r>
            <a:r>
              <a:rPr lang="en-US" sz="1200" i="0" dirty="0">
                <a:solidFill>
                  <a:srgbClr val="0070C0"/>
                </a:solidFill>
              </a:rPr>
              <a:t>Enable Content</a:t>
            </a:r>
            <a:r>
              <a:rPr lang="en-US" sz="1200" i="0" dirty="0"/>
              <a:t>. </a:t>
            </a:r>
          </a:p>
        </p:txBody>
      </p:sp>
      <p:pic>
        <p:nvPicPr>
          <p:cNvPr id="2" name="Picture 1"/>
          <p:cNvPicPr>
            <a:picLocks noChangeAspect="1"/>
          </p:cNvPicPr>
          <p:nvPr/>
        </p:nvPicPr>
        <p:blipFill>
          <a:blip r:embed="rId4"/>
          <a:stretch>
            <a:fillRect/>
          </a:stretch>
        </p:blipFill>
        <p:spPr>
          <a:xfrm>
            <a:off x="587845" y="2645693"/>
            <a:ext cx="5764148" cy="3022122"/>
          </a:xfrm>
          <a:prstGeom prst="rect">
            <a:avLst/>
          </a:prstGeom>
        </p:spPr>
      </p:pic>
      <p:sp>
        <p:nvSpPr>
          <p:cNvPr id="3" name="TextBox 2"/>
          <p:cNvSpPr txBox="1"/>
          <p:nvPr/>
        </p:nvSpPr>
        <p:spPr>
          <a:xfrm>
            <a:off x="7360279" y="5026035"/>
            <a:ext cx="2786256" cy="461665"/>
          </a:xfrm>
          <a:prstGeom prst="rect">
            <a:avLst/>
          </a:prstGeom>
          <a:noFill/>
        </p:spPr>
        <p:txBody>
          <a:bodyPr wrap="square" rtlCol="0">
            <a:spAutoFit/>
          </a:bodyPr>
          <a:lstStyle/>
          <a:p>
            <a:r>
              <a:rPr lang="en-US" sz="1200" dirty="0"/>
              <a:t>You need to enable macros in Excel to install and run </a:t>
            </a:r>
            <a:r>
              <a:rPr lang="en-US" sz="1200" dirty="0" err="1"/>
              <a:t>MegaStat</a:t>
            </a:r>
            <a:r>
              <a:rPr lang="en-US" sz="1200" dirty="0"/>
              <a:t>.</a:t>
            </a:r>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0184" y="4937532"/>
            <a:ext cx="559927" cy="537176"/>
          </a:xfrm>
          <a:prstGeom prst="rect">
            <a:avLst/>
          </a:prstGeom>
        </p:spPr>
      </p:pic>
      <p:sp>
        <p:nvSpPr>
          <p:cNvPr id="4" name="Footer Placeholder 3">
            <a:extLst>
              <a:ext uri="{FF2B5EF4-FFF2-40B4-BE49-F238E27FC236}">
                <a16:creationId xmlns:a16="http://schemas.microsoft.com/office/drawing/2014/main" id="{F84331C4-F354-2EA2-D196-2D7DF383B93C}"/>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169536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0076" y="1298344"/>
            <a:ext cx="7156813" cy="5104242"/>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11" name="TextBox 10"/>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21" name="Text Box 11"/>
          <p:cNvSpPr txBox="1">
            <a:spLocks noChangeArrowheads="1"/>
          </p:cNvSpPr>
          <p:nvPr/>
        </p:nvSpPr>
        <p:spPr bwMode="auto">
          <a:xfrm>
            <a:off x="8479857" y="1221144"/>
            <a:ext cx="2084379" cy="600164"/>
          </a:xfrm>
          <a:prstGeom prst="rect">
            <a:avLst/>
          </a:prstGeom>
          <a:noFill/>
        </p:spPr>
        <p:txBody>
          <a:bodyPr wrap="square" rtlCol="0">
            <a:spAutoFit/>
          </a:bodyPr>
          <a:lstStyle>
            <a:defPPr>
              <a:defRPr lang="en-US"/>
            </a:defPPr>
            <a:lvl1pPr>
              <a:defRPr sz="1100" i="1"/>
            </a:lvl1pPr>
          </a:lstStyle>
          <a:p>
            <a:r>
              <a:rPr lang="en-US" b="1" dirty="0">
                <a:solidFill>
                  <a:schemeClr val="accent1">
                    <a:lumMod val="75000"/>
                  </a:schemeClr>
                </a:solidFill>
              </a:rPr>
              <a:t>Example: </a:t>
            </a:r>
            <a:r>
              <a:rPr lang="en-US" i="0" dirty="0"/>
              <a:t>We want to analyze caffeine content of 117 soft drinks.</a:t>
            </a:r>
          </a:p>
        </p:txBody>
      </p:sp>
      <p:sp>
        <p:nvSpPr>
          <p:cNvPr id="26" name="Rounded Rectangle 25"/>
          <p:cNvSpPr/>
          <p:nvPr/>
        </p:nvSpPr>
        <p:spPr>
          <a:xfrm>
            <a:off x="4158482" y="1546058"/>
            <a:ext cx="430061" cy="196932"/>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p:cNvSpPr/>
          <p:nvPr/>
        </p:nvSpPr>
        <p:spPr>
          <a:xfrm>
            <a:off x="580076" y="1742990"/>
            <a:ext cx="588358" cy="433709"/>
          </a:xfrm>
          <a:prstGeom prst="roundRect">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3362179" y="2998538"/>
            <a:ext cx="4019904" cy="2499772"/>
          </a:xfrm>
          <a:prstGeom prst="rect">
            <a:avLst/>
          </a:prstGeom>
        </p:spPr>
      </p:pic>
      <p:sp>
        <p:nvSpPr>
          <p:cNvPr id="12" name="Left Arrow 14"/>
          <p:cNvSpPr/>
          <p:nvPr/>
        </p:nvSpPr>
        <p:spPr>
          <a:xfrm>
            <a:off x="8314416" y="2492058"/>
            <a:ext cx="326572" cy="3177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8774756" y="4115978"/>
            <a:ext cx="1763485" cy="461665"/>
          </a:xfrm>
          <a:prstGeom prst="rect">
            <a:avLst/>
          </a:prstGeom>
          <a:noFill/>
        </p:spPr>
        <p:txBody>
          <a:bodyPr wrap="square" rtlCol="0">
            <a:spAutoFit/>
          </a:bodyPr>
          <a:lstStyle/>
          <a:p>
            <a:r>
              <a:rPr lang="en-US" sz="1200" b="1" dirty="0">
                <a:solidFill>
                  <a:schemeClr val="accent1">
                    <a:lumMod val="75000"/>
                  </a:schemeClr>
                </a:solidFill>
              </a:rPr>
              <a:t>Step 2: </a:t>
            </a:r>
            <a:r>
              <a:rPr lang="en-US" sz="1200" dirty="0"/>
              <a:t>Click on Descriptive Statistics.</a:t>
            </a:r>
          </a:p>
        </p:txBody>
      </p:sp>
      <p:sp>
        <p:nvSpPr>
          <p:cNvPr id="14" name="Left Arrow 14"/>
          <p:cNvSpPr/>
          <p:nvPr/>
        </p:nvSpPr>
        <p:spPr>
          <a:xfrm>
            <a:off x="8316571" y="4187948"/>
            <a:ext cx="326572" cy="31772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8774756" y="2301039"/>
            <a:ext cx="1763485" cy="1015663"/>
          </a:xfrm>
          <a:prstGeom prst="rect">
            <a:avLst/>
          </a:prstGeom>
          <a:noFill/>
        </p:spPr>
        <p:txBody>
          <a:bodyPr wrap="square" rtlCol="0">
            <a:spAutoFit/>
          </a:bodyPr>
          <a:lstStyle/>
          <a:p>
            <a:r>
              <a:rPr lang="en-US" sz="1200" b="1" dirty="0">
                <a:solidFill>
                  <a:schemeClr val="accent1">
                    <a:lumMod val="75000"/>
                  </a:schemeClr>
                </a:solidFill>
              </a:rPr>
              <a:t>Step 1: </a:t>
            </a:r>
            <a:r>
              <a:rPr lang="en-US" sz="1200" dirty="0"/>
              <a:t>Click on the Excel </a:t>
            </a:r>
            <a:r>
              <a:rPr lang="en-US" sz="1200" dirty="0">
                <a:solidFill>
                  <a:schemeClr val="accent1">
                    <a:lumMod val="75000"/>
                  </a:schemeClr>
                </a:solidFill>
              </a:rPr>
              <a:t>Add-ins</a:t>
            </a:r>
            <a:r>
              <a:rPr lang="en-US" sz="1200" dirty="0"/>
              <a:t> ribbon. </a:t>
            </a:r>
            <a:r>
              <a:rPr lang="en-US" sz="1200" dirty="0" err="1"/>
              <a:t>MegaStat</a:t>
            </a:r>
            <a:r>
              <a:rPr lang="en-US" sz="1200" dirty="0"/>
              <a:t> will appear in the upper left of the screen.</a:t>
            </a:r>
          </a:p>
        </p:txBody>
      </p:sp>
      <p:sp>
        <p:nvSpPr>
          <p:cNvPr id="3" name="Footer Placeholder 2">
            <a:extLst>
              <a:ext uri="{FF2B5EF4-FFF2-40B4-BE49-F238E27FC236}">
                <a16:creationId xmlns:a16="http://schemas.microsoft.com/office/drawing/2014/main" id="{DB571D88-B498-8015-704F-481606CCF065}"/>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4130550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11" name="TextBox 10"/>
          <p:cNvSpPr txBox="1"/>
          <p:nvPr/>
        </p:nvSpPr>
        <p:spPr>
          <a:xfrm>
            <a:off x="579215" y="3931003"/>
            <a:ext cx="1733225" cy="646331"/>
          </a:xfrm>
          <a:prstGeom prst="rect">
            <a:avLst/>
          </a:prstGeom>
          <a:noFill/>
        </p:spPr>
        <p:txBody>
          <a:bodyPr wrap="square" rtlCol="0">
            <a:spAutoFit/>
          </a:bodyPr>
          <a:lstStyle/>
          <a:p>
            <a:r>
              <a:rPr lang="en-US" sz="1200" i="1" dirty="0">
                <a:solidFill>
                  <a:schemeClr val="accent1">
                    <a:lumMod val="75000"/>
                  </a:schemeClr>
                </a:solidFill>
              </a:rPr>
              <a:t>Example: </a:t>
            </a:r>
            <a:r>
              <a:rPr lang="en-US" sz="1200" dirty="0"/>
              <a:t>Descriptive statistics for caffeine in </a:t>
            </a:r>
            <a:r>
              <a:rPr lang="en-US" sz="1200" i="1" dirty="0"/>
              <a:t>n</a:t>
            </a:r>
            <a:r>
              <a:rPr lang="en-US" sz="1200" dirty="0"/>
              <a:t> = 117 soft drinks. </a:t>
            </a:r>
          </a:p>
        </p:txBody>
      </p:sp>
      <p:sp>
        <p:nvSpPr>
          <p:cNvPr id="16" name="Right Arrow 15"/>
          <p:cNvSpPr/>
          <p:nvPr/>
        </p:nvSpPr>
        <p:spPr>
          <a:xfrm>
            <a:off x="2547679" y="2408122"/>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a:stretch>
            <a:fillRect/>
          </a:stretch>
        </p:blipFill>
        <p:spPr>
          <a:xfrm>
            <a:off x="556441" y="1569293"/>
            <a:ext cx="1755999" cy="2013561"/>
          </a:xfrm>
          <a:prstGeom prst="rect">
            <a:avLst/>
          </a:prstGeom>
        </p:spPr>
      </p:pic>
      <p:sp>
        <p:nvSpPr>
          <p:cNvPr id="12" name="TextBox 11"/>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3" name="Picture 2"/>
          <p:cNvPicPr>
            <a:picLocks noChangeAspect="1"/>
          </p:cNvPicPr>
          <p:nvPr/>
        </p:nvPicPr>
        <p:blipFill>
          <a:blip r:embed="rId4"/>
          <a:stretch>
            <a:fillRect/>
          </a:stretch>
        </p:blipFill>
        <p:spPr>
          <a:xfrm>
            <a:off x="3108747" y="2085301"/>
            <a:ext cx="4808744" cy="2914889"/>
          </a:xfrm>
          <a:prstGeom prst="rect">
            <a:avLst/>
          </a:prstGeom>
        </p:spPr>
      </p:pic>
      <p:sp>
        <p:nvSpPr>
          <p:cNvPr id="20" name="TextBox 19"/>
          <p:cNvSpPr txBox="1"/>
          <p:nvPr/>
        </p:nvSpPr>
        <p:spPr>
          <a:xfrm>
            <a:off x="3108747" y="1627705"/>
            <a:ext cx="4293894" cy="276999"/>
          </a:xfrm>
          <a:prstGeom prst="rect">
            <a:avLst/>
          </a:prstGeom>
          <a:noFill/>
        </p:spPr>
        <p:txBody>
          <a:bodyPr wrap="square" rtlCol="0">
            <a:spAutoFit/>
          </a:bodyPr>
          <a:lstStyle/>
          <a:p>
            <a:r>
              <a:rPr lang="en-US" sz="1200" b="1" dirty="0">
                <a:solidFill>
                  <a:schemeClr val="accent1">
                    <a:lumMod val="75000"/>
                  </a:schemeClr>
                </a:solidFill>
              </a:rPr>
              <a:t>Step 3: </a:t>
            </a:r>
            <a:r>
              <a:rPr lang="en-US" sz="1200" dirty="0"/>
              <a:t>Select the descriptive statistics that you want.</a:t>
            </a:r>
          </a:p>
        </p:txBody>
      </p:sp>
      <p:sp>
        <p:nvSpPr>
          <p:cNvPr id="22" name="TextBox 21"/>
          <p:cNvSpPr txBox="1"/>
          <p:nvPr/>
        </p:nvSpPr>
        <p:spPr>
          <a:xfrm>
            <a:off x="8293150" y="2683509"/>
            <a:ext cx="2165623" cy="1015663"/>
          </a:xfrm>
          <a:prstGeom prst="rect">
            <a:avLst/>
          </a:prstGeom>
          <a:noFill/>
        </p:spPr>
        <p:txBody>
          <a:bodyPr wrap="square" rtlCol="0">
            <a:spAutoFit/>
          </a:bodyPr>
          <a:lstStyle/>
          <a:p>
            <a:r>
              <a:rPr lang="en-US" sz="1200" i="1" dirty="0">
                <a:solidFill>
                  <a:srgbClr val="C00000"/>
                </a:solidFill>
              </a:rPr>
              <a:t>Tip:</a:t>
            </a:r>
            <a:r>
              <a:rPr lang="en-US" sz="1200" dirty="0">
                <a:solidFill>
                  <a:srgbClr val="C00000"/>
                </a:solidFill>
              </a:rPr>
              <a:t> </a:t>
            </a:r>
            <a:r>
              <a:rPr lang="en-US" sz="1200" dirty="0"/>
              <a:t>To select your data, click in the Input range box and then double-click anywhere in your data column.</a:t>
            </a:r>
          </a:p>
        </p:txBody>
      </p:sp>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1563" y="2085301"/>
            <a:ext cx="559927" cy="537176"/>
          </a:xfrm>
          <a:prstGeom prst="rect">
            <a:avLst/>
          </a:prstGeom>
        </p:spPr>
      </p:pic>
      <p:cxnSp>
        <p:nvCxnSpPr>
          <p:cNvPr id="24" name="Straight Arrow Connector 23"/>
          <p:cNvCxnSpPr/>
          <p:nvPr/>
        </p:nvCxnSpPr>
        <p:spPr>
          <a:xfrm flipH="1" flipV="1">
            <a:off x="5513119" y="2576073"/>
            <a:ext cx="2751288" cy="3036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09F8228A-40F9-A685-2710-AE6AAC4F855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2357953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11" name="TextBox 10"/>
          <p:cNvSpPr txBox="1"/>
          <p:nvPr/>
        </p:nvSpPr>
        <p:spPr>
          <a:xfrm>
            <a:off x="532107" y="1372281"/>
            <a:ext cx="1956569" cy="646331"/>
          </a:xfrm>
          <a:prstGeom prst="rect">
            <a:avLst/>
          </a:prstGeom>
          <a:noFill/>
        </p:spPr>
        <p:txBody>
          <a:bodyPr wrap="square" rtlCol="0">
            <a:spAutoFit/>
          </a:bodyPr>
          <a:lstStyle/>
          <a:p>
            <a:r>
              <a:rPr lang="en-US" sz="1200" i="1" dirty="0">
                <a:solidFill>
                  <a:schemeClr val="accent1">
                    <a:lumMod val="75000"/>
                  </a:schemeClr>
                </a:solidFill>
              </a:rPr>
              <a:t>Results:  </a:t>
            </a:r>
            <a:r>
              <a:rPr lang="en-US" sz="1200" dirty="0"/>
              <a:t>Descriptive statistics for caffeine in 117 soft drinks</a:t>
            </a:r>
          </a:p>
        </p:txBody>
      </p:sp>
      <p:pic>
        <p:nvPicPr>
          <p:cNvPr id="3" name="Picture 2"/>
          <p:cNvPicPr>
            <a:picLocks noChangeAspect="1"/>
          </p:cNvPicPr>
          <p:nvPr/>
        </p:nvPicPr>
        <p:blipFill>
          <a:blip r:embed="rId2"/>
          <a:stretch>
            <a:fillRect/>
          </a:stretch>
        </p:blipFill>
        <p:spPr>
          <a:xfrm>
            <a:off x="3407613" y="1327163"/>
            <a:ext cx="6930458" cy="4859033"/>
          </a:xfrm>
          <a:prstGeom prst="rect">
            <a:avLst/>
          </a:prstGeom>
        </p:spPr>
      </p:pic>
      <p:sp>
        <p:nvSpPr>
          <p:cNvPr id="12" name="TextBox 11"/>
          <p:cNvSpPr txBox="1"/>
          <p:nvPr/>
        </p:nvSpPr>
        <p:spPr>
          <a:xfrm>
            <a:off x="455357" y="4663467"/>
            <a:ext cx="2143412" cy="1200329"/>
          </a:xfrm>
          <a:prstGeom prst="rect">
            <a:avLst/>
          </a:prstGeom>
          <a:noFill/>
        </p:spPr>
        <p:txBody>
          <a:bodyPr wrap="square" rtlCol="0">
            <a:spAutoFit/>
          </a:bodyPr>
          <a:lstStyle/>
          <a:p>
            <a:r>
              <a:rPr lang="en-US" sz="1200" i="1" dirty="0">
                <a:solidFill>
                  <a:schemeClr val="accent1">
                    <a:lumMod val="75000"/>
                  </a:schemeClr>
                </a:solidFill>
              </a:rPr>
              <a:t>Output:  </a:t>
            </a:r>
            <a:r>
              <a:rPr lang="en-US" sz="1200" dirty="0"/>
              <a:t>Results will appear on a new worksheet tab. You can copy or edit the graphs with the usual Excel chart edit tools.</a:t>
            </a:r>
          </a:p>
        </p:txBody>
      </p:sp>
      <p:sp>
        <p:nvSpPr>
          <p:cNvPr id="16" name="Right Arrow 15"/>
          <p:cNvSpPr/>
          <p:nvPr/>
        </p:nvSpPr>
        <p:spPr>
          <a:xfrm>
            <a:off x="2840277" y="4663467"/>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3"/>
          <a:stretch>
            <a:fillRect/>
          </a:stretch>
        </p:blipFill>
        <p:spPr>
          <a:xfrm>
            <a:off x="532107" y="2311700"/>
            <a:ext cx="1755999" cy="2013561"/>
          </a:xfrm>
          <a:prstGeom prst="rect">
            <a:avLst/>
          </a:prstGeom>
        </p:spPr>
      </p:pic>
      <p:sp>
        <p:nvSpPr>
          <p:cNvPr id="8" name="TextBox 7"/>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sp>
        <p:nvSpPr>
          <p:cNvPr id="2" name="Footer Placeholder 1">
            <a:extLst>
              <a:ext uri="{FF2B5EF4-FFF2-40B4-BE49-F238E27FC236}">
                <a16:creationId xmlns:a16="http://schemas.microsoft.com/office/drawing/2014/main" id="{E9375DCC-3B14-D1CF-AA48-DD27FBC2C557}"/>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927513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11" name="TextBox 10"/>
          <p:cNvSpPr txBox="1"/>
          <p:nvPr/>
        </p:nvSpPr>
        <p:spPr>
          <a:xfrm>
            <a:off x="455357" y="1270513"/>
            <a:ext cx="5738053" cy="461665"/>
          </a:xfrm>
          <a:prstGeom prst="rect">
            <a:avLst/>
          </a:prstGeom>
          <a:noFill/>
        </p:spPr>
        <p:txBody>
          <a:bodyPr wrap="square" rtlCol="0">
            <a:spAutoFit/>
          </a:bodyPr>
          <a:lstStyle/>
          <a:p>
            <a:r>
              <a:rPr lang="en-US" sz="1200" i="1" dirty="0">
                <a:solidFill>
                  <a:schemeClr val="accent1">
                    <a:lumMod val="75000"/>
                  </a:schemeClr>
                </a:solidFill>
              </a:rPr>
              <a:t>Example:  </a:t>
            </a:r>
            <a:r>
              <a:rPr lang="en-US" sz="1200" dirty="0"/>
              <a:t>Regression using income and college graduation rates for </a:t>
            </a:r>
            <a:r>
              <a:rPr lang="en-US" sz="1200" i="1" dirty="0"/>
              <a:t>n</a:t>
            </a:r>
            <a:r>
              <a:rPr lang="en-US" sz="1200" dirty="0"/>
              <a:t> = 50 states. Choose the plots and tables that you want.</a:t>
            </a:r>
          </a:p>
        </p:txBody>
      </p:sp>
      <p:sp>
        <p:nvSpPr>
          <p:cNvPr id="16" name="Right Arrow 15"/>
          <p:cNvSpPr/>
          <p:nvPr/>
        </p:nvSpPr>
        <p:spPr>
          <a:xfrm>
            <a:off x="4446408" y="4122942"/>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stretch>
            <a:fillRect/>
          </a:stretch>
        </p:blipFill>
        <p:spPr>
          <a:xfrm>
            <a:off x="478351" y="1950620"/>
            <a:ext cx="2103448" cy="1697694"/>
          </a:xfrm>
          <a:prstGeom prst="rect">
            <a:avLst/>
          </a:prstGeom>
        </p:spPr>
      </p:pic>
      <p:sp>
        <p:nvSpPr>
          <p:cNvPr id="9" name="TextBox 8"/>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pic>
        <p:nvPicPr>
          <p:cNvPr id="6" name="Picture 5"/>
          <p:cNvPicPr>
            <a:picLocks noChangeAspect="1"/>
          </p:cNvPicPr>
          <p:nvPr/>
        </p:nvPicPr>
        <p:blipFill>
          <a:blip r:embed="rId4"/>
          <a:stretch>
            <a:fillRect/>
          </a:stretch>
        </p:blipFill>
        <p:spPr>
          <a:xfrm>
            <a:off x="478351" y="3866756"/>
            <a:ext cx="3661724" cy="2279362"/>
          </a:xfrm>
          <a:prstGeom prst="rect">
            <a:avLst/>
          </a:prstGeom>
        </p:spPr>
      </p:pic>
      <p:pic>
        <p:nvPicPr>
          <p:cNvPr id="7" name="Picture 6"/>
          <p:cNvPicPr>
            <a:picLocks noChangeAspect="1"/>
          </p:cNvPicPr>
          <p:nvPr/>
        </p:nvPicPr>
        <p:blipFill>
          <a:blip r:embed="rId5"/>
          <a:stretch>
            <a:fillRect/>
          </a:stretch>
        </p:blipFill>
        <p:spPr>
          <a:xfrm>
            <a:off x="5094794" y="2704878"/>
            <a:ext cx="4707813" cy="3507932"/>
          </a:xfrm>
          <a:prstGeom prst="rect">
            <a:avLst/>
          </a:prstGeom>
        </p:spPr>
      </p:pic>
      <p:sp>
        <p:nvSpPr>
          <p:cNvPr id="2" name="Footer Placeholder 1">
            <a:extLst>
              <a:ext uri="{FF2B5EF4-FFF2-40B4-BE49-F238E27FC236}">
                <a16:creationId xmlns:a16="http://schemas.microsoft.com/office/drawing/2014/main" id="{EB7F6080-C209-23EE-1579-50CF71457A6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922504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6 – </a:t>
            </a:r>
            <a:r>
              <a:rPr lang="en-US" sz="3200" dirty="0" err="1">
                <a:solidFill>
                  <a:schemeClr val="accent1"/>
                </a:solidFill>
              </a:rPr>
              <a:t>Megastat</a:t>
            </a:r>
            <a:endParaRPr lang="en-US" sz="3200" dirty="0">
              <a:solidFill>
                <a:schemeClr val="accent1"/>
              </a:solidFill>
            </a:endParaRPr>
          </a:p>
        </p:txBody>
      </p:sp>
      <p:sp>
        <p:nvSpPr>
          <p:cNvPr id="7" name="TextBox 6"/>
          <p:cNvSpPr txBox="1"/>
          <p:nvPr/>
        </p:nvSpPr>
        <p:spPr>
          <a:xfrm>
            <a:off x="380712" y="1371142"/>
            <a:ext cx="2591726" cy="646331"/>
          </a:xfrm>
          <a:prstGeom prst="rect">
            <a:avLst/>
          </a:prstGeom>
          <a:noFill/>
        </p:spPr>
        <p:txBody>
          <a:bodyPr wrap="square" rtlCol="0">
            <a:spAutoFit/>
          </a:bodyPr>
          <a:lstStyle/>
          <a:p>
            <a:r>
              <a:rPr lang="en-US" sz="1200" i="1" dirty="0">
                <a:solidFill>
                  <a:schemeClr val="accent1">
                    <a:lumMod val="75000"/>
                  </a:schemeClr>
                </a:solidFill>
              </a:rPr>
              <a:t>Results:  </a:t>
            </a:r>
            <a:r>
              <a:rPr lang="en-US" sz="1200" dirty="0"/>
              <a:t>Regression using income and college graduation rates for </a:t>
            </a:r>
            <a:r>
              <a:rPr lang="en-US" sz="1200" i="1" dirty="0"/>
              <a:t>n</a:t>
            </a:r>
            <a:r>
              <a:rPr lang="en-US" sz="1200" dirty="0"/>
              <a:t> = 50 states. </a:t>
            </a:r>
          </a:p>
        </p:txBody>
      </p:sp>
      <p:pic>
        <p:nvPicPr>
          <p:cNvPr id="8" name="Picture 7"/>
          <p:cNvPicPr>
            <a:picLocks noChangeAspect="1"/>
          </p:cNvPicPr>
          <p:nvPr/>
        </p:nvPicPr>
        <p:blipFill>
          <a:blip r:embed="rId2"/>
          <a:stretch>
            <a:fillRect/>
          </a:stretch>
        </p:blipFill>
        <p:spPr>
          <a:xfrm>
            <a:off x="455357" y="2465183"/>
            <a:ext cx="2103448" cy="1697694"/>
          </a:xfrm>
          <a:prstGeom prst="rect">
            <a:avLst/>
          </a:prstGeom>
        </p:spPr>
      </p:pic>
      <p:pic>
        <p:nvPicPr>
          <p:cNvPr id="9" name="Picture 8"/>
          <p:cNvPicPr>
            <a:picLocks noChangeAspect="1"/>
          </p:cNvPicPr>
          <p:nvPr/>
        </p:nvPicPr>
        <p:blipFill>
          <a:blip r:embed="rId3"/>
          <a:stretch>
            <a:fillRect/>
          </a:stretch>
        </p:blipFill>
        <p:spPr>
          <a:xfrm>
            <a:off x="3402522" y="1221144"/>
            <a:ext cx="5314950" cy="4752975"/>
          </a:xfrm>
          <a:prstGeom prst="rect">
            <a:avLst/>
          </a:prstGeom>
        </p:spPr>
      </p:pic>
      <p:sp>
        <p:nvSpPr>
          <p:cNvPr id="10" name="TextBox 9"/>
          <p:cNvSpPr txBox="1"/>
          <p:nvPr/>
        </p:nvSpPr>
        <p:spPr>
          <a:xfrm>
            <a:off x="9249080" y="4691132"/>
            <a:ext cx="1572891" cy="769441"/>
          </a:xfrm>
          <a:prstGeom prst="rect">
            <a:avLst/>
          </a:prstGeom>
          <a:noFill/>
        </p:spPr>
        <p:txBody>
          <a:bodyPr wrap="square" rtlCol="0">
            <a:spAutoFit/>
          </a:bodyPr>
          <a:lstStyle/>
          <a:p>
            <a:r>
              <a:rPr lang="en-US" sz="1100" dirty="0"/>
              <a:t>Unusual residuals or high-leverage observations are highlighted.</a:t>
            </a:r>
          </a:p>
        </p:txBody>
      </p:sp>
      <p:sp>
        <p:nvSpPr>
          <p:cNvPr id="11" name="Left Arrow 10"/>
          <p:cNvSpPr/>
          <p:nvPr/>
        </p:nvSpPr>
        <p:spPr>
          <a:xfrm>
            <a:off x="8717472" y="4905735"/>
            <a:ext cx="363894" cy="31724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380712" y="4691132"/>
            <a:ext cx="1933280" cy="1015663"/>
          </a:xfrm>
          <a:prstGeom prst="rect">
            <a:avLst/>
          </a:prstGeom>
          <a:noFill/>
        </p:spPr>
        <p:txBody>
          <a:bodyPr wrap="square" rtlCol="0">
            <a:spAutoFit/>
          </a:bodyPr>
          <a:lstStyle/>
          <a:p>
            <a:r>
              <a:rPr lang="en-US" sz="1200" i="1" dirty="0">
                <a:solidFill>
                  <a:schemeClr val="accent1">
                    <a:lumMod val="75000"/>
                  </a:schemeClr>
                </a:solidFill>
              </a:rPr>
              <a:t>Output:  </a:t>
            </a:r>
            <a:r>
              <a:rPr lang="en-US" sz="1200" dirty="0"/>
              <a:t>Results will appear on a new worksheet tab. You can copy or edit the graphs with the usual Excel chart edit tools.</a:t>
            </a:r>
          </a:p>
        </p:txBody>
      </p:sp>
      <p:sp>
        <p:nvSpPr>
          <p:cNvPr id="14" name="Right Arrow 13"/>
          <p:cNvSpPr/>
          <p:nvPr/>
        </p:nvSpPr>
        <p:spPr>
          <a:xfrm>
            <a:off x="2545086" y="4863061"/>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2881" y="4153956"/>
            <a:ext cx="559927" cy="537176"/>
          </a:xfrm>
          <a:prstGeom prst="rect">
            <a:avLst/>
          </a:prstGeom>
        </p:spPr>
      </p:pic>
      <p:sp>
        <p:nvSpPr>
          <p:cNvPr id="15" name="TextBox 14"/>
          <p:cNvSpPr txBox="1"/>
          <p:nvPr/>
        </p:nvSpPr>
        <p:spPr>
          <a:xfrm>
            <a:off x="10592709" y="6444395"/>
            <a:ext cx="1298962" cy="276999"/>
          </a:xfrm>
          <a:prstGeom prst="rect">
            <a:avLst/>
          </a:prstGeom>
          <a:noFill/>
        </p:spPr>
        <p:txBody>
          <a:bodyPr wrap="square" rtlCol="0">
            <a:spAutoFit/>
          </a:bodyPr>
          <a:lstStyle/>
          <a:p>
            <a:r>
              <a:rPr lang="en-US" sz="1200" i="1" dirty="0">
                <a:hlinkClick r:id="rId5" action="ppaction://hlinksldjump"/>
              </a:rPr>
              <a:t>Back to top menu</a:t>
            </a:r>
            <a:endParaRPr lang="en-US" sz="1200" i="1" dirty="0"/>
          </a:p>
        </p:txBody>
      </p:sp>
      <p:sp>
        <p:nvSpPr>
          <p:cNvPr id="16" name="TextBox 15"/>
          <p:cNvSpPr txBox="1"/>
          <p:nvPr/>
        </p:nvSpPr>
        <p:spPr>
          <a:xfrm>
            <a:off x="9147556" y="2435939"/>
            <a:ext cx="1572891" cy="430887"/>
          </a:xfrm>
          <a:prstGeom prst="rect">
            <a:avLst/>
          </a:prstGeom>
          <a:noFill/>
        </p:spPr>
        <p:txBody>
          <a:bodyPr wrap="square" rtlCol="0">
            <a:spAutoFit/>
          </a:bodyPr>
          <a:lstStyle/>
          <a:p>
            <a:r>
              <a:rPr lang="en-US" sz="1100" dirty="0"/>
              <a:t>Significant results are highlighted.</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61189" y="1898763"/>
            <a:ext cx="559927" cy="537176"/>
          </a:xfrm>
          <a:prstGeom prst="rect">
            <a:avLst/>
          </a:prstGeom>
        </p:spPr>
      </p:pic>
      <p:sp>
        <p:nvSpPr>
          <p:cNvPr id="18" name="Left Arrow 10"/>
          <p:cNvSpPr/>
          <p:nvPr/>
        </p:nvSpPr>
        <p:spPr>
          <a:xfrm>
            <a:off x="8717472" y="2494499"/>
            <a:ext cx="363894" cy="31724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DC640139-507C-E1DB-BA8F-C07B8E4A6D60}"/>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326715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6" name="TextBox 5"/>
          <p:cNvSpPr txBox="1"/>
          <p:nvPr/>
        </p:nvSpPr>
        <p:spPr>
          <a:xfrm>
            <a:off x="9777773" y="2063184"/>
            <a:ext cx="1629872" cy="830997"/>
          </a:xfrm>
          <a:prstGeom prst="rect">
            <a:avLst/>
          </a:prstGeom>
          <a:noFill/>
        </p:spPr>
        <p:txBody>
          <a:bodyPr wrap="square" rtlCol="0">
            <a:spAutoFit/>
          </a:bodyPr>
          <a:lstStyle/>
          <a:p>
            <a:r>
              <a:rPr lang="en-US" sz="1200" b="1" dirty="0">
                <a:solidFill>
                  <a:schemeClr val="accent1">
                    <a:lumMod val="75000"/>
                  </a:schemeClr>
                </a:solidFill>
              </a:rPr>
              <a:t>Minitab </a:t>
            </a:r>
            <a:r>
              <a:rPr lang="en-US" sz="1200" dirty="0"/>
              <a:t>is a statistical analysis system for Mac or PC. It is </a:t>
            </a:r>
            <a:r>
              <a:rPr lang="en-US" sz="1200" i="1" dirty="0"/>
              <a:t>not</a:t>
            </a:r>
            <a:r>
              <a:rPr lang="en-US" sz="1200" dirty="0"/>
              <a:t> based on Excel.</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863" y="1479567"/>
            <a:ext cx="559927" cy="537176"/>
          </a:xfrm>
          <a:prstGeom prst="rect">
            <a:avLst/>
          </a:prstGeom>
        </p:spPr>
      </p:pic>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20" name="Text Box 8"/>
          <p:cNvSpPr txBox="1">
            <a:spLocks noChangeArrowheads="1"/>
          </p:cNvSpPr>
          <p:nvPr/>
        </p:nvSpPr>
        <p:spPr bwMode="auto">
          <a:xfrm>
            <a:off x="8080607" y="3265573"/>
            <a:ext cx="1759283" cy="830997"/>
          </a:xfrm>
          <a:prstGeom prst="rect">
            <a:avLst/>
          </a:prstGeom>
          <a:noFill/>
        </p:spPr>
        <p:txBody>
          <a:bodyPr wrap="square" rtlCol="0">
            <a:spAutoFit/>
          </a:bodyPr>
          <a:lstStyle>
            <a:defPPr>
              <a:defRPr lang="en-US"/>
            </a:defPPr>
            <a:lvl1pPr>
              <a:defRPr sz="1100" i="1"/>
            </a:lvl1pPr>
          </a:lstStyle>
          <a:p>
            <a:r>
              <a:rPr lang="en-US" sz="1200" dirty="0">
                <a:solidFill>
                  <a:schemeClr val="accent1">
                    <a:lumMod val="75000"/>
                  </a:schemeClr>
                </a:solidFill>
              </a:rPr>
              <a:t>Session Window </a:t>
            </a:r>
            <a:r>
              <a:rPr lang="en-US" sz="1200" i="0" dirty="0"/>
              <a:t>(just plain text that you can copy to your report or spreadsheet</a:t>
            </a:r>
            <a:r>
              <a:rPr lang="en-US" sz="1200" dirty="0"/>
              <a:t>)</a:t>
            </a:r>
          </a:p>
        </p:txBody>
      </p:sp>
      <p:sp>
        <p:nvSpPr>
          <p:cNvPr id="21" name="Text Box 7"/>
          <p:cNvSpPr txBox="1">
            <a:spLocks noChangeArrowheads="1"/>
          </p:cNvSpPr>
          <p:nvPr/>
        </p:nvSpPr>
        <p:spPr bwMode="auto">
          <a:xfrm>
            <a:off x="8121330" y="5301485"/>
            <a:ext cx="1475846" cy="461665"/>
          </a:xfrm>
          <a:prstGeom prst="rect">
            <a:avLst/>
          </a:prstGeom>
          <a:noFill/>
        </p:spPr>
        <p:txBody>
          <a:bodyPr wrap="square" rtlCol="0">
            <a:spAutoFit/>
          </a:bodyPr>
          <a:lstStyle>
            <a:defPPr>
              <a:defRPr lang="en-US"/>
            </a:defPPr>
            <a:lvl1pPr>
              <a:defRPr sz="1100" i="1"/>
            </a:lvl1pPr>
          </a:lstStyle>
          <a:p>
            <a:r>
              <a:rPr lang="en-US" sz="1200" dirty="0">
                <a:solidFill>
                  <a:schemeClr val="accent1">
                    <a:lumMod val="75000"/>
                  </a:schemeClr>
                </a:solidFill>
              </a:rPr>
              <a:t>Worksheet</a:t>
            </a:r>
            <a:r>
              <a:rPr lang="en-US" sz="1200" dirty="0"/>
              <a:t> </a:t>
            </a:r>
            <a:r>
              <a:rPr lang="en-US" sz="1200" i="0" dirty="0"/>
              <a:t>(like an Excel spreadsheet)</a:t>
            </a:r>
          </a:p>
        </p:txBody>
      </p:sp>
      <p:sp>
        <p:nvSpPr>
          <p:cNvPr id="22" name="Text Box 6"/>
          <p:cNvSpPr txBox="1">
            <a:spLocks noChangeArrowheads="1"/>
          </p:cNvSpPr>
          <p:nvPr/>
        </p:nvSpPr>
        <p:spPr bwMode="auto">
          <a:xfrm>
            <a:off x="8204995" y="1486277"/>
            <a:ext cx="1414486" cy="646331"/>
          </a:xfrm>
          <a:prstGeom prst="rect">
            <a:avLst/>
          </a:prstGeom>
          <a:noFill/>
        </p:spPr>
        <p:txBody>
          <a:bodyPr wrap="square" rtlCol="0">
            <a:spAutoFit/>
          </a:bodyPr>
          <a:lstStyle>
            <a:defPPr>
              <a:defRPr lang="en-US"/>
            </a:defPPr>
            <a:lvl1pPr>
              <a:defRPr sz="1100" i="1"/>
            </a:lvl1pPr>
          </a:lstStyle>
          <a:p>
            <a:r>
              <a:rPr lang="en-US" sz="1200" dirty="0">
                <a:solidFill>
                  <a:schemeClr val="accent1">
                    <a:lumMod val="75000"/>
                  </a:schemeClr>
                </a:solidFill>
              </a:rPr>
              <a:t>Menu</a:t>
            </a:r>
            <a:r>
              <a:rPr lang="en-US" sz="1200" dirty="0">
                <a:solidFill>
                  <a:schemeClr val="accent5">
                    <a:lumMod val="75000"/>
                  </a:schemeClr>
                </a:solidFill>
              </a:rPr>
              <a:t> Bar </a:t>
            </a:r>
            <a:r>
              <a:rPr lang="en-US" sz="1200" i="0" dirty="0"/>
              <a:t>(with drop-down commands)</a:t>
            </a:r>
          </a:p>
        </p:txBody>
      </p:sp>
      <p:sp>
        <p:nvSpPr>
          <p:cNvPr id="3" name="Left Arrow 2"/>
          <p:cNvSpPr/>
          <p:nvPr/>
        </p:nvSpPr>
        <p:spPr>
          <a:xfrm>
            <a:off x="7708375" y="1547185"/>
            <a:ext cx="412955" cy="396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Left Arrow 22"/>
          <p:cNvSpPr/>
          <p:nvPr/>
        </p:nvSpPr>
        <p:spPr>
          <a:xfrm>
            <a:off x="7708374" y="3391467"/>
            <a:ext cx="412955" cy="396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eft Arrow 23"/>
          <p:cNvSpPr/>
          <p:nvPr/>
        </p:nvSpPr>
        <p:spPr>
          <a:xfrm>
            <a:off x="7661614" y="5347936"/>
            <a:ext cx="412955" cy="3964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9703146" y="4231932"/>
            <a:ext cx="1814306" cy="830997"/>
          </a:xfrm>
          <a:prstGeom prst="rect">
            <a:avLst/>
          </a:prstGeom>
          <a:noFill/>
        </p:spPr>
        <p:txBody>
          <a:bodyPr wrap="square" rtlCol="0">
            <a:spAutoFit/>
          </a:bodyPr>
          <a:lstStyle/>
          <a:p>
            <a:r>
              <a:rPr lang="en-US" sz="1200" dirty="0"/>
              <a:t>You can import Excel data to Minitab and export its graphs and other results.</a:t>
            </a:r>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864" y="3635681"/>
            <a:ext cx="559927" cy="537176"/>
          </a:xfrm>
          <a:prstGeom prst="rect">
            <a:avLst/>
          </a:prstGeom>
        </p:spPr>
      </p:pic>
      <p:pic>
        <p:nvPicPr>
          <p:cNvPr id="15" name="Picture 14">
            <a:extLst>
              <a:ext uri="{FF2B5EF4-FFF2-40B4-BE49-F238E27FC236}">
                <a16:creationId xmlns:a16="http://schemas.microsoft.com/office/drawing/2014/main" id="{CD5DDCF0-74D1-4681-BDFA-2ACCFE70E7FC}"/>
              </a:ext>
            </a:extLst>
          </p:cNvPr>
          <p:cNvPicPr>
            <a:picLocks noChangeAspect="1"/>
          </p:cNvPicPr>
          <p:nvPr/>
        </p:nvPicPr>
        <p:blipFill>
          <a:blip r:embed="rId4"/>
          <a:stretch>
            <a:fillRect/>
          </a:stretch>
        </p:blipFill>
        <p:spPr>
          <a:xfrm>
            <a:off x="538535" y="1342647"/>
            <a:ext cx="7123079" cy="4980245"/>
          </a:xfrm>
          <a:prstGeom prst="rect">
            <a:avLst/>
          </a:prstGeom>
        </p:spPr>
      </p:pic>
      <p:sp>
        <p:nvSpPr>
          <p:cNvPr id="2" name="Footer Placeholder 1">
            <a:extLst>
              <a:ext uri="{FF2B5EF4-FFF2-40B4-BE49-F238E27FC236}">
                <a16:creationId xmlns:a16="http://schemas.microsoft.com/office/drawing/2014/main" id="{0C0EDB7C-76C2-0607-12D8-00128FCD2AC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683421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F1AE34-791D-41B8-A72B-3983B65DB176}"/>
              </a:ext>
            </a:extLst>
          </p:cNvPr>
          <p:cNvPicPr>
            <a:picLocks noChangeAspect="1"/>
          </p:cNvPicPr>
          <p:nvPr/>
        </p:nvPicPr>
        <p:blipFill>
          <a:blip r:embed="rId2"/>
          <a:stretch>
            <a:fillRect/>
          </a:stretch>
        </p:blipFill>
        <p:spPr>
          <a:xfrm>
            <a:off x="654746" y="1401721"/>
            <a:ext cx="6300235" cy="4825390"/>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14" name="Text Box 11"/>
          <p:cNvSpPr txBox="1">
            <a:spLocks noChangeArrowheads="1"/>
          </p:cNvSpPr>
          <p:nvPr/>
        </p:nvSpPr>
        <p:spPr bwMode="auto">
          <a:xfrm>
            <a:off x="8401555" y="2794832"/>
            <a:ext cx="1875563" cy="646331"/>
          </a:xfrm>
          <a:prstGeom prst="rect">
            <a:avLst/>
          </a:prstGeom>
          <a:noFill/>
        </p:spPr>
        <p:txBody>
          <a:bodyPr wrap="square" rtlCol="0">
            <a:spAutoFit/>
          </a:bodyPr>
          <a:lstStyle>
            <a:defPPr>
              <a:defRPr lang="en-US"/>
            </a:defPPr>
            <a:lvl1pPr>
              <a:defRPr sz="1100" i="1"/>
            </a:lvl1pPr>
          </a:lstStyle>
          <a:p>
            <a:r>
              <a:rPr lang="en-US" sz="1200" i="0" dirty="0"/>
              <a:t>To import data from Excel, just highlight the data range and copy it (</a:t>
            </a:r>
            <a:r>
              <a:rPr lang="en-US" sz="1200" i="0" dirty="0">
                <a:solidFill>
                  <a:srgbClr val="C00000"/>
                </a:solidFill>
              </a:rPr>
              <a:t>Ctrl-C</a:t>
            </a:r>
            <a:r>
              <a:rPr lang="en-US" sz="1200" i="0" dirty="0"/>
              <a:t>).</a:t>
            </a:r>
          </a:p>
        </p:txBody>
      </p:sp>
      <p:sp>
        <p:nvSpPr>
          <p:cNvPr id="15" name="Line 8"/>
          <p:cNvSpPr>
            <a:spLocks noChangeShapeType="1"/>
          </p:cNvSpPr>
          <p:nvPr/>
        </p:nvSpPr>
        <p:spPr bwMode="auto">
          <a:xfrm flipH="1">
            <a:off x="5737122" y="3162301"/>
            <a:ext cx="2511528" cy="2788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Text Box 10"/>
          <p:cNvSpPr txBox="1">
            <a:spLocks noChangeArrowheads="1"/>
          </p:cNvSpPr>
          <p:nvPr/>
        </p:nvSpPr>
        <p:spPr bwMode="auto">
          <a:xfrm>
            <a:off x="8325354" y="3950198"/>
            <a:ext cx="2456946" cy="1015663"/>
          </a:xfrm>
          <a:prstGeom prst="rect">
            <a:avLst/>
          </a:prstGeom>
          <a:noFill/>
        </p:spPr>
        <p:txBody>
          <a:bodyPr wrap="square" rtlCol="0">
            <a:spAutoFit/>
          </a:bodyPr>
          <a:lstStyle>
            <a:defPPr>
              <a:defRPr lang="en-US"/>
            </a:defPPr>
            <a:lvl1pPr>
              <a:defRPr sz="1100" i="1">
                <a:solidFill>
                  <a:srgbClr val="C00000"/>
                </a:solidFill>
              </a:defRPr>
            </a:lvl1pPr>
          </a:lstStyle>
          <a:p>
            <a:r>
              <a:rPr lang="en-US" sz="1200" dirty="0"/>
              <a:t>Note</a:t>
            </a:r>
            <a:r>
              <a:rPr lang="en-US" sz="1200" i="0" dirty="0">
                <a:solidFill>
                  <a:schemeClr val="tx1"/>
                </a:solidFill>
              </a:rPr>
              <a:t>:  If your spreadsheet uses $ format or commas (e.g., $47,352) you must reformat to plain numbers (e.g., 47352) or else MINITAB will treat the data as text.</a:t>
            </a:r>
          </a:p>
        </p:txBody>
      </p:sp>
      <p:pic>
        <p:nvPicPr>
          <p:cNvPr id="25" name="Picture 24"/>
          <p:cNvPicPr>
            <a:picLocks noChangeAspect="1"/>
          </p:cNvPicPr>
          <p:nvPr/>
        </p:nvPicPr>
        <p:blipFill>
          <a:blip r:embed="rId4"/>
          <a:stretch>
            <a:fillRect/>
          </a:stretch>
        </p:blipFill>
        <p:spPr>
          <a:xfrm>
            <a:off x="7397541" y="3877990"/>
            <a:ext cx="758207" cy="458489"/>
          </a:xfrm>
          <a:prstGeom prst="rect">
            <a:avLst/>
          </a:prstGeom>
        </p:spPr>
      </p:pic>
      <p:sp>
        <p:nvSpPr>
          <p:cNvPr id="2" name="Footer Placeholder 1">
            <a:extLst>
              <a:ext uri="{FF2B5EF4-FFF2-40B4-BE49-F238E27FC236}">
                <a16:creationId xmlns:a16="http://schemas.microsoft.com/office/drawing/2014/main" id="{937A6F46-7C2F-FD08-E79E-B9A97056BF7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5150196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3A3EDF9-D3BD-4FCC-A86B-0CF0B082039B}"/>
              </a:ext>
            </a:extLst>
          </p:cNvPr>
          <p:cNvPicPr>
            <a:picLocks noChangeAspect="1"/>
          </p:cNvPicPr>
          <p:nvPr/>
        </p:nvPicPr>
        <p:blipFill>
          <a:blip r:embed="rId2"/>
          <a:stretch>
            <a:fillRect/>
          </a:stretch>
        </p:blipFill>
        <p:spPr>
          <a:xfrm>
            <a:off x="2840326" y="1313922"/>
            <a:ext cx="6368329" cy="4774587"/>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6" name="Text Box 4"/>
          <p:cNvSpPr txBox="1">
            <a:spLocks noChangeArrowheads="1"/>
          </p:cNvSpPr>
          <p:nvPr/>
        </p:nvSpPr>
        <p:spPr bwMode="auto">
          <a:xfrm>
            <a:off x="639096" y="1451131"/>
            <a:ext cx="1380925" cy="1015663"/>
          </a:xfrm>
          <a:prstGeom prst="rect">
            <a:avLst/>
          </a:prstGeom>
          <a:noFill/>
        </p:spPr>
        <p:txBody>
          <a:bodyPr wrap="square" rtlCol="0">
            <a:spAutoFit/>
          </a:bodyPr>
          <a:lstStyle>
            <a:defPPr>
              <a:defRPr lang="en-US"/>
            </a:defPPr>
            <a:lvl1pPr>
              <a:defRPr sz="1100" i="1"/>
            </a:lvl1pPr>
          </a:lstStyle>
          <a:p>
            <a:r>
              <a:rPr lang="en-US" sz="1200" i="0" dirty="0"/>
              <a:t>This is the menu you will use most often (for descriptive statistics).</a:t>
            </a:r>
          </a:p>
        </p:txBody>
      </p:sp>
      <p:sp>
        <p:nvSpPr>
          <p:cNvPr id="7" name="Line 5"/>
          <p:cNvSpPr>
            <a:spLocks noChangeShapeType="1"/>
          </p:cNvSpPr>
          <p:nvPr/>
        </p:nvSpPr>
        <p:spPr bwMode="auto">
          <a:xfrm flipV="1">
            <a:off x="2160638" y="1769806"/>
            <a:ext cx="1673944" cy="8849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7"/>
          <p:cNvSpPr txBox="1">
            <a:spLocks noChangeArrowheads="1"/>
          </p:cNvSpPr>
          <p:nvPr/>
        </p:nvSpPr>
        <p:spPr bwMode="auto">
          <a:xfrm>
            <a:off x="639096" y="3701216"/>
            <a:ext cx="1380925" cy="830997"/>
          </a:xfrm>
          <a:prstGeom prst="rect">
            <a:avLst/>
          </a:prstGeom>
          <a:noFill/>
        </p:spPr>
        <p:txBody>
          <a:bodyPr wrap="square" rtlCol="0">
            <a:spAutoFit/>
          </a:bodyPr>
          <a:lstStyle>
            <a:defPPr>
              <a:defRPr lang="en-US"/>
            </a:defPPr>
            <a:lvl1pPr>
              <a:defRPr sz="1100" i="1"/>
            </a:lvl1pPr>
          </a:lstStyle>
          <a:p>
            <a:r>
              <a:rPr lang="en-US" sz="1200" i="0" dirty="0"/>
              <a:t>The </a:t>
            </a:r>
            <a:r>
              <a:rPr lang="en-US" sz="1200" i="0" dirty="0">
                <a:solidFill>
                  <a:srgbClr val="C00000"/>
                </a:solidFill>
              </a:rPr>
              <a:t>–T</a:t>
            </a:r>
            <a:r>
              <a:rPr lang="en-US" sz="1200" i="0" dirty="0"/>
              <a:t>  suffix (e.g., </a:t>
            </a:r>
            <a:r>
              <a:rPr lang="en-US" sz="1200" i="0" dirty="0">
                <a:solidFill>
                  <a:srgbClr val="C00000"/>
                </a:solidFill>
              </a:rPr>
              <a:t>C2-T</a:t>
            </a:r>
            <a:r>
              <a:rPr lang="en-US" sz="1200" i="0" dirty="0"/>
              <a:t>) designates a text column (non-numerical data ).</a:t>
            </a:r>
          </a:p>
        </p:txBody>
      </p:sp>
      <p:sp>
        <p:nvSpPr>
          <p:cNvPr id="9" name="Line 5"/>
          <p:cNvSpPr>
            <a:spLocks noChangeShapeType="1"/>
          </p:cNvSpPr>
          <p:nvPr/>
        </p:nvSpPr>
        <p:spPr bwMode="auto">
          <a:xfrm>
            <a:off x="2160638" y="3954327"/>
            <a:ext cx="2669980" cy="35374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Rounded Rectangle 9"/>
          <p:cNvSpPr/>
          <p:nvPr/>
        </p:nvSpPr>
        <p:spPr>
          <a:xfrm>
            <a:off x="4924101" y="4217546"/>
            <a:ext cx="586206" cy="253111"/>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3834583" y="1451131"/>
            <a:ext cx="368708" cy="230183"/>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28F1841A-D6A5-043E-EEF0-6CEEB7AD558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3399960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F00F813-CDA3-498B-AD3D-9533D98E7096}"/>
              </a:ext>
            </a:extLst>
          </p:cNvPr>
          <p:cNvPicPr>
            <a:picLocks noChangeAspect="1"/>
          </p:cNvPicPr>
          <p:nvPr/>
        </p:nvPicPr>
        <p:blipFill>
          <a:blip r:embed="rId2"/>
          <a:stretch>
            <a:fillRect/>
          </a:stretch>
        </p:blipFill>
        <p:spPr>
          <a:xfrm>
            <a:off x="2676813" y="1334910"/>
            <a:ext cx="7140938" cy="4995718"/>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6" name="Text Box 4"/>
          <p:cNvSpPr txBox="1">
            <a:spLocks noChangeArrowheads="1"/>
          </p:cNvSpPr>
          <p:nvPr/>
        </p:nvSpPr>
        <p:spPr bwMode="auto">
          <a:xfrm>
            <a:off x="639096" y="1451131"/>
            <a:ext cx="1380925" cy="646331"/>
          </a:xfrm>
          <a:prstGeom prst="rect">
            <a:avLst/>
          </a:prstGeom>
          <a:noFill/>
        </p:spPr>
        <p:txBody>
          <a:bodyPr wrap="square" rtlCol="0">
            <a:spAutoFit/>
          </a:bodyPr>
          <a:lstStyle>
            <a:defPPr>
              <a:defRPr lang="en-US"/>
            </a:defPPr>
            <a:lvl1pPr>
              <a:defRPr sz="1100" i="1"/>
            </a:lvl1pPr>
          </a:lstStyle>
          <a:p>
            <a:r>
              <a:rPr lang="en-US" sz="1200" i="0" dirty="0"/>
              <a:t>Quick statistics are the beginning point for many projects.</a:t>
            </a:r>
          </a:p>
        </p:txBody>
      </p:sp>
      <p:sp>
        <p:nvSpPr>
          <p:cNvPr id="7" name="Line 5"/>
          <p:cNvSpPr>
            <a:spLocks noChangeShapeType="1"/>
          </p:cNvSpPr>
          <p:nvPr/>
        </p:nvSpPr>
        <p:spPr bwMode="auto">
          <a:xfrm flipV="1">
            <a:off x="2160638" y="1769806"/>
            <a:ext cx="1673944" cy="8849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Rounded Rectangle 10"/>
          <p:cNvSpPr/>
          <p:nvPr/>
        </p:nvSpPr>
        <p:spPr>
          <a:xfrm>
            <a:off x="3790845" y="1451131"/>
            <a:ext cx="368708" cy="353747"/>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0">
            <a:extLst>
              <a:ext uri="{FF2B5EF4-FFF2-40B4-BE49-F238E27FC236}">
                <a16:creationId xmlns:a16="http://schemas.microsoft.com/office/drawing/2014/main" id="{B6F79235-3643-4790-B425-0B08E8E3E472}"/>
              </a:ext>
            </a:extLst>
          </p:cNvPr>
          <p:cNvSpPr/>
          <p:nvPr/>
        </p:nvSpPr>
        <p:spPr>
          <a:xfrm>
            <a:off x="5086229" y="1681424"/>
            <a:ext cx="1924291" cy="538208"/>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6E2CCEE-9899-6188-3F15-EE0CAEEF600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460217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pic>
        <p:nvPicPr>
          <p:cNvPr id="4" name="Picture 3"/>
          <p:cNvPicPr>
            <a:picLocks noChangeAspect="1"/>
          </p:cNvPicPr>
          <p:nvPr/>
        </p:nvPicPr>
        <p:blipFill>
          <a:blip r:embed="rId3"/>
          <a:stretch>
            <a:fillRect/>
          </a:stretch>
        </p:blipFill>
        <p:spPr>
          <a:xfrm>
            <a:off x="2362200" y="1972088"/>
            <a:ext cx="3067050" cy="3314700"/>
          </a:xfrm>
          <a:prstGeom prst="rect">
            <a:avLst/>
          </a:prstGeom>
        </p:spPr>
      </p:pic>
      <p:pic>
        <p:nvPicPr>
          <p:cNvPr id="6" name="Picture 5"/>
          <p:cNvPicPr>
            <a:picLocks noChangeAspect="1"/>
          </p:cNvPicPr>
          <p:nvPr/>
        </p:nvPicPr>
        <p:blipFill>
          <a:blip r:embed="rId4"/>
          <a:stretch>
            <a:fillRect/>
          </a:stretch>
        </p:blipFill>
        <p:spPr>
          <a:xfrm>
            <a:off x="6013450" y="1230877"/>
            <a:ext cx="3905250" cy="2990850"/>
          </a:xfrm>
          <a:prstGeom prst="rect">
            <a:avLst/>
          </a:prstGeom>
        </p:spPr>
      </p:pic>
      <p:pic>
        <p:nvPicPr>
          <p:cNvPr id="7" name="Picture 6"/>
          <p:cNvPicPr>
            <a:picLocks noChangeAspect="1"/>
          </p:cNvPicPr>
          <p:nvPr/>
        </p:nvPicPr>
        <p:blipFill>
          <a:blip r:embed="rId5"/>
          <a:stretch>
            <a:fillRect/>
          </a:stretch>
        </p:blipFill>
        <p:spPr>
          <a:xfrm>
            <a:off x="6013450" y="4362863"/>
            <a:ext cx="2838450" cy="1847850"/>
          </a:xfrm>
          <a:prstGeom prst="rect">
            <a:avLst/>
          </a:prstGeom>
        </p:spPr>
      </p:pic>
      <p:sp>
        <p:nvSpPr>
          <p:cNvPr id="8" name="Text Box 8"/>
          <p:cNvSpPr txBox="1">
            <a:spLocks noChangeArrowheads="1"/>
          </p:cNvSpPr>
          <p:nvPr/>
        </p:nvSpPr>
        <p:spPr bwMode="auto">
          <a:xfrm>
            <a:off x="2435225" y="1265389"/>
            <a:ext cx="2590800" cy="646331"/>
          </a:xfrm>
          <a:prstGeom prst="rect">
            <a:avLst/>
          </a:prstGeom>
          <a:noFill/>
        </p:spPr>
        <p:txBody>
          <a:bodyPr wrap="square" rtlCol="0">
            <a:spAutoFit/>
          </a:bodyPr>
          <a:lstStyle>
            <a:defPPr>
              <a:defRPr lang="en-US"/>
            </a:defPPr>
            <a:lvl1pPr>
              <a:defRPr sz="1100" i="1"/>
            </a:lvl1pPr>
          </a:lstStyle>
          <a:p>
            <a:r>
              <a:rPr lang="en-US" sz="1200" i="0" dirty="0"/>
              <a:t>Text columns will not be listed as variables because they are non-numerical.</a:t>
            </a:r>
          </a:p>
        </p:txBody>
      </p:sp>
      <p:sp>
        <p:nvSpPr>
          <p:cNvPr id="9" name="Text Box 14"/>
          <p:cNvSpPr txBox="1">
            <a:spLocks noChangeArrowheads="1"/>
          </p:cNvSpPr>
          <p:nvPr/>
        </p:nvSpPr>
        <p:spPr bwMode="auto">
          <a:xfrm>
            <a:off x="609600" y="2934503"/>
            <a:ext cx="1295400" cy="830997"/>
          </a:xfrm>
          <a:prstGeom prst="rect">
            <a:avLst/>
          </a:prstGeom>
          <a:noFill/>
        </p:spPr>
        <p:txBody>
          <a:bodyPr wrap="square" rtlCol="0">
            <a:spAutoFit/>
          </a:bodyPr>
          <a:lstStyle>
            <a:defPPr>
              <a:defRPr lang="en-US"/>
            </a:defPPr>
            <a:lvl1pPr>
              <a:defRPr sz="1100" i="1"/>
            </a:lvl1pPr>
          </a:lstStyle>
          <a:p>
            <a:r>
              <a:rPr lang="en-US" sz="1200" i="0" dirty="0"/>
              <a:t>Highlight the variable s) you want and click </a:t>
            </a:r>
            <a:r>
              <a:rPr lang="en-US" sz="1200" i="0" dirty="0">
                <a:solidFill>
                  <a:srgbClr val="C00000"/>
                </a:solidFill>
              </a:rPr>
              <a:t>Select</a:t>
            </a:r>
            <a:r>
              <a:rPr lang="en-US" sz="1200" i="0" dirty="0"/>
              <a:t>.</a:t>
            </a:r>
          </a:p>
        </p:txBody>
      </p:sp>
      <p:sp>
        <p:nvSpPr>
          <p:cNvPr id="10" name="Line 9"/>
          <p:cNvSpPr>
            <a:spLocks noChangeShapeType="1"/>
          </p:cNvSpPr>
          <p:nvPr/>
        </p:nvSpPr>
        <p:spPr bwMode="auto">
          <a:xfrm>
            <a:off x="1778000" y="3533347"/>
            <a:ext cx="809289" cy="87990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Up Arrow 10"/>
          <p:cNvSpPr/>
          <p:nvPr/>
        </p:nvSpPr>
        <p:spPr>
          <a:xfrm>
            <a:off x="3825522" y="5355956"/>
            <a:ext cx="457200" cy="3810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10"/>
          <p:cNvSpPr txBox="1">
            <a:spLocks noChangeArrowheads="1"/>
          </p:cNvSpPr>
          <p:nvPr/>
        </p:nvSpPr>
        <p:spPr bwMode="auto">
          <a:xfrm>
            <a:off x="2362200" y="5881212"/>
            <a:ext cx="3111147" cy="461665"/>
          </a:xfrm>
          <a:prstGeom prst="rect">
            <a:avLst/>
          </a:prstGeom>
          <a:noFill/>
        </p:spPr>
        <p:txBody>
          <a:bodyPr wrap="square" rtlCol="0">
            <a:spAutoFit/>
          </a:bodyPr>
          <a:lstStyle>
            <a:defPPr>
              <a:defRPr lang="en-US"/>
            </a:defPPr>
            <a:lvl1pPr>
              <a:defRPr sz="1100" i="1"/>
            </a:lvl1pPr>
          </a:lstStyle>
          <a:p>
            <a:r>
              <a:rPr lang="en-US" sz="1200" i="0" dirty="0"/>
              <a:t>Click </a:t>
            </a:r>
            <a:r>
              <a:rPr lang="en-US" sz="1200" i="0" dirty="0">
                <a:solidFill>
                  <a:srgbClr val="C00000"/>
                </a:solidFill>
              </a:rPr>
              <a:t>Statistics</a:t>
            </a:r>
            <a:r>
              <a:rPr lang="en-US" sz="1200" i="0" dirty="0"/>
              <a:t> or </a:t>
            </a:r>
            <a:r>
              <a:rPr lang="en-US" sz="1200" i="0" dirty="0">
                <a:solidFill>
                  <a:srgbClr val="C00000"/>
                </a:solidFill>
              </a:rPr>
              <a:t>Graphs</a:t>
            </a:r>
            <a:r>
              <a:rPr lang="en-US" sz="1200" i="0" dirty="0"/>
              <a:t> to get these sub-menus, and then select the options you want.</a:t>
            </a:r>
          </a:p>
        </p:txBody>
      </p:sp>
      <p:sp>
        <p:nvSpPr>
          <p:cNvPr id="13" name="Line 16"/>
          <p:cNvSpPr>
            <a:spLocks noChangeShapeType="1"/>
          </p:cNvSpPr>
          <p:nvPr/>
        </p:nvSpPr>
        <p:spPr bwMode="auto">
          <a:xfrm>
            <a:off x="3548944" y="4819674"/>
            <a:ext cx="1600200" cy="19594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 name="Line 12"/>
          <p:cNvSpPr>
            <a:spLocks noChangeShapeType="1"/>
          </p:cNvSpPr>
          <p:nvPr/>
        </p:nvSpPr>
        <p:spPr bwMode="auto">
          <a:xfrm flipH="1">
            <a:off x="3231444" y="1824007"/>
            <a:ext cx="317500" cy="62321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5"/>
          <p:cNvSpPr>
            <a:spLocks noChangeShapeType="1"/>
          </p:cNvSpPr>
          <p:nvPr/>
        </p:nvSpPr>
        <p:spPr bwMode="auto">
          <a:xfrm flipV="1">
            <a:off x="1631597" y="2579305"/>
            <a:ext cx="623006" cy="2286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Rounded Rectangle 15"/>
          <p:cNvSpPr/>
          <p:nvPr/>
        </p:nvSpPr>
        <p:spPr>
          <a:xfrm>
            <a:off x="2598577" y="4418820"/>
            <a:ext cx="746461" cy="277371"/>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3614577" y="4507719"/>
            <a:ext cx="746461" cy="277371"/>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521913" y="4507718"/>
            <a:ext cx="746461" cy="277371"/>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5592372" y="3885825"/>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5592372" y="4507719"/>
            <a:ext cx="325828" cy="3359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14A563F8-7AF4-C6C4-D44F-2D1BAA79BBC3}"/>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1210914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06C13F7-9B71-447E-A009-FFE15EA5E862}"/>
              </a:ext>
            </a:extLst>
          </p:cNvPr>
          <p:cNvPicPr>
            <a:picLocks noChangeAspect="1"/>
          </p:cNvPicPr>
          <p:nvPr/>
        </p:nvPicPr>
        <p:blipFill>
          <a:blip r:embed="rId2"/>
          <a:stretch>
            <a:fillRect/>
          </a:stretch>
        </p:blipFill>
        <p:spPr>
          <a:xfrm>
            <a:off x="727940" y="1221144"/>
            <a:ext cx="7140938" cy="4995718"/>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6" name="Text Box 9"/>
          <p:cNvSpPr txBox="1">
            <a:spLocks noChangeArrowheads="1"/>
          </p:cNvSpPr>
          <p:nvPr/>
        </p:nvSpPr>
        <p:spPr bwMode="auto">
          <a:xfrm>
            <a:off x="6040206" y="2317391"/>
            <a:ext cx="1714832" cy="600164"/>
          </a:xfrm>
          <a:prstGeom prst="rect">
            <a:avLst/>
          </a:prstGeom>
          <a:noFill/>
        </p:spPr>
        <p:txBody>
          <a:bodyPr wrap="square" rtlCol="0">
            <a:spAutoFit/>
          </a:bodyPr>
          <a:lstStyle>
            <a:defPPr>
              <a:defRPr lang="en-US"/>
            </a:defPPr>
            <a:lvl1pPr>
              <a:defRPr sz="1100" i="1"/>
            </a:lvl1pPr>
          </a:lstStyle>
          <a:p>
            <a:r>
              <a:rPr lang="en-US" dirty="0"/>
              <a:t>You can store the various statistics in the worksheet.</a:t>
            </a:r>
          </a:p>
        </p:txBody>
      </p:sp>
      <p:sp>
        <p:nvSpPr>
          <p:cNvPr id="7" name="Line 7"/>
          <p:cNvSpPr>
            <a:spLocks noChangeShapeType="1"/>
          </p:cNvSpPr>
          <p:nvPr/>
        </p:nvSpPr>
        <p:spPr bwMode="auto">
          <a:xfrm flipH="1" flipV="1">
            <a:off x="4099727" y="1848547"/>
            <a:ext cx="1800968" cy="753529"/>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Down Arrow 7"/>
          <p:cNvSpPr/>
          <p:nvPr/>
        </p:nvSpPr>
        <p:spPr>
          <a:xfrm>
            <a:off x="6618322" y="2931489"/>
            <a:ext cx="366939" cy="3631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a:stretch>
            <a:fillRect/>
          </a:stretch>
        </p:blipFill>
        <p:spPr>
          <a:xfrm>
            <a:off x="5377432" y="3391702"/>
            <a:ext cx="3040380" cy="1950720"/>
          </a:xfrm>
          <a:prstGeom prst="rect">
            <a:avLst/>
          </a:prstGeom>
        </p:spPr>
      </p:pic>
      <p:sp>
        <p:nvSpPr>
          <p:cNvPr id="11" name="Rounded Rectangle 10">
            <a:extLst>
              <a:ext uri="{FF2B5EF4-FFF2-40B4-BE49-F238E27FC236}">
                <a16:creationId xmlns:a16="http://schemas.microsoft.com/office/drawing/2014/main" id="{34C82500-CAE9-4DD8-97F0-5B56E2F56E7F}"/>
              </a:ext>
            </a:extLst>
          </p:cNvPr>
          <p:cNvSpPr/>
          <p:nvPr/>
        </p:nvSpPr>
        <p:spPr>
          <a:xfrm>
            <a:off x="3264946" y="1745709"/>
            <a:ext cx="1390540" cy="205675"/>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9">
            <a:extLst>
              <a:ext uri="{FF2B5EF4-FFF2-40B4-BE49-F238E27FC236}">
                <a16:creationId xmlns:a16="http://schemas.microsoft.com/office/drawing/2014/main" id="{2FDEA57E-55DA-46E3-B74E-1ECAD818C9C4}"/>
              </a:ext>
            </a:extLst>
          </p:cNvPr>
          <p:cNvSpPr txBox="1">
            <a:spLocks noChangeArrowheads="1"/>
          </p:cNvSpPr>
          <p:nvPr/>
        </p:nvSpPr>
        <p:spPr bwMode="auto">
          <a:xfrm>
            <a:off x="8804341" y="2602076"/>
            <a:ext cx="1577910" cy="1200329"/>
          </a:xfrm>
          <a:prstGeom prst="rect">
            <a:avLst/>
          </a:prstGeom>
          <a:solidFill>
            <a:schemeClr val="bg1"/>
          </a:solidFill>
          <a:ln w="9525">
            <a:noFill/>
            <a:miter lim="800000"/>
            <a:headEnd/>
            <a:tailEnd/>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200" i="1" dirty="0">
                <a:solidFill>
                  <a:srgbClr val="C00000"/>
                </a:solidFill>
                <a:latin typeface="+mn-lt"/>
              </a:rPr>
              <a:t>Tip:  </a:t>
            </a:r>
            <a:r>
              <a:rPr lang="en-US" sz="1200" dirty="0">
                <a:latin typeface="+mn-lt"/>
              </a:rPr>
              <a:t>You can save your results in the worksheet (or you may prefer to copy and paste them into Excel).</a:t>
            </a:r>
          </a:p>
        </p:txBody>
      </p:sp>
      <p:pic>
        <p:nvPicPr>
          <p:cNvPr id="13" name="Picture 12">
            <a:extLst>
              <a:ext uri="{FF2B5EF4-FFF2-40B4-BE49-F238E27FC236}">
                <a16:creationId xmlns:a16="http://schemas.microsoft.com/office/drawing/2014/main" id="{3EAA0BD6-7CA3-49B2-83C6-5EE3857A3DBB}"/>
              </a:ext>
            </a:extLst>
          </p:cNvPr>
          <p:cNvPicPr>
            <a:picLocks noChangeAspect="1"/>
          </p:cNvPicPr>
          <p:nvPr/>
        </p:nvPicPr>
        <p:blipFill>
          <a:blip r:embed="rId5"/>
          <a:stretch>
            <a:fillRect/>
          </a:stretch>
        </p:blipFill>
        <p:spPr>
          <a:xfrm>
            <a:off x="9299834" y="2158984"/>
            <a:ext cx="758207" cy="458489"/>
          </a:xfrm>
          <a:prstGeom prst="rect">
            <a:avLst/>
          </a:prstGeom>
        </p:spPr>
      </p:pic>
      <p:sp>
        <p:nvSpPr>
          <p:cNvPr id="2" name="Footer Placeholder 1">
            <a:extLst>
              <a:ext uri="{FF2B5EF4-FFF2-40B4-BE49-F238E27FC236}">
                <a16:creationId xmlns:a16="http://schemas.microsoft.com/office/drawing/2014/main" id="{F59441E5-467B-0B9E-1F6D-1E3D4A265FB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693156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6" name="Text Box 8"/>
          <p:cNvSpPr txBox="1">
            <a:spLocks noChangeArrowheads="1"/>
          </p:cNvSpPr>
          <p:nvPr/>
        </p:nvSpPr>
        <p:spPr bwMode="auto">
          <a:xfrm>
            <a:off x="8676111" y="1724332"/>
            <a:ext cx="1681586" cy="1200329"/>
          </a:xfrm>
          <a:prstGeom prst="rect">
            <a:avLst/>
          </a:prstGeom>
          <a:noFill/>
        </p:spPr>
        <p:txBody>
          <a:bodyPr wrap="square" rtlCol="0">
            <a:spAutoFit/>
          </a:bodyPr>
          <a:lstStyle>
            <a:defPPr>
              <a:defRPr lang="en-US"/>
            </a:defPPr>
            <a:lvl1pPr>
              <a:defRPr sz="1100" i="1"/>
            </a:lvl1pPr>
          </a:lstStyle>
          <a:p>
            <a:r>
              <a:rPr lang="en-US" sz="1200" i="0" dirty="0"/>
              <a:t>Choose the statistics you want to display. The session window shows the results.  You can copy and paste them into Word or Excel.</a:t>
            </a:r>
          </a:p>
        </p:txBody>
      </p:sp>
      <p:sp>
        <p:nvSpPr>
          <p:cNvPr id="8" name="Text Box 13"/>
          <p:cNvSpPr txBox="1">
            <a:spLocks noChangeArrowheads="1"/>
          </p:cNvSpPr>
          <p:nvPr/>
        </p:nvSpPr>
        <p:spPr bwMode="auto">
          <a:xfrm>
            <a:off x="7952410" y="4587788"/>
            <a:ext cx="1681587" cy="830997"/>
          </a:xfrm>
          <a:prstGeom prst="rect">
            <a:avLst/>
          </a:prstGeom>
          <a:noFill/>
        </p:spPr>
        <p:txBody>
          <a:bodyPr wrap="square" rtlCol="0">
            <a:spAutoFit/>
          </a:bodyPr>
          <a:lstStyle>
            <a:defPPr>
              <a:defRPr lang="en-US"/>
            </a:defPPr>
            <a:lvl1pPr>
              <a:defRPr sz="1100" i="1"/>
            </a:lvl1pPr>
          </a:lstStyle>
          <a:p>
            <a:r>
              <a:rPr lang="en-US" sz="1200" i="0" dirty="0"/>
              <a:t>Each graph appears in a separate window.  Double click any graph to edit it.</a:t>
            </a:r>
          </a:p>
        </p:txBody>
      </p:sp>
      <p:sp>
        <p:nvSpPr>
          <p:cNvPr id="9" name="Line 15"/>
          <p:cNvSpPr>
            <a:spLocks noChangeShapeType="1"/>
          </p:cNvSpPr>
          <p:nvPr/>
        </p:nvSpPr>
        <p:spPr bwMode="auto">
          <a:xfrm flipH="1">
            <a:off x="6876465" y="4888104"/>
            <a:ext cx="993589" cy="15148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20" name="Picture 19">
            <a:extLst>
              <a:ext uri="{FF2B5EF4-FFF2-40B4-BE49-F238E27FC236}">
                <a16:creationId xmlns:a16="http://schemas.microsoft.com/office/drawing/2014/main" id="{95887ECC-BA16-4698-AB9D-791A27F87BA7}"/>
              </a:ext>
            </a:extLst>
          </p:cNvPr>
          <p:cNvPicPr>
            <a:picLocks noChangeAspect="1"/>
          </p:cNvPicPr>
          <p:nvPr/>
        </p:nvPicPr>
        <p:blipFill>
          <a:blip r:embed="rId3"/>
          <a:stretch>
            <a:fillRect/>
          </a:stretch>
        </p:blipFill>
        <p:spPr>
          <a:xfrm>
            <a:off x="590643" y="1221144"/>
            <a:ext cx="3067050" cy="3314700"/>
          </a:xfrm>
          <a:prstGeom prst="rect">
            <a:avLst/>
          </a:prstGeom>
        </p:spPr>
      </p:pic>
      <p:pic>
        <p:nvPicPr>
          <p:cNvPr id="22" name="Picture 21">
            <a:extLst>
              <a:ext uri="{FF2B5EF4-FFF2-40B4-BE49-F238E27FC236}">
                <a16:creationId xmlns:a16="http://schemas.microsoft.com/office/drawing/2014/main" id="{A8878C4D-8D47-4025-BEB5-0AD08CDE49B2}"/>
              </a:ext>
            </a:extLst>
          </p:cNvPr>
          <p:cNvPicPr>
            <a:picLocks noChangeAspect="1"/>
          </p:cNvPicPr>
          <p:nvPr/>
        </p:nvPicPr>
        <p:blipFill>
          <a:blip r:embed="rId4"/>
          <a:stretch>
            <a:fillRect/>
          </a:stretch>
        </p:blipFill>
        <p:spPr>
          <a:xfrm>
            <a:off x="3955659" y="1221144"/>
            <a:ext cx="3905250" cy="2990850"/>
          </a:xfrm>
          <a:prstGeom prst="rect">
            <a:avLst/>
          </a:prstGeom>
        </p:spPr>
      </p:pic>
      <p:pic>
        <p:nvPicPr>
          <p:cNvPr id="24" name="Picture 23">
            <a:extLst>
              <a:ext uri="{FF2B5EF4-FFF2-40B4-BE49-F238E27FC236}">
                <a16:creationId xmlns:a16="http://schemas.microsoft.com/office/drawing/2014/main" id="{850A277D-DAAF-4162-ABC3-A44086237994}"/>
              </a:ext>
            </a:extLst>
          </p:cNvPr>
          <p:cNvPicPr>
            <a:picLocks noChangeAspect="1"/>
          </p:cNvPicPr>
          <p:nvPr/>
        </p:nvPicPr>
        <p:blipFill>
          <a:blip r:embed="rId5"/>
          <a:stretch>
            <a:fillRect/>
          </a:stretch>
        </p:blipFill>
        <p:spPr>
          <a:xfrm>
            <a:off x="3955659" y="4458402"/>
            <a:ext cx="2838450" cy="1847850"/>
          </a:xfrm>
          <a:prstGeom prst="rect">
            <a:avLst/>
          </a:prstGeom>
        </p:spPr>
      </p:pic>
      <p:sp>
        <p:nvSpPr>
          <p:cNvPr id="7" name="Line 9"/>
          <p:cNvSpPr>
            <a:spLocks noChangeShapeType="1"/>
          </p:cNvSpPr>
          <p:nvPr/>
        </p:nvSpPr>
        <p:spPr bwMode="auto">
          <a:xfrm flipH="1" flipV="1">
            <a:off x="7629235" y="2096655"/>
            <a:ext cx="877934" cy="12397"/>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Footer Placeholder 1">
            <a:extLst>
              <a:ext uri="{FF2B5EF4-FFF2-40B4-BE49-F238E27FC236}">
                <a16:creationId xmlns:a16="http://schemas.microsoft.com/office/drawing/2014/main" id="{143999EF-FCAB-D160-C800-2323659EA4DB}"/>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417388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9" name="Text Box 8">
            <a:extLst>
              <a:ext uri="{FF2B5EF4-FFF2-40B4-BE49-F238E27FC236}">
                <a16:creationId xmlns:a16="http://schemas.microsoft.com/office/drawing/2014/main" id="{CE8CC33D-FDF7-43B6-B0B7-D836CA175A58}"/>
              </a:ext>
            </a:extLst>
          </p:cNvPr>
          <p:cNvSpPr txBox="1">
            <a:spLocks noChangeArrowheads="1"/>
          </p:cNvSpPr>
          <p:nvPr/>
        </p:nvSpPr>
        <p:spPr bwMode="auto">
          <a:xfrm>
            <a:off x="6243783" y="2060481"/>
            <a:ext cx="2687782" cy="830997"/>
          </a:xfrm>
          <a:prstGeom prst="rect">
            <a:avLst/>
          </a:prstGeom>
          <a:solidFill>
            <a:schemeClr val="bg1"/>
          </a:solidFill>
          <a:ln w="6350">
            <a:noFill/>
            <a:miter lim="800000"/>
            <a:headEnd/>
            <a:tailEnd/>
          </a:ln>
          <a:effectLst/>
        </p:spPr>
        <p:txBody>
          <a:bodyPr wrap="square">
            <a:spAutoFit/>
          </a:bodyPr>
          <a:lstStyle/>
          <a:p>
            <a:pPr>
              <a:spcBef>
                <a:spcPct val="50000"/>
              </a:spcBef>
              <a:defRPr/>
            </a:pPr>
            <a:r>
              <a:rPr lang="en-US" sz="1200" i="1" dirty="0">
                <a:solidFill>
                  <a:srgbClr val="C00000"/>
                </a:solidFill>
              </a:rPr>
              <a:t>Tip</a:t>
            </a:r>
            <a:r>
              <a:rPr lang="en-US" sz="1200" i="1" dirty="0"/>
              <a:t>: </a:t>
            </a:r>
            <a:r>
              <a:rPr lang="en-US" sz="1200" dirty="0"/>
              <a:t>The session window shows your descriptive statistics. You can copy them as text or as a PNG to paste it into Word or Excel.</a:t>
            </a:r>
          </a:p>
        </p:txBody>
      </p:sp>
      <p:pic>
        <p:nvPicPr>
          <p:cNvPr id="11" name="Picture 10">
            <a:extLst>
              <a:ext uri="{FF2B5EF4-FFF2-40B4-BE49-F238E27FC236}">
                <a16:creationId xmlns:a16="http://schemas.microsoft.com/office/drawing/2014/main" id="{45293298-13FC-402E-B3AE-6D720B6FD440}"/>
              </a:ext>
            </a:extLst>
          </p:cNvPr>
          <p:cNvPicPr>
            <a:picLocks noChangeAspect="1"/>
          </p:cNvPicPr>
          <p:nvPr/>
        </p:nvPicPr>
        <p:blipFill>
          <a:blip r:embed="rId3"/>
          <a:stretch>
            <a:fillRect/>
          </a:stretch>
        </p:blipFill>
        <p:spPr>
          <a:xfrm>
            <a:off x="464191" y="1221144"/>
            <a:ext cx="5257800" cy="1457325"/>
          </a:xfrm>
          <a:prstGeom prst="rect">
            <a:avLst/>
          </a:prstGeom>
        </p:spPr>
      </p:pic>
      <p:sp>
        <p:nvSpPr>
          <p:cNvPr id="13" name="Text Box 8">
            <a:extLst>
              <a:ext uri="{FF2B5EF4-FFF2-40B4-BE49-F238E27FC236}">
                <a16:creationId xmlns:a16="http://schemas.microsoft.com/office/drawing/2014/main" id="{28DCA602-BCDE-4687-8FE7-30FC5DA115A7}"/>
              </a:ext>
            </a:extLst>
          </p:cNvPr>
          <p:cNvSpPr txBox="1">
            <a:spLocks noChangeArrowheads="1"/>
          </p:cNvSpPr>
          <p:nvPr/>
        </p:nvSpPr>
        <p:spPr bwMode="auto">
          <a:xfrm>
            <a:off x="2370337" y="3499985"/>
            <a:ext cx="4249538" cy="830997"/>
          </a:xfrm>
          <a:prstGeom prst="rect">
            <a:avLst/>
          </a:prstGeom>
          <a:solidFill>
            <a:schemeClr val="bg1"/>
          </a:solidFill>
          <a:ln w="6350">
            <a:noFill/>
            <a:miter lim="800000"/>
            <a:headEnd/>
            <a:tailEnd/>
          </a:ln>
          <a:effectLst/>
        </p:spPr>
        <p:txBody>
          <a:bodyPr wrap="square">
            <a:spAutoFit/>
          </a:bodyPr>
          <a:lstStyle/>
          <a:p>
            <a:pPr>
              <a:spcBef>
                <a:spcPct val="50000"/>
              </a:spcBef>
              <a:defRPr/>
            </a:pPr>
            <a:r>
              <a:rPr lang="en-US" sz="1200" i="1" dirty="0">
                <a:solidFill>
                  <a:srgbClr val="C00000"/>
                </a:solidFill>
              </a:rPr>
              <a:t>Interpretation</a:t>
            </a:r>
            <a:r>
              <a:rPr lang="en-US" sz="1200" i="1" dirty="0"/>
              <a:t>: </a:t>
            </a:r>
            <a:r>
              <a:rPr lang="en-US" sz="1200" dirty="0"/>
              <a:t>The mean and median are almost the same for winning U.S. Open Golf scores for men (n = 75 years). However, the skewness and kurtosis statistics suggest possible asymmetry and leptokurtic distribution. Possible outlier(s)?  </a:t>
            </a:r>
          </a:p>
        </p:txBody>
      </p:sp>
      <p:pic>
        <p:nvPicPr>
          <p:cNvPr id="14" name="Picture 3" descr="C:\Users\Blythe\AppData\Local\Microsoft\Windows\Temporary Internet Files\Content.IE5\T28SMCVP\MC900360788[2].wmf">
            <a:extLst>
              <a:ext uri="{FF2B5EF4-FFF2-40B4-BE49-F238E27FC236}">
                <a16:creationId xmlns:a16="http://schemas.microsoft.com/office/drawing/2014/main" id="{69450DC5-D89B-4E6C-9461-86905B95389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9488" y="3324420"/>
            <a:ext cx="970210" cy="152068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06E6BB6A-8048-43F6-AD3A-8B18B7F95850}"/>
              </a:ext>
            </a:extLst>
          </p:cNvPr>
          <p:cNvPicPr>
            <a:picLocks noChangeAspect="1"/>
          </p:cNvPicPr>
          <p:nvPr/>
        </p:nvPicPr>
        <p:blipFill>
          <a:blip r:embed="rId5"/>
          <a:stretch>
            <a:fillRect/>
          </a:stretch>
        </p:blipFill>
        <p:spPr>
          <a:xfrm>
            <a:off x="7041902" y="1441875"/>
            <a:ext cx="758207" cy="458489"/>
          </a:xfrm>
          <a:prstGeom prst="rect">
            <a:avLst/>
          </a:prstGeom>
        </p:spPr>
      </p:pic>
      <p:sp>
        <p:nvSpPr>
          <p:cNvPr id="2" name="Footer Placeholder 1">
            <a:extLst>
              <a:ext uri="{FF2B5EF4-FFF2-40B4-BE49-F238E27FC236}">
                <a16:creationId xmlns:a16="http://schemas.microsoft.com/office/drawing/2014/main" id="{35CFBF4B-4CD5-76B1-D202-B84FE4FF7CC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844263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7" name="Text Box 6"/>
          <p:cNvSpPr txBox="1">
            <a:spLocks noChangeArrowheads="1"/>
          </p:cNvSpPr>
          <p:nvPr/>
        </p:nvSpPr>
        <p:spPr bwMode="auto">
          <a:xfrm>
            <a:off x="6904394" y="2135721"/>
            <a:ext cx="2325331" cy="1200329"/>
          </a:xfrm>
          <a:prstGeom prst="rect">
            <a:avLst/>
          </a:prstGeom>
          <a:noFill/>
        </p:spPr>
        <p:txBody>
          <a:bodyPr wrap="square" rtlCol="0">
            <a:spAutoFit/>
          </a:bodyPr>
          <a:lstStyle>
            <a:defPPr>
              <a:defRPr lang="en-US"/>
            </a:defPPr>
            <a:lvl1pPr>
              <a:defRPr sz="1100" i="1"/>
            </a:lvl1pPr>
          </a:lstStyle>
          <a:p>
            <a:r>
              <a:rPr lang="en-US" sz="1200" dirty="0">
                <a:solidFill>
                  <a:srgbClr val="C00000"/>
                </a:solidFill>
              </a:rPr>
              <a:t>Tip: </a:t>
            </a:r>
            <a:r>
              <a:rPr lang="en-US" sz="1200" i="0" dirty="0"/>
              <a:t>When you double-click on a graph feature (e.g., X-axis), edit tools appear so you can choose options, add text, draw lines or shapes, change fonts, or edit colors.</a:t>
            </a:r>
          </a:p>
        </p:txBody>
      </p:sp>
      <p:cxnSp>
        <p:nvCxnSpPr>
          <p:cNvPr id="8" name="Straight Arrow Connector 7"/>
          <p:cNvCxnSpPr>
            <a:cxnSpLocks/>
          </p:cNvCxnSpPr>
          <p:nvPr/>
        </p:nvCxnSpPr>
        <p:spPr>
          <a:xfrm flipH="1">
            <a:off x="5460163" y="2550353"/>
            <a:ext cx="1247037"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Text Box 13">
            <a:extLst>
              <a:ext uri="{FF2B5EF4-FFF2-40B4-BE49-F238E27FC236}">
                <a16:creationId xmlns:a16="http://schemas.microsoft.com/office/drawing/2014/main" id="{A8D06B90-901F-4D4D-905D-4D48FCFCABDE}"/>
              </a:ext>
            </a:extLst>
          </p:cNvPr>
          <p:cNvSpPr txBox="1">
            <a:spLocks noChangeArrowheads="1"/>
          </p:cNvSpPr>
          <p:nvPr/>
        </p:nvSpPr>
        <p:spPr bwMode="auto">
          <a:xfrm>
            <a:off x="5745619" y="3363509"/>
            <a:ext cx="3282078" cy="646331"/>
          </a:xfrm>
          <a:prstGeom prst="rect">
            <a:avLst/>
          </a:prstGeom>
          <a:solidFill>
            <a:srgbClr val="FFFFFF"/>
          </a:solidFill>
          <a:ln w="6350">
            <a:noFill/>
            <a:miter lim="800000"/>
            <a:headEnd/>
            <a:tailEnd/>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200" i="1" dirty="0">
                <a:solidFill>
                  <a:srgbClr val="C00000"/>
                </a:solidFill>
                <a:latin typeface="+mn-lt"/>
              </a:rPr>
              <a:t>Tip: </a:t>
            </a:r>
            <a:r>
              <a:rPr lang="en-US" sz="1200" dirty="0">
                <a:latin typeface="+mn-lt"/>
              </a:rPr>
              <a:t>Each graph is in a separate window.  Double click a graph to edit it. You can copy as a PNG to paste into Word or Excel.</a:t>
            </a:r>
          </a:p>
        </p:txBody>
      </p:sp>
      <p:pic>
        <p:nvPicPr>
          <p:cNvPr id="20" name="Picture 19">
            <a:extLst>
              <a:ext uri="{FF2B5EF4-FFF2-40B4-BE49-F238E27FC236}">
                <a16:creationId xmlns:a16="http://schemas.microsoft.com/office/drawing/2014/main" id="{DF7BF817-1312-4176-8F22-4B84C92DF803}"/>
              </a:ext>
            </a:extLst>
          </p:cNvPr>
          <p:cNvPicPr>
            <a:picLocks noChangeAspect="1"/>
          </p:cNvPicPr>
          <p:nvPr/>
        </p:nvPicPr>
        <p:blipFill>
          <a:blip r:embed="rId3"/>
          <a:stretch>
            <a:fillRect/>
          </a:stretch>
        </p:blipFill>
        <p:spPr>
          <a:xfrm>
            <a:off x="673098" y="1302518"/>
            <a:ext cx="4568816" cy="3045877"/>
          </a:xfrm>
          <a:prstGeom prst="rect">
            <a:avLst/>
          </a:prstGeom>
        </p:spPr>
      </p:pic>
      <p:sp>
        <p:nvSpPr>
          <p:cNvPr id="21" name="Text Box 8">
            <a:extLst>
              <a:ext uri="{FF2B5EF4-FFF2-40B4-BE49-F238E27FC236}">
                <a16:creationId xmlns:a16="http://schemas.microsoft.com/office/drawing/2014/main" id="{1E5993B0-26D0-4B4B-84E9-184FC2E455C3}"/>
              </a:ext>
            </a:extLst>
          </p:cNvPr>
          <p:cNvSpPr txBox="1">
            <a:spLocks noChangeArrowheads="1"/>
          </p:cNvSpPr>
          <p:nvPr/>
        </p:nvSpPr>
        <p:spPr bwMode="auto">
          <a:xfrm>
            <a:off x="4172926" y="4822995"/>
            <a:ext cx="2731468" cy="830997"/>
          </a:xfrm>
          <a:prstGeom prst="rect">
            <a:avLst/>
          </a:prstGeom>
          <a:solidFill>
            <a:schemeClr val="bg1"/>
          </a:solidFill>
          <a:ln w="6350">
            <a:noFill/>
            <a:miter lim="800000"/>
            <a:headEnd/>
            <a:tailEnd/>
          </a:ln>
          <a:effectLst/>
        </p:spPr>
        <p:txBody>
          <a:bodyPr wrap="square">
            <a:spAutoFit/>
          </a:bodyPr>
          <a:lstStyle/>
          <a:p>
            <a:pPr>
              <a:spcBef>
                <a:spcPct val="50000"/>
              </a:spcBef>
              <a:defRPr/>
            </a:pPr>
            <a:r>
              <a:rPr lang="en-US" sz="1200" i="1" dirty="0">
                <a:solidFill>
                  <a:srgbClr val="C00000"/>
                </a:solidFill>
              </a:rPr>
              <a:t>Interpretation: </a:t>
            </a:r>
            <a:r>
              <a:rPr lang="en-US" sz="1200" dirty="0"/>
              <a:t>The distribution appears somewhat bell-shaped except for a high concentration near 280 and an unusual value in the right tail.</a:t>
            </a:r>
          </a:p>
        </p:txBody>
      </p:sp>
      <p:pic>
        <p:nvPicPr>
          <p:cNvPr id="22" name="Picture 21">
            <a:extLst>
              <a:ext uri="{FF2B5EF4-FFF2-40B4-BE49-F238E27FC236}">
                <a16:creationId xmlns:a16="http://schemas.microsoft.com/office/drawing/2014/main" id="{B9888D88-4713-47CD-8FEE-41483B154F3D}"/>
              </a:ext>
            </a:extLst>
          </p:cNvPr>
          <p:cNvPicPr>
            <a:picLocks noChangeAspect="1"/>
          </p:cNvPicPr>
          <p:nvPr/>
        </p:nvPicPr>
        <p:blipFill>
          <a:blip r:embed="rId4"/>
          <a:stretch>
            <a:fillRect/>
          </a:stretch>
        </p:blipFill>
        <p:spPr>
          <a:xfrm>
            <a:off x="7446109" y="1677232"/>
            <a:ext cx="758207" cy="458489"/>
          </a:xfrm>
          <a:prstGeom prst="rect">
            <a:avLst/>
          </a:prstGeom>
        </p:spPr>
      </p:pic>
      <p:pic>
        <p:nvPicPr>
          <p:cNvPr id="23" name="Picture 4" descr="pe01460_">
            <a:extLst>
              <a:ext uri="{FF2B5EF4-FFF2-40B4-BE49-F238E27FC236}">
                <a16:creationId xmlns:a16="http://schemas.microsoft.com/office/drawing/2014/main" id="{9364DC50-E8D6-49CB-A8E1-430BE091FA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8596" y="4567300"/>
            <a:ext cx="809030" cy="1004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9C79FA84-B380-1B38-59BD-F229C7C2AF36}"/>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478208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4" name="Text Box 11"/>
          <p:cNvSpPr txBox="1">
            <a:spLocks noChangeArrowheads="1"/>
          </p:cNvSpPr>
          <p:nvPr/>
        </p:nvSpPr>
        <p:spPr bwMode="auto">
          <a:xfrm>
            <a:off x="2514600" y="14478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a:solidFill>
                  <a:srgbClr val="C00000"/>
                </a:solidFill>
              </a:rPr>
              <a:t>Before</a:t>
            </a:r>
          </a:p>
        </p:txBody>
      </p:sp>
      <p:sp>
        <p:nvSpPr>
          <p:cNvPr id="6" name="Text Box 12"/>
          <p:cNvSpPr txBox="1">
            <a:spLocks noChangeArrowheads="1"/>
          </p:cNvSpPr>
          <p:nvPr/>
        </p:nvSpPr>
        <p:spPr bwMode="auto">
          <a:xfrm>
            <a:off x="6248400" y="2514600"/>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b="1">
                <a:solidFill>
                  <a:srgbClr val="C00000"/>
                </a:solidFill>
              </a:rPr>
              <a:t>After</a:t>
            </a:r>
          </a:p>
        </p:txBody>
      </p:sp>
      <p:sp>
        <p:nvSpPr>
          <p:cNvPr id="7" name="Text Box 13"/>
          <p:cNvSpPr txBox="1">
            <a:spLocks noChangeArrowheads="1"/>
          </p:cNvSpPr>
          <p:nvPr/>
        </p:nvSpPr>
        <p:spPr bwMode="auto">
          <a:xfrm>
            <a:off x="2177785" y="4736907"/>
            <a:ext cx="1981200" cy="646331"/>
          </a:xfrm>
          <a:prstGeom prst="rect">
            <a:avLst/>
          </a:prstGeom>
          <a:noFill/>
        </p:spPr>
        <p:txBody>
          <a:bodyPr wrap="square" rtlCol="0">
            <a:spAutoFit/>
          </a:bodyPr>
          <a:lstStyle>
            <a:defPPr>
              <a:defRPr lang="en-US"/>
            </a:defPPr>
            <a:lvl1pPr>
              <a:defRPr sz="1100" i="1"/>
            </a:lvl1pPr>
          </a:lstStyle>
          <a:p>
            <a:r>
              <a:rPr lang="en-US" sz="1200" i="0" dirty="0"/>
              <a:t>This is just to show  what can be done, not to suggest that this is an improvement.</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0958" y="4677676"/>
            <a:ext cx="672800" cy="645463"/>
          </a:xfrm>
          <a:prstGeom prst="rect">
            <a:avLst/>
          </a:prstGeom>
        </p:spPr>
      </p:pic>
      <p:sp>
        <p:nvSpPr>
          <p:cNvPr id="11" name="Text Box 10"/>
          <p:cNvSpPr txBox="1">
            <a:spLocks noChangeArrowheads="1"/>
          </p:cNvSpPr>
          <p:nvPr/>
        </p:nvSpPr>
        <p:spPr bwMode="auto">
          <a:xfrm>
            <a:off x="6248400" y="1212011"/>
            <a:ext cx="3210612" cy="1015663"/>
          </a:xfrm>
          <a:prstGeom prst="rect">
            <a:avLst/>
          </a:prstGeom>
          <a:noFill/>
        </p:spPr>
        <p:txBody>
          <a:bodyPr wrap="square" rtlCol="0">
            <a:spAutoFit/>
          </a:bodyPr>
          <a:lstStyle>
            <a:defPPr>
              <a:defRPr lang="en-US"/>
            </a:defPPr>
            <a:lvl1pPr>
              <a:defRPr sz="1100" i="1">
                <a:solidFill>
                  <a:srgbClr val="C00000"/>
                </a:solidFill>
              </a:defRPr>
            </a:lvl1pPr>
          </a:lstStyle>
          <a:p>
            <a:r>
              <a:rPr lang="en-US" sz="1200" dirty="0"/>
              <a:t>Tip: </a:t>
            </a:r>
            <a:r>
              <a:rPr lang="en-US" sz="1200" i="0" dirty="0">
                <a:solidFill>
                  <a:schemeClr val="tx1"/>
                </a:solidFill>
              </a:rPr>
              <a:t>Graphs are a communication device. You may want to improve axis labeling, edit graph titles, or add annotations to suit your audience. Minitab graphs can be edited to match the colors or fonts of your PowerPoint presentation. </a:t>
            </a:r>
          </a:p>
        </p:txBody>
      </p:sp>
      <p:pic>
        <p:nvPicPr>
          <p:cNvPr id="12" name="Picture 11"/>
          <p:cNvPicPr>
            <a:picLocks noChangeAspect="1"/>
          </p:cNvPicPr>
          <p:nvPr/>
        </p:nvPicPr>
        <p:blipFill>
          <a:blip r:embed="rId4"/>
          <a:stretch>
            <a:fillRect/>
          </a:stretch>
        </p:blipFill>
        <p:spPr>
          <a:xfrm>
            <a:off x="5154921" y="1525969"/>
            <a:ext cx="758207" cy="458489"/>
          </a:xfrm>
          <a:prstGeom prst="rect">
            <a:avLst/>
          </a:prstGeom>
        </p:spPr>
      </p:pic>
      <p:pic>
        <p:nvPicPr>
          <p:cNvPr id="14" name="Picture 13">
            <a:extLst>
              <a:ext uri="{FF2B5EF4-FFF2-40B4-BE49-F238E27FC236}">
                <a16:creationId xmlns:a16="http://schemas.microsoft.com/office/drawing/2014/main" id="{2BFD7793-A782-4E7C-B3BD-04C0E74B684E}"/>
              </a:ext>
            </a:extLst>
          </p:cNvPr>
          <p:cNvPicPr>
            <a:picLocks noChangeAspect="1"/>
          </p:cNvPicPr>
          <p:nvPr/>
        </p:nvPicPr>
        <p:blipFill>
          <a:blip r:embed="rId5"/>
          <a:stretch>
            <a:fillRect/>
          </a:stretch>
        </p:blipFill>
        <p:spPr>
          <a:xfrm>
            <a:off x="637488" y="1814513"/>
            <a:ext cx="3124200" cy="2082800"/>
          </a:xfrm>
          <a:prstGeom prst="rect">
            <a:avLst/>
          </a:prstGeom>
        </p:spPr>
      </p:pic>
      <p:pic>
        <p:nvPicPr>
          <p:cNvPr id="15" name="Picture 14">
            <a:extLst>
              <a:ext uri="{FF2B5EF4-FFF2-40B4-BE49-F238E27FC236}">
                <a16:creationId xmlns:a16="http://schemas.microsoft.com/office/drawing/2014/main" id="{F462F599-3ABF-4E01-B94B-DF4ED2AED6E7}"/>
              </a:ext>
            </a:extLst>
          </p:cNvPr>
          <p:cNvPicPr>
            <a:picLocks noChangeAspect="1"/>
          </p:cNvPicPr>
          <p:nvPr/>
        </p:nvPicPr>
        <p:blipFill>
          <a:blip r:embed="rId6"/>
          <a:stretch>
            <a:fillRect/>
          </a:stretch>
        </p:blipFill>
        <p:spPr>
          <a:xfrm>
            <a:off x="4956315" y="3113033"/>
            <a:ext cx="3473999" cy="2315999"/>
          </a:xfrm>
          <a:prstGeom prst="rect">
            <a:avLst/>
          </a:prstGeom>
        </p:spPr>
      </p:pic>
      <p:sp>
        <p:nvSpPr>
          <p:cNvPr id="2" name="Footer Placeholder 1">
            <a:extLst>
              <a:ext uri="{FF2B5EF4-FFF2-40B4-BE49-F238E27FC236}">
                <a16:creationId xmlns:a16="http://schemas.microsoft.com/office/drawing/2014/main" id="{DF4108BB-A51B-1F17-BE9B-8E3C05F21FDF}"/>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86793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graphicFrame>
        <p:nvGraphicFramePr>
          <p:cNvPr id="16" name="Object 15">
            <a:extLst>
              <a:ext uri="{FF2B5EF4-FFF2-40B4-BE49-F238E27FC236}">
                <a16:creationId xmlns:a16="http://schemas.microsoft.com/office/drawing/2014/main" id="{25374A58-768D-4FFF-B3F5-959B4157C6FA}"/>
              </a:ext>
            </a:extLst>
          </p:cNvPr>
          <p:cNvGraphicFramePr>
            <a:graphicFrameLocks noChangeAspect="1"/>
          </p:cNvGraphicFramePr>
          <p:nvPr>
            <p:extLst>
              <p:ext uri="{D42A27DB-BD31-4B8C-83A1-F6EECF244321}">
                <p14:modId xmlns:p14="http://schemas.microsoft.com/office/powerpoint/2010/main" val="488330437"/>
              </p:ext>
            </p:extLst>
          </p:nvPr>
        </p:nvGraphicFramePr>
        <p:xfrm>
          <a:off x="455357" y="1373909"/>
          <a:ext cx="7067550" cy="3550523"/>
        </p:xfrm>
        <a:graphic>
          <a:graphicData uri="http://schemas.openxmlformats.org/presentationml/2006/ole">
            <mc:AlternateContent xmlns:mc="http://schemas.openxmlformats.org/markup-compatibility/2006">
              <mc:Choice xmlns:v="urn:schemas-microsoft-com:vml" Requires="v">
                <p:oleObj name="Bitmap Image" r:id="rId3" imgW="8039160" imgH="4038480" progId="Paint.Picture">
                  <p:embed/>
                </p:oleObj>
              </mc:Choice>
              <mc:Fallback>
                <p:oleObj name="Bitmap Image" r:id="rId3" imgW="8039160" imgH="4038480" progId="Paint.Picture">
                  <p:embed/>
                  <p:pic>
                    <p:nvPicPr>
                      <p:cNvPr id="3" name="Object 2">
                        <a:extLst>
                          <a:ext uri="{FF2B5EF4-FFF2-40B4-BE49-F238E27FC236}">
                            <a16:creationId xmlns:a16="http://schemas.microsoft.com/office/drawing/2014/main" id="{5E48AFA9-17E4-47EF-ACD7-E774BE9B203E}"/>
                          </a:ext>
                        </a:extLst>
                      </p:cNvPr>
                      <p:cNvPicPr/>
                      <p:nvPr/>
                    </p:nvPicPr>
                    <p:blipFill>
                      <a:blip r:embed="rId4"/>
                      <a:stretch>
                        <a:fillRect/>
                      </a:stretch>
                    </p:blipFill>
                    <p:spPr>
                      <a:xfrm>
                        <a:off x="455357" y="1373909"/>
                        <a:ext cx="7067550" cy="3550523"/>
                      </a:xfrm>
                      <a:prstGeom prst="rect">
                        <a:avLst/>
                      </a:prstGeom>
                    </p:spPr>
                  </p:pic>
                </p:oleObj>
              </mc:Fallback>
            </mc:AlternateContent>
          </a:graphicData>
        </a:graphic>
      </p:graphicFrame>
      <p:sp>
        <p:nvSpPr>
          <p:cNvPr id="17" name="Text Box 8">
            <a:extLst>
              <a:ext uri="{FF2B5EF4-FFF2-40B4-BE49-F238E27FC236}">
                <a16:creationId xmlns:a16="http://schemas.microsoft.com/office/drawing/2014/main" id="{4DB061E5-E789-40D9-95B8-22F83AFEC870}"/>
              </a:ext>
            </a:extLst>
          </p:cNvPr>
          <p:cNvSpPr txBox="1">
            <a:spLocks noChangeArrowheads="1"/>
          </p:cNvSpPr>
          <p:nvPr/>
        </p:nvSpPr>
        <p:spPr bwMode="auto">
          <a:xfrm>
            <a:off x="1620318" y="5197512"/>
            <a:ext cx="3810000" cy="276999"/>
          </a:xfrm>
          <a:prstGeom prst="rect">
            <a:avLst/>
          </a:prstGeom>
          <a:noFill/>
          <a:ln w="9525">
            <a:noFill/>
            <a:miter lim="800000"/>
            <a:headEnd/>
            <a:tailEnd/>
          </a:ln>
          <a:effectLst/>
        </p:spPr>
        <p:txBody>
          <a:bodyPr wrap="square">
            <a:spAutoFit/>
          </a:bodyPr>
          <a:lstStyle/>
          <a:p>
            <a:pPr>
              <a:spcBef>
                <a:spcPct val="50000"/>
              </a:spcBef>
              <a:defRPr/>
            </a:pPr>
            <a:r>
              <a:rPr lang="en-US" sz="1200" dirty="0"/>
              <a:t>There are many choices for copying a graph.</a:t>
            </a:r>
          </a:p>
        </p:txBody>
      </p:sp>
      <p:pic>
        <p:nvPicPr>
          <p:cNvPr id="19" name="Picture 18">
            <a:extLst>
              <a:ext uri="{FF2B5EF4-FFF2-40B4-BE49-F238E27FC236}">
                <a16:creationId xmlns:a16="http://schemas.microsoft.com/office/drawing/2014/main" id="{D324442A-0F97-4486-88DE-68BFF28E8C4A}"/>
              </a:ext>
            </a:extLst>
          </p:cNvPr>
          <p:cNvPicPr>
            <a:picLocks noChangeAspect="1"/>
          </p:cNvPicPr>
          <p:nvPr/>
        </p:nvPicPr>
        <p:blipFill>
          <a:blip r:embed="rId5"/>
          <a:stretch>
            <a:fillRect/>
          </a:stretch>
        </p:blipFill>
        <p:spPr>
          <a:xfrm>
            <a:off x="764309" y="5077197"/>
            <a:ext cx="856009" cy="517630"/>
          </a:xfrm>
          <a:prstGeom prst="rect">
            <a:avLst/>
          </a:prstGeom>
        </p:spPr>
      </p:pic>
      <p:sp>
        <p:nvSpPr>
          <p:cNvPr id="2" name="Footer Placeholder 1">
            <a:extLst>
              <a:ext uri="{FF2B5EF4-FFF2-40B4-BE49-F238E27FC236}">
                <a16:creationId xmlns:a16="http://schemas.microsoft.com/office/drawing/2014/main" id="{57679C8E-A046-DCDF-6D2E-24C511366B09}"/>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7344318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sp>
        <p:nvSpPr>
          <p:cNvPr id="8" name="Text Box 13"/>
          <p:cNvSpPr txBox="1">
            <a:spLocks noChangeArrowheads="1"/>
          </p:cNvSpPr>
          <p:nvPr/>
        </p:nvSpPr>
        <p:spPr bwMode="auto">
          <a:xfrm>
            <a:off x="2324100" y="5621164"/>
            <a:ext cx="3677460" cy="461665"/>
          </a:xfrm>
          <a:prstGeom prst="rect">
            <a:avLst/>
          </a:prstGeom>
          <a:noFill/>
        </p:spPr>
        <p:txBody>
          <a:bodyPr wrap="square" rtlCol="0">
            <a:spAutoFit/>
          </a:bodyPr>
          <a:lstStyle>
            <a:defPPr>
              <a:defRPr lang="en-US"/>
            </a:defPPr>
            <a:lvl1pPr>
              <a:defRPr sz="1100" i="1"/>
            </a:lvl1pPr>
          </a:lstStyle>
          <a:p>
            <a:r>
              <a:rPr lang="en-US" sz="1200" i="0" dirty="0"/>
              <a:t>Here are some examples of descriptive Minitab graphs using U.S. Open winning golf scores, 1947-2021.</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7700" y="5514975"/>
            <a:ext cx="672800" cy="645463"/>
          </a:xfrm>
          <a:prstGeom prst="rect">
            <a:avLst/>
          </a:prstGeom>
        </p:spPr>
      </p:pic>
      <p:pic>
        <p:nvPicPr>
          <p:cNvPr id="13" name="Picture 12">
            <a:extLst>
              <a:ext uri="{FF2B5EF4-FFF2-40B4-BE49-F238E27FC236}">
                <a16:creationId xmlns:a16="http://schemas.microsoft.com/office/drawing/2014/main" id="{F74D3E77-15BC-4926-A92F-BDBF696A884F}"/>
              </a:ext>
            </a:extLst>
          </p:cNvPr>
          <p:cNvPicPr>
            <a:picLocks noChangeAspect="1"/>
          </p:cNvPicPr>
          <p:nvPr/>
        </p:nvPicPr>
        <p:blipFill>
          <a:blip r:embed="rId4"/>
          <a:stretch>
            <a:fillRect/>
          </a:stretch>
        </p:blipFill>
        <p:spPr>
          <a:xfrm>
            <a:off x="739845" y="1206270"/>
            <a:ext cx="3698678" cy="2465785"/>
          </a:xfrm>
          <a:prstGeom prst="rect">
            <a:avLst/>
          </a:prstGeom>
        </p:spPr>
      </p:pic>
      <p:pic>
        <p:nvPicPr>
          <p:cNvPr id="14" name="Picture 13">
            <a:extLst>
              <a:ext uri="{FF2B5EF4-FFF2-40B4-BE49-F238E27FC236}">
                <a16:creationId xmlns:a16="http://schemas.microsoft.com/office/drawing/2014/main" id="{487E395A-ED88-4509-B785-82E1107AAA24}"/>
              </a:ext>
            </a:extLst>
          </p:cNvPr>
          <p:cNvPicPr>
            <a:picLocks noChangeAspect="1"/>
          </p:cNvPicPr>
          <p:nvPr/>
        </p:nvPicPr>
        <p:blipFill>
          <a:blip r:embed="rId5"/>
          <a:stretch>
            <a:fillRect/>
          </a:stretch>
        </p:blipFill>
        <p:spPr>
          <a:xfrm>
            <a:off x="4657527" y="1221143"/>
            <a:ext cx="3698678" cy="2465785"/>
          </a:xfrm>
          <a:prstGeom prst="rect">
            <a:avLst/>
          </a:prstGeom>
        </p:spPr>
      </p:pic>
      <p:pic>
        <p:nvPicPr>
          <p:cNvPr id="20" name="Picture 19">
            <a:extLst>
              <a:ext uri="{FF2B5EF4-FFF2-40B4-BE49-F238E27FC236}">
                <a16:creationId xmlns:a16="http://schemas.microsoft.com/office/drawing/2014/main" id="{1A660655-5204-489A-85BD-F635BE1111E3}"/>
              </a:ext>
            </a:extLst>
          </p:cNvPr>
          <p:cNvPicPr>
            <a:picLocks noChangeAspect="1"/>
          </p:cNvPicPr>
          <p:nvPr/>
        </p:nvPicPr>
        <p:blipFill>
          <a:blip r:embed="rId6"/>
          <a:stretch>
            <a:fillRect/>
          </a:stretch>
        </p:blipFill>
        <p:spPr>
          <a:xfrm>
            <a:off x="8547426" y="1028336"/>
            <a:ext cx="1874517" cy="2789979"/>
          </a:xfrm>
          <a:prstGeom prst="rect">
            <a:avLst/>
          </a:prstGeom>
        </p:spPr>
      </p:pic>
      <p:pic>
        <p:nvPicPr>
          <p:cNvPr id="22" name="Picture 21">
            <a:extLst>
              <a:ext uri="{FF2B5EF4-FFF2-40B4-BE49-F238E27FC236}">
                <a16:creationId xmlns:a16="http://schemas.microsoft.com/office/drawing/2014/main" id="{B432E55C-98B8-448D-AD23-0B8C7EB54AE2}"/>
              </a:ext>
            </a:extLst>
          </p:cNvPr>
          <p:cNvPicPr>
            <a:picLocks noChangeAspect="1"/>
          </p:cNvPicPr>
          <p:nvPr/>
        </p:nvPicPr>
        <p:blipFill>
          <a:blip r:embed="rId7"/>
          <a:stretch>
            <a:fillRect/>
          </a:stretch>
        </p:blipFill>
        <p:spPr>
          <a:xfrm>
            <a:off x="6730743" y="3993703"/>
            <a:ext cx="2753941" cy="1835961"/>
          </a:xfrm>
          <a:prstGeom prst="rect">
            <a:avLst/>
          </a:prstGeom>
        </p:spPr>
      </p:pic>
      <p:pic>
        <p:nvPicPr>
          <p:cNvPr id="23" name="Picture 22">
            <a:extLst>
              <a:ext uri="{FF2B5EF4-FFF2-40B4-BE49-F238E27FC236}">
                <a16:creationId xmlns:a16="http://schemas.microsoft.com/office/drawing/2014/main" id="{F578A1E1-1EF3-4C4C-A600-AF35C4D03A78}"/>
              </a:ext>
            </a:extLst>
          </p:cNvPr>
          <p:cNvPicPr>
            <a:picLocks noChangeAspect="1"/>
          </p:cNvPicPr>
          <p:nvPr/>
        </p:nvPicPr>
        <p:blipFill>
          <a:blip r:embed="rId8"/>
          <a:stretch>
            <a:fillRect/>
          </a:stretch>
        </p:blipFill>
        <p:spPr>
          <a:xfrm>
            <a:off x="884800" y="3888401"/>
            <a:ext cx="5116760" cy="1626574"/>
          </a:xfrm>
          <a:prstGeom prst="rect">
            <a:avLst/>
          </a:prstGeom>
        </p:spPr>
      </p:pic>
      <p:sp>
        <p:nvSpPr>
          <p:cNvPr id="2" name="Footer Placeholder 1">
            <a:extLst>
              <a:ext uri="{FF2B5EF4-FFF2-40B4-BE49-F238E27FC236}">
                <a16:creationId xmlns:a16="http://schemas.microsoft.com/office/drawing/2014/main" id="{A4D2ABBA-E20A-13F1-6742-152FE21D5459}"/>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8633989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2" action="ppaction://hlinksldjump"/>
              </a:rPr>
              <a:t>Back to top menu</a:t>
            </a:r>
            <a:endParaRPr lang="en-US" sz="1200" i="1"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4901" y="4549617"/>
            <a:ext cx="672800" cy="645463"/>
          </a:xfrm>
          <a:prstGeom prst="rect">
            <a:avLst/>
          </a:prstGeom>
        </p:spPr>
      </p:pic>
      <p:pic>
        <p:nvPicPr>
          <p:cNvPr id="15" name="Picture 14">
            <a:extLst>
              <a:ext uri="{FF2B5EF4-FFF2-40B4-BE49-F238E27FC236}">
                <a16:creationId xmlns:a16="http://schemas.microsoft.com/office/drawing/2014/main" id="{E6A2722F-18FE-4DFC-AA58-03D43E921E77}"/>
              </a:ext>
            </a:extLst>
          </p:cNvPr>
          <p:cNvPicPr>
            <a:picLocks noChangeAspect="1"/>
          </p:cNvPicPr>
          <p:nvPr/>
        </p:nvPicPr>
        <p:blipFill>
          <a:blip r:embed="rId4"/>
          <a:stretch>
            <a:fillRect/>
          </a:stretch>
        </p:blipFill>
        <p:spPr>
          <a:xfrm>
            <a:off x="640644" y="1347801"/>
            <a:ext cx="4802724" cy="3201816"/>
          </a:xfrm>
          <a:prstGeom prst="rect">
            <a:avLst/>
          </a:prstGeom>
        </p:spPr>
      </p:pic>
      <p:pic>
        <p:nvPicPr>
          <p:cNvPr id="16" name="Picture 15">
            <a:extLst>
              <a:ext uri="{FF2B5EF4-FFF2-40B4-BE49-F238E27FC236}">
                <a16:creationId xmlns:a16="http://schemas.microsoft.com/office/drawing/2014/main" id="{F591CC60-FC19-43F0-87BA-1F739473228A}"/>
              </a:ext>
            </a:extLst>
          </p:cNvPr>
          <p:cNvPicPr>
            <a:picLocks noChangeAspect="1"/>
          </p:cNvPicPr>
          <p:nvPr/>
        </p:nvPicPr>
        <p:blipFill>
          <a:blip r:embed="rId5"/>
          <a:stretch>
            <a:fillRect/>
          </a:stretch>
        </p:blipFill>
        <p:spPr>
          <a:xfrm>
            <a:off x="5849922" y="3695974"/>
            <a:ext cx="3499065" cy="2480680"/>
          </a:xfrm>
          <a:prstGeom prst="rect">
            <a:avLst/>
          </a:prstGeom>
        </p:spPr>
      </p:pic>
      <p:pic>
        <p:nvPicPr>
          <p:cNvPr id="17" name="Picture 16">
            <a:extLst>
              <a:ext uri="{FF2B5EF4-FFF2-40B4-BE49-F238E27FC236}">
                <a16:creationId xmlns:a16="http://schemas.microsoft.com/office/drawing/2014/main" id="{F73A0335-3C40-48E9-9776-246799DD08CB}"/>
              </a:ext>
            </a:extLst>
          </p:cNvPr>
          <p:cNvPicPr>
            <a:picLocks noChangeAspect="1"/>
          </p:cNvPicPr>
          <p:nvPr/>
        </p:nvPicPr>
        <p:blipFill>
          <a:blip r:embed="rId6"/>
          <a:stretch>
            <a:fillRect/>
          </a:stretch>
        </p:blipFill>
        <p:spPr>
          <a:xfrm>
            <a:off x="5849923" y="1221144"/>
            <a:ext cx="3499065" cy="2319068"/>
          </a:xfrm>
          <a:prstGeom prst="rect">
            <a:avLst/>
          </a:prstGeom>
        </p:spPr>
      </p:pic>
      <p:sp>
        <p:nvSpPr>
          <p:cNvPr id="20" name="Text Box 4">
            <a:extLst>
              <a:ext uri="{FF2B5EF4-FFF2-40B4-BE49-F238E27FC236}">
                <a16:creationId xmlns:a16="http://schemas.microsoft.com/office/drawing/2014/main" id="{AA9EE371-2445-4267-804E-AF8EFBBE452C}"/>
              </a:ext>
            </a:extLst>
          </p:cNvPr>
          <p:cNvSpPr txBox="1">
            <a:spLocks noChangeArrowheads="1"/>
          </p:cNvSpPr>
          <p:nvPr/>
        </p:nvSpPr>
        <p:spPr bwMode="auto">
          <a:xfrm>
            <a:off x="1243028" y="5338749"/>
            <a:ext cx="2976545" cy="646331"/>
          </a:xfrm>
          <a:prstGeom prst="rect">
            <a:avLst/>
          </a:prstGeom>
          <a:noFill/>
          <a:ln w="9525">
            <a:noFill/>
            <a:miter lim="800000"/>
            <a:headEnd/>
            <a:tailEnd/>
          </a:ln>
          <a:effectLst/>
        </p:spPr>
        <p:txBody>
          <a:bodyPr wrap="square">
            <a:spAutoFit/>
          </a:bodyPr>
          <a:lstStyle/>
          <a:p>
            <a:pPr>
              <a:spcBef>
                <a:spcPct val="50000"/>
              </a:spcBef>
              <a:defRPr/>
            </a:pPr>
            <a:r>
              <a:rPr lang="en-US" sz="1200" i="1" dirty="0">
                <a:solidFill>
                  <a:srgbClr val="C00000"/>
                </a:solidFill>
              </a:rPr>
              <a:t>Tip: </a:t>
            </a:r>
            <a:r>
              <a:rPr lang="en-US" sz="1200" dirty="0"/>
              <a:t>You can set the time scale labels and edit graph labels. Do you see a trend toward improving scores over time?</a:t>
            </a:r>
          </a:p>
        </p:txBody>
      </p:sp>
      <p:sp>
        <p:nvSpPr>
          <p:cNvPr id="2" name="Footer Placeholder 1">
            <a:extLst>
              <a:ext uri="{FF2B5EF4-FFF2-40B4-BE49-F238E27FC236}">
                <a16:creationId xmlns:a16="http://schemas.microsoft.com/office/drawing/2014/main" id="{9DD15329-EE99-53A3-22B9-91FC515996A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5110578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E54851B-41EC-4E54-8C7B-930A22D48369}"/>
              </a:ext>
            </a:extLst>
          </p:cNvPr>
          <p:cNvPicPr>
            <a:picLocks noChangeAspect="1"/>
          </p:cNvPicPr>
          <p:nvPr/>
        </p:nvPicPr>
        <p:blipFill>
          <a:blip r:embed="rId2"/>
          <a:stretch>
            <a:fillRect/>
          </a:stretch>
        </p:blipFill>
        <p:spPr>
          <a:xfrm>
            <a:off x="623104" y="1231393"/>
            <a:ext cx="7140938" cy="4995718"/>
          </a:xfrm>
          <a:prstGeom prst="rect">
            <a:avLst/>
          </a:prstGeom>
        </p:spPr>
      </p:pic>
      <p:pic>
        <p:nvPicPr>
          <p:cNvPr id="3" name="Picture 2">
            <a:extLst>
              <a:ext uri="{FF2B5EF4-FFF2-40B4-BE49-F238E27FC236}">
                <a16:creationId xmlns:a16="http://schemas.microsoft.com/office/drawing/2014/main" id="{54C4ACCF-6DEF-46E5-9AE7-B17CA3CFAFAE}"/>
              </a:ext>
            </a:extLst>
          </p:cNvPr>
          <p:cNvPicPr>
            <a:picLocks noChangeAspect="1"/>
          </p:cNvPicPr>
          <p:nvPr/>
        </p:nvPicPr>
        <p:blipFill>
          <a:blip r:embed="rId3"/>
          <a:stretch>
            <a:fillRect/>
          </a:stretch>
        </p:blipFill>
        <p:spPr>
          <a:xfrm>
            <a:off x="5692964" y="2196219"/>
            <a:ext cx="4599099" cy="3066066"/>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4" action="ppaction://hlinksldjump"/>
              </a:rPr>
              <a:t>Back to top menu</a:t>
            </a:r>
            <a:endParaRPr lang="en-US" sz="1200" i="1" dirty="0"/>
          </a:p>
        </p:txBody>
      </p:sp>
      <p:sp>
        <p:nvSpPr>
          <p:cNvPr id="6" name="Text Box 5"/>
          <p:cNvSpPr txBox="1">
            <a:spLocks noChangeArrowheads="1"/>
          </p:cNvSpPr>
          <p:nvPr/>
        </p:nvSpPr>
        <p:spPr bwMode="auto">
          <a:xfrm>
            <a:off x="7991476" y="5650236"/>
            <a:ext cx="2882680" cy="461665"/>
          </a:xfrm>
          <a:prstGeom prst="rect">
            <a:avLst/>
          </a:prstGeom>
          <a:noFill/>
        </p:spPr>
        <p:txBody>
          <a:bodyPr wrap="square" rtlCol="0">
            <a:spAutoFit/>
          </a:bodyPr>
          <a:lstStyle>
            <a:defPPr>
              <a:defRPr lang="en-US"/>
            </a:defPPr>
            <a:lvl1pPr>
              <a:defRPr sz="1100" i="1"/>
            </a:lvl1pPr>
          </a:lstStyle>
          <a:p>
            <a:r>
              <a:rPr lang="en-US" sz="1200" dirty="0"/>
              <a:t>A small p-value (near 0) or a non-linear probability plot would suggest non-normality. </a:t>
            </a:r>
          </a:p>
        </p:txBody>
      </p:sp>
      <p:sp>
        <p:nvSpPr>
          <p:cNvPr id="8" name="Line 8"/>
          <p:cNvSpPr>
            <a:spLocks noChangeShapeType="1"/>
          </p:cNvSpPr>
          <p:nvPr/>
        </p:nvSpPr>
        <p:spPr bwMode="auto">
          <a:xfrm>
            <a:off x="9353952" y="1622179"/>
            <a:ext cx="390123" cy="140970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Rounded Rectangle 8"/>
          <p:cNvSpPr/>
          <p:nvPr/>
        </p:nvSpPr>
        <p:spPr>
          <a:xfrm>
            <a:off x="9471758" y="3134467"/>
            <a:ext cx="746461" cy="224743"/>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8"/>
          <p:cNvSpPr/>
          <p:nvPr/>
        </p:nvSpPr>
        <p:spPr>
          <a:xfrm>
            <a:off x="3281497" y="4321362"/>
            <a:ext cx="912076" cy="195514"/>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5"/>
          <p:cNvSpPr txBox="1">
            <a:spLocks noChangeArrowheads="1"/>
          </p:cNvSpPr>
          <p:nvPr/>
        </p:nvSpPr>
        <p:spPr bwMode="auto">
          <a:xfrm>
            <a:off x="7880570" y="1115976"/>
            <a:ext cx="2882680" cy="1015663"/>
          </a:xfrm>
          <a:prstGeom prst="rect">
            <a:avLst/>
          </a:prstGeom>
          <a:noFill/>
        </p:spPr>
        <p:txBody>
          <a:bodyPr wrap="square" rtlCol="0">
            <a:spAutoFit/>
          </a:bodyPr>
          <a:lstStyle>
            <a:defPPr>
              <a:defRPr lang="en-US"/>
            </a:defPPr>
            <a:lvl1pPr>
              <a:defRPr sz="1100" i="1"/>
            </a:lvl1pPr>
          </a:lstStyle>
          <a:p>
            <a:r>
              <a:rPr lang="en-US" sz="1200" i="0" dirty="0"/>
              <a:t>Except for a few unusual tail values, this plot of winning golf scores resembles a normal. Its p-value (.298) would not lead us to reject normality at the usual significance levels (e.g., </a:t>
            </a:r>
            <a:r>
              <a:rPr lang="el-GR" sz="1200" dirty="0">
                <a:latin typeface="Times New Roman" panose="02020603050405020304" pitchFamily="18" charset="0"/>
                <a:cs typeface="Times New Roman" panose="02020603050405020304" pitchFamily="18" charset="0"/>
              </a:rPr>
              <a:t>α</a:t>
            </a:r>
            <a:r>
              <a:rPr lang="en-US" sz="1200" i="0" dirty="0"/>
              <a:t> = .05).</a:t>
            </a:r>
          </a:p>
        </p:txBody>
      </p:sp>
      <p:pic>
        <p:nvPicPr>
          <p:cNvPr id="12" name="Picture 11"/>
          <p:cNvPicPr>
            <a:picLocks noChangeAspect="1"/>
          </p:cNvPicPr>
          <p:nvPr/>
        </p:nvPicPr>
        <p:blipFill>
          <a:blip r:embed="rId5"/>
          <a:stretch>
            <a:fillRect/>
          </a:stretch>
        </p:blipFill>
        <p:spPr>
          <a:xfrm>
            <a:off x="8595745" y="5191747"/>
            <a:ext cx="758207" cy="458489"/>
          </a:xfrm>
          <a:prstGeom prst="rect">
            <a:avLst/>
          </a:prstGeom>
        </p:spPr>
      </p:pic>
      <p:sp>
        <p:nvSpPr>
          <p:cNvPr id="2" name="Footer Placeholder 1">
            <a:extLst>
              <a:ext uri="{FF2B5EF4-FFF2-40B4-BE49-F238E27FC236}">
                <a16:creationId xmlns:a16="http://schemas.microsoft.com/office/drawing/2014/main" id="{B933D52A-C50A-91BA-1029-4BB552EA1772}"/>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3261958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41A7AA2-36EB-4DA3-A9A7-DDB88ADB84E3}"/>
              </a:ext>
            </a:extLst>
          </p:cNvPr>
          <p:cNvPicPr>
            <a:picLocks noChangeAspect="1"/>
          </p:cNvPicPr>
          <p:nvPr/>
        </p:nvPicPr>
        <p:blipFill>
          <a:blip r:embed="rId2"/>
          <a:stretch>
            <a:fillRect/>
          </a:stretch>
        </p:blipFill>
        <p:spPr>
          <a:xfrm>
            <a:off x="641011" y="1257404"/>
            <a:ext cx="7140938" cy="4995718"/>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6" name="Text Box 5"/>
          <p:cNvSpPr txBox="1">
            <a:spLocks noChangeArrowheads="1"/>
          </p:cNvSpPr>
          <p:nvPr/>
        </p:nvSpPr>
        <p:spPr bwMode="auto">
          <a:xfrm>
            <a:off x="8119928" y="938260"/>
            <a:ext cx="2681422" cy="1200329"/>
          </a:xfrm>
          <a:prstGeom prst="rect">
            <a:avLst/>
          </a:prstGeom>
          <a:noFill/>
        </p:spPr>
        <p:txBody>
          <a:bodyPr wrap="square" rtlCol="0">
            <a:spAutoFit/>
          </a:bodyPr>
          <a:lstStyle>
            <a:defPPr>
              <a:defRPr lang="en-US"/>
            </a:defPPr>
            <a:lvl1pPr>
              <a:defRPr sz="1100" i="1"/>
            </a:lvl1pPr>
          </a:lstStyle>
          <a:p>
            <a:r>
              <a:rPr lang="en-US" sz="1200" i="0" dirty="0"/>
              <a:t>MINITAB’s </a:t>
            </a:r>
            <a:r>
              <a:rPr lang="en-US" sz="1200" i="0" dirty="0">
                <a:solidFill>
                  <a:srgbClr val="C00000"/>
                </a:solidFill>
              </a:rPr>
              <a:t>Graphical Summary </a:t>
            </a:r>
            <a:r>
              <a:rPr lang="en-US" sz="1200" i="0" dirty="0"/>
              <a:t>has key plots (histogram, box plot, confidence intervals) and common statistics (mean, standard deviation, quartiles, </a:t>
            </a:r>
            <a:r>
              <a:rPr lang="en-US" sz="1200" dirty="0"/>
              <a:t>p</a:t>
            </a:r>
            <a:r>
              <a:rPr lang="en-US" sz="1200" i="0" dirty="0"/>
              <a:t>-value for  normality test). Do you really need anything more?</a:t>
            </a:r>
          </a:p>
        </p:txBody>
      </p:sp>
      <p:sp>
        <p:nvSpPr>
          <p:cNvPr id="8" name="Line 7"/>
          <p:cNvSpPr>
            <a:spLocks noChangeShapeType="1"/>
          </p:cNvSpPr>
          <p:nvPr/>
        </p:nvSpPr>
        <p:spPr bwMode="auto">
          <a:xfrm flipH="1">
            <a:off x="4444677" y="1718455"/>
            <a:ext cx="3508698" cy="3077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Rounded Rectangle 9"/>
          <p:cNvSpPr/>
          <p:nvPr/>
        </p:nvSpPr>
        <p:spPr>
          <a:xfrm>
            <a:off x="3367460" y="1913846"/>
            <a:ext cx="948802" cy="224743"/>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331F8CA-B57A-401F-A9D9-9CAD6691D519}"/>
              </a:ext>
            </a:extLst>
          </p:cNvPr>
          <p:cNvPicPr>
            <a:picLocks noChangeAspect="1"/>
          </p:cNvPicPr>
          <p:nvPr/>
        </p:nvPicPr>
        <p:blipFill>
          <a:blip r:embed="rId4"/>
          <a:stretch>
            <a:fillRect/>
          </a:stretch>
        </p:blipFill>
        <p:spPr>
          <a:xfrm>
            <a:off x="4863821" y="2361464"/>
            <a:ext cx="5041537" cy="3781153"/>
          </a:xfrm>
          <a:prstGeom prst="rect">
            <a:avLst/>
          </a:prstGeom>
        </p:spPr>
      </p:pic>
      <p:sp>
        <p:nvSpPr>
          <p:cNvPr id="2" name="Footer Placeholder 1">
            <a:extLst>
              <a:ext uri="{FF2B5EF4-FFF2-40B4-BE49-F238E27FC236}">
                <a16:creationId xmlns:a16="http://schemas.microsoft.com/office/drawing/2014/main" id="{B976C29A-EF54-2BCA-02E8-9DE726D996B1}"/>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4093913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59C05A-0A99-49D6-8BB9-09437CECC7DA}"/>
              </a:ext>
            </a:extLst>
          </p:cNvPr>
          <p:cNvPicPr>
            <a:picLocks noChangeAspect="1"/>
          </p:cNvPicPr>
          <p:nvPr/>
        </p:nvPicPr>
        <p:blipFill>
          <a:blip r:embed="rId2"/>
          <a:stretch>
            <a:fillRect/>
          </a:stretch>
        </p:blipFill>
        <p:spPr>
          <a:xfrm>
            <a:off x="655383" y="1221144"/>
            <a:ext cx="6574092" cy="4928855"/>
          </a:xfrm>
          <a:prstGeom prst="rect">
            <a:avLst/>
          </a:prstGeom>
        </p:spPr>
      </p:pic>
      <p:sp>
        <p:nvSpPr>
          <p:cNvPr id="5" name="Title 1"/>
          <p:cNvSpPr txBox="1">
            <a:spLocks/>
          </p:cNvSpPr>
          <p:nvPr/>
        </p:nvSpPr>
        <p:spPr>
          <a:xfrm>
            <a:off x="455357" y="630889"/>
            <a:ext cx="11272452" cy="590255"/>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chemeClr val="accent1"/>
                </a:solidFill>
              </a:rPr>
              <a:t>Tutorial 7 – Minitab</a:t>
            </a:r>
          </a:p>
        </p:txBody>
      </p:sp>
      <p:sp>
        <p:nvSpPr>
          <p:cNvPr id="18" name="TextBox 17"/>
          <p:cNvSpPr txBox="1"/>
          <p:nvPr/>
        </p:nvSpPr>
        <p:spPr>
          <a:xfrm>
            <a:off x="10592709" y="6444395"/>
            <a:ext cx="1298962" cy="276999"/>
          </a:xfrm>
          <a:prstGeom prst="rect">
            <a:avLst/>
          </a:prstGeom>
          <a:noFill/>
        </p:spPr>
        <p:txBody>
          <a:bodyPr wrap="square" rtlCol="0">
            <a:spAutoFit/>
          </a:bodyPr>
          <a:lstStyle/>
          <a:p>
            <a:r>
              <a:rPr lang="en-US" sz="1200" i="1" dirty="0">
                <a:hlinkClick r:id="rId3" action="ppaction://hlinksldjump"/>
              </a:rPr>
              <a:t>Back to top menu</a:t>
            </a:r>
            <a:endParaRPr lang="en-US" sz="1200" i="1" dirty="0"/>
          </a:p>
        </p:txBody>
      </p:sp>
      <p:sp>
        <p:nvSpPr>
          <p:cNvPr id="7" name="Line 5"/>
          <p:cNvSpPr>
            <a:spLocks noChangeShapeType="1"/>
          </p:cNvSpPr>
          <p:nvPr/>
        </p:nvSpPr>
        <p:spPr bwMode="auto">
          <a:xfrm flipH="1" flipV="1">
            <a:off x="1457326" y="1971675"/>
            <a:ext cx="6574093" cy="10287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Box 7"/>
          <p:cNvSpPr txBox="1"/>
          <p:nvPr/>
        </p:nvSpPr>
        <p:spPr>
          <a:xfrm>
            <a:off x="8202870" y="2424691"/>
            <a:ext cx="2044163" cy="938719"/>
          </a:xfrm>
          <a:prstGeom prst="rect">
            <a:avLst/>
          </a:prstGeom>
          <a:noFill/>
        </p:spPr>
        <p:txBody>
          <a:bodyPr wrap="square" rtlCol="0">
            <a:spAutoFit/>
          </a:bodyPr>
          <a:lstStyle/>
          <a:p>
            <a:pPr algn="ctr"/>
            <a:r>
              <a:rPr lang="en-US" sz="1100" b="1" dirty="0">
                <a:solidFill>
                  <a:schemeClr val="accent1">
                    <a:lumMod val="75000"/>
                  </a:schemeClr>
                </a:solidFill>
              </a:rPr>
              <a:t>Where’s My Graph?</a:t>
            </a:r>
          </a:p>
          <a:p>
            <a:endParaRPr lang="en-US" sz="1100" dirty="0"/>
          </a:p>
          <a:p>
            <a:r>
              <a:rPr lang="en-US" sz="1100" dirty="0"/>
              <a:t>Don’t panic. The Navigator pane shows a list of all the graphs and results that you have created.</a:t>
            </a:r>
          </a:p>
        </p:txBody>
      </p:sp>
      <p:sp>
        <p:nvSpPr>
          <p:cNvPr id="9" name="Rounded Rectangle 8"/>
          <p:cNvSpPr/>
          <p:nvPr/>
        </p:nvSpPr>
        <p:spPr>
          <a:xfrm>
            <a:off x="580091" y="1768331"/>
            <a:ext cx="705784" cy="203344"/>
          </a:xfrm>
          <a:prstGeom prst="roundRect">
            <a:avLst>
              <a:gd name="adj" fmla="val 50000"/>
            </a:avLst>
          </a:prstGeom>
          <a:solidFill>
            <a:schemeClr val="accent1">
              <a:alpha val="0"/>
            </a:schemeClr>
          </a:solidFill>
          <a:ln w="1270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CFF8EA93-9CF2-B11B-75A4-3B57C69F0C3E}"/>
              </a:ext>
            </a:extLst>
          </p:cNvPr>
          <p:cNvSpPr>
            <a:spLocks noGrp="1"/>
          </p:cNvSpPr>
          <p:nvPr>
            <p:ph type="ftr" sz="quarter" idx="11"/>
          </p:nvPr>
        </p:nvSpPr>
        <p:spPr/>
        <p:txBody>
          <a:bodyPr/>
          <a:lstStyle/>
          <a:p>
            <a:r>
              <a:rPr lang="en-US"/>
              <a:t>© McGraw Hill LLC. All rights reserved. No reproduction or distribution without the prior written consent of McGraw Hill LLC.</a:t>
            </a:r>
            <a:endParaRPr lang="en-US" dirty="0"/>
          </a:p>
        </p:txBody>
      </p:sp>
    </p:spTree>
    <p:extLst>
      <p:ext uri="{BB962C8B-B14F-4D97-AF65-F5344CB8AC3E}">
        <p14:creationId xmlns:p14="http://schemas.microsoft.com/office/powerpoint/2010/main" val="1020085067"/>
      </p:ext>
    </p:extLst>
  </p:cSld>
  <p:clrMapOvr>
    <a:masterClrMapping/>
  </p:clrMapOvr>
</p:sld>
</file>

<file path=ppt/theme/theme1.xml><?xml version="1.0" encoding="utf-8"?>
<a:theme xmlns:a="http://schemas.openxmlformats.org/drawingml/2006/main" name="Dividen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19311</TotalTime>
  <Words>6463</Words>
  <Application>Microsoft Office PowerPoint</Application>
  <PresentationFormat>Widescreen</PresentationFormat>
  <Paragraphs>540</Paragraphs>
  <Slides>62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0" baseType="lpstr">
      <vt:lpstr>Arial</vt:lpstr>
      <vt:lpstr>Calibri</vt:lpstr>
      <vt:lpstr>Gill Sans MT</vt:lpstr>
      <vt:lpstr>Symbol</vt:lpstr>
      <vt:lpstr>Times New Roman</vt:lpstr>
      <vt:lpstr>Wingdings 2</vt:lpstr>
      <vt:lpstr>Dividend</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for PC</dc:title>
  <dc:subject>Chapter 1 - Overview of Statistics</dc:subject>
  <dc:creator>David Doane</dc:creator>
  <dc:description>Copyright (c) 2025 by McGraw Hill LLC. This material is intended solely for educational use licensed users of Connect. It may not be copied or resold.</dc:description>
  <cp:lastModifiedBy>Elango Selvaraj</cp:lastModifiedBy>
  <cp:revision>387</cp:revision>
  <dcterms:created xsi:type="dcterms:W3CDTF">2016-04-27T05:07:39Z</dcterms:created>
  <dcterms:modified xsi:type="dcterms:W3CDTF">2023-11-29T09:54:48Z</dcterms:modified>
</cp:coreProperties>
</file>