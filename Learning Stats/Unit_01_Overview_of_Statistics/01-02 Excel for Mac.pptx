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2"/>
  </p:notesMasterIdLst>
  <p:sldIdLst>
    <p:sldId id="270" r:id="rId2"/>
    <p:sldId id="262" r:id="rId3"/>
    <p:sldId id="269" r:id="rId4"/>
    <p:sldId id="265" r:id="rId5"/>
    <p:sldId id="275" r:id="rId6"/>
    <p:sldId id="278" r:id="rId7"/>
    <p:sldId id="281" r:id="rId8"/>
    <p:sldId id="280" r:id="rId9"/>
    <p:sldId id="284" r:id="rId10"/>
    <p:sldId id="282" r:id="rId11"/>
    <p:sldId id="283" r:id="rId12"/>
    <p:sldId id="306" r:id="rId13"/>
    <p:sldId id="285" r:id="rId14"/>
    <p:sldId id="286" r:id="rId15"/>
    <p:sldId id="294" r:id="rId16"/>
    <p:sldId id="276" r:id="rId17"/>
    <p:sldId id="273" r:id="rId18"/>
    <p:sldId id="293" r:id="rId19"/>
    <p:sldId id="290" r:id="rId20"/>
    <p:sldId id="295" r:id="rId21"/>
    <p:sldId id="288" r:id="rId22"/>
    <p:sldId id="287" r:id="rId23"/>
    <p:sldId id="291" r:id="rId24"/>
    <p:sldId id="292" r:id="rId25"/>
    <p:sldId id="296" r:id="rId26"/>
    <p:sldId id="266" r:id="rId27"/>
    <p:sldId id="304" r:id="rId28"/>
    <p:sldId id="303" r:id="rId29"/>
    <p:sldId id="302" r:id="rId30"/>
    <p:sldId id="325" r:id="rId31"/>
    <p:sldId id="313" r:id="rId32"/>
    <p:sldId id="314" r:id="rId33"/>
    <p:sldId id="309" r:id="rId34"/>
    <p:sldId id="310" r:id="rId35"/>
    <p:sldId id="317" r:id="rId36"/>
    <p:sldId id="326" r:id="rId37"/>
    <p:sldId id="318" r:id="rId38"/>
    <p:sldId id="271" r:id="rId39"/>
    <p:sldId id="297" r:id="rId40"/>
    <p:sldId id="327" r:id="rId41"/>
    <p:sldId id="323" r:id="rId42"/>
    <p:sldId id="321" r:id="rId43"/>
    <p:sldId id="300" r:id="rId44"/>
    <p:sldId id="320" r:id="rId45"/>
    <p:sldId id="322" r:id="rId46"/>
    <p:sldId id="299" r:id="rId47"/>
    <p:sldId id="315" r:id="rId48"/>
    <p:sldId id="316" r:id="rId49"/>
    <p:sldId id="336" r:id="rId50"/>
    <p:sldId id="344" r:id="rId51"/>
    <p:sldId id="334" r:id="rId52"/>
    <p:sldId id="345" r:id="rId53"/>
    <p:sldId id="346" r:id="rId54"/>
    <p:sldId id="341" r:id="rId55"/>
    <p:sldId id="337" r:id="rId56"/>
    <p:sldId id="342" r:id="rId57"/>
    <p:sldId id="338" r:id="rId58"/>
    <p:sldId id="339" r:id="rId59"/>
    <p:sldId id="340" r:id="rId60"/>
    <p:sldId id="343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1" autoAdjust="0"/>
    <p:restoredTop sz="94660"/>
  </p:normalViewPr>
  <p:slideViewPr>
    <p:cSldViewPr snapToGrid="0">
      <p:cViewPr varScale="1">
        <p:scale>
          <a:sx n="63" d="100"/>
          <a:sy n="63" d="100"/>
        </p:scale>
        <p:origin x="8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505572-D11E-48BE-B071-B5044F7DD957}" type="datetimeFigureOut">
              <a:rPr lang="en-IN" smtClean="0"/>
              <a:t>29-11-2023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451B2-71F9-4000-975D-47D790C9E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9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39.xml"/><Relationship Id="rId13" Type="http://schemas.openxmlformats.org/officeDocument/2006/relationships/image" Target="../media/image1.png"/><Relationship Id="rId3" Type="http://schemas.openxmlformats.org/officeDocument/2006/relationships/slide" Target="slide4.xml"/><Relationship Id="rId7" Type="http://schemas.openxmlformats.org/officeDocument/2006/relationships/slide" Target="slide35.xml"/><Relationship Id="rId12" Type="http://schemas.openxmlformats.org/officeDocument/2006/relationships/slide" Target="slide5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6.xml"/><Relationship Id="rId11" Type="http://schemas.openxmlformats.org/officeDocument/2006/relationships/slide" Target="slide49.xml"/><Relationship Id="rId5" Type="http://schemas.openxmlformats.org/officeDocument/2006/relationships/slide" Target="slide15.xml"/><Relationship Id="rId10" Type="http://schemas.openxmlformats.org/officeDocument/2006/relationships/slide" Target="slide46.xml"/><Relationship Id="rId4" Type="http://schemas.openxmlformats.org/officeDocument/2006/relationships/slide" Target="slide11.xml"/><Relationship Id="rId9" Type="http://schemas.openxmlformats.org/officeDocument/2006/relationships/slide" Target="slide43.xml"/><Relationship Id="rId1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hyperlink" Target="http://www.cheat-sheets.org/saved-copy/OSX_KeyCombo_Reference_Guide.pdf" TargetMode="External"/><Relationship Id="rId7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slide" Target="slide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12.png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slide" Target="slide1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20.png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3.png"/><Relationship Id="rId4" Type="http://schemas.openxmlformats.org/officeDocument/2006/relationships/image" Target="../media/image5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25.png"/><Relationship Id="rId4" Type="http://schemas.openxmlformats.org/officeDocument/2006/relationships/image" Target="../media/image5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slide" Target="slide1.xm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gif"/><Relationship Id="rId5" Type="http://schemas.openxmlformats.org/officeDocument/2006/relationships/image" Target="../media/image28.jpg"/><Relationship Id="rId4" Type="http://schemas.openxmlformats.org/officeDocument/2006/relationships/image" Target="../media/image5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32.jpg"/><Relationship Id="rId4" Type="http://schemas.openxmlformats.org/officeDocument/2006/relationships/image" Target="../media/image5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34.jpg"/><Relationship Id="rId7" Type="http://schemas.openxmlformats.org/officeDocument/2006/relationships/image" Target="../media/image5.gif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e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36.jpg"/><Relationship Id="rId4" Type="http://schemas.openxmlformats.org/officeDocument/2006/relationships/hyperlink" Target="https://support.office.com/en-us/article/Load-the-Analysis-ToolPak-in-Excel-2016-for-Mac-617afc33-4af8-4530-b132-7b4e938890d0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3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42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5.gif"/><Relationship Id="rId7" Type="http://schemas.openxmlformats.org/officeDocument/2006/relationships/image" Target="../media/image46.emf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5.gif"/><Relationship Id="rId4" Type="http://schemas.openxmlformats.org/officeDocument/2006/relationships/image" Target="../media/image48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49.jpg"/><Relationship Id="rId7" Type="http://schemas.openxmlformats.org/officeDocument/2006/relationships/image" Target="../media/image5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jpg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g"/><Relationship Id="rId3" Type="http://schemas.openxmlformats.org/officeDocument/2006/relationships/image" Target="../media/image32.jpg"/><Relationship Id="rId7" Type="http://schemas.openxmlformats.org/officeDocument/2006/relationships/image" Target="../media/image58.jpg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jpg"/><Relationship Id="rId5" Type="http://schemas.openxmlformats.org/officeDocument/2006/relationships/image" Target="../media/image56.jpg"/><Relationship Id="rId10" Type="http://schemas.openxmlformats.org/officeDocument/2006/relationships/slide" Target="slide1.xml"/><Relationship Id="rId4" Type="http://schemas.openxmlformats.org/officeDocument/2006/relationships/image" Target="../media/image55.jpg"/><Relationship Id="rId9" Type="http://schemas.openxmlformats.org/officeDocument/2006/relationships/image" Target="../media/image5.gi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emf"/><Relationship Id="rId7" Type="http://schemas.openxmlformats.org/officeDocument/2006/relationships/image" Target="../media/image65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jpg"/><Relationship Id="rId5" Type="http://schemas.openxmlformats.org/officeDocument/2006/relationships/image" Target="../media/image63.jpg"/><Relationship Id="rId4" Type="http://schemas.openxmlformats.org/officeDocument/2006/relationships/image" Target="../media/image62.emf"/><Relationship Id="rId9" Type="http://schemas.openxmlformats.org/officeDocument/2006/relationships/slide" Target="slid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69.emf"/><Relationship Id="rId4" Type="http://schemas.openxmlformats.org/officeDocument/2006/relationships/image" Target="../media/image6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7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76.emf"/><Relationship Id="rId4" Type="http://schemas.openxmlformats.org/officeDocument/2006/relationships/image" Target="../media/image7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37.jpeg"/><Relationship Id="rId4" Type="http://schemas.openxmlformats.org/officeDocument/2006/relationships/image" Target="../media/image7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72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79.jpg"/><Relationship Id="rId7" Type="http://schemas.openxmlformats.org/officeDocument/2006/relationships/image" Target="../media/image5.gif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6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7" Type="http://schemas.openxmlformats.org/officeDocument/2006/relationships/slide" Target="slide1.xml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jpg"/><Relationship Id="rId5" Type="http://schemas.openxmlformats.org/officeDocument/2006/relationships/image" Target="../media/image81.jpg"/><Relationship Id="rId4" Type="http://schemas.openxmlformats.org/officeDocument/2006/relationships/image" Target="../media/image63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7" Type="http://schemas.openxmlformats.org/officeDocument/2006/relationships/slide" Target="slide1.xml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jpg"/><Relationship Id="rId5" Type="http://schemas.openxmlformats.org/officeDocument/2006/relationships/image" Target="../media/image84.jpg"/><Relationship Id="rId4" Type="http://schemas.openxmlformats.org/officeDocument/2006/relationships/image" Target="../media/image83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7" Type="http://schemas.openxmlformats.org/officeDocument/2006/relationships/slide" Target="slide1.xml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jpg"/><Relationship Id="rId5" Type="http://schemas.openxmlformats.org/officeDocument/2006/relationships/image" Target="../media/image87.emf"/><Relationship Id="rId4" Type="http://schemas.openxmlformats.org/officeDocument/2006/relationships/image" Target="../media/image8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8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96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99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01.emf"/><Relationship Id="rId7" Type="http://schemas.openxmlformats.org/officeDocument/2006/relationships/image" Target="../media/image37.jpeg"/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emf"/><Relationship Id="rId5" Type="http://schemas.openxmlformats.org/officeDocument/2006/relationships/image" Target="../media/image103.emf"/><Relationship Id="rId4" Type="http://schemas.openxmlformats.org/officeDocument/2006/relationships/image" Target="../media/image102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107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09.jpg"/><Relationship Id="rId7" Type="http://schemas.openxmlformats.org/officeDocument/2006/relationships/image" Target="../media/image35.jp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emf"/><Relationship Id="rId5" Type="http://schemas.openxmlformats.org/officeDocument/2006/relationships/image" Target="../media/image105.emf"/><Relationship Id="rId4" Type="http://schemas.openxmlformats.org/officeDocument/2006/relationships/image" Target="../media/image11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11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7.emf"/><Relationship Id="rId4" Type="http://schemas.openxmlformats.org/officeDocument/2006/relationships/slide" Target="slide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7" Type="http://schemas.openxmlformats.org/officeDocument/2006/relationships/image" Target="../media/image117.emf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87.emf"/><Relationship Id="rId4" Type="http://schemas.openxmlformats.org/officeDocument/2006/relationships/image" Target="../media/image119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7" Type="http://schemas.openxmlformats.org/officeDocument/2006/relationships/slide" Target="slide1.xml"/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gif"/><Relationship Id="rId5" Type="http://schemas.openxmlformats.org/officeDocument/2006/relationships/image" Target="../media/image76.emf"/><Relationship Id="rId4" Type="http://schemas.openxmlformats.org/officeDocument/2006/relationships/image" Target="../media/image75.jp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77.jpg"/><Relationship Id="rId7" Type="http://schemas.openxmlformats.org/officeDocument/2006/relationships/image" Target="../media/image124.emf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emf"/><Relationship Id="rId5" Type="http://schemas.openxmlformats.org/officeDocument/2006/relationships/image" Target="../media/image122.emf"/><Relationship Id="rId4" Type="http://schemas.openxmlformats.org/officeDocument/2006/relationships/image" Target="../media/image5.gi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g"/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130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gif"/><Relationship Id="rId2" Type="http://schemas.openxmlformats.org/officeDocument/2006/relationships/hyperlink" Target="http://highered.mheducation.com/sites/0077425995/student_view0/index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133.jpg"/><Relationship Id="rId4" Type="http://schemas.openxmlformats.org/officeDocument/2006/relationships/image" Target="../media/image132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slide" Target="slide1.xml"/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emf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141.emf"/><Relationship Id="rId4" Type="http://schemas.openxmlformats.org/officeDocument/2006/relationships/image" Target="../media/image140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emf"/><Relationship Id="rId2" Type="http://schemas.openxmlformats.org/officeDocument/2006/relationships/image" Target="../media/image143.emf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145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jpg"/><Relationship Id="rId2" Type="http://schemas.openxmlformats.org/officeDocument/2006/relationships/image" Target="../media/image144.emf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131.gi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jpg"/><Relationship Id="rId7" Type="http://schemas.openxmlformats.org/officeDocument/2006/relationships/slide" Target="slide1.xml"/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emf"/><Relationship Id="rId5" Type="http://schemas.openxmlformats.org/officeDocument/2006/relationships/image" Target="../media/image149.jpg"/><Relationship Id="rId4" Type="http://schemas.openxmlformats.org/officeDocument/2006/relationships/image" Target="../media/image131.gi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153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jpg"/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157.jpg"/><Relationship Id="rId4" Type="http://schemas.openxmlformats.org/officeDocument/2006/relationships/image" Target="../media/image156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7" Type="http://schemas.openxmlformats.org/officeDocument/2006/relationships/slide" Target="slide1.xml"/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gif"/><Relationship Id="rId5" Type="http://schemas.openxmlformats.org/officeDocument/2006/relationships/image" Target="../media/image160.jpg"/><Relationship Id="rId4" Type="http://schemas.openxmlformats.org/officeDocument/2006/relationships/image" Target="../media/image159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g"/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63.jpg"/><Relationship Id="rId7" Type="http://schemas.openxmlformats.org/officeDocument/2006/relationships/image" Target="../media/image156.jpg"/><Relationship Id="rId2" Type="http://schemas.openxmlformats.org/officeDocument/2006/relationships/image" Target="../media/image16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jpg"/><Relationship Id="rId5" Type="http://schemas.openxmlformats.org/officeDocument/2006/relationships/image" Target="../media/image165.jpg"/><Relationship Id="rId4" Type="http://schemas.openxmlformats.org/officeDocument/2006/relationships/image" Target="../media/image16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Excel for MAC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455357" y="1197573"/>
            <a:ext cx="11272452" cy="348422"/>
          </a:xfrm>
          <a:prstGeom prst="rect">
            <a:avLst/>
          </a:prstGeom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cap="all" dirty="0">
                <a:solidFill>
                  <a:schemeClr val="accent2"/>
                </a:solidFill>
              </a:rPr>
              <a:t>Applied Statistics for Business and economics, 8e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57" y="1545995"/>
            <a:ext cx="3967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David P. Doane and Lori E. Seward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630" y="3839068"/>
            <a:ext cx="3228022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  <a:alpha val="69000"/>
                  </a:schemeClr>
                </a:solidFill>
              </a:rPr>
              <a:t>GETTING STARTED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69000"/>
                  </a:schemeClr>
                </a:solidFill>
              </a:rPr>
              <a:t>	</a:t>
            </a:r>
            <a:r>
              <a:rPr lang="en-US" dirty="0">
                <a:solidFill>
                  <a:schemeClr val="tx1">
                    <a:alpha val="69000"/>
                  </a:schemeClr>
                </a:solidFill>
                <a:hlinkClick r:id="rId2" action="ppaction://hlinksldjump"/>
              </a:rPr>
              <a:t>Mac Navigation</a:t>
            </a:r>
            <a:endParaRPr lang="en-US" dirty="0">
              <a:solidFill>
                <a:schemeClr val="tx1">
                  <a:alpha val="69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69000"/>
                  </a:schemeClr>
                </a:solidFill>
              </a:rPr>
              <a:t>	</a:t>
            </a:r>
            <a:r>
              <a:rPr lang="en-US" dirty="0">
                <a:solidFill>
                  <a:schemeClr val="tx1">
                    <a:alpha val="69000"/>
                  </a:schemeClr>
                </a:solidFill>
                <a:hlinkClick r:id="rId3" action="ppaction://hlinksldjump"/>
              </a:rPr>
              <a:t>Excel Top Menus</a:t>
            </a:r>
            <a:endParaRPr lang="en-US" dirty="0">
              <a:solidFill>
                <a:schemeClr val="tx1">
                  <a:alpha val="69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69000"/>
                  </a:schemeClr>
                </a:solidFill>
              </a:rPr>
              <a:t>   </a:t>
            </a:r>
            <a:r>
              <a:rPr lang="en-US" dirty="0">
                <a:solidFill>
                  <a:schemeClr val="tx1">
                    <a:alpha val="69000"/>
                  </a:schemeClr>
                </a:solidFill>
                <a:hlinkClick r:id="rId4" action="ppaction://hlinksldjump"/>
              </a:rPr>
              <a:t>Data Analysis </a:t>
            </a:r>
            <a:r>
              <a:rPr lang="en-US" dirty="0" err="1">
                <a:solidFill>
                  <a:schemeClr val="tx1">
                    <a:alpha val="69000"/>
                  </a:schemeClr>
                </a:solidFill>
                <a:hlinkClick r:id="rId4" action="ppaction://hlinksldjump"/>
              </a:rPr>
              <a:t>Toolpak</a:t>
            </a:r>
            <a:endParaRPr lang="en-US" dirty="0">
              <a:solidFill>
                <a:schemeClr val="tx1">
                  <a:alpha val="69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69000"/>
                  </a:schemeClr>
                </a:solidFill>
              </a:rPr>
              <a:t>   </a:t>
            </a:r>
            <a:r>
              <a:rPr lang="en-US" dirty="0">
                <a:solidFill>
                  <a:schemeClr val="tx1">
                    <a:alpha val="69000"/>
                  </a:schemeClr>
                </a:solidFill>
                <a:hlinkClick r:id="rId5" action="ppaction://hlinksldjump"/>
              </a:rPr>
              <a:t>Excel Ribbons</a:t>
            </a:r>
            <a:endParaRPr lang="en-US" dirty="0">
              <a:solidFill>
                <a:schemeClr val="tx1">
                  <a:alpha val="69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39208" y="3731484"/>
            <a:ext cx="3047999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  <a:alpha val="69000"/>
                  </a:schemeClr>
                </a:solidFill>
              </a:rPr>
              <a:t>EXCEL TOPICS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alpha val="69000"/>
                  </a:schemeClr>
                </a:solidFill>
                <a:hlinkClick r:id="rId6" action="ppaction://hlinksldjump"/>
              </a:rPr>
              <a:t>Basic Charts</a:t>
            </a:r>
            <a:endParaRPr lang="en-US" dirty="0">
              <a:solidFill>
                <a:schemeClr val="tx1">
                  <a:alpha val="69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alpha val="69000"/>
                  </a:schemeClr>
                </a:solidFill>
                <a:hlinkClick r:id="rId7" action="ppaction://hlinksldjump"/>
              </a:rPr>
              <a:t>Histograms</a:t>
            </a:r>
            <a:endParaRPr lang="en-US" dirty="0">
              <a:solidFill>
                <a:schemeClr val="tx1">
                  <a:alpha val="69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alpha val="69000"/>
                  </a:schemeClr>
                </a:solidFill>
                <a:hlinkClick r:id="rId8" action="ppaction://hlinksldjump"/>
              </a:rPr>
              <a:t>Scatter Plots</a:t>
            </a:r>
            <a:endParaRPr lang="en-US" dirty="0">
              <a:solidFill>
                <a:schemeClr val="tx1">
                  <a:alpha val="69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alpha val="69000"/>
                  </a:schemeClr>
                </a:solidFill>
                <a:hlinkClick r:id="rId9" action="ppaction://hlinksldjump"/>
              </a:rPr>
              <a:t>Descriptive Statistics</a:t>
            </a:r>
            <a:endParaRPr lang="en-US" dirty="0">
              <a:solidFill>
                <a:schemeClr val="tx1">
                  <a:alpha val="69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alpha val="69000"/>
                  </a:schemeClr>
                </a:solidFill>
                <a:hlinkClick r:id="rId10" action="ppaction://hlinksldjump"/>
              </a:rPr>
              <a:t>Pivot Tables</a:t>
            </a:r>
            <a:endParaRPr lang="en-US" dirty="0">
              <a:solidFill>
                <a:schemeClr val="tx1">
                  <a:alpha val="69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tx1">
                    <a:alpha val="69000"/>
                  </a:schemeClr>
                </a:solidFill>
                <a:hlinkClick r:id="rId11" action="ppaction://hlinksldjump"/>
              </a:rPr>
              <a:t>MegaStat</a:t>
            </a:r>
            <a:r>
              <a:rPr lang="en-US" dirty="0">
                <a:solidFill>
                  <a:schemeClr val="tx1">
                    <a:alpha val="69000"/>
                  </a:schemeClr>
                </a:solidFill>
                <a:hlinkClick r:id="rId11" action="ppaction://hlinksldjump"/>
              </a:rPr>
              <a:t>*</a:t>
            </a:r>
            <a:endParaRPr lang="en-US" dirty="0">
              <a:solidFill>
                <a:schemeClr val="tx1">
                  <a:alpha val="69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alpha val="69000"/>
                  </a:schemeClr>
                </a:solidFill>
                <a:hlinkClick r:id="rId12" action="ppaction://hlinksldjump"/>
              </a:rPr>
              <a:t>Minitab Express*</a:t>
            </a:r>
            <a:endParaRPr lang="en-US" dirty="0">
              <a:solidFill>
                <a:schemeClr val="tx1">
                  <a:alpha val="69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alpha val="69000"/>
                  </a:schemeClr>
                </a:solidFill>
              </a:rPr>
              <a:t>     </a:t>
            </a:r>
            <a:endParaRPr lang="en-US" sz="800" dirty="0">
              <a:solidFill>
                <a:schemeClr val="tx1">
                  <a:alpha val="69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alpha val="69000"/>
                  </a:schemeClr>
                </a:solidFill>
              </a:rPr>
              <a:t>     </a:t>
            </a:r>
            <a:r>
              <a:rPr lang="en-US" sz="1200" dirty="0">
                <a:solidFill>
                  <a:schemeClr val="tx1">
                    <a:alpha val="69000"/>
                  </a:schemeClr>
                </a:solidFill>
              </a:rPr>
              <a:t>*Optional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41451" y="2181754"/>
            <a:ext cx="429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 your Mac arrow keys to advance slides 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36272" y="2219451"/>
            <a:ext cx="333628" cy="2939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711063" y="3663818"/>
            <a:ext cx="1184242" cy="698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3834291" y="3663818"/>
            <a:ext cx="363136" cy="698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79123" y="1706667"/>
            <a:ext cx="2644047" cy="9718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4990" y="3215522"/>
            <a:ext cx="4805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Click on a topic below to jump to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5091" y="2719083"/>
            <a:ext cx="764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0E9A7A-F40B-4DDC-AE81-D78AF54FD1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67073" y="890141"/>
            <a:ext cx="2675242" cy="2862322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6AFF6D-7F29-7CEE-9870-326A42A6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4952" y="6492876"/>
            <a:ext cx="9822648" cy="348422"/>
          </a:xfrm>
        </p:spPr>
        <p:txBody>
          <a:bodyPr/>
          <a:lstStyle/>
          <a:p>
            <a:pPr algn="ctr"/>
            <a:r>
              <a:rPr lang="en-US" dirty="0"/>
              <a:t>© McGraw Hill LLC. All rights reserved. No reproduction or distribution without the prior written consent of McGraw Hill LLC.</a:t>
            </a:r>
          </a:p>
        </p:txBody>
      </p:sp>
    </p:spTree>
    <p:extLst>
      <p:ext uri="{BB962C8B-B14F-4D97-AF65-F5344CB8AC3E}">
        <p14:creationId xmlns:p14="http://schemas.microsoft.com/office/powerpoint/2010/main" val="125522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 err="1">
                <a:solidFill>
                  <a:schemeClr val="accent1"/>
                </a:solidFill>
              </a:rPr>
              <a:t>NAVIgation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39444" y="1634258"/>
            <a:ext cx="34233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 a big worksheet, you may not be able to see it all. Use the touch pad, mouse, or arrow keys to move around the spreadsheet.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2975371"/>
            <a:ext cx="3000375" cy="80962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461645" y="2821138"/>
            <a:ext cx="1162050" cy="1132317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932460" y="4391025"/>
            <a:ext cx="29476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 </a:t>
            </a:r>
            <a:r>
              <a:rPr lang="en-US" sz="1200" dirty="0"/>
              <a:t>Search the web to download a list of Mac keyboard commands. Here is one:</a:t>
            </a:r>
          </a:p>
          <a:p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200" dirty="0"/>
              <a:t>     </a:t>
            </a:r>
            <a:r>
              <a:rPr lang="en-US" sz="1200" dirty="0">
                <a:hlinkClick r:id="rId3"/>
              </a:rPr>
              <a:t>The OS X Keyboard Cheat Sheet</a:t>
            </a:r>
            <a:endParaRPr lang="en-US" sz="1200" dirty="0"/>
          </a:p>
          <a:p>
            <a:r>
              <a:rPr lang="en-US" sz="1200" dirty="0"/>
              <a:t>     </a:t>
            </a:r>
            <a:r>
              <a:rPr lang="en-US" sz="1200" dirty="0" err="1"/>
              <a:t>Amduus</a:t>
            </a:r>
            <a:r>
              <a:rPr lang="en-US" sz="1200" dirty="0"/>
              <a:t> Information Works, Inc.</a:t>
            </a:r>
          </a:p>
          <a:p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200" dirty="0"/>
              <a:t>     It is free for redistribution!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988517" y="4555959"/>
            <a:ext cx="15589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Example: </a:t>
            </a:r>
            <a:r>
              <a:rPr lang="en-US" sz="1200" dirty="0"/>
              <a:t>Copy a data range and move it to a different location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150" y="3312459"/>
            <a:ext cx="2133333" cy="31333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161" y="4391025"/>
            <a:ext cx="758207" cy="45848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357" y="1615680"/>
            <a:ext cx="3333749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Three often-used key commands: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		</a:t>
            </a: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Cmd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-x</a:t>
            </a:r>
            <a:r>
              <a:rPr lang="en-US" sz="1400" dirty="0"/>
              <a:t>	Cut selection</a:t>
            </a:r>
          </a:p>
          <a:p>
            <a:r>
              <a:rPr lang="en-US" sz="1400" dirty="0"/>
              <a:t>		</a:t>
            </a: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Cmd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-c</a:t>
            </a:r>
            <a:r>
              <a:rPr lang="en-US" sz="1400" dirty="0"/>
              <a:t>	Copy selection</a:t>
            </a:r>
          </a:p>
          <a:p>
            <a:r>
              <a:rPr lang="en-US" sz="1400" dirty="0"/>
              <a:t>		</a:t>
            </a: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Cmd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-v</a:t>
            </a:r>
            <a:r>
              <a:rPr lang="en-US" sz="1400" dirty="0"/>
              <a:t>	Paste selection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86200" y="4681314"/>
            <a:ext cx="414950" cy="4336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465" y="3242818"/>
            <a:ext cx="2235355" cy="821644"/>
          </a:xfrm>
          <a:prstGeom prst="rect">
            <a:avLst/>
          </a:prstGeom>
        </p:spPr>
      </p:pic>
      <p:sp>
        <p:nvSpPr>
          <p:cNvPr id="15" name="Down Arrow 14"/>
          <p:cNvSpPr/>
          <p:nvPr/>
        </p:nvSpPr>
        <p:spPr>
          <a:xfrm>
            <a:off x="8915743" y="2631243"/>
            <a:ext cx="485775" cy="4619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771650" y="2821138"/>
            <a:ext cx="1104900" cy="491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C:\Users\doane\AppData\Local\Microsoft\Windows\Temporary Internet Files\Content.IE5\3CB5N1BZ\MC900056988[1].wm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87" y="1511901"/>
            <a:ext cx="1730792" cy="143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8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512456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LAUNCHING EXCEL …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66" y="5898580"/>
            <a:ext cx="10058400" cy="5300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22" y="1430831"/>
            <a:ext cx="4668515" cy="28077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254" y="2111668"/>
            <a:ext cx="4617000" cy="2705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566" y="4537031"/>
            <a:ext cx="1661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Click the </a:t>
            </a:r>
            <a:r>
              <a:rPr lang="en-US" sz="1200" dirty="0">
                <a:solidFill>
                  <a:srgbClr val="C00000"/>
                </a:solidFill>
              </a:rPr>
              <a:t>Finder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icon on the Dock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0731" y="5082214"/>
            <a:ext cx="1661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Or click the </a:t>
            </a:r>
            <a:r>
              <a:rPr lang="en-US" sz="1200" dirty="0">
                <a:solidFill>
                  <a:srgbClr val="C00000"/>
                </a:solidFill>
              </a:rPr>
              <a:t>Launchpad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icon on the Dock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5787" y="5138509"/>
            <a:ext cx="1470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Or click the </a:t>
            </a:r>
            <a:r>
              <a:rPr lang="en-US" sz="1200" dirty="0">
                <a:solidFill>
                  <a:srgbClr val="C00000"/>
                </a:solidFill>
              </a:rPr>
              <a:t>Excel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icon on the Dock</a:t>
            </a:r>
          </a:p>
        </p:txBody>
      </p:sp>
      <p:sp>
        <p:nvSpPr>
          <p:cNvPr id="12" name="Oval 11"/>
          <p:cNvSpPr/>
          <p:nvPr/>
        </p:nvSpPr>
        <p:spPr>
          <a:xfrm>
            <a:off x="571500" y="5853532"/>
            <a:ext cx="561975" cy="620147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133475" y="5859736"/>
            <a:ext cx="561975" cy="620147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924800" y="5853531"/>
            <a:ext cx="561975" cy="620147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821066" y="1741048"/>
            <a:ext cx="561975" cy="620147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841766" y="3689907"/>
            <a:ext cx="561975" cy="620147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939514" y="5044001"/>
            <a:ext cx="574961" cy="7644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1905000" y="2302957"/>
            <a:ext cx="1916066" cy="22804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635092" y="5421810"/>
            <a:ext cx="1385887" cy="483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317522" y="4107545"/>
            <a:ext cx="3454878" cy="9746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8315325" y="5605572"/>
            <a:ext cx="157163" cy="2029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076844" y="5047037"/>
            <a:ext cx="1470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Your active worksheet(s) will appear on the Dock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10101236" y="5707029"/>
            <a:ext cx="157163" cy="2029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795857" y="5887811"/>
            <a:ext cx="561975" cy="620147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15367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058" y="1834765"/>
            <a:ext cx="6346308" cy="394515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100" dirty="0">
                <a:solidFill>
                  <a:schemeClr val="accent1"/>
                </a:solidFill>
              </a:rPr>
              <a:t>OVERVIEW OF Menus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206" y="1112479"/>
            <a:ext cx="2026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Menu bar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Top left of screen (separate from Excel worksheet).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161" y="1320916"/>
            <a:ext cx="4724192" cy="1813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206" y="2006943"/>
            <a:ext cx="1712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Excel ribbon tabs 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Home, Insert, Page Layout, Formulas, Data, Review, 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3150" y="848872"/>
            <a:ext cx="2104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Each Mac application has its own unique bar (top of screen). If you don’t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see 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click on the Excel worksheet.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338998" y="1277285"/>
            <a:ext cx="514771" cy="3047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>
            <a:off x="2318708" y="1909895"/>
            <a:ext cx="522495" cy="33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335" y="896798"/>
            <a:ext cx="653815" cy="39536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6435" y="1614394"/>
            <a:ext cx="723900" cy="209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437615" y="2399755"/>
            <a:ext cx="19821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Note: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Icons and tab names are intuitive, but things are not always where you expect. New tabs and icons may also appear when you click on an option.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638" y="5272091"/>
            <a:ext cx="1541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Dock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Bottom of screen. You can add or remove applications.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318708" y="5881732"/>
            <a:ext cx="522495" cy="33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827" y="5881732"/>
            <a:ext cx="8229600" cy="433679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0308385" y="5900661"/>
            <a:ext cx="436460" cy="44429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9443150" y="4054684"/>
            <a:ext cx="1501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Your active Excel worksheet(s) will appear on the Dock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003" y="3270625"/>
            <a:ext cx="17796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Note: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There is overlap between options in the </a:t>
            </a:r>
            <a:r>
              <a:rPr lang="en-US" sz="1200" dirty="0">
                <a:solidFill>
                  <a:srgbClr val="C00000"/>
                </a:solidFill>
              </a:rPr>
              <a:t>Menu Bar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and the </a:t>
            </a:r>
            <a:r>
              <a:rPr lang="en-US" sz="1200" dirty="0">
                <a:solidFill>
                  <a:srgbClr val="C00000"/>
                </a:solidFill>
              </a:rPr>
              <a:t>Excel ribbon tabs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7" action="ppaction://hlinksldjump"/>
              </a:rPr>
              <a:t>Back to top menu</a:t>
            </a:r>
            <a:endParaRPr lang="en-US" sz="1200" i="1" dirty="0"/>
          </a:p>
        </p:txBody>
      </p:sp>
      <p:sp>
        <p:nvSpPr>
          <p:cNvPr id="3" name="Rectangle: Rounded Corners 2"/>
          <p:cNvSpPr/>
          <p:nvPr/>
        </p:nvSpPr>
        <p:spPr>
          <a:xfrm>
            <a:off x="2888058" y="1973199"/>
            <a:ext cx="2843439" cy="189744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9991102" y="4939933"/>
            <a:ext cx="505623" cy="10325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78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MENU BAR - excel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417" y="3308869"/>
            <a:ext cx="3802906" cy="3274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10" y="3767857"/>
            <a:ext cx="4452938" cy="26747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62979" y="1733187"/>
            <a:ext cx="3102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Check your Excel version and license.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57" y="1259781"/>
            <a:ext cx="5438775" cy="2000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10" y="1538111"/>
            <a:ext cx="1638300" cy="1990725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1552254" y="2015794"/>
            <a:ext cx="722556" cy="2373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038719" y="1698827"/>
            <a:ext cx="423967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2470392" y="4535001"/>
            <a:ext cx="4359033" cy="1157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033932" y="3485250"/>
            <a:ext cx="1381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Customize Excel </a:t>
            </a:r>
          </a:p>
        </p:txBody>
      </p:sp>
      <p:sp>
        <p:nvSpPr>
          <p:cNvPr id="30" name="Oval 29"/>
          <p:cNvSpPr/>
          <p:nvPr/>
        </p:nvSpPr>
        <p:spPr>
          <a:xfrm>
            <a:off x="2033932" y="4378463"/>
            <a:ext cx="436460" cy="44429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913999" y="4395490"/>
            <a:ext cx="224022" cy="236245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99270" y="1459806"/>
            <a:ext cx="848555" cy="31696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9876" y="701670"/>
            <a:ext cx="2376267" cy="2504368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747270" y="1779006"/>
            <a:ext cx="900555" cy="314732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5224368" y="3954280"/>
            <a:ext cx="1195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For example, to  disable mouse animation)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7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50768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MENU BAR -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467" y="2277217"/>
            <a:ext cx="114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Open or save your spreadsheet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656" y="2131954"/>
            <a:ext cx="2311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To save, you can also click the file icon on the spreadsheet.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68917"/>
            <a:ext cx="5438775" cy="209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526" y="1545290"/>
            <a:ext cx="2219325" cy="426720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1469887" y="2600383"/>
            <a:ext cx="816324" cy="40005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45095" y="1890251"/>
            <a:ext cx="816324" cy="447922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/>
          <p:cNvSpPr/>
          <p:nvPr/>
        </p:nvSpPr>
        <p:spPr>
          <a:xfrm>
            <a:off x="4105999" y="2057739"/>
            <a:ext cx="450484" cy="3668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698466" y="5225838"/>
            <a:ext cx="2079405" cy="641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Add file information (e.g., author names, comments, detailed title)</a:t>
            </a:r>
          </a:p>
        </p:txBody>
      </p:sp>
      <p:sp>
        <p:nvSpPr>
          <p:cNvPr id="34" name="Left Arrow 33"/>
          <p:cNvSpPr/>
          <p:nvPr/>
        </p:nvSpPr>
        <p:spPr>
          <a:xfrm>
            <a:off x="4105999" y="5504298"/>
            <a:ext cx="450484" cy="3668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612867" y="5225837"/>
            <a:ext cx="473002" cy="278461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527037" y="5504298"/>
            <a:ext cx="758963" cy="362577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Arrow 35"/>
          <p:cNvSpPr/>
          <p:nvPr/>
        </p:nvSpPr>
        <p:spPr>
          <a:xfrm>
            <a:off x="4105999" y="2774856"/>
            <a:ext cx="450484" cy="3668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242" y="2195334"/>
            <a:ext cx="758207" cy="4584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608" y="3066995"/>
            <a:ext cx="1400000" cy="495238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9632397" y="2996664"/>
            <a:ext cx="406749" cy="40005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  <p:cxnSp>
        <p:nvCxnSpPr>
          <p:cNvPr id="9" name="Straight Arrow Connector 8"/>
          <p:cNvCxnSpPr>
            <a:stCxn id="27" idx="2"/>
          </p:cNvCxnSpPr>
          <p:nvPr/>
        </p:nvCxnSpPr>
        <p:spPr>
          <a:xfrm>
            <a:off x="9446571" y="2593619"/>
            <a:ext cx="317578" cy="3678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59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MENU BAR - </a:t>
            </a:r>
            <a:r>
              <a:rPr lang="en-US" sz="3200" dirty="0" err="1">
                <a:solidFill>
                  <a:schemeClr val="accent1"/>
                </a:solidFill>
              </a:rPr>
              <a:t>eDIT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70197" y="1814641"/>
            <a:ext cx="1675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You will often type these shortcut key commands instead of accessing this menu.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0197" y="4068188"/>
            <a:ext cx="1802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Use dictation instead of typing words (e.g., in a text box) or numbers (e.g., in a cell). Try it!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68846"/>
            <a:ext cx="5457825" cy="2190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194" y="1535623"/>
            <a:ext cx="2085975" cy="3200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036" y="4018331"/>
            <a:ext cx="758207" cy="4584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92497" y="1942814"/>
            <a:ext cx="2213553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Some commands (e.g., </a:t>
            </a:r>
            <a:r>
              <a:rPr lang="en-US" sz="1200" dirty="0">
                <a:solidFill>
                  <a:srgbClr val="C00000"/>
                </a:solidFill>
              </a:rPr>
              <a:t>Paste Special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) are also available on the spreadsheet ribbon 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</a:rPr>
              <a:t>Home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tab.</a:t>
            </a:r>
          </a:p>
        </p:txBody>
      </p:sp>
      <p:sp>
        <p:nvSpPr>
          <p:cNvPr id="6" name="Left Arrow 5"/>
          <p:cNvSpPr/>
          <p:nvPr/>
        </p:nvSpPr>
        <p:spPr>
          <a:xfrm>
            <a:off x="4324349" y="2165949"/>
            <a:ext cx="504825" cy="36770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311487" y="2032664"/>
            <a:ext cx="596682" cy="69148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324585" y="4200525"/>
            <a:ext cx="583584" cy="33337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Arrow 23"/>
          <p:cNvSpPr/>
          <p:nvPr/>
        </p:nvSpPr>
        <p:spPr>
          <a:xfrm>
            <a:off x="4324349" y="4248148"/>
            <a:ext cx="504825" cy="36770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036" y="1992157"/>
            <a:ext cx="758207" cy="45848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38332" y="4115351"/>
            <a:ext cx="21218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To dictate, press the </a:t>
            </a:r>
            <a:r>
              <a:rPr lang="en-US" sz="1200" dirty="0" err="1">
                <a:solidFill>
                  <a:srgbClr val="C00000"/>
                </a:solidFill>
              </a:rPr>
              <a:t>fn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key twice. Wait for the beep, then speak clearly. Press the </a:t>
            </a:r>
            <a:r>
              <a:rPr lang="en-US" sz="1200" dirty="0">
                <a:solidFill>
                  <a:srgbClr val="C00000"/>
                </a:solidFill>
              </a:rPr>
              <a:t>Esc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key to end dictation.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4494" y="3001173"/>
            <a:ext cx="2595217" cy="700297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6152838" y="2966860"/>
            <a:ext cx="786873" cy="80419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4183324" y="2966860"/>
            <a:ext cx="786873" cy="80419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19040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MENU BAR - 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82861"/>
            <a:ext cx="5429250" cy="209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719" y="1543822"/>
            <a:ext cx="1914525" cy="26098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03303" y="1707383"/>
            <a:ext cx="2626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Some commands (e.g., </a:t>
            </a:r>
            <a:r>
              <a:rPr lang="en-US" sz="1200" dirty="0">
                <a:solidFill>
                  <a:srgbClr val="C00000"/>
                </a:solidFill>
              </a:rPr>
              <a:t>Formula Builder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) are also available on the spreadsheet </a:t>
            </a:r>
            <a:r>
              <a:rPr lang="en-US" sz="1200" dirty="0">
                <a:solidFill>
                  <a:srgbClr val="C00000"/>
                </a:solidFill>
              </a:rPr>
              <a:t>Formula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ribbon tab.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768" y="1755412"/>
            <a:ext cx="758207" cy="458489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2332795" y="2577642"/>
            <a:ext cx="1172405" cy="44429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825" y="2996869"/>
            <a:ext cx="3066667" cy="1180952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H="1">
            <a:off x="7800976" y="2488550"/>
            <a:ext cx="609599" cy="10987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590926" y="3760787"/>
            <a:ext cx="457200" cy="44429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887508" y="3554322"/>
            <a:ext cx="16264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You will probably type a shortcut key command instead of accessing this menu.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4315846" y="3785971"/>
            <a:ext cx="504825" cy="36770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362824" y="3520011"/>
            <a:ext cx="523875" cy="685072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074180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MENU BAR - INSERT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93836"/>
            <a:ext cx="5429250" cy="180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525" y="1554129"/>
            <a:ext cx="1485900" cy="46386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91552" y="1387636"/>
            <a:ext cx="2213553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Many of these options are also available on the spreadsheet </a:t>
            </a:r>
            <a:r>
              <a:rPr lang="en-US" sz="1200" dirty="0">
                <a:solidFill>
                  <a:srgbClr val="C00000"/>
                </a:solidFill>
              </a:rPr>
              <a:t>Insert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or </a:t>
            </a:r>
            <a:r>
              <a:rPr lang="en-US" sz="1200" dirty="0">
                <a:solidFill>
                  <a:srgbClr val="C00000"/>
                </a:solidFill>
              </a:rPr>
              <a:t>Data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ribbon tabs.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985" y="1406387"/>
            <a:ext cx="758207" cy="4584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009" y="2640240"/>
            <a:ext cx="6400800" cy="85669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5745585" y="2648372"/>
            <a:ext cx="562806" cy="491069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598004" y="4087815"/>
            <a:ext cx="29947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Comment: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Excel was originally a Microsoft product, so its menus were self-contained. But Mac applications require a </a:t>
            </a:r>
            <a:r>
              <a:rPr lang="en-US" sz="1200" dirty="0">
                <a:solidFill>
                  <a:srgbClr val="C00000"/>
                </a:solidFill>
              </a:rPr>
              <a:t>Menu Bar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so there is some overlap in functionality. 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971" y="4204458"/>
            <a:ext cx="467535" cy="510803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H="1">
            <a:off x="6308391" y="1993113"/>
            <a:ext cx="1583161" cy="7596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7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28238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MENU BAR - FORMAT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82861"/>
            <a:ext cx="5429250" cy="209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262" y="1624012"/>
            <a:ext cx="2066925" cy="1285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3263" y="3400710"/>
            <a:ext cx="2723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Formatting options are also available on the spreadsheet </a:t>
            </a:r>
            <a:r>
              <a:rPr lang="en-US" sz="1200" dirty="0">
                <a:solidFill>
                  <a:srgbClr val="C00000"/>
                </a:solidFill>
              </a:rPr>
              <a:t>Home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ribbon tab.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316" y="3368300"/>
            <a:ext cx="758207" cy="4584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7007" y="4511501"/>
            <a:ext cx="8229600" cy="906213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2158307" y="4616675"/>
            <a:ext cx="634338" cy="332185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598625" y="4020678"/>
            <a:ext cx="498021" cy="5959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63368" y="1711967"/>
            <a:ext cx="2114266" cy="842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You can right-click on a selected cells range to format them without using this menu.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160" y="1762197"/>
            <a:ext cx="758207" cy="458489"/>
          </a:xfrm>
          <a:prstGeom prst="rect">
            <a:avLst/>
          </a:prstGeom>
        </p:spPr>
      </p:pic>
      <p:sp>
        <p:nvSpPr>
          <p:cNvPr id="22" name="Left Arrow 21"/>
          <p:cNvSpPr/>
          <p:nvPr/>
        </p:nvSpPr>
        <p:spPr>
          <a:xfrm>
            <a:off x="5881951" y="1807592"/>
            <a:ext cx="504825" cy="36770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874041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MENU BAR - TOOLS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78099"/>
            <a:ext cx="5429250" cy="219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078" y="1554129"/>
            <a:ext cx="1971675" cy="3514725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3837078" y="4800599"/>
            <a:ext cx="1153939" cy="268255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176176" y="1289899"/>
            <a:ext cx="24957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1200" dirty="0">
                <a:solidFill>
                  <a:srgbClr val="C00000"/>
                </a:solidFill>
              </a:rPr>
              <a:t>Data Analysis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tools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will </a:t>
            </a:r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not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appear on the spreadsheet </a:t>
            </a:r>
            <a:r>
              <a:rPr lang="en-US" sz="1200" dirty="0">
                <a:solidFill>
                  <a:srgbClr val="C00000"/>
                </a:solidFill>
              </a:rPr>
              <a:t>Data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ribbon tab unless they were installed from the </a:t>
            </a:r>
            <a:r>
              <a:rPr lang="en-US" sz="1200" dirty="0">
                <a:solidFill>
                  <a:srgbClr val="C00000"/>
                </a:solidFill>
              </a:rPr>
              <a:t>Tools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top menu. </a:t>
            </a:r>
          </a:p>
        </p:txBody>
      </p:sp>
      <p:sp>
        <p:nvSpPr>
          <p:cNvPr id="12" name="Oval 11"/>
          <p:cNvSpPr/>
          <p:nvPr/>
        </p:nvSpPr>
        <p:spPr>
          <a:xfrm>
            <a:off x="3887964" y="4133462"/>
            <a:ext cx="1103053" cy="257564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90" y="5250504"/>
            <a:ext cx="7315200" cy="98703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783474" y="5694692"/>
            <a:ext cx="979310" cy="269213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Oval 15"/>
          <p:cNvSpPr/>
          <p:nvPr/>
        </p:nvSpPr>
        <p:spPr>
          <a:xfrm>
            <a:off x="3248293" y="5343878"/>
            <a:ext cx="588785" cy="400143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853" y="2609511"/>
            <a:ext cx="2707481" cy="24217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99074" y="3124071"/>
            <a:ext cx="1187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Check both these options for </a:t>
            </a:r>
            <a:r>
              <a:rPr lang="en-US" sz="1200" dirty="0">
                <a:solidFill>
                  <a:srgbClr val="C00000"/>
                </a:solidFill>
              </a:rPr>
              <a:t>Add-Ins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225" y="3784936"/>
            <a:ext cx="2028482" cy="1246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1200" dirty="0">
                <a:solidFill>
                  <a:srgbClr val="C00000"/>
                </a:solidFill>
              </a:rPr>
              <a:t>Analysis </a:t>
            </a:r>
            <a:r>
              <a:rPr lang="en-US" sz="1200" dirty="0" err="1">
                <a:solidFill>
                  <a:srgbClr val="C00000"/>
                </a:solidFill>
              </a:rPr>
              <a:t>ToolPak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is essential. If </a:t>
            </a:r>
            <a:r>
              <a:rPr lang="en-US" sz="1200" dirty="0">
                <a:solidFill>
                  <a:srgbClr val="C00000"/>
                </a:solidFill>
              </a:rPr>
              <a:t>Excel Add-Ins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is “greyed out” try clicking on the Excel worksheet. See next screen for details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371850" y="4130006"/>
            <a:ext cx="378139" cy="3848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/>
          <p:cNvSpPr/>
          <p:nvPr/>
        </p:nvSpPr>
        <p:spPr>
          <a:xfrm>
            <a:off x="3352597" y="4730137"/>
            <a:ext cx="378139" cy="3848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3" descr="C:\Users\doane\AppData\Local\Microsoft\Windows\Temporary Internet Files\Content.IE5\YJVGYIN5\MP900439244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82" y="3100069"/>
            <a:ext cx="814158" cy="54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125" y="1325074"/>
            <a:ext cx="758207" cy="458489"/>
          </a:xfrm>
          <a:prstGeom prst="rect">
            <a:avLst/>
          </a:prstGeom>
        </p:spPr>
      </p:pic>
      <p:cxnSp>
        <p:nvCxnSpPr>
          <p:cNvPr id="31" name="Straight Arrow Connector 30"/>
          <p:cNvCxnSpPr/>
          <p:nvPr/>
        </p:nvCxnSpPr>
        <p:spPr>
          <a:xfrm flipH="1">
            <a:off x="5623306" y="5246938"/>
            <a:ext cx="694150" cy="3979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097359" y="3447237"/>
            <a:ext cx="1598716" cy="13905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Left Arrow 32"/>
          <p:cNvSpPr/>
          <p:nvPr/>
        </p:nvSpPr>
        <p:spPr>
          <a:xfrm>
            <a:off x="9194485" y="3259818"/>
            <a:ext cx="313368" cy="37483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8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960509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MENU BAR - TOOLS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78099"/>
            <a:ext cx="5429250" cy="219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078" y="1554129"/>
            <a:ext cx="1971675" cy="3514725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3837078" y="4800599"/>
            <a:ext cx="1153939" cy="268255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887964" y="4133462"/>
            <a:ext cx="1103053" cy="257564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91583" y="1278099"/>
            <a:ext cx="507952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INSTRUCTIONS</a:t>
            </a:r>
          </a:p>
          <a:p>
            <a:endParaRPr lang="en-US" sz="1200" dirty="0"/>
          </a:p>
          <a:p>
            <a:r>
              <a:rPr lang="en-US" sz="1200" dirty="0"/>
              <a:t>It is not necessary to download the </a:t>
            </a:r>
            <a:r>
              <a:rPr lang="en-US" sz="1200" dirty="0">
                <a:solidFill>
                  <a:srgbClr val="C00000"/>
                </a:solidFill>
              </a:rPr>
              <a:t>Analysis </a:t>
            </a:r>
            <a:r>
              <a:rPr lang="en-US" sz="1200" dirty="0" err="1">
                <a:solidFill>
                  <a:srgbClr val="C00000"/>
                </a:solidFill>
              </a:rPr>
              <a:t>ToolPak</a:t>
            </a:r>
            <a:r>
              <a:rPr lang="en-US" sz="1200" dirty="0"/>
              <a:t>. It comes with Excel when you install it on your Mac.</a:t>
            </a:r>
          </a:p>
          <a:p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 Click the </a:t>
            </a:r>
            <a:r>
              <a:rPr lang="en-US" sz="1200" dirty="0">
                <a:solidFill>
                  <a:srgbClr val="C00000"/>
                </a:solidFill>
              </a:rPr>
              <a:t>Tools</a:t>
            </a:r>
            <a:r>
              <a:rPr lang="en-US" sz="1200" dirty="0"/>
              <a:t> menu, and then click </a:t>
            </a:r>
            <a:r>
              <a:rPr lang="en-US" sz="1200" dirty="0">
                <a:solidFill>
                  <a:srgbClr val="C00000"/>
                </a:solidFill>
              </a:rPr>
              <a:t>Add-Ins</a:t>
            </a:r>
            <a:r>
              <a:rPr lang="en-US" sz="1200" dirty="0"/>
              <a:t>. If Excel Add-Ins is “greyed out” try clicking on the Excel worksheet or re-starting Excel.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In the Add-Ins available box, select the </a:t>
            </a:r>
            <a:r>
              <a:rPr lang="en-US" sz="1200" dirty="0">
                <a:solidFill>
                  <a:srgbClr val="C00000"/>
                </a:solidFill>
              </a:rPr>
              <a:t>Analysis </a:t>
            </a:r>
            <a:r>
              <a:rPr lang="en-US" sz="1200" dirty="0" err="1">
                <a:solidFill>
                  <a:srgbClr val="C00000"/>
                </a:solidFill>
              </a:rPr>
              <a:t>ToolPak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r>
              <a:rPr lang="en-US" sz="1200" dirty="0"/>
              <a:t>check box, and then click OK. 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If you get prompted that the </a:t>
            </a:r>
            <a:r>
              <a:rPr lang="en-US" sz="1200" dirty="0">
                <a:solidFill>
                  <a:srgbClr val="C00000"/>
                </a:solidFill>
              </a:rPr>
              <a:t>Analysis </a:t>
            </a:r>
            <a:r>
              <a:rPr lang="en-US" sz="1200" dirty="0" err="1">
                <a:solidFill>
                  <a:srgbClr val="C00000"/>
                </a:solidFill>
              </a:rPr>
              <a:t>ToolPak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r>
              <a:rPr lang="en-US" sz="1200" dirty="0"/>
              <a:t>is not currently installed on your computer, click Yes to install it, then quit and restart Excel.</a:t>
            </a:r>
          </a:p>
          <a:p>
            <a:endParaRPr lang="en-US" sz="1200" dirty="0"/>
          </a:p>
          <a:p>
            <a:r>
              <a:rPr lang="en-US" sz="1200" i="1" dirty="0">
                <a:solidFill>
                  <a:srgbClr val="C00000"/>
                </a:solidFill>
              </a:rPr>
              <a:t>More Support:  </a:t>
            </a:r>
            <a:r>
              <a:rPr lang="en-US" sz="1200" dirty="0"/>
              <a:t> </a:t>
            </a:r>
            <a:r>
              <a:rPr lang="en-US" sz="1200" dirty="0">
                <a:hlinkClick r:id="rId4"/>
              </a:rPr>
              <a:t>https://support.office.com/en-us/article/Load-the-Analysis-ToolPak-in-Excel-2016-for-Mac-617afc33-4af8-4530-b132-7b4e938890d0</a:t>
            </a:r>
            <a:endParaRPr lang="en-US" sz="12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75" y="2922596"/>
            <a:ext cx="2707481" cy="24217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7632" y="1748219"/>
            <a:ext cx="1870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Check both these options for </a:t>
            </a:r>
            <a:r>
              <a:rPr lang="en-US" sz="1200" dirty="0">
                <a:solidFill>
                  <a:srgbClr val="C00000"/>
                </a:solidFill>
              </a:rPr>
              <a:t>Add-Ins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Down Arrow 2"/>
          <p:cNvSpPr/>
          <p:nvPr/>
        </p:nvSpPr>
        <p:spPr>
          <a:xfrm>
            <a:off x="1708575" y="2274350"/>
            <a:ext cx="363556" cy="3731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471080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MENU BAR -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7730" y="2034205"/>
            <a:ext cx="2607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1200" dirty="0">
                <a:solidFill>
                  <a:srgbClr val="C00000"/>
                </a:solidFill>
              </a:rPr>
              <a:t>Data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top menu bar is mostly redundant because these options are covered within Excel’s </a:t>
            </a:r>
            <a:r>
              <a:rPr lang="en-US" sz="1200" dirty="0">
                <a:solidFill>
                  <a:srgbClr val="C00000"/>
                </a:solidFill>
              </a:rPr>
              <a:t>Data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ribbon tab.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87624"/>
            <a:ext cx="5467350" cy="2000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5" y="1554129"/>
            <a:ext cx="2209800" cy="3276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428" y="4935037"/>
            <a:ext cx="7315200" cy="987035"/>
          </a:xfrm>
          <a:prstGeom prst="rect">
            <a:avLst/>
          </a:prstGeom>
        </p:spPr>
      </p:pic>
      <p:sp>
        <p:nvSpPr>
          <p:cNvPr id="17" name="Left Arrow 16"/>
          <p:cNvSpPr/>
          <p:nvPr/>
        </p:nvSpPr>
        <p:spPr>
          <a:xfrm>
            <a:off x="7110413" y="2381677"/>
            <a:ext cx="504825" cy="36770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605784" y="2981026"/>
            <a:ext cx="1156407" cy="21826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022068" y="5365010"/>
            <a:ext cx="979310" cy="269213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4540161" y="5143261"/>
            <a:ext cx="403133" cy="22174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873363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66560" y="631221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MENU BAR - window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78099"/>
            <a:ext cx="5448300" cy="219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412" y="1588723"/>
            <a:ext cx="1571625" cy="2362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76414" y="2165872"/>
            <a:ext cx="2452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1200" dirty="0">
                <a:solidFill>
                  <a:srgbClr val="C00000"/>
                </a:solidFill>
              </a:rPr>
              <a:t>Window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top menu bar is mostly redundant because these options are covered within Excel’s </a:t>
            </a:r>
            <a:r>
              <a:rPr lang="en-US" sz="1200" dirty="0">
                <a:solidFill>
                  <a:srgbClr val="C00000"/>
                </a:solidFill>
              </a:rPr>
              <a:t>View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ribbon tab.</a:t>
            </a:r>
          </a:p>
        </p:txBody>
      </p:sp>
      <p:sp>
        <p:nvSpPr>
          <p:cNvPr id="9" name="Left Arrow 8"/>
          <p:cNvSpPr/>
          <p:nvPr/>
        </p:nvSpPr>
        <p:spPr>
          <a:xfrm>
            <a:off x="6624638" y="2397520"/>
            <a:ext cx="504825" cy="36770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907" y="4521895"/>
            <a:ext cx="8191500" cy="1171575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H="1">
            <a:off x="6496395" y="3018386"/>
            <a:ext cx="1190280" cy="17273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02786" y="4797925"/>
            <a:ext cx="403133" cy="22174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5029890" y="5073955"/>
            <a:ext cx="403133" cy="22174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6505919" y="5320252"/>
            <a:ext cx="371131" cy="337598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188606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Ribbon TABS - HOME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56" y="1240905"/>
            <a:ext cx="10058400" cy="11075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868409" y="1260446"/>
            <a:ext cx="675147" cy="46777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5144034" y="2032851"/>
            <a:ext cx="1532991" cy="24818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223744" y="5552579"/>
            <a:ext cx="3009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1200" dirty="0">
                <a:solidFill>
                  <a:srgbClr val="C00000"/>
                </a:solidFill>
              </a:rPr>
              <a:t>Home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tab has so many useful features that you will use it often.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314" y="5500933"/>
            <a:ext cx="758207" cy="4584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51" y="4528076"/>
            <a:ext cx="1736540" cy="155018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85156" y="1728217"/>
            <a:ext cx="514969" cy="51104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82868" y="2654331"/>
            <a:ext cx="2496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Paste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When you click </a:t>
            </a:r>
            <a:r>
              <a:rPr lang="en-US" sz="1200" dirty="0">
                <a:solidFill>
                  <a:srgbClr val="C00000"/>
                </a:solidFill>
              </a:rPr>
              <a:t>Paste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you get Excel’s default format.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898" y="5836497"/>
            <a:ext cx="915553" cy="177747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5357" y="3474266"/>
            <a:ext cx="2410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Paste Special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Lets you choose a format that may be more suitable.</a:t>
            </a:r>
          </a:p>
        </p:txBody>
      </p:sp>
      <p:sp>
        <p:nvSpPr>
          <p:cNvPr id="36" name="Up Arrow 35"/>
          <p:cNvSpPr/>
          <p:nvPr/>
        </p:nvSpPr>
        <p:spPr>
          <a:xfrm>
            <a:off x="636918" y="2379924"/>
            <a:ext cx="277481" cy="2536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>
            <a:off x="636918" y="4148092"/>
            <a:ext cx="288242" cy="2418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341245" y="2740457"/>
            <a:ext cx="3059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Cell Format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Displaying more decimals than are necessary is annoying.  Poor decimal alignment makes it hard to read.</a:t>
            </a:r>
          </a:p>
        </p:txBody>
      </p:sp>
      <p:sp>
        <p:nvSpPr>
          <p:cNvPr id="40" name="Up Arrow 39"/>
          <p:cNvSpPr/>
          <p:nvPr/>
        </p:nvSpPr>
        <p:spPr>
          <a:xfrm>
            <a:off x="5213338" y="2400637"/>
            <a:ext cx="277481" cy="2536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336" y="3959450"/>
            <a:ext cx="1367625" cy="13868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084" y="3916299"/>
            <a:ext cx="1328550" cy="138686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034094" y="2787705"/>
            <a:ext cx="25094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Sharing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Your team members can copy the shared workbook and add their data to the copy. Works best with </a:t>
            </a:r>
            <a:r>
              <a:rPr lang="en-US" sz="1200" dirty="0">
                <a:solidFill>
                  <a:srgbClr val="C00000"/>
                </a:solidFill>
              </a:rPr>
              <a:t>Cloud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storage, but tricky to use effectively.</a:t>
            </a:r>
          </a:p>
        </p:txBody>
      </p:sp>
      <p:sp>
        <p:nvSpPr>
          <p:cNvPr id="43" name="Up Arrow 42"/>
          <p:cNvSpPr/>
          <p:nvPr/>
        </p:nvSpPr>
        <p:spPr>
          <a:xfrm>
            <a:off x="10067241" y="2439602"/>
            <a:ext cx="277481" cy="2536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5572049" y="3554264"/>
            <a:ext cx="257252" cy="2067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6472985" y="3568877"/>
            <a:ext cx="183109" cy="2285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608878" y="3614744"/>
            <a:ext cx="803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Better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35110" y="3664869"/>
            <a:ext cx="708198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Poor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8141" y="4197091"/>
            <a:ext cx="2256581" cy="1106075"/>
          </a:xfrm>
          <a:prstGeom prst="rect">
            <a:avLst/>
          </a:prstGeom>
        </p:spPr>
      </p:pic>
      <p:sp>
        <p:nvSpPr>
          <p:cNvPr id="48" name="Down Arrow 47"/>
          <p:cNvSpPr/>
          <p:nvPr/>
        </p:nvSpPr>
        <p:spPr>
          <a:xfrm>
            <a:off x="9293390" y="3897777"/>
            <a:ext cx="288242" cy="2418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8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7357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Ribbon TABS -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3394" y="3988221"/>
            <a:ext cx="2188170" cy="155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Conditional Formatting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Highlight cells in color based on the data value from a rule (e.g., &gt;3) or built-in bars, colors, or icons. Useful to spot unusual values in a large data array.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56" y="1240905"/>
            <a:ext cx="10058400" cy="11075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587" y="2777392"/>
            <a:ext cx="2181225" cy="2381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235" y="2817731"/>
            <a:ext cx="1790700" cy="1819275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6011564" y="4282604"/>
            <a:ext cx="265411" cy="243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789445" y="4949999"/>
            <a:ext cx="178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Clear 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Remove formats as well as data in cells.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2827" y="2731708"/>
            <a:ext cx="1171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Fonts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Bold, italic, underline, font color, background color.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3313" y="2739070"/>
            <a:ext cx="1113995" cy="100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Text Alignment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Justify left, center, right, indent.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6389" y="2739070"/>
            <a:ext cx="1670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Number Format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Currency, percent, decimals, currency, or custom.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30276" y="1708218"/>
            <a:ext cx="2161281" cy="64028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636699" y="1708218"/>
            <a:ext cx="929778" cy="64028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5161805" y="1716260"/>
            <a:ext cx="1496170" cy="64028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732053" y="1723147"/>
            <a:ext cx="1565952" cy="194622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8804797" y="3095625"/>
            <a:ext cx="1329803" cy="421728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Up Arrow 27"/>
          <p:cNvSpPr/>
          <p:nvPr/>
        </p:nvSpPr>
        <p:spPr>
          <a:xfrm>
            <a:off x="3020243" y="2496772"/>
            <a:ext cx="221138" cy="19218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Up Arrow 28"/>
          <p:cNvSpPr/>
          <p:nvPr/>
        </p:nvSpPr>
        <p:spPr>
          <a:xfrm>
            <a:off x="4019508" y="2490609"/>
            <a:ext cx="221138" cy="19218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Up Arrow 30"/>
          <p:cNvSpPr/>
          <p:nvPr/>
        </p:nvSpPr>
        <p:spPr>
          <a:xfrm>
            <a:off x="9454052" y="4677678"/>
            <a:ext cx="238125" cy="2234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Up Arrow 32"/>
          <p:cNvSpPr/>
          <p:nvPr/>
        </p:nvSpPr>
        <p:spPr>
          <a:xfrm>
            <a:off x="5535636" y="2499268"/>
            <a:ext cx="221138" cy="19218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9066447" y="2084256"/>
            <a:ext cx="387605" cy="264244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Up Arrow 34"/>
          <p:cNvSpPr/>
          <p:nvPr/>
        </p:nvSpPr>
        <p:spPr>
          <a:xfrm>
            <a:off x="7392061" y="2485054"/>
            <a:ext cx="221138" cy="19218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69713" y="4892241"/>
            <a:ext cx="2642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Appearance is important in business. Make your spreadsheet look nice. You can never tell who is going to see your work.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326" y="4333388"/>
            <a:ext cx="758207" cy="4559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611380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Ribbon TABS - HOME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56" y="1240905"/>
            <a:ext cx="10058400" cy="11075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99349" y="5045163"/>
            <a:ext cx="2039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Conditional Formatting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gives a quick impression of high/low data values.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840" y="2656456"/>
            <a:ext cx="1171358" cy="236116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64" y="4511960"/>
            <a:ext cx="1458079" cy="145807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275" y="2588137"/>
            <a:ext cx="1926744" cy="353354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2714" y="2502412"/>
            <a:ext cx="1876425" cy="20193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8057" y="2502412"/>
            <a:ext cx="2162175" cy="1362075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8213598" y="2502412"/>
            <a:ext cx="285750" cy="295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6888226" y="1649302"/>
            <a:ext cx="1520783" cy="29080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281841" y="2495126"/>
            <a:ext cx="1411248" cy="29080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6256154" y="3035089"/>
            <a:ext cx="849496" cy="74415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084821" y="2329764"/>
            <a:ext cx="960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Icon Sets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6154" y="4231572"/>
            <a:ext cx="1173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Color Scales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5539" y="2373264"/>
            <a:ext cx="1173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Data Bars</a:t>
            </a:r>
          </a:p>
        </p:txBody>
      </p:sp>
      <p:sp>
        <p:nvSpPr>
          <p:cNvPr id="43" name="Left Arrow 42"/>
          <p:cNvSpPr/>
          <p:nvPr/>
        </p:nvSpPr>
        <p:spPr>
          <a:xfrm>
            <a:off x="5522226" y="3207262"/>
            <a:ext cx="268307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own Arrow 43"/>
          <p:cNvSpPr/>
          <p:nvPr/>
        </p:nvSpPr>
        <p:spPr>
          <a:xfrm>
            <a:off x="6761853" y="3956965"/>
            <a:ext cx="288242" cy="2418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8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857375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738" y="3101510"/>
            <a:ext cx="1816988" cy="135756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Ribbon TABS - HOME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56" y="1240904"/>
            <a:ext cx="10058400" cy="11075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442493" y="1773833"/>
            <a:ext cx="654008" cy="574666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258174" y="2403005"/>
            <a:ext cx="1610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Custom Sort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42167" y="1695450"/>
            <a:ext cx="1416007" cy="22860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479948" y="2383263"/>
            <a:ext cx="2362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rgbClr val="C00000"/>
                </a:solidFill>
              </a:rPr>
              <a:t>Example: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Kentucky Derby winning times 2000-2016 (17 years)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2701" y="2383263"/>
            <a:ext cx="2273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Highlight Cell Rules and Icons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789" y="2680004"/>
            <a:ext cx="3217767" cy="124967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373" y="4093234"/>
            <a:ext cx="1558247" cy="2286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2530" y="4093234"/>
            <a:ext cx="1612142" cy="2286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0958" y="2695027"/>
            <a:ext cx="1746607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89" y="2653799"/>
            <a:ext cx="1601056" cy="22860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743453" y="3101510"/>
            <a:ext cx="1624820" cy="24818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743453" y="3664553"/>
            <a:ext cx="1088180" cy="702174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Arrow 20"/>
          <p:cNvSpPr/>
          <p:nvPr/>
        </p:nvSpPr>
        <p:spPr>
          <a:xfrm>
            <a:off x="4168024" y="3421224"/>
            <a:ext cx="268307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8128601" y="3834947"/>
            <a:ext cx="288242" cy="2418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/>
          <p:cNvSpPr/>
          <p:nvPr/>
        </p:nvSpPr>
        <p:spPr>
          <a:xfrm>
            <a:off x="9580167" y="2411922"/>
            <a:ext cx="288242" cy="2418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640738" y="5324380"/>
            <a:ext cx="239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sorting the data may tell you all you need to know.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7501" y="5327556"/>
            <a:ext cx="758207" cy="45848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10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983667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Ribbon TABS - insert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56" y="1290951"/>
            <a:ext cx="11264204" cy="925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3756" y="1716803"/>
            <a:ext cx="439219" cy="460432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29325" y="1685925"/>
            <a:ext cx="1028699" cy="553422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68" y="3463912"/>
            <a:ext cx="2084248" cy="315751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654" y="3261096"/>
            <a:ext cx="3099432" cy="1920222"/>
          </a:xfrm>
          <a:prstGeom prst="rect">
            <a:avLst/>
          </a:prstGeom>
        </p:spPr>
      </p:pic>
      <p:sp>
        <p:nvSpPr>
          <p:cNvPr id="20" name="Right Arrow 19"/>
          <p:cNvSpPr/>
          <p:nvPr/>
        </p:nvSpPr>
        <p:spPr>
          <a:xfrm>
            <a:off x="2827378" y="3441865"/>
            <a:ext cx="285750" cy="295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55357" y="2332250"/>
            <a:ext cx="26577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Pivot Table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Summarize and explore numerical data in a row-column cross-tabulation by category (see </a:t>
            </a:r>
            <a:r>
              <a:rPr lang="en-US" sz="1200" dirty="0">
                <a:solidFill>
                  <a:srgbClr val="C00000"/>
                </a:solidFill>
              </a:rPr>
              <a:t>Tutorial 5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for details).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9181" y="2346235"/>
            <a:ext cx="2352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Example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Total and average square feet by subdivision and home type.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6408" y="2338026"/>
            <a:ext cx="1965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Charts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Scatter, line, and column charts are often used in data analysis. Less-used charts are not shown.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39" y="3685426"/>
            <a:ext cx="3557588" cy="1071563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242" y="4913289"/>
            <a:ext cx="3669030" cy="1054418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9757" y="2397556"/>
            <a:ext cx="1817370" cy="113157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4522749" y="5483694"/>
            <a:ext cx="2142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Note: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These examples only illustrate two features of the </a:t>
            </a:r>
            <a:r>
              <a:rPr lang="en-US" sz="1200" dirty="0">
                <a:solidFill>
                  <a:srgbClr val="C00000"/>
                </a:solidFill>
              </a:rPr>
              <a:t>Insert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tab.</a:t>
            </a:r>
          </a:p>
        </p:txBody>
      </p:sp>
      <p:pic>
        <p:nvPicPr>
          <p:cNvPr id="41" name="Picture 4" descr="C:\Users\doane\AppData\Local\Microsoft\Windows\Temporary Internet Files\Content.IE5\4NRDV50F\MC900431538[1]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201" y="5483694"/>
            <a:ext cx="955381" cy="88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ight Arrow 41"/>
          <p:cNvSpPr/>
          <p:nvPr/>
        </p:nvSpPr>
        <p:spPr>
          <a:xfrm>
            <a:off x="9108173" y="2692755"/>
            <a:ext cx="285750" cy="295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9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012846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Ribbon TABS - insert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38" y="1277514"/>
            <a:ext cx="11264204" cy="925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485056" y="1667007"/>
            <a:ext cx="332473" cy="46672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8111372" y="1690773"/>
            <a:ext cx="378726" cy="46672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209716" y="2352321"/>
            <a:ext cx="3459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Shapes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Use arrows and shapes to point out items of interest. For example, we made these rectangles transparent with glowing edges.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8186" y="2397573"/>
            <a:ext cx="13738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Text Box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Good alternative to typing in cells because you can drag it around.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8504" y="2404522"/>
            <a:ext cx="1466953" cy="859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Hyperlink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So reader can jump to a web site of interest.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19422" y="1690773"/>
            <a:ext cx="310915" cy="46672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0599255" y="1667006"/>
            <a:ext cx="874025" cy="46672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155" y="3556865"/>
            <a:ext cx="2205258" cy="26297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735" y="4227655"/>
            <a:ext cx="3216362" cy="210227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 flipH="1">
            <a:off x="2253724" y="3686756"/>
            <a:ext cx="220164" cy="167806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 flipH="1">
            <a:off x="2597767" y="3663762"/>
            <a:ext cx="219762" cy="19080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 flipH="1">
            <a:off x="1715551" y="5594320"/>
            <a:ext cx="758337" cy="174156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9898144" y="2399200"/>
            <a:ext cx="18296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Equations and Symbols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Sometimes useful in reports, but you can also use </a:t>
            </a:r>
            <a:r>
              <a:rPr lang="en-US" sz="1200" dirty="0">
                <a:solidFill>
                  <a:srgbClr val="C00000"/>
                </a:solidFill>
              </a:rPr>
              <a:t>Symbol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font to convert </a:t>
            </a:r>
            <a:r>
              <a:rPr lang="en-US" sz="1200" dirty="0">
                <a:solidFill>
                  <a:srgbClr val="C00000"/>
                </a:solidFill>
              </a:rPr>
              <a:t>a b m s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to </a:t>
            </a:r>
            <a:r>
              <a:rPr lang="en-US" sz="1200" dirty="0">
                <a:solidFill>
                  <a:srgbClr val="C00000"/>
                </a:solidFill>
                <a:latin typeface="Symbol" panose="05050102010706020507" pitchFamily="18" charset="2"/>
              </a:rPr>
              <a:t>a b m s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31" y="4637856"/>
            <a:ext cx="2674196" cy="1692075"/>
          </a:xfrm>
          <a:prstGeom prst="rect">
            <a:avLst/>
          </a:prstGeom>
        </p:spPr>
      </p:pic>
      <p:sp>
        <p:nvSpPr>
          <p:cNvPr id="52" name="Down Arrow 51"/>
          <p:cNvSpPr/>
          <p:nvPr/>
        </p:nvSpPr>
        <p:spPr>
          <a:xfrm>
            <a:off x="2651292" y="3275248"/>
            <a:ext cx="288242" cy="2418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/>
          <p:cNvCxnSpPr/>
          <p:nvPr/>
        </p:nvCxnSpPr>
        <p:spPr>
          <a:xfrm flipH="1">
            <a:off x="7124342" y="3193478"/>
            <a:ext cx="2799844" cy="264321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8718187" y="3556865"/>
            <a:ext cx="2264040" cy="22116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595170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Ribbon TABS – page layout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52" y="1252537"/>
            <a:ext cx="8724900" cy="11906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5357" y="1787061"/>
            <a:ext cx="1249618" cy="550202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866728" y="1787061"/>
            <a:ext cx="600075" cy="42862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536136" y="1819956"/>
            <a:ext cx="447674" cy="59531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391374" y="2692220"/>
            <a:ext cx="2788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Gridlines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They make it easier to locate data values, but may be unattractive in a report. It’s your choice.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094" y="2689135"/>
            <a:ext cx="1540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Print Area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Save paper. Print only the portion of the worksheet that you actually need.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851" y="2689135"/>
            <a:ext cx="20132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Themes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Make your colors and layout more consistent. Or perhaps you’re a do-it-yourself individual 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75" y="3847542"/>
            <a:ext cx="1328550" cy="138686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657" y="3847542"/>
            <a:ext cx="1328550" cy="13868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54600" y="3847542"/>
            <a:ext cx="452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145" y="4248587"/>
            <a:ext cx="452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668276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Ribbon TABS - formulas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1325919"/>
            <a:ext cx="10058400" cy="10083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008" y="2469036"/>
            <a:ext cx="1731645" cy="38004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486" y="3780998"/>
            <a:ext cx="1714500" cy="14573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326" y="2487304"/>
            <a:ext cx="1807219" cy="34671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42909" y="2469036"/>
            <a:ext cx="1922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More Functions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You can shorten the drop-down list of functions to </a:t>
            </a:r>
            <a:r>
              <a:rPr lang="en-US" sz="1200" dirty="0">
                <a:solidFill>
                  <a:srgbClr val="C00000"/>
                </a:solidFill>
              </a:rPr>
              <a:t>Statistical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62476" y="1727019"/>
            <a:ext cx="447674" cy="59531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36988" y="2470866"/>
            <a:ext cx="14178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Insert Function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Puts a function in a cell using this menu. After a while, you’ll learn the syntax of common statistics functions.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4786313" y="3438305"/>
            <a:ext cx="288242" cy="2418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6091583" y="3881224"/>
            <a:ext cx="285750" cy="295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>
            <a:off x="1978119" y="3015513"/>
            <a:ext cx="285750" cy="295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8120430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Ribbon TABS - data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557" y="1241055"/>
            <a:ext cx="8753475" cy="1181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14353" y="1787061"/>
            <a:ext cx="943897" cy="30843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612" y="4020710"/>
            <a:ext cx="2707481" cy="24217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57" y="2702325"/>
            <a:ext cx="4905375" cy="2105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89507" y="2611848"/>
            <a:ext cx="22955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Data Analysis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Instead of entering your own cell functions, you can do many kinds of analysis from a menu (see </a:t>
            </a:r>
            <a:r>
              <a:rPr lang="en-US" sz="1200" dirty="0">
                <a:solidFill>
                  <a:srgbClr val="C00000"/>
                </a:solidFill>
              </a:rPr>
              <a:t>Tutorial 4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).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4351" y="5231575"/>
            <a:ext cx="2423451" cy="1037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But the </a:t>
            </a:r>
            <a:r>
              <a:rPr lang="en-US" sz="1200" dirty="0">
                <a:solidFill>
                  <a:srgbClr val="C00000"/>
                </a:solidFill>
              </a:rPr>
              <a:t>Data Analysis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tools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will </a:t>
            </a:r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not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appear on the spreadsheet </a:t>
            </a:r>
            <a:r>
              <a:rPr lang="en-US" sz="1200" dirty="0">
                <a:solidFill>
                  <a:srgbClr val="C00000"/>
                </a:solidFill>
              </a:rPr>
              <a:t>Data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ribbon tab unless they were installed from the </a:t>
            </a:r>
            <a:r>
              <a:rPr lang="en-US" sz="1200" dirty="0">
                <a:solidFill>
                  <a:srgbClr val="C00000"/>
                </a:solidFill>
              </a:rPr>
              <a:t>Tools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top menu. 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6134100" y="2841092"/>
            <a:ext cx="409575" cy="3402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5734050" y="5460819"/>
            <a:ext cx="400050" cy="378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3" descr="C:\Users\doane\AppData\Local\Microsoft\Windows\Temporary Internet Files\Content.IE5\YJVGYIN5\MP900439244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989" y="5251486"/>
            <a:ext cx="881009" cy="58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918135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Ribbon TABS -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2" y="1221144"/>
            <a:ext cx="8715375" cy="1181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17832" y="2508876"/>
            <a:ext cx="2721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Protect Sheet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You probably won’t need this. Use it to prevent others from changing essential cells by accident.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46990" y="2508876"/>
            <a:ext cx="22815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Show All Comments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If you have annotated your cells with inserted comments, you can see them all.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02447" y="2034863"/>
            <a:ext cx="1277272" cy="251137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879719" y="1743275"/>
            <a:ext cx="528638" cy="65896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3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057397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Ribbon TABS - view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00162"/>
            <a:ext cx="8191500" cy="11715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257800" y="1819275"/>
            <a:ext cx="1495424" cy="64964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046953" y="2059544"/>
            <a:ext cx="667672" cy="33317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914187" y="1810921"/>
            <a:ext cx="848187" cy="32267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110980" y="2660634"/>
            <a:ext cx="1926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Formula Bar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Hide the formula bar. Most users like to see it.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57800" y="2660634"/>
            <a:ext cx="1990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Freeze Panes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Most often used to display column headings as you scroll down a long worksheet.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1350" y="2603478"/>
            <a:ext cx="2347408" cy="1190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Gridlines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Make it easier to locate data values, but may be unattractive in a report. Option is also on the </a:t>
            </a:r>
            <a:r>
              <a:rPr lang="en-US" sz="1200" dirty="0">
                <a:solidFill>
                  <a:srgbClr val="C00000"/>
                </a:solidFill>
              </a:rPr>
              <a:t>Page Layout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tab.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758" y="4033968"/>
            <a:ext cx="1328550" cy="138686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14" y="4033969"/>
            <a:ext cx="1328550" cy="13868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62187" y="4173404"/>
            <a:ext cx="452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2188" y="4542736"/>
            <a:ext cx="452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48525" y="1819275"/>
            <a:ext cx="1000125" cy="64964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184302" y="2644742"/>
            <a:ext cx="1705173" cy="103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Macros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Advanced feature. Used to repeat a series of steps in a calculation.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857763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1 – Basic charts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1" y="1223275"/>
            <a:ext cx="11264204" cy="9253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91583" y="1595153"/>
            <a:ext cx="366367" cy="27911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005330" y="5719608"/>
            <a:ext cx="3121393" cy="647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This tutorial omits Excel charts that tend to distort the data, even though they might be visually appealing.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9713" y="2306399"/>
            <a:ext cx="3019425" cy="11525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73186" y="2360719"/>
            <a:ext cx="3169527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COLUMN AND BAR CHARTS</a:t>
            </a:r>
          </a:p>
          <a:p>
            <a:pPr>
              <a:spcBef>
                <a:spcPts val="600"/>
              </a:spcBef>
            </a:pPr>
            <a:r>
              <a:rPr lang="en-US" sz="1100" dirty="0"/>
              <a:t>Both charts display numerical data, either vertically (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column chart</a:t>
            </a:r>
            <a:r>
              <a:rPr lang="en-US" sz="1100" dirty="0"/>
              <a:t>) or horizontally (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bar chart</a:t>
            </a:r>
            <a:r>
              <a:rPr lang="en-US" sz="1100" dirty="0"/>
              <a:t>). Axis labels represent either a data attribute or time.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81" y="2306399"/>
            <a:ext cx="4076700" cy="11715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40591" y="3590994"/>
            <a:ext cx="3905825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RECOMMENDATIONS</a:t>
            </a:r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If the variable is a time series, put axis labels (e.g., years) on the horizontal X-axis with time increasing from left to right. </a:t>
            </a:r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Height or length of each bar should be proportional to the data value. This is easy, since Excel defaults to a zero origin. </a:t>
            </a:r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Add value labels at the top (or end) of each column (bar) except when labels would impair legibility (e.g., many bars).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166" y="3690435"/>
            <a:ext cx="2964517" cy="178117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481" y="3669004"/>
            <a:ext cx="3040063" cy="18240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7123" y="5719608"/>
            <a:ext cx="758207" cy="45848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8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753338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1 – Basic charts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1" y="1223275"/>
            <a:ext cx="11264204" cy="9253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16512" y="1872252"/>
            <a:ext cx="366367" cy="27911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404053" y="3076005"/>
            <a:ext cx="3170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If your data only cover a few time periods, consider using a simple column chart with labeled data values.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330" y="2617516"/>
            <a:ext cx="758207" cy="45848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91210" y="2329275"/>
            <a:ext cx="222046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LINE CHARTS</a:t>
            </a:r>
          </a:p>
          <a:p>
            <a:pPr>
              <a:spcBef>
                <a:spcPts val="600"/>
              </a:spcBef>
            </a:pPr>
            <a:r>
              <a:rPr lang="en-US" sz="1100" dirty="0"/>
              <a:t>A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line chart</a:t>
            </a:r>
            <a:r>
              <a:rPr lang="en-US" sz="1100" dirty="0"/>
              <a:t> is used to reveal patterns and trends over time.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81" y="2370092"/>
            <a:ext cx="3952875" cy="1190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425" y="3864191"/>
            <a:ext cx="3606019" cy="21636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481" y="3864192"/>
            <a:ext cx="3599957" cy="216361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461904" y="3293063"/>
            <a:ext cx="351935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REOMMENDATIONS</a:t>
            </a:r>
          </a:p>
          <a:p>
            <a:endParaRPr lang="en-US" sz="1100" dirty="0"/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Use a line chart only for </a:t>
            </a:r>
            <a:r>
              <a:rPr lang="en-US" sz="1100" i="1" dirty="0"/>
              <a:t>time series data</a:t>
            </a:r>
            <a:r>
              <a:rPr lang="en-US" sz="1100" dirty="0"/>
              <a:t> </a:t>
            </a:r>
            <a:r>
              <a:rPr lang="en-US" sz="1100" i="1" dirty="0"/>
              <a:t>y</a:t>
            </a:r>
            <a:r>
              <a:rPr lang="en-US" sz="1100" i="1" baseline="-25000" dirty="0"/>
              <a:t>1</a:t>
            </a:r>
            <a:r>
              <a:rPr lang="en-US" sz="1100" i="1" dirty="0"/>
              <a:t>, y</a:t>
            </a:r>
            <a:r>
              <a:rPr lang="en-US" sz="1100" i="1" baseline="-25000" dirty="0"/>
              <a:t>2</a:t>
            </a:r>
            <a:r>
              <a:rPr lang="en-US" sz="1100" i="1" dirty="0"/>
              <a:t>, …, </a:t>
            </a:r>
            <a:r>
              <a:rPr lang="en-US" sz="1100" i="1" dirty="0" err="1"/>
              <a:t>y</a:t>
            </a:r>
            <a:r>
              <a:rPr lang="en-US" sz="1100" i="1" baseline="-25000" dirty="0" err="1"/>
              <a:t>n</a:t>
            </a:r>
            <a:r>
              <a:rPr lang="en-US" sz="1100" i="1" baseline="-25000" dirty="0"/>
              <a:t> </a:t>
            </a:r>
            <a:r>
              <a:rPr lang="en-US" sz="1100" dirty="0"/>
              <a:t>over </a:t>
            </a:r>
            <a:r>
              <a:rPr lang="en-US" sz="1100" i="1" dirty="0"/>
              <a:t>n</a:t>
            </a:r>
            <a:r>
              <a:rPr lang="en-US" sz="1100" dirty="0"/>
              <a:t> time periods</a:t>
            </a:r>
            <a:r>
              <a:rPr lang="en-US" sz="1100" i="1" dirty="0"/>
              <a:t>.</a:t>
            </a:r>
            <a:endParaRPr lang="en-US" sz="1100" dirty="0"/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Put the numerical variable(s) on the </a:t>
            </a:r>
            <a:r>
              <a:rPr lang="en-US" sz="1100" i="1" dirty="0"/>
              <a:t>Y</a:t>
            </a:r>
            <a:r>
              <a:rPr lang="en-US" sz="1100" dirty="0"/>
              <a:t>-axis and time on the </a:t>
            </a:r>
            <a:r>
              <a:rPr lang="en-US" sz="1100" i="1" dirty="0"/>
              <a:t>X</a:t>
            </a:r>
            <a:r>
              <a:rPr lang="en-US" sz="1100" dirty="0"/>
              <a:t>-axis with time increasing from left to right.</a:t>
            </a:r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Except for log scales, use a zero origin on the </a:t>
            </a:r>
            <a:r>
              <a:rPr lang="en-US" sz="1100" i="1" dirty="0"/>
              <a:t>Y</a:t>
            </a:r>
            <a:r>
              <a:rPr lang="en-US" sz="1100" dirty="0"/>
              <a:t>-axis (this is the default in Excel).</a:t>
            </a:r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Omit data labels if the data cover many time periods.</a:t>
            </a:r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Use gridlines to help the reader see data values.</a:t>
            </a:r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Data markers (squares, triangles, circles) are useful unless there are lots of data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7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062879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1 – Basic charts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1" y="1223275"/>
            <a:ext cx="11264204" cy="9253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39283" y="1627467"/>
            <a:ext cx="366367" cy="27911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60213" y="5404846"/>
            <a:ext cx="321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Tip: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2-D pie charts are easier to interpret, but you may see 3-D charts in business because of their visual impact.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566" y="4765138"/>
            <a:ext cx="758207" cy="45848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235" y="2385266"/>
            <a:ext cx="3981450" cy="11334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92846" y="3557728"/>
            <a:ext cx="380515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RECOMMENDATIONS</a:t>
            </a:r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Pie chart data must represent parts of a whole (e.g., percent market share).</a:t>
            </a:r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Each slices should be labeled with its data value (or percent).</a:t>
            </a:r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Pie charts can only convey a general idea of the data values. </a:t>
            </a:r>
          </a:p>
          <a:p>
            <a:pPr marL="182880" indent="-18288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Pie charts are ineffective when they have too many slices (typically 2 to 7). Exploded pie (right) may help.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5509" y="2310774"/>
            <a:ext cx="2516957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PIE CHARTS</a:t>
            </a:r>
          </a:p>
          <a:p>
            <a:pPr>
              <a:spcBef>
                <a:spcPts val="600"/>
              </a:spcBef>
            </a:pPr>
            <a:r>
              <a:rPr lang="en-US" sz="1100" dirty="0"/>
              <a:t>A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pie chart </a:t>
            </a:r>
            <a:r>
              <a:rPr lang="en-US" sz="1100" dirty="0"/>
              <a:t>is a circle divided into slices. Each slice’s area represents a percent or part of a whole.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652" y="3722407"/>
            <a:ext cx="3225097" cy="25132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481" y="2552068"/>
            <a:ext cx="3068119" cy="20113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7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444328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1 – Basic charts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1" y="1223275"/>
            <a:ext cx="11264204" cy="9253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6603" y="1834123"/>
            <a:ext cx="347317" cy="26857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166770" y="2305673"/>
            <a:ext cx="320423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SCATTER PLOT</a:t>
            </a:r>
          </a:p>
          <a:p>
            <a:endParaRPr lang="en-US" sz="1100" dirty="0"/>
          </a:p>
          <a:p>
            <a:r>
              <a:rPr lang="en-US" sz="1100" dirty="0"/>
              <a:t>A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scatter plot </a:t>
            </a:r>
            <a:r>
              <a:rPr lang="en-US" sz="1100" dirty="0"/>
              <a:t>is used to reveal relationships between two variables. It plots </a:t>
            </a:r>
            <a:r>
              <a:rPr lang="en-US" sz="1100" i="1" dirty="0"/>
              <a:t>n</a:t>
            </a:r>
            <a:r>
              <a:rPr lang="en-US" sz="1100" dirty="0"/>
              <a:t> pairs of observations (</a:t>
            </a:r>
            <a:r>
              <a:rPr lang="en-US" sz="1100" i="1" dirty="0"/>
              <a:t>x</a:t>
            </a:r>
            <a:r>
              <a:rPr lang="en-US" sz="1100" baseline="-25000" dirty="0"/>
              <a:t>1</a:t>
            </a:r>
            <a:r>
              <a:rPr lang="en-US" sz="1100" dirty="0"/>
              <a:t>, </a:t>
            </a:r>
            <a:r>
              <a:rPr lang="en-US" sz="1100" i="1" dirty="0"/>
              <a:t>y</a:t>
            </a:r>
            <a:r>
              <a:rPr lang="en-US" sz="1100" baseline="-25000" dirty="0"/>
              <a:t>1</a:t>
            </a:r>
            <a:r>
              <a:rPr lang="en-US" sz="1100" dirty="0"/>
              <a:t>), (</a:t>
            </a:r>
            <a:r>
              <a:rPr lang="en-US" sz="1100" i="1" dirty="0"/>
              <a:t>x</a:t>
            </a:r>
            <a:r>
              <a:rPr lang="en-US" sz="1100" baseline="-25000" dirty="0"/>
              <a:t>2</a:t>
            </a:r>
            <a:r>
              <a:rPr lang="en-US" sz="1100" dirty="0"/>
              <a:t>, </a:t>
            </a:r>
            <a:r>
              <a:rPr lang="en-US" sz="1100" i="1" dirty="0"/>
              <a:t>y</a:t>
            </a:r>
            <a:r>
              <a:rPr lang="en-US" sz="1100" baseline="-25000" dirty="0"/>
              <a:t>2</a:t>
            </a:r>
            <a:r>
              <a:rPr lang="en-US" sz="1100" dirty="0"/>
              <a:t>), . . . , (</a:t>
            </a:r>
            <a:r>
              <a:rPr lang="en-US" sz="1100" i="1" dirty="0" err="1"/>
              <a:t>x</a:t>
            </a:r>
            <a:r>
              <a:rPr lang="en-US" sz="1100" i="1" baseline="-25000" dirty="0" err="1"/>
              <a:t>n</a:t>
            </a:r>
            <a:r>
              <a:rPr lang="en-US" sz="1100" dirty="0"/>
              <a:t>, </a:t>
            </a:r>
            <a:r>
              <a:rPr lang="en-US" sz="1100" i="1" dirty="0" err="1"/>
              <a:t>y</a:t>
            </a:r>
            <a:r>
              <a:rPr lang="en-US" sz="1100" i="1" baseline="-25000" dirty="0" err="1"/>
              <a:t>n</a:t>
            </a:r>
            <a:r>
              <a:rPr lang="en-US" sz="1100" dirty="0"/>
              <a:t>) as dots (or some other symbol) on an X-Y graph.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440" y="2342857"/>
            <a:ext cx="1895788" cy="118039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77" y="4227913"/>
            <a:ext cx="3027887" cy="20830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277" y="2327551"/>
            <a:ext cx="1745503" cy="1406523"/>
          </a:xfrm>
          <a:prstGeom prst="rect">
            <a:avLst/>
          </a:prstGeom>
        </p:spPr>
      </p:pic>
      <p:sp>
        <p:nvSpPr>
          <p:cNvPr id="22" name="Down Arrow 21"/>
          <p:cNvSpPr/>
          <p:nvPr/>
        </p:nvSpPr>
        <p:spPr>
          <a:xfrm>
            <a:off x="1611028" y="3826323"/>
            <a:ext cx="289418" cy="3355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2732380" y="2776331"/>
            <a:ext cx="287657" cy="3092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134440" y="2348451"/>
            <a:ext cx="893317" cy="109653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8347" y="4161883"/>
            <a:ext cx="3226207" cy="21485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71001" y="2832063"/>
            <a:ext cx="308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Add title and axis labels, change plot area colors, format axis scales (e.g., decimals).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696741" y="3631903"/>
            <a:ext cx="289418" cy="3355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4008092" y="3751968"/>
            <a:ext cx="39521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RECOMMENDATIONS</a:t>
            </a:r>
          </a:p>
          <a:p>
            <a:endParaRPr lang="en-US" sz="1100" dirty="0"/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Select the (</a:t>
            </a:r>
            <a:r>
              <a:rPr lang="en-US" sz="1100" i="1" dirty="0"/>
              <a:t>x</a:t>
            </a:r>
            <a:r>
              <a:rPr lang="en-US" sz="1100" dirty="0"/>
              <a:t>, </a:t>
            </a:r>
            <a:r>
              <a:rPr lang="en-US" sz="1100" i="1" dirty="0"/>
              <a:t>y</a:t>
            </a:r>
            <a:r>
              <a:rPr lang="en-US" sz="1100" dirty="0"/>
              <a:t>) data (not the column headings - you can add axis labels later). Click the </a:t>
            </a:r>
            <a:r>
              <a:rPr lang="en-US" sz="1100" dirty="0">
                <a:solidFill>
                  <a:srgbClr val="C00000"/>
                </a:solidFill>
              </a:rPr>
              <a:t>Insert</a:t>
            </a:r>
            <a:r>
              <a:rPr lang="en-US" sz="1100" dirty="0"/>
              <a:t> ribbon and the </a:t>
            </a:r>
            <a:r>
              <a:rPr lang="en-US" sz="1100" dirty="0">
                <a:solidFill>
                  <a:srgbClr val="C00000"/>
                </a:solidFill>
              </a:rPr>
              <a:t>Scatter</a:t>
            </a:r>
            <a:r>
              <a:rPr lang="en-US" sz="1100" dirty="0"/>
              <a:t> icon. 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The first column you select will be placed on the X-axis. However, a scatter plot does not presume cause-and-effect.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When you click on the chart to select it, the </a:t>
            </a:r>
            <a:r>
              <a:rPr lang="en-US" sz="1100" dirty="0">
                <a:solidFill>
                  <a:srgbClr val="C00000"/>
                </a:solidFill>
              </a:rPr>
              <a:t>Format</a:t>
            </a:r>
            <a:r>
              <a:rPr lang="en-US" sz="1100" dirty="0"/>
              <a:t> and </a:t>
            </a:r>
            <a:r>
              <a:rPr lang="en-US" sz="1100" dirty="0">
                <a:solidFill>
                  <a:srgbClr val="C00000"/>
                </a:solidFill>
              </a:rPr>
              <a:t>Design</a:t>
            </a:r>
            <a:r>
              <a:rPr lang="en-US" sz="1100" dirty="0"/>
              <a:t> ribbons will become active. Apply styles or edit chart features to improve clarity. 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100" dirty="0"/>
              <a:t>Alternatively, right-click on a specific chart feature (e.g., title, chart area, plot area,  axis, data series). Explore the edit options until you are satisfied with its appearance.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7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2106649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3 – scatter plots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1" y="1223275"/>
            <a:ext cx="11264204" cy="9253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283151" y="2526457"/>
            <a:ext cx="3720206" cy="2812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CUSTOMIZE THE CHART</a:t>
            </a:r>
          </a:p>
          <a:p>
            <a:endParaRPr lang="en-US" sz="1100" dirty="0"/>
          </a:p>
          <a:p>
            <a:r>
              <a:rPr lang="en-US" sz="1100" dirty="0"/>
              <a:t>A graph’s appearance is important in business. Here are some ideas to improve almost any Excel default chart, as illustrated here for a scatter plot. 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Add clear titles (chart, </a:t>
            </a:r>
            <a:r>
              <a:rPr lang="en-US" sz="1100" i="1" dirty="0"/>
              <a:t>x</a:t>
            </a:r>
            <a:r>
              <a:rPr lang="en-US" sz="1100" dirty="0"/>
              <a:t>-axis, </a:t>
            </a:r>
            <a:r>
              <a:rPr lang="en-US" sz="1100" i="1" dirty="0"/>
              <a:t>y</a:t>
            </a:r>
            <a:r>
              <a:rPr lang="en-US" sz="1100" dirty="0"/>
              <a:t>-axis).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Improve the axis scales (min, max, ticks).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Change color or patterns in the plot area or chart area.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Format decimals to make axis scales more readable.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Improve markers and lines (size, color).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Change scale origin if necessary for clarity.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Add a trend line on a scatter plot.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Adjust font sizes for readability.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52" y="2642729"/>
            <a:ext cx="3236097" cy="222626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843" y="2642729"/>
            <a:ext cx="3270909" cy="2443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77130" y="2330605"/>
            <a:ext cx="1946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Excel Default Scatter Plot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3657" y="2381119"/>
            <a:ext cx="187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Customized Scatter Plot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862" y="5338930"/>
            <a:ext cx="2234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No title, no axis labels, poor format on axis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598" y="5216477"/>
            <a:ext cx="28838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</a:rPr>
              <a:t>Note: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If you add a fitted regression (which Excel calls a “trend”) you are suggesting cause-and-effect. Do higher college graduation rates lead to higher per capita income in a state?</a:t>
            </a:r>
          </a:p>
        </p:txBody>
      </p:sp>
      <p:sp>
        <p:nvSpPr>
          <p:cNvPr id="3" name="Up Arrow 2"/>
          <p:cNvSpPr/>
          <p:nvPr/>
        </p:nvSpPr>
        <p:spPr>
          <a:xfrm>
            <a:off x="2114026" y="4991450"/>
            <a:ext cx="268447" cy="22502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866862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1 – Basic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33977" y="1324280"/>
            <a:ext cx="32351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EDITING A CHART</a:t>
            </a:r>
          </a:p>
          <a:p>
            <a:endParaRPr lang="en-US" sz="1100" b="1" dirty="0"/>
          </a:p>
          <a:p>
            <a:r>
              <a:rPr lang="en-US" sz="1100" dirty="0"/>
              <a:t>To customize a chart, click on it. Its border will change to show that it has been selected, and the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Design</a:t>
            </a:r>
            <a:r>
              <a:rPr lang="en-US" sz="1100" i="1" dirty="0"/>
              <a:t> </a:t>
            </a:r>
            <a:r>
              <a:rPr lang="en-US" sz="1100" dirty="0"/>
              <a:t>and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Format</a:t>
            </a:r>
            <a:r>
              <a:rPr lang="en-US" sz="1100" i="1" dirty="0"/>
              <a:t> </a:t>
            </a:r>
            <a:r>
              <a:rPr lang="en-US" sz="1100" dirty="0"/>
              <a:t>ribbons will become active (at the top of the screen) to let you edit the chart features using the drop-down menus. </a:t>
            </a:r>
          </a:p>
          <a:p>
            <a:endParaRPr lang="en-US" sz="1100" dirty="0"/>
          </a:p>
          <a:p>
            <a:r>
              <a:rPr lang="en-US" sz="1100" dirty="0"/>
              <a:t>Explore the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Format</a:t>
            </a:r>
            <a:r>
              <a:rPr lang="en-US" sz="1100" dirty="0"/>
              <a:t> and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Design</a:t>
            </a:r>
            <a:r>
              <a:rPr lang="en-US" sz="1100" dirty="0"/>
              <a:t> options until you are satisfied with the graph’s appearance.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14" y="1324281"/>
            <a:ext cx="6307335" cy="4749348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7084843" y="4642955"/>
            <a:ext cx="310393" cy="2721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/>
          <p:cNvSpPr/>
          <p:nvPr/>
        </p:nvSpPr>
        <p:spPr>
          <a:xfrm>
            <a:off x="7084843" y="2063692"/>
            <a:ext cx="310393" cy="30200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8934275" y="3280095"/>
            <a:ext cx="289418" cy="3355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978" y="3772576"/>
            <a:ext cx="3439490" cy="22814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4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1098126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1 – Basic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86" y="1458555"/>
            <a:ext cx="449408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EDITING A CHART</a:t>
            </a:r>
          </a:p>
          <a:p>
            <a:endParaRPr lang="en-US" sz="1100" dirty="0"/>
          </a:p>
          <a:p>
            <a:r>
              <a:rPr lang="en-US" sz="1100" dirty="0"/>
              <a:t>For a line graph, Excel uses 1, 2, 3, … for the X-axis labels. To replace (e.g., with year labels) click on the graph and choose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Select Data</a:t>
            </a:r>
            <a:r>
              <a:rPr lang="en-US" sz="1100" dirty="0"/>
              <a:t>. Click in the white space by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Horizontal (Category) axis labels </a:t>
            </a:r>
            <a:r>
              <a:rPr lang="en-US" sz="1100" dirty="0"/>
              <a:t>and enter the cell range for the </a:t>
            </a:r>
            <a:r>
              <a:rPr lang="en-US" sz="1100" i="1" dirty="0"/>
              <a:t>X</a:t>
            </a:r>
            <a:r>
              <a:rPr lang="en-US" sz="1100" dirty="0"/>
              <a:t>-axis labels.</a:t>
            </a:r>
          </a:p>
          <a:p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024" y="1458555"/>
            <a:ext cx="4214547" cy="432693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6" y="2735828"/>
            <a:ext cx="4755735" cy="3229014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5194169" y="4251489"/>
            <a:ext cx="4166647" cy="1696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4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665056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1 – Basic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5356" y="1465550"/>
            <a:ext cx="370787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EDITING A CHART</a:t>
            </a:r>
          </a:p>
          <a:p>
            <a:endParaRPr lang="en-US" sz="1100" dirty="0"/>
          </a:p>
          <a:p>
            <a:r>
              <a:rPr lang="en-US" sz="1100" dirty="0"/>
              <a:t>Instead of using the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Format</a:t>
            </a:r>
            <a:r>
              <a:rPr lang="en-US" sz="1100" dirty="0"/>
              <a:t> and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Design</a:t>
            </a:r>
            <a:r>
              <a:rPr lang="en-US" sz="1100" dirty="0"/>
              <a:t> ribbons, you can simply right-click on any feature of your graph (e.g., chart area, plot area, </a:t>
            </a:r>
            <a:r>
              <a:rPr lang="en-US" sz="1100" i="1" dirty="0"/>
              <a:t>X</a:t>
            </a:r>
            <a:r>
              <a:rPr lang="en-US" sz="1100" dirty="0"/>
              <a:t>-axis, </a:t>
            </a:r>
            <a:r>
              <a:rPr lang="en-US" sz="1100" i="1" dirty="0"/>
              <a:t>Y</a:t>
            </a:r>
            <a:r>
              <a:rPr lang="en-US" sz="1100" dirty="0"/>
              <a:t>-axis, chart type). For example, to improve the axis scale, right-click on the axis and choose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Format Axis</a:t>
            </a:r>
            <a:r>
              <a:rPr lang="en-US" sz="1100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784" y="1465550"/>
            <a:ext cx="2273024" cy="4192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366" y="2563761"/>
            <a:ext cx="3695492" cy="227668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37" y="2987229"/>
            <a:ext cx="3480007" cy="2526687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4322854" y="3786010"/>
            <a:ext cx="310393" cy="2721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597366" y="1465550"/>
            <a:ext cx="32528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To add or change colors, click on the chart area or plot area. Explore the options until you are satisfied with the graph’s appearance.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080121" y="2142340"/>
            <a:ext cx="289418" cy="3355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171900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86" y="2745662"/>
            <a:ext cx="4334848" cy="260395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1 – Basic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062" y="1370434"/>
            <a:ext cx="45720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TRENDLINE</a:t>
            </a:r>
          </a:p>
          <a:p>
            <a:pPr algn="ctr"/>
            <a:endParaRPr lang="en-US" sz="11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100" dirty="0"/>
              <a:t>If you wish to add a fitted trend to a line chart, right-click on the data series and choose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Add </a:t>
            </a:r>
            <a:r>
              <a:rPr lang="en-US" sz="1100" b="1" dirty="0" err="1">
                <a:solidFill>
                  <a:schemeClr val="accent1">
                    <a:lumMod val="75000"/>
                  </a:schemeClr>
                </a:solidFill>
              </a:rPr>
              <a:t>Trendline</a:t>
            </a:r>
            <a:r>
              <a:rPr lang="en-US" sz="1100" dirty="0"/>
              <a:t>. By default, the fitted trend will be linear. In this example, the fitted linear trend suggests that, on average, Porsche sales have increased by 1099 units annually over this 15 year period.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668" y="1370434"/>
            <a:ext cx="2273438" cy="47877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14826" y="4774300"/>
            <a:ext cx="24562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You can extrapolate the trend, as shown here for two periods (but there is no guarantee the forecast will be credible). </a:t>
            </a:r>
          </a:p>
          <a:p>
            <a:endParaRPr lang="en-US" sz="1100" dirty="0"/>
          </a:p>
          <a:p>
            <a:r>
              <a:rPr lang="en-US" sz="1100" dirty="0"/>
              <a:t>There is an option to display the trend equation and its </a:t>
            </a:r>
            <a:r>
              <a:rPr lang="en-US" sz="1100" i="1" dirty="0"/>
              <a:t>R</a:t>
            </a:r>
            <a:r>
              <a:rPr lang="en-US" sz="1100" baseline="30000" dirty="0"/>
              <a:t>2</a:t>
            </a:r>
            <a:r>
              <a:rPr lang="en-US" sz="1100" dirty="0"/>
              <a:t> statistic (a measure of “fit” of the line).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117" y="1275412"/>
            <a:ext cx="283890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By default, the fitted trend will be linear. While a linear trend is easy to interpret, it may not be the best choice. </a:t>
            </a:r>
          </a:p>
          <a:p>
            <a:endParaRPr lang="en-US" sz="1100" dirty="0"/>
          </a:p>
          <a:p>
            <a:r>
              <a:rPr lang="en-US" sz="1100" dirty="0"/>
              <a:t>After fitting the trend, you can click on the trend line and pick a different trend (or edit line color, style, and thickness).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148" y="3243980"/>
            <a:ext cx="1962150" cy="1409700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 flipH="1">
            <a:off x="6652728" y="1667419"/>
            <a:ext cx="1442112" cy="9638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06870" y="2482695"/>
            <a:ext cx="514224" cy="33550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5484347" y="4758618"/>
            <a:ext cx="2102809" cy="28312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5483009" y="5488014"/>
            <a:ext cx="1742337" cy="47964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endCxn id="18" idx="3"/>
          </p:cNvCxnSpPr>
          <p:nvPr/>
        </p:nvCxnSpPr>
        <p:spPr>
          <a:xfrm flipH="1" flipV="1">
            <a:off x="7587156" y="4900179"/>
            <a:ext cx="462538" cy="3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7259217" y="5654352"/>
            <a:ext cx="955609" cy="734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own Arrow 25"/>
          <p:cNvSpPr/>
          <p:nvPr/>
        </p:nvSpPr>
        <p:spPr>
          <a:xfrm>
            <a:off x="9153514" y="2834518"/>
            <a:ext cx="289418" cy="3355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184657" y="5616852"/>
            <a:ext cx="34533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If the displayed trend line equation is too small, you can enlarge its font (as was done here).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2183363" y="3554963"/>
            <a:ext cx="765110" cy="2099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153506" y="3238791"/>
            <a:ext cx="1515631" cy="38117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039279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2 - Histograms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2608049" y="3090407"/>
            <a:ext cx="3102869" cy="27824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HOW MANY BINS?</a:t>
            </a:r>
          </a:p>
          <a:p>
            <a:endParaRPr lang="en-US" sz="1100" i="1" dirty="0"/>
          </a:p>
          <a:p>
            <a:r>
              <a:rPr lang="en-US" sz="1100" i="1" dirty="0" err="1"/>
              <a:t>Sturges</a:t>
            </a:r>
            <a:r>
              <a:rPr lang="en-US" sz="1100" i="1" dirty="0"/>
              <a:t>' Rule </a:t>
            </a:r>
            <a:r>
              <a:rPr lang="en-US" sz="1100" dirty="0"/>
              <a:t>suggests that the ideal number of bins (</a:t>
            </a:r>
            <a:r>
              <a:rPr lang="en-US" sz="1100" i="1" dirty="0"/>
              <a:t>k</a:t>
            </a:r>
            <a:r>
              <a:rPr lang="en-US" sz="1100" dirty="0"/>
              <a:t>) for a histogram of </a:t>
            </a:r>
            <a:r>
              <a:rPr lang="en-US" sz="1100" i="1" dirty="0"/>
              <a:t>n</a:t>
            </a:r>
            <a:r>
              <a:rPr lang="en-US" sz="1100" dirty="0"/>
              <a:t> observations is:</a:t>
            </a:r>
          </a:p>
          <a:p>
            <a:endParaRPr lang="en-US" sz="1100" dirty="0"/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/>
              <a:t>k</a:t>
            </a:r>
            <a:r>
              <a:rPr lang="en-US" sz="1100" dirty="0"/>
              <a:t> = 1 + log</a:t>
            </a:r>
            <a:r>
              <a:rPr lang="en-US" sz="1100" baseline="-25000" dirty="0"/>
              <a:t>2</a:t>
            </a:r>
            <a:r>
              <a:rPr lang="en-US" sz="1100" dirty="0"/>
              <a:t>(</a:t>
            </a:r>
            <a:r>
              <a:rPr lang="en-US" sz="1100" i="1" dirty="0"/>
              <a:t>n</a:t>
            </a:r>
            <a:r>
              <a:rPr lang="en-US" sz="1100" dirty="0"/>
              <a:t>) or </a:t>
            </a:r>
            <a:r>
              <a:rPr lang="en-US" sz="1100" i="1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1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= 1 + 3.3 log</a:t>
            </a:r>
            <a:r>
              <a:rPr lang="en-US" sz="1100" baseline="-250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en-US" sz="11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100" i="1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1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US" sz="1100" i="1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1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= 117 observations,</a:t>
            </a:r>
            <a:r>
              <a:rPr lang="en-US" sz="11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100" baseline="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Sturges</a:t>
            </a:r>
            <a:r>
              <a:rPr lang="en-US" sz="11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' Rule suggests: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baseline="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1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= 1 + 3.3 log</a:t>
            </a:r>
            <a:r>
              <a:rPr lang="en-US" sz="1100" baseline="-250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en-US" sz="11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(117) = 1 + 3.3 (2.068) = 7.87 or 8 bins.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only a suggestion. Define any bins you wish to get </a:t>
            </a:r>
            <a:r>
              <a:rPr lang="en-US" sz="11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“nice” bin limits.</a:t>
            </a:r>
            <a:endParaRPr lang="en-US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527" y="4018827"/>
            <a:ext cx="738518" cy="1611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559" y="4511067"/>
            <a:ext cx="738518" cy="11192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591" y="4608852"/>
            <a:ext cx="738518" cy="9962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03" y="3298170"/>
            <a:ext cx="1745649" cy="26213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5357" y="2360083"/>
            <a:ext cx="46595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</a:rPr>
              <a:t>Example:</a:t>
            </a:r>
            <a:r>
              <a:rPr lang="en-US" sz="1100" dirty="0"/>
              <a:t> caffeine content of </a:t>
            </a:r>
            <a:r>
              <a:rPr lang="en-US" sz="1100" i="1" dirty="0"/>
              <a:t>n</a:t>
            </a:r>
            <a:r>
              <a:rPr lang="en-US" sz="1100" dirty="0"/>
              <a:t> = 117 soft drinks. We examine the data and discover that its range is from 0.0 to 21.0. Our bins must cover this range.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803" y="1291204"/>
            <a:ext cx="421262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HISTOGRAM</a:t>
            </a:r>
          </a:p>
          <a:p>
            <a:endParaRPr lang="en-US" sz="1100" dirty="0"/>
          </a:p>
          <a:p>
            <a:r>
              <a:rPr lang="en-US" sz="1100" dirty="0"/>
              <a:t>A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histogram</a:t>
            </a:r>
            <a:r>
              <a:rPr lang="en-US" sz="1100" dirty="0"/>
              <a:t> is a column chart whose </a:t>
            </a:r>
            <a:r>
              <a:rPr lang="en-US" sz="1100" i="1" dirty="0"/>
              <a:t>Y</a:t>
            </a:r>
            <a:r>
              <a:rPr lang="en-US" sz="1100" dirty="0"/>
              <a:t>-axis shows the number of data values (or a percentage) within each bin of a frequency distribution and whose </a:t>
            </a:r>
            <a:r>
              <a:rPr lang="en-US" sz="1100" i="1" dirty="0"/>
              <a:t>X</a:t>
            </a:r>
            <a:r>
              <a:rPr lang="en-US" sz="1100" dirty="0"/>
              <a:t>-axis ticks show the end points of each bin. 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985" y="1688593"/>
            <a:ext cx="3546893" cy="21441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35765" y="2806156"/>
            <a:ext cx="15170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Note: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Excel puts its </a:t>
            </a:r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-axis labels in the middle of each column, so they do not align with the bin limits.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75524" y="2958878"/>
            <a:ext cx="304800" cy="2630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5905500" y="4695825"/>
            <a:ext cx="304800" cy="2648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533668" y="4515693"/>
            <a:ext cx="738518" cy="1167503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Up Arrow 24"/>
          <p:cNvSpPr/>
          <p:nvPr/>
        </p:nvSpPr>
        <p:spPr>
          <a:xfrm>
            <a:off x="8732893" y="4007709"/>
            <a:ext cx="323850" cy="30360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7345099" y="3596699"/>
            <a:ext cx="790796" cy="857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53503" y="3596699"/>
            <a:ext cx="250556" cy="20955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" descr="C:\Users\doane\AppData\Local\Microsoft\Windows\Temporary Internet Files\Content.IE5\YJVGYIN5\MP900439244[1]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350" y="2305290"/>
            <a:ext cx="711395" cy="47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8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554667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2 - histograms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2581" y="1183643"/>
            <a:ext cx="445265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TWO METHODS</a:t>
            </a:r>
          </a:p>
          <a:p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100" dirty="0"/>
              <a:t>There are two ways to make a histogram in Excel for Mac. Their advantages and disadvantages are summarized here. The final result will look about the same after some editing.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52721"/>
              </p:ext>
            </p:extLst>
          </p:nvPr>
        </p:nvGraphicFramePr>
        <p:xfrm>
          <a:off x="1335603" y="2280621"/>
          <a:ext cx="857280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7857">
                  <a:extLst>
                    <a:ext uri="{9D8B030D-6E8A-4147-A177-3AD203B41FA5}">
                      <a16:colId xmlns:a16="http://schemas.microsoft.com/office/drawing/2014/main" val="1825880440"/>
                    </a:ext>
                  </a:extLst>
                </a:gridCol>
                <a:gridCol w="2257348">
                  <a:extLst>
                    <a:ext uri="{9D8B030D-6E8A-4147-A177-3AD203B41FA5}">
                      <a16:colId xmlns:a16="http://schemas.microsoft.com/office/drawing/2014/main" val="423461206"/>
                    </a:ext>
                  </a:extLst>
                </a:gridCol>
                <a:gridCol w="2857602">
                  <a:extLst>
                    <a:ext uri="{9D8B030D-6E8A-4147-A177-3AD203B41FA5}">
                      <a16:colId xmlns:a16="http://schemas.microsoft.com/office/drawing/2014/main" val="979041183"/>
                    </a:ext>
                  </a:extLst>
                </a:gridCol>
              </a:tblGrid>
              <a:tr h="12235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601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Method A. </a:t>
                      </a:r>
                      <a:r>
                        <a:rPr lang="en-US" sz="1100" dirty="0"/>
                        <a:t>Use the </a:t>
                      </a:r>
                      <a:r>
                        <a:rPr lang="en-US" sz="1100" dirty="0">
                          <a:solidFill>
                            <a:srgbClr val="C00000"/>
                          </a:solidFill>
                        </a:rPr>
                        <a:t>Data Analysis </a:t>
                      </a:r>
                      <a:r>
                        <a:rPr lang="en-US" sz="1100" dirty="0"/>
                        <a:t>tool</a:t>
                      </a:r>
                      <a:r>
                        <a:rPr lang="en-US" sz="1100" baseline="0" dirty="0"/>
                        <a:t> menu</a:t>
                      </a:r>
                      <a:r>
                        <a:rPr lang="en-US" sz="1100" dirty="0"/>
                        <a:t> with bins that you define</a:t>
                      </a:r>
                      <a:r>
                        <a:rPr lang="en-US" sz="1100" baseline="0" dirty="0"/>
                        <a:t> (or automatic bins)</a:t>
                      </a:r>
                      <a:r>
                        <a:rPr lang="en-US" sz="11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Quick and easy. Allows choice of bins.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Weird bin limits if automatic</a:t>
                      </a:r>
                      <a:r>
                        <a:rPr lang="en-US" sz="1100" baseline="0" dirty="0"/>
                        <a:t> bins are chosen</a:t>
                      </a:r>
                      <a:r>
                        <a:rPr lang="en-US" sz="1100" dirty="0"/>
                        <a:t>. Requires editing.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8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Method B. </a:t>
                      </a:r>
                      <a:r>
                        <a:rPr lang="en-US" sz="1100" dirty="0"/>
                        <a:t>Make a bar chart using the </a:t>
                      </a:r>
                      <a:r>
                        <a:rPr lang="en-US" sz="1100" dirty="0">
                          <a:solidFill>
                            <a:srgbClr val="C00000"/>
                          </a:solidFill>
                        </a:rPr>
                        <a:t>=FREQUENCY </a:t>
                      </a:r>
                      <a:r>
                        <a:rPr lang="en-US" sz="1100" dirty="0"/>
                        <a:t>array function with your bins.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Allows you full control.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Requires</a:t>
                      </a:r>
                      <a:r>
                        <a:rPr lang="en-US" sz="1100" baseline="0" dirty="0"/>
                        <a:t> the array function </a:t>
                      </a:r>
                      <a:r>
                        <a:rPr lang="en-US" sz="1100" baseline="0" dirty="0">
                          <a:solidFill>
                            <a:srgbClr val="C00000"/>
                          </a:solidFill>
                        </a:rPr>
                        <a:t>=FREQUENCY(data range, bin range)</a:t>
                      </a:r>
                      <a:r>
                        <a:rPr lang="en-US" sz="1100" baseline="0" dirty="0"/>
                        <a:t>.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325414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172" y="3929009"/>
            <a:ext cx="2999416" cy="19492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843" y="3972982"/>
            <a:ext cx="2207738" cy="1875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963" y="3929947"/>
            <a:ext cx="3244330" cy="19612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2821" y="3687559"/>
            <a:ext cx="916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Method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039" y="3625302"/>
            <a:ext cx="916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Method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197" y="3667399"/>
            <a:ext cx="16612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Method B (edited)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208420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2 - histograms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888" y="3696424"/>
            <a:ext cx="3738355" cy="2428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236" y="2435366"/>
            <a:ext cx="3606759" cy="157057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825" y="4456432"/>
            <a:ext cx="1757854" cy="15992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6689" y="4301530"/>
            <a:ext cx="2720829" cy="17681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5357" y="2435367"/>
            <a:ext cx="15242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Step 1: </a:t>
            </a:r>
            <a:r>
              <a:rPr lang="en-US" sz="1100" dirty="0"/>
              <a:t>Examine the data and set up appropriate bins.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586" y="3296385"/>
            <a:ext cx="1036928" cy="1497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586" y="5245189"/>
            <a:ext cx="12794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</a:rPr>
              <a:t>Note: </a:t>
            </a:r>
            <a:r>
              <a:rPr lang="en-US" sz="1100" dirty="0"/>
              <a:t>Excel only looks at the upper bin limit.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6090" y="2443631"/>
            <a:ext cx="3222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Step 2: </a:t>
            </a:r>
            <a:r>
              <a:rPr lang="en-US" sz="1100" dirty="0"/>
              <a:t>From the </a:t>
            </a:r>
            <a:r>
              <a:rPr lang="en-US" sz="1100" dirty="0">
                <a:solidFill>
                  <a:srgbClr val="C00000"/>
                </a:solidFill>
              </a:rPr>
              <a:t>Data</a:t>
            </a:r>
            <a:r>
              <a:rPr lang="en-US" sz="1100" dirty="0"/>
              <a:t> ribbon, open the Data </a:t>
            </a:r>
            <a:r>
              <a:rPr lang="en-US" sz="1100" dirty="0">
                <a:solidFill>
                  <a:srgbClr val="C00000"/>
                </a:solidFill>
              </a:rPr>
              <a:t>Analysis</a:t>
            </a:r>
            <a:r>
              <a:rPr lang="en-US" sz="1100" dirty="0"/>
              <a:t> menu and choose </a:t>
            </a:r>
            <a:r>
              <a:rPr lang="en-US" sz="1100" dirty="0">
                <a:solidFill>
                  <a:srgbClr val="C00000"/>
                </a:solidFill>
              </a:rPr>
              <a:t>Histogram</a:t>
            </a:r>
            <a:r>
              <a:rPr lang="en-US" sz="1100" dirty="0"/>
              <a:t>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586" y="1228539"/>
            <a:ext cx="7722872" cy="104204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 flipH="1">
            <a:off x="6959424" y="1690990"/>
            <a:ext cx="984425" cy="250026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 flipH="1">
            <a:off x="1136605" y="3650443"/>
            <a:ext cx="504216" cy="116205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56089" y="2956848"/>
            <a:ext cx="3222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Step 3: </a:t>
            </a:r>
            <a:r>
              <a:rPr lang="en-US" sz="1100" dirty="0"/>
              <a:t>Enter the data range, bin range, and chart output location.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8821" y="2581275"/>
            <a:ext cx="271954" cy="2849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/>
          <p:cNvSpPr/>
          <p:nvPr/>
        </p:nvSpPr>
        <p:spPr>
          <a:xfrm>
            <a:off x="1023634" y="4910499"/>
            <a:ext cx="257174" cy="2476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>
            <a:off x="3838574" y="3470065"/>
            <a:ext cx="266701" cy="2446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/>
          <p:nvPr/>
        </p:nvSpPr>
        <p:spPr>
          <a:xfrm>
            <a:off x="6019983" y="4625520"/>
            <a:ext cx="271954" cy="2849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323310" y="4170725"/>
            <a:ext cx="18033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Method A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6835" y="1585170"/>
            <a:ext cx="1851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METHOD A</a:t>
            </a:r>
          </a:p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Data Analysis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8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754259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2 - histograms</a:t>
            </a:r>
          </a:p>
        </p:txBody>
      </p:sp>
      <p:sp>
        <p:nvSpPr>
          <p:cNvPr id="7" name="TextBox 8"/>
          <p:cNvSpPr txBox="1"/>
          <p:nvPr/>
        </p:nvSpPr>
        <p:spPr>
          <a:xfrm>
            <a:off x="7993931" y="1822022"/>
            <a:ext cx="2840756" cy="50091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i="0" baseline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Step 1: </a:t>
            </a:r>
            <a:r>
              <a:rPr lang="en-US" sz="1100" i="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Create “nice” bins that cover the range (only the upper bin limits are used).</a:t>
            </a:r>
          </a:p>
          <a:p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7993931" y="2431980"/>
            <a:ext cx="2390471" cy="40750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2. </a:t>
            </a:r>
            <a:r>
              <a:rPr lang="en-US" dirty="0"/>
              <a:t>Create a blank column for frequencies. </a:t>
            </a:r>
          </a:p>
          <a:p>
            <a:endParaRPr lang="en-US" sz="1100" dirty="0"/>
          </a:p>
        </p:txBody>
      </p:sp>
      <p:sp>
        <p:nvSpPr>
          <p:cNvPr id="10" name="TextBox 8"/>
          <p:cNvSpPr txBox="1"/>
          <p:nvPr/>
        </p:nvSpPr>
        <p:spPr>
          <a:xfrm>
            <a:off x="7993931" y="2926617"/>
            <a:ext cx="2986303" cy="102013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3. </a:t>
            </a:r>
            <a:r>
              <a:rPr lang="en-US" dirty="0"/>
              <a:t>Highlight the empty frequency cells and type the array function in the edit window. Its syntax is </a:t>
            </a:r>
            <a:r>
              <a:rPr lang="en-US" sz="1100" i="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100" i="0" baseline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100" i="0" baseline="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FREQUENCY(data range, bin range)</a:t>
            </a:r>
            <a:r>
              <a:rPr lang="en-US" sz="1100" i="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dirty="0"/>
              <a:t>T</a:t>
            </a:r>
            <a:r>
              <a:rPr lang="en-US" sz="1100" i="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hen </a:t>
            </a:r>
            <a:r>
              <a:rPr lang="en-US" sz="1100" i="1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simultaneously</a:t>
            </a:r>
            <a:r>
              <a:rPr lang="en-US" sz="1100" i="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press </a:t>
            </a:r>
            <a:r>
              <a:rPr lang="en-US" sz="1100" i="0" baseline="0" dirty="0" err="1"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Cmd</a:t>
            </a:r>
            <a:r>
              <a:rPr lang="en-US" sz="1100" i="0" baseline="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-Shift-Enter</a:t>
            </a:r>
            <a:r>
              <a:rPr lang="en-US" sz="1100" i="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100" dirty="0"/>
          </a:p>
        </p:txBody>
      </p:sp>
      <p:sp>
        <p:nvSpPr>
          <p:cNvPr id="11" name="TextBox 8"/>
          <p:cNvSpPr txBox="1"/>
          <p:nvPr/>
        </p:nvSpPr>
        <p:spPr>
          <a:xfrm>
            <a:off x="7993931" y="4092453"/>
            <a:ext cx="2490484" cy="45592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i="0" baseline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Step 4. </a:t>
            </a:r>
            <a:r>
              <a:rPr lang="en-US" sz="1100" i="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Highlight the frequencies and insert a</a:t>
            </a:r>
            <a:r>
              <a:rPr lang="en-US" sz="1100" i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column chart.</a:t>
            </a:r>
            <a:endParaRPr lang="en-US" sz="1100" dirty="0"/>
          </a:p>
        </p:txBody>
      </p:sp>
      <p:sp>
        <p:nvSpPr>
          <p:cNvPr id="12" name="TextBox 8"/>
          <p:cNvSpPr txBox="1"/>
          <p:nvPr/>
        </p:nvSpPr>
        <p:spPr>
          <a:xfrm>
            <a:off x="7998480" y="4629933"/>
            <a:ext cx="2628596" cy="4984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5. </a:t>
            </a:r>
            <a:r>
              <a:rPr lang="en-US" dirty="0"/>
              <a:t>Edit the chart, e.g., widen the bars and reduce gap width.</a:t>
            </a:r>
            <a:endParaRPr lang="en-US" sz="1100" dirty="0"/>
          </a:p>
          <a:p>
            <a:endParaRPr lang="en-US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81" y="1307603"/>
            <a:ext cx="7163783" cy="4352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80492" y="1221144"/>
            <a:ext cx="1851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METHOD B</a:t>
            </a:r>
          </a:p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Do-It-Yourself</a:t>
            </a:r>
          </a:p>
        </p:txBody>
      </p:sp>
      <p:cxnSp>
        <p:nvCxnSpPr>
          <p:cNvPr id="17" name="Straight Arrow Connector 16"/>
          <p:cNvCxnSpPr>
            <a:stCxn id="10" idx="1"/>
          </p:cNvCxnSpPr>
          <p:nvPr/>
        </p:nvCxnSpPr>
        <p:spPr>
          <a:xfrm flipH="1" flipV="1">
            <a:off x="3724277" y="2438402"/>
            <a:ext cx="4269654" cy="9982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29261" y="5209901"/>
            <a:ext cx="2005425" cy="792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</a:rPr>
              <a:t>Note: </a:t>
            </a:r>
            <a:r>
              <a:rPr lang="en-US" sz="1100" dirty="0"/>
              <a:t>An array function has { } brackets. Its range cannot be edited except as a whole.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931" y="5193739"/>
            <a:ext cx="758207" cy="4584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4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855799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3 – scatter plots</a:t>
            </a:r>
          </a:p>
        </p:txBody>
      </p:sp>
      <p:sp>
        <p:nvSpPr>
          <p:cNvPr id="11" name="TextBox 8"/>
          <p:cNvSpPr txBox="1"/>
          <p:nvPr/>
        </p:nvSpPr>
        <p:spPr>
          <a:xfrm>
            <a:off x="8387176" y="1445640"/>
            <a:ext cx="2205533" cy="3467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i="0" baseline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Step 1: </a:t>
            </a:r>
            <a:r>
              <a:rPr lang="en-US" sz="1100" i="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en-US" sz="1100" i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en-US" sz="1100" i="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ick</a:t>
            </a:r>
            <a:r>
              <a:rPr lang="en-US" sz="1100" i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on the dots in your scatter plot.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8427665" y="1951500"/>
            <a:ext cx="2760808" cy="40168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2. </a:t>
            </a:r>
            <a:r>
              <a:rPr lang="en-US" dirty="0"/>
              <a:t>Right-click and choose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Add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Trendline</a:t>
            </a:r>
            <a:r>
              <a:rPr lang="en-US" dirty="0"/>
              <a:t>. The default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Linear</a:t>
            </a:r>
            <a:r>
              <a:rPr lang="en-US" dirty="0"/>
              <a:t>.</a:t>
            </a:r>
          </a:p>
          <a:p>
            <a:endParaRPr lang="en-US" sz="1100" dirty="0"/>
          </a:p>
        </p:txBody>
      </p:sp>
      <p:sp>
        <p:nvSpPr>
          <p:cNvPr id="13" name="TextBox 8"/>
          <p:cNvSpPr txBox="1"/>
          <p:nvPr/>
        </p:nvSpPr>
        <p:spPr>
          <a:xfrm>
            <a:off x="8427665" y="2471209"/>
            <a:ext cx="2332322" cy="41246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Step 3. </a:t>
            </a:r>
            <a:r>
              <a:rPr lang="en-US" dirty="0"/>
              <a:t>Click the options to display the equation and </a:t>
            </a:r>
            <a:r>
              <a:rPr lang="en-US" i="1" dirty="0"/>
              <a:t>R</a:t>
            </a:r>
            <a:r>
              <a:rPr lang="en-US" baseline="30000" dirty="0"/>
              <a:t>2</a:t>
            </a:r>
            <a:r>
              <a:rPr lang="en-US" dirty="0"/>
              <a:t> of the fitted line.</a:t>
            </a:r>
            <a:endParaRPr lang="en-US" sz="11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94698"/>
            <a:ext cx="5904019" cy="44265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618" y="1604069"/>
            <a:ext cx="2116565" cy="44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27665" y="1082644"/>
            <a:ext cx="1941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To add a trend line: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015761" y="3347399"/>
            <a:ext cx="326404" cy="292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577415" y="2684025"/>
            <a:ext cx="722096" cy="21460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5536775" y="5393732"/>
            <a:ext cx="1645201" cy="401062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824" y="3941262"/>
            <a:ext cx="3165366" cy="211479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27665" y="3078092"/>
            <a:ext cx="2095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Step 4. </a:t>
            </a:r>
            <a:r>
              <a:rPr lang="en-US" sz="1200" dirty="0"/>
              <a:t>Edit the graph to make it more effective.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9250305" y="3605111"/>
            <a:ext cx="253064" cy="2053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5573411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3 – scatter plots</a:t>
            </a:r>
          </a:p>
        </p:txBody>
      </p:sp>
      <p:sp>
        <p:nvSpPr>
          <p:cNvPr id="15" name="TextBox 8"/>
          <p:cNvSpPr txBox="1"/>
          <p:nvPr/>
        </p:nvSpPr>
        <p:spPr>
          <a:xfrm>
            <a:off x="4823814" y="1714458"/>
            <a:ext cx="2375117" cy="312078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SUGGESTIONS</a:t>
            </a:r>
          </a:p>
          <a:p>
            <a:endParaRPr lang="en-US" dirty="0"/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Add a title and axis labels.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Move the trend equation text box to a better location and increase its font size for readability. 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Click on the </a:t>
            </a:r>
            <a:r>
              <a:rPr lang="en-US" dirty="0" err="1"/>
              <a:t>trendline</a:t>
            </a:r>
            <a:r>
              <a:rPr lang="en-US" dirty="0"/>
              <a:t>. Change its color, style, and width.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Right-click on the </a:t>
            </a:r>
            <a:r>
              <a:rPr lang="en-US" i="1" dirty="0"/>
              <a:t>X</a:t>
            </a:r>
            <a:r>
              <a:rPr lang="en-US" dirty="0"/>
              <a:t>-axis and adjust the scale decimals (on the </a:t>
            </a:r>
            <a:r>
              <a:rPr lang="en-US" dirty="0">
                <a:solidFill>
                  <a:srgbClr val="C00000"/>
                </a:solidFill>
              </a:rPr>
              <a:t>Number</a:t>
            </a:r>
            <a:r>
              <a:rPr lang="en-US" dirty="0"/>
              <a:t> menu).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Right-click on the </a:t>
            </a:r>
            <a:r>
              <a:rPr lang="en-US" i="1" dirty="0"/>
              <a:t>Y</a:t>
            </a:r>
            <a:r>
              <a:rPr lang="en-US" dirty="0"/>
              <a:t>-axis and use comma format (on the </a:t>
            </a:r>
            <a:r>
              <a:rPr lang="en-US" dirty="0">
                <a:solidFill>
                  <a:srgbClr val="C00000"/>
                </a:solidFill>
              </a:rPr>
              <a:t>Number</a:t>
            </a:r>
            <a:r>
              <a:rPr lang="en-US" dirty="0"/>
              <a:t> menu).</a:t>
            </a:r>
            <a:endParaRPr lang="en-US" sz="11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63" y="2055092"/>
            <a:ext cx="4122413" cy="2754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49379" y="1732336"/>
            <a:ext cx="12057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Excel default trend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691" y="2055092"/>
            <a:ext cx="3722184" cy="27801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60122" y="1714458"/>
            <a:ext cx="11336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Customized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4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4407472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3 – scatter plots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8091" y="4558110"/>
            <a:ext cx="35530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Question: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Regression treats </a:t>
            </a:r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as the </a:t>
            </a:r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independent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variable, suggesting that each extra percent in college graduation is associated with $919 of extra per capita income. Is that reasonable?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54" y="1566387"/>
            <a:ext cx="3558199" cy="2369657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 flipH="1">
            <a:off x="899370" y="3379525"/>
            <a:ext cx="411060" cy="32758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76179" y="4558110"/>
            <a:ext cx="35640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Option: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The default origin (0, 0) is conservative, but “wastes” much of the graph. Should we change the origin, say to (15, 20000) to reveal more detail?</a:t>
            </a:r>
          </a:p>
        </p:txBody>
      </p:sp>
      <p:sp>
        <p:nvSpPr>
          <p:cNvPr id="14" name="Up Arrow 13"/>
          <p:cNvSpPr/>
          <p:nvPr/>
        </p:nvSpPr>
        <p:spPr>
          <a:xfrm>
            <a:off x="918033" y="4030207"/>
            <a:ext cx="324623" cy="33957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Up Arrow 27"/>
          <p:cNvSpPr/>
          <p:nvPr/>
        </p:nvSpPr>
        <p:spPr>
          <a:xfrm>
            <a:off x="9056413" y="4030207"/>
            <a:ext cx="324623" cy="33957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8"/>
          <p:cNvSpPr txBox="1"/>
          <p:nvPr/>
        </p:nvSpPr>
        <p:spPr>
          <a:xfrm>
            <a:off x="4251489" y="1469759"/>
            <a:ext cx="2673186" cy="24433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OPTIONS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Click on the X or Y axis to adjust the origin (</a:t>
            </a:r>
            <a:r>
              <a:rPr lang="en-US" i="1" dirty="0" err="1"/>
              <a:t>X</a:t>
            </a:r>
            <a:r>
              <a:rPr lang="en-US" baseline="-25000" dirty="0" err="1"/>
              <a:t>min</a:t>
            </a:r>
            <a:r>
              <a:rPr lang="en-US" dirty="0"/>
              <a:t> , </a:t>
            </a:r>
            <a:r>
              <a:rPr lang="en-US" i="1" dirty="0" err="1"/>
              <a:t>Y</a:t>
            </a:r>
            <a:r>
              <a:rPr lang="en-US" baseline="-25000" dirty="0" err="1"/>
              <a:t>min</a:t>
            </a:r>
            <a:r>
              <a:rPr lang="en-US" dirty="0"/>
              <a:t>) if you think that more detail is needed.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 err="1"/>
              <a:t>trendline</a:t>
            </a:r>
            <a:r>
              <a:rPr lang="en-US" dirty="0"/>
              <a:t> does not have to be linear. Click on it and choose a different functional form if you think it would be better.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Click the Chart Area or Plot Area to try different colors, or try styles from the Design ribbon.</a:t>
            </a:r>
          </a:p>
          <a:p>
            <a:endParaRPr lang="en-US" sz="1100" dirty="0"/>
          </a:p>
        </p:txBody>
      </p:sp>
      <p:sp>
        <p:nvSpPr>
          <p:cNvPr id="32" name="TextBox 31"/>
          <p:cNvSpPr txBox="1"/>
          <p:nvPr/>
        </p:nvSpPr>
        <p:spPr>
          <a:xfrm>
            <a:off x="4853605" y="4604276"/>
            <a:ext cx="207107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</a:rPr>
              <a:t>Note: 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A non-linear trend may give a better fit, but may be harder to interpret.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279" y="4139485"/>
            <a:ext cx="758207" cy="4584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4" action="ppaction://hlinksldjump"/>
              </a:rPr>
              <a:t>Back to top menu</a:t>
            </a:r>
            <a:endParaRPr lang="en-US" sz="1200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611" y="1469759"/>
            <a:ext cx="3576976" cy="239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287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3 – SCATTER PLOTS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360809"/>
            <a:ext cx="7951286" cy="10728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4137" y="1889465"/>
            <a:ext cx="1133475" cy="222674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672" y="3893796"/>
            <a:ext cx="3611033" cy="18095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65" y="2640501"/>
            <a:ext cx="3959445" cy="26800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31" y="2726069"/>
            <a:ext cx="1745503" cy="14065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6046" y="2682246"/>
            <a:ext cx="3212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</a:rPr>
              <a:t>Note: </a:t>
            </a:r>
            <a:r>
              <a:rPr lang="en-US" sz="1200" dirty="0"/>
              <a:t>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Regression</a:t>
            </a:r>
            <a:r>
              <a:rPr lang="en-US" sz="1200" dirty="0"/>
              <a:t> option gives you the </a:t>
            </a:r>
            <a:r>
              <a:rPr lang="en-US" sz="1200" i="1" dirty="0"/>
              <a:t>R</a:t>
            </a:r>
            <a:r>
              <a:rPr lang="en-US" sz="1200" baseline="30000" dirty="0"/>
              <a:t>2</a:t>
            </a:r>
            <a:r>
              <a:rPr lang="en-US" sz="1200" dirty="0"/>
              <a:t> and estimated coefficients, but also includes tests of significance.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466" y="4991878"/>
            <a:ext cx="403984" cy="29625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7193169" y="3226062"/>
            <a:ext cx="500409" cy="15029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380488" y="3044611"/>
            <a:ext cx="14613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</a:rPr>
              <a:t>Note:  </a:t>
            </a:r>
            <a:r>
              <a:rPr lang="en-US" sz="1100" dirty="0"/>
              <a:t>The scatter plot </a:t>
            </a:r>
            <a:r>
              <a:rPr lang="en-US" sz="1100" dirty="0" err="1"/>
              <a:t>trendline</a:t>
            </a:r>
            <a:r>
              <a:rPr lang="en-US" sz="1100" dirty="0"/>
              <a:t> shows only these circled statistics.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7974951" y="3226062"/>
            <a:ext cx="292661" cy="3102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788955" y="1395375"/>
            <a:ext cx="1884699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Data Analysis Tools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Use the </a:t>
            </a:r>
            <a:r>
              <a:rPr lang="en-US" sz="1200" dirty="0">
                <a:solidFill>
                  <a:srgbClr val="C00000"/>
                </a:solidFill>
              </a:rPr>
              <a:t>Data Analysis</a:t>
            </a:r>
            <a:r>
              <a:rPr lang="en-US" sz="1200" dirty="0"/>
              <a:t> tools to obtain details of your fitted trend.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8443844" y="1667066"/>
            <a:ext cx="307910" cy="34523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  <p:sp>
        <p:nvSpPr>
          <p:cNvPr id="20" name="Down Arrow 30"/>
          <p:cNvSpPr/>
          <p:nvPr/>
        </p:nvSpPr>
        <p:spPr>
          <a:xfrm>
            <a:off x="4018125" y="3460699"/>
            <a:ext cx="318784" cy="2893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131" y="4223077"/>
            <a:ext cx="2004347" cy="134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203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4 – descriptive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1657" y="1320631"/>
            <a:ext cx="3126326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Do It Yourself Method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From the </a:t>
            </a:r>
            <a:r>
              <a:rPr lang="en-US" sz="1200" dirty="0">
                <a:solidFill>
                  <a:srgbClr val="C00000"/>
                </a:solidFill>
              </a:rPr>
              <a:t>Formulas</a:t>
            </a:r>
            <a:r>
              <a:rPr lang="en-US" sz="1200" dirty="0"/>
              <a:t> ribbon, you can insert a function in a cell to find various statistics, such as the </a:t>
            </a:r>
            <a:r>
              <a:rPr lang="en-US" sz="1200" i="1" dirty="0"/>
              <a:t>X</a:t>
            </a:r>
            <a:r>
              <a:rPr lang="en-US" sz="1200" dirty="0"/>
              <a:t>-</a:t>
            </a:r>
            <a:r>
              <a:rPr lang="en-US" sz="1200" i="1" dirty="0"/>
              <a:t>Y</a:t>
            </a:r>
            <a:r>
              <a:rPr lang="en-US" sz="1200" dirty="0"/>
              <a:t> correlation coefficient.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7" y="3307056"/>
            <a:ext cx="2605129" cy="280833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67" y="1304450"/>
            <a:ext cx="5138363" cy="1172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896" y="3372286"/>
            <a:ext cx="1714500" cy="14573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048" y="2595180"/>
            <a:ext cx="1807219" cy="346716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5667" y="1749298"/>
            <a:ext cx="494676" cy="704834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5204487" y="1774602"/>
            <a:ext cx="494676" cy="704834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15667" y="2640307"/>
            <a:ext cx="2457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Option 1: </a:t>
            </a:r>
            <a:r>
              <a:rPr lang="en-US" sz="1100" dirty="0"/>
              <a:t>Use the </a:t>
            </a:r>
            <a:r>
              <a:rPr lang="en-US" sz="1100" dirty="0">
                <a:solidFill>
                  <a:srgbClr val="C00000"/>
                </a:solidFill>
              </a:rPr>
              <a:t>Formula Builder </a:t>
            </a:r>
            <a:r>
              <a:rPr lang="en-US" sz="1100" dirty="0"/>
              <a:t>to set up the function in a cell.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4185" y="2625175"/>
            <a:ext cx="2084978" cy="5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Option 2: </a:t>
            </a:r>
            <a:r>
              <a:rPr lang="en-US" sz="1100" dirty="0"/>
              <a:t>Use the </a:t>
            </a:r>
            <a:r>
              <a:rPr lang="en-US" sz="1100" dirty="0">
                <a:solidFill>
                  <a:srgbClr val="C00000"/>
                </a:solidFill>
              </a:rPr>
              <a:t>More Functions menu </a:t>
            </a:r>
            <a:r>
              <a:rPr lang="en-US" sz="1100" dirty="0"/>
              <a:t>to view only </a:t>
            </a:r>
            <a:r>
              <a:rPr lang="en-US" sz="1100" dirty="0">
                <a:solidFill>
                  <a:srgbClr val="C00000"/>
                </a:solidFill>
              </a:rPr>
              <a:t>Statistical</a:t>
            </a:r>
            <a:r>
              <a:rPr lang="en-US" sz="1100" dirty="0"/>
              <a:t> functions.</a:t>
            </a:r>
          </a:p>
        </p:txBody>
      </p:sp>
      <p:sp>
        <p:nvSpPr>
          <p:cNvPr id="3" name="Right Arrow 2"/>
          <p:cNvSpPr/>
          <p:nvPr/>
        </p:nvSpPr>
        <p:spPr>
          <a:xfrm>
            <a:off x="5822302" y="3405673"/>
            <a:ext cx="316669" cy="2985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Arrow 3"/>
          <p:cNvSpPr/>
          <p:nvPr/>
        </p:nvSpPr>
        <p:spPr>
          <a:xfrm>
            <a:off x="6531429" y="1660849"/>
            <a:ext cx="307910" cy="34523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207924" y="3569998"/>
            <a:ext cx="22566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</a:rPr>
              <a:t>Note: 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An advantage of entering your own cell functions is that you can modify or update them.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127" y="3077812"/>
            <a:ext cx="758207" cy="45848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7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6419268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4 – descriptive statistics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09" y="1244361"/>
            <a:ext cx="7930142" cy="10700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008" y="2546552"/>
            <a:ext cx="3995829" cy="17147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48415" y="1729417"/>
            <a:ext cx="1043863" cy="240826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49732" y="1198545"/>
            <a:ext cx="252022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Data Analysis Tools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From the </a:t>
            </a:r>
            <a:r>
              <a:rPr lang="en-US" sz="1200" dirty="0">
                <a:solidFill>
                  <a:srgbClr val="C00000"/>
                </a:solidFill>
              </a:rPr>
              <a:t>Data</a:t>
            </a:r>
            <a:r>
              <a:rPr lang="en-US" sz="1200" dirty="0"/>
              <a:t> ribbon, you can obtain common descriptive statistics without entering your own cell formulas.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209" y="5372971"/>
            <a:ext cx="28011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</a:rPr>
              <a:t>Note: 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A disadvantage of using the convenient </a:t>
            </a:r>
            <a:r>
              <a:rPr lang="en-US" sz="1100" dirty="0">
                <a:solidFill>
                  <a:srgbClr val="C00000"/>
                </a:solidFill>
              </a:rPr>
              <a:t>Data Analysis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menu is that you can’t choose the statistics.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399" y="4821312"/>
            <a:ext cx="758207" cy="45848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077" y="3185503"/>
            <a:ext cx="3193869" cy="28320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2844" y="2646200"/>
            <a:ext cx="2866568" cy="3026853"/>
          </a:xfrm>
          <a:prstGeom prst="rect">
            <a:avLst/>
          </a:prstGeom>
        </p:spPr>
      </p:pic>
      <p:sp>
        <p:nvSpPr>
          <p:cNvPr id="12" name="Left Arrow 11"/>
          <p:cNvSpPr/>
          <p:nvPr/>
        </p:nvSpPr>
        <p:spPr>
          <a:xfrm>
            <a:off x="8652201" y="1666220"/>
            <a:ext cx="307910" cy="34523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39" y="2555165"/>
            <a:ext cx="1869231" cy="15264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8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8161350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4 – descriptive statistics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74374" y="1221144"/>
            <a:ext cx="1133475" cy="26505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21144"/>
            <a:ext cx="7723713" cy="4692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1143" y="1198545"/>
            <a:ext cx="2388816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Data Analysis Tools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From the </a:t>
            </a:r>
            <a:r>
              <a:rPr lang="en-US" sz="1200" dirty="0">
                <a:solidFill>
                  <a:srgbClr val="C00000"/>
                </a:solidFill>
              </a:rPr>
              <a:t>Data</a:t>
            </a:r>
            <a:r>
              <a:rPr lang="en-US" sz="1200" dirty="0"/>
              <a:t> ribbon, you can obtain common descriptive statistics without entering your own cell formulas.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3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6010631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5 – pivot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4547" y="1571968"/>
            <a:ext cx="27578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PIVOT TABLE STEPS 1-3</a:t>
            </a:r>
          </a:p>
          <a:p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On the </a:t>
            </a:r>
            <a:r>
              <a:rPr lang="en-US" sz="1200" dirty="0">
                <a:solidFill>
                  <a:srgbClr val="C00000"/>
                </a:solidFill>
              </a:rPr>
              <a:t>Insert</a:t>
            </a:r>
            <a:r>
              <a:rPr lang="en-US" sz="1200" dirty="0"/>
              <a:t> tab, click </a:t>
            </a:r>
            <a:r>
              <a:rPr lang="en-US" sz="1200" dirty="0">
                <a:solidFill>
                  <a:srgbClr val="C00000"/>
                </a:solidFill>
              </a:rPr>
              <a:t>PivotTable</a:t>
            </a:r>
            <a:r>
              <a:rPr lang="en-US" sz="1200" dirty="0"/>
              <a:t>. In the worksheet, your data should be surrounded by a dashed line. If it isn't, click and drag to select your data. 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When you do this, the </a:t>
            </a:r>
            <a:r>
              <a:rPr lang="en-US" sz="1200" dirty="0">
                <a:solidFill>
                  <a:srgbClr val="C00000"/>
                </a:solidFill>
              </a:rPr>
              <a:t>Table/Range</a:t>
            </a:r>
            <a:r>
              <a:rPr lang="en-US" sz="1200" dirty="0"/>
              <a:t> box will automatically fill with your selected cell range.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Choose where to place the pivot table. If you choose </a:t>
            </a:r>
            <a:r>
              <a:rPr lang="en-US" sz="1200" dirty="0">
                <a:solidFill>
                  <a:srgbClr val="C00000"/>
                </a:solidFill>
              </a:rPr>
              <a:t>Existing worksheet</a:t>
            </a:r>
            <a:r>
              <a:rPr lang="en-US" sz="1200" dirty="0"/>
              <a:t>, specify  the upper left corner of the pivot table table’s desired location typing a cell reference (by clicking in a cell). </a:t>
            </a:r>
          </a:p>
          <a:p>
            <a:endParaRPr lang="en-US" sz="1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77" y="1270712"/>
            <a:ext cx="6576818" cy="4955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78614" y="1451295"/>
            <a:ext cx="424556" cy="20655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38230" y="1657847"/>
            <a:ext cx="364531" cy="365667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3322040" y="3296872"/>
            <a:ext cx="704675" cy="18455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3279666" y="4542012"/>
            <a:ext cx="704675" cy="18455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3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5287716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5 – pivot tables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12" y="1221144"/>
            <a:ext cx="7262035" cy="52841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30936" y="2108915"/>
            <a:ext cx="26463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PIVOT TABLE STEPS 4-6</a:t>
            </a:r>
          </a:p>
          <a:p>
            <a:endParaRPr lang="en-US" sz="1200" dirty="0"/>
          </a:p>
          <a:p>
            <a:pPr marL="228600" indent="-228600">
              <a:buFont typeface="+mj-lt"/>
              <a:buAutoNum type="arabicPeriod" startAt="4"/>
            </a:pPr>
            <a:r>
              <a:rPr lang="en-US" sz="1200" dirty="0"/>
              <a:t>On the</a:t>
            </a:r>
            <a:r>
              <a:rPr lang="en-US" sz="1200" dirty="0">
                <a:solidFill>
                  <a:srgbClr val="C00000"/>
                </a:solidFill>
              </a:rPr>
              <a:t> Pivot Table/Analyze</a:t>
            </a:r>
            <a:r>
              <a:rPr lang="en-US" sz="1200" dirty="0"/>
              <a:t> ribbon </a:t>
            </a:r>
            <a:r>
              <a:rPr lang="en-US" sz="1200" dirty="0" err="1"/>
              <a:t>tsab</a:t>
            </a:r>
            <a:r>
              <a:rPr lang="en-US" sz="1200" dirty="0"/>
              <a:t>, click on </a:t>
            </a:r>
            <a:r>
              <a:rPr lang="en-US" sz="1200" dirty="0">
                <a:solidFill>
                  <a:srgbClr val="C00000"/>
                </a:solidFill>
              </a:rPr>
              <a:t>Field Settings</a:t>
            </a:r>
            <a:endParaRPr lang="en-US" sz="1200" dirty="0"/>
          </a:p>
          <a:p>
            <a:pPr marL="228600" indent="-228600">
              <a:buFont typeface="+mj-lt"/>
              <a:buAutoNum type="arabicPeriod" startAt="4"/>
            </a:pPr>
            <a:endParaRPr lang="en-US" sz="1200" dirty="0"/>
          </a:p>
          <a:p>
            <a:pPr marL="228600" indent="-228600">
              <a:buFont typeface="+mj-lt"/>
              <a:buAutoNum type="arabicPeriod" startAt="4"/>
            </a:pPr>
            <a:r>
              <a:rPr lang="en-US" sz="1200" dirty="0"/>
              <a:t>In the </a:t>
            </a:r>
            <a:r>
              <a:rPr lang="en-US" sz="1200" dirty="0">
                <a:solidFill>
                  <a:srgbClr val="C00000"/>
                </a:solidFill>
              </a:rPr>
              <a:t>FIELD NAME </a:t>
            </a:r>
            <a:r>
              <a:rPr lang="en-US" sz="1200" dirty="0"/>
              <a:t>area, check the boxes for fields that you will display. </a:t>
            </a:r>
          </a:p>
          <a:p>
            <a:pPr marL="228600" indent="-228600">
              <a:buFont typeface="+mj-lt"/>
              <a:buAutoNum type="arabicPeriod" startAt="4"/>
            </a:pPr>
            <a:endParaRPr lang="en-US" sz="1200" dirty="0"/>
          </a:p>
          <a:p>
            <a:pPr marL="228600" indent="-228600">
              <a:buFont typeface="+mj-lt"/>
              <a:buAutoNum type="arabicPeriod" startAt="4"/>
            </a:pPr>
            <a:r>
              <a:rPr lang="en-US" sz="1200" dirty="0"/>
              <a:t>Drag the fields to the desired location in the pivot table.  In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Values</a:t>
            </a:r>
            <a:r>
              <a:rPr lang="en-US" sz="1200" dirty="0"/>
              <a:t> area, choose the </a:t>
            </a:r>
            <a:r>
              <a:rPr lang="en-US" sz="1200" i="1" dirty="0"/>
              <a:t>numeric</a:t>
            </a:r>
            <a:r>
              <a:rPr lang="en-US" sz="1200" dirty="0"/>
              <a:t> field that is the focus of your analysis. Choose </a:t>
            </a:r>
            <a:r>
              <a:rPr lang="en-US" sz="1200" i="1" dirty="0"/>
              <a:t>non-numeric</a:t>
            </a:r>
            <a:r>
              <a:rPr lang="en-US" sz="1200" dirty="0"/>
              <a:t> fields (categories, labels, or dates) for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Rows</a:t>
            </a:r>
            <a:r>
              <a:rPr lang="en-US" sz="1200" dirty="0"/>
              <a:t> or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Columns</a:t>
            </a:r>
            <a:r>
              <a:rPr lang="en-US" sz="12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8682" y="1628565"/>
            <a:ext cx="411060" cy="48035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346897" y="1424854"/>
            <a:ext cx="1038835" cy="20371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572165" y="2151961"/>
            <a:ext cx="795079" cy="188567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3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6724073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5 – pivot tables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382" y="4111154"/>
            <a:ext cx="447675" cy="6762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489" y="1941812"/>
            <a:ext cx="3009037" cy="31116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479" y="2478446"/>
            <a:ext cx="3209925" cy="2038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229" y="1472734"/>
            <a:ext cx="26463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OPTIONS</a:t>
            </a:r>
          </a:p>
          <a:p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Once you have created the pivot table, you can edit it (e.g., column width, decimals) for improved readability.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You can make a copy of the table in another location. Highlight the entire table, and use copy-paste. This is useful if you want to edit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Value</a:t>
            </a:r>
            <a:r>
              <a:rPr lang="en-US" sz="1200" dirty="0"/>
              <a:t> field without changing the original table.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To change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Value</a:t>
            </a:r>
            <a:r>
              <a:rPr lang="en-US" sz="1200" dirty="0"/>
              <a:t> field, click on </a:t>
            </a:r>
            <a:r>
              <a:rPr lang="en-US" sz="1200" dirty="0">
                <a:solidFill>
                  <a:srgbClr val="C00000"/>
                </a:solidFill>
              </a:rPr>
              <a:t>Field Settings </a:t>
            </a:r>
            <a:r>
              <a:rPr lang="en-US" sz="1200" dirty="0"/>
              <a:t>in the </a:t>
            </a:r>
            <a:r>
              <a:rPr lang="en-US" sz="1200" dirty="0">
                <a:solidFill>
                  <a:srgbClr val="C00000"/>
                </a:solidFill>
              </a:rPr>
              <a:t>Pivot Table Analyze</a:t>
            </a:r>
            <a:r>
              <a:rPr lang="en-US" sz="1200" dirty="0"/>
              <a:t> ribbon tab. For example, you can display the mean (Average) or the number of data items (Count) in each cell.</a:t>
            </a:r>
          </a:p>
          <a:p>
            <a:endParaRPr lang="en-US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8128933" y="1641266"/>
            <a:ext cx="22734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Original pivot table displaying total square feet of all homes by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933" y="4891677"/>
            <a:ext cx="22734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Copy of pivot table displaying average square feet of homes by 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286" y="3402504"/>
            <a:ext cx="585355" cy="21379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7335951" y="3970300"/>
            <a:ext cx="197189" cy="266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7781731" y="2647840"/>
            <a:ext cx="3082012" cy="954177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7781731" y="3628108"/>
            <a:ext cx="3051843" cy="940586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9198441" y="4376857"/>
            <a:ext cx="253469" cy="4629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9759820" y="2049307"/>
            <a:ext cx="9331" cy="955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9764123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6 – </a:t>
            </a:r>
            <a:r>
              <a:rPr lang="en-US" sz="3200" dirty="0" err="1">
                <a:solidFill>
                  <a:schemeClr val="accent1"/>
                </a:solidFill>
              </a:rPr>
              <a:t>Megastat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8253" y="1459173"/>
            <a:ext cx="28756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INSTALL STEPS 1-3</a:t>
            </a:r>
          </a:p>
          <a:p>
            <a:pPr algn="ctr"/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Purchase* and download the Mac install package from the McGraw-Hill </a:t>
            </a:r>
            <a:r>
              <a:rPr lang="en-US" sz="1200" dirty="0">
                <a:hlinkClick r:id="rId2"/>
              </a:rPr>
              <a:t>website</a:t>
            </a:r>
            <a:r>
              <a:rPr lang="en-US" sz="1200" dirty="0"/>
              <a:t>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In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Downloads</a:t>
            </a:r>
            <a:r>
              <a:rPr lang="en-US" sz="1200" dirty="0"/>
              <a:t> (on the Dock) or using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Finder</a:t>
            </a:r>
            <a:r>
              <a:rPr lang="en-US" sz="1200" dirty="0"/>
              <a:t> double-click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MegaStat.pkg</a:t>
            </a:r>
            <a:r>
              <a:rPr lang="en-US" sz="1200" dirty="0"/>
              <a:t>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You will be guided through a series of steps similar to those shown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8384" y="5387737"/>
            <a:ext cx="2907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MegaStat</a:t>
            </a:r>
            <a:r>
              <a:rPr lang="en-US" sz="1200" dirty="0"/>
              <a:t> is an Excel add-in with easy-to-use menus for statistical analysis on Mac or PC.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" y="5310822"/>
            <a:ext cx="559927" cy="53717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979" y="1418546"/>
            <a:ext cx="5519806" cy="31347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091" y="3365275"/>
            <a:ext cx="5424012" cy="27556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4472" y="4039037"/>
            <a:ext cx="1793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 It costs about $15.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1695362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6 – </a:t>
            </a:r>
            <a:r>
              <a:rPr lang="en-US" sz="3200" dirty="0" err="1">
                <a:solidFill>
                  <a:schemeClr val="accent1"/>
                </a:solidFill>
              </a:rPr>
              <a:t>Megastat</a:t>
            </a:r>
            <a:endParaRPr lang="en-US" sz="3200" dirty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296" y="3176149"/>
            <a:ext cx="4849780" cy="3003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5356" y="1913671"/>
            <a:ext cx="269156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INSTALL STEPS 4-8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 startAt="4"/>
            </a:pPr>
            <a:r>
              <a:rPr lang="en-US" sz="1200" dirty="0"/>
              <a:t>Open Excel.</a:t>
            </a:r>
          </a:p>
          <a:p>
            <a:pPr marL="228600" indent="-228600">
              <a:buFont typeface="+mj-lt"/>
              <a:buAutoNum type="arabicPeriod" startAt="4"/>
            </a:pPr>
            <a:endParaRPr lang="en-US" sz="1200" dirty="0"/>
          </a:p>
          <a:p>
            <a:pPr marL="228600" indent="-228600">
              <a:buFont typeface="+mj-lt"/>
              <a:buAutoNum type="arabicPeriod" startAt="4"/>
            </a:pPr>
            <a:r>
              <a:rPr lang="en-US" sz="1200" dirty="0"/>
              <a:t>On the Excel top menu, choose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Tools -&gt; Excel Add-ins... -&gt; Browse...</a:t>
            </a:r>
          </a:p>
          <a:p>
            <a:pPr marL="228600" indent="-228600">
              <a:buFont typeface="+mj-lt"/>
              <a:buAutoNum type="arabicPeriod" startAt="4"/>
            </a:pPr>
            <a:endParaRPr lang="en-US" sz="1200" dirty="0"/>
          </a:p>
          <a:p>
            <a:pPr marL="228600" indent="-228600">
              <a:buFont typeface="+mj-lt"/>
              <a:buAutoNum type="arabicPeriod" startAt="4"/>
            </a:pPr>
            <a:r>
              <a:rPr lang="en-US" sz="1200" dirty="0"/>
              <a:t>Use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Finder           t</a:t>
            </a:r>
            <a:r>
              <a:rPr lang="en-US" sz="1200" dirty="0"/>
              <a:t>o locate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MegaStat.xlam</a:t>
            </a:r>
            <a:r>
              <a:rPr lang="en-US" sz="1200" dirty="0"/>
              <a:t> in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Applications</a:t>
            </a:r>
            <a:r>
              <a:rPr lang="en-US" sz="1200" dirty="0"/>
              <a:t> or wherever you saved it. Click on the file and then click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Open.</a:t>
            </a:r>
          </a:p>
          <a:p>
            <a:pPr marL="228600" indent="-228600">
              <a:buFont typeface="+mj-lt"/>
              <a:buAutoNum type="arabicPeriod" startAt="4"/>
            </a:pPr>
            <a:endParaRPr lang="en-US" sz="1200" dirty="0"/>
          </a:p>
          <a:p>
            <a:pPr marL="228600" indent="-228600">
              <a:buFont typeface="+mj-lt"/>
              <a:buAutoNum type="arabicPeriod" startAt="4"/>
            </a:pPr>
            <a:r>
              <a:rPr lang="en-US" sz="1200" dirty="0"/>
              <a:t>You will see a pop-up that says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Alert: Copy `MegaStat.xlam</a:t>
            </a:r>
            <a:r>
              <a:rPr lang="en-US" sz="1200" dirty="0"/>
              <a:t> to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Add-ins</a:t>
            </a:r>
            <a:r>
              <a:rPr lang="en-US" sz="1200" dirty="0"/>
              <a:t> folder? Click Yes.</a:t>
            </a:r>
          </a:p>
          <a:p>
            <a:pPr marL="228600" indent="-228600">
              <a:buFont typeface="+mj-lt"/>
              <a:buAutoNum type="arabicPeriod" startAt="4"/>
            </a:pPr>
            <a:endParaRPr lang="en-US" sz="1200" dirty="0"/>
          </a:p>
          <a:p>
            <a:pPr marL="228600" indent="-228600">
              <a:buFont typeface="+mj-lt"/>
              <a:buAutoNum type="arabicPeriod" startAt="4"/>
            </a:pP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MegaStat</a:t>
            </a:r>
            <a:r>
              <a:rPr lang="en-US" sz="1200" dirty="0"/>
              <a:t> should appear checked in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Add-ins</a:t>
            </a:r>
            <a:r>
              <a:rPr lang="en-US" sz="1200" dirty="0"/>
              <a:t> window. Click OK. In Excel 2016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MegaStat</a:t>
            </a:r>
            <a:r>
              <a:rPr lang="en-US" sz="1200" dirty="0"/>
              <a:t> will appear on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en-US" sz="1200" dirty="0"/>
              <a:t> ribbon.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00" y="1399319"/>
            <a:ext cx="5429250" cy="219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078" y="3183318"/>
            <a:ext cx="340469" cy="313448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6508980" y="2416201"/>
            <a:ext cx="344427" cy="3066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8725" y="1681380"/>
            <a:ext cx="1805134" cy="31821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806890" y="1260508"/>
            <a:ext cx="690464" cy="420872"/>
          </a:xfrm>
          <a:prstGeom prst="roundRect">
            <a:avLst>
              <a:gd name="adj" fmla="val 50000"/>
            </a:avLst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3231355" y="4634986"/>
            <a:ext cx="1346392" cy="228518"/>
          </a:xfrm>
          <a:prstGeom prst="roundRect">
            <a:avLst>
              <a:gd name="adj" fmla="val 50000"/>
            </a:avLst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796" y="1134073"/>
            <a:ext cx="2998040" cy="174173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731967" y="5879947"/>
            <a:ext cx="664252" cy="234034"/>
          </a:xfrm>
          <a:prstGeom prst="roundRect">
            <a:avLst>
              <a:gd name="adj" fmla="val 50000"/>
            </a:avLst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7163003" y="2572303"/>
            <a:ext cx="779183" cy="206596"/>
          </a:xfrm>
          <a:prstGeom prst="roundRect">
            <a:avLst>
              <a:gd name="adj" fmla="val 50000"/>
            </a:avLst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/>
          <p:cNvSpPr/>
          <p:nvPr/>
        </p:nvSpPr>
        <p:spPr>
          <a:xfrm>
            <a:off x="8550816" y="2819557"/>
            <a:ext cx="317240" cy="2939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7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9444800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6 – </a:t>
            </a:r>
            <a:r>
              <a:rPr lang="en-US" sz="3200" dirty="0" err="1">
                <a:solidFill>
                  <a:schemeClr val="accent1"/>
                </a:solidFill>
              </a:rPr>
              <a:t>Megastat</a:t>
            </a:r>
            <a:endParaRPr lang="en-US" sz="3200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328431"/>
            <a:ext cx="7755581" cy="1051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62661" y="1664798"/>
            <a:ext cx="1763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MegaStat</a:t>
            </a:r>
            <a:r>
              <a:rPr lang="en-US" sz="1200" dirty="0"/>
              <a:t> will appear on the Excel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en-US" sz="1200" dirty="0"/>
              <a:t> ribbon.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1853" y="1865337"/>
            <a:ext cx="849085" cy="420872"/>
          </a:xfrm>
          <a:prstGeom prst="roundRect">
            <a:avLst>
              <a:gd name="adj" fmla="val 50000"/>
            </a:avLst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55356" y="2622705"/>
            <a:ext cx="3631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Example: </a:t>
            </a:r>
            <a:r>
              <a:rPr lang="en-US" sz="1200" dirty="0"/>
              <a:t>Descriptive statistics for caffeine in </a:t>
            </a:r>
            <a:r>
              <a:rPr lang="en-US" sz="1200" i="1" dirty="0"/>
              <a:t>n</a:t>
            </a:r>
            <a:r>
              <a:rPr lang="en-US" sz="1200" dirty="0"/>
              <a:t> = 117 soft drinks. Choose the statistics that you want.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909" y="2698292"/>
            <a:ext cx="5166889" cy="296721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894" y="3269825"/>
            <a:ext cx="1875600" cy="2324467"/>
          </a:xfrm>
          <a:prstGeom prst="rect">
            <a:avLst/>
          </a:prstGeom>
        </p:spPr>
      </p:pic>
      <p:sp>
        <p:nvSpPr>
          <p:cNvPr id="15" name="Left Arrow 14"/>
          <p:cNvSpPr/>
          <p:nvPr/>
        </p:nvSpPr>
        <p:spPr>
          <a:xfrm>
            <a:off x="8612155" y="1758050"/>
            <a:ext cx="326572" cy="31772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4734930" y="3564294"/>
            <a:ext cx="325828" cy="335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083" y="3269825"/>
            <a:ext cx="1615375" cy="18523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3579538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6 – </a:t>
            </a:r>
            <a:r>
              <a:rPr lang="en-US" sz="3200" dirty="0" err="1">
                <a:solidFill>
                  <a:schemeClr val="accent1"/>
                </a:solidFill>
              </a:rPr>
              <a:t>Megastat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3097" y="1319989"/>
            <a:ext cx="2451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Example:  </a:t>
            </a:r>
            <a:r>
              <a:rPr lang="en-US" sz="1200" dirty="0"/>
              <a:t>Descriptive statistics for caffeine in 117 soft drinks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223" y="1327163"/>
            <a:ext cx="6930458" cy="48590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357" y="4663467"/>
            <a:ext cx="1867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Output:  </a:t>
            </a:r>
            <a:r>
              <a:rPr lang="en-US" sz="1200" dirty="0"/>
              <a:t>Results will appear on a new worksheet tab. You can copy or edit the graphs with the usual Excel chart edit tools.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98770" y="4868740"/>
            <a:ext cx="325828" cy="335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97" y="1990550"/>
            <a:ext cx="1755999" cy="20135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4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9275137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6 – </a:t>
            </a:r>
            <a:r>
              <a:rPr lang="en-US" sz="3200" dirty="0" err="1">
                <a:solidFill>
                  <a:schemeClr val="accent1"/>
                </a:solidFill>
              </a:rPr>
              <a:t>Megastat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357" y="1384828"/>
            <a:ext cx="4153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Example:  </a:t>
            </a:r>
            <a:r>
              <a:rPr lang="en-US" sz="1200" dirty="0"/>
              <a:t>Regression using income and college graduation rates for </a:t>
            </a:r>
            <a:r>
              <a:rPr lang="en-US" sz="1200" i="1" dirty="0"/>
              <a:t>n</a:t>
            </a:r>
            <a:r>
              <a:rPr lang="en-US" sz="1200" dirty="0"/>
              <a:t> = 50 states. Choose the plots and tables that you want.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83325" y="3238554"/>
            <a:ext cx="325828" cy="335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339" y="2154809"/>
            <a:ext cx="2920856" cy="2314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57" y="2287902"/>
            <a:ext cx="1883938" cy="1520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156" y="1830994"/>
            <a:ext cx="4679553" cy="34869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9225048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6 – </a:t>
            </a:r>
            <a:r>
              <a:rPr lang="en-US" sz="3200" dirty="0" err="1">
                <a:solidFill>
                  <a:schemeClr val="accent1"/>
                </a:solidFill>
              </a:rPr>
              <a:t>Megastat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0712" y="1371142"/>
            <a:ext cx="2490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Example:  </a:t>
            </a:r>
            <a:r>
              <a:rPr lang="en-US" sz="1200" dirty="0"/>
              <a:t>Regression using income and college graduation rates for 50 states.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2465183"/>
            <a:ext cx="2103448" cy="16976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522" y="1221144"/>
            <a:ext cx="5314950" cy="4752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58507" y="4812510"/>
            <a:ext cx="1657732" cy="796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Unusual residuals or high-leverage observations are highlighted.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8717472" y="4905735"/>
            <a:ext cx="363894" cy="3172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80712" y="4691132"/>
            <a:ext cx="19966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Output:  </a:t>
            </a:r>
            <a:r>
              <a:rPr lang="en-US" sz="1200" dirty="0"/>
              <a:t>Results will appear on a new worksheet tab. You can copy or edit the graphs with the usual Excel chart edit tools.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45086" y="4863061"/>
            <a:ext cx="325828" cy="335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1189" y="4315333"/>
            <a:ext cx="518235" cy="49717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3267150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7 – Minitab express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25" y="1234892"/>
            <a:ext cx="7877175" cy="8096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57" y="2504486"/>
            <a:ext cx="2743200" cy="2505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4125" y="1808337"/>
            <a:ext cx="20100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Minitab Express </a:t>
            </a:r>
            <a:r>
              <a:rPr lang="en-US" sz="1200" dirty="0"/>
              <a:t>is a statistical analysis system for Mac or PC. It is </a:t>
            </a:r>
            <a:r>
              <a:rPr lang="en-US" sz="1200" i="1" dirty="0"/>
              <a:t>not</a:t>
            </a:r>
            <a:r>
              <a:rPr lang="en-US" sz="1200" dirty="0"/>
              <a:t> based on Excel, although you can import Excel data to Minitab and export graphs and other results.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069" y="1221144"/>
            <a:ext cx="559927" cy="5371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775" y="2504486"/>
            <a:ext cx="1619250" cy="1323975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3520455" y="2601032"/>
            <a:ext cx="325828" cy="335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22495" y="2206751"/>
            <a:ext cx="1408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Copy data From Excel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4066104" y="2204419"/>
            <a:ext cx="1142417" cy="263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To Minitab</a:t>
            </a:r>
            <a:endParaRPr lang="en-US" sz="11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650" y="2461715"/>
            <a:ext cx="2090513" cy="18068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097763" y="1536034"/>
            <a:ext cx="621817" cy="544607"/>
          </a:xfrm>
          <a:prstGeom prst="roundRect">
            <a:avLst>
              <a:gd name="adj" fmla="val 0"/>
            </a:avLst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5855923" y="2601032"/>
            <a:ext cx="325828" cy="3359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846283" y="4685746"/>
            <a:ext cx="4022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Example: </a:t>
            </a:r>
            <a:r>
              <a:rPr lang="en-US" sz="1200" dirty="0"/>
              <a:t>Descriptive statistics on income and college graduation rates for 50 states. Choose the options that you want.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7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6834213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7 – Minitab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7539" y="1588199"/>
            <a:ext cx="2457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Example: </a:t>
            </a:r>
            <a:r>
              <a:rPr lang="en-US" sz="1200" dirty="0"/>
              <a:t>Select the variable(s) and choose the statistics and graphs that you want.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465" y="2725227"/>
            <a:ext cx="5612360" cy="27690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8804" y="1593947"/>
            <a:ext cx="1950681" cy="64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Output: </a:t>
            </a:r>
            <a:r>
              <a:rPr lang="en-US" sz="1200" dirty="0"/>
              <a:t>You can export the statistics (e.g., for a report).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5062862" y="1775071"/>
            <a:ext cx="331205" cy="25192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9272104" y="2327783"/>
            <a:ext cx="304596" cy="2795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76" y="3183563"/>
            <a:ext cx="4189714" cy="224814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76" y="1360755"/>
            <a:ext cx="4189714" cy="15719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5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958084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7 – Minitab express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99" y="1208675"/>
            <a:ext cx="2264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Example:  </a:t>
            </a:r>
            <a:r>
              <a:rPr lang="en-US" sz="1200" dirty="0"/>
              <a:t>Choose the graphs that you want.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7012" y="4259929"/>
            <a:ext cx="2326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Output:  </a:t>
            </a:r>
            <a:r>
              <a:rPr lang="en-US" sz="1200" dirty="0"/>
              <a:t>You can copy the graphs (e.g., for a report).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242604" y="1833388"/>
            <a:ext cx="304596" cy="2795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619" y="3284282"/>
            <a:ext cx="3407006" cy="2292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57" y="2351416"/>
            <a:ext cx="2152650" cy="1257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062" y="4890194"/>
            <a:ext cx="1836186" cy="85008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998" y="1618367"/>
            <a:ext cx="3408348" cy="2293853"/>
          </a:xfrm>
          <a:prstGeom prst="rect">
            <a:avLst/>
          </a:prstGeom>
        </p:spPr>
      </p:pic>
      <p:sp>
        <p:nvSpPr>
          <p:cNvPr id="14" name="Right Arrow 13"/>
          <p:cNvSpPr/>
          <p:nvPr/>
        </p:nvSpPr>
        <p:spPr>
          <a:xfrm>
            <a:off x="6077224" y="4430757"/>
            <a:ext cx="304258" cy="260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6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6892128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7 – Minitab express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260579"/>
            <a:ext cx="7877175" cy="8096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945224" y="1480149"/>
            <a:ext cx="621817" cy="544607"/>
          </a:xfrm>
          <a:prstGeom prst="roundRect">
            <a:avLst>
              <a:gd name="adj" fmla="val 0"/>
            </a:avLst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56" y="2290651"/>
            <a:ext cx="2474455" cy="30314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6430" y="2289774"/>
            <a:ext cx="4057889" cy="268344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0938" y="2289774"/>
            <a:ext cx="3387240" cy="37089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760411" y="1264705"/>
            <a:ext cx="1979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Output: </a:t>
            </a:r>
            <a:r>
              <a:rPr lang="en-US" sz="1200" dirty="0"/>
              <a:t>You can copy the statistics (e.g., for a report).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562979" y="1809414"/>
            <a:ext cx="304596" cy="2795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360508" y="5208269"/>
            <a:ext cx="1943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Unusual residuals or high-leverage observations are marked.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42692" y="5388761"/>
            <a:ext cx="295226" cy="284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582" y="5262298"/>
            <a:ext cx="460334" cy="44163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7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0550003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7 – Minitab express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7" y="1342247"/>
            <a:ext cx="8200833" cy="40415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154" y="2886755"/>
            <a:ext cx="2057400" cy="952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93093" y="1500351"/>
            <a:ext cx="621817" cy="544607"/>
          </a:xfrm>
          <a:prstGeom prst="roundRect">
            <a:avLst>
              <a:gd name="adj" fmla="val 0"/>
            </a:avLst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225521" y="2866216"/>
            <a:ext cx="1355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Output:  </a:t>
            </a:r>
            <a:r>
              <a:rPr lang="en-US" sz="1200" dirty="0"/>
              <a:t>You can copy or export the statistics (e.g., for a report).</a:t>
            </a:r>
          </a:p>
        </p:txBody>
      </p:sp>
      <p:sp>
        <p:nvSpPr>
          <p:cNvPr id="2" name="Left Arrow 1"/>
          <p:cNvSpPr/>
          <p:nvPr/>
        </p:nvSpPr>
        <p:spPr>
          <a:xfrm>
            <a:off x="8789437" y="3013788"/>
            <a:ext cx="326571" cy="28331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4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223536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5357" y="630889"/>
            <a:ext cx="11272452" cy="5902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Tutorial 7 – Minitab express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956" y="1313213"/>
            <a:ext cx="3954810" cy="266162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676" y="2183682"/>
            <a:ext cx="3954810" cy="266162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09" y="2548908"/>
            <a:ext cx="2129588" cy="142593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68" y="1313213"/>
            <a:ext cx="2124075" cy="10477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412" y="2996222"/>
            <a:ext cx="3954811" cy="266162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2883" y="4855348"/>
            <a:ext cx="2057400" cy="952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3624" y="4945523"/>
            <a:ext cx="1828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Output: </a:t>
            </a:r>
            <a:r>
              <a:rPr lang="en-US" sz="1200" dirty="0"/>
              <a:t>You can export the graphs (e.g., for a report).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446707" y="5124063"/>
            <a:ext cx="335902" cy="2892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0592709" y="6444395"/>
            <a:ext cx="1298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8" action="ppaction://hlinksldjump"/>
              </a:rPr>
              <a:t>Back to top menu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95993533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12797</TotalTime>
  <Words>4911</Words>
  <Application>Microsoft Office PowerPoint</Application>
  <PresentationFormat>Widescreen</PresentationFormat>
  <Paragraphs>493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Gill Sans MT</vt:lpstr>
      <vt:lpstr>Symbol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for Mac</dc:title>
  <dc:subject>Chapter 1 - Overview of Statistics</dc:subject>
  <dc:creator>David Doane</dc:creator>
  <dc:description>Copyright (c) 2025 by McGraw Hill LLC. This material is intended solely for educational use licensed users of Connect. It may not be copied or resold.</dc:description>
  <cp:lastModifiedBy>Elango Selvaraj</cp:lastModifiedBy>
  <cp:revision>309</cp:revision>
  <dcterms:created xsi:type="dcterms:W3CDTF">2016-04-27T05:07:39Z</dcterms:created>
  <dcterms:modified xsi:type="dcterms:W3CDTF">2023-11-29T09:54:08Z</dcterms:modified>
</cp:coreProperties>
</file>