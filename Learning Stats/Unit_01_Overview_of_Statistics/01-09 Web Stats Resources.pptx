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40" r:id="rId1"/>
  </p:sldMasterIdLst>
  <p:handoutMasterIdLst>
    <p:handoutMasterId r:id="rId23"/>
  </p:handoutMasterIdLst>
  <p:sldIdLst>
    <p:sldId id="256" r:id="rId2"/>
    <p:sldId id="334" r:id="rId3"/>
    <p:sldId id="333" r:id="rId4"/>
    <p:sldId id="349" r:id="rId5"/>
    <p:sldId id="348" r:id="rId6"/>
    <p:sldId id="325" r:id="rId7"/>
    <p:sldId id="331" r:id="rId8"/>
    <p:sldId id="352" r:id="rId9"/>
    <p:sldId id="343" r:id="rId10"/>
    <p:sldId id="340" r:id="rId11"/>
    <p:sldId id="344" r:id="rId12"/>
    <p:sldId id="345" r:id="rId13"/>
    <p:sldId id="346" r:id="rId14"/>
    <p:sldId id="324" r:id="rId15"/>
    <p:sldId id="351" r:id="rId16"/>
    <p:sldId id="342" r:id="rId17"/>
    <p:sldId id="338" r:id="rId18"/>
    <p:sldId id="341" r:id="rId19"/>
    <p:sldId id="339" r:id="rId20"/>
    <p:sldId id="350" r:id="rId21"/>
    <p:sldId id="314"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0000FF"/>
    <a:srgbClr val="FF6699"/>
    <a:srgbClr val="CC0000"/>
    <a:srgbClr val="FF3300"/>
    <a:srgbClr val="33CC33"/>
    <a:srgbClr val="0066FF"/>
    <a:srgbClr val="CC6600"/>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90929"/>
  </p:normalViewPr>
  <p:slideViewPr>
    <p:cSldViewPr>
      <p:cViewPr varScale="1">
        <p:scale>
          <a:sx n="101" d="100"/>
          <a:sy n="101" d="100"/>
        </p:scale>
        <p:origin x="1512" y="11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5222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5222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5222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B413568D-4B27-46BD-AB11-25608B48EC38}" type="slidenum">
              <a:rPr lang="en-US"/>
              <a:pPr>
                <a:defRPr/>
              </a:pPr>
              <a:t>‹#›</a:t>
            </a:fld>
            <a:endParaRPr lang="en-US"/>
          </a:p>
        </p:txBody>
      </p:sp>
    </p:spTree>
    <p:extLst>
      <p:ext uri="{BB962C8B-B14F-4D97-AF65-F5344CB8AC3E}">
        <p14:creationId xmlns:p14="http://schemas.microsoft.com/office/powerpoint/2010/main" val="4222104493"/>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75170FF-E9B2-4E70-A135-BDE55A7CF7CD}" type="slidenum">
              <a:rPr lang="en-US" smtClean="0"/>
              <a:pPr>
                <a:defRPr/>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3237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1348DD57-CC16-452F-9721-914CF313A34F}" type="slidenum">
              <a:rPr lang="en-US" smtClean="0"/>
              <a:pPr>
                <a:defRPr/>
              </a:pPr>
              <a:t>‹#›</a:t>
            </a:fld>
            <a:endParaRPr lang="en-US"/>
          </a:p>
        </p:txBody>
      </p:sp>
    </p:spTree>
    <p:extLst>
      <p:ext uri="{BB962C8B-B14F-4D97-AF65-F5344CB8AC3E}">
        <p14:creationId xmlns:p14="http://schemas.microsoft.com/office/powerpoint/2010/main" val="641041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0F7ADC3-05E3-4ECF-A2CE-B288065727FE}" type="slidenum">
              <a:rPr lang="en-US" smtClean="0"/>
              <a:pPr>
                <a:defRPr/>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1105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EF92D95-BB96-4542-8B5F-FB3B36387C88}" type="slidenum">
              <a:rPr lang="en-US" smtClean="0"/>
              <a:pPr>
                <a:defRPr/>
              </a:pPr>
              <a:t>‹#›</a:t>
            </a:fld>
            <a:endParaRPr lang="en-US"/>
          </a:p>
        </p:txBody>
      </p:sp>
    </p:spTree>
    <p:extLst>
      <p:ext uri="{BB962C8B-B14F-4D97-AF65-F5344CB8AC3E}">
        <p14:creationId xmlns:p14="http://schemas.microsoft.com/office/powerpoint/2010/main" val="3588561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1A25A09E-BB8F-42B8-8737-97CBFB4F1657}" type="slidenum">
              <a:rPr lang="en-US" smtClean="0"/>
              <a:pPr>
                <a:defRPr/>
              </a:pPr>
              <a:t>‹#›</a:t>
            </a:fld>
            <a:endParaRPr lang="en-US"/>
          </a:p>
        </p:txBody>
      </p:sp>
    </p:spTree>
    <p:extLst>
      <p:ext uri="{BB962C8B-B14F-4D97-AF65-F5344CB8AC3E}">
        <p14:creationId xmlns:p14="http://schemas.microsoft.com/office/powerpoint/2010/main" val="67987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ED2E7A6E-ED84-4D45-87ED-DFB32493DF88}" type="slidenum">
              <a:rPr lang="en-US" smtClean="0"/>
              <a:pPr>
                <a:defRPr/>
              </a:pPr>
              <a:t>‹#›</a:t>
            </a:fld>
            <a:endParaRPr lang="en-US"/>
          </a:p>
        </p:txBody>
      </p:sp>
    </p:spTree>
    <p:extLst>
      <p:ext uri="{BB962C8B-B14F-4D97-AF65-F5344CB8AC3E}">
        <p14:creationId xmlns:p14="http://schemas.microsoft.com/office/powerpoint/2010/main" val="1871660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endParaRPr lang="en-US"/>
          </a:p>
        </p:txBody>
      </p:sp>
      <p:sp>
        <p:nvSpPr>
          <p:cNvPr id="9" name="Slide Number Placeholder 8"/>
          <p:cNvSpPr>
            <a:spLocks noGrp="1"/>
          </p:cNvSpPr>
          <p:nvPr>
            <p:ph type="sldNum" sz="quarter" idx="12"/>
          </p:nvPr>
        </p:nvSpPr>
        <p:spPr/>
        <p:txBody>
          <a:bodyPr/>
          <a:lstStyle/>
          <a:p>
            <a:pPr>
              <a:defRPr/>
            </a:pPr>
            <a:fld id="{D2EDA277-4BFE-4C06-BEA9-253807799BB1}" type="slidenum">
              <a:rPr lang="en-US" smtClean="0"/>
              <a:pPr>
                <a:defRPr/>
              </a:pPr>
              <a:t>‹#›</a:t>
            </a:fld>
            <a:endParaRPr lang="en-US"/>
          </a:p>
        </p:txBody>
      </p:sp>
    </p:spTree>
    <p:extLst>
      <p:ext uri="{BB962C8B-B14F-4D97-AF65-F5344CB8AC3E}">
        <p14:creationId xmlns:p14="http://schemas.microsoft.com/office/powerpoint/2010/main" val="3737862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pPr>
              <a:defRPr/>
            </a:pPr>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pPr>
              <a:defRPr/>
            </a:pPr>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FA40CB25-0717-40DE-BB4E-B28B9AF4CFA1}" type="slidenum">
              <a:rPr lang="en-US" smtClean="0"/>
              <a:pPr>
                <a:defRPr/>
              </a:pPr>
              <a:t>‹#›</a:t>
            </a:fld>
            <a:endParaRPr lang="en-US"/>
          </a:p>
        </p:txBody>
      </p:sp>
    </p:spTree>
    <p:extLst>
      <p:ext uri="{BB962C8B-B14F-4D97-AF65-F5344CB8AC3E}">
        <p14:creationId xmlns:p14="http://schemas.microsoft.com/office/powerpoint/2010/main" val="2571531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E495D52-A34A-4EA6-AB3E-4C788532AAB0}" type="slidenum">
              <a:rPr lang="en-US" smtClean="0"/>
              <a:pPr>
                <a:defRPr/>
              </a:pPr>
              <a:t>‹#›</a:t>
            </a:fld>
            <a:endParaRPr lang="en-US"/>
          </a:p>
        </p:txBody>
      </p:sp>
    </p:spTree>
    <p:extLst>
      <p:ext uri="{BB962C8B-B14F-4D97-AF65-F5344CB8AC3E}">
        <p14:creationId xmlns:p14="http://schemas.microsoft.com/office/powerpoint/2010/main" val="2755888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D81FA433-17B8-41E2-82D4-5440DB8FDBE2}" type="slidenum">
              <a:rPr lang="en-US" smtClean="0"/>
              <a:pPr>
                <a:defRPr/>
              </a:pPr>
              <a:t>‹#›</a:t>
            </a:fld>
            <a:endParaRPr lang="en-US"/>
          </a:p>
        </p:txBody>
      </p:sp>
    </p:spTree>
    <p:extLst>
      <p:ext uri="{BB962C8B-B14F-4D97-AF65-F5344CB8AC3E}">
        <p14:creationId xmlns:p14="http://schemas.microsoft.com/office/powerpoint/2010/main" val="1169807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D4D59FD-573C-4148-8AE9-098E34152B6E}" type="slidenum">
              <a:rPr lang="en-US" smtClean="0"/>
              <a:pPr>
                <a:defRPr/>
              </a:pPr>
              <a:t>‹#›</a:t>
            </a:fld>
            <a:endParaRPr lang="en-US"/>
          </a:p>
        </p:txBody>
      </p:sp>
    </p:spTree>
    <p:extLst>
      <p:ext uri="{BB962C8B-B14F-4D97-AF65-F5344CB8AC3E}">
        <p14:creationId xmlns:p14="http://schemas.microsoft.com/office/powerpoint/2010/main" val="6606653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pPr>
              <a:defRPr/>
            </a:pPr>
            <a:fld id="{E19F39C1-C2DE-40C8-A20B-B6F404FD967E}" type="slidenum">
              <a:rPr lang="en-US" smtClean="0"/>
              <a:pPr>
                <a:defRPr/>
              </a:pPr>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0339486"/>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amstat.org/your-career/ethical-guidelines-for-statistical-practice" TargetMode="External"/><Relationship Id="rId2" Type="http://schemas.openxmlformats.org/officeDocument/2006/relationships/hyperlink" Target="https://www.amstat.org/ASA/Your-Career/Ethical-Guidelines-for-Statistical-Practice.aspx" TargetMode="Externa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causeweb.org/" TargetMode="Externa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hyperlink" Target="https://cwstat.org/" TargetMode="External"/><Relationship Id="rId1" Type="http://schemas.openxmlformats.org/officeDocument/2006/relationships/slideLayout" Target="../slideLayouts/slideLayout1.xml"/><Relationship Id="rId4" Type="http://schemas.openxmlformats.org/officeDocument/2006/relationships/image" Target="../media/image7.gif"/></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www.r-project.org/" TargetMode="External"/><Relationship Id="rId1" Type="http://schemas.openxmlformats.org/officeDocument/2006/relationships/slideLayout" Target="../slideLayouts/slideLayout1.xml"/><Relationship Id="rId5" Type="http://schemas.openxmlformats.org/officeDocument/2006/relationships/hyperlink" Target="https://rstudio.com/products/rstudio/" TargetMode="Externa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hyperlink" Target="https://onlinelibrary.wiley.com/journal/14679639" TargetMode="External"/><Relationship Id="rId2" Type="http://schemas.openxmlformats.org/officeDocument/2006/relationships/hyperlink" Target="https://www.tandfonline.com/journals/ucha20" TargetMode="External"/><Relationship Id="rId1" Type="http://schemas.openxmlformats.org/officeDocument/2006/relationships/slideLayout" Target="../slideLayouts/slideLayout1.xml"/><Relationship Id="rId4" Type="http://schemas.openxmlformats.org/officeDocument/2006/relationships/hyperlink" Target="https://amstat.tandfonline.com/loi/ujse21"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s://statpages.info/javasta2.html" TargetMode="Externa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learningstatisticswithr.com/" TargetMode="External"/><Relationship Id="rId2" Type="http://schemas.openxmlformats.org/officeDocument/2006/relationships/hyperlink" Target="https://www.openintro.org/" TargetMode="External"/><Relationship Id="rId1" Type="http://schemas.openxmlformats.org/officeDocument/2006/relationships/slideLayout" Target="../slideLayouts/slideLayout1.xml"/><Relationship Id="rId4" Type="http://schemas.openxmlformats.org/officeDocument/2006/relationships/hyperlink" Target="http://www.opencollegebooks.org/"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www.socr.ucla.edu/SOCR.html" TargetMode="External"/><Relationship Id="rId2" Type="http://schemas.openxmlformats.org/officeDocument/2006/relationships/hyperlink" Target="https://stat.duke.edu/resources/datasets" TargetMode="External"/><Relationship Id="rId1" Type="http://schemas.openxmlformats.org/officeDocument/2006/relationships/slideLayout" Target="../slideLayouts/slideLayout1.xml"/><Relationship Id="rId4" Type="http://schemas.openxmlformats.org/officeDocument/2006/relationships/hyperlink" Target="https://dasl.datadescription.com/"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hyperlink" Target="https://www.datasciencecentral.com/profiles/blogs/a-plethora-of-data-set-repositories" TargetMode="Externa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hyperlink" Target="http://www.federalreserve.gov/" TargetMode="External"/><Relationship Id="rId3" Type="http://schemas.openxmlformats.org/officeDocument/2006/relationships/hyperlink" Target="http://www.bjs.gov/" TargetMode="External"/><Relationship Id="rId7" Type="http://schemas.openxmlformats.org/officeDocument/2006/relationships/hyperlink" Target="http://www.epa.gov/" TargetMode="External"/><Relationship Id="rId2" Type="http://schemas.openxmlformats.org/officeDocument/2006/relationships/hyperlink" Target="http://www.bea.gov/" TargetMode="External"/><Relationship Id="rId1" Type="http://schemas.openxmlformats.org/officeDocument/2006/relationships/slideLayout" Target="../slideLayouts/slideLayout1.xml"/><Relationship Id="rId6" Type="http://schemas.openxmlformats.org/officeDocument/2006/relationships/hyperlink" Target="http://www.gpo.gov/erp" TargetMode="External"/><Relationship Id="rId5" Type="http://schemas.openxmlformats.org/officeDocument/2006/relationships/hyperlink" Target="http://www.cia.gov/" TargetMode="External"/><Relationship Id="rId4" Type="http://schemas.openxmlformats.org/officeDocument/2006/relationships/hyperlink" Target="http://www.bls.gov/"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www.census.gov/" TargetMode="External"/><Relationship Id="rId3" Type="http://schemas.openxmlformats.org/officeDocument/2006/relationships/hyperlink" Target="http://www.nces.ed.gov/" TargetMode="External"/><Relationship Id="rId7" Type="http://schemas.openxmlformats.org/officeDocument/2006/relationships/hyperlink" Target="http://www.bts.gov/" TargetMode="External"/><Relationship Id="rId2" Type="http://schemas.openxmlformats.org/officeDocument/2006/relationships/hyperlink" Target="http://www.nass.usda.gov/" TargetMode="External"/><Relationship Id="rId1" Type="http://schemas.openxmlformats.org/officeDocument/2006/relationships/slideLayout" Target="../slideLayouts/slideLayout1.xml"/><Relationship Id="rId6" Type="http://schemas.openxmlformats.org/officeDocument/2006/relationships/hyperlink" Target="http://www.irs.gov/statistics" TargetMode="External"/><Relationship Id="rId5" Type="http://schemas.openxmlformats.org/officeDocument/2006/relationships/hyperlink" Target="http://www.cdc.gov/nchs" TargetMode="External"/><Relationship Id="rId4" Type="http://schemas.openxmlformats.org/officeDocument/2006/relationships/hyperlink" Target="http://www.fda.gov/" TargetMode="External"/><Relationship Id="rId9" Type="http://schemas.openxmlformats.org/officeDocument/2006/relationships/hyperlink" Target="http://www.usa.gov/statistics"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www.who.int/en" TargetMode="External"/><Relationship Id="rId3" Type="http://schemas.openxmlformats.org/officeDocument/2006/relationships/hyperlink" Target="http://www.statcan.gc.ca/" TargetMode="External"/><Relationship Id="rId7" Type="http://schemas.openxmlformats.org/officeDocument/2006/relationships/hyperlink" Target="http://www.demographia.com/" TargetMode="External"/><Relationship Id="rId2" Type="http://schemas.openxmlformats.org/officeDocument/2006/relationships/hyperlink" Target="http://www.oecd.org/" TargetMode="External"/><Relationship Id="rId1" Type="http://schemas.openxmlformats.org/officeDocument/2006/relationships/slideLayout" Target="../slideLayouts/slideLayout1.xml"/><Relationship Id="rId6" Type="http://schemas.openxmlformats.org/officeDocument/2006/relationships/hyperlink" Target="http://www.worldbank.org/" TargetMode="External"/><Relationship Id="rId5" Type="http://schemas.openxmlformats.org/officeDocument/2006/relationships/hyperlink" Target="http://www.un.org/depts/unsd" TargetMode="External"/><Relationship Id="rId4" Type="http://schemas.openxmlformats.org/officeDocument/2006/relationships/hyperlink" Target="https://usafacts.org/" TargetMode="External"/><Relationship Id="rId9" Type="http://schemas.openxmlformats.org/officeDocument/2006/relationships/hyperlink" Target="http://www.worldometers.info/"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elsmar.com/Cp_vs_Cpk.html" TargetMode="External"/><Relationship Id="rId2" Type="http://schemas.openxmlformats.org/officeDocument/2006/relationships/hyperlink" Target="https://wise1.cgu.edu/applets.asp"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www.mat.univie.ac.at/~neum/" TargetMode="External"/><Relationship Id="rId2" Type="http://schemas.openxmlformats.org/officeDocument/2006/relationships/hyperlink" Target="https://www.kdnuggets.com/" TargetMode="External"/><Relationship Id="rId1" Type="http://schemas.openxmlformats.org/officeDocument/2006/relationships/slideLayout" Target="../slideLayouts/slideLayout1.xml"/><Relationship Id="rId4" Type="http://schemas.openxmlformats.org/officeDocument/2006/relationships/hyperlink" Target="https://shsulibraryguides.org/stats"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hyperlink" Target="http://www.amstat.org/committees/ethics/index.cfm" TargetMode="External"/><Relationship Id="rId1" Type="http://schemas.openxmlformats.org/officeDocument/2006/relationships/slideLayout" Target="../slideLayouts/slideLayout1.xml"/><Relationship Id="rId4" Type="http://schemas.openxmlformats.org/officeDocument/2006/relationships/image" Target="../media/image10.gif"/></Relationships>
</file>

<file path=ppt/slides/_rels/slide17.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hyperlink" Target="http://www.kaggle.com/"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hyperlink" Target="http://www.datasciencecentral.com/profiles/blogs/data-science-summarized-in-one-picture"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13.gif"/><Relationship Id="rId3" Type="http://schemas.openxmlformats.org/officeDocument/2006/relationships/hyperlink" Target="http://www.kdnuggets.com/2013/04/data-science-end-statistics-discussion.html" TargetMode="External"/><Relationship Id="rId7" Type="http://schemas.openxmlformats.org/officeDocument/2006/relationships/hyperlink" Target="http://excelhero.com/blog/" TargetMode="External"/><Relationship Id="rId2" Type="http://schemas.openxmlformats.org/officeDocument/2006/relationships/hyperlink" Target="http://www.datasciencecentral.com/profiles/blogs/20-articles-about-core-data-science" TargetMode="External"/><Relationship Id="rId1" Type="http://schemas.openxmlformats.org/officeDocument/2006/relationships/slideLayout" Target="../slideLayouts/slideLayout1.xml"/><Relationship Id="rId6" Type="http://schemas.openxmlformats.org/officeDocument/2006/relationships/hyperlink" Target="http://www.r-project.org/" TargetMode="External"/><Relationship Id="rId5" Type="http://schemas.openxmlformats.org/officeDocument/2006/relationships/hyperlink" Target="http://blogs.office.com/b/microsoft-excel/" TargetMode="External"/><Relationship Id="rId4" Type="http://schemas.openxmlformats.org/officeDocument/2006/relationships/hyperlink" Target="http://spreadsheetpage.com/"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hyperlink" Target="http://www.datasciencecentral.com/profiles/blogs/20-articles-about-core-data-science" TargetMode="Externa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2133600" y="2025541"/>
            <a:ext cx="5105400" cy="1600200"/>
          </a:xfrm>
        </p:spPr>
        <p:txBody>
          <a:bodyPr>
            <a:normAutofit/>
          </a:bodyPr>
          <a:lstStyle/>
          <a:p>
            <a:pPr algn="ctr">
              <a:defRPr/>
            </a:pPr>
            <a:r>
              <a:rPr lang="en-US" sz="44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Statistics</a:t>
            </a:r>
            <a:br>
              <a:rPr lang="en-US" sz="44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br>
            <a:r>
              <a:rPr lang="en-US" sz="44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Web Sites</a:t>
            </a:r>
          </a:p>
        </p:txBody>
      </p:sp>
      <p:sp>
        <p:nvSpPr>
          <p:cNvPr id="2051" name="Text Box 12"/>
          <p:cNvSpPr txBox="1">
            <a:spLocks noChangeArrowheads="1"/>
          </p:cNvSpPr>
          <p:nvPr/>
        </p:nvSpPr>
        <p:spPr bwMode="auto">
          <a:xfrm>
            <a:off x="1333500" y="5334000"/>
            <a:ext cx="6705600" cy="523220"/>
          </a:xfrm>
          <a:prstGeom prst="rect">
            <a:avLst/>
          </a:prstGeom>
          <a:solidFill>
            <a:srgbClr val="FFCC99">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400" b="1" dirty="0">
                <a:solidFill>
                  <a:srgbClr val="993300"/>
                </a:solidFill>
              </a:rPr>
              <a:t>© McGraw Hill LLC. All rights reserved. No reproduction or distribution without the prior written consent of McGraw Hill LLC.</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Statistical Ethics</a:t>
            </a:r>
          </a:p>
        </p:txBody>
      </p:sp>
      <p:sp>
        <p:nvSpPr>
          <p:cNvPr id="4099" name="Text Box 3"/>
          <p:cNvSpPr txBox="1">
            <a:spLocks noChangeArrowheads="1"/>
          </p:cNvSpPr>
          <p:nvPr/>
        </p:nvSpPr>
        <p:spPr bwMode="auto">
          <a:xfrm>
            <a:off x="1295400" y="1295400"/>
            <a:ext cx="7086600" cy="1705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70000"/>
              </a:lnSpc>
              <a:spcBef>
                <a:spcPct val="50000"/>
              </a:spcBef>
            </a:pPr>
            <a:r>
              <a:rPr lang="en-US" b="1" i="1" dirty="0">
                <a:latin typeface="Calibri" pitchFamily="34" charset="0"/>
              </a:rPr>
              <a:t>American Statistical Association</a:t>
            </a:r>
          </a:p>
          <a:p>
            <a:pPr algn="ctr">
              <a:lnSpc>
                <a:spcPct val="70000"/>
              </a:lnSpc>
              <a:spcBef>
                <a:spcPct val="50000"/>
              </a:spcBef>
            </a:pPr>
            <a:r>
              <a:rPr lang="en-US" b="1" dirty="0">
                <a:solidFill>
                  <a:srgbClr val="C00000"/>
                </a:solidFill>
              </a:rPr>
              <a:t>Ethical Guidelines for Statistical Practice</a:t>
            </a:r>
            <a:endParaRPr lang="en-US" dirty="0">
              <a:solidFill>
                <a:srgbClr val="C00000"/>
              </a:solidFill>
            </a:endParaRPr>
          </a:p>
          <a:p>
            <a:pPr algn="ctr">
              <a:lnSpc>
                <a:spcPct val="70000"/>
              </a:lnSpc>
              <a:spcBef>
                <a:spcPct val="50000"/>
              </a:spcBef>
            </a:pPr>
            <a:endParaRPr lang="en-US" sz="1600" dirty="0"/>
          </a:p>
          <a:p>
            <a:pPr algn="ctr"/>
            <a:r>
              <a:rPr lang="en-US" sz="2000" dirty="0">
                <a:solidFill>
                  <a:srgbClr val="0000FF"/>
                </a:solidFill>
                <a:hlinkClick r:id="rId2"/>
              </a:rPr>
              <a:t> </a:t>
            </a:r>
            <a:r>
              <a:rPr lang="en-US" sz="2000" dirty="0">
                <a:solidFill>
                  <a:srgbClr val="0000FF"/>
                </a:solidFill>
                <a:hlinkClick r:id="rId3"/>
              </a:rPr>
              <a:t>https://www.amstat.org/your-career/ethical-guidelines-for-statistical-practice</a:t>
            </a:r>
            <a:endParaRPr lang="en-US" dirty="0"/>
          </a:p>
        </p:txBody>
      </p:sp>
      <p:sp>
        <p:nvSpPr>
          <p:cNvPr id="4100" name="Text Box 4"/>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114693" name="Cloud"/>
          <p:cNvSpPr>
            <a:spLocks noChangeAspect="1" noEditPoints="1" noChangeArrowheads="1"/>
          </p:cNvSpPr>
          <p:nvPr/>
        </p:nvSpPr>
        <p:spPr bwMode="auto">
          <a:xfrm>
            <a:off x="1600200" y="3505200"/>
            <a:ext cx="6629400" cy="20574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lumMod val="20000"/>
              <a:lumOff val="80000"/>
            </a:schemeClr>
          </a:solidFill>
          <a:ln w="9525">
            <a:solidFill>
              <a:srgbClr val="000000"/>
            </a:solidFill>
            <a:miter lim="800000"/>
            <a:headEnd/>
            <a:tailEnd/>
          </a:ln>
          <a:effectLst>
            <a:outerShdw dist="107763" dir="2700000" algn="ctr" rotWithShape="0">
              <a:srgbClr val="808080"/>
            </a:outerShdw>
          </a:effectLst>
        </p:spPr>
        <p:txBody>
          <a:bodyPr/>
          <a:lstStyle/>
          <a:p>
            <a:pPr algn="ctr">
              <a:defRPr/>
            </a:pPr>
            <a:r>
              <a:rPr lang="en-US" sz="1600" dirty="0"/>
              <a:t>ASA guidelines encourage ethical and effective statistical work in working environments. They can help students learn to perform statistical work responsibly and improve understanding and respect for statistics across all its applications.</a:t>
            </a:r>
          </a:p>
        </p:txBody>
      </p:sp>
      <p:pic>
        <p:nvPicPr>
          <p:cNvPr id="4102" name="Picture 7" descr="Travel &amp; Tourism 166.gif"/>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513637" y="2830512"/>
            <a:ext cx="12493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3" name="Up Arrow 8"/>
          <p:cNvSpPr>
            <a:spLocks noChangeArrowheads="1"/>
          </p:cNvSpPr>
          <p:nvPr/>
        </p:nvSpPr>
        <p:spPr bwMode="auto">
          <a:xfrm>
            <a:off x="4381500" y="2982912"/>
            <a:ext cx="609600" cy="457200"/>
          </a:xfrm>
          <a:prstGeom prst="upArrow">
            <a:avLst>
              <a:gd name="adj1" fmla="val 50000"/>
              <a:gd name="adj2" fmla="val 50000"/>
            </a:avLst>
          </a:prstGeom>
          <a:solidFill>
            <a:schemeClr val="accent1"/>
          </a:solidFill>
          <a:ln w="9525" algn="ctr">
            <a:solidFill>
              <a:schemeClr val="tx1"/>
            </a:solidFill>
            <a:round/>
            <a:headEnd/>
            <a:tailEnd/>
          </a:ln>
        </p:spPr>
        <p:txBody>
          <a:bodyPr/>
          <a:lstStyle/>
          <a:p>
            <a:endParaRPr lang="en-US"/>
          </a:p>
        </p:txBody>
      </p:sp>
      <p:pic>
        <p:nvPicPr>
          <p:cNvPr id="4104" name="Picture 9" descr="Business 4107.gif"/>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58201" y="2830512"/>
            <a:ext cx="957263"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CAUSE</a:t>
            </a:r>
          </a:p>
        </p:txBody>
      </p:sp>
      <p:sp>
        <p:nvSpPr>
          <p:cNvPr id="5123" name="Text Box 3"/>
          <p:cNvSpPr txBox="1">
            <a:spLocks noChangeArrowheads="1"/>
          </p:cNvSpPr>
          <p:nvPr/>
        </p:nvSpPr>
        <p:spPr bwMode="auto">
          <a:xfrm>
            <a:off x="1981200" y="1752600"/>
            <a:ext cx="5410200" cy="1360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70000"/>
              </a:lnSpc>
              <a:spcBef>
                <a:spcPct val="50000"/>
              </a:spcBef>
            </a:pPr>
            <a:r>
              <a:rPr lang="en-US" dirty="0"/>
              <a:t>Consortium for the Advancement of Undergraduate Statistics Education</a:t>
            </a:r>
          </a:p>
          <a:p>
            <a:pPr algn="ctr">
              <a:lnSpc>
                <a:spcPct val="70000"/>
              </a:lnSpc>
              <a:spcBef>
                <a:spcPct val="50000"/>
              </a:spcBef>
              <a:buFontTx/>
              <a:buChar char="•"/>
            </a:pPr>
            <a:endParaRPr lang="en-US" dirty="0"/>
          </a:p>
          <a:p>
            <a:pPr algn="ctr"/>
            <a:r>
              <a:rPr lang="en-US" sz="2000" dirty="0">
                <a:solidFill>
                  <a:srgbClr val="0000FF"/>
                </a:solidFill>
              </a:rPr>
              <a:t>      </a:t>
            </a:r>
            <a:r>
              <a:rPr lang="en-US" sz="2000" dirty="0">
                <a:solidFill>
                  <a:srgbClr val="0000FF"/>
                </a:solidFill>
                <a:hlinkClick r:id="rId2"/>
              </a:rPr>
              <a:t>https://www.causeweb.org</a:t>
            </a:r>
            <a:endParaRPr lang="en-US" dirty="0"/>
          </a:p>
        </p:txBody>
      </p:sp>
      <p:sp>
        <p:nvSpPr>
          <p:cNvPr id="5124" name="Text Box 4"/>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114693" name="Cloud"/>
          <p:cNvSpPr>
            <a:spLocks noChangeAspect="1" noEditPoints="1" noChangeArrowheads="1"/>
          </p:cNvSpPr>
          <p:nvPr/>
        </p:nvSpPr>
        <p:spPr bwMode="auto">
          <a:xfrm>
            <a:off x="1676400" y="3733800"/>
            <a:ext cx="6477000" cy="20574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lumMod val="20000"/>
              <a:lumOff val="80000"/>
            </a:schemeClr>
          </a:solidFill>
          <a:ln w="9525">
            <a:solidFill>
              <a:srgbClr val="000000"/>
            </a:solidFill>
            <a:miter lim="800000"/>
            <a:headEnd/>
            <a:tailEnd/>
          </a:ln>
          <a:effectLst>
            <a:outerShdw dist="107763" dir="2700000" algn="ctr" rotWithShape="0">
              <a:srgbClr val="808080"/>
            </a:outerShdw>
          </a:effectLst>
        </p:spPr>
        <p:txBody>
          <a:bodyPr/>
          <a:lstStyle/>
          <a:p>
            <a:pPr>
              <a:defRPr/>
            </a:pPr>
            <a:r>
              <a:rPr lang="en-US" sz="1600" dirty="0"/>
              <a:t>This web site collects, reviews, develops, and disseminates resources under the guidance of professionals at dozens of institutions.  It offers animations, case studies, drills, quizzes, lectures, simulations, tutorials, and data sets.</a:t>
            </a:r>
          </a:p>
        </p:txBody>
      </p:sp>
      <p:pic>
        <p:nvPicPr>
          <p:cNvPr id="5126" name="Picture 6" descr="Art Objects 9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4400" y="2362200"/>
            <a:ext cx="1828800" cy="1389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7" name="Picture 7" descr="Sports &amp; Leisure 299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62800" y="2362200"/>
            <a:ext cx="126365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Women in Statistics</a:t>
            </a:r>
          </a:p>
        </p:txBody>
      </p:sp>
      <p:sp>
        <p:nvSpPr>
          <p:cNvPr id="5123" name="Text Box 3"/>
          <p:cNvSpPr txBox="1">
            <a:spLocks noChangeArrowheads="1"/>
          </p:cNvSpPr>
          <p:nvPr/>
        </p:nvSpPr>
        <p:spPr bwMode="auto">
          <a:xfrm>
            <a:off x="2790827" y="1231670"/>
            <a:ext cx="3810000" cy="20203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70000"/>
              </a:lnSpc>
              <a:spcBef>
                <a:spcPct val="50000"/>
              </a:spcBef>
            </a:pPr>
            <a:r>
              <a:rPr lang="en-US" dirty="0"/>
              <a:t>Consortium for the Advancement of Undergraduate Statistics Education</a:t>
            </a:r>
          </a:p>
          <a:p>
            <a:pPr algn="ctr">
              <a:lnSpc>
                <a:spcPct val="70000"/>
              </a:lnSpc>
              <a:spcBef>
                <a:spcPct val="50000"/>
              </a:spcBef>
            </a:pPr>
            <a:r>
              <a:rPr lang="en-US" sz="2400" dirty="0">
                <a:solidFill>
                  <a:srgbClr val="0000FF"/>
                </a:solidFill>
                <a:hlinkClick r:id="rId2"/>
              </a:rPr>
              <a:t>https://cwstat.org/</a:t>
            </a:r>
            <a:endParaRPr lang="en-US" sz="2400" dirty="0"/>
          </a:p>
          <a:p>
            <a:pPr algn="ctr">
              <a:lnSpc>
                <a:spcPct val="70000"/>
              </a:lnSpc>
              <a:spcBef>
                <a:spcPct val="50000"/>
              </a:spcBef>
            </a:pPr>
            <a:endParaRPr lang="en-US" dirty="0"/>
          </a:p>
        </p:txBody>
      </p:sp>
      <p:sp>
        <p:nvSpPr>
          <p:cNvPr id="114693" name="Cloud"/>
          <p:cNvSpPr>
            <a:spLocks noChangeAspect="1" noEditPoints="1" noChangeArrowheads="1"/>
          </p:cNvSpPr>
          <p:nvPr/>
        </p:nvSpPr>
        <p:spPr bwMode="auto">
          <a:xfrm>
            <a:off x="1800226" y="3045142"/>
            <a:ext cx="5791201" cy="2581187"/>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lumMod val="20000"/>
              <a:lumOff val="80000"/>
            </a:schemeClr>
          </a:solidFill>
          <a:ln w="9525">
            <a:solidFill>
              <a:srgbClr val="000000"/>
            </a:solidFill>
            <a:miter lim="800000"/>
            <a:headEnd/>
            <a:tailEnd/>
          </a:ln>
          <a:effectLst>
            <a:outerShdw dist="107763" dir="2700000" algn="ctr" rotWithShape="0">
              <a:srgbClr val="808080"/>
            </a:outerShdw>
          </a:effectLst>
        </p:spPr>
        <p:txBody>
          <a:bodyPr/>
          <a:lstStyle/>
          <a:p>
            <a:pPr algn="ctr">
              <a:defRPr/>
            </a:pPr>
            <a:r>
              <a:rPr lang="en-US" sz="1600" dirty="0"/>
              <a:t>“Our mission is to advance the careers of women statisticians through advocacy, providing resources and learning opportunities, increasing their professional participation and visibility, and promoting and assessing research that impacts women statisticians.”</a:t>
            </a:r>
          </a:p>
        </p:txBody>
      </p:sp>
      <p:pic>
        <p:nvPicPr>
          <p:cNvPr id="3" name="Picture 2" descr="A drawing of a cartoon character&#10;&#10;Description automatically generated">
            <a:extLst>
              <a:ext uri="{FF2B5EF4-FFF2-40B4-BE49-F238E27FC236}">
                <a16:creationId xmlns:a16="http://schemas.microsoft.com/office/drawing/2014/main" id="{7DB6EB13-5C61-450B-9CCD-FD0D5DF454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2025" y="1108918"/>
            <a:ext cx="1581150" cy="1243838"/>
          </a:xfrm>
          <a:prstGeom prst="rect">
            <a:avLst/>
          </a:prstGeom>
        </p:spPr>
      </p:pic>
      <p:pic>
        <p:nvPicPr>
          <p:cNvPr id="5" name="Picture 4" descr="A close up of a logo&#10;&#10;Description automatically generated">
            <a:extLst>
              <a:ext uri="{FF2B5EF4-FFF2-40B4-BE49-F238E27FC236}">
                <a16:creationId xmlns:a16="http://schemas.microsoft.com/office/drawing/2014/main" id="{9680E932-61FE-43A9-B485-C4731BCFBD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10400" y="1295400"/>
            <a:ext cx="971550" cy="1414463"/>
          </a:xfrm>
          <a:prstGeom prst="rect">
            <a:avLst/>
          </a:prstGeom>
        </p:spPr>
      </p:pic>
    </p:spTree>
    <p:extLst>
      <p:ext uri="{BB962C8B-B14F-4D97-AF65-F5344CB8AC3E}">
        <p14:creationId xmlns:p14="http://schemas.microsoft.com/office/powerpoint/2010/main" val="1375461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F624A1B-E410-41CB-9441-AB961A78E4B8}"/>
              </a:ext>
            </a:extLst>
          </p:cNvPr>
          <p:cNvSpPr txBox="1"/>
          <p:nvPr/>
        </p:nvSpPr>
        <p:spPr>
          <a:xfrm>
            <a:off x="685800" y="4196255"/>
            <a:ext cx="7772400" cy="421094"/>
          </a:xfrm>
          <a:prstGeom prst="rect">
            <a:avLst/>
          </a:prstGeom>
          <a:solidFill>
            <a:schemeClr val="bg1"/>
          </a:solidFill>
        </p:spPr>
        <p:txBody>
          <a:bodyPr wrap="square" rtlCol="0">
            <a:spAutoFit/>
          </a:bodyPr>
          <a:lstStyle/>
          <a:p>
            <a:endParaRPr lang="en-US" dirty="0"/>
          </a:p>
        </p:txBody>
      </p:sp>
      <p:sp>
        <p:nvSpPr>
          <p:cNvPr id="4098"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R and RStudio</a:t>
            </a:r>
          </a:p>
        </p:txBody>
      </p:sp>
      <p:sp>
        <p:nvSpPr>
          <p:cNvPr id="4099" name="Text Box 3"/>
          <p:cNvSpPr txBox="1">
            <a:spLocks noChangeArrowheads="1"/>
          </p:cNvSpPr>
          <p:nvPr/>
        </p:nvSpPr>
        <p:spPr bwMode="auto">
          <a:xfrm>
            <a:off x="2612231" y="1399702"/>
            <a:ext cx="3505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r>
              <a:rPr lang="en-US" sz="2000" dirty="0">
                <a:solidFill>
                  <a:srgbClr val="0000FF"/>
                </a:solidFill>
                <a:hlinkClick r:id="rId2"/>
              </a:rPr>
              <a:t>https://www.r-project.org/</a:t>
            </a:r>
            <a:endParaRPr lang="en-US" dirty="0"/>
          </a:p>
        </p:txBody>
      </p:sp>
      <p:sp>
        <p:nvSpPr>
          <p:cNvPr id="4100" name="Text Box 4"/>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114693" name="Cloud"/>
          <p:cNvSpPr>
            <a:spLocks noChangeAspect="1" noEditPoints="1" noChangeArrowheads="1"/>
          </p:cNvSpPr>
          <p:nvPr/>
        </p:nvSpPr>
        <p:spPr bwMode="auto">
          <a:xfrm>
            <a:off x="419099" y="3114497"/>
            <a:ext cx="8305801" cy="2783011"/>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lumMod val="20000"/>
              <a:lumOff val="80000"/>
            </a:schemeClr>
          </a:solidFill>
          <a:ln w="9525">
            <a:solidFill>
              <a:srgbClr val="000000"/>
            </a:solidFill>
            <a:miter lim="800000"/>
            <a:headEnd/>
            <a:tailEnd/>
          </a:ln>
          <a:effectLst>
            <a:outerShdw dist="107763" dir="2700000" algn="ctr" rotWithShape="0">
              <a:srgbClr val="808080"/>
            </a:outerShdw>
          </a:effectLst>
        </p:spPr>
        <p:txBody>
          <a:bodyPr/>
          <a:lstStyle/>
          <a:p>
            <a:pPr algn="ctr">
              <a:defRPr/>
            </a:pPr>
            <a:r>
              <a:rPr lang="en-US" sz="1600" dirty="0"/>
              <a:t>R is a free software environment for statistical computing and graphics. It runs on UNIX ,Windows, and MacOS. The R Foundation is a not-for-profit organization. RStudio is an integrated development environment (IDE) for R, available in open source and commercial editions, compatible with Python. It includes a console, an editor for direct code execution, and tools for plotting, history, debugging and workspace management.</a:t>
            </a:r>
          </a:p>
        </p:txBody>
      </p:sp>
      <p:pic>
        <p:nvPicPr>
          <p:cNvPr id="4102" name="Picture 7" descr="Travel &amp; Tourism 166.gif"/>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1447800"/>
            <a:ext cx="1249363"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3" name="Up Arrow 8"/>
          <p:cNvSpPr>
            <a:spLocks noChangeArrowheads="1"/>
          </p:cNvSpPr>
          <p:nvPr/>
        </p:nvSpPr>
        <p:spPr bwMode="auto">
          <a:xfrm>
            <a:off x="4101408" y="2519330"/>
            <a:ext cx="609600" cy="457200"/>
          </a:xfrm>
          <a:prstGeom prst="upArrow">
            <a:avLst>
              <a:gd name="adj1" fmla="val 50000"/>
              <a:gd name="adj2" fmla="val 50000"/>
            </a:avLst>
          </a:prstGeom>
          <a:solidFill>
            <a:schemeClr val="accent1"/>
          </a:solidFill>
          <a:ln w="9525" algn="ctr">
            <a:solidFill>
              <a:schemeClr val="tx1"/>
            </a:solidFill>
            <a:round/>
            <a:headEnd/>
            <a:tailEnd/>
          </a:ln>
        </p:spPr>
        <p:txBody>
          <a:bodyPr/>
          <a:lstStyle/>
          <a:p>
            <a:endParaRPr lang="en-US"/>
          </a:p>
        </p:txBody>
      </p:sp>
      <p:pic>
        <p:nvPicPr>
          <p:cNvPr id="4104" name="Picture 9" descr="Business 4107.gif"/>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0568" y="1425575"/>
            <a:ext cx="957263" cy="124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9">
            <a:extLst>
              <a:ext uri="{FF2B5EF4-FFF2-40B4-BE49-F238E27FC236}">
                <a16:creationId xmlns:a16="http://schemas.microsoft.com/office/drawing/2014/main" id="{40BCCC3E-FD59-430E-8896-620F003482BF}"/>
              </a:ext>
            </a:extLst>
          </p:cNvPr>
          <p:cNvSpPr txBox="1"/>
          <p:nvPr/>
        </p:nvSpPr>
        <p:spPr>
          <a:xfrm>
            <a:off x="2411617" y="1838641"/>
            <a:ext cx="3989183" cy="374204"/>
          </a:xfrm>
          <a:prstGeom prst="rect">
            <a:avLst/>
          </a:prstGeom>
          <a:noFill/>
        </p:spPr>
        <p:txBody>
          <a:bodyPr wrap="square" rtlCol="0">
            <a:spAutoFit/>
          </a:bodyPr>
          <a:lstStyle/>
          <a:p>
            <a:r>
              <a:rPr lang="en-US" dirty="0">
                <a:hlinkClick r:id="rId5"/>
              </a:rPr>
              <a:t>https://rstudio.com/products/rstudio/</a:t>
            </a:r>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Journals for Learning</a:t>
            </a:r>
          </a:p>
        </p:txBody>
      </p:sp>
      <p:sp>
        <p:nvSpPr>
          <p:cNvPr id="3075" name="Text Box 3"/>
          <p:cNvSpPr txBox="1">
            <a:spLocks noChangeArrowheads="1"/>
          </p:cNvSpPr>
          <p:nvPr/>
        </p:nvSpPr>
        <p:spPr bwMode="auto">
          <a:xfrm>
            <a:off x="1143000" y="1776240"/>
            <a:ext cx="7620000" cy="3305520"/>
          </a:xfrm>
          <a:prstGeom prst="rect">
            <a:avLst/>
          </a:prstGeom>
          <a:solidFill>
            <a:schemeClr val="bg1"/>
          </a:solidFill>
          <a:ln>
            <a:noFill/>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buFontTx/>
              <a:buChar char="•"/>
            </a:pPr>
            <a:r>
              <a:rPr lang="en-US" dirty="0"/>
              <a:t> Chance (non-technical articles and datasets)</a:t>
            </a:r>
          </a:p>
          <a:p>
            <a:r>
              <a:rPr lang="en-US" sz="2400" dirty="0">
                <a:solidFill>
                  <a:srgbClr val="0000FF"/>
                </a:solidFill>
              </a:rPr>
              <a:t>      </a:t>
            </a:r>
            <a:r>
              <a:rPr lang="en-US" sz="2400" dirty="0">
                <a:solidFill>
                  <a:srgbClr val="0000FF"/>
                </a:solidFill>
                <a:hlinkClick r:id="rId2"/>
              </a:rPr>
              <a:t>https://www.tandfonline.com/journals/ucha20</a:t>
            </a:r>
            <a:endParaRPr lang="en-US" sz="2400" dirty="0">
              <a:solidFill>
                <a:srgbClr val="0000FF"/>
              </a:solidFill>
            </a:endParaRPr>
          </a:p>
          <a:p>
            <a:endParaRPr lang="en-US" sz="2000" dirty="0">
              <a:solidFill>
                <a:srgbClr val="0000FF"/>
              </a:solidFill>
            </a:endParaRPr>
          </a:p>
          <a:p>
            <a:pPr>
              <a:lnSpc>
                <a:spcPct val="70000"/>
              </a:lnSpc>
              <a:spcBef>
                <a:spcPct val="50000"/>
              </a:spcBef>
              <a:buFontTx/>
              <a:buChar char="•"/>
            </a:pPr>
            <a:r>
              <a:rPr lang="en-US" dirty="0"/>
              <a:t> Teaching Statistics (accessible online journal)</a:t>
            </a:r>
          </a:p>
          <a:p>
            <a:r>
              <a:rPr lang="en-US" sz="2000" dirty="0">
                <a:solidFill>
                  <a:srgbClr val="0000FF"/>
                </a:solidFill>
              </a:rPr>
              <a:t>      </a:t>
            </a:r>
            <a:r>
              <a:rPr lang="en-US" sz="2000" dirty="0">
                <a:solidFill>
                  <a:srgbClr val="0000FF"/>
                </a:solidFill>
                <a:hlinkClick r:id="rId3"/>
              </a:rPr>
              <a:t>https://onlinelibrary.wiley.com/journal/14679639</a:t>
            </a:r>
            <a:endParaRPr lang="en-US" sz="2000" dirty="0">
              <a:solidFill>
                <a:srgbClr val="0000FF"/>
              </a:solidFill>
            </a:endParaRPr>
          </a:p>
          <a:p>
            <a:endParaRPr lang="en-US" sz="2000" dirty="0">
              <a:solidFill>
                <a:srgbClr val="0000FF"/>
              </a:solidFill>
            </a:endParaRPr>
          </a:p>
          <a:p>
            <a:pPr>
              <a:buFontTx/>
              <a:buChar char="•"/>
            </a:pPr>
            <a:r>
              <a:rPr lang="en-US" dirty="0"/>
              <a:t> Journal of Statistics and Data Science Education (articles)</a:t>
            </a:r>
          </a:p>
          <a:p>
            <a:r>
              <a:rPr lang="en-US" sz="2000" dirty="0">
                <a:solidFill>
                  <a:srgbClr val="0000FF"/>
                </a:solidFill>
              </a:rPr>
              <a:t>      </a:t>
            </a:r>
            <a:r>
              <a:rPr lang="en-US" sz="2000" dirty="0">
                <a:solidFill>
                  <a:srgbClr val="0000FF"/>
                </a:solidFill>
                <a:hlinkClick r:id="rId4"/>
              </a:rPr>
              <a:t>https://amstat.tandfonline.com/loi/ujse21</a:t>
            </a:r>
            <a:endParaRPr lang="en-US" sz="2000" dirty="0">
              <a:solidFill>
                <a:srgbClr val="0000FF"/>
              </a:solidFill>
            </a:endParaRPr>
          </a:p>
          <a:p>
            <a:endParaRPr 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Free Software</a:t>
            </a:r>
          </a:p>
        </p:txBody>
      </p:sp>
      <p:sp>
        <p:nvSpPr>
          <p:cNvPr id="6147" name="Text Box 3"/>
          <p:cNvSpPr txBox="1">
            <a:spLocks noChangeArrowheads="1"/>
          </p:cNvSpPr>
          <p:nvPr/>
        </p:nvSpPr>
        <p:spPr bwMode="auto">
          <a:xfrm>
            <a:off x="1356049" y="1908110"/>
            <a:ext cx="7086600" cy="72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70000"/>
              </a:lnSpc>
              <a:spcBef>
                <a:spcPct val="50000"/>
              </a:spcBef>
            </a:pPr>
            <a:r>
              <a:rPr lang="en-US" dirty="0"/>
              <a:t>John C. </a:t>
            </a:r>
            <a:r>
              <a:rPr lang="en-US" dirty="0" err="1"/>
              <a:t>Pezzullo's</a:t>
            </a:r>
            <a:r>
              <a:rPr lang="en-US" dirty="0"/>
              <a:t> Home Page</a:t>
            </a:r>
          </a:p>
          <a:p>
            <a:pPr algn="ctr"/>
            <a:r>
              <a:rPr lang="en-US" sz="2000" dirty="0">
                <a:solidFill>
                  <a:srgbClr val="0000FF"/>
                </a:solidFill>
              </a:rPr>
              <a:t> </a:t>
            </a:r>
            <a:r>
              <a:rPr lang="en-US" sz="2000" dirty="0">
                <a:solidFill>
                  <a:srgbClr val="0000FF"/>
                </a:solidFill>
                <a:hlinkClick r:id="rId2"/>
              </a:rPr>
              <a:t>https://statpages.info/javasta2.html</a:t>
            </a:r>
            <a:r>
              <a:rPr lang="en-US" dirty="0">
                <a:hlinkClick r:id="rId2"/>
              </a:rPr>
              <a:t> </a:t>
            </a:r>
            <a:endParaRPr lang="en-US" dirty="0"/>
          </a:p>
        </p:txBody>
      </p:sp>
      <p:sp>
        <p:nvSpPr>
          <p:cNvPr id="6148" name="Text Box 6"/>
          <p:cNvSpPr txBox="1">
            <a:spLocks noChangeArrowheads="1"/>
          </p:cNvSpPr>
          <p:nvPr/>
        </p:nvSpPr>
        <p:spPr bwMode="auto">
          <a:xfrm>
            <a:off x="1219200" y="358140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92169" name="Cloud"/>
          <p:cNvSpPr>
            <a:spLocks noChangeAspect="1" noEditPoints="1" noChangeArrowheads="1"/>
          </p:cNvSpPr>
          <p:nvPr/>
        </p:nvSpPr>
        <p:spPr bwMode="auto">
          <a:xfrm>
            <a:off x="1143000" y="3505200"/>
            <a:ext cx="6858000" cy="1981200"/>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lumMod val="20000"/>
              <a:lumOff val="80000"/>
            </a:schemeClr>
          </a:solidFill>
          <a:ln w="9525">
            <a:solidFill>
              <a:srgbClr val="000000"/>
            </a:solidFill>
            <a:miter lim="800000"/>
            <a:headEnd/>
            <a:tailEnd/>
          </a:ln>
          <a:effectLst>
            <a:outerShdw dist="107763" dir="2700000" algn="ctr" rotWithShape="0">
              <a:srgbClr val="808080"/>
            </a:outerShdw>
          </a:effectLst>
        </p:spPr>
        <p:txBody>
          <a:bodyPr/>
          <a:lstStyle/>
          <a:p>
            <a:pPr>
              <a:defRPr/>
            </a:pPr>
            <a:r>
              <a:rPr lang="en-US" sz="1600" dirty="0"/>
              <a:t>This web site offers links to algorithms and statistical software, much of it free.  The web site author was formerly Associate Professor in the Departments of Pharmacology and Biostatistics at Georgetown University, in Washington, DC.</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Affordable</a:t>
            </a:r>
          </a:p>
        </p:txBody>
      </p:sp>
      <p:sp>
        <p:nvSpPr>
          <p:cNvPr id="6147" name="Text Box 3"/>
          <p:cNvSpPr txBox="1">
            <a:spLocks noChangeArrowheads="1"/>
          </p:cNvSpPr>
          <p:nvPr/>
        </p:nvSpPr>
        <p:spPr bwMode="auto">
          <a:xfrm>
            <a:off x="1371600" y="1696218"/>
            <a:ext cx="6629400" cy="3465564"/>
          </a:xfrm>
          <a:prstGeom prst="rect">
            <a:avLst/>
          </a:prstGeom>
          <a:solidFill>
            <a:schemeClr val="bg1"/>
          </a:solidFill>
          <a:ln>
            <a:noFill/>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342900" indent="-342900">
              <a:lnSpc>
                <a:spcPct val="70000"/>
              </a:lnSpc>
              <a:spcBef>
                <a:spcPct val="50000"/>
              </a:spcBef>
              <a:buFont typeface="Arial" panose="020B0604020202020204" pitchFamily="34" charset="0"/>
              <a:buChar char="•"/>
            </a:pPr>
            <a:r>
              <a:rPr lang="en-US" dirty="0"/>
              <a:t>Open Intro (free or cheap learning tools) </a:t>
            </a:r>
          </a:p>
          <a:p>
            <a:pPr>
              <a:lnSpc>
                <a:spcPct val="70000"/>
              </a:lnSpc>
              <a:spcBef>
                <a:spcPct val="50000"/>
              </a:spcBef>
            </a:pPr>
            <a:r>
              <a:rPr lang="en-US" sz="2000" dirty="0">
                <a:hlinkClick r:id="rId2"/>
              </a:rPr>
              <a:t>	https://www.openintro.org/</a:t>
            </a:r>
            <a:endParaRPr lang="en-US" sz="2000" dirty="0"/>
          </a:p>
          <a:p>
            <a:pPr>
              <a:lnSpc>
                <a:spcPct val="70000"/>
              </a:lnSpc>
              <a:spcBef>
                <a:spcPct val="50000"/>
              </a:spcBef>
            </a:pPr>
            <a:endParaRPr lang="en-US" dirty="0"/>
          </a:p>
          <a:p>
            <a:pPr marL="342900" indent="-342900">
              <a:lnSpc>
                <a:spcPct val="70000"/>
              </a:lnSpc>
              <a:spcBef>
                <a:spcPct val="50000"/>
              </a:spcBef>
              <a:buFont typeface="Arial" panose="020B0604020202020204" pitchFamily="34" charset="0"/>
              <a:buChar char="•"/>
            </a:pPr>
            <a:r>
              <a:rPr lang="en-US" dirty="0"/>
              <a:t>Learning Statistics With R (Danielle Navarro)</a:t>
            </a:r>
          </a:p>
          <a:p>
            <a:pPr>
              <a:lnSpc>
                <a:spcPct val="70000"/>
              </a:lnSpc>
              <a:spcBef>
                <a:spcPct val="50000"/>
              </a:spcBef>
            </a:pPr>
            <a:r>
              <a:rPr lang="en-US" sz="2000" dirty="0">
                <a:hlinkClick r:id="rId3"/>
              </a:rPr>
              <a:t>	https://learningstatisticswithr.com/</a:t>
            </a:r>
            <a:endParaRPr lang="en-US" sz="2000" dirty="0"/>
          </a:p>
          <a:p>
            <a:pPr>
              <a:lnSpc>
                <a:spcPct val="70000"/>
              </a:lnSpc>
              <a:spcBef>
                <a:spcPct val="50000"/>
              </a:spcBef>
            </a:pPr>
            <a:endParaRPr lang="en-US" sz="2000" dirty="0"/>
          </a:p>
          <a:p>
            <a:pPr marL="342900" indent="-342900">
              <a:lnSpc>
                <a:spcPct val="70000"/>
              </a:lnSpc>
              <a:spcBef>
                <a:spcPct val="50000"/>
              </a:spcBef>
              <a:buFont typeface="Arial" panose="020B0604020202020204" pitchFamily="34" charset="0"/>
              <a:buChar char="•"/>
            </a:pPr>
            <a:r>
              <a:rPr lang="en-US" dirty="0"/>
              <a:t>Open College Books (mostly free)</a:t>
            </a:r>
          </a:p>
          <a:p>
            <a:pPr>
              <a:lnSpc>
                <a:spcPct val="70000"/>
              </a:lnSpc>
              <a:spcBef>
                <a:spcPct val="50000"/>
              </a:spcBef>
            </a:pPr>
            <a:r>
              <a:rPr lang="en-US" sz="2000" dirty="0">
                <a:hlinkClick r:id="rId4"/>
              </a:rPr>
              <a:t>	http://www.opencollegebooks.org/</a:t>
            </a:r>
            <a:endParaRPr lang="en-US" sz="2000" dirty="0"/>
          </a:p>
          <a:p>
            <a:pPr algn="ctr"/>
            <a:r>
              <a:rPr lang="en-US" sz="2000" dirty="0">
                <a:solidFill>
                  <a:srgbClr val="0000FF"/>
                </a:solidFill>
              </a:rPr>
              <a:t> </a:t>
            </a:r>
            <a:endParaRPr lang="en-US" dirty="0"/>
          </a:p>
        </p:txBody>
      </p:sp>
    </p:spTree>
    <p:extLst>
      <p:ext uri="{BB962C8B-B14F-4D97-AF65-F5344CB8AC3E}">
        <p14:creationId xmlns:p14="http://schemas.microsoft.com/office/powerpoint/2010/main" val="2175322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Data Sets</a:t>
            </a:r>
          </a:p>
        </p:txBody>
      </p:sp>
      <p:sp>
        <p:nvSpPr>
          <p:cNvPr id="11267" name="Text Box 3"/>
          <p:cNvSpPr txBox="1">
            <a:spLocks noChangeArrowheads="1"/>
          </p:cNvSpPr>
          <p:nvPr/>
        </p:nvSpPr>
        <p:spPr bwMode="auto">
          <a:xfrm>
            <a:off x="1295400" y="1447800"/>
            <a:ext cx="6553200" cy="3453253"/>
          </a:xfrm>
          <a:prstGeom prst="rect">
            <a:avLst/>
          </a:prstGeom>
          <a:solidFill>
            <a:schemeClr val="bg1"/>
          </a:solidFill>
          <a:ln>
            <a:noFill/>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130000"/>
              </a:lnSpc>
              <a:buFontTx/>
              <a:buChar char="•"/>
            </a:pPr>
            <a:r>
              <a:rPr lang="en-US" dirty="0"/>
              <a:t> Duke University</a:t>
            </a:r>
          </a:p>
          <a:p>
            <a:pPr>
              <a:lnSpc>
                <a:spcPct val="130000"/>
              </a:lnSpc>
            </a:pPr>
            <a:r>
              <a:rPr lang="en-US" dirty="0">
                <a:solidFill>
                  <a:srgbClr val="0000FF"/>
                </a:solidFill>
              </a:rPr>
              <a:t> 	</a:t>
            </a:r>
            <a:r>
              <a:rPr lang="en-US" sz="2000" dirty="0">
                <a:solidFill>
                  <a:srgbClr val="0000FF"/>
                </a:solidFill>
                <a:hlinkClick r:id="rId2"/>
              </a:rPr>
              <a:t>https://stat.duke.edu/resources/datasets</a:t>
            </a:r>
            <a:endParaRPr lang="en-US" sz="2000" dirty="0">
              <a:solidFill>
                <a:srgbClr val="0000FF"/>
              </a:solidFill>
            </a:endParaRPr>
          </a:p>
          <a:p>
            <a:pPr>
              <a:lnSpc>
                <a:spcPct val="130000"/>
              </a:lnSpc>
            </a:pPr>
            <a:endParaRPr lang="en-US" sz="1600" dirty="0">
              <a:solidFill>
                <a:srgbClr val="0000FF"/>
              </a:solidFill>
            </a:endParaRPr>
          </a:p>
          <a:p>
            <a:pPr>
              <a:lnSpc>
                <a:spcPct val="130000"/>
              </a:lnSpc>
              <a:buFontTx/>
              <a:buChar char="•"/>
            </a:pPr>
            <a:r>
              <a:rPr lang="en-US" dirty="0"/>
              <a:t> SOCR – Univ of S. California</a:t>
            </a:r>
          </a:p>
          <a:p>
            <a:pPr>
              <a:lnSpc>
                <a:spcPct val="130000"/>
              </a:lnSpc>
            </a:pPr>
            <a:r>
              <a:rPr lang="en-US" sz="2000" dirty="0">
                <a:solidFill>
                  <a:srgbClr val="0000FF"/>
                </a:solidFill>
              </a:rPr>
              <a:t>	</a:t>
            </a:r>
            <a:r>
              <a:rPr lang="en-US" sz="2000" dirty="0">
                <a:solidFill>
                  <a:srgbClr val="0000FF"/>
                </a:solidFill>
                <a:hlinkClick r:id="rId3"/>
              </a:rPr>
              <a:t>http://www.socr.ucla.edu/SOCR.html</a:t>
            </a:r>
            <a:endParaRPr lang="en-US" sz="2000" dirty="0">
              <a:solidFill>
                <a:srgbClr val="0000FF"/>
              </a:solidFill>
            </a:endParaRPr>
          </a:p>
          <a:p>
            <a:pPr>
              <a:lnSpc>
                <a:spcPct val="130000"/>
              </a:lnSpc>
            </a:pPr>
            <a:endParaRPr lang="en-US" sz="2000" dirty="0">
              <a:solidFill>
                <a:srgbClr val="0000FF"/>
              </a:solidFill>
            </a:endParaRPr>
          </a:p>
          <a:p>
            <a:pPr>
              <a:buFontTx/>
              <a:buChar char="•"/>
            </a:pPr>
            <a:r>
              <a:rPr lang="en-US" dirty="0"/>
              <a:t> Data sets and story library (basic statistics)</a:t>
            </a:r>
          </a:p>
          <a:p>
            <a:r>
              <a:rPr lang="en-US" sz="2800" dirty="0">
                <a:solidFill>
                  <a:srgbClr val="0000FF"/>
                </a:solidFill>
              </a:rPr>
              <a:t>      </a:t>
            </a:r>
            <a:r>
              <a:rPr lang="en-US" sz="2000" dirty="0">
                <a:solidFill>
                  <a:srgbClr val="0000FF"/>
                </a:solidFill>
                <a:hlinkClick r:id="rId4"/>
              </a:rPr>
              <a:t>https://dasl.datadescription.com/</a:t>
            </a:r>
            <a:endParaRPr lang="en-US" sz="2000" dirty="0">
              <a:solidFill>
                <a:srgbClr val="0000FF"/>
              </a:solidFill>
            </a:endParaRPr>
          </a:p>
        </p:txBody>
      </p:sp>
    </p:spTree>
    <p:extLst>
      <p:ext uri="{BB962C8B-B14F-4D97-AF65-F5344CB8AC3E}">
        <p14:creationId xmlns:p14="http://schemas.microsoft.com/office/powerpoint/2010/main" val="1590272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Big Data Sets</a:t>
            </a:r>
          </a:p>
        </p:txBody>
      </p:sp>
      <p:sp>
        <p:nvSpPr>
          <p:cNvPr id="7171" name="Text Box 3"/>
          <p:cNvSpPr txBox="1">
            <a:spLocks noChangeArrowheads="1"/>
          </p:cNvSpPr>
          <p:nvPr/>
        </p:nvSpPr>
        <p:spPr bwMode="auto">
          <a:xfrm>
            <a:off x="990600" y="1524000"/>
            <a:ext cx="7391400" cy="3524042"/>
          </a:xfrm>
          <a:prstGeom prst="rect">
            <a:avLst/>
          </a:prstGeom>
          <a:solidFill>
            <a:schemeClr val="bg1"/>
          </a:solidFill>
          <a:ln>
            <a:noFill/>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900" dirty="0"/>
              <a:t> </a:t>
            </a:r>
          </a:p>
          <a:p>
            <a:pPr>
              <a:buFontTx/>
              <a:buChar char="•"/>
            </a:pPr>
            <a:r>
              <a:rPr lang="en-US" dirty="0"/>
              <a:t> Free Big Data Repository Links</a:t>
            </a:r>
          </a:p>
          <a:p>
            <a:pPr>
              <a:spcBef>
                <a:spcPct val="50000"/>
              </a:spcBef>
            </a:pPr>
            <a:r>
              <a:rPr lang="en-US" sz="2000" dirty="0">
                <a:solidFill>
                  <a:srgbClr val="0000FF"/>
                </a:solidFill>
              </a:rPr>
              <a:t>     </a:t>
            </a:r>
            <a:r>
              <a:rPr lang="en-US" sz="2000" dirty="0">
                <a:solidFill>
                  <a:srgbClr val="0000FF"/>
                </a:solidFill>
                <a:hlinkClick r:id="rId2"/>
              </a:rPr>
              <a:t>https://www.datasciencecentral.com/profiles/blogs/a-plethora-of-data-set-repositories</a:t>
            </a:r>
            <a:endParaRPr lang="en-US" sz="2000" dirty="0">
              <a:solidFill>
                <a:srgbClr val="0000FF"/>
              </a:solidFill>
            </a:endParaRPr>
          </a:p>
          <a:p>
            <a:pPr>
              <a:spcBef>
                <a:spcPct val="50000"/>
              </a:spcBef>
            </a:pPr>
            <a:endParaRPr lang="en-US" sz="2000" dirty="0">
              <a:solidFill>
                <a:srgbClr val="0000FF"/>
              </a:solidFill>
            </a:endParaRPr>
          </a:p>
          <a:p>
            <a:pPr>
              <a:spcBef>
                <a:spcPct val="50000"/>
              </a:spcBef>
            </a:pPr>
            <a:endParaRPr lang="en-US" sz="2000" dirty="0">
              <a:solidFill>
                <a:srgbClr val="0000FF"/>
              </a:solidFill>
            </a:endParaRPr>
          </a:p>
          <a:p>
            <a:pPr>
              <a:spcBef>
                <a:spcPct val="50000"/>
              </a:spcBef>
            </a:pPr>
            <a:endParaRPr lang="en-US" sz="2000" dirty="0">
              <a:solidFill>
                <a:srgbClr val="0000FF"/>
              </a:solidFill>
            </a:endParaRPr>
          </a:p>
          <a:p>
            <a:pPr>
              <a:spcBef>
                <a:spcPct val="50000"/>
              </a:spcBef>
            </a:pPr>
            <a:endParaRPr lang="en-US" sz="2000" dirty="0">
              <a:solidFill>
                <a:srgbClr val="0000FF"/>
              </a:solidFill>
            </a:endParaRPr>
          </a:p>
          <a:p>
            <a:endParaRPr lang="en-US" sz="2000" dirty="0">
              <a:solidFill>
                <a:srgbClr val="0000FF"/>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5600" y="3048000"/>
            <a:ext cx="2239200" cy="1828800"/>
          </a:xfrm>
          <a:prstGeom prst="rect">
            <a:avLst/>
          </a:prstGeom>
        </p:spPr>
      </p:pic>
    </p:spTree>
    <p:extLst>
      <p:ext uri="{BB962C8B-B14F-4D97-AF65-F5344CB8AC3E}">
        <p14:creationId xmlns:p14="http://schemas.microsoft.com/office/powerpoint/2010/main" val="1300913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Government Data I</a:t>
            </a:r>
          </a:p>
        </p:txBody>
      </p:sp>
      <p:sp>
        <p:nvSpPr>
          <p:cNvPr id="9219" name="Text Box 3"/>
          <p:cNvSpPr txBox="1">
            <a:spLocks noChangeArrowheads="1"/>
          </p:cNvSpPr>
          <p:nvPr/>
        </p:nvSpPr>
        <p:spPr bwMode="auto">
          <a:xfrm>
            <a:off x="838200" y="1676400"/>
            <a:ext cx="7848600" cy="3139321"/>
          </a:xfrm>
          <a:prstGeom prst="rect">
            <a:avLst/>
          </a:prstGeom>
          <a:solidFill>
            <a:schemeClr val="bg1"/>
          </a:solidFill>
          <a:ln>
            <a:noFill/>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342900" indent="-342900">
              <a:spcAft>
                <a:spcPts val="600"/>
              </a:spcAft>
              <a:buFont typeface="Arial" panose="020B0604020202020204" pitchFamily="34" charset="0"/>
              <a:buChar char="•"/>
            </a:pPr>
            <a:r>
              <a:rPr lang="en-US" dirty="0"/>
              <a:t>Bureau of Economic Analysis 		</a:t>
            </a:r>
            <a:r>
              <a:rPr lang="en-US" dirty="0">
                <a:hlinkClick r:id="rId2"/>
              </a:rPr>
              <a:t>www.bea.gov </a:t>
            </a:r>
            <a:r>
              <a:rPr lang="en-US" dirty="0"/>
              <a:t>	</a:t>
            </a:r>
          </a:p>
          <a:p>
            <a:pPr marL="342900" indent="-342900">
              <a:spcAft>
                <a:spcPts val="600"/>
              </a:spcAft>
              <a:buFont typeface="Arial" panose="020B0604020202020204" pitchFamily="34" charset="0"/>
              <a:buChar char="•"/>
            </a:pPr>
            <a:r>
              <a:rPr lang="en-US" dirty="0"/>
              <a:t>Bureau of Justice Statistics 		</a:t>
            </a:r>
            <a:r>
              <a:rPr lang="en-US" dirty="0">
                <a:hlinkClick r:id="rId3"/>
              </a:rPr>
              <a:t>www.bjs.gov </a:t>
            </a:r>
            <a:r>
              <a:rPr lang="en-US" dirty="0"/>
              <a:t>	</a:t>
            </a:r>
          </a:p>
          <a:p>
            <a:pPr marL="342900" indent="-342900">
              <a:spcAft>
                <a:spcPts val="600"/>
              </a:spcAft>
              <a:buFont typeface="Arial" panose="020B0604020202020204" pitchFamily="34" charset="0"/>
              <a:buChar char="•"/>
            </a:pPr>
            <a:r>
              <a:rPr lang="en-US" dirty="0"/>
              <a:t>Bureau of Labor Statistics 			</a:t>
            </a:r>
            <a:r>
              <a:rPr lang="en-US" dirty="0">
                <a:hlinkClick r:id="rId4"/>
              </a:rPr>
              <a:t>www.bls.gov </a:t>
            </a:r>
            <a:r>
              <a:rPr lang="en-US" dirty="0"/>
              <a:t>	</a:t>
            </a:r>
          </a:p>
          <a:p>
            <a:pPr marL="342900" indent="-342900">
              <a:spcAft>
                <a:spcPts val="600"/>
              </a:spcAft>
              <a:buFont typeface="Arial" panose="020B0604020202020204" pitchFamily="34" charset="0"/>
              <a:buChar char="•"/>
            </a:pPr>
            <a:r>
              <a:rPr lang="en-US" dirty="0"/>
              <a:t>Central Intelligence Agency 		</a:t>
            </a:r>
            <a:r>
              <a:rPr lang="en-US" dirty="0">
                <a:hlinkClick r:id="rId5"/>
              </a:rPr>
              <a:t>www.cia.gov</a:t>
            </a:r>
            <a:endParaRPr lang="en-US" dirty="0"/>
          </a:p>
          <a:p>
            <a:pPr marL="342900" indent="-342900">
              <a:spcAft>
                <a:spcPts val="600"/>
              </a:spcAft>
              <a:buFont typeface="Arial" panose="020B0604020202020204" pitchFamily="34" charset="0"/>
              <a:buChar char="•"/>
            </a:pPr>
            <a:r>
              <a:rPr lang="en-US" dirty="0"/>
              <a:t>Economic Report of President 		</a:t>
            </a:r>
            <a:r>
              <a:rPr lang="en-US" dirty="0">
                <a:hlinkClick r:id="rId6"/>
              </a:rPr>
              <a:t>www.gpo.gov/erp </a:t>
            </a:r>
            <a:r>
              <a:rPr lang="en-US" dirty="0"/>
              <a:t>	</a:t>
            </a:r>
          </a:p>
          <a:p>
            <a:pPr marL="342900" indent="-342900">
              <a:spcAft>
                <a:spcPts val="600"/>
              </a:spcAft>
              <a:buFont typeface="Arial" panose="020B0604020202020204" pitchFamily="34" charset="0"/>
              <a:buChar char="•"/>
            </a:pPr>
            <a:r>
              <a:rPr lang="en-US" dirty="0"/>
              <a:t>Environmental Protection Agency 	</a:t>
            </a:r>
            <a:r>
              <a:rPr lang="en-US" dirty="0">
                <a:hlinkClick r:id="rId7"/>
              </a:rPr>
              <a:t>www.epa.gov </a:t>
            </a:r>
            <a:r>
              <a:rPr lang="en-US" dirty="0"/>
              <a:t>	</a:t>
            </a:r>
          </a:p>
          <a:p>
            <a:pPr marL="342900" indent="-342900">
              <a:spcAft>
                <a:spcPts val="600"/>
              </a:spcAft>
              <a:buFont typeface="Arial" panose="020B0604020202020204" pitchFamily="34" charset="0"/>
              <a:buChar char="•"/>
            </a:pPr>
            <a:r>
              <a:rPr lang="en-US" dirty="0"/>
              <a:t>Federal Reserve System 			</a:t>
            </a:r>
            <a:r>
              <a:rPr lang="en-US" dirty="0">
                <a:hlinkClick r:id="rId8"/>
              </a:rPr>
              <a:t>www.federalreserve.gov</a:t>
            </a:r>
            <a:endParaRPr lang="en-US" dirty="0"/>
          </a:p>
        </p:txBody>
      </p:sp>
    </p:spTree>
    <p:extLst>
      <p:ext uri="{BB962C8B-B14F-4D97-AF65-F5344CB8AC3E}">
        <p14:creationId xmlns:p14="http://schemas.microsoft.com/office/powerpoint/2010/main" val="733601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Government Data II</a:t>
            </a:r>
          </a:p>
        </p:txBody>
      </p:sp>
      <p:sp>
        <p:nvSpPr>
          <p:cNvPr id="9219" name="Text Box 3"/>
          <p:cNvSpPr txBox="1">
            <a:spLocks noChangeArrowheads="1"/>
          </p:cNvSpPr>
          <p:nvPr/>
        </p:nvSpPr>
        <p:spPr bwMode="auto">
          <a:xfrm>
            <a:off x="936734" y="1447800"/>
            <a:ext cx="7270531" cy="3585597"/>
          </a:xfrm>
          <a:prstGeom prst="rect">
            <a:avLst/>
          </a:prstGeom>
          <a:solidFill>
            <a:schemeClr val="bg1"/>
          </a:solidFill>
          <a:ln>
            <a:noFill/>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342900" indent="-342900">
              <a:spcAft>
                <a:spcPts val="600"/>
              </a:spcAft>
              <a:buFont typeface="Arial" panose="020B0604020202020204" pitchFamily="34" charset="0"/>
              <a:buChar char="•"/>
            </a:pPr>
            <a:r>
              <a:rPr lang="en-US" dirty="0"/>
              <a:t>Agricultural Statistics 		</a:t>
            </a:r>
            <a:r>
              <a:rPr lang="en-US" dirty="0">
                <a:hlinkClick r:id="rId2"/>
              </a:rPr>
              <a:t>www.nass.usda.gov</a:t>
            </a:r>
            <a:endParaRPr lang="en-US" dirty="0"/>
          </a:p>
          <a:p>
            <a:pPr marL="342900" indent="-342900">
              <a:spcAft>
                <a:spcPts val="600"/>
              </a:spcAft>
              <a:buFont typeface="Arial" panose="020B0604020202020204" pitchFamily="34" charset="0"/>
              <a:buChar char="•"/>
            </a:pPr>
            <a:r>
              <a:rPr lang="en-US" dirty="0"/>
              <a:t>Education Statistics 		</a:t>
            </a:r>
            <a:r>
              <a:rPr lang="en-US" dirty="0">
                <a:hlinkClick r:id="rId3"/>
              </a:rPr>
              <a:t>www.nces.ed.gov</a:t>
            </a:r>
            <a:endParaRPr lang="en-US" dirty="0"/>
          </a:p>
          <a:p>
            <a:pPr marL="342900" indent="-342900">
              <a:spcAft>
                <a:spcPts val="600"/>
              </a:spcAft>
              <a:buFont typeface="Arial" panose="020B0604020202020204" pitchFamily="34" charset="0"/>
              <a:buChar char="•"/>
            </a:pPr>
            <a:r>
              <a:rPr lang="en-US" dirty="0"/>
              <a:t>Food/Drug Admin		 	</a:t>
            </a:r>
            <a:r>
              <a:rPr lang="en-US" dirty="0">
                <a:hlinkClick r:id="rId4"/>
              </a:rPr>
              <a:t>www.fda.gov</a:t>
            </a:r>
            <a:endParaRPr lang="en-US" sz="2800" dirty="0"/>
          </a:p>
          <a:p>
            <a:pPr marL="342900" indent="-342900">
              <a:spcAft>
                <a:spcPts val="600"/>
              </a:spcAft>
              <a:buFont typeface="Arial" panose="020B0604020202020204" pitchFamily="34" charset="0"/>
              <a:buChar char="•"/>
            </a:pPr>
            <a:r>
              <a:rPr lang="en-US" dirty="0"/>
              <a:t>Health Statistics 			</a:t>
            </a:r>
            <a:r>
              <a:rPr lang="en-US" dirty="0">
                <a:hlinkClick r:id="rId5"/>
              </a:rPr>
              <a:t>www.cdc.gov/nchs</a:t>
            </a:r>
            <a:endParaRPr lang="en-US" dirty="0"/>
          </a:p>
          <a:p>
            <a:pPr marL="342900" indent="-342900">
              <a:spcAft>
                <a:spcPts val="600"/>
              </a:spcAft>
              <a:buFont typeface="Arial" panose="020B0604020202020204" pitchFamily="34" charset="0"/>
              <a:buChar char="•"/>
            </a:pPr>
            <a:r>
              <a:rPr lang="en-US" dirty="0"/>
              <a:t>Internal Revenue Service</a:t>
            </a:r>
            <a:r>
              <a:rPr lang="en-US" dirty="0">
                <a:solidFill>
                  <a:srgbClr val="0000FF"/>
                </a:solidFill>
              </a:rPr>
              <a:t> 	</a:t>
            </a:r>
            <a:r>
              <a:rPr lang="en-US" dirty="0">
                <a:solidFill>
                  <a:srgbClr val="0000FF"/>
                </a:solidFill>
                <a:hlinkClick r:id="rId6"/>
              </a:rPr>
              <a:t>www.irs.gov/statistics</a:t>
            </a:r>
            <a:endParaRPr lang="en-US" dirty="0">
              <a:solidFill>
                <a:srgbClr val="0000FF"/>
              </a:solidFill>
            </a:endParaRPr>
          </a:p>
          <a:p>
            <a:pPr marL="342900" indent="-342900">
              <a:spcAft>
                <a:spcPts val="600"/>
              </a:spcAft>
              <a:buFont typeface="Arial" panose="020B0604020202020204" pitchFamily="34" charset="0"/>
              <a:buChar char="•"/>
            </a:pPr>
            <a:r>
              <a:rPr lang="en-US" dirty="0"/>
              <a:t>Transportation</a:t>
            </a:r>
            <a:r>
              <a:rPr lang="en-US" dirty="0">
                <a:solidFill>
                  <a:srgbClr val="0000FF"/>
                </a:solidFill>
              </a:rPr>
              <a:t>   			</a:t>
            </a:r>
            <a:r>
              <a:rPr lang="en-US" dirty="0">
                <a:solidFill>
                  <a:srgbClr val="0000FF"/>
                </a:solidFill>
                <a:hlinkClick r:id="rId7"/>
              </a:rPr>
              <a:t>www.bts.gov</a:t>
            </a:r>
            <a:r>
              <a:rPr lang="en-US" dirty="0"/>
              <a:t> 	</a:t>
            </a:r>
          </a:p>
          <a:p>
            <a:pPr marL="342900" indent="-342900">
              <a:spcAft>
                <a:spcPts val="600"/>
              </a:spcAft>
              <a:buFont typeface="Arial" panose="020B0604020202020204" pitchFamily="34" charset="0"/>
              <a:buChar char="•"/>
            </a:pPr>
            <a:r>
              <a:rPr lang="en-US" dirty="0"/>
              <a:t>U.S. Census Bureau 		</a:t>
            </a:r>
            <a:r>
              <a:rPr lang="en-US" dirty="0">
                <a:hlinkClick r:id="rId8"/>
              </a:rPr>
              <a:t>www.census.gov</a:t>
            </a:r>
            <a:r>
              <a:rPr lang="en-US" dirty="0"/>
              <a:t>	</a:t>
            </a:r>
          </a:p>
          <a:p>
            <a:pPr marL="342900" indent="-342900">
              <a:spcAft>
                <a:spcPts val="600"/>
              </a:spcAft>
              <a:buFont typeface="Arial" panose="020B0604020202020204" pitchFamily="34" charset="0"/>
              <a:buChar char="•"/>
            </a:pPr>
            <a:r>
              <a:rPr lang="en-US" dirty="0"/>
              <a:t>U.S. Federal Statistics 		</a:t>
            </a:r>
            <a:r>
              <a:rPr lang="en-US" dirty="0">
                <a:hlinkClick r:id="rId9"/>
              </a:rPr>
              <a:t>www.usa.gov/statistics</a:t>
            </a:r>
            <a:endParaRPr lang="en-US" sz="2000" dirty="0">
              <a:solidFill>
                <a:srgbClr val="0000FF"/>
              </a:solidFill>
            </a:endParaRPr>
          </a:p>
        </p:txBody>
      </p:sp>
    </p:spTree>
    <p:extLst>
      <p:ext uri="{BB962C8B-B14F-4D97-AF65-F5344CB8AC3E}">
        <p14:creationId xmlns:p14="http://schemas.microsoft.com/office/powerpoint/2010/main" val="4059487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Other Data Sources</a:t>
            </a:r>
          </a:p>
        </p:txBody>
      </p:sp>
      <p:sp>
        <p:nvSpPr>
          <p:cNvPr id="9219" name="Text Box 3"/>
          <p:cNvSpPr txBox="1">
            <a:spLocks noChangeArrowheads="1"/>
          </p:cNvSpPr>
          <p:nvPr/>
        </p:nvSpPr>
        <p:spPr bwMode="auto">
          <a:xfrm>
            <a:off x="914400" y="1447800"/>
            <a:ext cx="7696200" cy="3585597"/>
          </a:xfrm>
          <a:prstGeom prst="rect">
            <a:avLst/>
          </a:prstGeom>
          <a:solidFill>
            <a:schemeClr val="bg1"/>
          </a:solidFill>
          <a:ln>
            <a:noFill/>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342900" indent="-342900">
              <a:spcAft>
                <a:spcPts val="600"/>
              </a:spcAft>
              <a:buFont typeface="Arial" panose="020B0604020202020204" pitchFamily="34" charset="0"/>
              <a:buChar char="•"/>
            </a:pPr>
            <a:r>
              <a:rPr lang="en-US" dirty="0"/>
              <a:t>Org for Econ Dev				</a:t>
            </a:r>
            <a:r>
              <a:rPr lang="en-US" dirty="0">
                <a:hlinkClick r:id="rId2"/>
              </a:rPr>
              <a:t>www.oecd.org</a:t>
            </a:r>
            <a:endParaRPr lang="en-US" dirty="0"/>
          </a:p>
          <a:p>
            <a:pPr marL="342900" indent="-342900">
              <a:spcAft>
                <a:spcPts val="600"/>
              </a:spcAft>
              <a:buFont typeface="Arial" panose="020B0604020202020204" pitchFamily="34" charset="0"/>
              <a:buChar char="•"/>
            </a:pPr>
            <a:r>
              <a:rPr lang="en-US" dirty="0"/>
              <a:t>Statistics Canada 				</a:t>
            </a:r>
            <a:r>
              <a:rPr lang="en-US" dirty="0">
                <a:hlinkClick r:id="rId3"/>
              </a:rPr>
              <a:t>www.statcan.gc.ca</a:t>
            </a:r>
            <a:r>
              <a:rPr lang="en-US" dirty="0"/>
              <a:t> </a:t>
            </a:r>
          </a:p>
          <a:p>
            <a:pPr marL="342900" indent="-342900">
              <a:spcAft>
                <a:spcPts val="600"/>
              </a:spcAft>
              <a:buFont typeface="Arial" panose="020B0604020202020204" pitchFamily="34" charset="0"/>
              <a:buChar char="•"/>
            </a:pPr>
            <a:r>
              <a:rPr lang="en-US" dirty="0"/>
              <a:t>USA Facts				 		</a:t>
            </a:r>
            <a:r>
              <a:rPr lang="en-US" dirty="0">
                <a:hlinkClick r:id="rId4"/>
              </a:rPr>
              <a:t>https://usafacts.org</a:t>
            </a:r>
            <a:endParaRPr lang="en-US" dirty="0"/>
          </a:p>
          <a:p>
            <a:pPr marL="342900" indent="-342900">
              <a:spcAft>
                <a:spcPts val="600"/>
              </a:spcAft>
              <a:buFont typeface="Arial" panose="020B0604020202020204" pitchFamily="34" charset="0"/>
              <a:buChar char="•"/>
            </a:pPr>
            <a:r>
              <a:rPr lang="en-US" dirty="0"/>
              <a:t>U.N. Econ/Social Affairs 		</a:t>
            </a:r>
            <a:r>
              <a:rPr lang="en-US" dirty="0">
                <a:hlinkClick r:id="rId5"/>
              </a:rPr>
              <a:t>www.un.org/depts/unsd</a:t>
            </a:r>
            <a:endParaRPr lang="en-US" dirty="0"/>
          </a:p>
          <a:p>
            <a:pPr marL="342900" indent="-342900">
              <a:spcAft>
                <a:spcPts val="600"/>
              </a:spcAft>
              <a:buFont typeface="Arial" panose="020B0604020202020204" pitchFamily="34" charset="0"/>
              <a:buChar char="•"/>
            </a:pPr>
            <a:r>
              <a:rPr lang="en-US" dirty="0"/>
              <a:t>World Bank 					</a:t>
            </a:r>
            <a:r>
              <a:rPr lang="en-US" dirty="0">
                <a:hlinkClick r:id="rId6"/>
              </a:rPr>
              <a:t>www.worldbank.org </a:t>
            </a:r>
            <a:r>
              <a:rPr lang="en-US" dirty="0"/>
              <a:t>	</a:t>
            </a:r>
          </a:p>
          <a:p>
            <a:pPr marL="342900" indent="-342900">
              <a:spcAft>
                <a:spcPts val="600"/>
              </a:spcAft>
              <a:buFont typeface="Arial" panose="020B0604020202020204" pitchFamily="34" charset="0"/>
              <a:buChar char="•"/>
            </a:pPr>
            <a:r>
              <a:rPr lang="en-US" dirty="0"/>
              <a:t>World Demographics 			</a:t>
            </a:r>
            <a:r>
              <a:rPr lang="en-US" dirty="0">
                <a:hlinkClick r:id="rId7"/>
              </a:rPr>
              <a:t>www.demographia.com </a:t>
            </a:r>
            <a:r>
              <a:rPr lang="en-US" dirty="0"/>
              <a:t>	</a:t>
            </a:r>
          </a:p>
          <a:p>
            <a:pPr marL="342900" indent="-342900">
              <a:spcAft>
                <a:spcPts val="600"/>
              </a:spcAft>
              <a:buFont typeface="Arial" panose="020B0604020202020204" pitchFamily="34" charset="0"/>
              <a:buChar char="•"/>
            </a:pPr>
            <a:r>
              <a:rPr lang="en-US" dirty="0"/>
              <a:t>World Health Organization 	</a:t>
            </a:r>
            <a:r>
              <a:rPr lang="en-US" dirty="0">
                <a:hlinkClick r:id="rId8"/>
              </a:rPr>
              <a:t>www.who.int/en</a:t>
            </a:r>
            <a:endParaRPr lang="en-US" dirty="0"/>
          </a:p>
          <a:p>
            <a:pPr marL="342900" indent="-342900">
              <a:spcAft>
                <a:spcPts val="600"/>
              </a:spcAft>
              <a:buFont typeface="Arial" panose="020B0604020202020204" pitchFamily="34" charset="0"/>
              <a:buChar char="•"/>
            </a:pPr>
            <a:r>
              <a:rPr lang="en-US" dirty="0" err="1"/>
              <a:t>Worldometers</a:t>
            </a:r>
            <a:r>
              <a:rPr lang="en-US" dirty="0"/>
              <a:t>	 				</a:t>
            </a:r>
            <a:r>
              <a:rPr lang="en-US" dirty="0">
                <a:hlinkClick r:id="rId9"/>
              </a:rPr>
              <a:t>www.worldometers.info</a:t>
            </a:r>
            <a:endParaRPr lang="en-US" sz="2000" dirty="0">
              <a:solidFill>
                <a:srgbClr val="0000FF"/>
              </a:solidFill>
            </a:endParaRPr>
          </a:p>
        </p:txBody>
      </p:sp>
    </p:spTree>
    <p:extLst>
      <p:ext uri="{BB962C8B-B14F-4D97-AF65-F5344CB8AC3E}">
        <p14:creationId xmlns:p14="http://schemas.microsoft.com/office/powerpoint/2010/main" val="10559963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Fun Sites - I</a:t>
            </a:r>
          </a:p>
        </p:txBody>
      </p:sp>
      <p:sp>
        <p:nvSpPr>
          <p:cNvPr id="10243" name="Text Box 3"/>
          <p:cNvSpPr txBox="1">
            <a:spLocks noChangeArrowheads="1"/>
          </p:cNvSpPr>
          <p:nvPr/>
        </p:nvSpPr>
        <p:spPr bwMode="auto">
          <a:xfrm>
            <a:off x="838200" y="1524000"/>
            <a:ext cx="7696200" cy="1979068"/>
          </a:xfrm>
          <a:prstGeom prst="rect">
            <a:avLst/>
          </a:prstGeom>
          <a:solidFill>
            <a:schemeClr val="bg1"/>
          </a:solidFill>
          <a:ln>
            <a:noFill/>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buFontTx/>
              <a:buChar char="•"/>
            </a:pPr>
            <a:r>
              <a:rPr lang="en-US" dirty="0"/>
              <a:t> Claremont Graduate University</a:t>
            </a:r>
          </a:p>
          <a:p>
            <a:pPr marL="457200" lvl="1" indent="0"/>
            <a:r>
              <a:rPr lang="en-US" sz="2000" dirty="0">
                <a:solidFill>
                  <a:srgbClr val="0000FF"/>
                </a:solidFill>
                <a:hlinkClick r:id="rId2"/>
              </a:rPr>
              <a:t>https://wise1.cgu.edu/applets.asp</a:t>
            </a:r>
            <a:endParaRPr lang="en-US" sz="2000" dirty="0">
              <a:solidFill>
                <a:srgbClr val="0000FF"/>
              </a:solidFill>
            </a:endParaRPr>
          </a:p>
          <a:p>
            <a:pPr>
              <a:buFontTx/>
              <a:buChar char="•"/>
            </a:pPr>
            <a:endParaRPr lang="en-US" dirty="0"/>
          </a:p>
          <a:p>
            <a:pPr>
              <a:lnSpc>
                <a:spcPct val="130000"/>
              </a:lnSpc>
              <a:buFontTx/>
              <a:buChar char="•"/>
            </a:pPr>
            <a:r>
              <a:rPr lang="en-US" dirty="0"/>
              <a:t> Process Capability</a:t>
            </a:r>
          </a:p>
          <a:p>
            <a:pPr>
              <a:lnSpc>
                <a:spcPct val="130000"/>
              </a:lnSpc>
            </a:pPr>
            <a:r>
              <a:rPr lang="en-US" sz="2000" dirty="0">
                <a:solidFill>
                  <a:srgbClr val="0000FF"/>
                </a:solidFill>
              </a:rPr>
              <a:t> 	</a:t>
            </a:r>
            <a:r>
              <a:rPr lang="en-US" sz="2000" dirty="0">
                <a:solidFill>
                  <a:srgbClr val="0000FF"/>
                </a:solidFill>
                <a:hlinkClick r:id="rId3"/>
              </a:rPr>
              <a:t>https://elsmar.com/Cp_vs_Cpk.html</a:t>
            </a:r>
            <a:endParaRPr lang="en-US" sz="2000" dirty="0">
              <a:solidFill>
                <a:srgbClr val="0000FF"/>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Fun Sites - II</a:t>
            </a:r>
          </a:p>
        </p:txBody>
      </p:sp>
      <p:sp>
        <p:nvSpPr>
          <p:cNvPr id="11267" name="Text Box 3"/>
          <p:cNvSpPr txBox="1">
            <a:spLocks noChangeArrowheads="1"/>
          </p:cNvSpPr>
          <p:nvPr/>
        </p:nvSpPr>
        <p:spPr bwMode="auto">
          <a:xfrm>
            <a:off x="914400" y="1486256"/>
            <a:ext cx="7465291" cy="3885487"/>
          </a:xfrm>
          <a:prstGeom prst="rect">
            <a:avLst/>
          </a:prstGeom>
          <a:solidFill>
            <a:schemeClr val="bg1"/>
          </a:solidFill>
          <a:ln>
            <a:noFill/>
          </a:ln>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nSpc>
                <a:spcPct val="130000"/>
              </a:lnSpc>
            </a:pPr>
            <a:endParaRPr lang="en-US" sz="1600" dirty="0">
              <a:solidFill>
                <a:srgbClr val="0000FF"/>
              </a:solidFill>
            </a:endParaRPr>
          </a:p>
          <a:p>
            <a:pPr>
              <a:lnSpc>
                <a:spcPct val="130000"/>
              </a:lnSpc>
              <a:buFontTx/>
              <a:buChar char="•"/>
            </a:pPr>
            <a:r>
              <a:rPr lang="en-US" dirty="0"/>
              <a:t> </a:t>
            </a:r>
            <a:r>
              <a:rPr lang="en-US" dirty="0" err="1"/>
              <a:t>KDNuggets</a:t>
            </a:r>
            <a:endParaRPr lang="en-US" dirty="0"/>
          </a:p>
          <a:p>
            <a:pPr>
              <a:lnSpc>
                <a:spcPct val="130000"/>
              </a:lnSpc>
            </a:pPr>
            <a:r>
              <a:rPr lang="en-US" dirty="0">
                <a:solidFill>
                  <a:srgbClr val="0000FF"/>
                </a:solidFill>
              </a:rPr>
              <a:t> 	</a:t>
            </a:r>
            <a:r>
              <a:rPr lang="en-US" sz="2000" dirty="0">
                <a:solidFill>
                  <a:srgbClr val="0000FF"/>
                </a:solidFill>
                <a:hlinkClick r:id="rId2"/>
              </a:rPr>
              <a:t>https://www.kdnuggets.com/</a:t>
            </a:r>
            <a:endParaRPr lang="en-US" sz="2000" dirty="0">
              <a:solidFill>
                <a:srgbClr val="0000FF"/>
              </a:solidFill>
            </a:endParaRPr>
          </a:p>
          <a:p>
            <a:pPr>
              <a:lnSpc>
                <a:spcPct val="130000"/>
              </a:lnSpc>
            </a:pPr>
            <a:endParaRPr lang="en-US" sz="1600" dirty="0">
              <a:solidFill>
                <a:srgbClr val="0000FF"/>
              </a:solidFill>
            </a:endParaRPr>
          </a:p>
          <a:p>
            <a:pPr>
              <a:lnSpc>
                <a:spcPct val="130000"/>
              </a:lnSpc>
              <a:buFontTx/>
              <a:buChar char="•"/>
            </a:pPr>
            <a:r>
              <a:rPr lang="en-US" dirty="0"/>
              <a:t> Newton Gresham Library </a:t>
            </a:r>
            <a:r>
              <a:rPr lang="en-US" dirty="0">
                <a:hlinkClick r:id="rId3">
                  <a:extLst>
                    <a:ext uri="{A12FA001-AC4F-418D-AE19-62706E023703}">
                      <ahyp:hlinkClr xmlns:ahyp="http://schemas.microsoft.com/office/drawing/2018/hyperlinkcolor" val="tx"/>
                    </a:ext>
                  </a:extLst>
                </a:hlinkClick>
              </a:rPr>
              <a:t>–</a:t>
            </a:r>
            <a:r>
              <a:rPr lang="en-US" dirty="0"/>
              <a:t> Sam Houston State University</a:t>
            </a:r>
            <a:endParaRPr lang="en-US" dirty="0">
              <a:hlinkClick r:id="rId3">
                <a:extLst>
                  <a:ext uri="{A12FA001-AC4F-418D-AE19-62706E023703}">
                    <ahyp:hlinkClr xmlns:ahyp="http://schemas.microsoft.com/office/drawing/2018/hyperlinkcolor" val="tx"/>
                  </a:ext>
                </a:extLst>
              </a:hlinkClick>
            </a:endParaRPr>
          </a:p>
          <a:p>
            <a:pPr>
              <a:lnSpc>
                <a:spcPct val="130000"/>
              </a:lnSpc>
            </a:pPr>
            <a:r>
              <a:rPr lang="en-US" sz="2000" dirty="0">
                <a:solidFill>
                  <a:srgbClr val="0000FF"/>
                </a:solidFill>
              </a:rPr>
              <a:t>	 </a:t>
            </a:r>
            <a:r>
              <a:rPr lang="en-US" sz="2000" dirty="0">
                <a:solidFill>
                  <a:srgbClr val="0000FF"/>
                </a:solidFill>
                <a:hlinkClick r:id="rId4"/>
              </a:rPr>
              <a:t>https://shsulibraryguides.org/stats</a:t>
            </a:r>
            <a:endParaRPr lang="en-US" sz="2000" dirty="0">
              <a:solidFill>
                <a:srgbClr val="0000FF"/>
              </a:solidFill>
            </a:endParaRPr>
          </a:p>
          <a:p>
            <a:pPr>
              <a:lnSpc>
                <a:spcPct val="130000"/>
              </a:lnSpc>
            </a:pPr>
            <a:endParaRPr lang="en-US" sz="2000" dirty="0">
              <a:solidFill>
                <a:srgbClr val="0000FF"/>
              </a:solidFill>
            </a:endParaRPr>
          </a:p>
          <a:p>
            <a:pPr>
              <a:lnSpc>
                <a:spcPct val="130000"/>
              </a:lnSpc>
            </a:pPr>
            <a:endParaRPr lang="en-US" dirty="0"/>
          </a:p>
        </p:txBody>
      </p:sp>
    </p:spTree>
    <p:extLst>
      <p:ext uri="{BB962C8B-B14F-4D97-AF65-F5344CB8AC3E}">
        <p14:creationId xmlns:p14="http://schemas.microsoft.com/office/powerpoint/2010/main" val="1769858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Graphs</a:t>
            </a:r>
          </a:p>
        </p:txBody>
      </p:sp>
      <p:sp>
        <p:nvSpPr>
          <p:cNvPr id="4099" name="Text Box 3"/>
          <p:cNvSpPr txBox="1">
            <a:spLocks noChangeArrowheads="1"/>
          </p:cNvSpPr>
          <p:nvPr/>
        </p:nvSpPr>
        <p:spPr bwMode="auto">
          <a:xfrm>
            <a:off x="1295400" y="1295400"/>
            <a:ext cx="7086600" cy="1397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a:lnSpc>
                <a:spcPct val="70000"/>
              </a:lnSpc>
              <a:spcBef>
                <a:spcPct val="50000"/>
              </a:spcBef>
            </a:pPr>
            <a:r>
              <a:rPr lang="en-US" b="1" i="1" dirty="0">
                <a:latin typeface="Calibri" pitchFamily="34" charset="0"/>
              </a:rPr>
              <a:t>American Statistical Association</a:t>
            </a:r>
          </a:p>
          <a:p>
            <a:pPr algn="ctr">
              <a:lnSpc>
                <a:spcPct val="70000"/>
              </a:lnSpc>
              <a:spcBef>
                <a:spcPct val="50000"/>
              </a:spcBef>
            </a:pPr>
            <a:r>
              <a:rPr lang="en-US" b="1" dirty="0">
                <a:solidFill>
                  <a:srgbClr val="C00000"/>
                </a:solidFill>
                <a:latin typeface="+mn-lt"/>
              </a:rPr>
              <a:t>What's Going On in This Graph</a:t>
            </a:r>
            <a:endParaRPr lang="en-US" dirty="0">
              <a:solidFill>
                <a:srgbClr val="C00000"/>
              </a:solidFill>
              <a:latin typeface="+mn-lt"/>
            </a:endParaRPr>
          </a:p>
          <a:p>
            <a:pPr algn="ctr">
              <a:lnSpc>
                <a:spcPct val="70000"/>
              </a:lnSpc>
              <a:spcBef>
                <a:spcPct val="50000"/>
              </a:spcBef>
            </a:pPr>
            <a:endParaRPr lang="en-US" sz="1600" dirty="0"/>
          </a:p>
          <a:p>
            <a:pPr algn="ctr"/>
            <a:r>
              <a:rPr lang="en-US" sz="2000" dirty="0">
                <a:solidFill>
                  <a:srgbClr val="0000FF"/>
                </a:solidFill>
                <a:hlinkClick r:id="rId2"/>
              </a:rPr>
              <a:t> </a:t>
            </a:r>
            <a:r>
              <a:rPr lang="en-US" sz="2000" dirty="0">
                <a:solidFill>
                  <a:srgbClr val="0000FF"/>
                </a:solidFill>
                <a:latin typeface="+mn-lt"/>
              </a:rPr>
              <a:t>https://www.amstat.org/ASA/Whats-Going-on-in-this-Graph.aspx</a:t>
            </a:r>
            <a:endParaRPr lang="en-US" dirty="0">
              <a:latin typeface="+mn-lt"/>
            </a:endParaRPr>
          </a:p>
        </p:txBody>
      </p:sp>
      <p:sp>
        <p:nvSpPr>
          <p:cNvPr id="4100" name="Text Box 4"/>
          <p:cNvSpPr txBox="1">
            <a:spLocks noChangeArrowheads="1"/>
          </p:cNvSpPr>
          <p:nvPr/>
        </p:nvSpPr>
        <p:spPr bwMode="auto">
          <a:xfrm>
            <a:off x="1208809" y="3694240"/>
            <a:ext cx="5410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endParaRPr lang="en-US"/>
          </a:p>
        </p:txBody>
      </p:sp>
      <p:sp>
        <p:nvSpPr>
          <p:cNvPr id="114693" name="Cloud"/>
          <p:cNvSpPr>
            <a:spLocks noChangeAspect="1" noEditPoints="1" noChangeArrowheads="1"/>
          </p:cNvSpPr>
          <p:nvPr/>
        </p:nvSpPr>
        <p:spPr bwMode="auto">
          <a:xfrm>
            <a:off x="1524000" y="4621493"/>
            <a:ext cx="6629400" cy="1397306"/>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chemeClr val="accent1">
              <a:lumMod val="20000"/>
              <a:lumOff val="80000"/>
            </a:schemeClr>
          </a:solidFill>
          <a:ln w="9525">
            <a:solidFill>
              <a:srgbClr val="000000"/>
            </a:solidFill>
            <a:miter lim="800000"/>
            <a:headEnd/>
            <a:tailEnd/>
          </a:ln>
          <a:effectLst>
            <a:outerShdw dist="107763" dir="2700000" algn="ctr" rotWithShape="0">
              <a:srgbClr val="808080"/>
            </a:outerShdw>
          </a:effectLst>
        </p:spPr>
        <p:txBody>
          <a:bodyPr/>
          <a:lstStyle/>
          <a:p>
            <a:pPr>
              <a:defRPr/>
            </a:pPr>
            <a:r>
              <a:rPr lang="en-US" sz="1600" dirty="0"/>
              <a:t>What's Going On in This Graph is a free, online weekly feature from The New York Times Learning Network and the American Statistical Association.</a:t>
            </a:r>
          </a:p>
        </p:txBody>
      </p:sp>
      <p:sp>
        <p:nvSpPr>
          <p:cNvPr id="4103" name="Up Arrow 8"/>
          <p:cNvSpPr>
            <a:spLocks noChangeArrowheads="1"/>
          </p:cNvSpPr>
          <p:nvPr/>
        </p:nvSpPr>
        <p:spPr bwMode="auto">
          <a:xfrm>
            <a:off x="4419600" y="3666351"/>
            <a:ext cx="609600" cy="457200"/>
          </a:xfrm>
          <a:prstGeom prst="upArrow">
            <a:avLst>
              <a:gd name="adj1" fmla="val 50000"/>
              <a:gd name="adj2" fmla="val 50000"/>
            </a:avLst>
          </a:prstGeom>
          <a:solidFill>
            <a:schemeClr val="accent1"/>
          </a:solidFill>
          <a:ln w="9525" algn="ctr">
            <a:solidFill>
              <a:schemeClr val="tx1"/>
            </a:solidFill>
            <a:round/>
            <a:headEnd/>
            <a:tailEnd/>
          </a:ln>
        </p:spPr>
        <p:txBody>
          <a:bodyPr/>
          <a:lstStyle/>
          <a:p>
            <a:endParaRPr lang="en-US"/>
          </a:p>
        </p:txBody>
      </p:sp>
      <p:pic>
        <p:nvPicPr>
          <p:cNvPr id="3" name="Picture 2">
            <a:extLst>
              <a:ext uri="{FF2B5EF4-FFF2-40B4-BE49-F238E27FC236}">
                <a16:creationId xmlns:a16="http://schemas.microsoft.com/office/drawing/2014/main" id="{18345BE8-B0BE-4B8B-BD02-993E6A1038D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9193" y="2742831"/>
            <a:ext cx="1476375" cy="923520"/>
          </a:xfrm>
          <a:prstGeom prst="rect">
            <a:avLst/>
          </a:prstGeom>
        </p:spPr>
      </p:pic>
      <p:pic>
        <p:nvPicPr>
          <p:cNvPr id="5" name="Picture 4">
            <a:extLst>
              <a:ext uri="{FF2B5EF4-FFF2-40B4-BE49-F238E27FC236}">
                <a16:creationId xmlns:a16="http://schemas.microsoft.com/office/drawing/2014/main" id="{0F5EBD87-FC24-4AF9-9D2D-5ED6FB20C7A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77125" y="2726144"/>
            <a:ext cx="865317" cy="1121570"/>
          </a:xfrm>
          <a:prstGeom prst="rect">
            <a:avLst/>
          </a:prstGeom>
        </p:spPr>
      </p:pic>
    </p:spTree>
    <p:extLst>
      <p:ext uri="{BB962C8B-B14F-4D97-AF65-F5344CB8AC3E}">
        <p14:creationId xmlns:p14="http://schemas.microsoft.com/office/powerpoint/2010/main" val="2897099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Data Science</a:t>
            </a:r>
          </a:p>
        </p:txBody>
      </p:sp>
      <p:sp>
        <p:nvSpPr>
          <p:cNvPr id="4" name="TextBox 3"/>
          <p:cNvSpPr txBox="1"/>
          <p:nvPr/>
        </p:nvSpPr>
        <p:spPr>
          <a:xfrm>
            <a:off x="1433036" y="1828800"/>
            <a:ext cx="6263640" cy="2862322"/>
          </a:xfrm>
          <a:prstGeom prst="rect">
            <a:avLst/>
          </a:prstGeom>
          <a:solidFill>
            <a:schemeClr val="bg1"/>
          </a:solidFill>
        </p:spPr>
        <p:txBody>
          <a:bodyPr wrap="square" rtlCol="0">
            <a:spAutoFit/>
          </a:bodyPr>
          <a:lstStyle/>
          <a:p>
            <a:r>
              <a:rPr lang="en-US" sz="1600" dirty="0"/>
              <a:t>Statistics is a key component of the field of </a:t>
            </a:r>
            <a:r>
              <a:rPr lang="en-US" sz="1600" b="1" i="1" dirty="0">
                <a:solidFill>
                  <a:schemeClr val="accent2">
                    <a:lumMod val="75000"/>
                  </a:schemeClr>
                </a:solidFill>
              </a:rPr>
              <a:t>business intelligence</a:t>
            </a:r>
            <a:r>
              <a:rPr lang="en-US" sz="1600" dirty="0"/>
              <a:t>, which includes technologies for collecting, storing, accessing, and analyzing data in order to make better business decisions. Wikipedia defines </a:t>
            </a:r>
            <a:r>
              <a:rPr lang="en-US" sz="1600" b="1" i="1" dirty="0">
                <a:solidFill>
                  <a:schemeClr val="accent2">
                    <a:lumMod val="75000"/>
                  </a:schemeClr>
                </a:solidFill>
              </a:rPr>
              <a:t>data-mining</a:t>
            </a:r>
            <a:r>
              <a:rPr lang="en-US" sz="1600" dirty="0"/>
              <a:t> as the analysis of large quantities of data to extract previously unknown patterns, unusual cases, and dependencies. This involves using database techniques and powerful statistical tools. The growing field of </a:t>
            </a:r>
            <a:r>
              <a:rPr lang="en-US" sz="1600" b="1" i="1" dirty="0">
                <a:solidFill>
                  <a:schemeClr val="accent2">
                    <a:lumMod val="75000"/>
                  </a:schemeClr>
                </a:solidFill>
              </a:rPr>
              <a:t>data science </a:t>
            </a:r>
            <a:r>
              <a:rPr lang="en-US" sz="1600" dirty="0"/>
              <a:t>has engendered competitions and $$$ prizes for data prediction competitions that allows organizations to post their data and have it scrutinized by the world's best data scientists.</a:t>
            </a:r>
          </a:p>
          <a:p>
            <a:endParaRPr lang="en-US" sz="1200" dirty="0">
              <a:hlinkClick r:id="rId2"/>
            </a:endParaRPr>
          </a:p>
          <a:p>
            <a:pPr algn="ctr"/>
            <a:r>
              <a:rPr lang="en-US" dirty="0">
                <a:hlinkClick r:id="rId2"/>
              </a:rPr>
              <a:t>http://www.kaggle.com/</a:t>
            </a:r>
            <a:endParaRPr lang="en-US" dirty="0"/>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52799" y="4841572"/>
            <a:ext cx="2133601" cy="1210655"/>
          </a:xfrm>
          <a:prstGeom prst="rect">
            <a:avLst/>
          </a:prstGeom>
        </p:spPr>
      </p:pic>
    </p:spTree>
    <p:extLst>
      <p:ext uri="{BB962C8B-B14F-4D97-AF65-F5344CB8AC3E}">
        <p14:creationId xmlns:p14="http://schemas.microsoft.com/office/powerpoint/2010/main" val="3423014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28600"/>
            <a:ext cx="9144000" cy="731520"/>
          </a:xfrm>
        </p:spPr>
        <p:txBody>
          <a:bodyPr>
            <a:no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Data Science in One Picture</a:t>
            </a:r>
          </a:p>
        </p:txBody>
      </p:sp>
      <p:sp>
        <p:nvSpPr>
          <p:cNvPr id="3" name="Rectangle 2"/>
          <p:cNvSpPr/>
          <p:nvPr/>
        </p:nvSpPr>
        <p:spPr>
          <a:xfrm>
            <a:off x="2139389" y="2209800"/>
            <a:ext cx="4572000" cy="646331"/>
          </a:xfrm>
          <a:prstGeom prst="rect">
            <a:avLst/>
          </a:prstGeom>
        </p:spPr>
        <p:txBody>
          <a:bodyPr>
            <a:spAutoFit/>
          </a:bodyPr>
          <a:lstStyle/>
          <a:p>
            <a:r>
              <a:rPr lang="en-US" dirty="0">
                <a:hlinkClick r:id="rId2"/>
              </a:rPr>
              <a:t>http://www.datasciencecentral.com/profiles/blogs/data-science-summarized-in-one-picture</a:t>
            </a:r>
            <a:endParaRPr lang="en-US"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52800" y="3048000"/>
            <a:ext cx="2145178" cy="1631950"/>
          </a:xfrm>
          <a:prstGeom prst="rect">
            <a:avLst/>
          </a:prstGeom>
        </p:spPr>
      </p:pic>
    </p:spTree>
    <p:extLst>
      <p:ext uri="{BB962C8B-B14F-4D97-AF65-F5344CB8AC3E}">
        <p14:creationId xmlns:p14="http://schemas.microsoft.com/office/powerpoint/2010/main" val="263217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More Resources</a:t>
            </a:r>
          </a:p>
        </p:txBody>
      </p:sp>
      <p:sp>
        <p:nvSpPr>
          <p:cNvPr id="2" name="Rectangle 1"/>
          <p:cNvSpPr/>
          <p:nvPr/>
        </p:nvSpPr>
        <p:spPr>
          <a:xfrm>
            <a:off x="838200" y="1743307"/>
            <a:ext cx="7772400" cy="3877985"/>
          </a:xfrm>
          <a:prstGeom prst="rect">
            <a:avLst/>
          </a:prstGeom>
          <a:solidFill>
            <a:schemeClr val="bg1"/>
          </a:solidFill>
        </p:spPr>
        <p:txBody>
          <a:bodyPr wrap="square">
            <a:spAutoFit/>
          </a:bodyPr>
          <a:lstStyle/>
          <a:p>
            <a:pPr marL="285750" indent="-285750">
              <a:spcBef>
                <a:spcPts val="1800"/>
              </a:spcBef>
              <a:buClr>
                <a:schemeClr val="tx1"/>
              </a:buClr>
              <a:buFont typeface="Arial" panose="020B0604020202020204" pitchFamily="34" charset="0"/>
              <a:buChar char="•"/>
            </a:pPr>
            <a:r>
              <a:rPr lang="en-US" dirty="0">
                <a:solidFill>
                  <a:srgbClr val="0000FF"/>
                </a:solidFill>
                <a:latin typeface="Arial" charset="0"/>
                <a:hlinkClick r:id="rId2"/>
              </a:rPr>
              <a:t> http://www.datasciencecentral.com/profiles/blogs/20-articles-about-core-data-science  </a:t>
            </a:r>
            <a:endParaRPr lang="en-US" dirty="0">
              <a:solidFill>
                <a:srgbClr val="0000FF"/>
              </a:solidFill>
              <a:latin typeface="Arial" charset="0"/>
            </a:endParaRPr>
          </a:p>
          <a:p>
            <a:pPr marL="285750" indent="-285750">
              <a:spcBef>
                <a:spcPts val="1800"/>
              </a:spcBef>
              <a:buClr>
                <a:schemeClr val="tx1"/>
              </a:buClr>
              <a:buFont typeface="Arial" panose="020B0604020202020204" pitchFamily="34" charset="0"/>
              <a:buChar char="•"/>
            </a:pPr>
            <a:r>
              <a:rPr lang="en-US" dirty="0">
                <a:solidFill>
                  <a:srgbClr val="0000FF"/>
                </a:solidFill>
                <a:latin typeface="Arial" charset="0"/>
                <a:hlinkClick r:id="rId3"/>
              </a:rPr>
              <a:t>http://www.kdnuggets.com/2013/04/data-science-end-statistics-discussion.html </a:t>
            </a:r>
            <a:endParaRPr lang="en-US" dirty="0">
              <a:solidFill>
                <a:srgbClr val="0000FF"/>
              </a:solidFill>
              <a:latin typeface="Arial" charset="0"/>
            </a:endParaRPr>
          </a:p>
          <a:p>
            <a:pPr marL="285750" indent="-285750">
              <a:spcBef>
                <a:spcPts val="1800"/>
              </a:spcBef>
              <a:buClr>
                <a:schemeClr val="tx1"/>
              </a:buClr>
              <a:buFont typeface="Arial" panose="020B0604020202020204" pitchFamily="34" charset="0"/>
              <a:buChar char="•"/>
            </a:pPr>
            <a:r>
              <a:rPr lang="en-US" dirty="0">
                <a:solidFill>
                  <a:srgbClr val="0000FF"/>
                </a:solidFill>
                <a:latin typeface="Arial" charset="0"/>
                <a:hlinkClick r:id="rId4"/>
              </a:rPr>
              <a:t> http://spreadsheetpage.com/</a:t>
            </a:r>
            <a:endParaRPr lang="en-US" dirty="0">
              <a:solidFill>
                <a:srgbClr val="0000FF"/>
              </a:solidFill>
              <a:latin typeface="Arial" charset="0"/>
            </a:endParaRPr>
          </a:p>
          <a:p>
            <a:pPr marL="285750" indent="-285750">
              <a:spcBef>
                <a:spcPts val="1800"/>
              </a:spcBef>
              <a:buClr>
                <a:schemeClr val="tx1"/>
              </a:buClr>
              <a:buFont typeface="Arial" panose="020B0604020202020204" pitchFamily="34" charset="0"/>
              <a:buChar char="•"/>
            </a:pPr>
            <a:r>
              <a:rPr lang="en-US" dirty="0">
                <a:solidFill>
                  <a:srgbClr val="0000FF"/>
                </a:solidFill>
                <a:latin typeface="Arial" charset="0"/>
                <a:hlinkClick r:id="rId5"/>
              </a:rPr>
              <a:t> http://blogs.office.com/b/microsoft-excel/</a:t>
            </a:r>
            <a:endParaRPr lang="en-US" dirty="0">
              <a:solidFill>
                <a:srgbClr val="0000FF"/>
              </a:solidFill>
              <a:latin typeface="Arial" charset="0"/>
            </a:endParaRPr>
          </a:p>
          <a:p>
            <a:pPr marL="285750" indent="-285750">
              <a:spcBef>
                <a:spcPts val="1800"/>
              </a:spcBef>
              <a:buClr>
                <a:schemeClr val="tx1"/>
              </a:buClr>
              <a:buFont typeface="Arial" panose="020B0604020202020204" pitchFamily="34" charset="0"/>
              <a:buChar char="•"/>
            </a:pPr>
            <a:r>
              <a:rPr lang="en-US" dirty="0">
                <a:solidFill>
                  <a:srgbClr val="0000FF"/>
                </a:solidFill>
                <a:latin typeface="Arial" charset="0"/>
              </a:rPr>
              <a:t> </a:t>
            </a:r>
            <a:r>
              <a:rPr lang="en-US" dirty="0">
                <a:solidFill>
                  <a:srgbClr val="0000FF"/>
                </a:solidFill>
                <a:latin typeface="Arial" charset="0"/>
                <a:hlinkClick r:id="rId6"/>
              </a:rPr>
              <a:t>http://www.r-project.org/</a:t>
            </a:r>
            <a:endParaRPr lang="en-US" dirty="0">
              <a:solidFill>
                <a:srgbClr val="0000FF"/>
              </a:solidFill>
              <a:latin typeface="Arial" charset="0"/>
            </a:endParaRPr>
          </a:p>
          <a:p>
            <a:pPr marL="285750" indent="-285750">
              <a:spcBef>
                <a:spcPts val="1800"/>
              </a:spcBef>
              <a:buClr>
                <a:schemeClr val="tx1"/>
              </a:buClr>
              <a:buFont typeface="Arial" panose="020B0604020202020204" pitchFamily="34" charset="0"/>
              <a:buChar char="•"/>
            </a:pPr>
            <a:r>
              <a:rPr lang="en-US" dirty="0">
                <a:solidFill>
                  <a:srgbClr val="0000FF"/>
                </a:solidFill>
                <a:latin typeface="Arial" charset="0"/>
                <a:hlinkClick r:id="rId7"/>
              </a:rPr>
              <a:t> http://excelhero.com/blog/</a:t>
            </a:r>
            <a:endParaRPr lang="en-US" dirty="0">
              <a:solidFill>
                <a:srgbClr val="0000FF"/>
              </a:solidFill>
              <a:latin typeface="Arial" charset="0"/>
            </a:endParaRPr>
          </a:p>
          <a:p>
            <a:pPr>
              <a:spcBef>
                <a:spcPct val="50000"/>
              </a:spcBef>
            </a:pPr>
            <a:endParaRPr lang="en-US" dirty="0"/>
          </a:p>
        </p:txBody>
      </p:sp>
      <p:pic>
        <p:nvPicPr>
          <p:cNvPr id="4" name="Picture 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629400" y="3657600"/>
            <a:ext cx="1371600" cy="1665514"/>
          </a:xfrm>
          <a:prstGeom prst="rect">
            <a:avLst/>
          </a:prstGeom>
        </p:spPr>
      </p:pic>
    </p:spTree>
    <p:extLst>
      <p:ext uri="{BB962C8B-B14F-4D97-AF65-F5344CB8AC3E}">
        <p14:creationId xmlns:p14="http://schemas.microsoft.com/office/powerpoint/2010/main" val="2542672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p:nvPr>
        </p:nvSpPr>
        <p:spPr>
          <a:xfrm>
            <a:off x="0" y="228600"/>
            <a:ext cx="9144000" cy="731520"/>
          </a:xfrm>
        </p:spPr>
        <p:txBody>
          <a:bodyPr>
            <a:normAutofit/>
          </a:bodyPr>
          <a:lstStyle/>
          <a:p>
            <a:pPr algn="ctr"/>
            <a:r>
              <a:rPr lang="en-US" sz="3600" b="1" dirty="0">
                <a:solidFill>
                  <a:srgbClr val="C00000"/>
                </a:solidFill>
                <a:effectLst>
                  <a:outerShdw blurRad="38100" dist="38100" dir="2700000" algn="tl">
                    <a:srgbClr val="000000"/>
                  </a:outerShdw>
                </a:effectLst>
                <a:latin typeface="Arial" panose="020B0604020202020204" pitchFamily="34" charset="0"/>
                <a:cs typeface="Arial" panose="020B0604020202020204" pitchFamily="34" charset="0"/>
              </a:rPr>
              <a:t>And Wikipedia …</a:t>
            </a:r>
          </a:p>
        </p:txBody>
      </p:sp>
      <p:sp>
        <p:nvSpPr>
          <p:cNvPr id="2" name="Rectangle 1"/>
          <p:cNvSpPr/>
          <p:nvPr/>
        </p:nvSpPr>
        <p:spPr>
          <a:xfrm>
            <a:off x="914400" y="1982983"/>
            <a:ext cx="7924800" cy="2908489"/>
          </a:xfrm>
          <a:prstGeom prst="rect">
            <a:avLst/>
          </a:prstGeom>
          <a:solidFill>
            <a:schemeClr val="bg1"/>
          </a:solidFill>
        </p:spPr>
        <p:txBody>
          <a:bodyPr wrap="square">
            <a:spAutoFit/>
          </a:bodyPr>
          <a:lstStyle/>
          <a:p>
            <a:pPr marL="285750" indent="-285750">
              <a:spcBef>
                <a:spcPts val="1800"/>
              </a:spcBef>
              <a:buClr>
                <a:schemeClr val="tx1"/>
              </a:buClr>
              <a:buFont typeface="Arial" panose="020B0604020202020204" pitchFamily="34" charset="0"/>
              <a:buChar char="•"/>
            </a:pPr>
            <a:r>
              <a:rPr lang="en-US" dirty="0">
                <a:solidFill>
                  <a:srgbClr val="0000FF"/>
                </a:solidFill>
                <a:latin typeface="Arial" charset="0"/>
                <a:hlinkClick r:id="rId2"/>
              </a:rPr>
              <a:t>https://en.wikipedia.org/wiki/List_of_statistics_articles</a:t>
            </a:r>
          </a:p>
          <a:p>
            <a:pPr marL="285750" indent="-285750">
              <a:spcBef>
                <a:spcPts val="1800"/>
              </a:spcBef>
              <a:buClr>
                <a:schemeClr val="tx1"/>
              </a:buClr>
              <a:buFont typeface="Arial" panose="020B0604020202020204" pitchFamily="34" charset="0"/>
              <a:buChar char="•"/>
            </a:pPr>
            <a:r>
              <a:rPr lang="en-US" dirty="0">
                <a:solidFill>
                  <a:srgbClr val="0000FF"/>
                </a:solidFill>
                <a:latin typeface="Arial" charset="0"/>
                <a:hlinkClick r:id="rId2"/>
              </a:rPr>
              <a:t>https://en.wikipedia.org/wiki/Lists_of_statistics_topics</a:t>
            </a:r>
          </a:p>
          <a:p>
            <a:pPr marL="285750" indent="-285750">
              <a:spcBef>
                <a:spcPts val="1800"/>
              </a:spcBef>
              <a:buClr>
                <a:schemeClr val="tx1"/>
              </a:buClr>
              <a:buFont typeface="Arial" panose="020B0604020202020204" pitchFamily="34" charset="0"/>
              <a:buChar char="•"/>
            </a:pPr>
            <a:r>
              <a:rPr lang="en-US" dirty="0">
                <a:solidFill>
                  <a:srgbClr val="0000FF"/>
                </a:solidFill>
                <a:latin typeface="Arial" charset="0"/>
                <a:hlinkClick r:id="rId2"/>
              </a:rPr>
              <a:t>https://en.wikipedia.org/wiki/Category:Statistical_tests</a:t>
            </a:r>
          </a:p>
          <a:p>
            <a:pPr marL="285750" indent="-285750">
              <a:spcBef>
                <a:spcPts val="1800"/>
              </a:spcBef>
              <a:buClr>
                <a:schemeClr val="tx1"/>
              </a:buClr>
              <a:buFont typeface="Arial" panose="020B0604020202020204" pitchFamily="34" charset="0"/>
              <a:buChar char="•"/>
            </a:pPr>
            <a:r>
              <a:rPr lang="en-US" dirty="0">
                <a:solidFill>
                  <a:srgbClr val="0000FF"/>
                </a:solidFill>
                <a:latin typeface="Arial" charset="0"/>
                <a:hlinkClick r:id="rId2"/>
              </a:rPr>
              <a:t>https://en.wikipedia.org/wiki/Category:Statistics-related_lists </a:t>
            </a:r>
          </a:p>
          <a:p>
            <a:pPr marL="285750" indent="-285750">
              <a:spcBef>
                <a:spcPts val="1800"/>
              </a:spcBef>
              <a:buClr>
                <a:schemeClr val="tx1"/>
              </a:buClr>
              <a:buFont typeface="Arial" panose="020B0604020202020204" pitchFamily="34" charset="0"/>
              <a:buChar char="•"/>
            </a:pPr>
            <a:endParaRPr lang="en-US" dirty="0">
              <a:solidFill>
                <a:srgbClr val="0000FF"/>
              </a:solidFill>
              <a:latin typeface="Arial" charset="0"/>
              <a:hlinkClick r:id="rId2"/>
            </a:endParaRPr>
          </a:p>
          <a:p>
            <a:pPr marL="285750" indent="-285750">
              <a:spcBef>
                <a:spcPts val="1800"/>
              </a:spcBef>
              <a:buClr>
                <a:schemeClr val="tx1"/>
              </a:buClr>
              <a:buFont typeface="Arial" panose="020B0604020202020204" pitchFamily="34" charset="0"/>
              <a:buChar char="•"/>
            </a:pPr>
            <a:endParaRPr lang="en-US" dirty="0">
              <a:solidFill>
                <a:srgbClr val="0000FF"/>
              </a:solidFill>
              <a:latin typeface="Arial" charset="0"/>
              <a:hlinkClick r:id="rId2"/>
            </a:endParaRPr>
          </a:p>
        </p:txBody>
      </p:sp>
      <p:pic>
        <p:nvPicPr>
          <p:cNvPr id="5" name="Picture 4">
            <a:extLst>
              <a:ext uri="{FF2B5EF4-FFF2-40B4-BE49-F238E27FC236}">
                <a16:creationId xmlns:a16="http://schemas.microsoft.com/office/drawing/2014/main" id="{3EBE53DB-B620-4D8B-A27F-C1A3F325FE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8000" y="3962400"/>
            <a:ext cx="2239200" cy="1828800"/>
          </a:xfrm>
          <a:prstGeom prst="rect">
            <a:avLst/>
          </a:prstGeom>
        </p:spPr>
      </p:pic>
    </p:spTree>
    <p:extLst>
      <p:ext uri="{BB962C8B-B14F-4D97-AF65-F5344CB8AC3E}">
        <p14:creationId xmlns:p14="http://schemas.microsoft.com/office/powerpoint/2010/main" val="848487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 Box 8"/>
          <p:cNvSpPr txBox="1">
            <a:spLocks noChangeArrowheads="1"/>
          </p:cNvSpPr>
          <p:nvPr/>
        </p:nvSpPr>
        <p:spPr bwMode="auto">
          <a:xfrm>
            <a:off x="1143000" y="4724400"/>
            <a:ext cx="6629400" cy="1077218"/>
          </a:xfrm>
          <a:prstGeom prst="rect">
            <a:avLst/>
          </a:prstGeom>
          <a:solidFill>
            <a:srgbClr val="FFFF99">
              <a:alpha val="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pPr>
            <a:r>
              <a:rPr lang="en-US" sz="1600" i="1" dirty="0">
                <a:solidFill>
                  <a:schemeClr val="accent2"/>
                </a:solidFill>
              </a:rPr>
              <a:t>Disclaimer</a:t>
            </a:r>
            <a:r>
              <a:rPr lang="en-US" sz="1600" dirty="0"/>
              <a:t>  The web links listed here are not intended as endorsements, but rather as sources of information.  The commercial market evolves continually, so any list is quickly outdated.  The web links change with annoying frequency! But these suggestions may provide a place to start.</a:t>
            </a:r>
          </a:p>
        </p:txBody>
      </p:sp>
      <p:pic>
        <p:nvPicPr>
          <p:cNvPr id="20483"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057400"/>
            <a:ext cx="22098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9B8B84D7-407A-4689-868C-2D1AFC2B12E3}"/>
              </a:ext>
            </a:extLst>
          </p:cNvPr>
          <p:cNvSpPr txBox="1"/>
          <p:nvPr/>
        </p:nvSpPr>
        <p:spPr>
          <a:xfrm>
            <a:off x="762000" y="633800"/>
            <a:ext cx="7162800" cy="1231106"/>
          </a:xfrm>
          <a:prstGeom prst="rect">
            <a:avLst/>
          </a:prstGeom>
          <a:noFill/>
        </p:spPr>
        <p:txBody>
          <a:bodyPr wrap="square" rtlCol="0">
            <a:spAutoFit/>
          </a:bodyPr>
          <a:lstStyle/>
          <a:p>
            <a:pPr algn="ctr"/>
            <a:r>
              <a:rPr lang="en-US" sz="2800" i="1" dirty="0">
                <a:latin typeface="Comic Sans MS" panose="030F0702030302020204" pitchFamily="66" charset="0"/>
              </a:rPr>
              <a:t>Better things are coming …</a:t>
            </a:r>
            <a:br>
              <a:rPr lang="en-US" i="1" dirty="0">
                <a:latin typeface="Comic Sans MS" panose="030F0702030302020204" pitchFamily="66" charset="0"/>
              </a:rPr>
            </a:br>
            <a:br>
              <a:rPr lang="en-US" dirty="0"/>
            </a:br>
            <a:r>
              <a:rPr lang="en-US" sz="2800" dirty="0">
                <a:solidFill>
                  <a:srgbClr val="C00000"/>
                </a:solidFill>
                <a:effectLst>
                  <a:outerShdw blurRad="38100" dist="38100" dir="2700000" algn="tl">
                    <a:srgbClr val="000000">
                      <a:alpha val="43137"/>
                    </a:srgbClr>
                  </a:outerShdw>
                </a:effectLst>
              </a:rPr>
              <a:t>THIS PRESENTATION IS ALWAYS EVOLVING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2475</TotalTime>
  <Words>1293</Words>
  <Application>Microsoft Office PowerPoint</Application>
  <PresentationFormat>On-screen Show (4:3)</PresentationFormat>
  <Paragraphs>125</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Comic Sans MS</vt:lpstr>
      <vt:lpstr>Retrospect</vt:lpstr>
      <vt:lpstr>Statistics Web Sites</vt:lpstr>
      <vt:lpstr>Statistical Ethics</vt:lpstr>
      <vt:lpstr>CAUSE</vt:lpstr>
      <vt:lpstr>Women in Statistics</vt:lpstr>
      <vt:lpstr>R and RStudio</vt:lpstr>
      <vt:lpstr>Journals for Learning</vt:lpstr>
      <vt:lpstr>Free Software</vt:lpstr>
      <vt:lpstr>Affordable</vt:lpstr>
      <vt:lpstr>Data Sets</vt:lpstr>
      <vt:lpstr>Big Data Sets</vt:lpstr>
      <vt:lpstr>Government Data I</vt:lpstr>
      <vt:lpstr>Government Data II</vt:lpstr>
      <vt:lpstr>Other Data Sources</vt:lpstr>
      <vt:lpstr>Fun Sites - I</vt:lpstr>
      <vt:lpstr>Fun Sites - II</vt:lpstr>
      <vt:lpstr>Graphs</vt:lpstr>
      <vt:lpstr>Data Science</vt:lpstr>
      <vt:lpstr>Data Science in One Picture</vt:lpstr>
      <vt:lpstr>More Resources</vt:lpstr>
      <vt:lpstr>And Wikipedia …</vt:lpstr>
      <vt:lpstr>PowerPoint Presentation</vt:lpstr>
    </vt:vector>
  </TitlesOfParts>
  <Company>McGraw Hill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 Web Resources</dc:title>
  <dc:subject>Chapter 1 - Overview of Statistics</dc:subject>
  <dc:creator>David P. Doane</dc:creator>
  <dc:description>Copyright (c) 2025 by McGraw Hill LLC. This material is intended solely for educational use licensed users of Connect. It may not be copied or resold.</dc:description>
  <cp:lastModifiedBy>Gunasundari Kuppan</cp:lastModifiedBy>
  <cp:revision>216</cp:revision>
  <dcterms:created xsi:type="dcterms:W3CDTF">2000-08-22T13:07:54Z</dcterms:created>
  <dcterms:modified xsi:type="dcterms:W3CDTF">2024-11-13T07:29:16Z</dcterms:modified>
</cp:coreProperties>
</file>