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1" r:id="rId1"/>
  </p:sldMasterIdLst>
  <p:notesMasterIdLst>
    <p:notesMasterId r:id="rId16"/>
  </p:notesMasterIdLst>
  <p:sldIdLst>
    <p:sldId id="256" r:id="rId2"/>
    <p:sldId id="264" r:id="rId3"/>
    <p:sldId id="259" r:id="rId4"/>
    <p:sldId id="267" r:id="rId5"/>
    <p:sldId id="258" r:id="rId6"/>
    <p:sldId id="260" r:id="rId7"/>
    <p:sldId id="261" r:id="rId8"/>
    <p:sldId id="272" r:id="rId9"/>
    <p:sldId id="263" r:id="rId10"/>
    <p:sldId id="269" r:id="rId11"/>
    <p:sldId id="268" r:id="rId12"/>
    <p:sldId id="266" r:id="rId13"/>
    <p:sldId id="271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  <a:srgbClr val="CCECFF"/>
    <a:srgbClr val="FFFFCC"/>
    <a:srgbClr val="CCFF66"/>
    <a:srgbClr val="FFFF00"/>
    <a:srgbClr val="FF0066"/>
    <a:srgbClr val="FF6699"/>
    <a:srgbClr val="FFFF99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44" autoAdjust="0"/>
    <p:restoredTop sz="94667" autoAdjust="0"/>
  </p:normalViewPr>
  <p:slideViewPr>
    <p:cSldViewPr>
      <p:cViewPr varScale="1">
        <p:scale>
          <a:sx n="59" d="100"/>
          <a:sy n="59" d="100"/>
        </p:scale>
        <p:origin x="160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74BA5-02DE-44DF-98A4-E521B333A32E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15197-1302-47C5-91D8-7320AB023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5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pPr>
              <a:defRPr/>
            </a:pPr>
            <a:fld id="{C4E20202-9A72-40D7-A057-BEE90D35CE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1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41DBF8-7FE6-4A12-805E-5BE4DC6F722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6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55C766FC-AB64-4D91-A1FF-35BCE9E750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7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fld id="{2300EFF8-F647-45CB-A72E-97FF08E637E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5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fld id="{36150758-067E-4827-B52B-31C222AC3B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2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032736-BC0F-4FDA-A03D-8A2246A80C6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0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AF4CDD-A69E-4485-909B-00312DF79C7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6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3ACDB-3ECE-43A8-9B13-162CEF9B84D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84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DF198B53-E7C0-48E6-A8B5-97747927C38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9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A4B222A3-CB79-462A-8126-CE7E18BC9C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9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A4B222A3-CB79-462A-8126-CE7E18BC9C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4309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A4B222A3-CB79-462A-8126-CE7E18BC9C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85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A4B222A3-CB79-462A-8126-CE7E18BC9C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6584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A4B222A3-CB79-462A-8126-CE7E18BC9C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779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1F9D2-C9B7-452F-9C7D-27C2802A720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0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E1064-3EF7-43EC-BC57-63B05D67339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6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A4B222A3-CB79-462A-8126-CE7E18BC9C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913" r:id="rId12"/>
    <p:sldLayoutId id="2147483914" r:id="rId13"/>
    <p:sldLayoutId id="2147483915" r:id="rId14"/>
    <p:sldLayoutId id="2147483916" r:id="rId15"/>
    <p:sldLayoutId id="2147483917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76200" y="762000"/>
            <a:ext cx="9144000" cy="3048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60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Excel</a:t>
            </a:r>
            <a:br>
              <a:rPr lang="en-US" sz="60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60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Tips</a:t>
            </a:r>
          </a:p>
        </p:txBody>
      </p:sp>
      <p:sp>
        <p:nvSpPr>
          <p:cNvPr id="3075" name="Rectangle 7"/>
          <p:cNvSpPr>
            <a:spLocks noChangeArrowheads="1"/>
          </p:cNvSpPr>
          <p:nvPr/>
        </p:nvSpPr>
        <p:spPr bwMode="auto">
          <a:xfrm>
            <a:off x="1524000" y="5791200"/>
            <a:ext cx="655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© McGraw Hill LLC. All rights reserved. </a:t>
            </a:r>
            <a:r>
              <a:rPr lang="en-US" sz="140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No reproduction or distribution without the prior written consent of McGraw Hill LLC.</a:t>
            </a:r>
            <a:endParaRPr lang="en-US" sz="1400" dirty="0">
              <a:solidFill>
                <a:schemeClr val="accent1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B63E6F5-59C0-4F9F-906D-CAEA56DCD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238" y="2144903"/>
            <a:ext cx="3725650" cy="3265297"/>
          </a:xfrm>
          <a:prstGeom prst="rect">
            <a:avLst/>
          </a:prstGeom>
        </p:spPr>
      </p:pic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3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 Cell Format</a:t>
            </a:r>
          </a:p>
        </p:txBody>
      </p:sp>
      <p:sp>
        <p:nvSpPr>
          <p:cNvPr id="5125" name="Text Box 12"/>
          <p:cNvSpPr txBox="1">
            <a:spLocks noChangeArrowheads="1"/>
          </p:cNvSpPr>
          <p:nvPr/>
        </p:nvSpPr>
        <p:spPr bwMode="auto">
          <a:xfrm>
            <a:off x="1985021" y="5857753"/>
            <a:ext cx="22802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  <a:lvl2pPr marL="742950" indent="-285750">
              <a:defRPr>
                <a:latin typeface="Tahoma" pitchFamily="34" charset="0"/>
              </a:defRPr>
            </a:lvl2pPr>
            <a:lvl3pPr marL="1143000" indent="-228600">
              <a:defRPr>
                <a:latin typeface="Tahoma" pitchFamily="34" charset="0"/>
              </a:defRPr>
            </a:lvl3pPr>
            <a:lvl4pPr marL="1600200" indent="-228600">
              <a:defRPr>
                <a:latin typeface="Tahoma" pitchFamily="34" charset="0"/>
              </a:defRPr>
            </a:lvl4pPr>
            <a:lvl5pPr marL="2057400" indent="-228600">
              <a:defRPr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9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Round to make the numbers easier to read. </a:t>
            </a:r>
          </a:p>
        </p:txBody>
      </p:sp>
      <p:sp>
        <p:nvSpPr>
          <p:cNvPr id="5126" name="Text Box 14"/>
          <p:cNvSpPr txBox="1">
            <a:spLocks noChangeArrowheads="1"/>
          </p:cNvSpPr>
          <p:nvPr/>
        </p:nvSpPr>
        <p:spPr bwMode="auto">
          <a:xfrm>
            <a:off x="4876800" y="1019334"/>
            <a:ext cx="3810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Adjust font, color, border, and titles to improve readability or to provide emphasis.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93A35E-7162-471A-8EA8-DA4107B55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92" y="2144903"/>
            <a:ext cx="3562350" cy="3047311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34449D2A-DE7A-4C25-852B-6D5817CA1FC3}"/>
              </a:ext>
            </a:extLst>
          </p:cNvPr>
          <p:cNvSpPr/>
          <p:nvPr/>
        </p:nvSpPr>
        <p:spPr>
          <a:xfrm>
            <a:off x="6654111" y="1676673"/>
            <a:ext cx="3048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4D7A802-FE30-4A59-8937-79C6F3976071}"/>
              </a:ext>
            </a:extLst>
          </p:cNvPr>
          <p:cNvSpPr/>
          <p:nvPr/>
        </p:nvSpPr>
        <p:spPr>
          <a:xfrm>
            <a:off x="1600200" y="4724400"/>
            <a:ext cx="968117" cy="551797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3707E8-C2C3-4375-8D34-7D0EA4DBDECF}"/>
              </a:ext>
            </a:extLst>
          </p:cNvPr>
          <p:cNvSpPr/>
          <p:nvPr/>
        </p:nvSpPr>
        <p:spPr>
          <a:xfrm>
            <a:off x="3194621" y="1981473"/>
            <a:ext cx="1168142" cy="3265297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7AD2FD4A-C802-47D5-BE0E-E089584FF0F4}"/>
              </a:ext>
            </a:extLst>
          </p:cNvPr>
          <p:cNvSpPr/>
          <p:nvPr/>
        </p:nvSpPr>
        <p:spPr>
          <a:xfrm>
            <a:off x="1931858" y="5527850"/>
            <a:ext cx="304800" cy="23530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B189C757-60E4-4882-9CEC-347B976CE1B3}"/>
              </a:ext>
            </a:extLst>
          </p:cNvPr>
          <p:cNvSpPr/>
          <p:nvPr/>
        </p:nvSpPr>
        <p:spPr>
          <a:xfrm>
            <a:off x="3626292" y="5527850"/>
            <a:ext cx="304800" cy="23530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8C803054-F7FB-44D3-A420-65E592959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7811" y="5857753"/>
            <a:ext cx="2362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  <a:lvl2pPr marL="742950" indent="-285750">
              <a:defRPr>
                <a:latin typeface="Tahoma" pitchFamily="34" charset="0"/>
              </a:defRPr>
            </a:lvl2pPr>
            <a:lvl3pPr marL="1143000" indent="-228600">
              <a:defRPr>
                <a:latin typeface="Tahoma" pitchFamily="34" charset="0"/>
              </a:defRPr>
            </a:lvl3pPr>
            <a:lvl4pPr marL="1600200" indent="-228600">
              <a:defRPr>
                <a:latin typeface="Tahoma" pitchFamily="34" charset="0"/>
              </a:defRPr>
            </a:lvl4pPr>
            <a:lvl5pPr marL="2057400" indent="-228600">
              <a:defRPr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9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same decimal format within each column.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1225296"/>
            <a:ext cx="6952183" cy="500120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3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 Worksheet Names</a:t>
            </a:r>
          </a:p>
        </p:txBody>
      </p:sp>
      <p:sp>
        <p:nvSpPr>
          <p:cNvPr id="6148" name="Text Box 7"/>
          <p:cNvSpPr txBox="1">
            <a:spLocks noChangeArrowheads="1"/>
          </p:cNvSpPr>
          <p:nvPr/>
        </p:nvSpPr>
        <p:spPr bwMode="auto">
          <a:xfrm>
            <a:off x="5363602" y="4282047"/>
            <a:ext cx="3048000" cy="95410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  <a:lvl2pPr marL="742950" indent="-285750">
              <a:defRPr>
                <a:latin typeface="Tahoma" pitchFamily="34" charset="0"/>
              </a:defRPr>
            </a:lvl2pPr>
            <a:lvl3pPr marL="1143000" indent="-228600">
              <a:defRPr>
                <a:latin typeface="Tahoma" pitchFamily="34" charset="0"/>
              </a:defRPr>
            </a:lvl3pPr>
            <a:lvl4pPr marL="1600200" indent="-228600">
              <a:defRPr>
                <a:latin typeface="Tahoma" pitchFamily="34" charset="0"/>
              </a:defRPr>
            </a:lvl4pPr>
            <a:lvl5pPr marL="2057400" indent="-228600">
              <a:defRPr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9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short, descriptive tab name for each worksheet will help you organize your work. Click on the tab name to edit it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149" name="Line 9"/>
          <p:cNvSpPr>
            <a:spLocks noChangeShapeType="1"/>
          </p:cNvSpPr>
          <p:nvPr/>
        </p:nvSpPr>
        <p:spPr bwMode="auto">
          <a:xfrm flipH="1">
            <a:off x="3452183" y="4648200"/>
            <a:ext cx="1911419" cy="86446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514600" y="5512667"/>
            <a:ext cx="937584" cy="446298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475" y="1226103"/>
            <a:ext cx="6971902" cy="5015389"/>
          </a:xfrm>
          <a:prstGeom prst="rect">
            <a:avLst/>
          </a:prstGeom>
          <a:noFill/>
          <a:ln>
            <a:noFill/>
          </a:ln>
        </p:spPr>
      </p:pic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-12089"/>
            <a:ext cx="9144000" cy="838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3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 Cell Comments</a:t>
            </a:r>
          </a:p>
        </p:txBody>
      </p:sp>
      <p:sp>
        <p:nvSpPr>
          <p:cNvPr id="7172" name="Text Box 6"/>
          <p:cNvSpPr txBox="1">
            <a:spLocks noChangeArrowheads="1"/>
          </p:cNvSpPr>
          <p:nvPr/>
        </p:nvSpPr>
        <p:spPr bwMode="auto">
          <a:xfrm>
            <a:off x="4648200" y="345397"/>
            <a:ext cx="32897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  <a:lvl2pPr marL="742950" indent="-285750">
              <a:defRPr>
                <a:latin typeface="Tahoma" pitchFamily="34" charset="0"/>
              </a:defRPr>
            </a:lvl2pPr>
            <a:lvl3pPr marL="1143000" indent="-228600">
              <a:defRPr>
                <a:latin typeface="Tahoma" pitchFamily="34" charset="0"/>
              </a:defRPr>
            </a:lvl3pPr>
            <a:lvl4pPr marL="1600200" indent="-228600">
              <a:defRPr>
                <a:latin typeface="Tahoma" pitchFamily="34" charset="0"/>
              </a:defRPr>
            </a:lvl4pPr>
            <a:lvl5pPr marL="2057400" indent="-228600">
              <a:defRPr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9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Cell comments help you (or others) remember what is in the cells.</a:t>
            </a:r>
          </a:p>
        </p:txBody>
      </p:sp>
      <p:sp>
        <p:nvSpPr>
          <p:cNvPr id="7174" name="Line 8"/>
          <p:cNvSpPr>
            <a:spLocks noChangeShapeType="1"/>
          </p:cNvSpPr>
          <p:nvPr/>
        </p:nvSpPr>
        <p:spPr bwMode="auto">
          <a:xfrm flipH="1" flipV="1">
            <a:off x="5181598" y="2330762"/>
            <a:ext cx="1676402" cy="7746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796884" y="1808265"/>
            <a:ext cx="1239071" cy="522498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6705600" y="3105400"/>
            <a:ext cx="20749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  <a:lvl2pPr marL="742950" indent="-285750">
              <a:defRPr>
                <a:latin typeface="Tahoma" pitchFamily="34" charset="0"/>
              </a:defRPr>
            </a:lvl2pPr>
            <a:lvl3pPr marL="1143000" indent="-228600">
              <a:defRPr>
                <a:latin typeface="Tahoma" pitchFamily="34" charset="0"/>
              </a:defRPr>
            </a:lvl3pPr>
            <a:lvl4pPr marL="1600200" indent="-228600">
              <a:defRPr>
                <a:latin typeface="Tahoma" pitchFamily="34" charset="0"/>
              </a:defRPr>
            </a:lvl4pPr>
            <a:lvl5pPr marL="2057400" indent="-228600">
              <a:defRPr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9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Show All to reveal cell comments.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1225296"/>
            <a:ext cx="6942861" cy="5001768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3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 Cell Comments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257800" y="494359"/>
            <a:ext cx="2514599" cy="738664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  <a:lvl2pPr marL="742950" indent="-285750">
              <a:defRPr>
                <a:latin typeface="Tahoma" pitchFamily="34" charset="0"/>
              </a:defRPr>
            </a:lvl2pPr>
            <a:lvl3pPr marL="1143000" indent="-228600">
              <a:defRPr>
                <a:latin typeface="Tahoma" pitchFamily="34" charset="0"/>
              </a:defRPr>
            </a:lvl3pPr>
            <a:lvl4pPr marL="1600200" indent="-228600">
              <a:defRPr>
                <a:latin typeface="Tahoma" pitchFamily="34" charset="0"/>
              </a:defRPr>
            </a:lvl4pPr>
            <a:lvl5pPr marL="2057400" indent="-228600">
              <a:defRPr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9pPr>
          </a:lstStyle>
          <a:p>
            <a:r>
              <a:rPr lang="en-US" sz="14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 and then click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New Comment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H="1">
            <a:off x="3530009" y="737488"/>
            <a:ext cx="1538234" cy="1070279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971800" y="1684262"/>
            <a:ext cx="533400" cy="598698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953000" y="4724400"/>
            <a:ext cx="2743200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  <a:lvl2pPr marL="742950" indent="-285750">
              <a:defRPr>
                <a:latin typeface="Tahoma" pitchFamily="34" charset="0"/>
              </a:defRPr>
            </a:lvl2pPr>
            <a:lvl3pPr marL="1143000" indent="-228600">
              <a:defRPr>
                <a:latin typeface="Tahoma" pitchFamily="34" charset="0"/>
              </a:defRPr>
            </a:lvl3pPr>
            <a:lvl4pPr marL="1600200" indent="-228600">
              <a:defRPr>
                <a:latin typeface="Tahoma" pitchFamily="34" charset="0"/>
              </a:defRPr>
            </a:lvl4pPr>
            <a:lvl5pPr marL="2057400" indent="-228600">
              <a:defRPr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9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right-click on a cell and choose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Insert Comment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1225296"/>
            <a:ext cx="6917215" cy="4974908"/>
          </a:xfrm>
          <a:prstGeom prst="rect">
            <a:avLst/>
          </a:prstGeom>
        </p:spPr>
      </p:pic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3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 Cell Comments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314160" y="3608301"/>
            <a:ext cx="2781300" cy="7386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  <a:lvl2pPr marL="742950" indent="-285750">
              <a:defRPr>
                <a:latin typeface="Tahoma" pitchFamily="34" charset="0"/>
              </a:defRPr>
            </a:lvl2pPr>
            <a:lvl3pPr marL="1143000" indent="-228600">
              <a:defRPr>
                <a:latin typeface="Tahoma" pitchFamily="34" charset="0"/>
              </a:defRPr>
            </a:lvl3pPr>
            <a:lvl4pPr marL="1600200" indent="-228600">
              <a:defRPr>
                <a:latin typeface="Tahoma" pitchFamily="34" charset="0"/>
              </a:defRPr>
            </a:lvl4pPr>
            <a:lvl5pPr marL="2057400" indent="-228600">
              <a:defRPr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9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comment may use any font or color. Use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Symbol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font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get Greek </a:t>
            </a:r>
            <a:r>
              <a:rPr lang="en-US" sz="1400" dirty="0">
                <a:latin typeface="Symbol" panose="05050102010706020507" pitchFamily="18" charset="2"/>
                <a:cs typeface="Arial" panose="020B0604020202020204" pitchFamily="34" charset="0"/>
              </a:rPr>
              <a:t>m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dirty="0">
                <a:latin typeface="Symbol" panose="05050102010706020507" pitchFamily="18" charset="2"/>
                <a:cs typeface="Arial" panose="020B0604020202020204" pitchFamily="34" charset="0"/>
              </a:rPr>
              <a:t>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H="1" flipV="1">
            <a:off x="5334000" y="3200400"/>
            <a:ext cx="228600" cy="3012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D5E2D1A0-E22E-48F0-A1EB-F344EF833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0" y="4648200"/>
            <a:ext cx="2637274" cy="7386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  <a:lvl2pPr marL="742950" indent="-285750">
              <a:defRPr>
                <a:latin typeface="Tahoma" pitchFamily="34" charset="0"/>
              </a:defRPr>
            </a:lvl2pPr>
            <a:lvl3pPr marL="1143000" indent="-228600">
              <a:defRPr>
                <a:latin typeface="Tahoma" pitchFamily="34" charset="0"/>
              </a:defRPr>
            </a:lvl3pPr>
            <a:lvl4pPr marL="1600200" indent="-228600">
              <a:defRPr>
                <a:latin typeface="Tahoma" pitchFamily="34" charset="0"/>
              </a:defRPr>
            </a:lvl4pPr>
            <a:lvl5pPr marL="2057400" indent="-228600">
              <a:defRPr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9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edit a comment, click the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 and then click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Edit Comment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1225296"/>
            <a:ext cx="6952967" cy="5001768"/>
          </a:xfrm>
          <a:prstGeom prst="rect">
            <a:avLst/>
          </a:prstGeom>
        </p:spPr>
      </p:pic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3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 Cell or Range Names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596808" y="3429000"/>
            <a:ext cx="2337391" cy="11695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  <a:lvl2pPr marL="742950" indent="-285750">
              <a:defRPr>
                <a:latin typeface="Tahoma" pitchFamily="34" charset="0"/>
              </a:defRPr>
            </a:lvl2pPr>
            <a:lvl3pPr marL="1143000" indent="-228600">
              <a:defRPr>
                <a:latin typeface="Tahoma" pitchFamily="34" charset="0"/>
              </a:defRPr>
            </a:lvl3pPr>
            <a:lvl4pPr marL="1600200" indent="-228600">
              <a:defRPr>
                <a:latin typeface="Tahoma" pitchFamily="34" charset="0"/>
              </a:defRPr>
            </a:lvl4pPr>
            <a:lvl5pPr marL="2057400" indent="-228600">
              <a:defRPr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9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Highlight a cell or range of cells you want to name. Enter name in box at upper left. No spaces are allowed in a name.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H="1" flipV="1">
            <a:off x="3200400" y="3810000"/>
            <a:ext cx="13716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562600" y="348982"/>
            <a:ext cx="25908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  <a:lvl2pPr marL="742950" indent="-285750">
              <a:defRPr>
                <a:latin typeface="Tahoma" pitchFamily="34" charset="0"/>
              </a:defRPr>
            </a:lvl2pPr>
            <a:lvl3pPr marL="1143000" indent="-228600">
              <a:defRPr>
                <a:latin typeface="Tahoma" pitchFamily="34" charset="0"/>
              </a:defRPr>
            </a:lvl3pPr>
            <a:lvl4pPr marL="1600200" indent="-228600">
              <a:defRPr>
                <a:latin typeface="Tahoma" pitchFamily="34" charset="0"/>
              </a:defRPr>
            </a:lvl4pPr>
            <a:lvl5pPr marL="2057400" indent="-228600">
              <a:defRPr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9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you tired of entering cell ranges like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C4:C18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Why not name your data?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1EB10E-AA30-457B-AAA9-AF775D276671}"/>
              </a:ext>
            </a:extLst>
          </p:cNvPr>
          <p:cNvSpPr/>
          <p:nvPr/>
        </p:nvSpPr>
        <p:spPr>
          <a:xfrm>
            <a:off x="1307592" y="2362200"/>
            <a:ext cx="523912" cy="469323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1164266"/>
            <a:ext cx="6952967" cy="5001768"/>
          </a:xfrm>
          <a:prstGeom prst="rect">
            <a:avLst/>
          </a:prstGeom>
        </p:spPr>
      </p:pic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7974"/>
            <a:ext cx="9144000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3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 Cell or Range Names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540100" y="4528682"/>
            <a:ext cx="3200400" cy="11695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  <a:lvl2pPr marL="742950" indent="-285750">
              <a:defRPr>
                <a:latin typeface="Tahoma" pitchFamily="34" charset="0"/>
              </a:defRPr>
            </a:lvl2pPr>
            <a:lvl3pPr marL="1143000" indent="-228600">
              <a:defRPr>
                <a:latin typeface="Tahoma" pitchFamily="34" charset="0"/>
              </a:defRPr>
            </a:lvl3pPr>
            <a:lvl4pPr marL="1600200" indent="-228600">
              <a:defRPr>
                <a:latin typeface="Tahoma" pitchFamily="34" charset="0"/>
              </a:defRPr>
            </a:lvl4pPr>
            <a:lvl5pPr marL="2057400" indent="-228600">
              <a:defRPr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9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also name a single cell (e.g.,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cell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C20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Avoid illegal names that might be confused with a cell reference (like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A3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or a function (like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H="1" flipV="1">
            <a:off x="1828799" y="2523217"/>
            <a:ext cx="2711301" cy="7932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322189" y="2288556"/>
            <a:ext cx="523912" cy="469323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9A99B3D1-50EE-406A-8CA1-5A5F75312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101" y="3180248"/>
            <a:ext cx="3200400" cy="11695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  <a:lvl2pPr marL="742950" indent="-285750">
              <a:defRPr>
                <a:latin typeface="Tahoma" pitchFamily="34" charset="0"/>
              </a:defRPr>
            </a:lvl2pPr>
            <a:lvl3pPr marL="1143000" indent="-228600">
              <a:defRPr>
                <a:latin typeface="Tahoma" pitchFamily="34" charset="0"/>
              </a:defRPr>
            </a:lvl3pPr>
            <a:lvl4pPr marL="1600200" indent="-228600">
              <a:defRPr>
                <a:latin typeface="Tahoma" pitchFamily="34" charset="0"/>
              </a:defRPr>
            </a:lvl4pPr>
            <a:lvl5pPr marL="2057400" indent="-228600">
              <a:defRPr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</a:defRPr>
            </a:lvl9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Highlight a data range and type a name in the name box. In this example, we can refer to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Weight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instead of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C4:C18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any formula that refers to this data range. </a:t>
            </a:r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48729E93-9903-4B1D-A18A-7284B36471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5006831"/>
            <a:ext cx="1676400" cy="213254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7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1" y="1225295"/>
            <a:ext cx="6944484" cy="5001768"/>
          </a:xfrm>
          <a:prstGeom prst="rect">
            <a:avLst/>
          </a:prstGeom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3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 Managing Names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495800" y="3568951"/>
            <a:ext cx="2819400" cy="95410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see all your range names, click on the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Formula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 and select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Name Manager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You can delete or edit range names.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H="1" flipV="1">
            <a:off x="4038598" y="2209799"/>
            <a:ext cx="1524001" cy="1323439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505200" y="1716903"/>
            <a:ext cx="676310" cy="598698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033412"/>
            <a:ext cx="5257800" cy="4114800"/>
          </a:xfrm>
          <a:prstGeom prst="rect">
            <a:avLst/>
          </a:prstGeom>
        </p:spPr>
      </p:pic>
      <p:sp>
        <p:nvSpPr>
          <p:cNvPr id="153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3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 Managing Names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3413646" y="1143000"/>
            <a:ext cx="25453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delete or edit your cell or range names.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1225296"/>
            <a:ext cx="6952967" cy="5001768"/>
          </a:xfrm>
          <a:prstGeom prst="rect">
            <a:avLst/>
          </a:prstGeom>
        </p:spPr>
      </p:pic>
      <p:sp>
        <p:nvSpPr>
          <p:cNvPr id="143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8686800" cy="838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3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 Show Formulas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800600" y="276373"/>
            <a:ext cx="27585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reveal your cell formulas by entering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Ctrl `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H="1">
            <a:off x="4989783" y="1406124"/>
            <a:ext cx="1106216" cy="2443419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 flipH="1">
            <a:off x="3505200" y="1406124"/>
            <a:ext cx="2057400" cy="362307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>
            <a:off x="6476997" y="1406125"/>
            <a:ext cx="304802" cy="251978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1225295"/>
            <a:ext cx="6952967" cy="5001768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3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 Shapes and Text Boxes</a:t>
            </a:r>
          </a:p>
        </p:txBody>
      </p:sp>
      <p:sp>
        <p:nvSpPr>
          <p:cNvPr id="16388" name="Line 6"/>
          <p:cNvSpPr>
            <a:spLocks noChangeShapeType="1"/>
          </p:cNvSpPr>
          <p:nvPr/>
        </p:nvSpPr>
        <p:spPr bwMode="auto">
          <a:xfrm flipH="1" flipV="1">
            <a:off x="7010400" y="2209800"/>
            <a:ext cx="457200" cy="1143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0" name="Text Box 9"/>
          <p:cNvSpPr txBox="1">
            <a:spLocks noChangeArrowheads="1"/>
          </p:cNvSpPr>
          <p:nvPr/>
        </p:nvSpPr>
        <p:spPr bwMode="auto">
          <a:xfrm>
            <a:off x="5410200" y="354085"/>
            <a:ext cx="33660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or call attention to things by inserting a shape, text box, or comment. </a:t>
            </a:r>
          </a:p>
        </p:txBody>
      </p:sp>
      <p:sp>
        <p:nvSpPr>
          <p:cNvPr id="16391" name="Text Box 10"/>
          <p:cNvSpPr txBox="1">
            <a:spLocks noChangeArrowheads="1"/>
          </p:cNvSpPr>
          <p:nvPr/>
        </p:nvSpPr>
        <p:spPr bwMode="auto">
          <a:xfrm>
            <a:off x="2116206" y="6287242"/>
            <a:ext cx="46067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Hint: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edit text to  change its color, font, etc. </a:t>
            </a:r>
          </a:p>
        </p:txBody>
      </p:sp>
      <p:sp>
        <p:nvSpPr>
          <p:cNvPr id="16392" name="Line 11"/>
          <p:cNvSpPr>
            <a:spLocks noChangeShapeType="1"/>
          </p:cNvSpPr>
          <p:nvPr/>
        </p:nvSpPr>
        <p:spPr bwMode="auto">
          <a:xfrm flipH="1">
            <a:off x="7239000" y="4191000"/>
            <a:ext cx="1524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4" name="Line 13"/>
          <p:cNvSpPr>
            <a:spLocks noChangeShapeType="1"/>
          </p:cNvSpPr>
          <p:nvPr/>
        </p:nvSpPr>
        <p:spPr bwMode="auto">
          <a:xfrm flipV="1">
            <a:off x="3200400" y="3276600"/>
            <a:ext cx="23622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5" name="Line 14"/>
          <p:cNvSpPr>
            <a:spLocks noChangeShapeType="1"/>
          </p:cNvSpPr>
          <p:nvPr/>
        </p:nvSpPr>
        <p:spPr bwMode="auto">
          <a:xfrm>
            <a:off x="2895600" y="4343400"/>
            <a:ext cx="1524000" cy="3626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 flipH="1">
            <a:off x="6172200" y="3886200"/>
            <a:ext cx="304800" cy="80486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1225296"/>
            <a:ext cx="7149461" cy="5001768"/>
          </a:xfrm>
          <a:prstGeom prst="rect">
            <a:avLst/>
          </a:prstGeom>
        </p:spPr>
      </p:pic>
      <p:sp>
        <p:nvSpPr>
          <p:cNvPr id="163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3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 Insert Shapes?</a:t>
            </a:r>
          </a:p>
        </p:txBody>
      </p:sp>
      <p:sp>
        <p:nvSpPr>
          <p:cNvPr id="17411" name="Text Box 7"/>
          <p:cNvSpPr txBox="1">
            <a:spLocks noChangeArrowheads="1"/>
          </p:cNvSpPr>
          <p:nvPr/>
        </p:nvSpPr>
        <p:spPr bwMode="auto">
          <a:xfrm>
            <a:off x="1764657" y="3946491"/>
            <a:ext cx="2346583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</a:lstStyle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</a:t>
            </a:r>
            <a:r>
              <a:rPr lang="en-US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then choose </a:t>
            </a:r>
            <a:r>
              <a:rPr lang="en-US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Illustration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Choose a shape from the menu.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372" y="1981200"/>
            <a:ext cx="1938674" cy="4429125"/>
          </a:xfrm>
          <a:prstGeom prst="rect">
            <a:avLst/>
          </a:prstGeom>
        </p:spPr>
      </p:pic>
      <p:sp>
        <p:nvSpPr>
          <p:cNvPr id="6" name="Line 12"/>
          <p:cNvSpPr>
            <a:spLocks noChangeShapeType="1"/>
          </p:cNvSpPr>
          <p:nvPr/>
        </p:nvSpPr>
        <p:spPr bwMode="auto">
          <a:xfrm flipV="1">
            <a:off x="2596508" y="2319846"/>
            <a:ext cx="316939" cy="1515854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712407" y="1707189"/>
            <a:ext cx="540578" cy="533401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319651" y="2308197"/>
            <a:ext cx="540578" cy="533401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 flipV="1">
            <a:off x="3022800" y="2881595"/>
            <a:ext cx="316938" cy="95410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583372" y="1981200"/>
            <a:ext cx="1938674" cy="4429125"/>
          </a:xfrm>
          <a:prstGeom prst="rect">
            <a:avLst/>
          </a:prstGeom>
          <a:solidFill>
            <a:schemeClr val="accent6">
              <a:lumMod val="20000"/>
              <a:lumOff val="80000"/>
              <a:alpha val="8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300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 Which Shapes?</a:t>
            </a:r>
          </a:p>
        </p:txBody>
      </p:sp>
      <p:sp>
        <p:nvSpPr>
          <p:cNvPr id="17411" name="Text Box 7"/>
          <p:cNvSpPr txBox="1">
            <a:spLocks noChangeArrowheads="1"/>
          </p:cNvSpPr>
          <p:nvPr/>
        </p:nvSpPr>
        <p:spPr bwMode="auto">
          <a:xfrm>
            <a:off x="3581400" y="2284228"/>
            <a:ext cx="21203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600">
                <a:solidFill>
                  <a:srgbClr val="C00000"/>
                </a:solidFill>
                <a:latin typeface="Times New Roman" pitchFamily="18" charset="0"/>
              </a:defRPr>
            </a:lvl1pPr>
          </a:lstStyle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shape, text colors, font, etc. </a:t>
            </a:r>
            <a:r>
              <a:rPr lang="en-US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Hint: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Don’t overdo it!</a:t>
            </a:r>
          </a:p>
        </p:txBody>
      </p:sp>
      <p:sp>
        <p:nvSpPr>
          <p:cNvPr id="17413" name="AutoShape 13"/>
          <p:cNvSpPr>
            <a:spLocks noChangeArrowheads="1"/>
          </p:cNvSpPr>
          <p:nvPr/>
        </p:nvSpPr>
        <p:spPr bwMode="auto">
          <a:xfrm>
            <a:off x="685800" y="1295400"/>
            <a:ext cx="2590800" cy="1219200"/>
          </a:xfrm>
          <a:prstGeom prst="cloudCallout">
            <a:avLst>
              <a:gd name="adj1" fmla="val -11704"/>
              <a:gd name="adj2" fmla="val 93363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dirty="0">
                <a:latin typeface="Calibri" pitchFamily="34" charset="0"/>
              </a:rPr>
              <a:t>So many shapes, so little time</a:t>
            </a:r>
          </a:p>
        </p:txBody>
      </p:sp>
      <p:sp>
        <p:nvSpPr>
          <p:cNvPr id="17414" name="AutoShape 14"/>
          <p:cNvSpPr>
            <a:spLocks noChangeArrowheads="1"/>
          </p:cNvSpPr>
          <p:nvPr/>
        </p:nvSpPr>
        <p:spPr bwMode="auto">
          <a:xfrm>
            <a:off x="6477000" y="990600"/>
            <a:ext cx="2362200" cy="1295400"/>
          </a:xfrm>
          <a:prstGeom prst="horizontalScroll">
            <a:avLst>
              <a:gd name="adj" fmla="val 12500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Scroll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99" name="AutoShape 15"/>
          <p:cNvSpPr>
            <a:spLocks noChangeArrowheads="1"/>
          </p:cNvSpPr>
          <p:nvPr/>
        </p:nvSpPr>
        <p:spPr bwMode="auto">
          <a:xfrm>
            <a:off x="990600" y="4565984"/>
            <a:ext cx="2286000" cy="14478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accent6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000" i="1" dirty="0">
                <a:solidFill>
                  <a:srgbClr val="FF0066"/>
                </a:solidFill>
                <a:latin typeface="Arial" charset="0"/>
              </a:rPr>
              <a:t>Arrow</a:t>
            </a:r>
            <a:endParaRPr lang="en-US" sz="2000" i="1" dirty="0">
              <a:latin typeface="Times New Roman" pitchFamily="18" charset="0"/>
            </a:endParaRPr>
          </a:p>
        </p:txBody>
      </p:sp>
      <p:sp>
        <p:nvSpPr>
          <p:cNvPr id="17416" name="AutoShape 16"/>
          <p:cNvSpPr>
            <a:spLocks noChangeArrowheads="1"/>
          </p:cNvSpPr>
          <p:nvPr/>
        </p:nvSpPr>
        <p:spPr bwMode="auto">
          <a:xfrm>
            <a:off x="6379537" y="5041605"/>
            <a:ext cx="1676400" cy="838200"/>
          </a:xfrm>
          <a:prstGeom prst="bevel">
            <a:avLst>
              <a:gd name="adj" fmla="val 12500"/>
            </a:avLst>
          </a:prstGeom>
          <a:solidFill>
            <a:srgbClr val="7030A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charset="0"/>
              </a:rPr>
              <a:t>Button</a:t>
            </a:r>
            <a:endParaRPr lang="en-US" sz="2400" b="1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7417" name="AutoShape 17"/>
          <p:cNvSpPr>
            <a:spLocks noChangeArrowheads="1"/>
          </p:cNvSpPr>
          <p:nvPr/>
        </p:nvSpPr>
        <p:spPr bwMode="auto">
          <a:xfrm>
            <a:off x="838200" y="3346784"/>
            <a:ext cx="1524000" cy="1219200"/>
          </a:xfrm>
          <a:prstGeom prst="smileyFace">
            <a:avLst>
              <a:gd name="adj" fmla="val 4653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b="1">
              <a:solidFill>
                <a:srgbClr val="FF0066"/>
              </a:solidFill>
              <a:latin typeface="Arial" charset="0"/>
            </a:endParaRPr>
          </a:p>
        </p:txBody>
      </p:sp>
      <p:sp>
        <p:nvSpPr>
          <p:cNvPr id="17418" name="AutoShape 18"/>
          <p:cNvSpPr>
            <a:spLocks noChangeArrowheads="1"/>
          </p:cNvSpPr>
          <p:nvPr/>
        </p:nvSpPr>
        <p:spPr bwMode="auto">
          <a:xfrm>
            <a:off x="6781800" y="2933700"/>
            <a:ext cx="1524000" cy="1295400"/>
          </a:xfrm>
          <a:prstGeom prst="star16">
            <a:avLst>
              <a:gd name="adj" fmla="val 37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i="1" dirty="0">
                <a:solidFill>
                  <a:srgbClr val="0000FF"/>
                </a:solidFill>
                <a:latin typeface="Times New Roman" pitchFamily="18" charset="0"/>
              </a:rPr>
              <a:t>Star</a:t>
            </a:r>
          </a:p>
        </p:txBody>
      </p:sp>
      <p:sp>
        <p:nvSpPr>
          <p:cNvPr id="17419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4042144" y="3810000"/>
            <a:ext cx="1066800" cy="990600"/>
          </a:xfrm>
          <a:prstGeom prst="actionButtonForwardNex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sz="1600" b="1" dirty="0">
                <a:solidFill>
                  <a:srgbClr val="FFFF99"/>
                </a:solidFill>
                <a:latin typeface="Arial" charset="0"/>
              </a:rPr>
              <a:t>Sample</a:t>
            </a:r>
          </a:p>
          <a:p>
            <a:pPr algn="ctr" eaLnBrk="1" hangingPunct="1"/>
            <a:r>
              <a:rPr lang="en-US" sz="1600" b="1" dirty="0">
                <a:solidFill>
                  <a:srgbClr val="FFFF99"/>
                </a:solidFill>
                <a:latin typeface="Arial" charset="0"/>
              </a:rPr>
              <a:t>Shape</a:t>
            </a:r>
            <a:endParaRPr lang="en-US" sz="2400" b="1" dirty="0">
              <a:solidFill>
                <a:srgbClr val="FFFF99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isp">
    <a:dk1>
      <a:sysClr val="windowText" lastClr="000000"/>
    </a:dk1>
    <a:lt1>
      <a:sysClr val="window" lastClr="FFFFFF"/>
    </a:lt1>
    <a:dk2>
      <a:srgbClr val="766F54"/>
    </a:dk2>
    <a:lt2>
      <a:srgbClr val="E3EACF"/>
    </a:lt2>
    <a:accent1>
      <a:srgbClr val="A53010"/>
    </a:accent1>
    <a:accent2>
      <a:srgbClr val="DE7E18"/>
    </a:accent2>
    <a:accent3>
      <a:srgbClr val="9F8351"/>
    </a:accent3>
    <a:accent4>
      <a:srgbClr val="728653"/>
    </a:accent4>
    <a:accent5>
      <a:srgbClr val="92AA4C"/>
    </a:accent5>
    <a:accent6>
      <a:srgbClr val="6AAC91"/>
    </a:accent6>
    <a:hlink>
      <a:srgbClr val="FB4A18"/>
    </a:hlink>
    <a:folHlink>
      <a:srgbClr val="FB931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2107</TotalTime>
  <Words>494</Words>
  <Application>Microsoft Office PowerPoint</Application>
  <PresentationFormat>On-screen Show (4:3)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Century Gothic</vt:lpstr>
      <vt:lpstr>Symbol</vt:lpstr>
      <vt:lpstr>Times New Roman</vt:lpstr>
      <vt:lpstr>Wingdings 3</vt:lpstr>
      <vt:lpstr>Wisp</vt:lpstr>
      <vt:lpstr>Excel Tips</vt:lpstr>
      <vt:lpstr>   Cell Format</vt:lpstr>
      <vt:lpstr>   Worksheet Names</vt:lpstr>
      <vt:lpstr>   Cell Comments</vt:lpstr>
      <vt:lpstr>   Cell Comments</vt:lpstr>
      <vt:lpstr>   Cell Comments</vt:lpstr>
      <vt:lpstr>   Cell or Range Names</vt:lpstr>
      <vt:lpstr>   Cell or Range Names</vt:lpstr>
      <vt:lpstr>   Managing Names</vt:lpstr>
      <vt:lpstr>   Managing Names</vt:lpstr>
      <vt:lpstr>   Show Formulas</vt:lpstr>
      <vt:lpstr>   Shapes and Text Boxes</vt:lpstr>
      <vt:lpstr>   Insert Shapes?</vt:lpstr>
      <vt:lpstr>   Which Shapes?</vt:lpstr>
    </vt:vector>
  </TitlesOfParts>
  <Company>McGraw Hill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Tips for Using Excel</dc:title>
  <dc:subject>Chapter 1 - Overview of Statistics</dc:subject>
  <dc:creator>David P. Doane</dc:creator>
  <dc:description>Copyright (c) 2025 by McGraw Hill LLC. This material is intended solely for educational use licensed users of Connect. It may not be copied or resold.</dc:description>
  <cp:lastModifiedBy>Elango Selvaraj</cp:lastModifiedBy>
  <cp:revision>69</cp:revision>
  <dcterms:created xsi:type="dcterms:W3CDTF">2003-04-20T14:11:44Z</dcterms:created>
  <dcterms:modified xsi:type="dcterms:W3CDTF">2023-11-29T09:52:29Z</dcterms:modified>
</cp:coreProperties>
</file>