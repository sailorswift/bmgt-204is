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66" r:id="rId6"/>
    <p:sldId id="260" r:id="rId7"/>
    <p:sldId id="267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20C99-6891-43D5-854F-B5086D3DFA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312E7B-200B-4749-A708-AE2513EDB7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BD029-87B6-42DB-8EF9-CD7EA97C4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07A3A-2B5C-41E9-8581-E6CFE100B5E7}" type="datetimeFigureOut">
              <a:rPr lang="en-US" smtClean="0"/>
              <a:t>11/29/2023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EC9B1-76C9-4C6E-B652-C0A4FF4BE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3747DB-D103-414E-92F7-0F8ED449D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490DD-BF50-4122-B3F5-03ABEC028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404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DC926-560C-4AB9-851F-DD8367AD0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F5ECA-7177-4C12-9553-F0587CA331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49CE81-C047-4E3B-B8B3-46DC56A0E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07A3A-2B5C-41E9-8581-E6CFE100B5E7}" type="datetimeFigureOut">
              <a:rPr lang="en-US" smtClean="0"/>
              <a:t>11/29/2023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A8A47A-1D1C-4F2A-9D11-6DE318CA6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D86D4D-F60F-4EB2-9C5E-3A07CBA58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490DD-BF50-4122-B3F5-03ABEC028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486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14495-76E3-44C1-BB58-0485DFCAF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57E13E-277B-4C42-A602-D36DEE7020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6D983-E3DA-428A-8100-89CB9BA85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07A3A-2B5C-41E9-8581-E6CFE100B5E7}" type="datetimeFigureOut">
              <a:rPr lang="en-US" smtClean="0"/>
              <a:t>11/29/2023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49D242-A312-4DCC-8392-D9C74FD57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537712-5D68-483F-B7EF-E66D36CC4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490DD-BF50-4122-B3F5-03ABEC028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293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FFD6B-994A-47AE-A6A4-9FE128B69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44A68-5D18-40ED-B3D9-926B4C7170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EA6439-F937-4EAA-9540-EA67BF866C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D630EB-F6FC-47F0-82F3-BFB12C275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07A3A-2B5C-41E9-8581-E6CFE100B5E7}" type="datetimeFigureOut">
              <a:rPr lang="en-US" smtClean="0"/>
              <a:t>11/29/2023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F6FAA4-0388-4D1B-A937-DA06CDB84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06AD49-7F45-4C96-92DC-585459C50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490DD-BF50-4122-B3F5-03ABEC028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028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038F8-4116-4F04-A3D7-9443EBA90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57CC3D-4B67-4862-A9D5-BAD3D2A3B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7B84EB-F058-4852-A448-52FD768B17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0F36FA-E9BA-4DD6-90C8-D8A93D57AD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FC8BF3-C37D-4BB0-AB05-F5F83C740B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B2BA3F-7037-48F5-A6E4-F92182AB4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07A3A-2B5C-41E9-8581-E6CFE100B5E7}" type="datetimeFigureOut">
              <a:rPr lang="en-US" smtClean="0"/>
              <a:t>11/29/2023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3ACAC1-103B-45BC-A4E2-3302F679F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71F973-8A6C-4F40-A5FD-5BC9382B8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490DD-BF50-4122-B3F5-03ABEC028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803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EC3E0-126F-4AE1-AB8E-E0FD22FC2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7B411B-6305-42A7-951B-29BAB29B4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07A3A-2B5C-41E9-8581-E6CFE100B5E7}" type="datetimeFigureOut">
              <a:rPr lang="en-US" smtClean="0"/>
              <a:t>11/29/2023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62B270-84A3-4329-A375-C65580D33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32D803-49D1-46A2-A6FD-9B1F32268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490DD-BF50-4122-B3F5-03ABEC028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912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ED11DC-C3E5-438C-B10F-62FCB1703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07A3A-2B5C-41E9-8581-E6CFE100B5E7}" type="datetimeFigureOut">
              <a:rPr lang="en-US" smtClean="0"/>
              <a:t>11/29/2023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0B9485-7C12-40E1-B566-474479598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79CA10-4B69-414A-BDBF-3779613B7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490DD-BF50-4122-B3F5-03ABEC028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199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A8D7B-CB0D-4DAC-803F-F25B6B6F2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7CB58-916B-4C8C-9C3E-72014437B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EBADB0-94A5-4F88-AD86-9A7AAF510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F74AD0-7729-4D6A-9891-137F00BCE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07A3A-2B5C-41E9-8581-E6CFE100B5E7}" type="datetimeFigureOut">
              <a:rPr lang="en-US" smtClean="0"/>
              <a:t>11/29/2023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343304-07D1-40A8-864D-9A030364D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06F13A-468D-4677-83DA-2F4AAA2B4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490DD-BF50-4122-B3F5-03ABEC028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444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DBF9F-5BEA-44C4-A7CD-8E46AA620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0449B1-8AFB-45C9-893F-6283E3DD35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58AF3D-11D9-4427-B8A3-D8AF24BEAF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DA7505-6FE1-4E37-A7E8-9809F417E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07A3A-2B5C-41E9-8581-E6CFE100B5E7}" type="datetimeFigureOut">
              <a:rPr lang="en-US" smtClean="0"/>
              <a:t>11/29/2023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7D2BD0-6F5C-4E93-81A3-83F37DE58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4BB9AE-31F7-45E6-B43D-0770DACA8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490DD-BF50-4122-B3F5-03ABEC028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369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EFCB3-07FD-4598-8BBB-6AA220DCE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C7D2F8-3995-4AB6-B35C-C813E05D81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102EA-9D58-4984-AB90-FB960DF67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07A3A-2B5C-41E9-8581-E6CFE100B5E7}" type="datetimeFigureOut">
              <a:rPr lang="en-US" smtClean="0"/>
              <a:t>11/29/2023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C1288-8F2A-465C-B4B1-9C0AF39B7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49D2EE-9DCF-4DA6-BF66-95873DC25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490DD-BF50-4122-B3F5-03ABEC028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849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3023A8-132B-4BEC-BFD5-8AB8B7F120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B9D200-B041-4BD6-993A-30C9E5EAE4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11C56-F7AF-469E-9C9E-BEF9B90ED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07A3A-2B5C-41E9-8581-E6CFE100B5E7}" type="datetimeFigureOut">
              <a:rPr lang="en-US" smtClean="0"/>
              <a:t>11/29/2023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D27FA6-C202-4A8C-A5AD-80F4B4B55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5490C6-6FF2-4FA7-BF29-96FD0A26E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490DD-BF50-4122-B3F5-03ABEC028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613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BAD5EA-2F0D-480E-8F72-2BDDA329E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8AB8C-38BD-458D-9C32-A66EA453F5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C21E7D-D882-4982-AFF2-8C3F39A122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F07A3A-2B5C-41E9-8581-E6CFE100B5E7}" type="datetimeFigureOut">
              <a:rPr lang="en-US" smtClean="0"/>
              <a:t>11/29/2023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A974A-2D2C-475A-9462-C0518B576A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32277-F51F-49F5-AA58-DECEC68B96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D490DD-BF50-4122-B3F5-03ABEC028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78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32465B0-A58F-43D8-851B-BE48F36E2D43}"/>
              </a:ext>
            </a:extLst>
          </p:cNvPr>
          <p:cNvSpPr txBox="1"/>
          <p:nvPr/>
        </p:nvSpPr>
        <p:spPr>
          <a:xfrm>
            <a:off x="2725783" y="2322568"/>
            <a:ext cx="6165668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APPENDIX</a:t>
            </a:r>
            <a: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48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</a:t>
            </a:r>
          </a:p>
          <a:p>
            <a:pPr algn="ctr"/>
            <a:r>
              <a:rPr lang="en-US" sz="48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Statistics in Excel and R</a:t>
            </a:r>
            <a:endParaRPr lang="en-US" sz="48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endParaRPr lang="en-US" dirty="0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612C45C0-5832-4E6E-A730-2BE22C78ED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5783" y="5068117"/>
            <a:ext cx="7111364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b="1" dirty="0">
                <a:latin typeface="+mn-lt"/>
              </a:rPr>
              <a:t>© McGraw Hill LLC. All rights reserved. </a:t>
            </a:r>
            <a:r>
              <a:rPr lang="en-US" sz="1400" b="1">
                <a:latin typeface="+mn-lt"/>
              </a:rPr>
              <a:t>No reproduction or distribution without the prior written consent of McGraw Hill LLC.</a:t>
            </a:r>
            <a:endParaRPr lang="en-US" sz="14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81684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5257702-7E9A-4890-8751-B52E14B2A7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3885206"/>
              </p:ext>
            </p:extLst>
          </p:nvPr>
        </p:nvGraphicFramePr>
        <p:xfrm>
          <a:off x="1728431" y="1263134"/>
          <a:ext cx="8415697" cy="4216916"/>
        </p:xfrm>
        <a:graphic>
          <a:graphicData uri="http://schemas.openxmlformats.org/drawingml/2006/table">
            <a:tbl>
              <a:tblPr firstRow="1" firstCol="1" bandRow="1">
                <a:tableStyleId>{FABFCF23-3B69-468F-B69F-88F6DE6A72F2}</a:tableStyleId>
              </a:tblPr>
              <a:tblGrid>
                <a:gridCol w="3775386">
                  <a:extLst>
                    <a:ext uri="{9D8B030D-6E8A-4147-A177-3AD203B41FA5}">
                      <a16:colId xmlns:a16="http://schemas.microsoft.com/office/drawing/2014/main" val="2311036617"/>
                    </a:ext>
                  </a:extLst>
                </a:gridCol>
                <a:gridCol w="2394857">
                  <a:extLst>
                    <a:ext uri="{9D8B030D-6E8A-4147-A177-3AD203B41FA5}">
                      <a16:colId xmlns:a16="http://schemas.microsoft.com/office/drawing/2014/main" val="579886194"/>
                    </a:ext>
                  </a:extLst>
                </a:gridCol>
                <a:gridCol w="2245454">
                  <a:extLst>
                    <a:ext uri="{9D8B030D-6E8A-4147-A177-3AD203B41FA5}">
                      <a16:colId xmlns:a16="http://schemas.microsoft.com/office/drawing/2014/main" val="1533239755"/>
                    </a:ext>
                  </a:extLst>
                </a:gridCol>
              </a:tblGrid>
              <a:tr h="67491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290"/>
                        </a:spcBef>
                        <a:spcAft>
                          <a:spcPts val="290"/>
                        </a:spcAft>
                      </a:pPr>
                      <a:r>
                        <a:rPr lang="en-US" sz="1200" dirty="0">
                          <a:effectLst/>
                        </a:rPr>
                        <a:t>Descriptive Statistics</a:t>
                      </a:r>
                      <a:endParaRPr lang="en-US" sz="1200" b="1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290"/>
                        </a:spcBef>
                        <a:spcAft>
                          <a:spcPts val="290"/>
                        </a:spcAft>
                      </a:pPr>
                      <a:r>
                        <a:rPr lang="en-US" sz="1200" dirty="0">
                          <a:effectLst/>
                        </a:rPr>
                        <a:t>Excel Function</a:t>
                      </a:r>
                      <a:endParaRPr lang="en-US" sz="1200" b="1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290"/>
                        </a:spcBef>
                        <a:spcAft>
                          <a:spcPts val="290"/>
                        </a:spcAft>
                      </a:pPr>
                      <a:r>
                        <a:rPr lang="en-US" sz="1200" dirty="0">
                          <a:effectLst/>
                        </a:rPr>
                        <a:t>R Function</a:t>
                      </a:r>
                      <a:endParaRPr lang="en-US" sz="1200" b="1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801565"/>
                  </a:ext>
                </a:extLst>
              </a:tr>
              <a:tr h="111948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290"/>
                        </a:spcBef>
                        <a:spcAft>
                          <a:spcPts val="290"/>
                        </a:spcAft>
                      </a:pPr>
                      <a:r>
                        <a:rPr lang="en-US" sz="1200" b="0" dirty="0">
                          <a:effectLst/>
                        </a:rPr>
                        <a:t>Number of data items</a:t>
                      </a:r>
                      <a:endParaRPr lang="en-US" sz="1200" b="0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290"/>
                        </a:spcBef>
                        <a:spcAft>
                          <a:spcPts val="290"/>
                        </a:spcAft>
                      </a:pPr>
                      <a:r>
                        <a:rPr lang="en-US" sz="1200" dirty="0">
                          <a:effectLst/>
                        </a:rPr>
                        <a:t>COUNT(x)</a:t>
                      </a:r>
                      <a:endParaRPr lang="en-US" sz="1200" b="1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290"/>
                        </a:spcBef>
                        <a:spcAft>
                          <a:spcPts val="290"/>
                        </a:spcAft>
                      </a:pPr>
                      <a:r>
                        <a:rPr lang="en-US" sz="1200" dirty="0">
                          <a:effectLst/>
                        </a:rPr>
                        <a:t>length(x)</a:t>
                      </a:r>
                      <a:endParaRPr lang="en-US" sz="1200" b="1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52267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290"/>
                        </a:spcBef>
                        <a:spcAft>
                          <a:spcPts val="290"/>
                        </a:spcAft>
                      </a:pPr>
                      <a:r>
                        <a:rPr lang="en-US" sz="1200" b="0" dirty="0">
                          <a:effectLst/>
                        </a:rPr>
                        <a:t>Largest data value</a:t>
                      </a:r>
                      <a:endParaRPr lang="en-US" sz="1200" b="0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290"/>
                        </a:spcBef>
                        <a:spcAft>
                          <a:spcPts val="290"/>
                        </a:spcAft>
                      </a:pPr>
                      <a:r>
                        <a:rPr lang="en-US" sz="1200" dirty="0">
                          <a:effectLst/>
                        </a:rPr>
                        <a:t>MAX(x)</a:t>
                      </a:r>
                      <a:endParaRPr lang="en-US" sz="1200" b="1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290"/>
                        </a:spcBef>
                        <a:spcAft>
                          <a:spcPts val="290"/>
                        </a:spcAft>
                      </a:pPr>
                      <a:r>
                        <a:rPr lang="en-US" sz="1200" dirty="0">
                          <a:effectLst/>
                        </a:rPr>
                        <a:t>max(x)</a:t>
                      </a:r>
                      <a:endParaRPr lang="en-US" sz="1200" b="1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226275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290"/>
                        </a:spcBef>
                        <a:spcAft>
                          <a:spcPts val="290"/>
                        </a:spcAft>
                      </a:pPr>
                      <a:r>
                        <a:rPr lang="en-US" sz="1200" b="0" dirty="0">
                          <a:effectLst/>
                        </a:rPr>
                        <a:t>Smallest data value</a:t>
                      </a:r>
                      <a:endParaRPr lang="en-US" sz="1200" b="0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290"/>
                        </a:spcBef>
                        <a:spcAft>
                          <a:spcPts val="290"/>
                        </a:spcAft>
                      </a:pPr>
                      <a:r>
                        <a:rPr lang="en-US" sz="1200" dirty="0">
                          <a:effectLst/>
                        </a:rPr>
                        <a:t>MIN(x)</a:t>
                      </a:r>
                      <a:endParaRPr lang="en-US" sz="1200" b="1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290"/>
                        </a:spcBef>
                        <a:spcAft>
                          <a:spcPts val="290"/>
                        </a:spcAft>
                      </a:pPr>
                      <a:r>
                        <a:rPr lang="en-US" sz="1200" dirty="0">
                          <a:effectLst/>
                        </a:rPr>
                        <a:t>min(x)</a:t>
                      </a:r>
                      <a:endParaRPr lang="en-US" sz="1200" b="1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68869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290"/>
                        </a:spcBef>
                        <a:spcAft>
                          <a:spcPts val="290"/>
                        </a:spcAft>
                      </a:pPr>
                      <a:r>
                        <a:rPr lang="en-US" sz="1200" b="0" dirty="0">
                          <a:effectLst/>
                        </a:rPr>
                        <a:t>Mean</a:t>
                      </a:r>
                      <a:endParaRPr lang="en-US" sz="1200" b="0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290"/>
                        </a:spcBef>
                        <a:spcAft>
                          <a:spcPts val="290"/>
                        </a:spcAft>
                      </a:pPr>
                      <a:r>
                        <a:rPr lang="en-US" sz="1200" dirty="0">
                          <a:effectLst/>
                        </a:rPr>
                        <a:t>AVERAGE(x)</a:t>
                      </a:r>
                      <a:endParaRPr lang="en-US" sz="1200" b="1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290"/>
                        </a:spcBef>
                        <a:spcAft>
                          <a:spcPts val="290"/>
                        </a:spcAft>
                      </a:pPr>
                      <a:r>
                        <a:rPr lang="en-US" sz="1200" dirty="0">
                          <a:effectLst/>
                        </a:rPr>
                        <a:t>mean(x)</a:t>
                      </a:r>
                      <a:endParaRPr lang="en-US" sz="1200" b="1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10448480"/>
                  </a:ext>
                </a:extLst>
              </a:tr>
              <a:tr h="193556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290"/>
                        </a:spcBef>
                        <a:spcAft>
                          <a:spcPts val="290"/>
                        </a:spcAft>
                      </a:pPr>
                      <a:r>
                        <a:rPr lang="en-US" sz="1200" b="0" dirty="0">
                          <a:effectLst/>
                        </a:rPr>
                        <a:t>Median</a:t>
                      </a:r>
                      <a:endParaRPr lang="en-US" sz="1200" b="0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290"/>
                        </a:spcBef>
                        <a:spcAft>
                          <a:spcPts val="290"/>
                        </a:spcAft>
                      </a:pPr>
                      <a:r>
                        <a:rPr lang="en-US" sz="1200" dirty="0">
                          <a:effectLst/>
                        </a:rPr>
                        <a:t>MEDIAN(x)</a:t>
                      </a:r>
                      <a:endParaRPr lang="en-US" sz="1200" b="1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290"/>
                        </a:spcBef>
                        <a:spcAft>
                          <a:spcPts val="290"/>
                        </a:spcAft>
                      </a:pPr>
                      <a:r>
                        <a:rPr lang="en-US" sz="1200" dirty="0">
                          <a:effectLst/>
                        </a:rPr>
                        <a:t>median(x)</a:t>
                      </a:r>
                      <a:endParaRPr lang="en-US" sz="1200" b="1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398646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290"/>
                        </a:spcBef>
                        <a:spcAft>
                          <a:spcPts val="290"/>
                        </a:spcAft>
                      </a:pPr>
                      <a:r>
                        <a:rPr lang="en-US" sz="1200" b="0" dirty="0">
                          <a:effectLst/>
                        </a:rPr>
                        <a:t>Mode (returns first mode only)</a:t>
                      </a:r>
                      <a:endParaRPr lang="en-US" sz="1200" b="0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290"/>
                        </a:spcBef>
                        <a:spcAft>
                          <a:spcPts val="290"/>
                        </a:spcAft>
                      </a:pPr>
                      <a:r>
                        <a:rPr lang="en-US" sz="1200" dirty="0">
                          <a:effectLst/>
                        </a:rPr>
                        <a:t>MODE.SNGL(x)</a:t>
                      </a:r>
                      <a:endParaRPr lang="en-US" sz="1200" b="1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290"/>
                        </a:spcBef>
                        <a:spcAft>
                          <a:spcPts val="290"/>
                        </a:spcAft>
                      </a:pPr>
                      <a:r>
                        <a:rPr lang="en-US" sz="1200" dirty="0">
                          <a:effectLst/>
                        </a:rPr>
                        <a:t>----------------</a:t>
                      </a:r>
                      <a:endParaRPr lang="en-US" sz="1200" b="1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957550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290"/>
                        </a:spcBef>
                        <a:spcAft>
                          <a:spcPts val="290"/>
                        </a:spcAft>
                      </a:pPr>
                      <a:r>
                        <a:rPr lang="en-US" sz="1200" b="0" dirty="0">
                          <a:effectLst/>
                        </a:rPr>
                        <a:t>Mode (array function for multiple modes; highlight anticipated output range and use Ctrl-Shift-Enter)</a:t>
                      </a:r>
                      <a:endParaRPr lang="en-US" sz="1200" b="0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290"/>
                        </a:spcBef>
                        <a:spcAft>
                          <a:spcPts val="290"/>
                        </a:spcAft>
                      </a:pPr>
                      <a:r>
                        <a:rPr lang="en-US" sz="1200" dirty="0">
                          <a:effectLst/>
                        </a:rPr>
                        <a:t>{MODE.MULT(x)}</a:t>
                      </a:r>
                      <a:endParaRPr lang="en-US" sz="1200" b="1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290"/>
                        </a:spcBef>
                        <a:spcAft>
                          <a:spcPts val="290"/>
                        </a:spcAft>
                      </a:pPr>
                      <a:r>
                        <a:rPr lang="en-US" sz="1200" dirty="0">
                          <a:effectLst/>
                        </a:rPr>
                        <a:t>----------------</a:t>
                      </a:r>
                      <a:endParaRPr lang="en-US" sz="1200" b="1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740916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290"/>
                        </a:spcBef>
                        <a:spcAft>
                          <a:spcPts val="290"/>
                        </a:spcAft>
                      </a:pPr>
                      <a:r>
                        <a:rPr lang="en-US" sz="1200" b="0" dirty="0">
                          <a:effectLst/>
                        </a:rPr>
                        <a:t>Geometric mean (positive data values)</a:t>
                      </a:r>
                      <a:endParaRPr lang="en-US" sz="1200" b="0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290"/>
                        </a:spcBef>
                        <a:spcAft>
                          <a:spcPts val="290"/>
                        </a:spcAft>
                      </a:pPr>
                      <a:r>
                        <a:rPr lang="en-US" sz="1200" dirty="0">
                          <a:effectLst/>
                        </a:rPr>
                        <a:t>GEOMEAN(x)</a:t>
                      </a:r>
                      <a:endParaRPr lang="en-US" sz="1200" b="1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290"/>
                        </a:spcBef>
                        <a:spcAft>
                          <a:spcPts val="290"/>
                        </a:spcAft>
                      </a:pPr>
                      <a:r>
                        <a:rPr lang="en-US" sz="1200" dirty="0">
                          <a:effectLst/>
                        </a:rPr>
                        <a:t>exp(mean(log(x)))</a:t>
                      </a:r>
                      <a:endParaRPr lang="en-US" sz="1200" b="1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668380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290"/>
                        </a:spcBef>
                        <a:spcAft>
                          <a:spcPts val="290"/>
                        </a:spcAft>
                      </a:pPr>
                      <a:r>
                        <a:rPr lang="en-US" sz="1200" b="0" dirty="0">
                          <a:effectLst/>
                        </a:rPr>
                        <a:t>Average deviation around the mean</a:t>
                      </a:r>
                      <a:endParaRPr lang="en-US" sz="1200" b="0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290"/>
                        </a:spcBef>
                        <a:spcAft>
                          <a:spcPts val="290"/>
                        </a:spcAft>
                      </a:pPr>
                      <a:r>
                        <a:rPr lang="en-US" sz="1200" dirty="0">
                          <a:effectLst/>
                        </a:rPr>
                        <a:t>AVDEV(x)</a:t>
                      </a:r>
                      <a:endParaRPr lang="en-US" sz="1200" b="1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290"/>
                        </a:spcBef>
                        <a:spcAft>
                          <a:spcPts val="290"/>
                        </a:spcAft>
                      </a:pPr>
                      <a:r>
                        <a:rPr lang="en-US" sz="1200" dirty="0">
                          <a:effectLst/>
                        </a:rPr>
                        <a:t>mad(x)</a:t>
                      </a:r>
                      <a:endParaRPr lang="en-US" sz="1200" b="1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283064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290"/>
                        </a:spcBef>
                        <a:spcAft>
                          <a:spcPts val="290"/>
                        </a:spcAft>
                      </a:pPr>
                      <a:r>
                        <a:rPr lang="en-US" sz="1200" b="0" dirty="0">
                          <a:effectLst/>
                        </a:rPr>
                        <a:t>Quartile k where k = 1, 2, 3 for 25%, 50%, 75%</a:t>
                      </a:r>
                      <a:endParaRPr lang="en-US" sz="1200" b="0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290"/>
                        </a:spcBef>
                        <a:spcAft>
                          <a:spcPts val="290"/>
                        </a:spcAft>
                      </a:pPr>
                      <a:r>
                        <a:rPr lang="en-US" sz="1200" dirty="0">
                          <a:effectLst/>
                        </a:rPr>
                        <a:t>QUARTILE.EXC(x, k)</a:t>
                      </a:r>
                      <a:endParaRPr lang="en-US" sz="1200" b="1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290"/>
                        </a:spcBef>
                        <a:spcAft>
                          <a:spcPts val="290"/>
                        </a:spcAft>
                      </a:pPr>
                      <a:r>
                        <a:rPr lang="en-US" sz="1200" dirty="0">
                          <a:effectLst/>
                        </a:rPr>
                        <a:t>quantile(x, p, type=6)</a:t>
                      </a:r>
                      <a:endParaRPr lang="en-US" sz="1200" b="1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792398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290"/>
                        </a:spcBef>
                        <a:spcAft>
                          <a:spcPts val="290"/>
                        </a:spcAft>
                      </a:pPr>
                      <a:r>
                        <a:rPr lang="en-US" sz="1200" b="0" dirty="0">
                          <a:effectLst/>
                        </a:rPr>
                        <a:t>Percentile p e.g., p = .25 for 25%</a:t>
                      </a:r>
                      <a:endParaRPr lang="en-US" sz="1200" b="0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290"/>
                        </a:spcBef>
                        <a:spcAft>
                          <a:spcPts val="290"/>
                        </a:spcAft>
                      </a:pPr>
                      <a:r>
                        <a:rPr lang="en-US" sz="1200" dirty="0">
                          <a:effectLst/>
                        </a:rPr>
                        <a:t>PERCENTILE.EXC(x, p)</a:t>
                      </a:r>
                      <a:endParaRPr lang="en-US" sz="1200" b="1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290"/>
                        </a:spcBef>
                        <a:spcAft>
                          <a:spcPts val="290"/>
                        </a:spcAft>
                      </a:pPr>
                      <a:r>
                        <a:rPr lang="en-US" sz="1200" dirty="0">
                          <a:effectLst/>
                        </a:rPr>
                        <a:t>quantile(x, p, type=6)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65190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290"/>
                        </a:spcBef>
                        <a:spcAft>
                          <a:spcPts val="290"/>
                        </a:spcAft>
                      </a:pPr>
                      <a:r>
                        <a:rPr lang="en-US" sz="1200" b="0" dirty="0">
                          <a:effectLst/>
                        </a:rPr>
                        <a:t>Sample standard deviation</a:t>
                      </a:r>
                      <a:endParaRPr lang="en-US" sz="1200" b="0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290"/>
                        </a:spcBef>
                        <a:spcAft>
                          <a:spcPts val="290"/>
                        </a:spcAft>
                      </a:pPr>
                      <a:r>
                        <a:rPr lang="en-US" sz="1200" dirty="0">
                          <a:effectLst/>
                        </a:rPr>
                        <a:t>STDEV.S(x)</a:t>
                      </a:r>
                      <a:endParaRPr lang="en-US" sz="1200" b="1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290"/>
                        </a:spcBef>
                        <a:spcAft>
                          <a:spcPts val="290"/>
                        </a:spcAft>
                      </a:pPr>
                      <a:r>
                        <a:rPr lang="en-US" sz="1200" dirty="0" err="1">
                          <a:effectLst/>
                        </a:rPr>
                        <a:t>sd</a:t>
                      </a:r>
                      <a:r>
                        <a:rPr lang="en-US" sz="1200" dirty="0">
                          <a:effectLst/>
                        </a:rPr>
                        <a:t>(x)</a:t>
                      </a:r>
                      <a:endParaRPr lang="en-US" sz="1200" b="1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974759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290"/>
                        </a:spcBef>
                        <a:spcAft>
                          <a:spcPts val="290"/>
                        </a:spcAft>
                      </a:pPr>
                      <a:r>
                        <a:rPr lang="en-US" sz="1200" b="0" dirty="0">
                          <a:effectLst/>
                        </a:rPr>
                        <a:t>Sample covariance for (X,Y) data pairs</a:t>
                      </a:r>
                      <a:endParaRPr lang="en-US" sz="1200" b="0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290"/>
                        </a:spcBef>
                        <a:spcAft>
                          <a:spcPts val="290"/>
                        </a:spcAft>
                      </a:pPr>
                      <a:r>
                        <a:rPr lang="en-US" sz="1200" dirty="0">
                          <a:effectLst/>
                        </a:rPr>
                        <a:t>COVARIANCE.S(x, y)</a:t>
                      </a:r>
                      <a:endParaRPr lang="en-US" sz="1200" b="1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290"/>
                        </a:spcBef>
                        <a:spcAft>
                          <a:spcPts val="290"/>
                        </a:spcAft>
                      </a:pPr>
                      <a:r>
                        <a:rPr lang="en-US" sz="1200" dirty="0" err="1">
                          <a:effectLst/>
                        </a:rPr>
                        <a:t>cov</a:t>
                      </a:r>
                      <a:r>
                        <a:rPr lang="en-US" sz="1200" dirty="0">
                          <a:effectLst/>
                        </a:rPr>
                        <a:t>(x, y)</a:t>
                      </a:r>
                      <a:endParaRPr lang="en-US" sz="1200" b="1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154019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290"/>
                        </a:spcBef>
                        <a:spcAft>
                          <a:spcPts val="290"/>
                        </a:spcAft>
                      </a:pPr>
                      <a:r>
                        <a:rPr lang="en-US" sz="1200" b="0" dirty="0">
                          <a:effectLst/>
                        </a:rPr>
                        <a:t>Population standard deviation</a:t>
                      </a:r>
                      <a:endParaRPr lang="en-US" sz="1200" b="0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290"/>
                        </a:spcBef>
                        <a:spcAft>
                          <a:spcPts val="290"/>
                        </a:spcAft>
                      </a:pPr>
                      <a:r>
                        <a:rPr lang="en-US" sz="1200" dirty="0">
                          <a:effectLst/>
                        </a:rPr>
                        <a:t>STDEV.P(x)</a:t>
                      </a:r>
                      <a:endParaRPr lang="en-US" sz="1200" b="1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290"/>
                        </a:spcBef>
                        <a:spcAft>
                          <a:spcPts val="290"/>
                        </a:spcAft>
                      </a:pPr>
                      <a:r>
                        <a:rPr lang="en-US" sz="1200" dirty="0">
                          <a:effectLst/>
                        </a:rPr>
                        <a:t>sqrt(var(x))</a:t>
                      </a:r>
                      <a:endParaRPr lang="en-US" sz="1200" b="1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278897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290"/>
                        </a:spcBef>
                        <a:spcAft>
                          <a:spcPts val="290"/>
                        </a:spcAft>
                      </a:pPr>
                      <a:r>
                        <a:rPr lang="en-US" sz="1200" b="0" dirty="0">
                          <a:effectLst/>
                        </a:rPr>
                        <a:t>Population variance for (X,Y) data pairs</a:t>
                      </a:r>
                      <a:endParaRPr lang="en-US" sz="1200" b="0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290"/>
                        </a:spcBef>
                        <a:spcAft>
                          <a:spcPts val="290"/>
                        </a:spcAft>
                      </a:pPr>
                      <a:r>
                        <a:rPr lang="en-US" sz="1200" dirty="0">
                          <a:effectLst/>
                        </a:rPr>
                        <a:t>COVARIANCE.P(x, y)</a:t>
                      </a:r>
                      <a:endParaRPr lang="en-US" sz="1200" b="1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290"/>
                        </a:spcBef>
                        <a:spcAft>
                          <a:spcPts val="290"/>
                        </a:spcAft>
                      </a:pPr>
                      <a:r>
                        <a:rPr lang="en-US" sz="1200" dirty="0" err="1">
                          <a:effectLst/>
                        </a:rPr>
                        <a:t>cov</a:t>
                      </a:r>
                      <a:r>
                        <a:rPr lang="en-US" sz="1200" dirty="0">
                          <a:effectLst/>
                        </a:rPr>
                        <a:t>(x, y)</a:t>
                      </a:r>
                      <a:endParaRPr lang="en-US" sz="1200" b="1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650779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290"/>
                        </a:spcBef>
                        <a:spcAft>
                          <a:spcPts val="290"/>
                        </a:spcAft>
                      </a:pPr>
                      <a:r>
                        <a:rPr lang="en-US" sz="1200" b="0" dirty="0">
                          <a:effectLst/>
                        </a:rPr>
                        <a:t>Standardize an X value (in Excel you must first calculate the sample mean and standard deviation).</a:t>
                      </a:r>
                      <a:endParaRPr lang="en-US" sz="1200" b="0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290"/>
                        </a:spcBef>
                        <a:spcAft>
                          <a:spcPts val="290"/>
                        </a:spcAft>
                      </a:pPr>
                      <a:r>
                        <a:rPr lang="en-US" sz="1200" dirty="0">
                          <a:effectLst/>
                        </a:rPr>
                        <a:t>STANDARDIZE(x, µ, σ)</a:t>
                      </a:r>
                      <a:endParaRPr lang="en-US" sz="1200" b="1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290"/>
                        </a:spcBef>
                        <a:spcAft>
                          <a:spcPts val="290"/>
                        </a:spcAft>
                      </a:pPr>
                      <a:r>
                        <a:rPr lang="en-US" sz="1200" dirty="0">
                          <a:effectLst/>
                        </a:rPr>
                        <a:t>(x-mean(x))/</a:t>
                      </a:r>
                      <a:r>
                        <a:rPr lang="en-US" sz="1200" dirty="0" err="1">
                          <a:effectLst/>
                        </a:rPr>
                        <a:t>sd</a:t>
                      </a:r>
                      <a:r>
                        <a:rPr lang="en-US" sz="1200" dirty="0">
                          <a:effectLst/>
                        </a:rPr>
                        <a:t>(x)</a:t>
                      </a:r>
                      <a:endParaRPr lang="en-US" sz="1200" b="1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181035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290"/>
                        </a:spcBef>
                        <a:spcAft>
                          <a:spcPts val="290"/>
                        </a:spcAft>
                      </a:pPr>
                      <a:r>
                        <a:rPr lang="en-US" sz="1200" b="0" dirty="0">
                          <a:effectLst/>
                        </a:rPr>
                        <a:t>Correlation coefficient for (X,Y) data pairs</a:t>
                      </a:r>
                      <a:endParaRPr lang="en-US" sz="1200" b="0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290"/>
                        </a:spcBef>
                        <a:spcAft>
                          <a:spcPts val="290"/>
                        </a:spcAft>
                      </a:pPr>
                      <a:r>
                        <a:rPr lang="en-US" sz="1200">
                          <a:effectLst/>
                        </a:rPr>
                        <a:t>CORREL(x, y)</a:t>
                      </a:r>
                      <a:endParaRPr lang="en-US" sz="1200" b="1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290"/>
                        </a:spcBef>
                        <a:spcAft>
                          <a:spcPts val="290"/>
                        </a:spcAft>
                      </a:pPr>
                      <a:r>
                        <a:rPr lang="en-US" sz="1200" dirty="0" err="1">
                          <a:effectLst/>
                        </a:rPr>
                        <a:t>cor</a:t>
                      </a:r>
                      <a:r>
                        <a:rPr lang="en-US" sz="1200" dirty="0">
                          <a:effectLst/>
                        </a:rPr>
                        <a:t>(x, y)</a:t>
                      </a:r>
                      <a:endParaRPr lang="en-US" sz="1200" b="1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14228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290"/>
                        </a:spcBef>
                        <a:spcAft>
                          <a:spcPts val="290"/>
                        </a:spcAft>
                      </a:pPr>
                      <a:r>
                        <a:rPr lang="en-US" sz="1200" b="0" dirty="0">
                          <a:effectLst/>
                        </a:rPr>
                        <a:t>Slope of simple X-Y regression</a:t>
                      </a:r>
                      <a:endParaRPr lang="en-US" sz="1200" b="0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290"/>
                        </a:spcBef>
                        <a:spcAft>
                          <a:spcPts val="290"/>
                        </a:spcAft>
                      </a:pPr>
                      <a:r>
                        <a:rPr lang="en-US" sz="1200">
                          <a:effectLst/>
                        </a:rPr>
                        <a:t>SLOPE(x, y)</a:t>
                      </a:r>
                      <a:endParaRPr lang="en-US" sz="1200" b="1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290"/>
                        </a:spcBef>
                        <a:spcAft>
                          <a:spcPts val="290"/>
                        </a:spcAft>
                      </a:pPr>
                      <a:r>
                        <a:rPr lang="en-US" sz="1200" dirty="0" err="1">
                          <a:effectLst/>
                        </a:rPr>
                        <a:t>lm</a:t>
                      </a:r>
                      <a:r>
                        <a:rPr lang="en-US" sz="1200" dirty="0">
                          <a:effectLst/>
                        </a:rPr>
                        <a:t>(</a:t>
                      </a:r>
                      <a:r>
                        <a:rPr lang="en-US" sz="1200" dirty="0" err="1">
                          <a:effectLst/>
                        </a:rPr>
                        <a:t>y~x</a:t>
                      </a:r>
                      <a:r>
                        <a:rPr lang="en-US" sz="1200" dirty="0">
                          <a:effectLst/>
                        </a:rPr>
                        <a:t>)</a:t>
                      </a:r>
                      <a:endParaRPr lang="en-US" sz="1200" b="1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477334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290"/>
                        </a:spcBef>
                        <a:spcAft>
                          <a:spcPts val="290"/>
                        </a:spcAft>
                      </a:pPr>
                      <a:r>
                        <a:rPr lang="en-US" sz="1200" b="0" dirty="0">
                          <a:effectLst/>
                        </a:rPr>
                        <a:t>Intercept of simple X-Y regression</a:t>
                      </a:r>
                      <a:endParaRPr lang="en-US" sz="1200" b="0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290"/>
                        </a:spcBef>
                        <a:spcAft>
                          <a:spcPts val="290"/>
                        </a:spcAft>
                      </a:pPr>
                      <a:r>
                        <a:rPr lang="en-US" sz="1200">
                          <a:effectLst/>
                        </a:rPr>
                        <a:t>INTERCEPT(x, y)</a:t>
                      </a:r>
                      <a:endParaRPr lang="en-US" sz="1200" b="1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290"/>
                        </a:spcBef>
                        <a:spcAft>
                          <a:spcPts val="290"/>
                        </a:spcAft>
                      </a:pPr>
                      <a:r>
                        <a:rPr lang="en-US" sz="1200" dirty="0" err="1">
                          <a:effectLst/>
                        </a:rPr>
                        <a:t>lm</a:t>
                      </a:r>
                      <a:r>
                        <a:rPr lang="en-US" sz="1200" dirty="0">
                          <a:effectLst/>
                        </a:rPr>
                        <a:t>(</a:t>
                      </a:r>
                      <a:r>
                        <a:rPr lang="en-US" sz="1200" dirty="0" err="1">
                          <a:effectLst/>
                        </a:rPr>
                        <a:t>y~x</a:t>
                      </a:r>
                      <a:r>
                        <a:rPr lang="en-US" sz="1200" dirty="0">
                          <a:effectLst/>
                        </a:rPr>
                        <a:t>)</a:t>
                      </a:r>
                      <a:endParaRPr lang="en-US" sz="1200" b="1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29461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290"/>
                        </a:spcBef>
                        <a:spcAft>
                          <a:spcPts val="290"/>
                        </a:spcAft>
                      </a:pPr>
                      <a:r>
                        <a:rPr lang="en-US" sz="1200" b="0" dirty="0">
                          <a:effectLst/>
                        </a:rPr>
                        <a:t>R-squared for simple X-Y regression</a:t>
                      </a:r>
                      <a:endParaRPr lang="en-US" sz="1200" b="0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290"/>
                        </a:spcBef>
                        <a:spcAft>
                          <a:spcPts val="290"/>
                        </a:spcAft>
                      </a:pPr>
                      <a:r>
                        <a:rPr lang="en-US" sz="1200" dirty="0">
                          <a:effectLst/>
                        </a:rPr>
                        <a:t>RSQ(x, y)</a:t>
                      </a:r>
                      <a:endParaRPr lang="en-US" sz="1200" b="1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290"/>
                        </a:spcBef>
                        <a:spcAft>
                          <a:spcPts val="290"/>
                        </a:spcAft>
                      </a:pPr>
                      <a:r>
                        <a:rPr lang="en-US" sz="1200" dirty="0" err="1">
                          <a:effectLst/>
                        </a:rPr>
                        <a:t>cor</a:t>
                      </a:r>
                      <a:r>
                        <a:rPr lang="en-US" sz="1200" dirty="0">
                          <a:effectLst/>
                        </a:rPr>
                        <a:t>(x, y)^2</a:t>
                      </a:r>
                      <a:endParaRPr lang="en-US" sz="1200" b="1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1748035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8535371-ACD7-458E-A0D6-3AC6CC752090}"/>
              </a:ext>
            </a:extLst>
          </p:cNvPr>
          <p:cNvSpPr txBox="1"/>
          <p:nvPr/>
        </p:nvSpPr>
        <p:spPr>
          <a:xfrm>
            <a:off x="1581063" y="228600"/>
            <a:ext cx="9144000" cy="731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Describing 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19DEF8-3959-44F2-B868-4B3D358B25C7}"/>
              </a:ext>
            </a:extLst>
          </p:cNvPr>
          <p:cNvSpPr txBox="1"/>
          <p:nvPr/>
        </p:nvSpPr>
        <p:spPr>
          <a:xfrm>
            <a:off x="1728430" y="5490754"/>
            <a:ext cx="841569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* In these formulas, </a:t>
            </a:r>
            <a:r>
              <a:rPr lang="en-US" sz="1000" i="1" dirty="0"/>
              <a:t>x</a:t>
            </a:r>
            <a:r>
              <a:rPr lang="en-US" sz="1000" dirty="0"/>
              <a:t> and </a:t>
            </a:r>
            <a:r>
              <a:rPr lang="en-US" sz="1000" i="1" dirty="0"/>
              <a:t>y</a:t>
            </a:r>
            <a:r>
              <a:rPr lang="en-US" sz="1000" dirty="0"/>
              <a:t> denote </a:t>
            </a:r>
            <a:r>
              <a:rPr lang="en-US" sz="1000" i="1" dirty="0"/>
              <a:t>vectors</a:t>
            </a:r>
            <a:r>
              <a:rPr lang="en-US" sz="1000" dirty="0"/>
              <a:t> of data values (in Excel </a:t>
            </a:r>
            <a:r>
              <a:rPr lang="en-US" sz="1000" i="1" dirty="0"/>
              <a:t>x</a:t>
            </a:r>
            <a:r>
              <a:rPr lang="en-US" sz="1000" dirty="0"/>
              <a:t> and </a:t>
            </a:r>
            <a:r>
              <a:rPr lang="en-US" sz="1000" i="1" dirty="0"/>
              <a:t>y</a:t>
            </a:r>
            <a:r>
              <a:rPr lang="en-US" sz="1000" dirty="0"/>
              <a:t> would typically be data columns). Notation matches Doane/Seward textbook. R functions shown here often omit optional arguments. To see full syntax, enter ? before the R function name (no spaces). If built-in functions lack equivalents, a formula is shown if it’s not complex (otherwise omitted). R quantiles use type =6 to be compatible with Minitab and SPSS. </a:t>
            </a:r>
            <a:endParaRPr lang="en-US" sz="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C97B97-B3E0-482D-8B8C-9077C3F8B7B5}"/>
              </a:ext>
            </a:extLst>
          </p:cNvPr>
          <p:cNvSpPr txBox="1"/>
          <p:nvPr/>
        </p:nvSpPr>
        <p:spPr>
          <a:xfrm>
            <a:off x="10480987" y="6245848"/>
            <a:ext cx="13104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Copyright (c) 2025 The McGraw-Hill Companies</a:t>
            </a:r>
          </a:p>
        </p:txBody>
      </p:sp>
    </p:spTree>
    <p:extLst>
      <p:ext uri="{BB962C8B-B14F-4D97-AF65-F5344CB8AC3E}">
        <p14:creationId xmlns:p14="http://schemas.microsoft.com/office/powerpoint/2010/main" val="2170368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826D1DA-4040-431C-B074-5F1D380B5B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4498951"/>
              </p:ext>
            </p:extLst>
          </p:nvPr>
        </p:nvGraphicFramePr>
        <p:xfrm>
          <a:off x="1706239" y="1541418"/>
          <a:ext cx="8735336" cy="4224708"/>
        </p:xfrm>
        <a:graphic>
          <a:graphicData uri="http://schemas.openxmlformats.org/drawingml/2006/table">
            <a:tbl>
              <a:tblPr firstRow="1" firstCol="1" bandRow="1">
                <a:tableStyleId>{FABFCF23-3B69-468F-B69F-88F6DE6A72F2}</a:tableStyleId>
              </a:tblPr>
              <a:tblGrid>
                <a:gridCol w="3556668">
                  <a:extLst>
                    <a:ext uri="{9D8B030D-6E8A-4147-A177-3AD203B41FA5}">
                      <a16:colId xmlns:a16="http://schemas.microsoft.com/office/drawing/2014/main" val="1801917808"/>
                    </a:ext>
                  </a:extLst>
                </a:gridCol>
                <a:gridCol w="2734901">
                  <a:extLst>
                    <a:ext uri="{9D8B030D-6E8A-4147-A177-3AD203B41FA5}">
                      <a16:colId xmlns:a16="http://schemas.microsoft.com/office/drawing/2014/main" val="2548092114"/>
                    </a:ext>
                  </a:extLst>
                </a:gridCol>
                <a:gridCol w="2443767">
                  <a:extLst>
                    <a:ext uri="{9D8B030D-6E8A-4147-A177-3AD203B41FA5}">
                      <a16:colId xmlns:a16="http://schemas.microsoft.com/office/drawing/2014/main" val="1676729171"/>
                    </a:ext>
                  </a:extLst>
                </a:gridCol>
              </a:tblGrid>
              <a:tr h="181829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</a:rPr>
                        <a:t>Discrete Probability Distributions*</a:t>
                      </a:r>
                      <a:endParaRPr lang="en-US" sz="12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34" marR="65334" marT="0" marB="0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</a:rPr>
                        <a:t>Excel Function</a:t>
                      </a:r>
                      <a:endParaRPr lang="en-US" sz="12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34" marR="65334" marT="0" marB="0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</a:rPr>
                        <a:t>R Function*</a:t>
                      </a:r>
                      <a:endParaRPr lang="en-US" sz="12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34" marR="65334" marT="0" marB="0"/>
                </a:tc>
                <a:extLst>
                  <a:ext uri="{0D108BD9-81ED-4DB2-BD59-A6C34878D82A}">
                    <a16:rowId xmlns:a16="http://schemas.microsoft.com/office/drawing/2014/main" val="2725195358"/>
                  </a:ext>
                </a:extLst>
              </a:tr>
              <a:tr h="1010457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effectLst/>
                        </a:rPr>
                        <a:t>Binomial distribution (n trials, prob π)</a:t>
                      </a:r>
                    </a:p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effectLst/>
                        </a:rPr>
                        <a:t>   PDF: Returns probability P(X = x)</a:t>
                      </a:r>
                    </a:p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effectLst/>
                        </a:rPr>
                        <a:t>   CDF:  Returns probability P(X ≤ x)</a:t>
                      </a:r>
                    </a:p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effectLst/>
                        </a:rPr>
                        <a:t>   Inverse CDF:  Returns x for P(X ≤ x) = α</a:t>
                      </a:r>
                    </a:p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effectLst/>
                        </a:rPr>
                        <a:t>   Random data (makes k samples in R)</a:t>
                      </a:r>
                      <a:endParaRPr 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34" marR="65334" marT="0" marB="0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</a:rPr>
                        <a:t> </a:t>
                      </a:r>
                    </a:p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</a:rPr>
                        <a:t>BINOM.DIST(x, n, π, 0)</a:t>
                      </a:r>
                    </a:p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</a:rPr>
                        <a:t>BINOM.DIST(x, n, π, 1)</a:t>
                      </a:r>
                    </a:p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</a:rPr>
                        <a:t>BINOM.INV(n, π, α)</a:t>
                      </a:r>
                    </a:p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</a:rPr>
                        <a:t>BINOM.INV(n, π, RAND())</a:t>
                      </a:r>
                      <a:endParaRPr lang="en-US" sz="12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34" marR="65334" marT="0" marB="0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>
                          <a:effectLst/>
                        </a:rPr>
                        <a:t> </a:t>
                      </a:r>
                    </a:p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>
                          <a:effectLst/>
                        </a:rPr>
                        <a:t>dbinom(x, n, π)</a:t>
                      </a:r>
                    </a:p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>
                          <a:effectLst/>
                        </a:rPr>
                        <a:t>pbinom (x, n, π)</a:t>
                      </a:r>
                    </a:p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>
                          <a:effectLst/>
                        </a:rPr>
                        <a:t>qbinom (α, n, π)</a:t>
                      </a:r>
                    </a:p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>
                          <a:effectLst/>
                        </a:rPr>
                        <a:t>rbinom (k, n, π)</a:t>
                      </a:r>
                      <a:endParaRPr lang="en-US" sz="1200" b="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34" marR="65334" marT="0" marB="0"/>
                </a:tc>
                <a:extLst>
                  <a:ext uri="{0D108BD9-81ED-4DB2-BD59-A6C34878D82A}">
                    <a16:rowId xmlns:a16="http://schemas.microsoft.com/office/drawing/2014/main" val="736180098"/>
                  </a:ext>
                </a:extLst>
              </a:tr>
              <a:tr h="1010457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effectLst/>
                        </a:rPr>
                        <a:t>Poisson distribution (with mean λ)</a:t>
                      </a:r>
                    </a:p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effectLst/>
                        </a:rPr>
                        <a:t>   PDF: Returns probability P(X = x)</a:t>
                      </a:r>
                    </a:p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effectLst/>
                        </a:rPr>
                        <a:t>   CDF:  Returns probability P(X ≤ x)</a:t>
                      </a:r>
                    </a:p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effectLst/>
                        </a:rPr>
                        <a:t>   Inverse CDF:  Returns x for P(X ≤ x) = α</a:t>
                      </a:r>
                    </a:p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effectLst/>
                        </a:rPr>
                        <a:t>   Random data (makes k samples in R)</a:t>
                      </a:r>
                      <a:endParaRPr 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34" marR="65334" marT="0" marB="0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</a:rPr>
                        <a:t> </a:t>
                      </a:r>
                    </a:p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</a:rPr>
                        <a:t>POISSON.DIST(x, λ, 0)</a:t>
                      </a:r>
                    </a:p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</a:rPr>
                        <a:t>POISSON.DIST(x, λ, 1)</a:t>
                      </a:r>
                    </a:p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</a:rPr>
                        <a:t>----------------</a:t>
                      </a:r>
                    </a:p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</a:rPr>
                        <a:t>----------------</a:t>
                      </a:r>
                      <a:endParaRPr lang="en-US" sz="12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34" marR="65334" marT="0" marB="0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</a:rPr>
                        <a:t> </a:t>
                      </a:r>
                    </a:p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 err="1">
                          <a:effectLst/>
                        </a:rPr>
                        <a:t>dpois</a:t>
                      </a:r>
                      <a:r>
                        <a:rPr lang="en-US" sz="1200" kern="1200" dirty="0">
                          <a:effectLst/>
                        </a:rPr>
                        <a:t>(x, λ)</a:t>
                      </a:r>
                    </a:p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 err="1">
                          <a:effectLst/>
                        </a:rPr>
                        <a:t>ppois</a:t>
                      </a:r>
                      <a:r>
                        <a:rPr lang="en-US" sz="1200" kern="1200" dirty="0">
                          <a:effectLst/>
                        </a:rPr>
                        <a:t>(x, λ)</a:t>
                      </a:r>
                    </a:p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 err="1">
                          <a:effectLst/>
                        </a:rPr>
                        <a:t>qpois</a:t>
                      </a:r>
                      <a:r>
                        <a:rPr lang="en-US" sz="1200" kern="1200" dirty="0">
                          <a:effectLst/>
                        </a:rPr>
                        <a:t>(α, λ)</a:t>
                      </a:r>
                    </a:p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 err="1">
                          <a:effectLst/>
                        </a:rPr>
                        <a:t>rpois</a:t>
                      </a:r>
                      <a:r>
                        <a:rPr lang="en-US" sz="1200" kern="1200" dirty="0">
                          <a:effectLst/>
                        </a:rPr>
                        <a:t>(k, λ)</a:t>
                      </a:r>
                      <a:endParaRPr lang="en-US" sz="12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34" marR="65334" marT="0" marB="0"/>
                </a:tc>
                <a:extLst>
                  <a:ext uri="{0D108BD9-81ED-4DB2-BD59-A6C34878D82A}">
                    <a16:rowId xmlns:a16="http://schemas.microsoft.com/office/drawing/2014/main" val="3070052544"/>
                  </a:ext>
                </a:extLst>
              </a:tr>
              <a:tr h="1010457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effectLst/>
                        </a:rPr>
                        <a:t>Hypergeometric distribution (N pop size)</a:t>
                      </a:r>
                    </a:p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effectLst/>
                        </a:rPr>
                        <a:t>   PDF: Returns probability P(X = x)</a:t>
                      </a:r>
                    </a:p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effectLst/>
                        </a:rPr>
                        <a:t>   CDF:  Returns probability P(X ≤ x)</a:t>
                      </a:r>
                    </a:p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effectLst/>
                        </a:rPr>
                        <a:t>   Inverse CDF:  Returns x for P(X ≤ x) = α</a:t>
                      </a:r>
                    </a:p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effectLst/>
                        </a:rPr>
                        <a:t>   Random data (makes k samples in R)</a:t>
                      </a:r>
                      <a:endParaRPr 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34" marR="65334" marT="0" marB="0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</a:rPr>
                        <a:t> </a:t>
                      </a:r>
                    </a:p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</a:rPr>
                        <a:t>HYPGEOM.DIST(x, n, s, N, 0)</a:t>
                      </a:r>
                    </a:p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</a:rPr>
                        <a:t>HYPGEOM.DIST(x, n, s, N, 1)</a:t>
                      </a:r>
                    </a:p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</a:rPr>
                        <a:t>----------------</a:t>
                      </a:r>
                    </a:p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</a:rPr>
                        <a:t>----------------</a:t>
                      </a:r>
                      <a:endParaRPr lang="en-US" sz="12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34" marR="65334" marT="0" marB="0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</a:rPr>
                        <a:t> </a:t>
                      </a:r>
                    </a:p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 err="1">
                          <a:effectLst/>
                        </a:rPr>
                        <a:t>dhyper</a:t>
                      </a:r>
                      <a:r>
                        <a:rPr lang="en-US" sz="1200" kern="1200" dirty="0">
                          <a:effectLst/>
                        </a:rPr>
                        <a:t>(x, s, N-s, n)</a:t>
                      </a:r>
                    </a:p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 err="1">
                          <a:effectLst/>
                        </a:rPr>
                        <a:t>phyper</a:t>
                      </a:r>
                      <a:r>
                        <a:rPr lang="en-US" sz="1200" kern="1200" dirty="0">
                          <a:effectLst/>
                        </a:rPr>
                        <a:t>(x, s, N-s, n)</a:t>
                      </a:r>
                    </a:p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 err="1">
                          <a:effectLst/>
                        </a:rPr>
                        <a:t>qhyper</a:t>
                      </a:r>
                      <a:r>
                        <a:rPr lang="en-US" sz="1200" kern="1200" dirty="0">
                          <a:effectLst/>
                        </a:rPr>
                        <a:t>(α, s, N-s, n)</a:t>
                      </a:r>
                    </a:p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 err="1">
                          <a:effectLst/>
                        </a:rPr>
                        <a:t>rhyper</a:t>
                      </a:r>
                      <a:r>
                        <a:rPr lang="en-US" sz="1200" kern="1200" dirty="0">
                          <a:effectLst/>
                        </a:rPr>
                        <a:t>(k, s, N-s, n)</a:t>
                      </a:r>
                      <a:endParaRPr lang="en-US" sz="12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34" marR="65334" marT="0" marB="0"/>
                </a:tc>
                <a:extLst>
                  <a:ext uri="{0D108BD9-81ED-4DB2-BD59-A6C34878D82A}">
                    <a16:rowId xmlns:a16="http://schemas.microsoft.com/office/drawing/2014/main" val="1064038702"/>
                  </a:ext>
                </a:extLst>
              </a:tr>
              <a:tr h="1010457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effectLst/>
                        </a:rPr>
                        <a:t>Geometric distribution (success prob p)</a:t>
                      </a:r>
                    </a:p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effectLst/>
                        </a:rPr>
                        <a:t>   PDF: Returns probability P(X = x)</a:t>
                      </a:r>
                    </a:p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effectLst/>
                        </a:rPr>
                        <a:t>   CDF:  Returns probability P(X ≤ x)</a:t>
                      </a:r>
                    </a:p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effectLst/>
                        </a:rPr>
                        <a:t>   Inverse CDF:  Returns x for P(X ≤ x) = α</a:t>
                      </a:r>
                    </a:p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effectLst/>
                        </a:rPr>
                        <a:t>   Random data (makes k samples in R)</a:t>
                      </a:r>
                      <a:endParaRPr 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34" marR="65334" marT="0" marB="0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</a:rPr>
                        <a:t>x = num trials before success</a:t>
                      </a:r>
                    </a:p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</a:rPr>
                        <a:t>π*(1-π)^(x-1)</a:t>
                      </a:r>
                    </a:p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</a:rPr>
                        <a:t>1 - (1-π)^x</a:t>
                      </a:r>
                    </a:p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</a:rPr>
                        <a:t>----------------</a:t>
                      </a:r>
                    </a:p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</a:rPr>
                        <a:t>1 + INT(LN(1-RAND())/LN(1- π))</a:t>
                      </a:r>
                      <a:endParaRPr lang="en-US" sz="12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34" marR="65334" marT="0" marB="0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</a:rPr>
                        <a:t>x = num failures before success</a:t>
                      </a:r>
                    </a:p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 err="1">
                          <a:effectLst/>
                        </a:rPr>
                        <a:t>dgeom</a:t>
                      </a:r>
                      <a:r>
                        <a:rPr lang="en-US" sz="1200" kern="1200" dirty="0">
                          <a:effectLst/>
                        </a:rPr>
                        <a:t>(x, π)</a:t>
                      </a:r>
                    </a:p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 err="1">
                          <a:effectLst/>
                        </a:rPr>
                        <a:t>pgeom</a:t>
                      </a:r>
                      <a:r>
                        <a:rPr lang="en-US" sz="1200" kern="1200" dirty="0">
                          <a:effectLst/>
                        </a:rPr>
                        <a:t> (x, π)</a:t>
                      </a:r>
                    </a:p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 err="1">
                          <a:effectLst/>
                        </a:rPr>
                        <a:t>qgeom</a:t>
                      </a:r>
                      <a:r>
                        <a:rPr lang="en-US" sz="1200" kern="1200" dirty="0">
                          <a:effectLst/>
                        </a:rPr>
                        <a:t> (α, π)</a:t>
                      </a:r>
                    </a:p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 err="1">
                          <a:effectLst/>
                        </a:rPr>
                        <a:t>rgeom</a:t>
                      </a:r>
                      <a:r>
                        <a:rPr lang="en-US" sz="1200" kern="1200" dirty="0">
                          <a:effectLst/>
                        </a:rPr>
                        <a:t> (k, π)</a:t>
                      </a:r>
                      <a:endParaRPr lang="en-US" sz="12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34" marR="65334" marT="0" marB="0"/>
                </a:tc>
                <a:extLst>
                  <a:ext uri="{0D108BD9-81ED-4DB2-BD59-A6C34878D82A}">
                    <a16:rowId xmlns:a16="http://schemas.microsoft.com/office/drawing/2014/main" val="312968996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39E0872-DAE0-4A6F-8AA8-D7BE5CCE8D79}"/>
              </a:ext>
            </a:extLst>
          </p:cNvPr>
          <p:cNvSpPr txBox="1"/>
          <p:nvPr/>
        </p:nvSpPr>
        <p:spPr>
          <a:xfrm>
            <a:off x="1581064" y="228600"/>
            <a:ext cx="83105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Discrete Probability Distributions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2CB2B8-051E-4326-84E7-BCA540BDE3B9}"/>
              </a:ext>
            </a:extLst>
          </p:cNvPr>
          <p:cNvSpPr txBox="1"/>
          <p:nvPr/>
        </p:nvSpPr>
        <p:spPr>
          <a:xfrm>
            <a:off x="1706239" y="5873672"/>
            <a:ext cx="61347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* In probability distributions, we use </a:t>
            </a:r>
            <a:r>
              <a:rPr lang="en-US" sz="1000" i="1" dirty="0"/>
              <a:t>x</a:t>
            </a:r>
            <a:r>
              <a:rPr lang="en-US" sz="1000" dirty="0"/>
              <a:t> to denote a single data value. Notation matches Doane/Seward textbook.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E00B7B-6031-4678-95A6-C146B6251E16}"/>
              </a:ext>
            </a:extLst>
          </p:cNvPr>
          <p:cNvSpPr txBox="1"/>
          <p:nvPr/>
        </p:nvSpPr>
        <p:spPr>
          <a:xfrm>
            <a:off x="10480988" y="6245848"/>
            <a:ext cx="10347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Copyright (c) 2025</a:t>
            </a:r>
          </a:p>
          <a:p>
            <a:r>
              <a:rPr lang="en-US" sz="800" dirty="0"/>
              <a:t>by McGraw Hill LLC</a:t>
            </a:r>
          </a:p>
        </p:txBody>
      </p:sp>
    </p:spTree>
    <p:extLst>
      <p:ext uri="{BB962C8B-B14F-4D97-AF65-F5344CB8AC3E}">
        <p14:creationId xmlns:p14="http://schemas.microsoft.com/office/powerpoint/2010/main" val="4173346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EDC6DCC-53BF-4352-94CD-E5DD38CC63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0910794"/>
              </p:ext>
            </p:extLst>
          </p:nvPr>
        </p:nvGraphicFramePr>
        <p:xfrm>
          <a:off x="1746313" y="1936568"/>
          <a:ext cx="8699374" cy="2984864"/>
        </p:xfrm>
        <a:graphic>
          <a:graphicData uri="http://schemas.openxmlformats.org/drawingml/2006/table">
            <a:tbl>
              <a:tblPr firstRow="1" firstCol="1" bandRow="1">
                <a:tableStyleId>{FABFCF23-3B69-468F-B69F-88F6DE6A72F2}</a:tableStyleId>
              </a:tblPr>
              <a:tblGrid>
                <a:gridCol w="3541337">
                  <a:extLst>
                    <a:ext uri="{9D8B030D-6E8A-4147-A177-3AD203B41FA5}">
                      <a16:colId xmlns:a16="http://schemas.microsoft.com/office/drawing/2014/main" val="3052410812"/>
                    </a:ext>
                  </a:extLst>
                </a:gridCol>
                <a:gridCol w="2906984">
                  <a:extLst>
                    <a:ext uri="{9D8B030D-6E8A-4147-A177-3AD203B41FA5}">
                      <a16:colId xmlns:a16="http://schemas.microsoft.com/office/drawing/2014/main" val="1929055662"/>
                    </a:ext>
                  </a:extLst>
                </a:gridCol>
                <a:gridCol w="2251053">
                  <a:extLst>
                    <a:ext uri="{9D8B030D-6E8A-4147-A177-3AD203B41FA5}">
                      <a16:colId xmlns:a16="http://schemas.microsoft.com/office/drawing/2014/main" val="3399598292"/>
                    </a:ext>
                  </a:extLst>
                </a:gridCol>
              </a:tblGrid>
              <a:tr h="18655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Continuous Probability Distributions*</a:t>
                      </a:r>
                      <a:endParaRPr lang="en-US" sz="1200" b="1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Excel Function</a:t>
                      </a:r>
                      <a:endParaRPr lang="en-US" sz="1200" b="1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R Function*</a:t>
                      </a:r>
                      <a:endParaRPr lang="en-US" sz="1200" b="1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60128220"/>
                  </a:ext>
                </a:extLst>
              </a:tr>
              <a:tr h="93277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Normal distribution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   PDF: Returns height of f(x)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   CDF:  Returns probability P(X ≤ x)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   Inverse CDF:  Returns x for P(X ≤ x) = α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   Random data (makes k samples in R)</a:t>
                      </a:r>
                      <a:endParaRPr lang="en-US" sz="1200" b="0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NORM.DIST(x, µ, σ, 0)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NORM.DIST(x, µ, σ, 1)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NORM.INV(α, µ, σ)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NORM.INV(RAND(), µ, σ)</a:t>
                      </a:r>
                      <a:endParaRPr lang="en-US" sz="1200" b="1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dnorm(x, µ, σ)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pnorm(x,µ, σ)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qnorm(α, µ, σ)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rnorm(k, µ, σ)</a:t>
                      </a:r>
                      <a:endParaRPr lang="en-US" sz="1200" b="1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25193750"/>
                  </a:ext>
                </a:extLst>
              </a:tr>
              <a:tr h="93277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Standard normal distribution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   PDF: Returns height of f(z)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   CDF:  Returns probability P(Z ≤ z)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   Inverse CDF:  Returns z for P(Z ≤ z) = α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baseline="0" dirty="0">
                          <a:effectLst/>
                        </a:rPr>
                        <a:t>   </a:t>
                      </a:r>
                      <a:r>
                        <a:rPr lang="en-US" sz="1200" b="0" dirty="0">
                          <a:effectLst/>
                        </a:rPr>
                        <a:t>Random data (makes k samples in R)</a:t>
                      </a:r>
                      <a:endParaRPr lang="en-US" sz="1200" b="0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NORM.S.DIST(z, 0)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NORM.S.DIST(z, 1)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NORM.S.INV(α)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NORM.S.INV(RAND())</a:t>
                      </a:r>
                      <a:endParaRPr lang="en-US" sz="1200" b="1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dnorm</a:t>
                      </a:r>
                      <a:r>
                        <a:rPr lang="en-US" sz="1200" dirty="0">
                          <a:effectLst/>
                        </a:rPr>
                        <a:t>(z)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pnorm</a:t>
                      </a:r>
                      <a:r>
                        <a:rPr lang="en-US" sz="1200" dirty="0">
                          <a:effectLst/>
                        </a:rPr>
                        <a:t>(z)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qnorm</a:t>
                      </a:r>
                      <a:r>
                        <a:rPr lang="en-US" sz="1200" dirty="0">
                          <a:effectLst/>
                        </a:rPr>
                        <a:t>(α)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rnorm</a:t>
                      </a:r>
                      <a:r>
                        <a:rPr lang="en-US" sz="1200" dirty="0">
                          <a:effectLst/>
                        </a:rPr>
                        <a:t>(k)</a:t>
                      </a:r>
                      <a:endParaRPr lang="en-US" sz="1200" b="1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26643023"/>
                  </a:ext>
                </a:extLst>
              </a:tr>
              <a:tr h="93277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Uniform distribution  a &lt; x &lt; b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   PDF: Returns height of f(x)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   CDF:  Returns probability P(X ≤ x)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   Inverse CDF:  Returns x for P(X ≤ x) = α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baseline="0" dirty="0">
                          <a:effectLst/>
                        </a:rPr>
                        <a:t>   </a:t>
                      </a:r>
                      <a:r>
                        <a:rPr lang="en-US" sz="1200" b="0" dirty="0">
                          <a:effectLst/>
                        </a:rPr>
                        <a:t>Random data (makes k samples in R) </a:t>
                      </a:r>
                      <a:endParaRPr lang="en-US" sz="1200" b="0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1/(b-a)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(x-a)/(b-a)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a + α *(b-a)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a + (b-a)*RAND()</a:t>
                      </a:r>
                      <a:endParaRPr lang="en-US" sz="1200" b="1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dunif</a:t>
                      </a:r>
                      <a:r>
                        <a:rPr lang="en-US" sz="1200" dirty="0">
                          <a:effectLst/>
                        </a:rPr>
                        <a:t>(x, a, b)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punif</a:t>
                      </a:r>
                      <a:r>
                        <a:rPr lang="en-US" sz="1200" dirty="0">
                          <a:effectLst/>
                        </a:rPr>
                        <a:t> (x, a, b)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qunif</a:t>
                      </a:r>
                      <a:r>
                        <a:rPr lang="en-US" sz="1200" dirty="0">
                          <a:effectLst/>
                        </a:rPr>
                        <a:t> (α, a, b)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runif</a:t>
                      </a:r>
                      <a:r>
                        <a:rPr lang="en-US" sz="1200" dirty="0">
                          <a:effectLst/>
                        </a:rPr>
                        <a:t> (k, a, b)</a:t>
                      </a:r>
                      <a:endParaRPr lang="en-US" sz="1200" b="1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6293915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F6C7843-BF31-4FBE-8532-BE1ED63E8059}"/>
              </a:ext>
            </a:extLst>
          </p:cNvPr>
          <p:cNvSpPr txBox="1"/>
          <p:nvPr/>
        </p:nvSpPr>
        <p:spPr>
          <a:xfrm>
            <a:off x="1581064" y="228600"/>
            <a:ext cx="83105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Continuous Probability Distributions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E2177A-596F-4A1D-BA82-621A54786480}"/>
              </a:ext>
            </a:extLst>
          </p:cNvPr>
          <p:cNvSpPr txBox="1"/>
          <p:nvPr/>
        </p:nvSpPr>
        <p:spPr>
          <a:xfrm>
            <a:off x="5434149" y="972383"/>
            <a:ext cx="8011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1 of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8E13A0-34F9-42A9-8E30-6D7BD0BC9367}"/>
              </a:ext>
            </a:extLst>
          </p:cNvPr>
          <p:cNvSpPr txBox="1"/>
          <p:nvPr/>
        </p:nvSpPr>
        <p:spPr>
          <a:xfrm>
            <a:off x="1680113" y="5028941"/>
            <a:ext cx="61347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* In probability distributions, we use </a:t>
            </a:r>
            <a:r>
              <a:rPr lang="en-US" sz="1000" i="1" dirty="0"/>
              <a:t>x</a:t>
            </a:r>
            <a:r>
              <a:rPr lang="en-US" sz="1000" dirty="0"/>
              <a:t> to denote a single data value. Notation matches Doane/Seward textbook.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CFBC26-5BCC-45B6-97CF-794AD0E5721B}"/>
              </a:ext>
            </a:extLst>
          </p:cNvPr>
          <p:cNvSpPr txBox="1"/>
          <p:nvPr/>
        </p:nvSpPr>
        <p:spPr>
          <a:xfrm>
            <a:off x="10480988" y="6245848"/>
            <a:ext cx="10347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Copyright (c) 2025</a:t>
            </a:r>
          </a:p>
          <a:p>
            <a:r>
              <a:rPr lang="en-US" sz="800" dirty="0"/>
              <a:t>by McGraw Hill LLC</a:t>
            </a:r>
          </a:p>
        </p:txBody>
      </p:sp>
    </p:spTree>
    <p:extLst>
      <p:ext uri="{BB962C8B-B14F-4D97-AF65-F5344CB8AC3E}">
        <p14:creationId xmlns:p14="http://schemas.microsoft.com/office/powerpoint/2010/main" val="1019126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EDC6DCC-53BF-4352-94CD-E5DD38CC63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821545"/>
              </p:ext>
            </p:extLst>
          </p:nvPr>
        </p:nvGraphicFramePr>
        <p:xfrm>
          <a:off x="1713641" y="1965960"/>
          <a:ext cx="8764718" cy="2926080"/>
        </p:xfrm>
        <a:graphic>
          <a:graphicData uri="http://schemas.openxmlformats.org/drawingml/2006/table">
            <a:tbl>
              <a:tblPr firstRow="1" firstCol="1" bandRow="1">
                <a:tableStyleId>{FABFCF23-3B69-468F-B69F-88F6DE6A72F2}</a:tableStyleId>
              </a:tblPr>
              <a:tblGrid>
                <a:gridCol w="3637842">
                  <a:extLst>
                    <a:ext uri="{9D8B030D-6E8A-4147-A177-3AD203B41FA5}">
                      <a16:colId xmlns:a16="http://schemas.microsoft.com/office/drawing/2014/main" val="3052410812"/>
                    </a:ext>
                  </a:extLst>
                </a:gridCol>
                <a:gridCol w="2882538">
                  <a:extLst>
                    <a:ext uri="{9D8B030D-6E8A-4147-A177-3AD203B41FA5}">
                      <a16:colId xmlns:a16="http://schemas.microsoft.com/office/drawing/2014/main" val="1929055662"/>
                    </a:ext>
                  </a:extLst>
                </a:gridCol>
                <a:gridCol w="2244338">
                  <a:extLst>
                    <a:ext uri="{9D8B030D-6E8A-4147-A177-3AD203B41FA5}">
                      <a16:colId xmlns:a16="http://schemas.microsoft.com/office/drawing/2014/main" val="3399598292"/>
                    </a:ext>
                  </a:extLst>
                </a:gridCol>
              </a:tblGrid>
              <a:tr h="158207">
                <a:tc>
                  <a:txBody>
                    <a:bodyPr/>
                    <a:lstStyle/>
                    <a:p>
                      <a:pPr marL="0" marR="0">
                        <a:spcBef>
                          <a:spcPts val="290"/>
                        </a:spcBef>
                        <a:spcAft>
                          <a:spcPts val="290"/>
                        </a:spcAft>
                      </a:pPr>
                      <a:r>
                        <a:rPr lang="en-US" sz="1200" dirty="0">
                          <a:effectLst/>
                        </a:rPr>
                        <a:t>Continuous Probability Distributions*</a:t>
                      </a:r>
                      <a:endParaRPr lang="en-US" sz="1200" b="1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90"/>
                        </a:spcBef>
                        <a:spcAft>
                          <a:spcPts val="290"/>
                        </a:spcAft>
                      </a:pPr>
                      <a:r>
                        <a:rPr lang="en-US" sz="1200">
                          <a:effectLst/>
                        </a:rPr>
                        <a:t>Excel Function</a:t>
                      </a:r>
                      <a:endParaRPr lang="en-US" sz="1200" b="1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90"/>
                        </a:spcBef>
                        <a:spcAft>
                          <a:spcPts val="290"/>
                        </a:spcAft>
                      </a:pPr>
                      <a:r>
                        <a:rPr lang="en-US" sz="1200" dirty="0">
                          <a:effectLst/>
                        </a:rPr>
                        <a:t>R Function*</a:t>
                      </a:r>
                      <a:endParaRPr lang="en-US" sz="1200" b="1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601282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Exponential distribution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   PDF: Returns height of f(x)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   CDF:  Returns probability P(X ≤ x)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   Inverse CDF:  Returns x for P(X ≤ x) = α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   Random data (makes k samples in R) </a:t>
                      </a:r>
                      <a:endParaRPr lang="en-US" sz="1200" b="0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EXPON.DIST(x, λ, 0)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EXPON.DIST(x, λ, 1)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----------------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----------------</a:t>
                      </a:r>
                      <a:endParaRPr lang="en-US" sz="1200" b="1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dexp</a:t>
                      </a:r>
                      <a:r>
                        <a:rPr lang="en-US" sz="1200" dirty="0">
                          <a:effectLst/>
                        </a:rPr>
                        <a:t>(x, λ)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pexp</a:t>
                      </a:r>
                      <a:r>
                        <a:rPr lang="en-US" sz="1200" dirty="0">
                          <a:effectLst/>
                        </a:rPr>
                        <a:t>(x, λ)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qexp</a:t>
                      </a:r>
                      <a:r>
                        <a:rPr lang="en-US" sz="1200" dirty="0">
                          <a:effectLst/>
                        </a:rPr>
                        <a:t>(α, λ)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rexp</a:t>
                      </a:r>
                      <a:r>
                        <a:rPr lang="en-US" sz="1200" dirty="0">
                          <a:effectLst/>
                        </a:rPr>
                        <a:t>(k, λ)</a:t>
                      </a:r>
                      <a:endParaRPr lang="en-US" sz="1200" b="1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251937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Student’s t distribution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   PDF: Returns height of f(t)  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   CDF:  Returns probability P(t ≤ t</a:t>
                      </a:r>
                      <a:r>
                        <a:rPr lang="en-US" sz="1200" b="0" baseline="-25000" dirty="0">
                          <a:effectLst/>
                        </a:rPr>
                        <a:t>0</a:t>
                      </a:r>
                      <a:r>
                        <a:rPr lang="en-US" sz="1200" b="0" dirty="0">
                          <a:effectLst/>
                        </a:rPr>
                        <a:t>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   Inverse CDF:  Returns t</a:t>
                      </a:r>
                      <a:r>
                        <a:rPr lang="en-US" sz="1200" b="0" baseline="-25000" dirty="0">
                          <a:effectLst/>
                        </a:rPr>
                        <a:t>0</a:t>
                      </a:r>
                      <a:r>
                        <a:rPr lang="en-US" sz="1200" b="0" dirty="0">
                          <a:effectLst/>
                        </a:rPr>
                        <a:t> for P(t ≤ t</a:t>
                      </a:r>
                      <a:r>
                        <a:rPr lang="en-US" sz="1200" b="0" baseline="-25000" dirty="0">
                          <a:effectLst/>
                        </a:rPr>
                        <a:t>0</a:t>
                      </a:r>
                      <a:r>
                        <a:rPr lang="en-US" sz="1200" b="0" dirty="0">
                          <a:effectLst/>
                        </a:rPr>
                        <a:t>) = α 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   Random data (makes k samples in R) </a:t>
                      </a:r>
                      <a:endParaRPr lang="en-US" sz="1200" b="0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T.DIST(t, df, 0)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T.DIST(t</a:t>
                      </a:r>
                      <a:r>
                        <a:rPr lang="en-US" sz="1200" baseline="-25000" dirty="0">
                          <a:effectLst/>
                        </a:rPr>
                        <a:t>0</a:t>
                      </a:r>
                      <a:r>
                        <a:rPr lang="en-US" sz="1200" dirty="0">
                          <a:effectLst/>
                        </a:rPr>
                        <a:t>, df, 1)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T.INV(α, df)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T.INV(RAND(), df)</a:t>
                      </a:r>
                      <a:endParaRPr lang="en-US" sz="1200" b="1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dt(t, df)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pt(t, df)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qt(α, df)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rt(k, df)</a:t>
                      </a:r>
                      <a:endParaRPr lang="en-US" sz="1200" b="1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266430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F distribution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   PDF: Returns height of f(x)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   CDF:  Returns probability P(X ≤ x)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   Inverse CDF:  Returns F</a:t>
                      </a:r>
                      <a:r>
                        <a:rPr lang="en-US" sz="1200" b="0" baseline="-25000" dirty="0">
                          <a:effectLst/>
                        </a:rPr>
                        <a:t>0</a:t>
                      </a:r>
                      <a:r>
                        <a:rPr lang="en-US" sz="1200" b="0" dirty="0">
                          <a:effectLst/>
                        </a:rPr>
                        <a:t> for P(F ≤ F</a:t>
                      </a:r>
                      <a:r>
                        <a:rPr lang="en-US" sz="1200" b="0" baseline="-25000" dirty="0">
                          <a:effectLst/>
                        </a:rPr>
                        <a:t>0</a:t>
                      </a:r>
                      <a:r>
                        <a:rPr lang="en-US" sz="1200" b="0" dirty="0">
                          <a:effectLst/>
                        </a:rPr>
                        <a:t>) = α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   Random data (makes k samples in R) </a:t>
                      </a:r>
                      <a:endParaRPr lang="en-US" sz="1200" b="0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F.DIST(x, df</a:t>
                      </a:r>
                      <a:r>
                        <a:rPr lang="en-US" sz="1200" baseline="-25000" dirty="0">
                          <a:effectLst/>
                        </a:rPr>
                        <a:t>1</a:t>
                      </a:r>
                      <a:r>
                        <a:rPr lang="en-US" sz="1200" dirty="0">
                          <a:effectLst/>
                        </a:rPr>
                        <a:t>, df</a:t>
                      </a:r>
                      <a:r>
                        <a:rPr lang="en-US" sz="1200" baseline="-25000" dirty="0">
                          <a:effectLst/>
                        </a:rPr>
                        <a:t>2</a:t>
                      </a:r>
                      <a:r>
                        <a:rPr lang="en-US" sz="1200" dirty="0">
                          <a:effectLst/>
                        </a:rPr>
                        <a:t>, 0)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F.DIST(x, df</a:t>
                      </a:r>
                      <a:r>
                        <a:rPr lang="en-US" sz="1200" baseline="-25000" dirty="0">
                          <a:effectLst/>
                        </a:rPr>
                        <a:t>1</a:t>
                      </a:r>
                      <a:r>
                        <a:rPr lang="en-US" sz="1200" dirty="0">
                          <a:effectLst/>
                        </a:rPr>
                        <a:t>, df</a:t>
                      </a:r>
                      <a:r>
                        <a:rPr lang="en-US" sz="1200" baseline="-25000" dirty="0">
                          <a:effectLst/>
                        </a:rPr>
                        <a:t>2</a:t>
                      </a:r>
                      <a:r>
                        <a:rPr lang="en-US" sz="1200" dirty="0">
                          <a:effectLst/>
                        </a:rPr>
                        <a:t>, 1)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F.INV(α, df</a:t>
                      </a:r>
                      <a:r>
                        <a:rPr lang="en-US" sz="1200" baseline="-25000" dirty="0">
                          <a:effectLst/>
                        </a:rPr>
                        <a:t>1</a:t>
                      </a:r>
                      <a:r>
                        <a:rPr lang="en-US" sz="1200" dirty="0">
                          <a:effectLst/>
                        </a:rPr>
                        <a:t>, df</a:t>
                      </a:r>
                      <a:r>
                        <a:rPr lang="en-US" sz="1200" baseline="-25000" dirty="0">
                          <a:effectLst/>
                        </a:rPr>
                        <a:t>2</a:t>
                      </a:r>
                      <a:r>
                        <a:rPr lang="en-US" sz="1200" dirty="0">
                          <a:effectLst/>
                        </a:rPr>
                        <a:t>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F.INV(RAND(), df</a:t>
                      </a:r>
                      <a:r>
                        <a:rPr lang="en-US" sz="1200" baseline="-25000" dirty="0">
                          <a:effectLst/>
                        </a:rPr>
                        <a:t>1</a:t>
                      </a:r>
                      <a:r>
                        <a:rPr lang="en-US" sz="1200" dirty="0">
                          <a:effectLst/>
                        </a:rPr>
                        <a:t>, df</a:t>
                      </a:r>
                      <a:r>
                        <a:rPr lang="en-US" sz="1200" baseline="-25000" dirty="0">
                          <a:effectLst/>
                        </a:rPr>
                        <a:t>2</a:t>
                      </a:r>
                      <a:r>
                        <a:rPr lang="en-US" sz="1200" dirty="0">
                          <a:effectLst/>
                        </a:rPr>
                        <a:t>)</a:t>
                      </a:r>
                      <a:endParaRPr lang="en-US" sz="1200" b="1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df(x, df</a:t>
                      </a:r>
                      <a:r>
                        <a:rPr lang="en-US" sz="1200" baseline="-25000" dirty="0">
                          <a:effectLst/>
                        </a:rPr>
                        <a:t>1</a:t>
                      </a:r>
                      <a:r>
                        <a:rPr lang="en-US" sz="1200" dirty="0">
                          <a:effectLst/>
                        </a:rPr>
                        <a:t>, df</a:t>
                      </a:r>
                      <a:r>
                        <a:rPr lang="en-US" sz="1200" baseline="-25000" dirty="0">
                          <a:effectLst/>
                        </a:rPr>
                        <a:t>2</a:t>
                      </a:r>
                      <a:r>
                        <a:rPr lang="en-US" sz="1200" dirty="0">
                          <a:effectLst/>
                        </a:rPr>
                        <a:t>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pf(x, df</a:t>
                      </a:r>
                      <a:r>
                        <a:rPr lang="en-US" sz="1200" baseline="-25000" dirty="0">
                          <a:effectLst/>
                        </a:rPr>
                        <a:t>1</a:t>
                      </a:r>
                      <a:r>
                        <a:rPr lang="en-US" sz="1200" dirty="0">
                          <a:effectLst/>
                        </a:rPr>
                        <a:t>, df</a:t>
                      </a:r>
                      <a:r>
                        <a:rPr lang="en-US" sz="1200" baseline="-25000" dirty="0">
                          <a:effectLst/>
                        </a:rPr>
                        <a:t>2</a:t>
                      </a:r>
                      <a:r>
                        <a:rPr lang="en-US" sz="1200" dirty="0">
                          <a:effectLst/>
                        </a:rPr>
                        <a:t>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qf</a:t>
                      </a:r>
                      <a:r>
                        <a:rPr lang="en-US" sz="1200" dirty="0">
                          <a:effectLst/>
                        </a:rPr>
                        <a:t>(α, df</a:t>
                      </a:r>
                      <a:r>
                        <a:rPr lang="en-US" sz="1200" baseline="-25000" dirty="0">
                          <a:effectLst/>
                        </a:rPr>
                        <a:t>1</a:t>
                      </a:r>
                      <a:r>
                        <a:rPr lang="en-US" sz="1200" dirty="0">
                          <a:effectLst/>
                        </a:rPr>
                        <a:t>, df</a:t>
                      </a:r>
                      <a:r>
                        <a:rPr lang="en-US" sz="1200" baseline="-25000" dirty="0">
                          <a:effectLst/>
                        </a:rPr>
                        <a:t>2</a:t>
                      </a:r>
                      <a:r>
                        <a:rPr lang="en-US" sz="1200" dirty="0">
                          <a:effectLst/>
                        </a:rPr>
                        <a:t>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rf(k, df</a:t>
                      </a:r>
                      <a:r>
                        <a:rPr lang="en-US" sz="1200" baseline="-25000" dirty="0">
                          <a:effectLst/>
                        </a:rPr>
                        <a:t>1</a:t>
                      </a:r>
                      <a:r>
                        <a:rPr lang="en-US" sz="1200" dirty="0">
                          <a:effectLst/>
                        </a:rPr>
                        <a:t>, df</a:t>
                      </a:r>
                      <a:r>
                        <a:rPr lang="en-US" sz="1200" baseline="-25000" dirty="0">
                          <a:effectLst/>
                        </a:rPr>
                        <a:t>2</a:t>
                      </a:r>
                      <a:r>
                        <a:rPr lang="en-US" sz="1200" dirty="0">
                          <a:effectLst/>
                        </a:rPr>
                        <a:t>)</a:t>
                      </a:r>
                      <a:endParaRPr lang="en-US" sz="1200" b="1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6293915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D2B6B28-B126-4000-BE2E-A0E3035468AD}"/>
              </a:ext>
            </a:extLst>
          </p:cNvPr>
          <p:cNvSpPr txBox="1"/>
          <p:nvPr/>
        </p:nvSpPr>
        <p:spPr>
          <a:xfrm>
            <a:off x="1581064" y="228600"/>
            <a:ext cx="83105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Continuous Probability Distributions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8BAD00-FDA6-4BE2-8A14-35549E77F0C3}"/>
              </a:ext>
            </a:extLst>
          </p:cNvPr>
          <p:cNvSpPr txBox="1"/>
          <p:nvPr/>
        </p:nvSpPr>
        <p:spPr>
          <a:xfrm>
            <a:off x="5434149" y="972383"/>
            <a:ext cx="8011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2 of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04353D-509B-45ED-920C-DE6EC476381A}"/>
              </a:ext>
            </a:extLst>
          </p:cNvPr>
          <p:cNvSpPr txBox="1"/>
          <p:nvPr/>
        </p:nvSpPr>
        <p:spPr>
          <a:xfrm>
            <a:off x="1713641" y="4942914"/>
            <a:ext cx="61347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* In probability distributions, we use </a:t>
            </a:r>
            <a:r>
              <a:rPr lang="en-US" sz="1000" i="1" dirty="0"/>
              <a:t>x</a:t>
            </a:r>
            <a:r>
              <a:rPr lang="en-US" sz="1000" dirty="0"/>
              <a:t> to denote a single data value. Notation matches Doane/Seward textbook.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FF8AEA-988F-4DF6-9E65-573722196293}"/>
              </a:ext>
            </a:extLst>
          </p:cNvPr>
          <p:cNvSpPr txBox="1"/>
          <p:nvPr/>
        </p:nvSpPr>
        <p:spPr>
          <a:xfrm>
            <a:off x="10480988" y="6245848"/>
            <a:ext cx="10347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Copyright (c) 2025</a:t>
            </a:r>
          </a:p>
          <a:p>
            <a:r>
              <a:rPr lang="en-US" sz="800" dirty="0"/>
              <a:t>by McGraw Hill LLC</a:t>
            </a:r>
          </a:p>
        </p:txBody>
      </p:sp>
    </p:spTree>
    <p:extLst>
      <p:ext uri="{BB962C8B-B14F-4D97-AF65-F5344CB8AC3E}">
        <p14:creationId xmlns:p14="http://schemas.microsoft.com/office/powerpoint/2010/main" val="1992429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2ACAEE-704B-416D-9DC9-49CDCE78C7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9963909"/>
              </p:ext>
            </p:extLst>
          </p:nvPr>
        </p:nvGraphicFramePr>
        <p:xfrm>
          <a:off x="1948091" y="1941042"/>
          <a:ext cx="8255726" cy="2804160"/>
        </p:xfrm>
        <a:graphic>
          <a:graphicData uri="http://schemas.openxmlformats.org/drawingml/2006/table">
            <a:tbl>
              <a:tblPr firstRow="1" firstCol="1" bandRow="1">
                <a:tableStyleId>{FABFCF23-3B69-468F-B69F-88F6DE6A72F2}</a:tableStyleId>
              </a:tblPr>
              <a:tblGrid>
                <a:gridCol w="3352547">
                  <a:extLst>
                    <a:ext uri="{9D8B030D-6E8A-4147-A177-3AD203B41FA5}">
                      <a16:colId xmlns:a16="http://schemas.microsoft.com/office/drawing/2014/main" val="2020738176"/>
                    </a:ext>
                  </a:extLst>
                </a:gridCol>
                <a:gridCol w="2287222">
                  <a:extLst>
                    <a:ext uri="{9D8B030D-6E8A-4147-A177-3AD203B41FA5}">
                      <a16:colId xmlns:a16="http://schemas.microsoft.com/office/drawing/2014/main" val="1998156573"/>
                    </a:ext>
                  </a:extLst>
                </a:gridCol>
                <a:gridCol w="2615957">
                  <a:extLst>
                    <a:ext uri="{9D8B030D-6E8A-4147-A177-3AD203B41FA5}">
                      <a16:colId xmlns:a16="http://schemas.microsoft.com/office/drawing/2014/main" val="877161474"/>
                    </a:ext>
                  </a:extLst>
                </a:gridCol>
              </a:tblGrid>
              <a:tr h="243840">
                <a:tc>
                  <a:txBody>
                    <a:bodyPr/>
                    <a:lstStyle/>
                    <a:p>
                      <a:pPr marL="0" marR="0">
                        <a:spcBef>
                          <a:spcPts val="290"/>
                        </a:spcBef>
                        <a:spcAft>
                          <a:spcPts val="290"/>
                        </a:spcAft>
                      </a:pPr>
                      <a:r>
                        <a:rPr lang="en-US" sz="1200" dirty="0">
                          <a:effectLst/>
                        </a:rPr>
                        <a:t>Common Hypothesis Tests*</a:t>
                      </a:r>
                      <a:endParaRPr lang="en-US" sz="1200" b="1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654" marR="46654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90"/>
                        </a:spcBef>
                        <a:spcAft>
                          <a:spcPts val="290"/>
                        </a:spcAft>
                      </a:pPr>
                      <a:r>
                        <a:rPr lang="en-US" sz="1200">
                          <a:effectLst/>
                        </a:rPr>
                        <a:t>Excel Function</a:t>
                      </a:r>
                      <a:endParaRPr lang="en-US" sz="1200" b="1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654" marR="46654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90"/>
                        </a:spcBef>
                        <a:spcAft>
                          <a:spcPts val="290"/>
                        </a:spcAft>
                      </a:pPr>
                      <a:r>
                        <a:rPr lang="en-US" sz="1200" dirty="0">
                          <a:effectLst/>
                        </a:rPr>
                        <a:t>R Function*</a:t>
                      </a:r>
                      <a:endParaRPr lang="en-US" sz="1200" b="1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654" marR="46654" marT="0" marB="0"/>
                </a:tc>
                <a:extLst>
                  <a:ext uri="{0D108BD9-81ED-4DB2-BD59-A6C34878D82A}">
                    <a16:rowId xmlns:a16="http://schemas.microsoft.com/office/drawing/2014/main" val="3144979533"/>
                  </a:ext>
                </a:extLst>
              </a:tr>
              <a:tr h="1036753">
                <a:tc>
                  <a:txBody>
                    <a:bodyPr/>
                    <a:lstStyle/>
                    <a:p>
                      <a:pPr marL="457200" marR="0" indent="-4572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Normal distribution</a:t>
                      </a:r>
                      <a:r>
                        <a:rPr lang="en-US" sz="1200" b="0" baseline="30000" dirty="0">
                          <a:effectLst/>
                        </a:rPr>
                        <a:t>*</a:t>
                      </a:r>
                      <a:endParaRPr lang="en-US" sz="1200" b="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   Left -tailed p-value for test statistic </a:t>
                      </a:r>
                      <a:r>
                        <a:rPr lang="en-US" sz="1200" b="0" dirty="0" err="1">
                          <a:effectLst/>
                        </a:rPr>
                        <a:t>z</a:t>
                      </a:r>
                      <a:r>
                        <a:rPr lang="en-US" sz="1200" b="0" baseline="-25000" dirty="0" err="1">
                          <a:effectLst/>
                        </a:rPr>
                        <a:t>calc</a:t>
                      </a:r>
                      <a:endParaRPr lang="en-US" sz="1200" b="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   Right-tailed p-value for test statistic </a:t>
                      </a:r>
                      <a:r>
                        <a:rPr lang="en-US" sz="1200" b="0" dirty="0" err="1">
                          <a:effectLst/>
                        </a:rPr>
                        <a:t>z</a:t>
                      </a:r>
                      <a:r>
                        <a:rPr lang="en-US" sz="1200" b="0" baseline="-25000" dirty="0" err="1">
                          <a:effectLst/>
                        </a:rPr>
                        <a:t>calc</a:t>
                      </a:r>
                      <a:endParaRPr lang="en-US" sz="1200" b="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   Two-tailed p-value for test statistic </a:t>
                      </a:r>
                      <a:r>
                        <a:rPr lang="en-US" sz="1200" b="0" dirty="0" err="1">
                          <a:effectLst/>
                        </a:rPr>
                        <a:t>z</a:t>
                      </a:r>
                      <a:r>
                        <a:rPr lang="en-US" sz="1200" b="0" baseline="-25000" dirty="0" err="1">
                          <a:effectLst/>
                        </a:rPr>
                        <a:t>calc</a:t>
                      </a:r>
                      <a:endParaRPr lang="en-US" sz="1200" b="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   Critical z value for left-tailed test at α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   Critical z value for right-tailed test at α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   Critical z values for two-tailed test at α</a:t>
                      </a:r>
                      <a:endParaRPr lang="en-US" sz="1200" b="0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654" marR="46654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NORM.S.DIST(</a:t>
                      </a:r>
                      <a:r>
                        <a:rPr lang="en-US" sz="1200" dirty="0" err="1">
                          <a:effectLst/>
                        </a:rPr>
                        <a:t>z</a:t>
                      </a:r>
                      <a:r>
                        <a:rPr lang="en-US" sz="1200" baseline="-25000" dirty="0" err="1">
                          <a:effectLst/>
                        </a:rPr>
                        <a:t>calc</a:t>
                      </a:r>
                      <a:r>
                        <a:rPr lang="en-US" sz="1200" dirty="0">
                          <a:effectLst/>
                        </a:rPr>
                        <a:t>, 1)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1-NORM.S.DIST(</a:t>
                      </a:r>
                      <a:r>
                        <a:rPr lang="en-US" sz="1200" dirty="0" err="1">
                          <a:effectLst/>
                        </a:rPr>
                        <a:t>z</a:t>
                      </a:r>
                      <a:r>
                        <a:rPr lang="en-US" sz="1200" baseline="-25000" dirty="0" err="1">
                          <a:effectLst/>
                        </a:rPr>
                        <a:t>calc</a:t>
                      </a:r>
                      <a:r>
                        <a:rPr lang="en-US" sz="1200" dirty="0">
                          <a:effectLst/>
                        </a:rPr>
                        <a:t>, 1)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2*(1-NORM.S.DIST(|</a:t>
                      </a:r>
                      <a:r>
                        <a:rPr lang="en-US" sz="1200" dirty="0" err="1">
                          <a:effectLst/>
                        </a:rPr>
                        <a:t>z</a:t>
                      </a:r>
                      <a:r>
                        <a:rPr lang="en-US" sz="1200" baseline="-25000" dirty="0" err="1">
                          <a:effectLst/>
                        </a:rPr>
                        <a:t>calc</a:t>
                      </a:r>
                      <a:r>
                        <a:rPr lang="en-US" sz="1200" dirty="0">
                          <a:effectLst/>
                        </a:rPr>
                        <a:t>|, 1))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NORM.S.INV(α)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NORM.S.INV(1-α)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±NORM.S.INV(α/2)</a:t>
                      </a:r>
                      <a:endParaRPr lang="en-US" sz="1200" b="1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654" marR="46654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pnorm</a:t>
                      </a:r>
                      <a:r>
                        <a:rPr lang="en-US" sz="1200" dirty="0">
                          <a:effectLst/>
                        </a:rPr>
                        <a:t>(</a:t>
                      </a:r>
                      <a:r>
                        <a:rPr lang="en-US" sz="1200" dirty="0" err="1">
                          <a:effectLst/>
                        </a:rPr>
                        <a:t>z</a:t>
                      </a:r>
                      <a:r>
                        <a:rPr lang="en-US" sz="1200" baseline="-25000" dirty="0" err="1">
                          <a:effectLst/>
                        </a:rPr>
                        <a:t>calc</a:t>
                      </a:r>
                      <a:r>
                        <a:rPr lang="en-US" sz="1200" dirty="0">
                          <a:effectLst/>
                        </a:rPr>
                        <a:t> ,,, 1)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pnorm</a:t>
                      </a:r>
                      <a:r>
                        <a:rPr lang="en-US" sz="1200" dirty="0">
                          <a:effectLst/>
                        </a:rPr>
                        <a:t>(</a:t>
                      </a:r>
                      <a:r>
                        <a:rPr lang="en-US" sz="1200" dirty="0" err="1">
                          <a:effectLst/>
                        </a:rPr>
                        <a:t>z</a:t>
                      </a:r>
                      <a:r>
                        <a:rPr lang="en-US" sz="1200" baseline="-25000" dirty="0" err="1">
                          <a:effectLst/>
                        </a:rPr>
                        <a:t>calc</a:t>
                      </a:r>
                      <a:r>
                        <a:rPr lang="en-US" sz="1200" dirty="0">
                          <a:effectLst/>
                        </a:rPr>
                        <a:t> ,,, 0)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2*</a:t>
                      </a:r>
                      <a:r>
                        <a:rPr lang="en-US" sz="1200" dirty="0" err="1">
                          <a:effectLst/>
                        </a:rPr>
                        <a:t>pnorm</a:t>
                      </a:r>
                      <a:r>
                        <a:rPr lang="en-US" sz="1200" dirty="0">
                          <a:effectLst/>
                        </a:rPr>
                        <a:t>(|</a:t>
                      </a:r>
                      <a:r>
                        <a:rPr lang="en-US" sz="1200" dirty="0" err="1">
                          <a:effectLst/>
                        </a:rPr>
                        <a:t>z</a:t>
                      </a:r>
                      <a:r>
                        <a:rPr lang="en-US" sz="1200" baseline="-25000" dirty="0" err="1">
                          <a:effectLst/>
                        </a:rPr>
                        <a:t>calc</a:t>
                      </a:r>
                      <a:r>
                        <a:rPr lang="en-US" sz="1200" dirty="0">
                          <a:effectLst/>
                        </a:rPr>
                        <a:t>| ,,, 0)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qnorm</a:t>
                      </a:r>
                      <a:r>
                        <a:rPr lang="en-US" sz="1200" dirty="0">
                          <a:effectLst/>
                        </a:rPr>
                        <a:t>(α)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qnorm</a:t>
                      </a:r>
                      <a:r>
                        <a:rPr lang="en-US" sz="1200" dirty="0">
                          <a:effectLst/>
                        </a:rPr>
                        <a:t>(1-α)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±</a:t>
                      </a:r>
                      <a:r>
                        <a:rPr lang="en-US" sz="1200" dirty="0" err="1">
                          <a:effectLst/>
                        </a:rPr>
                        <a:t>qnorm</a:t>
                      </a:r>
                      <a:r>
                        <a:rPr lang="en-US" sz="1200" dirty="0">
                          <a:effectLst/>
                        </a:rPr>
                        <a:t>(α/2)</a:t>
                      </a:r>
                      <a:endParaRPr lang="en-US" sz="1200" b="1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654" marR="46654" marT="0" marB="0"/>
                </a:tc>
                <a:extLst>
                  <a:ext uri="{0D108BD9-81ED-4DB2-BD59-A6C34878D82A}">
                    <a16:rowId xmlns:a16="http://schemas.microsoft.com/office/drawing/2014/main" val="2482741627"/>
                  </a:ext>
                </a:extLst>
              </a:tr>
              <a:tr h="1036753">
                <a:tc>
                  <a:txBody>
                    <a:bodyPr/>
                    <a:lstStyle/>
                    <a:p>
                      <a:pPr marL="457200" marR="0" indent="-4572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Student’s t distribution</a:t>
                      </a:r>
                      <a:r>
                        <a:rPr lang="en-US" sz="1200" b="0" baseline="30000" dirty="0">
                          <a:effectLst/>
                        </a:rPr>
                        <a:t>*</a:t>
                      </a:r>
                      <a:endParaRPr lang="en-US" sz="1200" b="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   Left -tailed p-value for test statistic </a:t>
                      </a:r>
                      <a:r>
                        <a:rPr lang="en-US" sz="1200" b="0" dirty="0" err="1">
                          <a:effectLst/>
                        </a:rPr>
                        <a:t>t</a:t>
                      </a:r>
                      <a:r>
                        <a:rPr lang="en-US" sz="1200" b="0" baseline="-25000" dirty="0" err="1">
                          <a:effectLst/>
                        </a:rPr>
                        <a:t>calc</a:t>
                      </a:r>
                      <a:endParaRPr lang="en-US" sz="1200" b="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   Right-tailed p-value for test statistic </a:t>
                      </a:r>
                      <a:r>
                        <a:rPr lang="en-US" sz="1200" b="0" dirty="0" err="1">
                          <a:effectLst/>
                        </a:rPr>
                        <a:t>t</a:t>
                      </a:r>
                      <a:r>
                        <a:rPr lang="en-US" sz="1200" b="0" baseline="-25000" dirty="0" err="1">
                          <a:effectLst/>
                        </a:rPr>
                        <a:t>calc</a:t>
                      </a:r>
                      <a:endParaRPr lang="en-US" sz="1200" b="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   Two-tailed p-value for test statistic </a:t>
                      </a:r>
                      <a:r>
                        <a:rPr lang="en-US" sz="1200" b="0" dirty="0" err="1">
                          <a:effectLst/>
                        </a:rPr>
                        <a:t>t</a:t>
                      </a:r>
                      <a:r>
                        <a:rPr lang="en-US" sz="1200" b="0" baseline="-25000" dirty="0" err="1">
                          <a:effectLst/>
                        </a:rPr>
                        <a:t>calc</a:t>
                      </a:r>
                      <a:endParaRPr lang="en-US" sz="1200" b="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   Critical value of t</a:t>
                      </a:r>
                      <a:r>
                        <a:rPr lang="en-US" sz="1200" b="0" baseline="-25000" dirty="0">
                          <a:effectLst/>
                        </a:rPr>
                        <a:t>α</a:t>
                      </a:r>
                      <a:r>
                        <a:rPr lang="en-US" sz="1200" b="0" dirty="0">
                          <a:effectLst/>
                        </a:rPr>
                        <a:t> for left-tailed test at α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   Critical value of t</a:t>
                      </a:r>
                      <a:r>
                        <a:rPr lang="en-US" sz="1200" b="0" baseline="-25000" dirty="0">
                          <a:effectLst/>
                        </a:rPr>
                        <a:t>α</a:t>
                      </a:r>
                      <a:r>
                        <a:rPr lang="en-US" sz="1200" b="0" dirty="0">
                          <a:effectLst/>
                        </a:rPr>
                        <a:t> for right-tailed test at α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   Critical values of t</a:t>
                      </a:r>
                      <a:r>
                        <a:rPr lang="en-US" sz="1200" b="0" baseline="-25000" dirty="0">
                          <a:effectLst/>
                        </a:rPr>
                        <a:t>α/2</a:t>
                      </a:r>
                      <a:r>
                        <a:rPr lang="en-US" sz="1200" b="0" dirty="0">
                          <a:effectLst/>
                        </a:rPr>
                        <a:t> for two-tailed test at α</a:t>
                      </a:r>
                      <a:endParaRPr lang="en-US" sz="1200" b="0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654" marR="46654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T.DIST(</a:t>
                      </a:r>
                      <a:r>
                        <a:rPr lang="en-US" sz="1200" dirty="0" err="1">
                          <a:effectLst/>
                        </a:rPr>
                        <a:t>t</a:t>
                      </a:r>
                      <a:r>
                        <a:rPr lang="en-US" sz="1200" baseline="-25000" dirty="0" err="1">
                          <a:effectLst/>
                        </a:rPr>
                        <a:t>calc</a:t>
                      </a:r>
                      <a:r>
                        <a:rPr lang="en-US" sz="1200" dirty="0">
                          <a:effectLst/>
                        </a:rPr>
                        <a:t>, df, 1)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T.DIST.RT(</a:t>
                      </a:r>
                      <a:r>
                        <a:rPr lang="en-US" sz="1200" dirty="0" err="1">
                          <a:effectLst/>
                        </a:rPr>
                        <a:t>t</a:t>
                      </a:r>
                      <a:r>
                        <a:rPr lang="en-US" sz="1200" baseline="-25000" dirty="0" err="1">
                          <a:effectLst/>
                        </a:rPr>
                        <a:t>calc</a:t>
                      </a:r>
                      <a:r>
                        <a:rPr lang="en-US" sz="1200" dirty="0">
                          <a:effectLst/>
                        </a:rPr>
                        <a:t>, df)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T.DIST.2T(|</a:t>
                      </a:r>
                      <a:r>
                        <a:rPr lang="en-US" sz="1200" dirty="0" err="1">
                          <a:effectLst/>
                        </a:rPr>
                        <a:t>t</a:t>
                      </a:r>
                      <a:r>
                        <a:rPr lang="en-US" sz="1200" baseline="-25000" dirty="0" err="1">
                          <a:effectLst/>
                        </a:rPr>
                        <a:t>calc</a:t>
                      </a:r>
                      <a:r>
                        <a:rPr lang="en-US" sz="1200" dirty="0">
                          <a:effectLst/>
                        </a:rPr>
                        <a:t>|, df)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T.INV(α, df)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T.INV(1-α, df)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±T.INV.2T(α, df)</a:t>
                      </a:r>
                      <a:endParaRPr lang="en-US" sz="1200" b="1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654" marR="46654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pt</a:t>
                      </a:r>
                      <a:r>
                        <a:rPr lang="en-US" sz="1200" dirty="0">
                          <a:effectLst/>
                        </a:rPr>
                        <a:t>(</a:t>
                      </a:r>
                      <a:r>
                        <a:rPr lang="en-US" sz="1200" dirty="0" err="1">
                          <a:effectLst/>
                        </a:rPr>
                        <a:t>t</a:t>
                      </a:r>
                      <a:r>
                        <a:rPr lang="en-US" sz="1200" baseline="-25000" dirty="0" err="1">
                          <a:effectLst/>
                        </a:rPr>
                        <a:t>calc</a:t>
                      </a:r>
                      <a:r>
                        <a:rPr lang="en-US" sz="1200" dirty="0">
                          <a:effectLst/>
                        </a:rPr>
                        <a:t>, df ,, 1)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pt</a:t>
                      </a:r>
                      <a:r>
                        <a:rPr lang="en-US" sz="1200" dirty="0">
                          <a:effectLst/>
                        </a:rPr>
                        <a:t>(</a:t>
                      </a:r>
                      <a:r>
                        <a:rPr lang="en-US" sz="1200" dirty="0" err="1">
                          <a:effectLst/>
                        </a:rPr>
                        <a:t>t</a:t>
                      </a:r>
                      <a:r>
                        <a:rPr lang="en-US" sz="1200" baseline="-25000" dirty="0" err="1">
                          <a:effectLst/>
                        </a:rPr>
                        <a:t>calc</a:t>
                      </a:r>
                      <a:r>
                        <a:rPr lang="en-US" sz="1200" dirty="0">
                          <a:effectLst/>
                        </a:rPr>
                        <a:t>, df ,, 0)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2*</a:t>
                      </a:r>
                      <a:r>
                        <a:rPr lang="en-US" sz="1200" dirty="0" err="1">
                          <a:effectLst/>
                        </a:rPr>
                        <a:t>pt</a:t>
                      </a:r>
                      <a:r>
                        <a:rPr lang="en-US" sz="1200" dirty="0">
                          <a:effectLst/>
                        </a:rPr>
                        <a:t>(|</a:t>
                      </a:r>
                      <a:r>
                        <a:rPr lang="en-US" sz="1200" dirty="0" err="1">
                          <a:effectLst/>
                        </a:rPr>
                        <a:t>t</a:t>
                      </a:r>
                      <a:r>
                        <a:rPr lang="en-US" sz="1200" baseline="-25000" dirty="0" err="1">
                          <a:effectLst/>
                        </a:rPr>
                        <a:t>calc</a:t>
                      </a:r>
                      <a:r>
                        <a:rPr lang="en-US" sz="1200" dirty="0">
                          <a:effectLst/>
                        </a:rPr>
                        <a:t>|, df ,, 0)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qt(α, df)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qt(1-α, df)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±qt(α/2)</a:t>
                      </a:r>
                      <a:endParaRPr lang="en-US" sz="1200" b="1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654" marR="46654" marT="0" marB="0"/>
                </a:tc>
                <a:extLst>
                  <a:ext uri="{0D108BD9-81ED-4DB2-BD59-A6C34878D82A}">
                    <a16:rowId xmlns:a16="http://schemas.microsoft.com/office/drawing/2014/main" val="220574197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42A94C5-1977-4FE2-832F-76CA1316845D}"/>
              </a:ext>
            </a:extLst>
          </p:cNvPr>
          <p:cNvSpPr txBox="1"/>
          <p:nvPr/>
        </p:nvSpPr>
        <p:spPr>
          <a:xfrm>
            <a:off x="1520104" y="228600"/>
            <a:ext cx="83105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Hypothesis Tests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5718D8-27D7-4886-A660-038D10E57089}"/>
              </a:ext>
            </a:extLst>
          </p:cNvPr>
          <p:cNvSpPr txBox="1"/>
          <p:nvPr/>
        </p:nvSpPr>
        <p:spPr>
          <a:xfrm>
            <a:off x="5274765" y="833046"/>
            <a:ext cx="8011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1 of 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12EC33-09F8-4B9F-A565-A148EB6B92F1}"/>
              </a:ext>
            </a:extLst>
          </p:cNvPr>
          <p:cNvSpPr txBox="1"/>
          <p:nvPr/>
        </p:nvSpPr>
        <p:spPr>
          <a:xfrm>
            <a:off x="1948091" y="4851249"/>
            <a:ext cx="8186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* In two-tailed z and t tests we use absolute values |</a:t>
            </a:r>
            <a:r>
              <a:rPr lang="en-US" sz="1000" dirty="0" err="1"/>
              <a:t>z</a:t>
            </a:r>
            <a:r>
              <a:rPr lang="en-US" sz="1000" baseline="-25000" dirty="0" err="1"/>
              <a:t>calc</a:t>
            </a:r>
            <a:r>
              <a:rPr lang="en-US" sz="1000" dirty="0"/>
              <a:t>| and |</a:t>
            </a:r>
            <a:r>
              <a:rPr lang="en-US" sz="1000" dirty="0" err="1"/>
              <a:t>t</a:t>
            </a:r>
            <a:r>
              <a:rPr lang="en-US" sz="1000" baseline="-25000" dirty="0" err="1"/>
              <a:t>calc</a:t>
            </a:r>
            <a:r>
              <a:rPr lang="en-US" sz="1000" dirty="0"/>
              <a:t>| of the test statistic and ± to indicate that the left-tail and right-tail critical values are the same except for sign. For simplicity, some optional arguments have been omitted for R functions (check R help to see all available options).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AC2DCB-5218-48A8-9E9D-5B3D778ED4B6}"/>
              </a:ext>
            </a:extLst>
          </p:cNvPr>
          <p:cNvSpPr txBox="1"/>
          <p:nvPr/>
        </p:nvSpPr>
        <p:spPr>
          <a:xfrm>
            <a:off x="10480988" y="6245848"/>
            <a:ext cx="10347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Copyright (c) 2025</a:t>
            </a:r>
          </a:p>
          <a:p>
            <a:r>
              <a:rPr lang="en-US" sz="800" dirty="0"/>
              <a:t>by McGraw Hill LLC</a:t>
            </a:r>
          </a:p>
        </p:txBody>
      </p:sp>
    </p:spTree>
    <p:extLst>
      <p:ext uri="{BB962C8B-B14F-4D97-AF65-F5344CB8AC3E}">
        <p14:creationId xmlns:p14="http://schemas.microsoft.com/office/powerpoint/2010/main" val="3958259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2ACAEE-704B-416D-9DC9-49CDCE78C7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6319686"/>
              </p:ext>
            </p:extLst>
          </p:nvPr>
        </p:nvGraphicFramePr>
        <p:xfrm>
          <a:off x="1863636" y="1941042"/>
          <a:ext cx="8255726" cy="2743200"/>
        </p:xfrm>
        <a:graphic>
          <a:graphicData uri="http://schemas.openxmlformats.org/drawingml/2006/table">
            <a:tbl>
              <a:tblPr firstRow="1" firstCol="1" bandRow="1">
                <a:tableStyleId>{FABFCF23-3B69-468F-B69F-88F6DE6A72F2}</a:tableStyleId>
              </a:tblPr>
              <a:tblGrid>
                <a:gridCol w="3352547">
                  <a:extLst>
                    <a:ext uri="{9D8B030D-6E8A-4147-A177-3AD203B41FA5}">
                      <a16:colId xmlns:a16="http://schemas.microsoft.com/office/drawing/2014/main" val="2020738176"/>
                    </a:ext>
                  </a:extLst>
                </a:gridCol>
                <a:gridCol w="2287222">
                  <a:extLst>
                    <a:ext uri="{9D8B030D-6E8A-4147-A177-3AD203B41FA5}">
                      <a16:colId xmlns:a16="http://schemas.microsoft.com/office/drawing/2014/main" val="1998156573"/>
                    </a:ext>
                  </a:extLst>
                </a:gridCol>
                <a:gridCol w="2615957">
                  <a:extLst>
                    <a:ext uri="{9D8B030D-6E8A-4147-A177-3AD203B41FA5}">
                      <a16:colId xmlns:a16="http://schemas.microsoft.com/office/drawing/2014/main" val="877161474"/>
                    </a:ext>
                  </a:extLst>
                </a:gridCol>
              </a:tblGrid>
              <a:tr h="147077">
                <a:tc>
                  <a:txBody>
                    <a:bodyPr/>
                    <a:lstStyle/>
                    <a:p>
                      <a:pPr marL="0" marR="0">
                        <a:spcBef>
                          <a:spcPts val="290"/>
                        </a:spcBef>
                        <a:spcAft>
                          <a:spcPts val="290"/>
                        </a:spcAft>
                      </a:pPr>
                      <a:r>
                        <a:rPr lang="en-US" sz="1200" dirty="0">
                          <a:effectLst/>
                        </a:rPr>
                        <a:t>Common Hypothesis Tests*</a:t>
                      </a:r>
                      <a:endParaRPr lang="en-US" sz="1200" b="1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654" marR="46654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90"/>
                        </a:spcBef>
                        <a:spcAft>
                          <a:spcPts val="290"/>
                        </a:spcAft>
                      </a:pPr>
                      <a:r>
                        <a:rPr lang="en-US" sz="1200">
                          <a:effectLst/>
                        </a:rPr>
                        <a:t>Excel Function</a:t>
                      </a:r>
                      <a:endParaRPr lang="en-US" sz="1200" b="1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654" marR="46654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90"/>
                        </a:spcBef>
                        <a:spcAft>
                          <a:spcPts val="290"/>
                        </a:spcAft>
                      </a:pPr>
                      <a:r>
                        <a:rPr lang="en-US" sz="1200" dirty="0">
                          <a:effectLst/>
                        </a:rPr>
                        <a:t>R Function*</a:t>
                      </a:r>
                      <a:endParaRPr lang="en-US" sz="1200" b="1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654" marR="46654" marT="0" marB="0"/>
                </a:tc>
                <a:extLst>
                  <a:ext uri="{0D108BD9-81ED-4DB2-BD59-A6C34878D82A}">
                    <a16:rowId xmlns:a16="http://schemas.microsoft.com/office/drawing/2014/main" val="3144979533"/>
                  </a:ext>
                </a:extLst>
              </a:tr>
              <a:tr h="1036753">
                <a:tc>
                  <a:txBody>
                    <a:bodyPr/>
                    <a:lstStyle/>
                    <a:p>
                      <a:pPr marL="457200" marR="0" indent="-4572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F distribution*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   Left -tailed p-value for test statistic </a:t>
                      </a:r>
                      <a:r>
                        <a:rPr lang="en-US" sz="1200" b="0" dirty="0" err="1">
                          <a:effectLst/>
                        </a:rPr>
                        <a:t>F</a:t>
                      </a:r>
                      <a:r>
                        <a:rPr lang="en-US" sz="1200" b="0" baseline="-25000" dirty="0" err="1">
                          <a:effectLst/>
                        </a:rPr>
                        <a:t>calc</a:t>
                      </a:r>
                      <a:endParaRPr lang="en-US" sz="1200" b="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   Right-tailed p-value for test statistic </a:t>
                      </a:r>
                      <a:r>
                        <a:rPr lang="en-US" sz="1200" b="0" dirty="0" err="1">
                          <a:effectLst/>
                        </a:rPr>
                        <a:t>F</a:t>
                      </a:r>
                      <a:r>
                        <a:rPr lang="en-US" sz="1200" b="0" baseline="-25000" dirty="0" err="1">
                          <a:effectLst/>
                        </a:rPr>
                        <a:t>calc</a:t>
                      </a:r>
                      <a:endParaRPr lang="en-US" sz="1200" b="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   Two-tailed p-value for folded</a:t>
                      </a:r>
                      <a:r>
                        <a:rPr lang="en-US" sz="1200" b="0" baseline="30000" dirty="0">
                          <a:effectLst/>
                        </a:rPr>
                        <a:t>2</a:t>
                      </a:r>
                      <a:r>
                        <a:rPr lang="en-US" sz="1200" b="0" dirty="0">
                          <a:effectLst/>
                        </a:rPr>
                        <a:t> </a:t>
                      </a:r>
                      <a:r>
                        <a:rPr lang="en-US" sz="1200" b="0" dirty="0" err="1">
                          <a:effectLst/>
                        </a:rPr>
                        <a:t>F</a:t>
                      </a:r>
                      <a:r>
                        <a:rPr lang="en-US" sz="1200" b="0" baseline="-25000" dirty="0" err="1">
                          <a:effectLst/>
                        </a:rPr>
                        <a:t>max</a:t>
                      </a:r>
                      <a:r>
                        <a:rPr lang="en-US" sz="1200" b="0" dirty="0">
                          <a:effectLst/>
                        </a:rPr>
                        <a:t> test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   Critical value for left-tailed test at α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   Critical value for right-tailed test at α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   Critical value for folded F test at α</a:t>
                      </a:r>
                      <a:endParaRPr lang="en-US" sz="1200" b="0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654" marR="46654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F.DIST(F</a:t>
                      </a:r>
                      <a:r>
                        <a:rPr lang="en-US" sz="1200" baseline="-25000">
                          <a:effectLst/>
                        </a:rPr>
                        <a:t>calc</a:t>
                      </a:r>
                      <a:r>
                        <a:rPr lang="en-US" sz="1200">
                          <a:effectLst/>
                        </a:rPr>
                        <a:t>, df</a:t>
                      </a:r>
                      <a:r>
                        <a:rPr lang="en-US" sz="1200" baseline="-25000">
                          <a:effectLst/>
                        </a:rPr>
                        <a:t>1</a:t>
                      </a:r>
                      <a:r>
                        <a:rPr lang="en-US" sz="1200">
                          <a:effectLst/>
                        </a:rPr>
                        <a:t>, df</a:t>
                      </a:r>
                      <a:r>
                        <a:rPr lang="en-US" sz="1200" baseline="-25000">
                          <a:effectLst/>
                        </a:rPr>
                        <a:t>2</a:t>
                      </a:r>
                      <a:r>
                        <a:rPr lang="en-US" sz="1200">
                          <a:effectLst/>
                        </a:rPr>
                        <a:t>, 1)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F.DIST.RT(F</a:t>
                      </a:r>
                      <a:r>
                        <a:rPr lang="en-US" sz="1200" baseline="-25000">
                          <a:effectLst/>
                        </a:rPr>
                        <a:t>calc</a:t>
                      </a:r>
                      <a:r>
                        <a:rPr lang="en-US" sz="1200">
                          <a:effectLst/>
                        </a:rPr>
                        <a:t>, df</a:t>
                      </a:r>
                      <a:r>
                        <a:rPr lang="en-US" sz="1200" baseline="-25000">
                          <a:effectLst/>
                        </a:rPr>
                        <a:t>1</a:t>
                      </a:r>
                      <a:r>
                        <a:rPr lang="en-US" sz="1200">
                          <a:effectLst/>
                        </a:rPr>
                        <a:t>, df</a:t>
                      </a:r>
                      <a:r>
                        <a:rPr lang="en-US" sz="1200" baseline="-25000">
                          <a:effectLst/>
                        </a:rPr>
                        <a:t>2</a:t>
                      </a:r>
                      <a:r>
                        <a:rPr lang="en-US" sz="1200">
                          <a:effectLst/>
                        </a:rPr>
                        <a:t>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2*F.DIST.RT(F</a:t>
                      </a:r>
                      <a:r>
                        <a:rPr lang="en-US" sz="1200" baseline="-25000">
                          <a:effectLst/>
                        </a:rPr>
                        <a:t>max</a:t>
                      </a:r>
                      <a:r>
                        <a:rPr lang="en-US" sz="1200">
                          <a:effectLst/>
                        </a:rPr>
                        <a:t>, df</a:t>
                      </a:r>
                      <a:r>
                        <a:rPr lang="en-US" sz="1200" baseline="-25000">
                          <a:effectLst/>
                        </a:rPr>
                        <a:t>1</a:t>
                      </a:r>
                      <a:r>
                        <a:rPr lang="en-US" sz="1200">
                          <a:effectLst/>
                        </a:rPr>
                        <a:t>, df</a:t>
                      </a:r>
                      <a:r>
                        <a:rPr lang="en-US" sz="1200" baseline="-25000">
                          <a:effectLst/>
                        </a:rPr>
                        <a:t>2</a:t>
                      </a:r>
                      <a:r>
                        <a:rPr lang="en-US" sz="1200">
                          <a:effectLst/>
                        </a:rPr>
                        <a:t>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F.INV(α, df</a:t>
                      </a:r>
                      <a:r>
                        <a:rPr lang="en-US" sz="1200" baseline="-25000">
                          <a:effectLst/>
                        </a:rPr>
                        <a:t>1</a:t>
                      </a:r>
                      <a:r>
                        <a:rPr lang="en-US" sz="1200">
                          <a:effectLst/>
                        </a:rPr>
                        <a:t>, df</a:t>
                      </a:r>
                      <a:r>
                        <a:rPr lang="en-US" sz="1200" baseline="-25000">
                          <a:effectLst/>
                        </a:rPr>
                        <a:t>2</a:t>
                      </a:r>
                      <a:r>
                        <a:rPr lang="en-US" sz="1200">
                          <a:effectLst/>
                        </a:rPr>
                        <a:t>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F.INV(1-α, df</a:t>
                      </a:r>
                      <a:r>
                        <a:rPr lang="en-US" sz="1200" baseline="-25000">
                          <a:effectLst/>
                        </a:rPr>
                        <a:t>1</a:t>
                      </a:r>
                      <a:r>
                        <a:rPr lang="en-US" sz="1200">
                          <a:effectLst/>
                        </a:rPr>
                        <a:t>, df</a:t>
                      </a:r>
                      <a:r>
                        <a:rPr lang="en-US" sz="1200" baseline="-25000">
                          <a:effectLst/>
                        </a:rPr>
                        <a:t>2</a:t>
                      </a:r>
                      <a:r>
                        <a:rPr lang="en-US" sz="1200">
                          <a:effectLst/>
                        </a:rPr>
                        <a:t>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F.INV.RT(α/2, df</a:t>
                      </a:r>
                      <a:r>
                        <a:rPr lang="en-US" sz="1200" baseline="-25000">
                          <a:effectLst/>
                        </a:rPr>
                        <a:t>1</a:t>
                      </a:r>
                      <a:r>
                        <a:rPr lang="en-US" sz="1200">
                          <a:effectLst/>
                        </a:rPr>
                        <a:t>, df</a:t>
                      </a:r>
                      <a:r>
                        <a:rPr lang="en-US" sz="1200" baseline="-25000">
                          <a:effectLst/>
                        </a:rPr>
                        <a:t>2</a:t>
                      </a:r>
                      <a:r>
                        <a:rPr lang="en-US" sz="1200">
                          <a:effectLst/>
                        </a:rPr>
                        <a:t>)</a:t>
                      </a:r>
                      <a:endParaRPr lang="en-US" sz="1200" b="1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654" marR="46654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pf(</a:t>
                      </a:r>
                      <a:r>
                        <a:rPr lang="en-US" sz="1200" dirty="0" err="1">
                          <a:effectLst/>
                        </a:rPr>
                        <a:t>F</a:t>
                      </a:r>
                      <a:r>
                        <a:rPr lang="en-US" sz="1200" baseline="-25000" dirty="0" err="1">
                          <a:effectLst/>
                        </a:rPr>
                        <a:t>calc</a:t>
                      </a:r>
                      <a:r>
                        <a:rPr lang="en-US" sz="1200" dirty="0">
                          <a:effectLst/>
                        </a:rPr>
                        <a:t>, df</a:t>
                      </a:r>
                      <a:r>
                        <a:rPr lang="en-US" sz="1200" baseline="-25000" dirty="0">
                          <a:effectLst/>
                        </a:rPr>
                        <a:t>1</a:t>
                      </a:r>
                      <a:r>
                        <a:rPr lang="en-US" sz="1200" dirty="0">
                          <a:effectLst/>
                        </a:rPr>
                        <a:t>, df</a:t>
                      </a:r>
                      <a:r>
                        <a:rPr lang="en-US" sz="1200" baseline="-25000" dirty="0">
                          <a:effectLst/>
                        </a:rPr>
                        <a:t>2 </a:t>
                      </a:r>
                      <a:r>
                        <a:rPr lang="en-US" sz="1200" dirty="0">
                          <a:effectLst/>
                        </a:rPr>
                        <a:t>,, 1)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pf(</a:t>
                      </a:r>
                      <a:r>
                        <a:rPr lang="en-US" sz="1200" dirty="0" err="1">
                          <a:effectLst/>
                        </a:rPr>
                        <a:t>F</a:t>
                      </a:r>
                      <a:r>
                        <a:rPr lang="en-US" sz="1200" baseline="-25000" dirty="0" err="1">
                          <a:effectLst/>
                        </a:rPr>
                        <a:t>calc</a:t>
                      </a:r>
                      <a:r>
                        <a:rPr lang="en-US" sz="1200" dirty="0">
                          <a:effectLst/>
                        </a:rPr>
                        <a:t>, df</a:t>
                      </a:r>
                      <a:r>
                        <a:rPr lang="en-US" sz="1200" baseline="-25000" dirty="0">
                          <a:effectLst/>
                        </a:rPr>
                        <a:t>1</a:t>
                      </a:r>
                      <a:r>
                        <a:rPr lang="en-US" sz="1200" dirty="0">
                          <a:effectLst/>
                        </a:rPr>
                        <a:t>, df</a:t>
                      </a:r>
                      <a:r>
                        <a:rPr lang="en-US" sz="1200" baseline="-25000" dirty="0">
                          <a:effectLst/>
                        </a:rPr>
                        <a:t>2 </a:t>
                      </a:r>
                      <a:r>
                        <a:rPr lang="en-US" sz="1200" dirty="0">
                          <a:effectLst/>
                        </a:rPr>
                        <a:t>,, 0)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2*pf(</a:t>
                      </a:r>
                      <a:r>
                        <a:rPr lang="en-US" sz="1200" dirty="0" err="1">
                          <a:effectLst/>
                        </a:rPr>
                        <a:t>F</a:t>
                      </a:r>
                      <a:r>
                        <a:rPr lang="en-US" sz="1200" baseline="-25000" dirty="0" err="1">
                          <a:effectLst/>
                        </a:rPr>
                        <a:t>max</a:t>
                      </a:r>
                      <a:r>
                        <a:rPr lang="en-US" sz="1200" dirty="0">
                          <a:effectLst/>
                        </a:rPr>
                        <a:t>, df</a:t>
                      </a:r>
                      <a:r>
                        <a:rPr lang="en-US" sz="1200" baseline="-25000" dirty="0">
                          <a:effectLst/>
                        </a:rPr>
                        <a:t>1</a:t>
                      </a:r>
                      <a:r>
                        <a:rPr lang="en-US" sz="1200" dirty="0">
                          <a:effectLst/>
                        </a:rPr>
                        <a:t>, df</a:t>
                      </a:r>
                      <a:r>
                        <a:rPr lang="en-US" sz="1200" baseline="-25000" dirty="0">
                          <a:effectLst/>
                        </a:rPr>
                        <a:t>2 </a:t>
                      </a:r>
                      <a:r>
                        <a:rPr lang="en-US" sz="1200" dirty="0">
                          <a:effectLst/>
                        </a:rPr>
                        <a:t>,, 0)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qf</a:t>
                      </a:r>
                      <a:r>
                        <a:rPr lang="en-US" sz="1200" dirty="0">
                          <a:effectLst/>
                        </a:rPr>
                        <a:t>(α, df</a:t>
                      </a:r>
                      <a:r>
                        <a:rPr lang="en-US" sz="1200" baseline="-25000" dirty="0">
                          <a:effectLst/>
                        </a:rPr>
                        <a:t>1</a:t>
                      </a:r>
                      <a:r>
                        <a:rPr lang="en-US" sz="1200" dirty="0">
                          <a:effectLst/>
                        </a:rPr>
                        <a:t>, df</a:t>
                      </a:r>
                      <a:r>
                        <a:rPr lang="en-US" sz="1200" baseline="-25000" dirty="0">
                          <a:effectLst/>
                        </a:rPr>
                        <a:t>2 </a:t>
                      </a:r>
                      <a:r>
                        <a:rPr lang="en-US" sz="1200" dirty="0">
                          <a:effectLst/>
                        </a:rPr>
                        <a:t>,, 1)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qf</a:t>
                      </a:r>
                      <a:r>
                        <a:rPr lang="en-US" sz="1200" dirty="0">
                          <a:effectLst/>
                        </a:rPr>
                        <a:t>(α, df</a:t>
                      </a:r>
                      <a:r>
                        <a:rPr lang="en-US" sz="1200" baseline="-25000" dirty="0">
                          <a:effectLst/>
                        </a:rPr>
                        <a:t>1</a:t>
                      </a:r>
                      <a:r>
                        <a:rPr lang="en-US" sz="1200" dirty="0">
                          <a:effectLst/>
                        </a:rPr>
                        <a:t>, df</a:t>
                      </a:r>
                      <a:r>
                        <a:rPr lang="en-US" sz="1200" baseline="-25000" dirty="0">
                          <a:effectLst/>
                        </a:rPr>
                        <a:t>2 </a:t>
                      </a:r>
                      <a:r>
                        <a:rPr lang="en-US" sz="1200" dirty="0">
                          <a:effectLst/>
                        </a:rPr>
                        <a:t>,, 0)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±</a:t>
                      </a:r>
                      <a:r>
                        <a:rPr lang="en-US" sz="1200" dirty="0" err="1">
                          <a:effectLst/>
                        </a:rPr>
                        <a:t>qf</a:t>
                      </a:r>
                      <a:r>
                        <a:rPr lang="en-US" sz="1200" dirty="0">
                          <a:effectLst/>
                        </a:rPr>
                        <a:t>(α/2, df</a:t>
                      </a:r>
                      <a:r>
                        <a:rPr lang="en-US" sz="1200" baseline="-25000" dirty="0">
                          <a:effectLst/>
                        </a:rPr>
                        <a:t>1</a:t>
                      </a:r>
                      <a:r>
                        <a:rPr lang="en-US" sz="1200" dirty="0">
                          <a:effectLst/>
                        </a:rPr>
                        <a:t>, df</a:t>
                      </a:r>
                      <a:r>
                        <a:rPr lang="en-US" sz="1200" baseline="-25000" dirty="0">
                          <a:effectLst/>
                        </a:rPr>
                        <a:t>2</a:t>
                      </a:r>
                      <a:r>
                        <a:rPr lang="en-US" sz="1200" dirty="0">
                          <a:effectLst/>
                        </a:rPr>
                        <a:t> ,, 0)</a:t>
                      </a:r>
                      <a:endParaRPr lang="en-US" sz="1200" b="1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654" marR="46654" marT="0" marB="0"/>
                </a:tc>
                <a:extLst>
                  <a:ext uri="{0D108BD9-81ED-4DB2-BD59-A6C34878D82A}">
                    <a16:rowId xmlns:a16="http://schemas.microsoft.com/office/drawing/2014/main" val="1208598358"/>
                  </a:ext>
                </a:extLst>
              </a:tr>
              <a:tr h="1036753">
                <a:tc>
                  <a:txBody>
                    <a:bodyPr/>
                    <a:lstStyle/>
                    <a:p>
                      <a:pPr marL="457200" marR="0" indent="-4572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Chi-square distribution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   Left -tailed p-value for test statistic χ</a:t>
                      </a:r>
                      <a:r>
                        <a:rPr lang="en-US" sz="1200" b="0" baseline="30000" dirty="0">
                          <a:effectLst/>
                        </a:rPr>
                        <a:t>2</a:t>
                      </a:r>
                      <a:r>
                        <a:rPr lang="en-US" sz="1200" b="0" baseline="-25000" dirty="0">
                          <a:effectLst/>
                        </a:rPr>
                        <a:t>calc</a:t>
                      </a:r>
                      <a:endParaRPr lang="en-US" sz="1200" b="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   Right-tailed p-value for test statistic χ</a:t>
                      </a:r>
                      <a:r>
                        <a:rPr lang="en-US" sz="1200" b="0" baseline="30000" dirty="0">
                          <a:effectLst/>
                        </a:rPr>
                        <a:t>2</a:t>
                      </a:r>
                      <a:r>
                        <a:rPr lang="en-US" sz="1200" b="0" baseline="-25000" dirty="0">
                          <a:effectLst/>
                        </a:rPr>
                        <a:t>calc</a:t>
                      </a:r>
                      <a:endParaRPr lang="en-US" sz="1200" b="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   Two-tailed p-value for test statistic χ</a:t>
                      </a:r>
                      <a:r>
                        <a:rPr lang="en-US" sz="1200" b="0" baseline="30000" dirty="0">
                          <a:effectLst/>
                        </a:rPr>
                        <a:t>2</a:t>
                      </a:r>
                      <a:r>
                        <a:rPr lang="en-US" sz="1200" b="0" baseline="-25000" dirty="0">
                          <a:effectLst/>
                        </a:rPr>
                        <a:t>calc</a:t>
                      </a:r>
                      <a:endParaRPr lang="en-US" sz="1200" b="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   Critical value for left-tailed test at α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   Critical value for right-tailed test at α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   Critical value for two-tailed test at α</a:t>
                      </a:r>
                      <a:endParaRPr lang="en-US" sz="1200" b="0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654" marR="46654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CHISQ.DIST(χ</a:t>
                      </a:r>
                      <a:r>
                        <a:rPr lang="en-US" sz="1200" baseline="30000" dirty="0">
                          <a:effectLst/>
                        </a:rPr>
                        <a:t>2</a:t>
                      </a:r>
                      <a:r>
                        <a:rPr lang="en-US" sz="1200" baseline="-25000" dirty="0">
                          <a:effectLst/>
                        </a:rPr>
                        <a:t>calc</a:t>
                      </a:r>
                      <a:r>
                        <a:rPr lang="en-US" sz="1200" dirty="0">
                          <a:effectLst/>
                        </a:rPr>
                        <a:t>, df, 1)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CHISQ.DIST.RT(χ</a:t>
                      </a:r>
                      <a:r>
                        <a:rPr lang="en-US" sz="1200" baseline="30000" dirty="0">
                          <a:effectLst/>
                        </a:rPr>
                        <a:t>2</a:t>
                      </a:r>
                      <a:r>
                        <a:rPr lang="en-US" sz="1200" baseline="-25000" dirty="0">
                          <a:effectLst/>
                        </a:rPr>
                        <a:t>calc</a:t>
                      </a:r>
                      <a:r>
                        <a:rPr lang="en-US" sz="1200" dirty="0">
                          <a:effectLst/>
                        </a:rPr>
                        <a:t>, df)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2*CHISQ.DIST.RT(χ</a:t>
                      </a:r>
                      <a:r>
                        <a:rPr lang="en-US" sz="1200" baseline="30000" dirty="0">
                          <a:effectLst/>
                        </a:rPr>
                        <a:t>2</a:t>
                      </a:r>
                      <a:r>
                        <a:rPr lang="en-US" sz="1200" baseline="-25000" dirty="0">
                          <a:effectLst/>
                        </a:rPr>
                        <a:t>calc</a:t>
                      </a:r>
                      <a:r>
                        <a:rPr lang="en-US" sz="1200" dirty="0">
                          <a:effectLst/>
                        </a:rPr>
                        <a:t>, df)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CHISQ.INV(α, df)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CHISQ.INV.RT(α, df)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CHISQ.INV.2T(α, df)</a:t>
                      </a:r>
                      <a:endParaRPr lang="en-US" sz="1200" b="1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654" marR="46654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pchisq</a:t>
                      </a:r>
                      <a:r>
                        <a:rPr lang="en-US" sz="1200" dirty="0">
                          <a:effectLst/>
                        </a:rPr>
                        <a:t>(χ</a:t>
                      </a:r>
                      <a:r>
                        <a:rPr lang="en-US" sz="1200" baseline="30000" dirty="0">
                          <a:effectLst/>
                        </a:rPr>
                        <a:t>2</a:t>
                      </a:r>
                      <a:r>
                        <a:rPr lang="en-US" sz="1200" baseline="-25000" dirty="0">
                          <a:effectLst/>
                        </a:rPr>
                        <a:t>calc</a:t>
                      </a:r>
                      <a:r>
                        <a:rPr lang="en-US" sz="1200" dirty="0">
                          <a:effectLst/>
                        </a:rPr>
                        <a:t>, df ,, 1)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pchisq</a:t>
                      </a:r>
                      <a:r>
                        <a:rPr lang="en-US" sz="1200" dirty="0">
                          <a:effectLst/>
                        </a:rPr>
                        <a:t>(χ</a:t>
                      </a:r>
                      <a:r>
                        <a:rPr lang="en-US" sz="1200" baseline="30000" dirty="0">
                          <a:effectLst/>
                        </a:rPr>
                        <a:t>2</a:t>
                      </a:r>
                      <a:r>
                        <a:rPr lang="en-US" sz="1200" baseline="-25000" dirty="0">
                          <a:effectLst/>
                        </a:rPr>
                        <a:t>calc</a:t>
                      </a:r>
                      <a:r>
                        <a:rPr lang="en-US" sz="1200" dirty="0">
                          <a:effectLst/>
                        </a:rPr>
                        <a:t>, df ,, 0)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2* </a:t>
                      </a:r>
                      <a:r>
                        <a:rPr lang="en-US" sz="1200" dirty="0" err="1">
                          <a:effectLst/>
                        </a:rPr>
                        <a:t>pchisq</a:t>
                      </a:r>
                      <a:r>
                        <a:rPr lang="en-US" sz="1200" dirty="0">
                          <a:effectLst/>
                        </a:rPr>
                        <a:t>(χ</a:t>
                      </a:r>
                      <a:r>
                        <a:rPr lang="en-US" sz="1200" baseline="30000" dirty="0">
                          <a:effectLst/>
                        </a:rPr>
                        <a:t>2</a:t>
                      </a:r>
                      <a:r>
                        <a:rPr lang="en-US" sz="1200" baseline="-25000" dirty="0">
                          <a:effectLst/>
                        </a:rPr>
                        <a:t>calc</a:t>
                      </a:r>
                      <a:r>
                        <a:rPr lang="en-US" sz="1200" dirty="0">
                          <a:effectLst/>
                        </a:rPr>
                        <a:t>, df ,, 0)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qchisq</a:t>
                      </a:r>
                      <a:r>
                        <a:rPr lang="en-US" sz="1200" dirty="0">
                          <a:effectLst/>
                        </a:rPr>
                        <a:t>(α, df ,, 1)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qchisq</a:t>
                      </a:r>
                      <a:r>
                        <a:rPr lang="en-US" sz="1200" dirty="0">
                          <a:effectLst/>
                        </a:rPr>
                        <a:t>(α, df ,, 0)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±</a:t>
                      </a:r>
                      <a:r>
                        <a:rPr lang="en-US" sz="1200" dirty="0" err="1">
                          <a:effectLst/>
                        </a:rPr>
                        <a:t>qchisq</a:t>
                      </a:r>
                      <a:r>
                        <a:rPr lang="en-US" sz="1200" dirty="0">
                          <a:effectLst/>
                        </a:rPr>
                        <a:t>(α/2, df ,, 0)</a:t>
                      </a:r>
                      <a:endParaRPr lang="en-US" sz="1200" b="1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654" marR="46654" marT="0" marB="0"/>
                </a:tc>
                <a:extLst>
                  <a:ext uri="{0D108BD9-81ED-4DB2-BD59-A6C34878D82A}">
                    <a16:rowId xmlns:a16="http://schemas.microsoft.com/office/drawing/2014/main" val="73756086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42A94C5-1977-4FE2-832F-76CA1316845D}"/>
              </a:ext>
            </a:extLst>
          </p:cNvPr>
          <p:cNvSpPr txBox="1"/>
          <p:nvPr/>
        </p:nvSpPr>
        <p:spPr>
          <a:xfrm>
            <a:off x="1520104" y="228600"/>
            <a:ext cx="83105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Hypothesis Tests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7024E0-D24E-48BD-BC05-3BD5F2C485FE}"/>
              </a:ext>
            </a:extLst>
          </p:cNvPr>
          <p:cNvSpPr txBox="1"/>
          <p:nvPr/>
        </p:nvSpPr>
        <p:spPr>
          <a:xfrm>
            <a:off x="5274765" y="833046"/>
            <a:ext cx="8011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2 of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12F07F-BECD-4E03-B81E-7DC5C5CBA0E0}"/>
              </a:ext>
            </a:extLst>
          </p:cNvPr>
          <p:cNvSpPr txBox="1"/>
          <p:nvPr/>
        </p:nvSpPr>
        <p:spPr>
          <a:xfrm>
            <a:off x="1863635" y="4758975"/>
            <a:ext cx="60304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* The folded F test forces a right-tailed test using </a:t>
            </a:r>
            <a:r>
              <a:rPr lang="en-US" sz="1000" dirty="0" err="1"/>
              <a:t>Fmax</a:t>
            </a:r>
            <a:r>
              <a:rPr lang="en-US" sz="1000" dirty="0"/>
              <a:t> = s2max/s2min with df1 and df2 reversed if necessary.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8A41BD-ED45-4D90-BB0C-CA28CC2FB5FE}"/>
              </a:ext>
            </a:extLst>
          </p:cNvPr>
          <p:cNvSpPr txBox="1"/>
          <p:nvPr/>
        </p:nvSpPr>
        <p:spPr>
          <a:xfrm>
            <a:off x="10480988" y="6245848"/>
            <a:ext cx="10347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Copyright (c) 2025</a:t>
            </a:r>
          </a:p>
          <a:p>
            <a:r>
              <a:rPr lang="en-US" sz="800" dirty="0"/>
              <a:t>by McGraw Hill LLC</a:t>
            </a:r>
          </a:p>
        </p:txBody>
      </p:sp>
    </p:spTree>
    <p:extLst>
      <p:ext uri="{BB962C8B-B14F-4D97-AF65-F5344CB8AC3E}">
        <p14:creationId xmlns:p14="http://schemas.microsoft.com/office/powerpoint/2010/main" val="2989591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BD1DF2A-0F8F-43FA-9397-5BCE1885A6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7751252"/>
              </p:ext>
            </p:extLst>
          </p:nvPr>
        </p:nvGraphicFramePr>
        <p:xfrm>
          <a:off x="1563342" y="1383631"/>
          <a:ext cx="8917646" cy="4611163"/>
        </p:xfrm>
        <a:graphic>
          <a:graphicData uri="http://schemas.openxmlformats.org/drawingml/2006/table">
            <a:tbl>
              <a:tblPr firstRow="1" firstCol="1" bandRow="1">
                <a:tableStyleId>{FABFCF23-3B69-468F-B69F-88F6DE6A72F2}</a:tableStyleId>
              </a:tblPr>
              <a:tblGrid>
                <a:gridCol w="3285384">
                  <a:extLst>
                    <a:ext uri="{9D8B030D-6E8A-4147-A177-3AD203B41FA5}">
                      <a16:colId xmlns:a16="http://schemas.microsoft.com/office/drawing/2014/main" val="2961377214"/>
                    </a:ext>
                  </a:extLst>
                </a:gridCol>
                <a:gridCol w="2454442">
                  <a:extLst>
                    <a:ext uri="{9D8B030D-6E8A-4147-A177-3AD203B41FA5}">
                      <a16:colId xmlns:a16="http://schemas.microsoft.com/office/drawing/2014/main" val="1331590408"/>
                    </a:ext>
                  </a:extLst>
                </a:gridCol>
                <a:gridCol w="3177820">
                  <a:extLst>
                    <a:ext uri="{9D8B030D-6E8A-4147-A177-3AD203B41FA5}">
                      <a16:colId xmlns:a16="http://schemas.microsoft.com/office/drawing/2014/main" val="25091153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290"/>
                        </a:spcBef>
                        <a:spcAft>
                          <a:spcPts val="290"/>
                        </a:spcAft>
                      </a:pPr>
                      <a:r>
                        <a:rPr lang="en-US" sz="1200" dirty="0">
                          <a:effectLst/>
                        </a:rPr>
                        <a:t>Hypothesis Test Calculations</a:t>
                      </a:r>
                      <a:endParaRPr lang="en-US" sz="1200" b="1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451" marR="58451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90"/>
                        </a:spcBef>
                        <a:spcAft>
                          <a:spcPts val="290"/>
                        </a:spcAft>
                      </a:pPr>
                      <a:r>
                        <a:rPr lang="en-US" sz="1200" dirty="0">
                          <a:effectLst/>
                        </a:rPr>
                        <a:t>Excel Function</a:t>
                      </a:r>
                      <a:endParaRPr lang="en-US" sz="1200" b="1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451" marR="58451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90"/>
                        </a:spcBef>
                        <a:spcAft>
                          <a:spcPts val="290"/>
                        </a:spcAft>
                      </a:pPr>
                      <a:r>
                        <a:rPr lang="en-US" sz="1200" dirty="0">
                          <a:effectLst/>
                        </a:rPr>
                        <a:t>R Function</a:t>
                      </a:r>
                      <a:endParaRPr lang="en-US" sz="1200" b="1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451" marR="58451" marT="0" marB="0"/>
                </a:tc>
                <a:extLst>
                  <a:ext uri="{0D108BD9-81ED-4DB2-BD59-A6C34878D82A}">
                    <a16:rowId xmlns:a16="http://schemas.microsoft.com/office/drawing/2014/main" val="3120399655"/>
                  </a:ext>
                </a:extLst>
              </a:tr>
              <a:tr h="1867963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t-test of two means for two data arrays x and y. Excel returns a p-value to test for zero difference of means. R returns the test statistic and p-value, allows testing for a difference in means other than zero (default is zero), states the alternative hypothesis, returns a confidence interval for the difference of means, and offers a choice of confidence (default is 95%). For a right-tailed test in Excel, the larger mean must be first to agree with R’s “greater” tail option.</a:t>
                      </a:r>
                      <a:endParaRPr lang="en-US" sz="1200" b="0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451" marR="58451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T.TEST(x, y, Tails, Type) where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Tails = 1 or 2 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Type = 1, 2, or 3 where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 = paired (must have n</a:t>
                      </a:r>
                      <a:r>
                        <a:rPr lang="en-US" sz="1200" baseline="-25000" dirty="0">
                          <a:effectLst/>
                        </a:rPr>
                        <a:t>1</a:t>
                      </a:r>
                      <a:r>
                        <a:rPr lang="en-US" sz="1200" dirty="0">
                          <a:effectLst/>
                        </a:rPr>
                        <a:t> = n</a:t>
                      </a:r>
                      <a:r>
                        <a:rPr lang="en-US" sz="1200" baseline="-25000" dirty="0">
                          <a:effectLst/>
                        </a:rPr>
                        <a:t>2</a:t>
                      </a:r>
                      <a:r>
                        <a:rPr lang="en-US" sz="1200" dirty="0">
                          <a:effectLst/>
                        </a:rPr>
                        <a:t>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 = equal variances assumed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3 = unequal variances assumed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Example of left tail, not paired, equal variances:     T.TEST(x, y, 1, 2)</a:t>
                      </a:r>
                      <a:endParaRPr lang="en-US" sz="1200" b="1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451" marR="58451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t.test</a:t>
                      </a:r>
                      <a:r>
                        <a:rPr lang="en-US" sz="1200" dirty="0">
                          <a:effectLst/>
                        </a:rPr>
                        <a:t>(x, y, Tails, Mu, Paired, </a:t>
                      </a:r>
                      <a:r>
                        <a:rPr lang="en-US" sz="1200" dirty="0" err="1">
                          <a:effectLst/>
                        </a:rPr>
                        <a:t>VarEq</a:t>
                      </a:r>
                      <a:r>
                        <a:rPr lang="en-US" sz="1200" dirty="0">
                          <a:effectLst/>
                        </a:rPr>
                        <a:t>, Conf) where 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Tails = “</a:t>
                      </a:r>
                      <a:r>
                        <a:rPr lang="en-US" sz="1200" dirty="0" err="1">
                          <a:effectLst/>
                        </a:rPr>
                        <a:t>two.sided</a:t>
                      </a:r>
                      <a:r>
                        <a:rPr lang="en-US" sz="1200" dirty="0">
                          <a:effectLst/>
                        </a:rPr>
                        <a:t>”, “less”, or “greater”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Mu = hypothesized difference (default is 0)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VarEq</a:t>
                      </a:r>
                      <a:r>
                        <a:rPr lang="en-US" sz="1200" dirty="0">
                          <a:effectLst/>
                        </a:rPr>
                        <a:t> = 0 (unequal variances assumed) or 1 (variances assumed equal)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Conf = confidence (.95 default)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8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Example: left tail, equal variances, 90% confidence     </a:t>
                      </a:r>
                      <a:r>
                        <a:rPr lang="en-US" sz="1200" dirty="0" err="1">
                          <a:effectLst/>
                        </a:rPr>
                        <a:t>t.test</a:t>
                      </a:r>
                      <a:r>
                        <a:rPr lang="en-US" sz="1200" dirty="0">
                          <a:effectLst/>
                        </a:rPr>
                        <a:t>(x, y, "less", 0, 0, 1,.90)</a:t>
                      </a:r>
                      <a:endParaRPr lang="en-US" sz="1200" b="1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451" marR="58451" marT="0" marB="0"/>
                </a:tc>
                <a:extLst>
                  <a:ext uri="{0D108BD9-81ED-4DB2-BD59-A6C34878D82A}">
                    <a16:rowId xmlns:a16="http://schemas.microsoft.com/office/drawing/2014/main" val="1103459174"/>
                  </a:ext>
                </a:extLst>
              </a:tr>
              <a:tr h="1079863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F-test of two variances for two data arrays x and y. Excel returns a 2-tailed p-value for equality of variances (ratio of 1). R allows testing for a ratio other than 1 (default is 1), returns a p-value, states the alternative hypothesis, gives a confidence interval for the ratio of variances, and choice of confidence (default is 95%).</a:t>
                      </a:r>
                      <a:endParaRPr lang="en-US" sz="1200" b="0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451" marR="58451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F.TEST(x, y)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Excel returns the p-value for a two-tailed test.</a:t>
                      </a:r>
                      <a:endParaRPr lang="en-US" sz="1200" b="1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451" marR="58451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var.test</a:t>
                      </a:r>
                      <a:r>
                        <a:rPr lang="en-US" sz="1200" dirty="0">
                          <a:effectLst/>
                        </a:rPr>
                        <a:t>(x, y, Ratio, Tails, Conf) where 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Ratio = hypothesized ratio of variances (default is 1)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Tails = “</a:t>
                      </a:r>
                      <a:r>
                        <a:rPr lang="en-US" sz="1200" dirty="0" err="1">
                          <a:effectLst/>
                        </a:rPr>
                        <a:t>two.sided</a:t>
                      </a:r>
                      <a:r>
                        <a:rPr lang="en-US" sz="1200" dirty="0">
                          <a:effectLst/>
                        </a:rPr>
                        <a:t>”, “less”, or “greater”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Conf = confidence (.95 default)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Example of right-tail test, ratio= 2 , conf= 90% :    </a:t>
                      </a:r>
                      <a:r>
                        <a:rPr lang="en-US" sz="1200" dirty="0" err="1">
                          <a:effectLst/>
                        </a:rPr>
                        <a:t>var.test</a:t>
                      </a:r>
                      <a:r>
                        <a:rPr lang="en-US" sz="1200" dirty="0">
                          <a:effectLst/>
                        </a:rPr>
                        <a:t>(x, y, "greater", 2, .90)</a:t>
                      </a:r>
                      <a:endParaRPr lang="en-US" sz="1200" b="1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451" marR="58451" marT="0" marB="0"/>
                </a:tc>
                <a:extLst>
                  <a:ext uri="{0D108BD9-81ED-4DB2-BD59-A6C34878D82A}">
                    <a16:rowId xmlns:a16="http://schemas.microsoft.com/office/drawing/2014/main" val="3723179820"/>
                  </a:ext>
                </a:extLst>
              </a:tr>
              <a:tr h="649453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Chi-square test on frequencies. Both Excel and R return right-tailed </a:t>
                      </a:r>
                      <a:r>
                        <a:rPr lang="en-US" sz="1200" b="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</a:t>
                      </a: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-values for a test on observed frequencies (</a:t>
                      </a:r>
                      <a:r>
                        <a:rPr lang="en-US" sz="1200" b="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and expected frequencies (</a:t>
                      </a:r>
                      <a:r>
                        <a:rPr lang="en-US" sz="1200" b="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). Excel requires you to provide expected frequencies. R calculates expected frequencies if you test a  contingency table for independence.</a:t>
                      </a:r>
                      <a:endParaRPr lang="en-US" sz="1200" b="0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451" marR="58451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CHISQ.TEST(</a:t>
                      </a:r>
                      <a:r>
                        <a:rPr lang="en-US" sz="1200" i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1200" i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en-US" sz="1200" i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  <a:r>
                        <a:rPr lang="en-US" sz="120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performs a goodness-of-fit test with </a:t>
                      </a:r>
                      <a:r>
                        <a:rPr lang="en-US" sz="1200" i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df</a:t>
                      </a:r>
                      <a:r>
                        <a:rPr lang="en-US" sz="120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sz="12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</a:t>
                      </a:r>
                      <a:r>
                        <a:rPr lang="en-US" sz="120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 if </a:t>
                      </a:r>
                      <a:r>
                        <a:rPr lang="en-US" sz="12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120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and </a:t>
                      </a:r>
                      <a:r>
                        <a:rPr lang="en-US" sz="12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  <a:r>
                        <a:rPr lang="en-US" sz="120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are vectors of length </a:t>
                      </a:r>
                      <a:r>
                        <a:rPr lang="en-US" sz="12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</a:t>
                      </a:r>
                      <a:r>
                        <a:rPr lang="en-US" sz="120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or </a:t>
                      </a:r>
                      <a:r>
                        <a:rPr lang="en-US" sz="1200" i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df</a:t>
                      </a:r>
                      <a:r>
                        <a:rPr lang="en-US" sz="120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= (</a:t>
                      </a:r>
                      <a:r>
                        <a:rPr lang="en-US" sz="12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</a:t>
                      </a:r>
                      <a:r>
                        <a:rPr lang="en-US" sz="120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-1)(</a:t>
                      </a:r>
                      <a:r>
                        <a:rPr lang="en-US" sz="12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r>
                        <a:rPr lang="en-US" sz="120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-1) if </a:t>
                      </a:r>
                      <a:r>
                        <a:rPr lang="en-US" sz="12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120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and </a:t>
                      </a:r>
                      <a:r>
                        <a:rPr lang="en-US" sz="12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  <a:r>
                        <a:rPr lang="en-US" sz="120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are </a:t>
                      </a:r>
                      <a:r>
                        <a:rPr lang="en-US" sz="12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</a:t>
                      </a:r>
                      <a:r>
                        <a:rPr lang="en-US" sz="120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x </a:t>
                      </a:r>
                      <a:r>
                        <a:rPr lang="en-US" sz="12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r>
                        <a:rPr lang="en-US" sz="120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arrays in contingency table format.</a:t>
                      </a:r>
                      <a:endParaRPr lang="en-US" sz="1200" b="1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451" marR="58451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chisq.test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2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120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performs a uniform goodness-of-fit test with </a:t>
                      </a:r>
                      <a:r>
                        <a:rPr lang="en-US" sz="1200" i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df</a:t>
                      </a:r>
                      <a:r>
                        <a:rPr lang="en-US" sz="120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sz="12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</a:t>
                      </a:r>
                      <a:r>
                        <a:rPr lang="en-US" sz="120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 if </a:t>
                      </a:r>
                      <a:r>
                        <a:rPr lang="en-US" sz="12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120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is a vector of length </a:t>
                      </a:r>
                      <a:r>
                        <a:rPr lang="en-US" sz="12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k. </a:t>
                      </a:r>
                      <a:r>
                        <a:rPr lang="en-US" sz="1200" i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chisq.test</a:t>
                      </a:r>
                      <a:r>
                        <a:rPr lang="en-US" sz="120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2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120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2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</a:t>
                      </a:r>
                      <a:r>
                        <a:rPr lang="en-US" sz="120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</a:t>
                      </a:r>
                      <a:r>
                        <a:rPr lang="en-US" sz="12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  <a:r>
                        <a:rPr lang="en-US" sz="120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performs a multinomial goodness-of-fit test if you supply the </a:t>
                      </a:r>
                      <a:r>
                        <a:rPr lang="en-US" sz="12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</a:t>
                      </a:r>
                      <a:r>
                        <a:rPr lang="en-US" sz="120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probabilities in </a:t>
                      </a:r>
                      <a:r>
                        <a:rPr lang="en-US" sz="12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  <a:r>
                        <a:rPr lang="en-US" sz="120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(must sum to 1). </a:t>
                      </a:r>
                      <a:r>
                        <a:rPr lang="en-US" sz="1200" i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chisq.test</a:t>
                      </a:r>
                      <a:r>
                        <a:rPr lang="en-US" sz="120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2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</a:t>
                      </a:r>
                      <a:r>
                        <a:rPr lang="en-US" sz="120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performs a test for independence with </a:t>
                      </a:r>
                      <a:r>
                        <a:rPr lang="en-US" sz="1200" i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df</a:t>
                      </a:r>
                      <a:r>
                        <a:rPr lang="en-US" sz="120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= (</a:t>
                      </a:r>
                      <a:r>
                        <a:rPr lang="en-US" sz="12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</a:t>
                      </a:r>
                      <a:r>
                        <a:rPr lang="en-US" sz="120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-1)(</a:t>
                      </a:r>
                      <a:r>
                        <a:rPr lang="en-US" sz="12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r>
                        <a:rPr lang="en-US" sz="120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-1) for a matrix </a:t>
                      </a:r>
                      <a:r>
                        <a:rPr lang="en-US" sz="12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</a:t>
                      </a:r>
                      <a:r>
                        <a:rPr lang="en-US" sz="120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of observed frequencies.</a:t>
                      </a:r>
                      <a:endParaRPr lang="en-US" sz="1200" b="1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451" marR="58451" marT="0" marB="0"/>
                </a:tc>
                <a:extLst>
                  <a:ext uri="{0D108BD9-81ED-4DB2-BD59-A6C34878D82A}">
                    <a16:rowId xmlns:a16="http://schemas.microsoft.com/office/drawing/2014/main" val="343854900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3F3A6D7-B4D1-435A-8F75-BA90B900CCCC}"/>
              </a:ext>
            </a:extLst>
          </p:cNvPr>
          <p:cNvSpPr txBox="1"/>
          <p:nvPr/>
        </p:nvSpPr>
        <p:spPr>
          <a:xfrm>
            <a:off x="1581064" y="228600"/>
            <a:ext cx="83105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Hypothesis Tests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A64067-405C-4701-9017-D2727F5E8708}"/>
              </a:ext>
            </a:extLst>
          </p:cNvPr>
          <p:cNvSpPr txBox="1"/>
          <p:nvPr/>
        </p:nvSpPr>
        <p:spPr>
          <a:xfrm>
            <a:off x="5274765" y="833046"/>
            <a:ext cx="8011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3 of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73B54C-7F8D-41A5-B99E-C4264144EF54}"/>
              </a:ext>
            </a:extLst>
          </p:cNvPr>
          <p:cNvSpPr txBox="1"/>
          <p:nvPr/>
        </p:nvSpPr>
        <p:spPr>
          <a:xfrm>
            <a:off x="10480988" y="6245848"/>
            <a:ext cx="10347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Copyright (c) 2025</a:t>
            </a:r>
          </a:p>
          <a:p>
            <a:r>
              <a:rPr lang="en-US" sz="800" dirty="0"/>
              <a:t>by McGraw Hill LLC</a:t>
            </a:r>
          </a:p>
        </p:txBody>
      </p:sp>
    </p:spTree>
    <p:extLst>
      <p:ext uri="{BB962C8B-B14F-4D97-AF65-F5344CB8AC3E}">
        <p14:creationId xmlns:p14="http://schemas.microsoft.com/office/powerpoint/2010/main" val="16380706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492874B-10E3-488A-96BA-AC9A887809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8415725"/>
              </p:ext>
            </p:extLst>
          </p:nvPr>
        </p:nvGraphicFramePr>
        <p:xfrm>
          <a:off x="1481260" y="1450213"/>
          <a:ext cx="9186740" cy="4405351"/>
        </p:xfrm>
        <a:graphic>
          <a:graphicData uri="http://schemas.openxmlformats.org/drawingml/2006/table">
            <a:tbl>
              <a:tblPr firstRow="1" firstCol="1" bandRow="1">
                <a:tableStyleId>{FABFCF23-3B69-468F-B69F-88F6DE6A72F2}</a:tableStyleId>
              </a:tblPr>
              <a:tblGrid>
                <a:gridCol w="3325871">
                  <a:extLst>
                    <a:ext uri="{9D8B030D-6E8A-4147-A177-3AD203B41FA5}">
                      <a16:colId xmlns:a16="http://schemas.microsoft.com/office/drawing/2014/main" val="183461908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829539960"/>
                    </a:ext>
                  </a:extLst>
                </a:gridCol>
                <a:gridCol w="2812869">
                  <a:extLst>
                    <a:ext uri="{9D8B030D-6E8A-4147-A177-3AD203B41FA5}">
                      <a16:colId xmlns:a16="http://schemas.microsoft.com/office/drawing/2014/main" val="174103921"/>
                    </a:ext>
                  </a:extLst>
                </a:gridCol>
              </a:tblGrid>
              <a:tr h="20784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Other Useful Stats Functions</a:t>
                      </a:r>
                      <a:endParaRPr lang="en-US" sz="1200" b="1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224" marR="63224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Excel Function</a:t>
                      </a:r>
                      <a:endParaRPr lang="en-US" sz="1200" b="1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224" marR="63224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 Function*</a:t>
                      </a:r>
                      <a:endParaRPr lang="en-US" sz="1200" b="1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224" marR="63224" marT="0" marB="0"/>
                </a:tc>
                <a:extLst>
                  <a:ext uri="{0D108BD9-81ED-4DB2-BD59-A6C34878D82A}">
                    <a16:rowId xmlns:a16="http://schemas.microsoft.com/office/drawing/2014/main" val="1745009413"/>
                  </a:ext>
                </a:extLst>
              </a:tr>
              <a:tr h="38218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Rank (average for ties)</a:t>
                      </a:r>
                      <a:endParaRPr lang="en-US" sz="1200" b="0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224" marR="63224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RANK.AVG(x, Data, k) where x is a cell in array Data, k = 0 (descending), k=1 (ascending)</a:t>
                      </a:r>
                      <a:endParaRPr lang="en-US" sz="1200" b="1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224" marR="63224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rank(</a:t>
                      </a:r>
                      <a:r>
                        <a:rPr lang="en-US" sz="1200" dirty="0" err="1">
                          <a:effectLst/>
                        </a:rPr>
                        <a:t>x,,”average</a:t>
                      </a:r>
                      <a:r>
                        <a:rPr lang="en-US" sz="1200" dirty="0">
                          <a:effectLst/>
                        </a:rPr>
                        <a:t>”) where x is a vector of data (returns entire ranked data array)</a:t>
                      </a:r>
                      <a:endParaRPr lang="en-US" sz="1200" b="1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224" marR="63224" marT="0" marB="0"/>
                </a:tc>
                <a:extLst>
                  <a:ext uri="{0D108BD9-81ED-4DB2-BD59-A6C34878D82A}">
                    <a16:rowId xmlns:a16="http://schemas.microsoft.com/office/drawing/2014/main" val="2471946504"/>
                  </a:ext>
                </a:extLst>
              </a:tr>
              <a:tr h="424283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Rank (no correction for ties)</a:t>
                      </a:r>
                      <a:endParaRPr lang="en-US" sz="1200" b="0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224" marR="63224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RANK(x, Data, k) where x is a cell reference in array Data, k = 0 (descending), k=1 (ascending)</a:t>
                      </a:r>
                      <a:endParaRPr lang="en-US" sz="1200" b="1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224" marR="63224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rank(</a:t>
                      </a:r>
                      <a:r>
                        <a:rPr lang="en-US" sz="1200" dirty="0" err="1">
                          <a:effectLst/>
                        </a:rPr>
                        <a:t>x,,”first</a:t>
                      </a:r>
                      <a:r>
                        <a:rPr lang="en-US" sz="1200" dirty="0">
                          <a:effectLst/>
                        </a:rPr>
                        <a:t>”) where x is a vector of data (returns entire ranked data array)</a:t>
                      </a:r>
                      <a:endParaRPr lang="en-US" sz="1200" b="1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224" marR="63224" marT="0" marB="0"/>
                </a:tc>
                <a:extLst>
                  <a:ext uri="{0D108BD9-81ED-4DB2-BD59-A6C34878D82A}">
                    <a16:rowId xmlns:a16="http://schemas.microsoft.com/office/drawing/2014/main" val="3175078682"/>
                  </a:ext>
                </a:extLst>
              </a:tr>
              <a:tr h="18383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effectLst/>
                        </a:rPr>
                        <a:t>Random uniform (0 &lt; x &lt; 1)</a:t>
                      </a:r>
                      <a:endParaRPr lang="en-US" sz="1200" b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224" marR="63224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RAND()</a:t>
                      </a:r>
                      <a:endParaRPr lang="en-US" sz="1200" b="1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224" marR="63224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runif (n) to create n values</a:t>
                      </a:r>
                      <a:endParaRPr lang="en-US" sz="1200" b="1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224" marR="63224" marT="0" marB="0"/>
                </a:tc>
                <a:extLst>
                  <a:ext uri="{0D108BD9-81ED-4DB2-BD59-A6C34878D82A}">
                    <a16:rowId xmlns:a16="http://schemas.microsoft.com/office/drawing/2014/main" val="1231511547"/>
                  </a:ext>
                </a:extLst>
              </a:tr>
              <a:tr h="18383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effectLst/>
                        </a:rPr>
                        <a:t>Random integer (a ≤ x ≤ b)</a:t>
                      </a:r>
                      <a:endParaRPr lang="en-US" sz="1200" b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224" marR="6322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RANDBETWEEN(a, b)</a:t>
                      </a:r>
                      <a:endParaRPr lang="en-US" sz="1200" b="1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224" marR="63224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sample(a:b, 1, 1)</a:t>
                      </a:r>
                      <a:endParaRPr lang="en-US" sz="1200" b="1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224" marR="63224" marT="0" marB="0"/>
                </a:tc>
                <a:extLst>
                  <a:ext uri="{0D108BD9-81ED-4DB2-BD59-A6C34878D82A}">
                    <a16:rowId xmlns:a16="http://schemas.microsoft.com/office/drawing/2014/main" val="785234169"/>
                  </a:ext>
                </a:extLst>
              </a:tr>
              <a:tr h="36767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Sample of n random integers 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(a ≤ x ≤ b) with replacement</a:t>
                      </a:r>
                      <a:endParaRPr lang="en-US" sz="1200" b="0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224" marR="63224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----------------</a:t>
                      </a:r>
                      <a:endParaRPr lang="en-US" sz="1200" b="1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224" marR="63224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sample(</a:t>
                      </a:r>
                      <a:r>
                        <a:rPr lang="en-US" sz="1200" dirty="0" err="1">
                          <a:effectLst/>
                        </a:rPr>
                        <a:t>a:b</a:t>
                      </a:r>
                      <a:r>
                        <a:rPr lang="en-US" sz="1200" dirty="0">
                          <a:effectLst/>
                        </a:rPr>
                        <a:t>, n, 1)</a:t>
                      </a:r>
                      <a:endParaRPr lang="en-US" sz="1200" b="1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224" marR="63224" marT="0" marB="0"/>
                </a:tc>
                <a:extLst>
                  <a:ext uri="{0D108BD9-81ED-4DB2-BD59-A6C34878D82A}">
                    <a16:rowId xmlns:a16="http://schemas.microsoft.com/office/drawing/2014/main" val="2901157505"/>
                  </a:ext>
                </a:extLst>
              </a:tr>
              <a:tr h="36767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effectLst/>
                        </a:rPr>
                        <a:t>Sample of n random integers 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effectLst/>
                        </a:rPr>
                        <a:t>(a ≤ x ≤ b) without replacement</a:t>
                      </a:r>
                      <a:endParaRPr lang="en-US" sz="1200" b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224" marR="63224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----------------</a:t>
                      </a:r>
                      <a:endParaRPr lang="en-US" sz="1200" b="1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224" marR="63224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sample(a:b, n, 0)</a:t>
                      </a:r>
                      <a:endParaRPr lang="en-US" sz="1200" b="1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224" marR="63224" marT="0" marB="0"/>
                </a:tc>
                <a:extLst>
                  <a:ext uri="{0D108BD9-81ED-4DB2-BD59-A6C34878D82A}">
                    <a16:rowId xmlns:a16="http://schemas.microsoft.com/office/drawing/2014/main" val="1601427343"/>
                  </a:ext>
                </a:extLst>
              </a:tr>
              <a:tr h="55150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Confidence interval half-width ±z σ /</a:t>
                      </a:r>
                      <a:r>
                        <a:rPr lang="en-US" sz="1200" b="0" dirty="0">
                          <a:effectLst/>
                          <a:sym typeface="Symbol" panose="05050102010706020507" pitchFamily="18" charset="2"/>
                        </a:rPr>
                        <a:t></a:t>
                      </a:r>
                      <a:r>
                        <a:rPr lang="en-US" sz="1200" b="0" dirty="0">
                          <a:effectLst/>
                        </a:rPr>
                        <a:t>(n) using normal distribution with known standard deviation σ and confidence 1- </a:t>
                      </a:r>
                      <a:r>
                        <a:rPr lang="en-US" sz="1200" b="0" baseline="0" dirty="0">
                          <a:effectLst/>
                          <a:latin typeface="Symbol" panose="05050102010706020507" pitchFamily="18" charset="2"/>
                        </a:rPr>
                        <a:t>a</a:t>
                      </a:r>
                      <a:r>
                        <a:rPr lang="en-US" sz="1200" b="0" dirty="0">
                          <a:effectLst/>
                        </a:rPr>
                        <a:t> </a:t>
                      </a:r>
                      <a:endParaRPr lang="en-US" sz="1200" b="0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224" marR="63224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CONFIDENCE.NORM(a, σ, n)</a:t>
                      </a:r>
                      <a:endParaRPr lang="en-US" sz="1200" b="1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224" marR="63224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----------------</a:t>
                      </a:r>
                      <a:endParaRPr lang="en-US" sz="1200" b="1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224" marR="63224" marT="0" marB="0"/>
                </a:tc>
                <a:extLst>
                  <a:ext uri="{0D108BD9-81ED-4DB2-BD59-A6C34878D82A}">
                    <a16:rowId xmlns:a16="http://schemas.microsoft.com/office/drawing/2014/main" val="1928266867"/>
                  </a:ext>
                </a:extLst>
              </a:tr>
              <a:tr h="55150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Confidence interval half-width ±t σ /</a:t>
                      </a:r>
                      <a:r>
                        <a:rPr lang="en-US" sz="1200" b="0" dirty="0">
                          <a:effectLst/>
                          <a:sym typeface="Symbol" panose="05050102010706020507" pitchFamily="18" charset="2"/>
                        </a:rPr>
                        <a:t></a:t>
                      </a:r>
                      <a:r>
                        <a:rPr lang="en-US" sz="1200" b="0" dirty="0">
                          <a:effectLst/>
                        </a:rPr>
                        <a:t>(n) using Student’s t distribution with known standard deviation σ and confidence 1- </a:t>
                      </a:r>
                      <a:r>
                        <a:rPr lang="en-US" sz="1200" b="0" baseline="0" dirty="0">
                          <a:effectLst/>
                          <a:latin typeface="Symbol" panose="05050102010706020507" pitchFamily="18" charset="2"/>
                        </a:rPr>
                        <a:t>a</a:t>
                      </a:r>
                      <a:endParaRPr lang="en-US" sz="1200" b="0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224" marR="63224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CONFIDENCE.NORM(a, σ, n)</a:t>
                      </a:r>
                      <a:endParaRPr lang="en-US" sz="1200" b="1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224" marR="63224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----------------</a:t>
                      </a:r>
                      <a:endParaRPr lang="en-US" sz="1200" b="1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224" marR="63224" marT="0" marB="0"/>
                </a:tc>
                <a:extLst>
                  <a:ext uri="{0D108BD9-81ED-4DB2-BD59-A6C34878D82A}">
                    <a16:rowId xmlns:a16="http://schemas.microsoft.com/office/drawing/2014/main" val="2804731171"/>
                  </a:ext>
                </a:extLst>
              </a:tr>
              <a:tr h="36767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effectLst/>
                        </a:rPr>
                        <a:t>Sum of squares of an array of data values around their mean</a:t>
                      </a:r>
                      <a:endParaRPr lang="en-US" sz="1200" b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224" marR="63224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DEVSQ(x)</a:t>
                      </a:r>
                      <a:endParaRPr lang="en-US" sz="1200" b="1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224" marR="63224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sum((x-mean(x))^2)</a:t>
                      </a:r>
                      <a:endParaRPr lang="en-US" sz="1200" b="1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224" marR="63224" marT="0" marB="0"/>
                </a:tc>
                <a:extLst>
                  <a:ext uri="{0D108BD9-81ED-4DB2-BD59-A6C34878D82A}">
                    <a16:rowId xmlns:a16="http://schemas.microsoft.com/office/drawing/2014/main" val="1651716705"/>
                  </a:ext>
                </a:extLst>
              </a:tr>
              <a:tr h="81733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Frequency of items in a data array x</a:t>
                      </a:r>
                      <a:endParaRPr lang="en-US" sz="1200" b="0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224" marR="63224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{FREQUENCY(x, Bins)} where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Bins is array of upper bin limits. This is an array function. Highlight output range, type function, then Ctrl-Shift-Enter to execute.</a:t>
                      </a:r>
                      <a:endParaRPr lang="en-US" sz="1200" b="1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224" marR="63224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effectLst/>
                        </a:rPr>
                        <a:t>r = hist(x) for default bins (Sturges’ Rule) or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effectLst/>
                        </a:rPr>
                        <a:t>r = hist(x, breaks=y) with bin </a:t>
                      </a:r>
                      <a:r>
                        <a:rPr lang="en-US" sz="1200" dirty="0" err="1">
                          <a:effectLst/>
                        </a:rPr>
                        <a:t>cutpoints</a:t>
                      </a:r>
                      <a:r>
                        <a:rPr lang="en-US" sz="1200" dirty="0">
                          <a:effectLst/>
                        </a:rPr>
                        <a:t> in y. Then print results using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r$breaks</a:t>
                      </a:r>
                      <a:r>
                        <a:rPr lang="en-US" sz="1200" dirty="0">
                          <a:effectLst/>
                        </a:rPr>
                        <a:t> and </a:t>
                      </a:r>
                      <a:r>
                        <a:rPr lang="en-US" sz="1200" dirty="0" err="1">
                          <a:effectLst/>
                        </a:rPr>
                        <a:t>r$count</a:t>
                      </a:r>
                      <a:endParaRPr lang="en-US" sz="1200" b="1" dirty="0">
                        <a:solidFill>
                          <a:srgbClr val="00006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224" marR="63224" marT="0" marB="0"/>
                </a:tc>
                <a:extLst>
                  <a:ext uri="{0D108BD9-81ED-4DB2-BD59-A6C34878D82A}">
                    <a16:rowId xmlns:a16="http://schemas.microsoft.com/office/drawing/2014/main" val="382936642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9F2DF30-E256-4CA1-9F5C-60CE4120E5E4}"/>
              </a:ext>
            </a:extLst>
          </p:cNvPr>
          <p:cNvSpPr txBox="1"/>
          <p:nvPr/>
        </p:nvSpPr>
        <p:spPr>
          <a:xfrm>
            <a:off x="1581064" y="228600"/>
            <a:ext cx="83105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Other Useful Functions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DEFCAF-4174-45AC-BCCF-217174FB1180}"/>
              </a:ext>
            </a:extLst>
          </p:cNvPr>
          <p:cNvSpPr txBox="1"/>
          <p:nvPr/>
        </p:nvSpPr>
        <p:spPr>
          <a:xfrm>
            <a:off x="10480988" y="6245848"/>
            <a:ext cx="10347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Copyright (c) 2025</a:t>
            </a:r>
          </a:p>
          <a:p>
            <a:r>
              <a:rPr lang="en-US" sz="800" dirty="0"/>
              <a:t>by McGraw Hill LLC</a:t>
            </a:r>
          </a:p>
        </p:txBody>
      </p:sp>
    </p:spTree>
    <p:extLst>
      <p:ext uri="{BB962C8B-B14F-4D97-AF65-F5344CB8AC3E}">
        <p14:creationId xmlns:p14="http://schemas.microsoft.com/office/powerpoint/2010/main" val="27977722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5765</TotalTime>
  <Words>3618</Words>
  <Application>Microsoft Office PowerPoint</Application>
  <PresentationFormat>Widescreen</PresentationFormat>
  <Paragraphs>418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McGraw Hill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Excel and R Functions</dc:title>
  <dc:subject>Chapter 1 - Overview of Statistics</dc:subject>
  <dc:creator>David Doane</dc:creator>
  <dc:description>Copyright (c) 2025 by McGraw Hill LLC. This material is intended solely for educational use licensed users of Connect. It may not be copied or resold.</dc:description>
  <cp:lastModifiedBy>Elango Selvaraj</cp:lastModifiedBy>
  <cp:revision>33</cp:revision>
  <dcterms:created xsi:type="dcterms:W3CDTF">2020-03-24T05:56:36Z</dcterms:created>
  <dcterms:modified xsi:type="dcterms:W3CDTF">2023-11-29T09:52:22Z</dcterms:modified>
</cp:coreProperties>
</file>