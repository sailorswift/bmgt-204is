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sldIdLst>
    <p:sldId id="256" r:id="rId2"/>
    <p:sldId id="257" r:id="rId3"/>
    <p:sldId id="336" r:id="rId4"/>
    <p:sldId id="360" r:id="rId5"/>
    <p:sldId id="361" r:id="rId6"/>
    <p:sldId id="362" r:id="rId7"/>
    <p:sldId id="268" r:id="rId8"/>
    <p:sldId id="363" r:id="rId9"/>
    <p:sldId id="382" r:id="rId10"/>
    <p:sldId id="383" r:id="rId11"/>
    <p:sldId id="356" r:id="rId12"/>
    <p:sldId id="366" r:id="rId13"/>
    <p:sldId id="371" r:id="rId14"/>
    <p:sldId id="370" r:id="rId15"/>
    <p:sldId id="367" r:id="rId16"/>
    <p:sldId id="377" r:id="rId17"/>
    <p:sldId id="376" r:id="rId18"/>
    <p:sldId id="379" r:id="rId19"/>
    <p:sldId id="375" r:id="rId20"/>
    <p:sldId id="372" r:id="rId21"/>
    <p:sldId id="380" r:id="rId22"/>
    <p:sldId id="368" r:id="rId23"/>
    <p:sldId id="384" r:id="rId24"/>
    <p:sldId id="385" r:id="rId25"/>
    <p:sldId id="387" r:id="rId26"/>
    <p:sldId id="386" r:id="rId27"/>
    <p:sldId id="319" r:id="rId2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FF6699"/>
    <a:srgbClr val="3333CC"/>
    <a:srgbClr val="FFFFFF"/>
    <a:srgbClr val="FFFFCC"/>
    <a:srgbClr val="99CCFF"/>
    <a:srgbClr val="CC0000"/>
    <a:srgbClr val="CCEC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979" autoAdjust="0"/>
    <p:restoredTop sz="90929"/>
  </p:normalViewPr>
  <p:slideViewPr>
    <p:cSldViewPr>
      <p:cViewPr varScale="1">
        <p:scale>
          <a:sx n="57" d="100"/>
          <a:sy n="57" d="100"/>
        </p:scale>
        <p:origin x="91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02D82CF-0560-460B-9950-96968E9D38FF}" type="slidenum">
              <a:rPr lang="en-US"/>
              <a:pPr>
                <a:defRPr/>
              </a:pPr>
              <a:t>‹#›</a:t>
            </a:fld>
            <a:endParaRPr lang="en-US"/>
          </a:p>
        </p:txBody>
      </p:sp>
    </p:spTree>
    <p:extLst>
      <p:ext uri="{BB962C8B-B14F-4D97-AF65-F5344CB8AC3E}">
        <p14:creationId xmlns:p14="http://schemas.microsoft.com/office/powerpoint/2010/main" val="742734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FC76324-1719-4CB0-B84E-C6D3BB035717}" type="slidenum">
              <a:rPr lang="en-US"/>
              <a:pPr>
                <a:defRPr/>
              </a:pPr>
              <a:t>‹#›</a:t>
            </a:fld>
            <a:endParaRPr lang="en-US"/>
          </a:p>
        </p:txBody>
      </p:sp>
    </p:spTree>
    <p:extLst>
      <p:ext uri="{BB962C8B-B14F-4D97-AF65-F5344CB8AC3E}">
        <p14:creationId xmlns:p14="http://schemas.microsoft.com/office/powerpoint/2010/main" val="692733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F89088D-25E4-45AF-AF1B-43AFA6A8E4CF}" type="slidenum">
              <a:rPr lang="en-US"/>
              <a:pPr>
                <a:defRPr/>
              </a:pPr>
              <a:t>‹#›</a:t>
            </a:fld>
            <a:endParaRPr lang="en-US"/>
          </a:p>
        </p:txBody>
      </p:sp>
    </p:spTree>
    <p:extLst>
      <p:ext uri="{BB962C8B-B14F-4D97-AF65-F5344CB8AC3E}">
        <p14:creationId xmlns:p14="http://schemas.microsoft.com/office/powerpoint/2010/main" val="2713095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17D9ADD-21EB-4960-B95D-3A3D272BE6EC}" type="slidenum">
              <a:rPr lang="en-US"/>
              <a:pPr>
                <a:defRPr/>
              </a:pPr>
              <a:t>‹#›</a:t>
            </a:fld>
            <a:endParaRPr lang="en-US"/>
          </a:p>
        </p:txBody>
      </p:sp>
    </p:spTree>
    <p:extLst>
      <p:ext uri="{BB962C8B-B14F-4D97-AF65-F5344CB8AC3E}">
        <p14:creationId xmlns:p14="http://schemas.microsoft.com/office/powerpoint/2010/main" val="4209019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7CFCC814-55F7-4F22-828A-9E580E54BB2A}" type="slidenum">
              <a:rPr lang="en-US"/>
              <a:pPr>
                <a:defRPr/>
              </a:pPr>
              <a:t>‹#›</a:t>
            </a:fld>
            <a:endParaRPr lang="en-US"/>
          </a:p>
        </p:txBody>
      </p:sp>
    </p:spTree>
    <p:extLst>
      <p:ext uri="{BB962C8B-B14F-4D97-AF65-F5344CB8AC3E}">
        <p14:creationId xmlns:p14="http://schemas.microsoft.com/office/powerpoint/2010/main" val="1894232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F894D6EE-1397-4AE4-87E4-54CE250CBA74}" type="slidenum">
              <a:rPr lang="en-US"/>
              <a:pPr>
                <a:defRPr/>
              </a:pPr>
              <a:t>‹#›</a:t>
            </a:fld>
            <a:endParaRPr lang="en-US"/>
          </a:p>
        </p:txBody>
      </p:sp>
    </p:spTree>
    <p:extLst>
      <p:ext uri="{BB962C8B-B14F-4D97-AF65-F5344CB8AC3E}">
        <p14:creationId xmlns:p14="http://schemas.microsoft.com/office/powerpoint/2010/main" val="3495715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0EA3D371-D84A-4F3F-A95C-A3FFE620DD98}" type="slidenum">
              <a:rPr lang="en-US"/>
              <a:pPr>
                <a:defRPr/>
              </a:pPr>
              <a:t>‹#›</a:t>
            </a:fld>
            <a:endParaRPr lang="en-US"/>
          </a:p>
        </p:txBody>
      </p:sp>
    </p:spTree>
    <p:extLst>
      <p:ext uri="{BB962C8B-B14F-4D97-AF65-F5344CB8AC3E}">
        <p14:creationId xmlns:p14="http://schemas.microsoft.com/office/powerpoint/2010/main" val="3157875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D05EEAB-96D7-4950-A327-770D7A053548}" type="slidenum">
              <a:rPr lang="en-US"/>
              <a:pPr>
                <a:defRPr/>
              </a:pPr>
              <a:t>‹#›</a:t>
            </a:fld>
            <a:endParaRPr lang="en-US"/>
          </a:p>
        </p:txBody>
      </p:sp>
    </p:spTree>
    <p:extLst>
      <p:ext uri="{BB962C8B-B14F-4D97-AF65-F5344CB8AC3E}">
        <p14:creationId xmlns:p14="http://schemas.microsoft.com/office/powerpoint/2010/main" val="4252517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DAC4C60-A7B8-410A-91E4-FFA241B10714}" type="slidenum">
              <a:rPr lang="en-US"/>
              <a:pPr>
                <a:defRPr/>
              </a:pPr>
              <a:t>‹#›</a:t>
            </a:fld>
            <a:endParaRPr lang="en-US"/>
          </a:p>
        </p:txBody>
      </p:sp>
    </p:spTree>
    <p:extLst>
      <p:ext uri="{BB962C8B-B14F-4D97-AF65-F5344CB8AC3E}">
        <p14:creationId xmlns:p14="http://schemas.microsoft.com/office/powerpoint/2010/main" val="1937491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35C12F-277C-4A66-B6E7-80DC77C734CA}" type="slidenum">
              <a:rPr lang="en-US"/>
              <a:pPr>
                <a:defRPr/>
              </a:pPr>
              <a:t>‹#›</a:t>
            </a:fld>
            <a:endParaRPr lang="en-US"/>
          </a:p>
        </p:txBody>
      </p:sp>
    </p:spTree>
    <p:extLst>
      <p:ext uri="{BB962C8B-B14F-4D97-AF65-F5344CB8AC3E}">
        <p14:creationId xmlns:p14="http://schemas.microsoft.com/office/powerpoint/2010/main" val="3517134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A49E74-07F4-4647-9153-CF4DC73642B2}" type="slidenum">
              <a:rPr lang="en-US"/>
              <a:pPr>
                <a:defRPr/>
              </a:pPr>
              <a:t>‹#›</a:t>
            </a:fld>
            <a:endParaRPr lang="en-US"/>
          </a:p>
        </p:txBody>
      </p:sp>
    </p:spTree>
    <p:extLst>
      <p:ext uri="{BB962C8B-B14F-4D97-AF65-F5344CB8AC3E}">
        <p14:creationId xmlns:p14="http://schemas.microsoft.com/office/powerpoint/2010/main" val="4098952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BF0F8C44-B223-4D4C-98E5-80924220E31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kaggle.com/learn/python" TargetMode="External"/><Relationship Id="rId2" Type="http://schemas.openxmlformats.org/officeDocument/2006/relationships/image" Target="../media/image12.gif"/><Relationship Id="rId1" Type="http://schemas.openxmlformats.org/officeDocument/2006/relationships/slideLayout" Target="../slideLayouts/slideLayout1.xml"/><Relationship Id="rId4" Type="http://schemas.openxmlformats.org/officeDocument/2006/relationships/image" Target="../media/image13.wmf"/></Relationships>
</file>

<file path=ppt/slides/_rels/slide2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286000" y="2209800"/>
            <a:ext cx="4876800" cy="1524000"/>
          </a:xfrm>
        </p:spPr>
        <p:txBody>
          <a:bodyPr/>
          <a:lstStyle/>
          <a:p>
            <a:pPr>
              <a:defRPr/>
            </a:pPr>
            <a:r>
              <a:rPr lang="en-US" sz="48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Describing Data Using R</a:t>
            </a:r>
          </a:p>
        </p:txBody>
      </p:sp>
      <p:sp>
        <p:nvSpPr>
          <p:cNvPr id="2051" name="Text Box 12"/>
          <p:cNvSpPr txBox="1">
            <a:spLocks noChangeArrowheads="1"/>
          </p:cNvSpPr>
          <p:nvPr/>
        </p:nvSpPr>
        <p:spPr bwMode="auto">
          <a:xfrm>
            <a:off x="1295400" y="5867400"/>
            <a:ext cx="7162800" cy="523220"/>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400" b="1" dirty="0">
                <a:solidFill>
                  <a:srgbClr val="993300"/>
                </a:solidFill>
              </a:rPr>
              <a:t>© McGraw Hill LLC. All rights reserved. </a:t>
            </a:r>
            <a:r>
              <a:rPr lang="en-US" sz="1400" b="1">
                <a:solidFill>
                  <a:srgbClr val="993300"/>
                </a:solidFill>
              </a:rPr>
              <a:t>No reproduction or distribution without the prior written consent of McGraw Hill LLC.</a:t>
            </a:r>
            <a:endParaRPr lang="en-US" sz="1400" b="1" dirty="0">
              <a:solidFill>
                <a:srgbClr val="9933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5257702-7E9A-4890-8751-B52E14B2A750}"/>
              </a:ext>
            </a:extLst>
          </p:cNvPr>
          <p:cNvGraphicFramePr>
            <a:graphicFrameLocks noGrp="1"/>
          </p:cNvGraphicFramePr>
          <p:nvPr>
            <p:extLst>
              <p:ext uri="{D42A27DB-BD31-4B8C-83A1-F6EECF244321}">
                <p14:modId xmlns:p14="http://schemas.microsoft.com/office/powerpoint/2010/main" val="1883597884"/>
              </p:ext>
            </p:extLst>
          </p:nvPr>
        </p:nvGraphicFramePr>
        <p:xfrm>
          <a:off x="1257300" y="1905000"/>
          <a:ext cx="6248400" cy="3539332"/>
        </p:xfrm>
        <a:graphic>
          <a:graphicData uri="http://schemas.openxmlformats.org/drawingml/2006/table">
            <a:tbl>
              <a:tblPr firstRow="1" firstCol="1" bandRow="1">
                <a:tableStyleId>{9DCAF9ED-07DC-4A11-8D7F-57B35C25682E}</a:tableStyleId>
              </a:tblPr>
              <a:tblGrid>
                <a:gridCol w="2749668">
                  <a:extLst>
                    <a:ext uri="{9D8B030D-6E8A-4147-A177-3AD203B41FA5}">
                      <a16:colId xmlns:a16="http://schemas.microsoft.com/office/drawing/2014/main" val="2311036617"/>
                    </a:ext>
                  </a:extLst>
                </a:gridCol>
                <a:gridCol w="1451207">
                  <a:extLst>
                    <a:ext uri="{9D8B030D-6E8A-4147-A177-3AD203B41FA5}">
                      <a16:colId xmlns:a16="http://schemas.microsoft.com/office/drawing/2014/main" val="579886194"/>
                    </a:ext>
                  </a:extLst>
                </a:gridCol>
                <a:gridCol w="2047525">
                  <a:extLst>
                    <a:ext uri="{9D8B030D-6E8A-4147-A177-3AD203B41FA5}">
                      <a16:colId xmlns:a16="http://schemas.microsoft.com/office/drawing/2014/main" val="1533239755"/>
                    </a:ext>
                  </a:extLst>
                </a:gridCol>
              </a:tblGrid>
              <a:tr h="0">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Descriptive Statistics</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Excel Function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R Function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7801565"/>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Number of data items</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COUNT(x)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length(x)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3052267446"/>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Largest data value</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MAX(x)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a:effectLst/>
                          <a:latin typeface="Arial" panose="020B0604020202020204" pitchFamily="34" charset="0"/>
                          <a:cs typeface="Arial" panose="020B0604020202020204" pitchFamily="34" charset="0"/>
                        </a:rPr>
                        <a:t>max(x)</a:t>
                      </a:r>
                      <a:endParaRPr lang="en-US" sz="1000" b="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4222627544"/>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Smallest data value</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MIN(x)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min(x)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1168869033"/>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Mean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AVERAGE(x)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mean(x)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1710448480"/>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Median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MEDIAN(x)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median(x)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3839864657"/>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Mode (returns first mode only)</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MODE.SNGL(x)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3295755082"/>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Geometric mean (positive data values)</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GEOMEAN(x)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exp(mean(log(x)))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766838051"/>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Average deviation around the mean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AVDEV(x)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mad(x)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3328306488"/>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Quartile k = 1, 2, 3 for 25%, 50%, 75%</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QUARTILE.EXC(x, k)</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quantile(x, p, type=6)</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2979239822"/>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Percentile p   e.g., p = .25 for 25%</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PERCENTILE.EXC(x, p)</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quantile(x, p, type=6)</a:t>
                      </a:r>
                    </a:p>
                  </a:txBody>
                  <a:tcPr marL="51435" marR="51435" marT="0" marB="0" anchor="ctr"/>
                </a:tc>
                <a:extLst>
                  <a:ext uri="{0D108BD9-81ED-4DB2-BD59-A6C34878D82A}">
                    <a16:rowId xmlns:a16="http://schemas.microsoft.com/office/drawing/2014/main" val="2865190654"/>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Sample standard deviation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STDEV.S(x)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err="1">
                          <a:effectLst/>
                          <a:latin typeface="Arial" panose="020B0604020202020204" pitchFamily="34" charset="0"/>
                          <a:cs typeface="Arial" panose="020B0604020202020204" pitchFamily="34" charset="0"/>
                        </a:rPr>
                        <a:t>sd</a:t>
                      </a:r>
                      <a:r>
                        <a:rPr lang="en-US" sz="1000" b="0" dirty="0">
                          <a:effectLst/>
                          <a:latin typeface="Arial" panose="020B0604020202020204" pitchFamily="34" charset="0"/>
                          <a:cs typeface="Arial" panose="020B0604020202020204" pitchFamily="34" charset="0"/>
                        </a:rPr>
                        <a:t>(x)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1197475913"/>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Sample covariance for (X,Y) data pairs</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COVARIANCE.S(x, y)</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err="1">
                          <a:effectLst/>
                          <a:latin typeface="Arial" panose="020B0604020202020204" pitchFamily="34" charset="0"/>
                          <a:cs typeface="Arial" panose="020B0604020202020204" pitchFamily="34" charset="0"/>
                        </a:rPr>
                        <a:t>cov</a:t>
                      </a:r>
                      <a:r>
                        <a:rPr lang="en-US" sz="1000" b="0" dirty="0">
                          <a:effectLst/>
                          <a:latin typeface="Arial" panose="020B0604020202020204" pitchFamily="34" charset="0"/>
                          <a:cs typeface="Arial" panose="020B0604020202020204" pitchFamily="34" charset="0"/>
                        </a:rPr>
                        <a:t>(x, y)</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715401952"/>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Population standard deviation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STDEV.P(x)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sqrt(var(x))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527889753"/>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Population variance for (X,Y) data pairs</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COVARIANCE.P(x, y)</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err="1">
                          <a:effectLst/>
                          <a:latin typeface="Arial" panose="020B0604020202020204" pitchFamily="34" charset="0"/>
                          <a:cs typeface="Arial" panose="020B0604020202020204" pitchFamily="34" charset="0"/>
                        </a:rPr>
                        <a:t>cov</a:t>
                      </a:r>
                      <a:r>
                        <a:rPr lang="en-US" sz="1000" b="0" dirty="0">
                          <a:effectLst/>
                          <a:latin typeface="Arial" panose="020B0604020202020204" pitchFamily="34" charset="0"/>
                          <a:cs typeface="Arial" panose="020B0604020202020204" pitchFamily="34" charset="0"/>
                        </a:rPr>
                        <a:t>(x, y)</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465077978"/>
                  </a:ext>
                </a:extLst>
              </a:tr>
              <a:tr h="201210">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Standardize an X value</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a:effectLst/>
                          <a:latin typeface="Arial" panose="020B0604020202020204" pitchFamily="34" charset="0"/>
                          <a:cs typeface="Arial" panose="020B0604020202020204" pitchFamily="34" charset="0"/>
                        </a:rPr>
                        <a:t>STANDARDIZE(x, µ, σ)</a:t>
                      </a:r>
                      <a:endParaRPr lang="en-US" sz="1000" b="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(x-mean(x))/</a:t>
                      </a:r>
                      <a:r>
                        <a:rPr lang="en-US" sz="1000" b="0" dirty="0" err="1">
                          <a:effectLst/>
                          <a:latin typeface="Arial" panose="020B0604020202020204" pitchFamily="34" charset="0"/>
                          <a:cs typeface="Arial" panose="020B0604020202020204" pitchFamily="34" charset="0"/>
                        </a:rPr>
                        <a:t>sd</a:t>
                      </a:r>
                      <a:r>
                        <a:rPr lang="en-US" sz="1000" b="0" dirty="0">
                          <a:effectLst/>
                          <a:latin typeface="Arial" panose="020B0604020202020204" pitchFamily="34" charset="0"/>
                          <a:cs typeface="Arial" panose="020B0604020202020204" pitchFamily="34" charset="0"/>
                        </a:rPr>
                        <a:t>(x)</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518103543"/>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Correlation coefficient for (X,Y) data pairs</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a:effectLst/>
                          <a:latin typeface="Arial" panose="020B0604020202020204" pitchFamily="34" charset="0"/>
                          <a:cs typeface="Arial" panose="020B0604020202020204" pitchFamily="34" charset="0"/>
                        </a:rPr>
                        <a:t>CORREL(x, y)</a:t>
                      </a:r>
                      <a:endParaRPr lang="en-US" sz="1000" b="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err="1">
                          <a:effectLst/>
                          <a:latin typeface="Arial" panose="020B0604020202020204" pitchFamily="34" charset="0"/>
                          <a:cs typeface="Arial" panose="020B0604020202020204" pitchFamily="34" charset="0"/>
                        </a:rPr>
                        <a:t>cor</a:t>
                      </a:r>
                      <a:r>
                        <a:rPr lang="en-US" sz="1000" b="0" dirty="0">
                          <a:effectLst/>
                          <a:latin typeface="Arial" panose="020B0604020202020204" pitchFamily="34" charset="0"/>
                          <a:cs typeface="Arial" panose="020B0604020202020204" pitchFamily="34" charset="0"/>
                        </a:rPr>
                        <a:t>(x, y)</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71422834"/>
                  </a:ext>
                </a:extLst>
              </a:tr>
              <a:tr h="169466">
                <a:tc>
                  <a:txBody>
                    <a:bodyPr/>
                    <a:lstStyle/>
                    <a:p>
                      <a:pPr marL="0" marR="0" algn="l">
                        <a:spcBef>
                          <a:spcPts val="290"/>
                        </a:spcBef>
                        <a:spcAft>
                          <a:spcPts val="290"/>
                        </a:spcAft>
                      </a:pPr>
                      <a:r>
                        <a:rPr lang="en-US" sz="1000" b="0" dirty="0" err="1">
                          <a:effectLst/>
                          <a:latin typeface="Arial" panose="020B0604020202020204" pitchFamily="34" charset="0"/>
                          <a:cs typeface="Arial" panose="020B0604020202020204" pitchFamily="34" charset="0"/>
                        </a:rPr>
                        <a:t>Lm</a:t>
                      </a:r>
                      <a:r>
                        <a:rPr lang="en-US" sz="1000" b="0" dirty="0">
                          <a:effectLst/>
                          <a:latin typeface="Arial" panose="020B0604020202020204" pitchFamily="34" charset="0"/>
                          <a:cs typeface="Arial" panose="020B0604020202020204" pitchFamily="34" charset="0"/>
                        </a:rPr>
                        <a:t>(</a:t>
                      </a:r>
                      <a:r>
                        <a:rPr lang="en-US" sz="1000" b="0" dirty="0" err="1">
                          <a:effectLst/>
                          <a:latin typeface="Arial" panose="020B0604020202020204" pitchFamily="34" charset="0"/>
                          <a:cs typeface="Arial" panose="020B0604020202020204" pitchFamily="34" charset="0"/>
                        </a:rPr>
                        <a:t>x~ySlope</a:t>
                      </a:r>
                      <a:r>
                        <a:rPr lang="en-US" sz="1000" b="0" dirty="0">
                          <a:effectLst/>
                          <a:latin typeface="Arial" panose="020B0604020202020204" pitchFamily="34" charset="0"/>
                          <a:cs typeface="Arial" panose="020B0604020202020204" pitchFamily="34" charset="0"/>
                        </a:rPr>
                        <a:t> of simple X-Y regression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a:effectLst/>
                          <a:latin typeface="Arial" panose="020B0604020202020204" pitchFamily="34" charset="0"/>
                          <a:cs typeface="Arial" panose="020B0604020202020204" pitchFamily="34" charset="0"/>
                        </a:rPr>
                        <a:t>SLOPE(x, y)</a:t>
                      </a:r>
                      <a:endParaRPr lang="en-US" sz="1000" b="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err="1">
                          <a:effectLst/>
                          <a:latin typeface="Arial" panose="020B0604020202020204" pitchFamily="34" charset="0"/>
                          <a:cs typeface="Arial" panose="020B0604020202020204" pitchFamily="34" charset="0"/>
                        </a:rPr>
                        <a:t>lm</a:t>
                      </a:r>
                      <a:r>
                        <a:rPr lang="en-US" sz="1000" b="0" dirty="0">
                          <a:effectLst/>
                          <a:latin typeface="Arial" panose="020B0604020202020204" pitchFamily="34" charset="0"/>
                          <a:cs typeface="Arial" panose="020B0604020202020204" pitchFamily="34" charset="0"/>
                        </a:rPr>
                        <a:t>(</a:t>
                      </a:r>
                      <a:r>
                        <a:rPr lang="en-US" sz="1000" b="0" dirty="0" err="1">
                          <a:effectLst/>
                          <a:latin typeface="Arial" panose="020B0604020202020204" pitchFamily="34" charset="0"/>
                          <a:cs typeface="Arial" panose="020B0604020202020204" pitchFamily="34" charset="0"/>
                        </a:rPr>
                        <a:t>y~x</a:t>
                      </a:r>
                      <a:r>
                        <a:rPr lang="en-US" sz="1000" b="0" dirty="0">
                          <a:effectLst/>
                          <a:latin typeface="Arial" panose="020B0604020202020204" pitchFamily="34" charset="0"/>
                          <a:cs typeface="Arial" panose="020B0604020202020204" pitchFamily="34" charset="0"/>
                        </a:rPr>
                        <a:t>)</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3347733417"/>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Intercept of simple X-Y regression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a:effectLst/>
                          <a:latin typeface="Arial" panose="020B0604020202020204" pitchFamily="34" charset="0"/>
                          <a:cs typeface="Arial" panose="020B0604020202020204" pitchFamily="34" charset="0"/>
                        </a:rPr>
                        <a:t>INTERCEPT(x, y)</a:t>
                      </a:r>
                      <a:endParaRPr lang="en-US" sz="1000" b="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err="1">
                          <a:effectLst/>
                          <a:latin typeface="Arial" panose="020B0604020202020204" pitchFamily="34" charset="0"/>
                          <a:cs typeface="Arial" panose="020B0604020202020204" pitchFamily="34" charset="0"/>
                        </a:rPr>
                        <a:t>lm</a:t>
                      </a:r>
                      <a:r>
                        <a:rPr lang="en-US" sz="1000" b="0" dirty="0">
                          <a:effectLst/>
                          <a:latin typeface="Arial" panose="020B0604020202020204" pitchFamily="34" charset="0"/>
                          <a:cs typeface="Arial" panose="020B0604020202020204" pitchFamily="34" charset="0"/>
                        </a:rPr>
                        <a:t>(</a:t>
                      </a:r>
                      <a:r>
                        <a:rPr lang="en-US" sz="1000" b="0" dirty="0" err="1">
                          <a:effectLst/>
                          <a:latin typeface="Arial" panose="020B0604020202020204" pitchFamily="34" charset="0"/>
                          <a:cs typeface="Arial" panose="020B0604020202020204" pitchFamily="34" charset="0"/>
                        </a:rPr>
                        <a:t>y~x</a:t>
                      </a:r>
                      <a:r>
                        <a:rPr lang="en-US" sz="1000" b="0" dirty="0">
                          <a:effectLst/>
                          <a:latin typeface="Arial" panose="020B0604020202020204" pitchFamily="34" charset="0"/>
                          <a:cs typeface="Arial" panose="020B0604020202020204" pitchFamily="34" charset="0"/>
                        </a:rPr>
                        <a:t>)</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1429461048"/>
                  </a:ext>
                </a:extLst>
              </a:tr>
              <a:tr h="169466">
                <a:tc>
                  <a:txBody>
                    <a:bodyPr/>
                    <a:lstStyle/>
                    <a:p>
                      <a:pPr marL="0" marR="0" algn="l">
                        <a:spcBef>
                          <a:spcPts val="290"/>
                        </a:spcBef>
                        <a:spcAft>
                          <a:spcPts val="290"/>
                        </a:spcAft>
                      </a:pPr>
                      <a:r>
                        <a:rPr lang="en-US" sz="1000" b="0" dirty="0">
                          <a:effectLst/>
                          <a:latin typeface="Arial" panose="020B0604020202020204" pitchFamily="34" charset="0"/>
                          <a:cs typeface="Arial" panose="020B0604020202020204" pitchFamily="34" charset="0"/>
                        </a:rPr>
                        <a:t>R-squared for simple X-Y regression</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a:effectLst/>
                          <a:latin typeface="Arial" panose="020B0604020202020204" pitchFamily="34" charset="0"/>
                          <a:cs typeface="Arial" panose="020B0604020202020204" pitchFamily="34" charset="0"/>
                        </a:rPr>
                        <a:t>RSQ(x, y)</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tc>
                  <a:txBody>
                    <a:bodyPr/>
                    <a:lstStyle/>
                    <a:p>
                      <a:pPr marL="0" marR="0" algn="ctr">
                        <a:spcBef>
                          <a:spcPts val="290"/>
                        </a:spcBef>
                        <a:spcAft>
                          <a:spcPts val="290"/>
                        </a:spcAft>
                      </a:pPr>
                      <a:r>
                        <a:rPr lang="en-US" sz="1000" b="0" dirty="0" err="1">
                          <a:effectLst/>
                          <a:latin typeface="Arial" panose="020B0604020202020204" pitchFamily="34" charset="0"/>
                          <a:cs typeface="Arial" panose="020B0604020202020204" pitchFamily="34" charset="0"/>
                        </a:rPr>
                        <a:t>cor</a:t>
                      </a:r>
                      <a:r>
                        <a:rPr lang="en-US" sz="1000" b="0" dirty="0">
                          <a:effectLst/>
                          <a:latin typeface="Arial" panose="020B0604020202020204" pitchFamily="34" charset="0"/>
                          <a:cs typeface="Arial" panose="020B0604020202020204" pitchFamily="34" charset="0"/>
                        </a:rPr>
                        <a:t>(x, y)^2</a:t>
                      </a:r>
                      <a:endParaRPr lang="en-US" sz="1000" b="0" dirty="0">
                        <a:solidFill>
                          <a:srgbClr val="000066"/>
                        </a:solidFill>
                        <a:effectLst/>
                        <a:latin typeface="Arial" panose="020B0604020202020204" pitchFamily="34" charset="0"/>
                        <a:ea typeface="Times New Roman" panose="02020603050405020304" pitchFamily="18" charset="0"/>
                        <a:cs typeface="Arial" panose="020B0604020202020204" pitchFamily="34" charset="0"/>
                      </a:endParaRPr>
                    </a:p>
                  </a:txBody>
                  <a:tcPr marL="51435" marR="51435" marT="0" marB="0"/>
                </a:tc>
                <a:extLst>
                  <a:ext uri="{0D108BD9-81ED-4DB2-BD59-A6C34878D82A}">
                    <a16:rowId xmlns:a16="http://schemas.microsoft.com/office/drawing/2014/main" val="3317480358"/>
                  </a:ext>
                </a:extLst>
              </a:tr>
            </a:tbl>
          </a:graphicData>
        </a:graphic>
      </p:graphicFrame>
      <p:sp>
        <p:nvSpPr>
          <p:cNvPr id="3" name="TextBox 2">
            <a:extLst>
              <a:ext uri="{FF2B5EF4-FFF2-40B4-BE49-F238E27FC236}">
                <a16:creationId xmlns:a16="http://schemas.microsoft.com/office/drawing/2014/main" id="{C5BA9236-9D4E-458D-941A-336801B4261C}"/>
              </a:ext>
            </a:extLst>
          </p:cNvPr>
          <p:cNvSpPr txBox="1"/>
          <p:nvPr/>
        </p:nvSpPr>
        <p:spPr>
          <a:xfrm>
            <a:off x="838200" y="457200"/>
            <a:ext cx="7086600" cy="707886"/>
          </a:xfrm>
          <a:prstGeom prst="rect">
            <a:avLst/>
          </a:prstGeom>
          <a:noFill/>
        </p:spPr>
        <p:txBody>
          <a:bodyPr wrap="square" rtlCol="0">
            <a:spAutoFit/>
          </a:bodyPr>
          <a:lstStyle/>
          <a:p>
            <a:pPr algn="ctr"/>
            <a:r>
              <a:rPr lang="en-US" sz="40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Useful Functions</a:t>
            </a: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0368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Example</a:t>
            </a:r>
          </a:p>
        </p:txBody>
      </p:sp>
      <p:sp>
        <p:nvSpPr>
          <p:cNvPr id="5123" name="Text Box 7"/>
          <p:cNvSpPr txBox="1">
            <a:spLocks noChangeArrowheads="1"/>
          </p:cNvSpPr>
          <p:nvPr/>
        </p:nvSpPr>
        <p:spPr bwMode="auto">
          <a:xfrm>
            <a:off x="1400175" y="1295400"/>
            <a:ext cx="649046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2000" dirty="0">
                <a:latin typeface="+mn-lt"/>
              </a:rPr>
              <a:t>We have 44 observations on price-earnings ratios for a sample of S&amp;P 500 companies. We want to describe the </a:t>
            </a:r>
            <a:r>
              <a:rPr lang="en-US" sz="2000" dirty="0">
                <a:solidFill>
                  <a:srgbClr val="C00000"/>
                </a:solidFill>
                <a:latin typeface="+mn-lt"/>
                <a:cs typeface="Arial" charset="0"/>
              </a:rPr>
              <a:t>shape</a:t>
            </a:r>
            <a:r>
              <a:rPr lang="en-US" sz="2000" dirty="0">
                <a:latin typeface="+mn-lt"/>
              </a:rPr>
              <a:t> of the distribution. First, we import the data to R.</a:t>
            </a:r>
          </a:p>
        </p:txBody>
      </p:sp>
      <p:sp>
        <p:nvSpPr>
          <p:cNvPr id="5126" name="Left Arrow 7"/>
          <p:cNvSpPr>
            <a:spLocks noChangeArrowheads="1"/>
          </p:cNvSpPr>
          <p:nvPr/>
        </p:nvSpPr>
        <p:spPr bwMode="auto">
          <a:xfrm>
            <a:off x="4635753" y="3542385"/>
            <a:ext cx="402746" cy="330967"/>
          </a:xfrm>
          <a:prstGeom prst="lef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C00000"/>
              </a:solidFill>
            </a:endParaRPr>
          </a:p>
        </p:txBody>
      </p:sp>
      <p:sp>
        <p:nvSpPr>
          <p:cNvPr id="3" name="TextBox 2">
            <a:extLst>
              <a:ext uri="{FF2B5EF4-FFF2-40B4-BE49-F238E27FC236}">
                <a16:creationId xmlns:a16="http://schemas.microsoft.com/office/drawing/2014/main" id="{63F6F71C-AA33-42A2-A7A2-22242A58F09D}"/>
              </a:ext>
            </a:extLst>
          </p:cNvPr>
          <p:cNvSpPr txBox="1"/>
          <p:nvPr/>
        </p:nvSpPr>
        <p:spPr>
          <a:xfrm>
            <a:off x="1381198" y="2796477"/>
            <a:ext cx="1914525" cy="307777"/>
          </a:xfrm>
          <a:prstGeom prst="rect">
            <a:avLst/>
          </a:prstGeom>
          <a:noFill/>
        </p:spPr>
        <p:txBody>
          <a:bodyPr wrap="square" rtlCol="0">
            <a:spAutoFit/>
          </a:bodyPr>
          <a:lstStyle/>
          <a:p>
            <a:r>
              <a:rPr lang="en-US" sz="1400" i="1" dirty="0">
                <a:latin typeface="Calibri" panose="020F0502020204030204" pitchFamily="34" charset="0"/>
                <a:cs typeface="Calibri" panose="020F0502020204030204" pitchFamily="34" charset="0"/>
              </a:rPr>
              <a:t>Row-Column Format</a:t>
            </a:r>
          </a:p>
        </p:txBody>
      </p:sp>
      <p:sp>
        <p:nvSpPr>
          <p:cNvPr id="9" name="TextBox 8">
            <a:extLst>
              <a:ext uri="{FF2B5EF4-FFF2-40B4-BE49-F238E27FC236}">
                <a16:creationId xmlns:a16="http://schemas.microsoft.com/office/drawing/2014/main" id="{A8F11686-C0B7-4319-A88A-F5011B363C62}"/>
              </a:ext>
            </a:extLst>
          </p:cNvPr>
          <p:cNvSpPr txBox="1"/>
          <p:nvPr/>
        </p:nvSpPr>
        <p:spPr>
          <a:xfrm>
            <a:off x="3482939" y="2796476"/>
            <a:ext cx="1415284" cy="307777"/>
          </a:xfrm>
          <a:prstGeom prst="rect">
            <a:avLst/>
          </a:prstGeom>
          <a:noFill/>
        </p:spPr>
        <p:txBody>
          <a:bodyPr wrap="square" rtlCol="0">
            <a:spAutoFit/>
          </a:bodyPr>
          <a:lstStyle/>
          <a:p>
            <a:r>
              <a:rPr lang="en-US" sz="1400" i="1" dirty="0">
                <a:latin typeface="Calibri" panose="020F0502020204030204" pitchFamily="34" charset="0"/>
                <a:cs typeface="Calibri" panose="020F0502020204030204" pitchFamily="34" charset="0"/>
              </a:rPr>
              <a:t>One Column</a:t>
            </a:r>
          </a:p>
        </p:txBody>
      </p:sp>
      <p:sp>
        <p:nvSpPr>
          <p:cNvPr id="11" name="TextBox 5">
            <a:extLst>
              <a:ext uri="{FF2B5EF4-FFF2-40B4-BE49-F238E27FC236}">
                <a16:creationId xmlns:a16="http://schemas.microsoft.com/office/drawing/2014/main" id="{B9E5EC65-AAA8-45FA-BA8E-11F66EDAA704}"/>
              </a:ext>
            </a:extLst>
          </p:cNvPr>
          <p:cNvSpPr txBox="1">
            <a:spLocks noChangeArrowheads="1"/>
          </p:cNvSpPr>
          <p:nvPr/>
        </p:nvSpPr>
        <p:spPr bwMode="auto">
          <a:xfrm>
            <a:off x="3616096" y="4799459"/>
            <a:ext cx="40084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400" i="1" dirty="0">
                <a:solidFill>
                  <a:srgbClr val="800000"/>
                </a:solidFill>
                <a:latin typeface="Calibri" panose="020F0502020204030204" pitchFamily="34" charset="0"/>
                <a:cs typeface="Calibri" panose="020F0502020204030204" pitchFamily="34" charset="0"/>
              </a:rPr>
              <a:t>Note: </a:t>
            </a:r>
            <a:r>
              <a:rPr lang="en-US" sz="1400" dirty="0">
                <a:solidFill>
                  <a:srgbClr val="000000"/>
                </a:solidFill>
                <a:latin typeface="Calibri" panose="020F0502020204030204" pitchFamily="34" charset="0"/>
                <a:cs typeface="Calibri" panose="020F0502020204030204" pitchFamily="34" charset="0"/>
              </a:rPr>
              <a:t>R would see each column as a separate variable and would not know what to do with the heading, so we reformat Excel data into a single column with a simple heading.</a:t>
            </a:r>
          </a:p>
        </p:txBody>
      </p:sp>
      <p:pic>
        <p:nvPicPr>
          <p:cNvPr id="6" name="Picture 5">
            <a:extLst>
              <a:ext uri="{FF2B5EF4-FFF2-40B4-BE49-F238E27FC236}">
                <a16:creationId xmlns:a16="http://schemas.microsoft.com/office/drawing/2014/main" id="{89110386-51EB-494F-934C-AD6066E2AE42}"/>
              </a:ext>
            </a:extLst>
          </p:cNvPr>
          <p:cNvPicPr>
            <a:picLocks noChangeAspect="1"/>
          </p:cNvPicPr>
          <p:nvPr/>
        </p:nvPicPr>
        <p:blipFill>
          <a:blip r:embed="rId2"/>
          <a:stretch>
            <a:fillRect/>
          </a:stretch>
        </p:blipFill>
        <p:spPr>
          <a:xfrm>
            <a:off x="1564465" y="3099403"/>
            <a:ext cx="1314450" cy="2305050"/>
          </a:xfrm>
          <a:prstGeom prst="rect">
            <a:avLst/>
          </a:prstGeom>
        </p:spPr>
      </p:pic>
      <p:pic>
        <p:nvPicPr>
          <p:cNvPr id="7" name="Picture 6">
            <a:extLst>
              <a:ext uri="{FF2B5EF4-FFF2-40B4-BE49-F238E27FC236}">
                <a16:creationId xmlns:a16="http://schemas.microsoft.com/office/drawing/2014/main" id="{6E14183D-00DE-4ECD-A62F-870E1011B563}"/>
              </a:ext>
            </a:extLst>
          </p:cNvPr>
          <p:cNvPicPr>
            <a:picLocks noChangeAspect="1"/>
          </p:cNvPicPr>
          <p:nvPr/>
        </p:nvPicPr>
        <p:blipFill>
          <a:blip r:embed="rId3"/>
          <a:stretch>
            <a:fillRect/>
          </a:stretch>
        </p:blipFill>
        <p:spPr>
          <a:xfrm>
            <a:off x="3616096" y="3099403"/>
            <a:ext cx="742950" cy="1543050"/>
          </a:xfrm>
          <a:prstGeom prst="rect">
            <a:avLst/>
          </a:prstGeom>
        </p:spPr>
      </p:pic>
      <p:sp>
        <p:nvSpPr>
          <p:cNvPr id="8" name="TextBox 7">
            <a:extLst>
              <a:ext uri="{FF2B5EF4-FFF2-40B4-BE49-F238E27FC236}">
                <a16:creationId xmlns:a16="http://schemas.microsoft.com/office/drawing/2014/main" id="{1431342C-28C5-44C6-8A2D-7131BB696C75}"/>
              </a:ext>
            </a:extLst>
          </p:cNvPr>
          <p:cNvSpPr txBox="1"/>
          <p:nvPr/>
        </p:nvSpPr>
        <p:spPr>
          <a:xfrm>
            <a:off x="5353051" y="3402087"/>
            <a:ext cx="1219200" cy="523220"/>
          </a:xfrm>
          <a:prstGeom prst="rect">
            <a:avLst/>
          </a:prstGeom>
          <a:noFill/>
        </p:spPr>
        <p:txBody>
          <a:bodyPr wrap="square" rtlCol="0">
            <a:spAutoFit/>
          </a:bodyPr>
          <a:lstStyle/>
          <a:p>
            <a:r>
              <a:rPr lang="en-US" sz="1400" dirty="0">
                <a:solidFill>
                  <a:srgbClr val="000000"/>
                </a:solidFill>
                <a:latin typeface="Calibri" panose="020F0502020204030204" pitchFamily="34" charset="0"/>
                <a:cs typeface="Calibri" panose="020F0502020204030204" pitchFamily="34" charset="0"/>
              </a:rPr>
              <a:t>middle rows omitted</a:t>
            </a:r>
            <a:endParaRPr lang="en-US" sz="1400" dirty="0"/>
          </a:p>
        </p:txBody>
      </p:sp>
      <p:sp>
        <p:nvSpPr>
          <p:cNvPr id="12" name="Left Arrow 7">
            <a:extLst>
              <a:ext uri="{FF2B5EF4-FFF2-40B4-BE49-F238E27FC236}">
                <a16:creationId xmlns:a16="http://schemas.microsoft.com/office/drawing/2014/main" id="{E260E024-B2E5-449B-B227-41CBF08E0F53}"/>
              </a:ext>
            </a:extLst>
          </p:cNvPr>
          <p:cNvSpPr>
            <a:spLocks noChangeArrowheads="1"/>
          </p:cNvSpPr>
          <p:nvPr/>
        </p:nvSpPr>
        <p:spPr bwMode="auto">
          <a:xfrm>
            <a:off x="3213350" y="5026235"/>
            <a:ext cx="402746" cy="330967"/>
          </a:xfrm>
          <a:prstGeom prst="lef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Import Data</a:t>
            </a:r>
          </a:p>
        </p:txBody>
      </p:sp>
      <p:sp>
        <p:nvSpPr>
          <p:cNvPr id="5" name="TextBox 4">
            <a:extLst>
              <a:ext uri="{FF2B5EF4-FFF2-40B4-BE49-F238E27FC236}">
                <a16:creationId xmlns:a16="http://schemas.microsoft.com/office/drawing/2014/main" id="{92292BE5-6518-434C-B827-3F1B89EB5F01}"/>
              </a:ext>
            </a:extLst>
          </p:cNvPr>
          <p:cNvSpPr txBox="1"/>
          <p:nvPr/>
        </p:nvSpPr>
        <p:spPr>
          <a:xfrm>
            <a:off x="838200" y="1405530"/>
            <a:ext cx="7772400" cy="3416320"/>
          </a:xfrm>
          <a:prstGeom prst="rect">
            <a:avLst/>
          </a:prstGeom>
          <a:noFill/>
        </p:spPr>
        <p:txBody>
          <a:bodyPr wrap="square" rtlCol="0">
            <a:spAutoFit/>
          </a:bodyPr>
          <a:lstStyle/>
          <a:p>
            <a:r>
              <a:rPr lang="en-US" sz="2000" dirty="0">
                <a:latin typeface="Times New Roman" pitchFamily="18" charset="0"/>
              </a:rPr>
              <a:t>A quick way to import data to R is the clipboard. Highlight the data block in Excel (including its column heading) and copy it to the clipboard using </a:t>
            </a:r>
            <a:r>
              <a:rPr lang="en-US" sz="1400" dirty="0" err="1">
                <a:solidFill>
                  <a:srgbClr val="0000FF"/>
                </a:solidFill>
                <a:latin typeface="Lucida Console" panose="020B0609040504020204" pitchFamily="49" charset="0"/>
                <a:cs typeface="Lucida Sans Unicode" panose="020B0602030504020204" pitchFamily="34" charset="0"/>
              </a:rPr>
              <a:t>Ctrl+c</a:t>
            </a:r>
            <a:r>
              <a:rPr lang="en-US" sz="2000" dirty="0">
                <a:latin typeface="Times New Roman" pitchFamily="18" charset="0"/>
              </a:rPr>
              <a:t> (Windows) or </a:t>
            </a:r>
            <a:r>
              <a:rPr lang="en-US" sz="1400" dirty="0" err="1">
                <a:solidFill>
                  <a:srgbClr val="0000FF"/>
                </a:solidFill>
                <a:latin typeface="Lucida Console" panose="020B0609040504020204" pitchFamily="49" charset="0"/>
                <a:cs typeface="Lucida Sans Unicode" panose="020B0602030504020204" pitchFamily="34" charset="0"/>
              </a:rPr>
              <a:t>command+c</a:t>
            </a:r>
            <a:r>
              <a:rPr lang="en-US" sz="2000" dirty="0">
                <a:latin typeface="Times New Roman" pitchFamily="18" charset="0"/>
              </a:rPr>
              <a:t> (MacOS). We will call the imported data </a:t>
            </a:r>
            <a:r>
              <a:rPr lang="en-US" sz="1400" dirty="0" err="1">
                <a:solidFill>
                  <a:srgbClr val="0000FF"/>
                </a:solidFill>
                <a:latin typeface="Lucida Console" panose="020B0609040504020204" pitchFamily="49" charset="0"/>
                <a:cs typeface="Lucida Sans Unicode" panose="020B0602030504020204" pitchFamily="34" charset="0"/>
              </a:rPr>
              <a:t>PEData</a:t>
            </a:r>
            <a:r>
              <a:rPr lang="en-US" sz="2000" dirty="0">
                <a:latin typeface="Times New Roman" pitchFamily="18" charset="0"/>
              </a:rPr>
              <a:t>. For Windows, enter:</a:t>
            </a:r>
          </a:p>
          <a:p>
            <a:r>
              <a:rPr lang="en-US" sz="1200" dirty="0">
                <a:latin typeface="Times New Roman" pitchFamily="18" charset="0"/>
              </a:rPr>
              <a:t> </a:t>
            </a: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PEData</a:t>
            </a:r>
            <a:r>
              <a:rPr lang="en-US" sz="1400" dirty="0">
                <a:solidFill>
                  <a:srgbClr val="0000FF"/>
                </a:solidFill>
                <a:latin typeface="Lucida Console" panose="020B0609040504020204" pitchFamily="49" charset="0"/>
                <a:cs typeface="Lucida Sans Unicode" panose="020B0602030504020204" pitchFamily="34" charset="0"/>
              </a:rPr>
              <a:t> = </a:t>
            </a:r>
            <a:r>
              <a:rPr lang="en-US" sz="1400" dirty="0" err="1">
                <a:solidFill>
                  <a:srgbClr val="0000FF"/>
                </a:solidFill>
                <a:latin typeface="Lucida Console" panose="020B0609040504020204" pitchFamily="49" charset="0"/>
                <a:cs typeface="Lucida Sans Unicode" panose="020B0602030504020204" pitchFamily="34" charset="0"/>
              </a:rPr>
              <a:t>read.table</a:t>
            </a:r>
            <a:r>
              <a:rPr lang="en-US" sz="1400" dirty="0">
                <a:solidFill>
                  <a:srgbClr val="0000FF"/>
                </a:solidFill>
                <a:latin typeface="Lucida Console" panose="020B0609040504020204" pitchFamily="49" charset="0"/>
                <a:cs typeface="Lucida Sans Unicode" panose="020B0602030504020204" pitchFamily="34" charset="0"/>
              </a:rPr>
              <a:t>(file="clipboard",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 header=TRUE)</a:t>
            </a:r>
          </a:p>
          <a:p>
            <a:r>
              <a:rPr lang="en-US" sz="1200" dirty="0"/>
              <a:t> </a:t>
            </a:r>
          </a:p>
          <a:p>
            <a:r>
              <a:rPr lang="en-US" sz="2000" dirty="0">
                <a:latin typeface="Times New Roman" pitchFamily="18" charset="0"/>
              </a:rPr>
              <a:t>For MacOS, enter:</a:t>
            </a:r>
          </a:p>
          <a:p>
            <a:r>
              <a:rPr lang="en-US" sz="1200" dirty="0"/>
              <a:t> </a:t>
            </a:r>
          </a:p>
          <a:p>
            <a:pPr latinLnBrk="1"/>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PEData</a:t>
            </a:r>
            <a:r>
              <a:rPr lang="en-US" sz="1400" dirty="0">
                <a:solidFill>
                  <a:srgbClr val="0000FF"/>
                </a:solidFill>
                <a:latin typeface="Lucida Console" panose="020B0609040504020204" pitchFamily="49" charset="0"/>
                <a:cs typeface="Lucida Sans Unicode" panose="020B0602030504020204" pitchFamily="34" charset="0"/>
              </a:rPr>
              <a:t> = </a:t>
            </a:r>
            <a:r>
              <a:rPr lang="en-US" sz="1400" dirty="0" err="1">
                <a:solidFill>
                  <a:srgbClr val="0000FF"/>
                </a:solidFill>
                <a:latin typeface="Lucida Console" panose="020B0609040504020204" pitchFamily="49" charset="0"/>
                <a:cs typeface="Lucida Sans Unicode" panose="020B0602030504020204" pitchFamily="34" charset="0"/>
              </a:rPr>
              <a:t>read.table</a:t>
            </a:r>
            <a:r>
              <a:rPr lang="en-US" sz="1400" dirty="0">
                <a:solidFill>
                  <a:srgbClr val="0000FF"/>
                </a:solidFill>
                <a:latin typeface="Lucida Console" panose="020B0609040504020204" pitchFamily="49" charset="0"/>
                <a:cs typeface="Lucida Sans Unicode" panose="020B0602030504020204" pitchFamily="34" charset="0"/>
              </a:rPr>
              <a:t>(pipe("</a:t>
            </a:r>
            <a:r>
              <a:rPr lang="en-US" sz="1400" dirty="0" err="1">
                <a:solidFill>
                  <a:srgbClr val="0000FF"/>
                </a:solidFill>
                <a:latin typeface="Lucida Console" panose="020B0609040504020204" pitchFamily="49" charset="0"/>
                <a:cs typeface="Lucida Sans Unicode" panose="020B0602030504020204" pitchFamily="34" charset="0"/>
              </a:rPr>
              <a:t>pbpaste</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 header=TRUE)</a:t>
            </a:r>
          </a:p>
          <a:p>
            <a:r>
              <a:rPr lang="en-US" sz="1200" dirty="0"/>
              <a:t> </a:t>
            </a:r>
          </a:p>
          <a:p>
            <a:r>
              <a:rPr lang="en-US" sz="2000" dirty="0">
                <a:latin typeface="Times New Roman" pitchFamily="18" charset="0"/>
              </a:rPr>
              <a:t>The argument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a:t>
            </a:r>
            <a:r>
              <a:rPr lang="en-US" sz="1400" dirty="0">
                <a:solidFill>
                  <a:srgbClr val="0000FF"/>
                </a:solidFill>
                <a:latin typeface="Lucida Sans Unicode" panose="020B0602030504020204" pitchFamily="34" charset="0"/>
                <a:cs typeface="Lucida Sans Unicode" panose="020B0602030504020204" pitchFamily="34" charset="0"/>
              </a:rPr>
              <a:t> </a:t>
            </a:r>
            <a:r>
              <a:rPr lang="en-US" sz="2000" dirty="0">
                <a:latin typeface="Times New Roman" pitchFamily="18" charset="0"/>
              </a:rPr>
              <a:t>tells R that the columns are tab-separated. The argument </a:t>
            </a:r>
            <a:r>
              <a:rPr lang="en-US" sz="1400" dirty="0">
                <a:solidFill>
                  <a:srgbClr val="0000FF"/>
                </a:solidFill>
                <a:latin typeface="Lucida Console" panose="020B0609040504020204" pitchFamily="49" charset="0"/>
                <a:cs typeface="Lucida Sans Unicode" panose="020B0602030504020204" pitchFamily="34" charset="0"/>
              </a:rPr>
              <a:t>header=TRUE </a:t>
            </a:r>
            <a:r>
              <a:rPr lang="en-US" sz="2000" dirty="0">
                <a:latin typeface="Times New Roman" pitchFamily="18" charset="0"/>
              </a:rPr>
              <a:t>tells R to expect text headings on each column. </a:t>
            </a:r>
          </a:p>
        </p:txBody>
      </p:sp>
      <p:sp>
        <p:nvSpPr>
          <p:cNvPr id="6" name="TextBox 5">
            <a:extLst>
              <a:ext uri="{FF2B5EF4-FFF2-40B4-BE49-F238E27FC236}">
                <a16:creationId xmlns:a16="http://schemas.microsoft.com/office/drawing/2014/main" id="{D54F8E3C-AF11-4BE8-AF03-3CC30BC3955F}"/>
              </a:ext>
            </a:extLst>
          </p:cNvPr>
          <p:cNvSpPr txBox="1"/>
          <p:nvPr/>
        </p:nvSpPr>
        <p:spPr>
          <a:xfrm>
            <a:off x="987128" y="5148891"/>
            <a:ext cx="2917934" cy="738664"/>
          </a:xfrm>
          <a:prstGeom prst="rect">
            <a:avLst/>
          </a:prstGeom>
          <a:noFill/>
        </p:spPr>
        <p:txBody>
          <a:bodyPr wrap="square" rtlCol="0">
            <a:spAutoFit/>
          </a:bodyPr>
          <a:lstStyle/>
          <a:p>
            <a:r>
              <a:rPr lang="en-US" sz="1400" i="1" dirty="0">
                <a:solidFill>
                  <a:srgbClr val="C00000"/>
                </a:solidFill>
              </a:rPr>
              <a:t>Tip1: </a:t>
            </a:r>
            <a:r>
              <a:rPr lang="en-US" sz="1400" dirty="0"/>
              <a:t>R doe not want column names that begin with a number or contain special symbols like % and $.</a:t>
            </a:r>
          </a:p>
        </p:txBody>
      </p:sp>
      <p:pic>
        <p:nvPicPr>
          <p:cNvPr id="7" name="Picture 6" descr="A close up of a clock&#10;&#10;Description automatically generated">
            <a:extLst>
              <a:ext uri="{FF2B5EF4-FFF2-40B4-BE49-F238E27FC236}">
                <a16:creationId xmlns:a16="http://schemas.microsoft.com/office/drawing/2014/main" id="{C5A4DD71-B4F1-4957-A101-D7E6F22A6A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52524" y="5094712"/>
            <a:ext cx="838951" cy="804863"/>
          </a:xfrm>
          <a:prstGeom prst="rect">
            <a:avLst/>
          </a:prstGeom>
        </p:spPr>
      </p:pic>
      <p:sp>
        <p:nvSpPr>
          <p:cNvPr id="8" name="TextBox 7">
            <a:extLst>
              <a:ext uri="{FF2B5EF4-FFF2-40B4-BE49-F238E27FC236}">
                <a16:creationId xmlns:a16="http://schemas.microsoft.com/office/drawing/2014/main" id="{1C7E47AE-5B3C-4EFE-809C-13EDA0DAC64B}"/>
              </a:ext>
            </a:extLst>
          </p:cNvPr>
          <p:cNvSpPr txBox="1"/>
          <p:nvPr/>
        </p:nvSpPr>
        <p:spPr>
          <a:xfrm>
            <a:off x="5486400" y="5144225"/>
            <a:ext cx="2515914" cy="738664"/>
          </a:xfrm>
          <a:prstGeom prst="rect">
            <a:avLst/>
          </a:prstGeom>
          <a:noFill/>
        </p:spPr>
        <p:txBody>
          <a:bodyPr wrap="square" rtlCol="0">
            <a:spAutoFit/>
          </a:bodyPr>
          <a:lstStyle/>
          <a:p>
            <a:r>
              <a:rPr lang="en-US" sz="1400" i="1" dirty="0">
                <a:solidFill>
                  <a:srgbClr val="C00000"/>
                </a:solidFill>
              </a:rPr>
              <a:t>Tip2:</a:t>
            </a:r>
            <a:r>
              <a:rPr lang="en-US" sz="1400" dirty="0"/>
              <a:t> An advantage of the clipboard method is that you choose exactly what to import.</a:t>
            </a:r>
          </a:p>
        </p:txBody>
      </p:sp>
    </p:spTree>
    <p:extLst>
      <p:ext uri="{BB962C8B-B14F-4D97-AF65-F5344CB8AC3E}">
        <p14:creationId xmlns:p14="http://schemas.microsoft.com/office/powerpoint/2010/main" val="3275951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View the Data</a:t>
            </a:r>
          </a:p>
        </p:txBody>
      </p:sp>
      <p:sp>
        <p:nvSpPr>
          <p:cNvPr id="5" name="TextBox 4">
            <a:extLst>
              <a:ext uri="{FF2B5EF4-FFF2-40B4-BE49-F238E27FC236}">
                <a16:creationId xmlns:a16="http://schemas.microsoft.com/office/drawing/2014/main" id="{92292BE5-6518-434C-B827-3F1B89EB5F01}"/>
              </a:ext>
            </a:extLst>
          </p:cNvPr>
          <p:cNvSpPr txBox="1"/>
          <p:nvPr/>
        </p:nvSpPr>
        <p:spPr>
          <a:xfrm>
            <a:off x="876300" y="1447800"/>
            <a:ext cx="7277100" cy="4093428"/>
          </a:xfrm>
          <a:prstGeom prst="rect">
            <a:avLst/>
          </a:prstGeom>
          <a:noFill/>
        </p:spPr>
        <p:txBody>
          <a:bodyPr wrap="square" rtlCol="0">
            <a:spAutoFit/>
          </a:bodyPr>
          <a:lstStyle/>
          <a:p>
            <a:r>
              <a:rPr lang="en-US" sz="2000" dirty="0">
                <a:latin typeface="+mn-lt"/>
                <a:cs typeface="Lucida Sans Unicode" panose="020B0602030504020204" pitchFamily="34" charset="0"/>
              </a:rPr>
              <a:t>We told R to store the imported data in an object named </a:t>
            </a:r>
            <a:r>
              <a:rPr lang="en-US" sz="1400" dirty="0" err="1">
                <a:solidFill>
                  <a:srgbClr val="0000FF"/>
                </a:solidFill>
                <a:latin typeface="Lucida Console" panose="020B0609040504020204" pitchFamily="49" charset="0"/>
                <a:cs typeface="Lucida Sans Unicode" panose="020B0602030504020204" pitchFamily="34" charset="0"/>
              </a:rPr>
              <a:t>PEData</a:t>
            </a:r>
            <a:r>
              <a:rPr lang="en-US" sz="2000" dirty="0">
                <a:latin typeface="+mn-lt"/>
                <a:cs typeface="Lucida Sans Unicode" panose="020B0602030504020204" pitchFamily="34" charset="0"/>
              </a:rPr>
              <a:t>. To view the data (44 observations) type the name of the object. The name of the </a:t>
            </a:r>
            <a:r>
              <a:rPr lang="en-US" sz="2000" i="1" dirty="0">
                <a:latin typeface="+mn-lt"/>
                <a:cs typeface="Lucida Sans Unicode" panose="020B0602030504020204" pitchFamily="34" charset="0"/>
              </a:rPr>
              <a:t>variable</a:t>
            </a:r>
            <a:r>
              <a:rPr lang="en-US" sz="2000" dirty="0">
                <a:latin typeface="+mn-lt"/>
                <a:cs typeface="Lucida Sans Unicode" panose="020B0602030504020204" pitchFamily="34" charset="0"/>
              </a:rPr>
              <a:t> is </a:t>
            </a:r>
            <a:r>
              <a:rPr lang="en-US" sz="1400" dirty="0" err="1">
                <a:solidFill>
                  <a:srgbClr val="0000FF"/>
                </a:solidFill>
                <a:latin typeface="Lucida Console" panose="020B0609040504020204" pitchFamily="49" charset="0"/>
                <a:cs typeface="Lucida Sans Unicode" panose="020B0602030504020204" pitchFamily="34" charset="0"/>
              </a:rPr>
              <a:t>PERatio</a:t>
            </a:r>
            <a:r>
              <a:rPr lang="en-US" sz="2000" dirty="0">
                <a:latin typeface="+mn-lt"/>
                <a:cs typeface="Lucida Sans Unicode" panose="020B0602030504020204" pitchFamily="34" charset="0"/>
              </a:rPr>
              <a:t> (the column heading). </a:t>
            </a: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PEData</a:t>
            </a:r>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err="1">
                <a:solidFill>
                  <a:srgbClr val="0000FF"/>
                </a:solidFill>
                <a:latin typeface="Lucida Console" panose="020B0609040504020204" pitchFamily="49" charset="0"/>
                <a:cs typeface="Lucida Sans Unicode" panose="020B0602030504020204" pitchFamily="34" charset="0"/>
              </a:rPr>
              <a:t>PERatio</a:t>
            </a:r>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latin typeface="Lucida Console" panose="020B0609040504020204" pitchFamily="49" charset="0"/>
                <a:cs typeface="Lucida Sans Unicode" panose="020B0602030504020204" pitchFamily="34" charset="0"/>
              </a:rPr>
              <a:t>1       59</a:t>
            </a:r>
          </a:p>
          <a:p>
            <a:r>
              <a:rPr lang="en-US" sz="1400" dirty="0">
                <a:latin typeface="Lucida Console" panose="020B0609040504020204" pitchFamily="49" charset="0"/>
                <a:cs typeface="Lucida Sans Unicode" panose="020B0602030504020204" pitchFamily="34" charset="0"/>
              </a:rPr>
              <a:t>2       16</a:t>
            </a:r>
          </a:p>
          <a:p>
            <a:pPr marL="342900" indent="-342900">
              <a:buAutoNum type="arabicPlain" startAt="3"/>
            </a:pPr>
            <a:r>
              <a:rPr lang="en-US" sz="1400" dirty="0">
                <a:latin typeface="Lucida Console" panose="020B0609040504020204" pitchFamily="49" charset="0"/>
                <a:cs typeface="Lucida Sans Unicode" panose="020B0602030504020204" pitchFamily="34" charset="0"/>
              </a:rPr>
              <a:t>     20</a:t>
            </a:r>
          </a:p>
          <a:p>
            <a:r>
              <a:rPr lang="en-US" sz="1400" dirty="0">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42       9</a:t>
            </a:r>
          </a:p>
          <a:p>
            <a:r>
              <a:rPr lang="en-US" sz="1400" dirty="0">
                <a:latin typeface="Lucida Console" panose="020B0609040504020204" pitchFamily="49" charset="0"/>
                <a:cs typeface="Lucida Sans Unicode" panose="020B0602030504020204" pitchFamily="34" charset="0"/>
              </a:rPr>
              <a:t>43      37</a:t>
            </a:r>
          </a:p>
          <a:p>
            <a:r>
              <a:rPr lang="en-US" sz="1400" dirty="0">
                <a:latin typeface="Lucida Console" panose="020B0609040504020204" pitchFamily="49" charset="0"/>
                <a:cs typeface="Lucida Sans Unicode" panose="020B0602030504020204" pitchFamily="34" charset="0"/>
              </a:rPr>
              <a:t>44      13</a:t>
            </a:r>
          </a:p>
          <a:p>
            <a:endParaRPr lang="en-US" sz="2000" dirty="0">
              <a:latin typeface="+mn-lt"/>
              <a:cs typeface="Lucida Sans Unicode" panose="020B0602030504020204" pitchFamily="34" charset="0"/>
            </a:endParaRPr>
          </a:p>
          <a:p>
            <a:r>
              <a:rPr lang="en-US" sz="2000" dirty="0">
                <a:latin typeface="+mn-lt"/>
                <a:cs typeface="Lucida Sans Unicode" panose="020B0602030504020204" pitchFamily="34" charset="0"/>
              </a:rPr>
              <a:t>After verifying that the imported data look OK, we can request detailed statistics and/or graphs.</a:t>
            </a:r>
          </a:p>
        </p:txBody>
      </p:sp>
      <p:sp>
        <p:nvSpPr>
          <p:cNvPr id="6" name="TextBox 5">
            <a:extLst>
              <a:ext uri="{FF2B5EF4-FFF2-40B4-BE49-F238E27FC236}">
                <a16:creationId xmlns:a16="http://schemas.microsoft.com/office/drawing/2014/main" id="{D54F8E3C-AF11-4BE8-AF03-3CC30BC3955F}"/>
              </a:ext>
            </a:extLst>
          </p:cNvPr>
          <p:cNvSpPr txBox="1"/>
          <p:nvPr/>
        </p:nvSpPr>
        <p:spPr>
          <a:xfrm>
            <a:off x="4610100" y="3059667"/>
            <a:ext cx="1981200" cy="738664"/>
          </a:xfrm>
          <a:prstGeom prst="rect">
            <a:avLst/>
          </a:prstGeom>
          <a:noFill/>
        </p:spPr>
        <p:txBody>
          <a:bodyPr wrap="square" rtlCol="0">
            <a:spAutoFit/>
          </a:bodyPr>
          <a:lstStyle/>
          <a:p>
            <a:r>
              <a:rPr lang="en-US" sz="1400" i="1" dirty="0">
                <a:solidFill>
                  <a:srgbClr val="C00000"/>
                </a:solidFill>
              </a:rPr>
              <a:t>Note:</a:t>
            </a:r>
            <a:r>
              <a:rPr lang="en-US" sz="1400" dirty="0"/>
              <a:t> M</a:t>
            </a:r>
            <a:r>
              <a:rPr lang="en-US" sz="1400" dirty="0">
                <a:cs typeface="Lucida Sans Unicode" panose="020B0602030504020204" pitchFamily="34" charset="0"/>
              </a:rPr>
              <a:t>iddle values omitted for brevity.</a:t>
            </a:r>
          </a:p>
          <a:p>
            <a:endParaRPr lang="en-US" sz="1400" dirty="0"/>
          </a:p>
        </p:txBody>
      </p:sp>
      <p:sp>
        <p:nvSpPr>
          <p:cNvPr id="10" name="Left Arrow 7">
            <a:extLst>
              <a:ext uri="{FF2B5EF4-FFF2-40B4-BE49-F238E27FC236}">
                <a16:creationId xmlns:a16="http://schemas.microsoft.com/office/drawing/2014/main" id="{2F204462-EB90-43C1-9B26-851EE5F3CAE7}"/>
              </a:ext>
            </a:extLst>
          </p:cNvPr>
          <p:cNvSpPr>
            <a:spLocks noChangeArrowheads="1"/>
          </p:cNvSpPr>
          <p:nvPr/>
        </p:nvSpPr>
        <p:spPr bwMode="auto">
          <a:xfrm>
            <a:off x="3962400" y="3225416"/>
            <a:ext cx="381000" cy="407167"/>
          </a:xfrm>
          <a:prstGeom prst="lef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C00000"/>
              </a:solidFill>
            </a:endParaRPr>
          </a:p>
        </p:txBody>
      </p:sp>
    </p:spTree>
    <p:extLst>
      <p:ext uri="{BB962C8B-B14F-4D97-AF65-F5344CB8AC3E}">
        <p14:creationId xmlns:p14="http://schemas.microsoft.com/office/powerpoint/2010/main" val="3971104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Describing the Data</a:t>
            </a:r>
          </a:p>
        </p:txBody>
      </p:sp>
      <p:sp>
        <p:nvSpPr>
          <p:cNvPr id="5" name="TextBox 4">
            <a:extLst>
              <a:ext uri="{FF2B5EF4-FFF2-40B4-BE49-F238E27FC236}">
                <a16:creationId xmlns:a16="http://schemas.microsoft.com/office/drawing/2014/main" id="{92292BE5-6518-434C-B827-3F1B89EB5F01}"/>
              </a:ext>
            </a:extLst>
          </p:cNvPr>
          <p:cNvSpPr txBox="1"/>
          <p:nvPr/>
        </p:nvSpPr>
        <p:spPr>
          <a:xfrm>
            <a:off x="704850" y="1295400"/>
            <a:ext cx="7810500" cy="5201424"/>
          </a:xfrm>
          <a:prstGeom prst="rect">
            <a:avLst/>
          </a:prstGeom>
          <a:noFill/>
        </p:spPr>
        <p:txBody>
          <a:bodyPr wrap="square" rtlCol="0">
            <a:spAutoFit/>
          </a:bodyPr>
          <a:lstStyle/>
          <a:p>
            <a:r>
              <a:rPr lang="en-US" sz="2000" dirty="0">
                <a:latin typeface="+mn-lt"/>
                <a:cs typeface="Lucida Sans Unicode" panose="020B0602030504020204" pitchFamily="34" charset="0"/>
              </a:rPr>
              <a:t>Use the </a:t>
            </a:r>
            <a:r>
              <a:rPr lang="en-US" sz="1400" dirty="0">
                <a:solidFill>
                  <a:srgbClr val="0000FF"/>
                </a:solidFill>
                <a:latin typeface="Lucida Console" panose="020B0609040504020204" pitchFamily="49" charset="0"/>
                <a:cs typeface="Lucida Sans Unicode" panose="020B0602030504020204" pitchFamily="34" charset="0"/>
              </a:rPr>
              <a:t>summary(x) </a:t>
            </a:r>
            <a:r>
              <a:rPr lang="en-US" sz="2000" dirty="0">
                <a:latin typeface="+mn-lt"/>
                <a:cs typeface="Lucida Sans Unicode" panose="020B0602030504020204" pitchFamily="34" charset="0"/>
              </a:rPr>
              <a:t>function to see statistics for </a:t>
            </a:r>
            <a:r>
              <a:rPr lang="en-US" sz="1400" dirty="0" err="1">
                <a:solidFill>
                  <a:srgbClr val="0000FF"/>
                </a:solidFill>
                <a:latin typeface="Lucida Console" panose="020B0609040504020204" pitchFamily="49" charset="0"/>
                <a:cs typeface="Lucida Sans Unicode" panose="020B0602030504020204" pitchFamily="34" charset="0"/>
              </a:rPr>
              <a:t>PEData</a:t>
            </a:r>
            <a:r>
              <a:rPr lang="en-US" sz="2000" dirty="0">
                <a:latin typeface="+mn-lt"/>
                <a:cs typeface="Lucida Sans Unicode" panose="020B0602030504020204" pitchFamily="34" charset="0"/>
              </a:rPr>
              <a:t> and </a:t>
            </a:r>
            <a:r>
              <a:rPr lang="en-US" sz="1400" dirty="0">
                <a:solidFill>
                  <a:srgbClr val="0000FF"/>
                </a:solidFill>
                <a:latin typeface="Lucida Console" panose="020B0609040504020204" pitchFamily="49" charset="0"/>
                <a:cs typeface="Lucida Sans Unicode" panose="020B0602030504020204" pitchFamily="34" charset="0"/>
              </a:rPr>
              <a:t>stem(x) </a:t>
            </a:r>
            <a:r>
              <a:rPr lang="en-US" sz="2000" dirty="0">
                <a:latin typeface="+mn-lt"/>
                <a:cs typeface="Lucida Sans Unicode" panose="020B0602030504020204" pitchFamily="34" charset="0"/>
              </a:rPr>
              <a:t>to see a </a:t>
            </a:r>
            <a:r>
              <a:rPr lang="en-US" sz="2000" dirty="0">
                <a:cs typeface="Lucida Sans Unicode" panose="020B0602030504020204" pitchFamily="34" charset="0"/>
              </a:rPr>
              <a:t>stem-and-leaf plot</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cs typeface="Lucida Sans Unicode" panose="020B0602030504020204" pitchFamily="34" charset="0"/>
              </a:rPr>
              <a:t> In </a:t>
            </a:r>
            <a:r>
              <a:rPr lang="en-US" sz="1400" dirty="0">
                <a:solidFill>
                  <a:srgbClr val="0000FF"/>
                </a:solidFill>
                <a:latin typeface="Lucida Console" panose="020B0609040504020204" pitchFamily="49" charset="0"/>
                <a:cs typeface="Lucida Sans Unicode" panose="020B0602030504020204" pitchFamily="34" charset="0"/>
              </a:rPr>
              <a:t>stem(x)</a:t>
            </a:r>
            <a:r>
              <a:rPr lang="en-US" sz="2000" dirty="0">
                <a:cs typeface="Lucida Sans Unicode" panose="020B0602030504020204" pitchFamily="34" charset="0"/>
              </a:rPr>
              <a:t> we insert </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cs typeface="Lucida Sans Unicode" panose="020B0602030504020204" pitchFamily="34" charset="0"/>
              </a:rPr>
              <a:t> in front of the variable name </a:t>
            </a:r>
            <a:r>
              <a:rPr lang="en-US" sz="1400" dirty="0" err="1">
                <a:solidFill>
                  <a:srgbClr val="0000FF"/>
                </a:solidFill>
                <a:latin typeface="Lucida Console" panose="020B0609040504020204" pitchFamily="49" charset="0"/>
                <a:cs typeface="Lucida Sans Unicode" panose="020B0602030504020204" pitchFamily="34" charset="0"/>
              </a:rPr>
              <a:t>PERatio</a:t>
            </a:r>
            <a:r>
              <a:rPr lang="en-US" sz="2000" dirty="0">
                <a:solidFill>
                  <a:srgbClr val="0000FF"/>
                </a:solidFill>
                <a:latin typeface="Lucida Console" panose="020B0609040504020204" pitchFamily="49" charset="0"/>
                <a:cs typeface="Lucida Sans Unicode" panose="020B0602030504020204" pitchFamily="34" charset="0"/>
              </a:rPr>
              <a:t> </a:t>
            </a:r>
            <a:r>
              <a:rPr lang="en-US" sz="2000" dirty="0">
                <a:cs typeface="Lucida Sans Unicode" panose="020B0602030504020204" pitchFamily="34" charset="0"/>
              </a:rPr>
              <a:t>because </a:t>
            </a:r>
            <a:r>
              <a:rPr lang="en-US" sz="1400" dirty="0" err="1">
                <a:solidFill>
                  <a:srgbClr val="0000FF"/>
                </a:solidFill>
                <a:latin typeface="Lucida Console" panose="020B0609040504020204" pitchFamily="49" charset="0"/>
                <a:cs typeface="Lucida Sans Unicode" panose="020B0602030504020204" pitchFamily="34" charset="0"/>
              </a:rPr>
              <a:t>PEData</a:t>
            </a:r>
            <a:r>
              <a:rPr lang="en-US" sz="2000" dirty="0">
                <a:cs typeface="Lucida Sans Unicode" panose="020B0602030504020204" pitchFamily="34" charset="0"/>
              </a:rPr>
              <a:t> is an object that could contain more than one data column (it doesn't in this case, though we could add some). </a:t>
            </a: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summary(</a:t>
            </a:r>
            <a:r>
              <a:rPr lang="en-US" sz="1400" dirty="0" err="1">
                <a:solidFill>
                  <a:srgbClr val="0000FF"/>
                </a:solidFill>
                <a:latin typeface="Lucida Console" panose="020B0609040504020204" pitchFamily="49" charset="0"/>
                <a:cs typeface="Lucida Sans Unicode" panose="020B0602030504020204" pitchFamily="34" charset="0"/>
              </a:rPr>
              <a:t>PEData</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    </a:t>
            </a:r>
            <a:r>
              <a:rPr lang="en-US" sz="1400" dirty="0" err="1">
                <a:latin typeface="Lucida Console" panose="020B0609040504020204" pitchFamily="49" charset="0"/>
                <a:cs typeface="Lucida Sans Unicode" panose="020B0602030504020204" pitchFamily="34" charset="0"/>
              </a:rPr>
              <a:t>PERatio</a:t>
            </a:r>
            <a:r>
              <a:rPr lang="en-US" sz="1400" dirty="0">
                <a:latin typeface="Lucida Console" panose="020B0609040504020204" pitchFamily="49" charset="0"/>
                <a:cs typeface="Lucida Sans Unicode" panose="020B0602030504020204" pitchFamily="34" charset="0"/>
              </a:rPr>
              <a:t>     </a:t>
            </a:r>
          </a:p>
          <a:p>
            <a:r>
              <a:rPr lang="en-US" sz="1400" dirty="0">
                <a:latin typeface="Lucida Console" panose="020B0609040504020204" pitchFamily="49" charset="0"/>
                <a:cs typeface="Lucida Sans Unicode" panose="020B0602030504020204" pitchFamily="34" charset="0"/>
              </a:rPr>
              <a:t> Min.   : 7.00  </a:t>
            </a:r>
          </a:p>
          <a:p>
            <a:r>
              <a:rPr lang="en-US" sz="1400" dirty="0">
                <a:latin typeface="Lucida Console" panose="020B0609040504020204" pitchFamily="49" charset="0"/>
                <a:cs typeface="Lucida Sans Unicode" panose="020B0602030504020204" pitchFamily="34" charset="0"/>
              </a:rPr>
              <a:t> 1st Qu.:13.00  </a:t>
            </a:r>
          </a:p>
          <a:p>
            <a:r>
              <a:rPr lang="en-US" sz="1400" dirty="0">
                <a:latin typeface="Lucida Console" panose="020B0609040504020204" pitchFamily="49" charset="0"/>
                <a:cs typeface="Lucida Sans Unicode" panose="020B0602030504020204" pitchFamily="34" charset="0"/>
              </a:rPr>
              <a:t> Median :17.50  </a:t>
            </a:r>
          </a:p>
          <a:p>
            <a:r>
              <a:rPr lang="en-US" sz="1400" dirty="0">
                <a:latin typeface="Lucida Console" panose="020B0609040504020204" pitchFamily="49" charset="0"/>
                <a:cs typeface="Lucida Sans Unicode" panose="020B0602030504020204" pitchFamily="34" charset="0"/>
              </a:rPr>
              <a:t> Mean   :20.61  </a:t>
            </a:r>
          </a:p>
          <a:p>
            <a:r>
              <a:rPr lang="en-US" sz="1400" dirty="0">
                <a:latin typeface="Lucida Console" panose="020B0609040504020204" pitchFamily="49" charset="0"/>
                <a:cs typeface="Lucida Sans Unicode" panose="020B0602030504020204" pitchFamily="34" charset="0"/>
              </a:rPr>
              <a:t> 3rd Qu.:24.50  </a:t>
            </a:r>
          </a:p>
          <a:p>
            <a:r>
              <a:rPr lang="en-US" sz="1400" dirty="0">
                <a:latin typeface="Lucida Console" panose="020B0609040504020204" pitchFamily="49" charset="0"/>
                <a:cs typeface="Lucida Sans Unicode" panose="020B0602030504020204" pitchFamily="34" charset="0"/>
              </a:rPr>
              <a:t> Max.   :59.00</a:t>
            </a:r>
          </a:p>
          <a:p>
            <a:endParaRPr lang="en-US" sz="1400" dirty="0">
              <a:latin typeface="+mn-lt"/>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stem(</a:t>
            </a:r>
            <a:r>
              <a:rPr lang="en-US" sz="1400" dirty="0" err="1">
                <a:solidFill>
                  <a:srgbClr val="0000FF"/>
                </a:solidFill>
                <a:latin typeface="Lucida Console" panose="020B0609040504020204" pitchFamily="49" charset="0"/>
                <a:cs typeface="Lucida Sans Unicode" panose="020B0602030504020204" pitchFamily="34" charset="0"/>
              </a:rPr>
              <a:t>PEData$PERatio</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  The decimal point is 1 digit(s) to the right of the |</a:t>
            </a:r>
          </a:p>
          <a:p>
            <a:r>
              <a:rPr lang="en-US" sz="1400" dirty="0">
                <a:latin typeface="Lucida Console" panose="020B0609040504020204" pitchFamily="49" charset="0"/>
                <a:cs typeface="Lucida Sans Unicode" panose="020B0602030504020204" pitchFamily="34" charset="0"/>
              </a:rPr>
              <a:t>  0 | 79</a:t>
            </a:r>
          </a:p>
          <a:p>
            <a:r>
              <a:rPr lang="en-US" sz="1400" dirty="0">
                <a:latin typeface="Lucida Console" panose="020B0609040504020204" pitchFamily="49" charset="0"/>
                <a:cs typeface="Lucida Sans Unicode" panose="020B0602030504020204" pitchFamily="34" charset="0"/>
              </a:rPr>
              <a:t>  1 | 000011123334456666778899</a:t>
            </a:r>
          </a:p>
          <a:p>
            <a:r>
              <a:rPr lang="en-US" sz="1400" dirty="0">
                <a:latin typeface="Lucida Console" panose="020B0609040504020204" pitchFamily="49" charset="0"/>
                <a:cs typeface="Lucida Sans Unicode" panose="020B0602030504020204" pitchFamily="34" charset="0"/>
              </a:rPr>
              <a:t>  2 | 00112346678</a:t>
            </a:r>
          </a:p>
          <a:p>
            <a:r>
              <a:rPr lang="en-US" sz="1400" dirty="0">
                <a:latin typeface="Lucida Console" panose="020B0609040504020204" pitchFamily="49" charset="0"/>
                <a:cs typeface="Lucida Sans Unicode" panose="020B0602030504020204" pitchFamily="34" charset="0"/>
              </a:rPr>
              <a:t>  3 | 1778</a:t>
            </a:r>
          </a:p>
          <a:p>
            <a:r>
              <a:rPr lang="en-US" sz="1400" dirty="0">
                <a:latin typeface="Lucida Console" panose="020B0609040504020204" pitchFamily="49" charset="0"/>
                <a:cs typeface="Lucida Sans Unicode" panose="020B0602030504020204" pitchFamily="34" charset="0"/>
              </a:rPr>
              <a:t>  4 | 2</a:t>
            </a:r>
          </a:p>
          <a:p>
            <a:r>
              <a:rPr lang="en-US" sz="1400" dirty="0">
                <a:latin typeface="Lucida Console" panose="020B0609040504020204" pitchFamily="49" charset="0"/>
                <a:cs typeface="Lucida Sans Unicode" panose="020B0602030504020204" pitchFamily="34" charset="0"/>
              </a:rPr>
              <a:t>  5 | 09 </a:t>
            </a:r>
          </a:p>
        </p:txBody>
      </p:sp>
      <p:sp>
        <p:nvSpPr>
          <p:cNvPr id="9" name="TextBox 8">
            <a:extLst>
              <a:ext uri="{FF2B5EF4-FFF2-40B4-BE49-F238E27FC236}">
                <a16:creationId xmlns:a16="http://schemas.microsoft.com/office/drawing/2014/main" id="{E429F42F-6676-4C31-B48A-95DDEB1EF2AA}"/>
              </a:ext>
            </a:extLst>
          </p:cNvPr>
          <p:cNvSpPr txBox="1"/>
          <p:nvPr/>
        </p:nvSpPr>
        <p:spPr>
          <a:xfrm>
            <a:off x="4239030" y="5994720"/>
            <a:ext cx="2488624" cy="523220"/>
          </a:xfrm>
          <a:prstGeom prst="rect">
            <a:avLst/>
          </a:prstGeom>
          <a:noFill/>
        </p:spPr>
        <p:txBody>
          <a:bodyPr wrap="square" rtlCol="0">
            <a:spAutoFit/>
          </a:bodyPr>
          <a:lstStyle/>
          <a:p>
            <a:r>
              <a:rPr lang="en-US" sz="1400" i="1" dirty="0">
                <a:solidFill>
                  <a:srgbClr val="C00000"/>
                </a:solidFill>
              </a:rPr>
              <a:t>Note:</a:t>
            </a:r>
            <a:r>
              <a:rPr lang="en-US" sz="1400" dirty="0"/>
              <a:t> Stem-and-leaf displays work best for </a:t>
            </a:r>
            <a:r>
              <a:rPr lang="en-US" sz="1400" i="1" dirty="0"/>
              <a:t>integer</a:t>
            </a:r>
            <a:r>
              <a:rPr lang="en-US" sz="1400" dirty="0"/>
              <a:t> data.</a:t>
            </a:r>
          </a:p>
        </p:txBody>
      </p:sp>
      <p:sp>
        <p:nvSpPr>
          <p:cNvPr id="10" name="Left Arrow 7">
            <a:extLst>
              <a:ext uri="{FF2B5EF4-FFF2-40B4-BE49-F238E27FC236}">
                <a16:creationId xmlns:a16="http://schemas.microsoft.com/office/drawing/2014/main" id="{4384EF3B-B03D-4A9B-8BAC-30B91AE5DFEC}"/>
              </a:ext>
            </a:extLst>
          </p:cNvPr>
          <p:cNvSpPr>
            <a:spLocks noChangeArrowheads="1"/>
          </p:cNvSpPr>
          <p:nvPr/>
        </p:nvSpPr>
        <p:spPr bwMode="auto">
          <a:xfrm>
            <a:off x="4267200" y="3132249"/>
            <a:ext cx="457200" cy="293186"/>
          </a:xfrm>
          <a:prstGeom prst="lef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C00000"/>
              </a:solidFill>
            </a:endParaRPr>
          </a:p>
        </p:txBody>
      </p:sp>
      <p:sp>
        <p:nvSpPr>
          <p:cNvPr id="11" name="TextBox 10">
            <a:extLst>
              <a:ext uri="{FF2B5EF4-FFF2-40B4-BE49-F238E27FC236}">
                <a16:creationId xmlns:a16="http://schemas.microsoft.com/office/drawing/2014/main" id="{6E76B34B-A39B-4A6E-90BD-575781C16D0A}"/>
              </a:ext>
            </a:extLst>
          </p:cNvPr>
          <p:cNvSpPr txBox="1"/>
          <p:nvPr/>
        </p:nvSpPr>
        <p:spPr>
          <a:xfrm>
            <a:off x="4736462" y="5177494"/>
            <a:ext cx="3050628" cy="523220"/>
          </a:xfrm>
          <a:prstGeom prst="rect">
            <a:avLst/>
          </a:prstGeom>
          <a:noFill/>
        </p:spPr>
        <p:txBody>
          <a:bodyPr wrap="square" rtlCol="0">
            <a:spAutoFit/>
          </a:bodyPr>
          <a:lstStyle/>
          <a:p>
            <a:r>
              <a:rPr lang="en-US" sz="1400" i="1" dirty="0">
                <a:solidFill>
                  <a:srgbClr val="C00000"/>
                </a:solidFill>
              </a:rPr>
              <a:t>Note:</a:t>
            </a:r>
            <a:r>
              <a:rPr lang="en-US" sz="1400" dirty="0"/>
              <a:t> Long upper tail suggests positive skewness. Maybe high extremes?</a:t>
            </a:r>
          </a:p>
        </p:txBody>
      </p:sp>
      <p:sp>
        <p:nvSpPr>
          <p:cNvPr id="12" name="Left Arrow 7">
            <a:extLst>
              <a:ext uri="{FF2B5EF4-FFF2-40B4-BE49-F238E27FC236}">
                <a16:creationId xmlns:a16="http://schemas.microsoft.com/office/drawing/2014/main" id="{A0D9A0AE-CA3F-45B5-B731-0DDBE8D117A7}"/>
              </a:ext>
            </a:extLst>
          </p:cNvPr>
          <p:cNvSpPr>
            <a:spLocks noChangeArrowheads="1"/>
          </p:cNvSpPr>
          <p:nvPr/>
        </p:nvSpPr>
        <p:spPr bwMode="auto">
          <a:xfrm>
            <a:off x="4267200" y="5254225"/>
            <a:ext cx="457200" cy="293186"/>
          </a:xfrm>
          <a:prstGeom prst="leftArrow">
            <a:avLst>
              <a:gd name="adj1" fmla="val 50000"/>
              <a:gd name="adj2" fmla="val 50000"/>
            </a:avLst>
          </a:prstGeom>
          <a:solidFill>
            <a:srgbClr val="C00000"/>
          </a:solidFill>
          <a:ln w="9525" algn="ctr">
            <a:solidFill>
              <a:schemeClr val="tx1"/>
            </a:solidFill>
            <a:round/>
            <a:headEnd/>
            <a:tailEnd/>
          </a:ln>
        </p:spPr>
        <p:txBody>
          <a:bodyPr/>
          <a:lstStyle/>
          <a:p>
            <a:endParaRPr lang="en-US">
              <a:solidFill>
                <a:srgbClr val="C00000"/>
              </a:solidFill>
            </a:endParaRPr>
          </a:p>
        </p:txBody>
      </p:sp>
      <p:sp>
        <p:nvSpPr>
          <p:cNvPr id="14" name="TextBox 13">
            <a:extLst>
              <a:ext uri="{FF2B5EF4-FFF2-40B4-BE49-F238E27FC236}">
                <a16:creationId xmlns:a16="http://schemas.microsoft.com/office/drawing/2014/main" id="{492BBB2B-A6AF-48A7-B0C9-77596229FFC8}"/>
              </a:ext>
            </a:extLst>
          </p:cNvPr>
          <p:cNvSpPr txBox="1"/>
          <p:nvPr/>
        </p:nvSpPr>
        <p:spPr>
          <a:xfrm>
            <a:off x="4876800" y="3155959"/>
            <a:ext cx="2401614" cy="738664"/>
          </a:xfrm>
          <a:prstGeom prst="rect">
            <a:avLst/>
          </a:prstGeom>
          <a:noFill/>
        </p:spPr>
        <p:txBody>
          <a:bodyPr wrap="square" rtlCol="0">
            <a:spAutoFit/>
          </a:bodyPr>
          <a:lstStyle/>
          <a:p>
            <a:r>
              <a:rPr lang="en-US" sz="1400" i="1" dirty="0">
                <a:solidFill>
                  <a:srgbClr val="C00000"/>
                </a:solidFill>
              </a:rPr>
              <a:t>Note:</a:t>
            </a:r>
            <a:r>
              <a:rPr lang="en-US" sz="1400" dirty="0"/>
              <a:t> Possibly skewed right because mean exceeds median.</a:t>
            </a:r>
            <a:endParaRPr lang="en-US" sz="1400" dirty="0">
              <a:cs typeface="Lucida Sans Unicode" panose="020B0602030504020204" pitchFamily="34" charset="0"/>
            </a:endParaRPr>
          </a:p>
          <a:p>
            <a:endParaRPr lang="en-US" sz="1400" dirty="0"/>
          </a:p>
        </p:txBody>
      </p:sp>
      <p:pic>
        <p:nvPicPr>
          <p:cNvPr id="17" name="Picture 16" descr="A close up of a clock&#10;&#10;Description automatically generated">
            <a:extLst>
              <a:ext uri="{FF2B5EF4-FFF2-40B4-BE49-F238E27FC236}">
                <a16:creationId xmlns:a16="http://schemas.microsoft.com/office/drawing/2014/main" id="{38622E30-954D-4667-8E3A-C2703EE8A2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5200" y="5948462"/>
            <a:ext cx="615607" cy="590594"/>
          </a:xfrm>
          <a:prstGeom prst="rect">
            <a:avLst/>
          </a:prstGeom>
        </p:spPr>
      </p:pic>
    </p:spTree>
    <p:extLst>
      <p:ext uri="{BB962C8B-B14F-4D97-AF65-F5344CB8AC3E}">
        <p14:creationId xmlns:p14="http://schemas.microsoft.com/office/powerpoint/2010/main" val="1432374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Histogram</a:t>
            </a:r>
          </a:p>
        </p:txBody>
      </p:sp>
      <p:pic>
        <p:nvPicPr>
          <p:cNvPr id="11" name="Picture 10">
            <a:extLst>
              <a:ext uri="{FF2B5EF4-FFF2-40B4-BE49-F238E27FC236}">
                <a16:creationId xmlns:a16="http://schemas.microsoft.com/office/drawing/2014/main" id="{B993E29A-004C-4375-AFD0-6BD89A46C7BF}"/>
              </a:ext>
            </a:extLst>
          </p:cNvPr>
          <p:cNvPicPr>
            <a:picLocks noChangeAspect="1"/>
          </p:cNvPicPr>
          <p:nvPr/>
        </p:nvPicPr>
        <p:blipFill>
          <a:blip r:embed="rId2"/>
          <a:stretch>
            <a:fillRect/>
          </a:stretch>
        </p:blipFill>
        <p:spPr>
          <a:xfrm>
            <a:off x="4492335" y="2743200"/>
            <a:ext cx="4182701" cy="3200400"/>
          </a:xfrm>
          <a:prstGeom prst="rect">
            <a:avLst/>
          </a:prstGeom>
        </p:spPr>
      </p:pic>
      <p:sp>
        <p:nvSpPr>
          <p:cNvPr id="12" name="TextBox 11">
            <a:extLst>
              <a:ext uri="{FF2B5EF4-FFF2-40B4-BE49-F238E27FC236}">
                <a16:creationId xmlns:a16="http://schemas.microsoft.com/office/drawing/2014/main" id="{760F8C36-F7B3-4587-8620-B67292AA0919}"/>
              </a:ext>
            </a:extLst>
          </p:cNvPr>
          <p:cNvSpPr txBox="1"/>
          <p:nvPr/>
        </p:nvSpPr>
        <p:spPr>
          <a:xfrm>
            <a:off x="910933" y="1492120"/>
            <a:ext cx="7855531" cy="1138773"/>
          </a:xfrm>
          <a:prstGeom prst="rect">
            <a:avLst/>
          </a:prstGeom>
          <a:noFill/>
        </p:spPr>
        <p:txBody>
          <a:bodyPr wrap="square" rtlCol="0">
            <a:spAutoFit/>
          </a:bodyPr>
          <a:lstStyle/>
          <a:p>
            <a:r>
              <a:rPr lang="en-US" sz="2000" dirty="0"/>
              <a:t>Plot a simple histogram using </a:t>
            </a:r>
            <a:r>
              <a:rPr lang="en-US" sz="1400" dirty="0">
                <a:solidFill>
                  <a:srgbClr val="0000FF"/>
                </a:solidFill>
                <a:latin typeface="Lucida Console" panose="020B0609040504020204" pitchFamily="49" charset="0"/>
                <a:cs typeface="Lucida Sans Unicode" panose="020B0602030504020204" pitchFamily="34" charset="0"/>
              </a:rPr>
              <a:t>hist(x)</a:t>
            </a:r>
            <a:r>
              <a:rPr lang="en-US" sz="2000" dirty="0"/>
              <a:t>. The histogram appears in the lower right </a:t>
            </a:r>
            <a:r>
              <a:rPr lang="en-US" sz="1400" dirty="0">
                <a:solidFill>
                  <a:srgbClr val="0000FF"/>
                </a:solidFill>
                <a:latin typeface="Lucida Console" panose="020B0609040504020204" pitchFamily="49" charset="0"/>
                <a:cs typeface="Lucida Sans Unicode" panose="020B0602030504020204" pitchFamily="34" charset="0"/>
              </a:rPr>
              <a:t>Files</a:t>
            </a:r>
            <a:r>
              <a:rPr lang="en-US" sz="2000" dirty="0"/>
              <a:t> pane. It can be copied to the clipboard or exported to a file. </a:t>
            </a:r>
          </a:p>
          <a:p>
            <a:endParaRPr lang="en-US" sz="1400" dirty="0"/>
          </a:p>
          <a:p>
            <a:r>
              <a:rPr lang="en-US" sz="1400" dirty="0">
                <a:solidFill>
                  <a:srgbClr val="0000FF"/>
                </a:solidFill>
                <a:latin typeface="Lucida Console" panose="020B0609040504020204" pitchFamily="49" charset="0"/>
                <a:cs typeface="Lucida Sans Unicode" panose="020B0602030504020204" pitchFamily="34" charset="0"/>
              </a:rPr>
              <a:t>&gt; hist(</a:t>
            </a:r>
            <a:r>
              <a:rPr lang="en-US" sz="1400" dirty="0" err="1">
                <a:solidFill>
                  <a:srgbClr val="0000FF"/>
                </a:solidFill>
                <a:latin typeface="Lucida Console" panose="020B0609040504020204" pitchFamily="49" charset="0"/>
                <a:cs typeface="Lucida Sans Unicode" panose="020B0602030504020204" pitchFamily="34" charset="0"/>
              </a:rPr>
              <a:t>PEData$PERatio</a:t>
            </a:r>
            <a:r>
              <a:rPr lang="en-US" sz="1400" dirty="0">
                <a:solidFill>
                  <a:srgbClr val="0000FF"/>
                </a:solidFill>
                <a:latin typeface="Lucida Console" panose="020B0609040504020204" pitchFamily="49" charset="0"/>
                <a:cs typeface="Lucida Sans Unicode" panose="020B0602030504020204" pitchFamily="34" charset="0"/>
              </a:rPr>
              <a:t>)</a:t>
            </a:r>
            <a:endParaRPr lang="en-US" sz="2000" dirty="0"/>
          </a:p>
        </p:txBody>
      </p:sp>
      <p:sp>
        <p:nvSpPr>
          <p:cNvPr id="13" name="TextBox 12">
            <a:extLst>
              <a:ext uri="{FF2B5EF4-FFF2-40B4-BE49-F238E27FC236}">
                <a16:creationId xmlns:a16="http://schemas.microsoft.com/office/drawing/2014/main" id="{16A2C9B3-5328-4B49-B3D8-103A1C9B58AF}"/>
              </a:ext>
            </a:extLst>
          </p:cNvPr>
          <p:cNvSpPr txBox="1"/>
          <p:nvPr/>
        </p:nvSpPr>
        <p:spPr>
          <a:xfrm>
            <a:off x="1215733" y="4343400"/>
            <a:ext cx="1984667" cy="1631216"/>
          </a:xfrm>
          <a:prstGeom prst="rect">
            <a:avLst/>
          </a:prstGeom>
          <a:noFill/>
        </p:spPr>
        <p:txBody>
          <a:bodyPr wrap="square" rtlCol="0">
            <a:spAutoFit/>
          </a:bodyPr>
          <a:lstStyle/>
          <a:p>
            <a:r>
              <a:rPr lang="en-US" sz="1400" i="1" dirty="0">
                <a:solidFill>
                  <a:srgbClr val="C00000"/>
                </a:solidFill>
                <a:latin typeface="Calibri" panose="020F0502020204030204" pitchFamily="34" charset="0"/>
                <a:cs typeface="Calibri" panose="020F0502020204030204" pitchFamily="34" charset="0"/>
              </a:rPr>
              <a:t>Note: </a:t>
            </a:r>
            <a:r>
              <a:rPr lang="en-US" sz="1400" dirty="0">
                <a:latin typeface="+mj-lt"/>
                <a:cs typeface="Calibri" panose="020F0502020204030204" pitchFamily="34" charset="0"/>
              </a:rPr>
              <a:t>We omitted all optional arguments for the </a:t>
            </a:r>
            <a:r>
              <a:rPr lang="en-US" sz="1200" dirty="0">
                <a:solidFill>
                  <a:srgbClr val="0000FF"/>
                </a:solidFill>
                <a:latin typeface="Lucida Console" panose="020B0609040504020204" pitchFamily="49" charset="0"/>
                <a:cs typeface="Lucida Sans Unicode" panose="020B0602030504020204" pitchFamily="34" charset="0"/>
              </a:rPr>
              <a:t>hist() </a:t>
            </a:r>
            <a:r>
              <a:rPr lang="en-US" sz="1400" dirty="0">
                <a:latin typeface="+mj-lt"/>
                <a:cs typeface="Calibri" panose="020F0502020204030204" pitchFamily="34" charset="0"/>
              </a:rPr>
              <a:t>function so we got the default number of bins, based on Sturges' Rule (6 bins, 7 axis break points). </a:t>
            </a:r>
            <a:endParaRPr lang="en-US" dirty="0">
              <a:latin typeface="+mj-lt"/>
            </a:endParaRPr>
          </a:p>
        </p:txBody>
      </p:sp>
      <p:sp>
        <p:nvSpPr>
          <p:cNvPr id="14" name="Arrow: Right 13">
            <a:extLst>
              <a:ext uri="{FF2B5EF4-FFF2-40B4-BE49-F238E27FC236}">
                <a16:creationId xmlns:a16="http://schemas.microsoft.com/office/drawing/2014/main" id="{AAF3E684-301A-49B7-BE8D-F54F85C454E4}"/>
              </a:ext>
            </a:extLst>
          </p:cNvPr>
          <p:cNvSpPr/>
          <p:nvPr/>
        </p:nvSpPr>
        <p:spPr bwMode="auto">
          <a:xfrm>
            <a:off x="3465367" y="3466698"/>
            <a:ext cx="381000" cy="304800"/>
          </a:xfrm>
          <a:prstGeom prst="rightArrow">
            <a:avLst/>
          </a:prstGeom>
          <a:solidFill>
            <a:srgbClr val="C00000"/>
          </a:solidFill>
          <a:ln w="9525" algn="ctr">
            <a:solidFill>
              <a:schemeClr val="tx1"/>
            </a:solidFill>
            <a:round/>
            <a:headEnd/>
            <a:tailEnd/>
          </a:ln>
        </p:spPr>
        <p:txBody>
          <a:bodyPr/>
          <a:lstStyle/>
          <a:p>
            <a:endParaRPr lang="en-US">
              <a:solidFill>
                <a:srgbClr val="C00000"/>
              </a:solidFill>
            </a:endParaRPr>
          </a:p>
        </p:txBody>
      </p:sp>
      <p:sp>
        <p:nvSpPr>
          <p:cNvPr id="17" name="TextBox 16">
            <a:extLst>
              <a:ext uri="{FF2B5EF4-FFF2-40B4-BE49-F238E27FC236}">
                <a16:creationId xmlns:a16="http://schemas.microsoft.com/office/drawing/2014/main" id="{6AEDBF1F-E635-4206-9264-35A0DB5414F0}"/>
              </a:ext>
            </a:extLst>
          </p:cNvPr>
          <p:cNvSpPr txBox="1"/>
          <p:nvPr/>
        </p:nvSpPr>
        <p:spPr>
          <a:xfrm>
            <a:off x="1215732" y="3287473"/>
            <a:ext cx="1984668" cy="954107"/>
          </a:xfrm>
          <a:prstGeom prst="rect">
            <a:avLst/>
          </a:prstGeom>
          <a:noFill/>
        </p:spPr>
        <p:txBody>
          <a:bodyPr wrap="square" rtlCol="0">
            <a:spAutoFit/>
          </a:bodyPr>
          <a:lstStyle/>
          <a:p>
            <a:r>
              <a:rPr lang="en-US" sz="1400" i="1" dirty="0">
                <a:solidFill>
                  <a:srgbClr val="C00000"/>
                </a:solidFill>
              </a:rPr>
              <a:t>Note:</a:t>
            </a:r>
            <a:r>
              <a:rPr lang="en-US" sz="1400" dirty="0"/>
              <a:t> Upper tail is longer, which indicates positive skewness. </a:t>
            </a:r>
            <a:endParaRPr lang="en-US" sz="1400" dirty="0">
              <a:cs typeface="Lucida Sans Unicode" panose="020B0602030504020204" pitchFamily="34" charset="0"/>
            </a:endParaRPr>
          </a:p>
          <a:p>
            <a:endParaRPr lang="en-US" sz="1400" dirty="0"/>
          </a:p>
        </p:txBody>
      </p:sp>
      <p:sp>
        <p:nvSpPr>
          <p:cNvPr id="18" name="Arrow: Right 17">
            <a:extLst>
              <a:ext uri="{FF2B5EF4-FFF2-40B4-BE49-F238E27FC236}">
                <a16:creationId xmlns:a16="http://schemas.microsoft.com/office/drawing/2014/main" id="{10AE6153-D797-4A44-A04E-553E44C3D17A}"/>
              </a:ext>
            </a:extLst>
          </p:cNvPr>
          <p:cNvSpPr/>
          <p:nvPr/>
        </p:nvSpPr>
        <p:spPr bwMode="auto">
          <a:xfrm>
            <a:off x="3465367" y="5022801"/>
            <a:ext cx="381000" cy="304800"/>
          </a:xfrm>
          <a:prstGeom prst="rightArrow">
            <a:avLst/>
          </a:prstGeom>
          <a:solidFill>
            <a:srgbClr val="C00000"/>
          </a:solidFill>
          <a:ln w="9525" algn="ctr">
            <a:solidFill>
              <a:schemeClr val="tx1"/>
            </a:solidFill>
            <a:round/>
            <a:headEnd/>
            <a:tailEnd/>
          </a:ln>
        </p:spPr>
        <p:txBody>
          <a:bodyPr/>
          <a:lstStyle/>
          <a:p>
            <a:endParaRPr lang="en-US">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Histogram</a:t>
            </a:r>
          </a:p>
        </p:txBody>
      </p:sp>
      <p:sp>
        <p:nvSpPr>
          <p:cNvPr id="12" name="TextBox 11">
            <a:extLst>
              <a:ext uri="{FF2B5EF4-FFF2-40B4-BE49-F238E27FC236}">
                <a16:creationId xmlns:a16="http://schemas.microsoft.com/office/drawing/2014/main" id="{760F8C36-F7B3-4587-8620-B67292AA0919}"/>
              </a:ext>
            </a:extLst>
          </p:cNvPr>
          <p:cNvSpPr txBox="1"/>
          <p:nvPr/>
        </p:nvSpPr>
        <p:spPr>
          <a:xfrm>
            <a:off x="838200" y="1322455"/>
            <a:ext cx="7772400" cy="1231106"/>
          </a:xfrm>
          <a:prstGeom prst="rect">
            <a:avLst/>
          </a:prstGeom>
          <a:noFill/>
        </p:spPr>
        <p:txBody>
          <a:bodyPr wrap="square" rtlCol="0">
            <a:spAutoFit/>
          </a:bodyPr>
          <a:lstStyle/>
          <a:p>
            <a:r>
              <a:rPr lang="en-US" sz="2000" dirty="0"/>
              <a:t>To set the number of bins yourself, include the optional argument </a:t>
            </a:r>
            <a:r>
              <a:rPr lang="en-US" sz="1400" dirty="0">
                <a:solidFill>
                  <a:srgbClr val="0000FF"/>
                </a:solidFill>
                <a:latin typeface="Lucida Console" panose="020B0609040504020204" pitchFamily="49" charset="0"/>
                <a:cs typeface="Lucida Sans Unicode" panose="020B0602030504020204" pitchFamily="34" charset="0"/>
              </a:rPr>
              <a:t>breaks=k </a:t>
            </a:r>
            <a:r>
              <a:rPr lang="en-US" sz="2000" dirty="0"/>
              <a:t>to create </a:t>
            </a:r>
            <a:r>
              <a:rPr lang="en-US" sz="2000" i="1" dirty="0"/>
              <a:t>k</a:t>
            </a:r>
            <a:r>
              <a:rPr lang="en-US" sz="2000" dirty="0"/>
              <a:t>-1 bins. To choose a better axis label, include the </a:t>
            </a:r>
            <a:r>
              <a:rPr lang="en-US" sz="1400" dirty="0" err="1">
                <a:solidFill>
                  <a:srgbClr val="0000FF"/>
                </a:solidFill>
                <a:latin typeface="Lucida Console" panose="020B0609040504020204" pitchFamily="49" charset="0"/>
                <a:cs typeface="Lucida Sans Unicode" panose="020B0602030504020204" pitchFamily="34" charset="0"/>
              </a:rPr>
              <a:t>xlab</a:t>
            </a:r>
            <a:r>
              <a:rPr lang="en-US" sz="2000" dirty="0"/>
              <a:t> argument. </a:t>
            </a:r>
          </a:p>
          <a:p>
            <a:endParaRPr lang="en-US" sz="2000" dirty="0"/>
          </a:p>
          <a:p>
            <a:r>
              <a:rPr lang="en-US" sz="1400" dirty="0">
                <a:solidFill>
                  <a:srgbClr val="0000FF"/>
                </a:solidFill>
                <a:latin typeface="Lucida Console" panose="020B0609040504020204" pitchFamily="49" charset="0"/>
                <a:cs typeface="Lucida Sans Unicode" panose="020B0602030504020204" pitchFamily="34" charset="0"/>
              </a:rPr>
              <a:t>&gt; hist(</a:t>
            </a:r>
            <a:r>
              <a:rPr lang="en-US" sz="1400" dirty="0" err="1">
                <a:solidFill>
                  <a:srgbClr val="0000FF"/>
                </a:solidFill>
                <a:latin typeface="Lucida Console" panose="020B0609040504020204" pitchFamily="49" charset="0"/>
                <a:cs typeface="Lucida Sans Unicode" panose="020B0602030504020204" pitchFamily="34" charset="0"/>
              </a:rPr>
              <a:t>PEData$PERatio,xlab</a:t>
            </a:r>
            <a:r>
              <a:rPr lang="en-US" sz="1400" dirty="0">
                <a:solidFill>
                  <a:srgbClr val="0000FF"/>
                </a:solidFill>
                <a:latin typeface="Lucida Console" panose="020B0609040504020204" pitchFamily="49" charset="0"/>
                <a:cs typeface="Lucida Sans Unicode" panose="020B0602030504020204" pitchFamily="34" charset="0"/>
              </a:rPr>
              <a:t>="Price Earnings Ratio", breaks=12)</a:t>
            </a:r>
            <a:endParaRPr lang="en-US" sz="2000" dirty="0"/>
          </a:p>
        </p:txBody>
      </p:sp>
      <p:pic>
        <p:nvPicPr>
          <p:cNvPr id="4" name="Picture 3">
            <a:extLst>
              <a:ext uri="{FF2B5EF4-FFF2-40B4-BE49-F238E27FC236}">
                <a16:creationId xmlns:a16="http://schemas.microsoft.com/office/drawing/2014/main" id="{8E4EB01E-BB2C-4B83-A75F-B3F715F84646}"/>
              </a:ext>
            </a:extLst>
          </p:cNvPr>
          <p:cNvPicPr>
            <a:picLocks noChangeAspect="1"/>
          </p:cNvPicPr>
          <p:nvPr/>
        </p:nvPicPr>
        <p:blipFill>
          <a:blip r:embed="rId2"/>
          <a:stretch>
            <a:fillRect/>
          </a:stretch>
        </p:blipFill>
        <p:spPr>
          <a:xfrm>
            <a:off x="4580299" y="3048000"/>
            <a:ext cx="4182701" cy="3200400"/>
          </a:xfrm>
          <a:prstGeom prst="rect">
            <a:avLst/>
          </a:prstGeom>
        </p:spPr>
      </p:pic>
      <p:sp>
        <p:nvSpPr>
          <p:cNvPr id="5" name="TextBox 4">
            <a:extLst>
              <a:ext uri="{FF2B5EF4-FFF2-40B4-BE49-F238E27FC236}">
                <a16:creationId xmlns:a16="http://schemas.microsoft.com/office/drawing/2014/main" id="{07F3D9DA-1B8C-446F-900B-5DF2D40C8FE6}"/>
              </a:ext>
            </a:extLst>
          </p:cNvPr>
          <p:cNvSpPr txBox="1"/>
          <p:nvPr/>
        </p:nvSpPr>
        <p:spPr>
          <a:xfrm>
            <a:off x="950766" y="3723310"/>
            <a:ext cx="2518068" cy="738664"/>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For example, we requested 11 bins (12 axis breaks) and axis label “Price Earnings Ratio”.</a:t>
            </a:r>
          </a:p>
        </p:txBody>
      </p:sp>
      <p:sp>
        <p:nvSpPr>
          <p:cNvPr id="14" name="Arrow: Right 13">
            <a:extLst>
              <a:ext uri="{FF2B5EF4-FFF2-40B4-BE49-F238E27FC236}">
                <a16:creationId xmlns:a16="http://schemas.microsoft.com/office/drawing/2014/main" id="{138F6E7E-9459-4C38-9006-2E9D26957E69}"/>
              </a:ext>
            </a:extLst>
          </p:cNvPr>
          <p:cNvSpPr/>
          <p:nvPr/>
        </p:nvSpPr>
        <p:spPr bwMode="auto">
          <a:xfrm>
            <a:off x="3733800" y="4038600"/>
            <a:ext cx="381000" cy="304800"/>
          </a:xfrm>
          <a:prstGeom prst="rightArrow">
            <a:avLst/>
          </a:prstGeom>
          <a:solidFill>
            <a:srgbClr val="C00000"/>
          </a:solidFill>
          <a:ln w="9525" algn="ctr">
            <a:solidFill>
              <a:schemeClr val="tx1"/>
            </a:solidFill>
            <a:round/>
            <a:headEnd/>
            <a:tailEnd/>
          </a:ln>
        </p:spPr>
        <p:txBody>
          <a:bodyPr/>
          <a:lstStyle/>
          <a:p>
            <a:endParaRPr lang="en-US">
              <a:solidFill>
                <a:srgbClr val="C00000"/>
              </a:solidFill>
            </a:endParaRPr>
          </a:p>
        </p:txBody>
      </p:sp>
    </p:spTree>
    <p:extLst>
      <p:ext uri="{BB962C8B-B14F-4D97-AF65-F5344CB8AC3E}">
        <p14:creationId xmlns:p14="http://schemas.microsoft.com/office/powerpoint/2010/main" val="313952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Boxplot</a:t>
            </a:r>
          </a:p>
        </p:txBody>
      </p:sp>
      <p:sp>
        <p:nvSpPr>
          <p:cNvPr id="12" name="TextBox 11">
            <a:extLst>
              <a:ext uri="{FF2B5EF4-FFF2-40B4-BE49-F238E27FC236}">
                <a16:creationId xmlns:a16="http://schemas.microsoft.com/office/drawing/2014/main" id="{760F8C36-F7B3-4587-8620-B67292AA0919}"/>
              </a:ext>
            </a:extLst>
          </p:cNvPr>
          <p:cNvSpPr txBox="1"/>
          <p:nvPr/>
        </p:nvSpPr>
        <p:spPr>
          <a:xfrm>
            <a:off x="782338" y="1336681"/>
            <a:ext cx="7523462" cy="1446550"/>
          </a:xfrm>
          <a:prstGeom prst="rect">
            <a:avLst/>
          </a:prstGeom>
          <a:noFill/>
        </p:spPr>
        <p:txBody>
          <a:bodyPr wrap="square" rtlCol="0">
            <a:spAutoFit/>
          </a:bodyPr>
          <a:lstStyle/>
          <a:p>
            <a:r>
              <a:rPr lang="en-US" sz="2000" dirty="0"/>
              <a:t>Use </a:t>
            </a:r>
            <a:r>
              <a:rPr lang="en-US" sz="1400" dirty="0">
                <a:solidFill>
                  <a:srgbClr val="0000FF"/>
                </a:solidFill>
                <a:latin typeface="Lucida Console" panose="020B0609040504020204" pitchFamily="49" charset="0"/>
                <a:cs typeface="Lucida Sans Unicode" panose="020B0602030504020204" pitchFamily="34" charset="0"/>
              </a:rPr>
              <a:t>boxplot(x) </a:t>
            </a:r>
            <a:r>
              <a:rPr lang="en-US" sz="2000" dirty="0"/>
              <a:t>with an optional </a:t>
            </a:r>
            <a:r>
              <a:rPr lang="en-US" sz="1400" dirty="0" err="1">
                <a:solidFill>
                  <a:srgbClr val="0000FF"/>
                </a:solidFill>
                <a:latin typeface="Lucida Console" panose="020B0609040504020204" pitchFamily="49" charset="0"/>
                <a:cs typeface="Lucida Sans Unicode" panose="020B0602030504020204" pitchFamily="34" charset="0"/>
              </a:rPr>
              <a:t>ylab</a:t>
            </a:r>
            <a:r>
              <a:rPr lang="en-US" sz="1400" dirty="0">
                <a:solidFill>
                  <a:srgbClr val="0000FF"/>
                </a:solidFill>
                <a:latin typeface="Lucida Console" panose="020B0609040504020204" pitchFamily="49" charset="0"/>
                <a:cs typeface="Lucida Sans Unicode" panose="020B0602030504020204" pitchFamily="34" charset="0"/>
              </a:rPr>
              <a:t> </a:t>
            </a:r>
            <a:r>
              <a:rPr lang="en-US" sz="2000" dirty="0"/>
              <a:t>argument to label the vertical axis. The default boxplot shows the "box" (quartiles </a:t>
            </a:r>
            <a:r>
              <a:rPr lang="en-US" sz="2000" i="1" dirty="0"/>
              <a:t>q</a:t>
            </a:r>
            <a:r>
              <a:rPr lang="en-US" sz="2000" baseline="-25000" dirty="0"/>
              <a:t>1</a:t>
            </a:r>
            <a:r>
              <a:rPr lang="en-US" sz="2000" dirty="0"/>
              <a:t>, </a:t>
            </a:r>
            <a:r>
              <a:rPr lang="en-US" sz="2000" i="1" dirty="0"/>
              <a:t>q</a:t>
            </a:r>
            <a:r>
              <a:rPr lang="en-US" sz="2000" baseline="-25000" dirty="0"/>
              <a:t>2</a:t>
            </a:r>
            <a:r>
              <a:rPr lang="en-US" sz="2000" dirty="0"/>
              <a:t>, </a:t>
            </a:r>
            <a:r>
              <a:rPr lang="en-US" sz="2000" i="1" dirty="0"/>
              <a:t>q</a:t>
            </a:r>
            <a:r>
              <a:rPr lang="en-US" sz="2000" baseline="-25000" dirty="0"/>
              <a:t>3</a:t>
            </a:r>
            <a:r>
              <a:rPr lang="en-US" sz="2000" dirty="0"/>
              <a:t>)  and "whiskers" based on the interquartile range (see </a:t>
            </a:r>
            <a:r>
              <a:rPr lang="en-US" sz="1600" i="1" dirty="0">
                <a:solidFill>
                  <a:srgbClr val="C00000"/>
                </a:solidFill>
                <a:latin typeface="Calibri" panose="020F0502020204030204" pitchFamily="34" charset="0"/>
                <a:cs typeface="Calibri" panose="020F0502020204030204" pitchFamily="34" charset="0"/>
              </a:rPr>
              <a:t>Note</a:t>
            </a:r>
            <a:r>
              <a:rPr lang="en-US" sz="2000" dirty="0"/>
              <a:t> below).</a:t>
            </a:r>
          </a:p>
          <a:p>
            <a:r>
              <a:rPr lang="en-US" sz="1400" dirty="0"/>
              <a:t> </a:t>
            </a:r>
          </a:p>
          <a:p>
            <a:r>
              <a:rPr lang="en-US" sz="1400" dirty="0">
                <a:solidFill>
                  <a:srgbClr val="0000FF"/>
                </a:solidFill>
                <a:latin typeface="Lucida Console" panose="020B0609040504020204" pitchFamily="49" charset="0"/>
                <a:cs typeface="Lucida Sans Unicode" panose="020B0602030504020204" pitchFamily="34" charset="0"/>
              </a:rPr>
              <a:t>&gt; boxplot(</a:t>
            </a:r>
            <a:r>
              <a:rPr lang="en-US" sz="1400" dirty="0" err="1">
                <a:solidFill>
                  <a:srgbClr val="0000FF"/>
                </a:solidFill>
                <a:latin typeface="Lucida Console" panose="020B0609040504020204" pitchFamily="49" charset="0"/>
                <a:cs typeface="Lucida Sans Unicode" panose="020B0602030504020204" pitchFamily="34" charset="0"/>
              </a:rPr>
              <a:t>PEData$PERatio,ylab</a:t>
            </a:r>
            <a:r>
              <a:rPr lang="en-US" sz="1400" dirty="0">
                <a:solidFill>
                  <a:srgbClr val="0000FF"/>
                </a:solidFill>
                <a:latin typeface="Lucida Console" panose="020B0609040504020204" pitchFamily="49" charset="0"/>
                <a:cs typeface="Lucida Sans Unicode" panose="020B0602030504020204" pitchFamily="34" charset="0"/>
              </a:rPr>
              <a:t>="Price Earnings Ratio")</a:t>
            </a:r>
            <a:endParaRPr lang="en-US" sz="2000" dirty="0"/>
          </a:p>
        </p:txBody>
      </p:sp>
      <p:sp>
        <p:nvSpPr>
          <p:cNvPr id="5" name="TextBox 4">
            <a:extLst>
              <a:ext uri="{FF2B5EF4-FFF2-40B4-BE49-F238E27FC236}">
                <a16:creationId xmlns:a16="http://schemas.microsoft.com/office/drawing/2014/main" id="{07F3D9DA-1B8C-446F-900B-5DF2D40C8FE6}"/>
              </a:ext>
            </a:extLst>
          </p:cNvPr>
          <p:cNvSpPr txBox="1"/>
          <p:nvPr/>
        </p:nvSpPr>
        <p:spPr>
          <a:xfrm>
            <a:off x="782338" y="3163918"/>
            <a:ext cx="2799062" cy="1815882"/>
          </a:xfrm>
          <a:prstGeom prst="rect">
            <a:avLst/>
          </a:prstGeom>
          <a:noFill/>
        </p:spPr>
        <p:txBody>
          <a:bodyPr wrap="square" rtlCol="0">
            <a:spAutoFit/>
          </a:bodyPr>
          <a:lstStyle/>
          <a:p>
            <a:r>
              <a:rPr lang="en-US" sz="1400" i="1" dirty="0">
                <a:solidFill>
                  <a:srgbClr val="C00000"/>
                </a:solidFill>
                <a:latin typeface="Calibri" panose="020F0502020204030204" pitchFamily="34" charset="0"/>
                <a:cs typeface="Calibri" panose="020F0502020204030204" pitchFamily="34" charset="0"/>
              </a:rPr>
              <a:t>Note:</a:t>
            </a:r>
            <a:r>
              <a:rPr lang="en-US" sz="1400" dirty="0">
                <a:latin typeface="Calibri" panose="020F0502020204030204" pitchFamily="34" charset="0"/>
                <a:cs typeface="Calibri" panose="020F0502020204030204" pitchFamily="34" charset="0"/>
              </a:rPr>
              <a:t> The upper "whisker" is at </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3</a:t>
            </a:r>
            <a:r>
              <a:rPr lang="en-US" sz="1400" dirty="0">
                <a:latin typeface="Calibri" panose="020F0502020204030204" pitchFamily="34" charset="0"/>
                <a:cs typeface="Calibri" panose="020F0502020204030204" pitchFamily="34" charset="0"/>
              </a:rPr>
              <a:t>+1.5(</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3</a:t>
            </a:r>
            <a:r>
              <a:rPr lang="en-US" sz="1400" dirty="0">
                <a:latin typeface="Calibri" panose="020F0502020204030204" pitchFamily="34" charset="0"/>
                <a:cs typeface="Calibri" panose="020F0502020204030204" pitchFamily="34" charset="0"/>
              </a:rPr>
              <a:t>-</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1</a:t>
            </a:r>
            <a:r>
              <a:rPr lang="en-US" sz="1400" dirty="0">
                <a:latin typeface="Calibri" panose="020F0502020204030204" pitchFamily="34" charset="0"/>
                <a:cs typeface="Calibri" panose="020F0502020204030204" pitchFamily="34" charset="0"/>
              </a:rPr>
              <a:t>).  Data values above it are potential outliers. There are no data values below the lower "whisker" at </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1</a:t>
            </a:r>
            <a:r>
              <a:rPr lang="en-US" sz="1400" dirty="0">
                <a:latin typeface="Calibri" panose="020F0502020204030204" pitchFamily="34" charset="0"/>
                <a:cs typeface="Calibri" panose="020F0502020204030204" pitchFamily="34" charset="0"/>
              </a:rPr>
              <a:t>-1.5(</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3</a:t>
            </a:r>
            <a:r>
              <a:rPr lang="en-US" sz="1400" dirty="0">
                <a:latin typeface="Calibri" panose="020F0502020204030204" pitchFamily="34" charset="0"/>
                <a:cs typeface="Calibri" panose="020F0502020204030204" pitchFamily="34" charset="0"/>
              </a:rPr>
              <a:t>-</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1</a:t>
            </a:r>
            <a:r>
              <a:rPr lang="en-US" sz="1400" dirty="0">
                <a:latin typeface="Calibri" panose="020F0502020204030204" pitchFamily="34" charset="0"/>
                <a:cs typeface="Calibri" panose="020F0502020204030204" pitchFamily="34" charset="0"/>
              </a:rPr>
              <a:t>).  The whiskers are called the "upper inner fence" and "lower inner fence" respectively.</a:t>
            </a:r>
          </a:p>
        </p:txBody>
      </p:sp>
      <p:sp>
        <p:nvSpPr>
          <p:cNvPr id="14" name="Arrow: Right 13">
            <a:extLst>
              <a:ext uri="{FF2B5EF4-FFF2-40B4-BE49-F238E27FC236}">
                <a16:creationId xmlns:a16="http://schemas.microsoft.com/office/drawing/2014/main" id="{138F6E7E-9459-4C38-9006-2E9D26957E69}"/>
              </a:ext>
            </a:extLst>
          </p:cNvPr>
          <p:cNvSpPr/>
          <p:nvPr/>
        </p:nvSpPr>
        <p:spPr bwMode="auto">
          <a:xfrm>
            <a:off x="3715845" y="4080795"/>
            <a:ext cx="381000" cy="304800"/>
          </a:xfrm>
          <a:prstGeom prst="rightArrow">
            <a:avLst/>
          </a:prstGeom>
          <a:solidFill>
            <a:srgbClr val="C00000"/>
          </a:solidFill>
          <a:ln w="9525" algn="ctr">
            <a:solidFill>
              <a:schemeClr val="tx1"/>
            </a:solidFill>
            <a:round/>
            <a:headEnd/>
            <a:tailEnd/>
          </a:ln>
        </p:spPr>
        <p:txBody>
          <a:bodyPr/>
          <a:lstStyle/>
          <a:p>
            <a:endParaRPr lang="en-US">
              <a:solidFill>
                <a:srgbClr val="C00000"/>
              </a:solidFill>
            </a:endParaRPr>
          </a:p>
        </p:txBody>
      </p:sp>
      <p:pic>
        <p:nvPicPr>
          <p:cNvPr id="2" name="Picture 1">
            <a:extLst>
              <a:ext uri="{FF2B5EF4-FFF2-40B4-BE49-F238E27FC236}">
                <a16:creationId xmlns:a16="http://schemas.microsoft.com/office/drawing/2014/main" id="{C721B62E-8126-4996-B986-9BA0CB855092}"/>
              </a:ext>
            </a:extLst>
          </p:cNvPr>
          <p:cNvPicPr>
            <a:picLocks noChangeAspect="1"/>
          </p:cNvPicPr>
          <p:nvPr/>
        </p:nvPicPr>
        <p:blipFill>
          <a:blip r:embed="rId2"/>
          <a:stretch>
            <a:fillRect/>
          </a:stretch>
        </p:blipFill>
        <p:spPr>
          <a:xfrm>
            <a:off x="4343400" y="2768482"/>
            <a:ext cx="4226909" cy="3234226"/>
          </a:xfrm>
          <a:prstGeom prst="rect">
            <a:avLst/>
          </a:prstGeom>
        </p:spPr>
      </p:pic>
      <p:sp>
        <p:nvSpPr>
          <p:cNvPr id="8" name="TextBox 7">
            <a:extLst>
              <a:ext uri="{FF2B5EF4-FFF2-40B4-BE49-F238E27FC236}">
                <a16:creationId xmlns:a16="http://schemas.microsoft.com/office/drawing/2014/main" id="{D26AC640-E257-49A8-AD7F-B97D0EEB337D}"/>
              </a:ext>
            </a:extLst>
          </p:cNvPr>
          <p:cNvSpPr txBox="1"/>
          <p:nvPr/>
        </p:nvSpPr>
        <p:spPr>
          <a:xfrm>
            <a:off x="2209800" y="5683160"/>
            <a:ext cx="5621142" cy="307777"/>
          </a:xfrm>
          <a:prstGeom prst="rect">
            <a:avLst/>
          </a:prstGeom>
          <a:noFill/>
        </p:spPr>
        <p:txBody>
          <a:bodyPr wrap="square" rtlCol="0">
            <a:spAutoFit/>
          </a:bodyPr>
          <a:lstStyle/>
          <a:p>
            <a:r>
              <a:rPr lang="en-US" sz="1400" i="1" dirty="0">
                <a:solidFill>
                  <a:srgbClr val="C00000"/>
                </a:solidFill>
                <a:latin typeface="Calibri" panose="020F0502020204030204" pitchFamily="34" charset="0"/>
                <a:cs typeface="Calibri" panose="020F0502020204030204" pitchFamily="34" charset="0"/>
              </a:rPr>
              <a:t>Note:</a:t>
            </a:r>
            <a:r>
              <a:rPr lang="en-US" sz="1400" dirty="0">
                <a:latin typeface="Calibri" panose="020F0502020204030204" pitchFamily="34" charset="0"/>
                <a:cs typeface="Calibri" panose="020F0502020204030204" pitchFamily="34" charset="0"/>
              </a:rPr>
              <a:t> This definition of "outlier" is not the same as the </a:t>
            </a:r>
            <a:r>
              <a:rPr lang="en-US" sz="1400" i="1" dirty="0">
                <a:latin typeface="Calibri" panose="020F0502020204030204" pitchFamily="34" charset="0"/>
                <a:cs typeface="Calibri" panose="020F0502020204030204" pitchFamily="34" charset="0"/>
                <a:sym typeface="Symbol" panose="05050102010706020507" pitchFamily="18" charset="2"/>
              </a:rPr>
              <a:t></a:t>
            </a:r>
            <a:r>
              <a:rPr lang="en-US" sz="1400" dirty="0">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sym typeface="Symbol" panose="05050102010706020507" pitchFamily="18" charset="2"/>
              </a:rPr>
              <a:t></a:t>
            </a:r>
            <a:r>
              <a:rPr lang="en-US" sz="1400" dirty="0">
                <a:latin typeface="Calibri" panose="020F0502020204030204" pitchFamily="34" charset="0"/>
                <a:cs typeface="Calibri" panose="020F0502020204030204" pitchFamily="34" charset="0"/>
              </a:rPr>
              <a:t> 3</a:t>
            </a:r>
            <a:r>
              <a:rPr lang="en-US" sz="1400" i="1" dirty="0">
                <a:latin typeface="Calibri" panose="020F0502020204030204" pitchFamily="34" charset="0"/>
                <a:cs typeface="Calibri" panose="020F0502020204030204" pitchFamily="34" charset="0"/>
                <a:sym typeface="Symbol" panose="05050102010706020507" pitchFamily="18" charset="2"/>
              </a:rPr>
              <a:t></a:t>
            </a:r>
            <a:r>
              <a:rPr lang="en-US" sz="1400" dirty="0">
                <a:latin typeface="Calibri" panose="020F0502020204030204" pitchFamily="34" charset="0"/>
                <a:cs typeface="Calibri" panose="020F0502020204030204" pitchFamily="34" charset="0"/>
              </a:rPr>
              <a:t> criterion.</a:t>
            </a:r>
          </a:p>
        </p:txBody>
      </p:sp>
      <p:pic>
        <p:nvPicPr>
          <p:cNvPr id="9" name="Picture 2" descr="C:\Users\Blythe\AppData\Local\Microsoft\Windows\Temporary Internet Files\Content.IE5\DWBN8RIF\MC900431529[1].png">
            <a:extLst>
              <a:ext uri="{FF2B5EF4-FFF2-40B4-BE49-F238E27FC236}">
                <a16:creationId xmlns:a16="http://schemas.microsoft.com/office/drawing/2014/main" id="{C89F4F1C-04A9-40DA-BF6A-A0068DEC76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3058" y="5351123"/>
            <a:ext cx="838200"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0423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Boxplot</a:t>
            </a:r>
          </a:p>
        </p:txBody>
      </p:sp>
      <p:sp>
        <p:nvSpPr>
          <p:cNvPr id="12" name="TextBox 11">
            <a:extLst>
              <a:ext uri="{FF2B5EF4-FFF2-40B4-BE49-F238E27FC236}">
                <a16:creationId xmlns:a16="http://schemas.microsoft.com/office/drawing/2014/main" id="{760F8C36-F7B3-4587-8620-B67292AA0919}"/>
              </a:ext>
            </a:extLst>
          </p:cNvPr>
          <p:cNvSpPr txBox="1"/>
          <p:nvPr/>
        </p:nvSpPr>
        <p:spPr>
          <a:xfrm>
            <a:off x="782338" y="1336681"/>
            <a:ext cx="7752062" cy="1138773"/>
          </a:xfrm>
          <a:prstGeom prst="rect">
            <a:avLst/>
          </a:prstGeom>
          <a:noFill/>
        </p:spPr>
        <p:txBody>
          <a:bodyPr wrap="square" rtlCol="0">
            <a:spAutoFit/>
          </a:bodyPr>
          <a:lstStyle/>
          <a:p>
            <a:r>
              <a:rPr lang="en-US" sz="2000" dirty="0"/>
              <a:t>You can get a horizontal boxplot with the optional argument </a:t>
            </a:r>
            <a:r>
              <a:rPr lang="en-US" sz="1400" dirty="0">
                <a:solidFill>
                  <a:srgbClr val="0000FF"/>
                </a:solidFill>
                <a:latin typeface="Lucida Console" panose="020B0609040504020204" pitchFamily="49" charset="0"/>
                <a:cs typeface="Lucida Sans Unicode" panose="020B0602030504020204" pitchFamily="34" charset="0"/>
              </a:rPr>
              <a:t>horizontal=TRUE </a:t>
            </a:r>
            <a:r>
              <a:rPr lang="en-US" sz="2000" dirty="0"/>
              <a:t>and axis label using </a:t>
            </a:r>
            <a:r>
              <a:rPr lang="en-US" sz="1400" dirty="0" err="1">
                <a:solidFill>
                  <a:srgbClr val="0000FF"/>
                </a:solidFill>
                <a:latin typeface="Lucida Console" panose="020B0609040504020204" pitchFamily="49" charset="0"/>
                <a:cs typeface="Lucida Sans Unicode" panose="020B0602030504020204" pitchFamily="34" charset="0"/>
              </a:rPr>
              <a:t>xlab</a:t>
            </a:r>
            <a:r>
              <a:rPr lang="en-US" sz="2000" dirty="0"/>
              <a:t> instead of </a:t>
            </a:r>
            <a:r>
              <a:rPr lang="en-US" sz="1400" dirty="0" err="1">
                <a:solidFill>
                  <a:srgbClr val="0000FF"/>
                </a:solidFill>
                <a:latin typeface="Lucida Console" panose="020B0609040504020204" pitchFamily="49" charset="0"/>
                <a:cs typeface="Lucida Sans Unicode" panose="020B0602030504020204" pitchFamily="34" charset="0"/>
              </a:rPr>
              <a:t>ylab</a:t>
            </a:r>
            <a:r>
              <a:rPr lang="en-US" sz="2000" dirty="0"/>
              <a:t>.</a:t>
            </a:r>
          </a:p>
          <a:p>
            <a:endParaRPr lang="en-US" sz="1400" dirty="0"/>
          </a:p>
          <a:p>
            <a:r>
              <a:rPr lang="en-US" sz="1400" dirty="0">
                <a:solidFill>
                  <a:srgbClr val="0000FF"/>
                </a:solidFill>
                <a:latin typeface="Lucida Console" panose="020B0609040504020204" pitchFamily="49" charset="0"/>
                <a:cs typeface="Lucida Sans Unicode" panose="020B0602030504020204" pitchFamily="34" charset="0"/>
              </a:rPr>
              <a:t>&gt; boxplot(</a:t>
            </a:r>
            <a:r>
              <a:rPr lang="en-US" sz="1400" dirty="0" err="1">
                <a:solidFill>
                  <a:srgbClr val="0000FF"/>
                </a:solidFill>
                <a:latin typeface="Lucida Console" panose="020B0609040504020204" pitchFamily="49" charset="0"/>
                <a:cs typeface="Lucida Sans Unicode" panose="020B0602030504020204" pitchFamily="34" charset="0"/>
              </a:rPr>
              <a:t>PEData$PERatio,xlab</a:t>
            </a:r>
            <a:r>
              <a:rPr lang="en-US" sz="1400" dirty="0">
                <a:solidFill>
                  <a:srgbClr val="0000FF"/>
                </a:solidFill>
                <a:latin typeface="Lucida Console" panose="020B0609040504020204" pitchFamily="49" charset="0"/>
                <a:cs typeface="Lucida Sans Unicode" panose="020B0602030504020204" pitchFamily="34" charset="0"/>
              </a:rPr>
              <a:t>="Price Earnings </a:t>
            </a:r>
            <a:r>
              <a:rPr lang="en-US" sz="1400" dirty="0" err="1">
                <a:solidFill>
                  <a:srgbClr val="0000FF"/>
                </a:solidFill>
                <a:latin typeface="Lucida Console" panose="020B0609040504020204" pitchFamily="49" charset="0"/>
                <a:cs typeface="Lucida Sans Unicode" panose="020B0602030504020204" pitchFamily="34" charset="0"/>
              </a:rPr>
              <a:t>Ratio",horizontal</a:t>
            </a:r>
            <a:r>
              <a:rPr lang="en-US" sz="1400" dirty="0">
                <a:solidFill>
                  <a:srgbClr val="0000FF"/>
                </a:solidFill>
                <a:latin typeface="Lucida Console" panose="020B0609040504020204" pitchFamily="49" charset="0"/>
                <a:cs typeface="Lucida Sans Unicode" panose="020B0602030504020204" pitchFamily="34" charset="0"/>
              </a:rPr>
              <a:t>=TRUE)</a:t>
            </a:r>
            <a:endParaRPr lang="en-US" sz="2000" dirty="0"/>
          </a:p>
        </p:txBody>
      </p:sp>
      <p:sp>
        <p:nvSpPr>
          <p:cNvPr id="5" name="TextBox 4">
            <a:extLst>
              <a:ext uri="{FF2B5EF4-FFF2-40B4-BE49-F238E27FC236}">
                <a16:creationId xmlns:a16="http://schemas.microsoft.com/office/drawing/2014/main" id="{07F3D9DA-1B8C-446F-900B-5DF2D40C8FE6}"/>
              </a:ext>
            </a:extLst>
          </p:cNvPr>
          <p:cNvSpPr txBox="1"/>
          <p:nvPr/>
        </p:nvSpPr>
        <p:spPr>
          <a:xfrm>
            <a:off x="1114911" y="3465415"/>
            <a:ext cx="2165613" cy="954107"/>
          </a:xfrm>
          <a:prstGeom prst="rect">
            <a:avLst/>
          </a:prstGeom>
          <a:noFill/>
        </p:spPr>
        <p:txBody>
          <a:bodyPr wrap="square" rtlCol="0">
            <a:spAutoFit/>
          </a:bodyPr>
          <a:lstStyle/>
          <a:p>
            <a:r>
              <a:rPr lang="en-US" sz="1400" i="1" dirty="0">
                <a:solidFill>
                  <a:srgbClr val="C00000"/>
                </a:solidFill>
                <a:latin typeface="Calibri" panose="020F0502020204030204" pitchFamily="34" charset="0"/>
                <a:cs typeface="Calibri" panose="020F0502020204030204" pitchFamily="34" charset="0"/>
              </a:rPr>
              <a:t>Note:</a:t>
            </a:r>
            <a:r>
              <a:rPr lang="en-US" sz="1400" dirty="0">
                <a:latin typeface="Calibri" panose="020F0502020204030204" pitchFamily="34" charset="0"/>
                <a:cs typeface="Calibri" panose="020F0502020204030204" pitchFamily="34" charset="0"/>
              </a:rPr>
              <a:t> The upper "whisker" location is </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3</a:t>
            </a:r>
            <a:r>
              <a:rPr lang="en-US" sz="1400" dirty="0">
                <a:latin typeface="Calibri" panose="020F0502020204030204" pitchFamily="34" charset="0"/>
                <a:cs typeface="Calibri" panose="020F0502020204030204" pitchFamily="34" charset="0"/>
              </a:rPr>
              <a:t>+1.5(</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3</a:t>
            </a:r>
            <a:r>
              <a:rPr lang="en-US" sz="1400" dirty="0">
                <a:latin typeface="Calibri" panose="020F0502020204030204" pitchFamily="34" charset="0"/>
                <a:cs typeface="Calibri" panose="020F0502020204030204" pitchFamily="34" charset="0"/>
              </a:rPr>
              <a:t>-</a:t>
            </a:r>
            <a:r>
              <a:rPr lang="en-US" sz="1400" i="1" dirty="0">
                <a:latin typeface="Calibri" panose="020F0502020204030204" pitchFamily="34" charset="0"/>
                <a:cs typeface="Calibri" panose="020F0502020204030204" pitchFamily="34" charset="0"/>
              </a:rPr>
              <a:t>q</a:t>
            </a:r>
            <a:r>
              <a:rPr lang="en-US" sz="1400" baseline="-25000" dirty="0">
                <a:latin typeface="Calibri" panose="020F0502020204030204" pitchFamily="34" charset="0"/>
                <a:cs typeface="Calibri" panose="020F0502020204030204" pitchFamily="34" charset="0"/>
              </a:rPr>
              <a:t>1</a:t>
            </a:r>
            <a:r>
              <a:rPr lang="en-US" sz="1400" dirty="0">
                <a:latin typeface="Calibri" panose="020F0502020204030204" pitchFamily="34" charset="0"/>
                <a:cs typeface="Calibri" panose="020F0502020204030204" pitchFamily="34" charset="0"/>
              </a:rPr>
              <a:t>)</a:t>
            </a:r>
          </a:p>
          <a:p>
            <a:r>
              <a:rPr lang="en-US" sz="1400" dirty="0">
                <a:latin typeface="Calibri" panose="020F0502020204030204" pitchFamily="34" charset="0"/>
                <a:cs typeface="Calibri" panose="020F0502020204030204" pitchFamily="34" charset="0"/>
              </a:rPr>
              <a:t> = 24.5+1.5(24.5-13.0)</a:t>
            </a:r>
          </a:p>
          <a:p>
            <a:r>
              <a:rPr lang="en-US" sz="1400" dirty="0">
                <a:latin typeface="Calibri" panose="020F0502020204030204" pitchFamily="34" charset="0"/>
                <a:cs typeface="Calibri" panose="020F0502020204030204" pitchFamily="34" charset="0"/>
              </a:rPr>
              <a:t> = 41.75</a:t>
            </a:r>
          </a:p>
        </p:txBody>
      </p:sp>
      <p:sp>
        <p:nvSpPr>
          <p:cNvPr id="14" name="Arrow: Right 13">
            <a:extLst>
              <a:ext uri="{FF2B5EF4-FFF2-40B4-BE49-F238E27FC236}">
                <a16:creationId xmlns:a16="http://schemas.microsoft.com/office/drawing/2014/main" id="{138F6E7E-9459-4C38-9006-2E9D26957E69}"/>
              </a:ext>
            </a:extLst>
          </p:cNvPr>
          <p:cNvSpPr/>
          <p:nvPr/>
        </p:nvSpPr>
        <p:spPr bwMode="auto">
          <a:xfrm>
            <a:off x="3581400" y="3706765"/>
            <a:ext cx="381000" cy="304800"/>
          </a:xfrm>
          <a:prstGeom prst="rightArrow">
            <a:avLst/>
          </a:prstGeom>
          <a:solidFill>
            <a:srgbClr val="C00000"/>
          </a:solidFill>
          <a:ln w="9525" algn="ctr">
            <a:solidFill>
              <a:schemeClr val="tx1"/>
            </a:solidFill>
            <a:round/>
            <a:headEnd/>
            <a:tailEnd/>
          </a:ln>
        </p:spPr>
        <p:txBody>
          <a:bodyPr/>
          <a:lstStyle/>
          <a:p>
            <a:endParaRPr lang="en-US">
              <a:solidFill>
                <a:srgbClr val="C00000"/>
              </a:solidFill>
            </a:endParaRPr>
          </a:p>
        </p:txBody>
      </p:sp>
      <p:sp>
        <p:nvSpPr>
          <p:cNvPr id="8" name="TextBox 7">
            <a:extLst>
              <a:ext uri="{FF2B5EF4-FFF2-40B4-BE49-F238E27FC236}">
                <a16:creationId xmlns:a16="http://schemas.microsoft.com/office/drawing/2014/main" id="{D26AC640-E257-49A8-AD7F-B97D0EEB337D}"/>
              </a:ext>
            </a:extLst>
          </p:cNvPr>
          <p:cNvSpPr txBox="1"/>
          <p:nvPr/>
        </p:nvSpPr>
        <p:spPr>
          <a:xfrm>
            <a:off x="2209800" y="5683160"/>
            <a:ext cx="5621142" cy="307777"/>
          </a:xfrm>
          <a:prstGeom prst="rect">
            <a:avLst/>
          </a:prstGeom>
          <a:noFill/>
        </p:spPr>
        <p:txBody>
          <a:bodyPr wrap="square" rtlCol="0">
            <a:spAutoFit/>
          </a:bodyPr>
          <a:lstStyle/>
          <a:p>
            <a:r>
              <a:rPr lang="en-US" sz="1400" i="1" dirty="0">
                <a:solidFill>
                  <a:srgbClr val="C00000"/>
                </a:solidFill>
                <a:latin typeface="Calibri" panose="020F0502020204030204" pitchFamily="34" charset="0"/>
                <a:cs typeface="Calibri" panose="020F0502020204030204" pitchFamily="34" charset="0"/>
              </a:rPr>
              <a:t>Note:</a:t>
            </a:r>
            <a:r>
              <a:rPr lang="en-US" sz="1400" dirty="0">
                <a:latin typeface="Calibri" panose="020F0502020204030204" pitchFamily="34" charset="0"/>
                <a:cs typeface="Calibri" panose="020F0502020204030204" pitchFamily="34" charset="0"/>
              </a:rPr>
              <a:t> This definition of "outlier" is not the same as the </a:t>
            </a:r>
            <a:r>
              <a:rPr lang="en-US" sz="1400" i="1" dirty="0">
                <a:latin typeface="Calibri" panose="020F0502020204030204" pitchFamily="34" charset="0"/>
                <a:cs typeface="Calibri" panose="020F0502020204030204" pitchFamily="34" charset="0"/>
                <a:sym typeface="Symbol" panose="05050102010706020507" pitchFamily="18" charset="2"/>
              </a:rPr>
              <a:t></a:t>
            </a:r>
            <a:r>
              <a:rPr lang="en-US" sz="1400" dirty="0">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sym typeface="Symbol" panose="05050102010706020507" pitchFamily="18" charset="2"/>
              </a:rPr>
              <a:t></a:t>
            </a:r>
            <a:r>
              <a:rPr lang="en-US" sz="1400" dirty="0">
                <a:latin typeface="Calibri" panose="020F0502020204030204" pitchFamily="34" charset="0"/>
                <a:cs typeface="Calibri" panose="020F0502020204030204" pitchFamily="34" charset="0"/>
              </a:rPr>
              <a:t> 3</a:t>
            </a:r>
            <a:r>
              <a:rPr lang="en-US" sz="1400" i="1" dirty="0">
                <a:latin typeface="Calibri" panose="020F0502020204030204" pitchFamily="34" charset="0"/>
                <a:cs typeface="Calibri" panose="020F0502020204030204" pitchFamily="34" charset="0"/>
                <a:sym typeface="Symbol" panose="05050102010706020507" pitchFamily="18" charset="2"/>
              </a:rPr>
              <a:t></a:t>
            </a:r>
            <a:r>
              <a:rPr lang="en-US" sz="1400" dirty="0">
                <a:latin typeface="Calibri" panose="020F0502020204030204" pitchFamily="34" charset="0"/>
                <a:cs typeface="Calibri" panose="020F0502020204030204" pitchFamily="34" charset="0"/>
              </a:rPr>
              <a:t> criterion.</a:t>
            </a:r>
          </a:p>
        </p:txBody>
      </p:sp>
      <p:pic>
        <p:nvPicPr>
          <p:cNvPr id="9" name="Picture 2" descr="C:\Users\Blythe\AppData\Local\Microsoft\Windows\Temporary Internet Files\Content.IE5\DWBN8RIF\MC900431529[1].png">
            <a:extLst>
              <a:ext uri="{FF2B5EF4-FFF2-40B4-BE49-F238E27FC236}">
                <a16:creationId xmlns:a16="http://schemas.microsoft.com/office/drawing/2014/main" id="{C89F4F1C-04A9-40DA-BF6A-A0068DEC76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3058" y="5351123"/>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84BB00E-37B3-4634-8123-03FD60D7EB45}"/>
              </a:ext>
            </a:extLst>
          </p:cNvPr>
          <p:cNvPicPr>
            <a:picLocks noChangeAspect="1"/>
          </p:cNvPicPr>
          <p:nvPr/>
        </p:nvPicPr>
        <p:blipFill>
          <a:blip r:embed="rId3"/>
          <a:stretch>
            <a:fillRect/>
          </a:stretch>
        </p:blipFill>
        <p:spPr>
          <a:xfrm>
            <a:off x="4259065" y="2583223"/>
            <a:ext cx="3733486" cy="2856683"/>
          </a:xfrm>
          <a:prstGeom prst="rect">
            <a:avLst/>
          </a:prstGeom>
        </p:spPr>
      </p:pic>
    </p:spTree>
    <p:extLst>
      <p:ext uri="{BB962C8B-B14F-4D97-AF65-F5344CB8AC3E}">
        <p14:creationId xmlns:p14="http://schemas.microsoft.com/office/powerpoint/2010/main" val="105716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Several Variables</a:t>
            </a:r>
          </a:p>
        </p:txBody>
      </p:sp>
      <p:sp>
        <p:nvSpPr>
          <p:cNvPr id="6" name="TextBox 5">
            <a:extLst>
              <a:ext uri="{FF2B5EF4-FFF2-40B4-BE49-F238E27FC236}">
                <a16:creationId xmlns:a16="http://schemas.microsoft.com/office/drawing/2014/main" id="{EDCFBBE0-6B2A-4257-A3B0-06687B0F5A9D}"/>
              </a:ext>
            </a:extLst>
          </p:cNvPr>
          <p:cNvSpPr txBox="1"/>
          <p:nvPr/>
        </p:nvSpPr>
        <p:spPr>
          <a:xfrm>
            <a:off x="1066800" y="1274082"/>
            <a:ext cx="7239000" cy="1015663"/>
          </a:xfrm>
          <a:prstGeom prst="rect">
            <a:avLst/>
          </a:prstGeom>
          <a:noFill/>
        </p:spPr>
        <p:txBody>
          <a:bodyPr wrap="square" rtlCol="0">
            <a:spAutoFit/>
          </a:bodyPr>
          <a:lstStyle/>
          <a:p>
            <a:r>
              <a:rPr lang="en-US" sz="2000" dirty="0">
                <a:latin typeface="Times New Roman" pitchFamily="18" charset="0"/>
              </a:rPr>
              <a:t>Suppose we have an Excel spreadsheet (50 rows, 13 columns) with data for a sample of 2020 vehicles (abbreviated here). We want to import the data into a </a:t>
            </a:r>
            <a:r>
              <a:rPr lang="en-US" sz="2000" dirty="0">
                <a:solidFill>
                  <a:srgbClr val="CC0000"/>
                </a:solidFill>
                <a:latin typeface="Times New Roman" pitchFamily="18" charset="0"/>
              </a:rPr>
              <a:t>data frame </a:t>
            </a:r>
            <a:r>
              <a:rPr lang="en-US" sz="2000" dirty="0">
                <a:latin typeface="Times New Roman" pitchFamily="18" charset="0"/>
              </a:rPr>
              <a:t>in R.</a:t>
            </a:r>
            <a:endParaRPr lang="en-US" sz="2000" dirty="0"/>
          </a:p>
        </p:txBody>
      </p:sp>
      <p:pic>
        <p:nvPicPr>
          <p:cNvPr id="7" name="Picture 6" descr="A screenshot of a computer&#10;&#10;Description automatically generated">
            <a:extLst>
              <a:ext uri="{FF2B5EF4-FFF2-40B4-BE49-F238E27FC236}">
                <a16:creationId xmlns:a16="http://schemas.microsoft.com/office/drawing/2014/main" id="{5F55235F-5341-4425-9A65-772860BA41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2723746"/>
            <a:ext cx="7606782" cy="1790268"/>
          </a:xfrm>
          <a:prstGeom prst="rect">
            <a:avLst/>
          </a:prstGeom>
        </p:spPr>
      </p:pic>
      <p:sp>
        <p:nvSpPr>
          <p:cNvPr id="8" name="TextBox 7">
            <a:extLst>
              <a:ext uri="{FF2B5EF4-FFF2-40B4-BE49-F238E27FC236}">
                <a16:creationId xmlns:a16="http://schemas.microsoft.com/office/drawing/2014/main" id="{55C4AF19-4601-4FDB-BAAA-82F05716394F}"/>
              </a:ext>
            </a:extLst>
          </p:cNvPr>
          <p:cNvSpPr txBox="1"/>
          <p:nvPr/>
        </p:nvSpPr>
        <p:spPr>
          <a:xfrm>
            <a:off x="3657600" y="5006320"/>
            <a:ext cx="4383232" cy="1169551"/>
          </a:xfrm>
          <a:prstGeom prst="rect">
            <a:avLst/>
          </a:prstGeom>
          <a:noFill/>
        </p:spPr>
        <p:txBody>
          <a:bodyPr wrap="square" rtlCol="0">
            <a:spAutoFit/>
          </a:bodyPr>
          <a:lstStyle/>
          <a:p>
            <a:r>
              <a:rPr lang="en-US" sz="1400" i="1" dirty="0">
                <a:solidFill>
                  <a:srgbClr val="C00000"/>
                </a:solidFill>
                <a:latin typeface="Calibri" panose="020F0502020204030204" pitchFamily="34" charset="0"/>
                <a:cs typeface="Calibri" panose="020F0502020204030204" pitchFamily="34" charset="0"/>
              </a:rPr>
              <a:t>Caution:</a:t>
            </a:r>
            <a:r>
              <a:rPr lang="en-US" sz="1400" dirty="0">
                <a:solidFill>
                  <a:srgbClr val="C00000"/>
                </a:solidFill>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rPr>
              <a:t>For import to R we avoid </a:t>
            </a:r>
            <a:r>
              <a:rPr lang="en-US" sz="1400" i="1" dirty="0">
                <a:latin typeface="Calibri" panose="020F0502020204030204" pitchFamily="34" charset="0"/>
                <a:cs typeface="Calibri" panose="020F0502020204030204" pitchFamily="34" charset="0"/>
              </a:rPr>
              <a:t>c</a:t>
            </a:r>
            <a:r>
              <a:rPr lang="en-US" sz="1400" dirty="0">
                <a:latin typeface="Calibri" panose="020F0502020204030204" pitchFamily="34" charset="0"/>
                <a:cs typeface="Calibri" panose="020F0502020204030204" pitchFamily="34" charset="0"/>
              </a:rPr>
              <a:t>olumn names that begin with a number or contain symbols like $ or %. Import issues may also arise from Excel's comma or dollar format (e.g., $12,345) depending on how you import the data (e.g., clipboard method).</a:t>
            </a:r>
          </a:p>
        </p:txBody>
      </p:sp>
      <p:pic>
        <p:nvPicPr>
          <p:cNvPr id="11" name="Picture 2" descr="C:\Users\Blythe\AppData\Local\Microsoft\Windows\Temporary Internet Files\Content.IE5\DWBN8RIF\MC900431529[1].png">
            <a:extLst>
              <a:ext uri="{FF2B5EF4-FFF2-40B4-BE49-F238E27FC236}">
                <a16:creationId xmlns:a16="http://schemas.microsoft.com/office/drawing/2014/main" id="{2544ACB3-210B-48C4-AC32-2FCB336D89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5051286"/>
            <a:ext cx="838200"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813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Data Import</a:t>
            </a:r>
          </a:p>
        </p:txBody>
      </p:sp>
      <p:sp>
        <p:nvSpPr>
          <p:cNvPr id="6" name="TextBox 5">
            <a:extLst>
              <a:ext uri="{FF2B5EF4-FFF2-40B4-BE49-F238E27FC236}">
                <a16:creationId xmlns:a16="http://schemas.microsoft.com/office/drawing/2014/main" id="{812F2E81-243C-4BAB-A27E-AD051677B827}"/>
              </a:ext>
            </a:extLst>
          </p:cNvPr>
          <p:cNvSpPr txBox="1"/>
          <p:nvPr/>
        </p:nvSpPr>
        <p:spPr>
          <a:xfrm>
            <a:off x="838200" y="1524000"/>
            <a:ext cx="7772400" cy="3108543"/>
          </a:xfrm>
          <a:prstGeom prst="rect">
            <a:avLst/>
          </a:prstGeom>
          <a:noFill/>
        </p:spPr>
        <p:txBody>
          <a:bodyPr wrap="square" rtlCol="0">
            <a:spAutoFit/>
          </a:bodyPr>
          <a:lstStyle/>
          <a:p>
            <a:r>
              <a:rPr lang="en-US" sz="2000" dirty="0">
                <a:latin typeface="Times New Roman" pitchFamily="18" charset="0"/>
              </a:rPr>
              <a:t>Highlight the data block in Excel (including column headings) and copy it to the clipboard using </a:t>
            </a:r>
            <a:r>
              <a:rPr lang="en-US" sz="1400" dirty="0" err="1">
                <a:solidFill>
                  <a:srgbClr val="0000FF"/>
                </a:solidFill>
                <a:latin typeface="Lucida Console" panose="020B0609040504020204" pitchFamily="49" charset="0"/>
                <a:cs typeface="Lucida Sans Unicode" panose="020B0602030504020204" pitchFamily="34" charset="0"/>
              </a:rPr>
              <a:t>Ctrl+c</a:t>
            </a:r>
            <a:r>
              <a:rPr lang="en-US" sz="2000" dirty="0">
                <a:latin typeface="Times New Roman" pitchFamily="18" charset="0"/>
              </a:rPr>
              <a:t> (Windows) or </a:t>
            </a:r>
            <a:r>
              <a:rPr lang="en-US" sz="1400" dirty="0" err="1">
                <a:solidFill>
                  <a:srgbClr val="0000FF"/>
                </a:solidFill>
                <a:latin typeface="Lucida Console" panose="020B0609040504020204" pitchFamily="49" charset="0"/>
                <a:cs typeface="Lucida Sans Unicode" panose="020B0602030504020204" pitchFamily="34" charset="0"/>
              </a:rPr>
              <a:t>command+c</a:t>
            </a:r>
            <a:r>
              <a:rPr lang="en-US" sz="2000" dirty="0">
                <a:latin typeface="Times New Roman" pitchFamily="18" charset="0"/>
              </a:rPr>
              <a:t> (MacOS). Now enter (for Windows):</a:t>
            </a:r>
          </a:p>
          <a:p>
            <a:r>
              <a:rPr lang="en-US" sz="1200" dirty="0">
                <a:latin typeface="Times New Roman" pitchFamily="18" charset="0"/>
              </a:rPr>
              <a:t> </a:t>
            </a: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solidFill>
                  <a:srgbClr val="0000FF"/>
                </a:solidFill>
                <a:latin typeface="Lucida Console" panose="020B0609040504020204" pitchFamily="49" charset="0"/>
                <a:cs typeface="Lucida Sans Unicode" panose="020B0602030504020204" pitchFamily="34" charset="0"/>
              </a:rPr>
              <a:t> = </a:t>
            </a:r>
            <a:r>
              <a:rPr lang="en-US" sz="1400" dirty="0" err="1">
                <a:solidFill>
                  <a:srgbClr val="0000FF"/>
                </a:solidFill>
                <a:latin typeface="Lucida Console" panose="020B0609040504020204" pitchFamily="49" charset="0"/>
                <a:cs typeface="Lucida Sans Unicode" panose="020B0602030504020204" pitchFamily="34" charset="0"/>
              </a:rPr>
              <a:t>read.table</a:t>
            </a:r>
            <a:r>
              <a:rPr lang="en-US" sz="1400" dirty="0">
                <a:solidFill>
                  <a:srgbClr val="0000FF"/>
                </a:solidFill>
                <a:latin typeface="Lucida Console" panose="020B0609040504020204" pitchFamily="49" charset="0"/>
                <a:cs typeface="Lucida Sans Unicode" panose="020B0602030504020204" pitchFamily="34" charset="0"/>
              </a:rPr>
              <a:t>(file="clipboard",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 header=TRUE)</a:t>
            </a:r>
          </a:p>
          <a:p>
            <a:r>
              <a:rPr lang="en-US" sz="1200" dirty="0"/>
              <a:t> </a:t>
            </a:r>
          </a:p>
          <a:p>
            <a:r>
              <a:rPr lang="en-US" sz="2000" dirty="0">
                <a:latin typeface="Times New Roman" pitchFamily="18" charset="0"/>
              </a:rPr>
              <a:t>For MacOS you would enter</a:t>
            </a:r>
          </a:p>
          <a:p>
            <a:r>
              <a:rPr lang="en-US" sz="1200" dirty="0"/>
              <a:t> </a:t>
            </a:r>
          </a:p>
          <a:p>
            <a:pPr latinLnBrk="1"/>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solidFill>
                  <a:srgbClr val="0000FF"/>
                </a:solidFill>
                <a:latin typeface="Lucida Console" panose="020B0609040504020204" pitchFamily="49" charset="0"/>
                <a:cs typeface="Lucida Sans Unicode" panose="020B0602030504020204" pitchFamily="34" charset="0"/>
              </a:rPr>
              <a:t> = </a:t>
            </a:r>
            <a:r>
              <a:rPr lang="en-US" sz="1400" dirty="0" err="1">
                <a:solidFill>
                  <a:srgbClr val="0000FF"/>
                </a:solidFill>
                <a:latin typeface="Lucida Console" panose="020B0609040504020204" pitchFamily="49" charset="0"/>
                <a:cs typeface="Lucida Sans Unicode" panose="020B0602030504020204" pitchFamily="34" charset="0"/>
              </a:rPr>
              <a:t>read.table</a:t>
            </a:r>
            <a:r>
              <a:rPr lang="en-US" sz="1400" dirty="0">
                <a:solidFill>
                  <a:srgbClr val="0000FF"/>
                </a:solidFill>
                <a:latin typeface="Lucida Console" panose="020B0609040504020204" pitchFamily="49" charset="0"/>
                <a:cs typeface="Lucida Sans Unicode" panose="020B0602030504020204" pitchFamily="34" charset="0"/>
              </a:rPr>
              <a:t>(pipe("</a:t>
            </a:r>
            <a:r>
              <a:rPr lang="en-US" sz="1400" dirty="0" err="1">
                <a:solidFill>
                  <a:srgbClr val="0000FF"/>
                </a:solidFill>
                <a:latin typeface="Lucida Console" panose="020B0609040504020204" pitchFamily="49" charset="0"/>
                <a:cs typeface="Lucida Sans Unicode" panose="020B0602030504020204" pitchFamily="34" charset="0"/>
              </a:rPr>
              <a:t>pbpaste</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 header=TRUE)</a:t>
            </a:r>
          </a:p>
          <a:p>
            <a:r>
              <a:rPr lang="en-US" sz="1200" dirty="0"/>
              <a:t> </a:t>
            </a:r>
          </a:p>
          <a:p>
            <a:r>
              <a:rPr lang="en-US" sz="2000" dirty="0">
                <a:latin typeface="Times New Roman" pitchFamily="18" charset="0"/>
              </a:rPr>
              <a:t>The argument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a:t>
            </a:r>
            <a:r>
              <a:rPr lang="en-US" sz="1400" dirty="0">
                <a:solidFill>
                  <a:srgbClr val="0000FF"/>
                </a:solidFill>
                <a:latin typeface="Lucida Sans Unicode" panose="020B0602030504020204" pitchFamily="34" charset="0"/>
                <a:cs typeface="Lucida Sans Unicode" panose="020B0602030504020204" pitchFamily="34" charset="0"/>
              </a:rPr>
              <a:t> </a:t>
            </a:r>
            <a:r>
              <a:rPr lang="en-US" sz="2000" dirty="0">
                <a:latin typeface="Times New Roman" pitchFamily="18" charset="0"/>
              </a:rPr>
              <a:t>tells R that the columns are tab-separated. The argument </a:t>
            </a:r>
            <a:r>
              <a:rPr lang="en-US" sz="1400" dirty="0">
                <a:solidFill>
                  <a:srgbClr val="0000FF"/>
                </a:solidFill>
                <a:latin typeface="Lucida Console" panose="020B0609040504020204" pitchFamily="49" charset="0"/>
                <a:cs typeface="Lucida Sans Unicode" panose="020B0602030504020204" pitchFamily="34" charset="0"/>
              </a:rPr>
              <a:t>header=TRUE </a:t>
            </a:r>
            <a:r>
              <a:rPr lang="en-US" sz="2000" dirty="0">
                <a:latin typeface="Times New Roman" pitchFamily="18" charset="0"/>
              </a:rPr>
              <a:t>tells R to expect text headings on each column. </a:t>
            </a:r>
          </a:p>
        </p:txBody>
      </p:sp>
    </p:spTree>
    <p:extLst>
      <p:ext uri="{BB962C8B-B14F-4D97-AF65-F5344CB8AC3E}">
        <p14:creationId xmlns:p14="http://schemas.microsoft.com/office/powerpoint/2010/main" val="4006863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Descriptive Statistics</a:t>
            </a:r>
          </a:p>
        </p:txBody>
      </p:sp>
      <p:sp>
        <p:nvSpPr>
          <p:cNvPr id="3" name="TextBox 2">
            <a:extLst>
              <a:ext uri="{FF2B5EF4-FFF2-40B4-BE49-F238E27FC236}">
                <a16:creationId xmlns:a16="http://schemas.microsoft.com/office/drawing/2014/main" id="{B37E3BFE-037F-4DCA-8528-8595DE815355}"/>
              </a:ext>
            </a:extLst>
          </p:cNvPr>
          <p:cNvSpPr txBox="1"/>
          <p:nvPr/>
        </p:nvSpPr>
        <p:spPr>
          <a:xfrm>
            <a:off x="876300" y="1505396"/>
            <a:ext cx="7391400" cy="3847207"/>
          </a:xfrm>
          <a:prstGeom prst="rect">
            <a:avLst/>
          </a:prstGeom>
          <a:noFill/>
        </p:spPr>
        <p:txBody>
          <a:bodyPr wrap="square" rtlCol="0">
            <a:spAutoFit/>
          </a:bodyPr>
          <a:lstStyle/>
          <a:p>
            <a:r>
              <a:rPr lang="en-US" sz="2000" dirty="0">
                <a:latin typeface="Times New Roman" pitchFamily="18" charset="0"/>
              </a:rPr>
              <a:t>We imported our spreadsheet columns to a data frame we named </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2000" dirty="0">
                <a:latin typeface="Times New Roman" pitchFamily="18" charset="0"/>
              </a:rPr>
              <a:t>. Now we can view the data, calculate statistics, and so on. For example, to calculate average city miles per gallon, we use the function </a:t>
            </a:r>
            <a:r>
              <a:rPr lang="en-US" sz="1400" dirty="0">
                <a:solidFill>
                  <a:srgbClr val="0000FF"/>
                </a:solidFill>
                <a:latin typeface="Lucida Console" panose="020B0609040504020204" pitchFamily="49" charset="0"/>
                <a:cs typeface="Lucida Sans Unicode" panose="020B0602030504020204" pitchFamily="34" charset="0"/>
              </a:rPr>
              <a:t>mean(x)</a:t>
            </a:r>
            <a:r>
              <a:rPr lang="en-US" sz="2000" dirty="0">
                <a:latin typeface="Times New Roman" pitchFamily="18" charset="0"/>
              </a:rPr>
              <a:t> where </a:t>
            </a:r>
            <a:r>
              <a:rPr lang="en-US" sz="1400" dirty="0">
                <a:solidFill>
                  <a:srgbClr val="0000FF"/>
                </a:solidFill>
                <a:latin typeface="Lucida Console" panose="020B0609040504020204" pitchFamily="49" charset="0"/>
                <a:cs typeface="Lucida Sans Unicode" panose="020B0602030504020204" pitchFamily="34" charset="0"/>
              </a:rPr>
              <a:t>x</a:t>
            </a:r>
            <a:r>
              <a:rPr lang="en-US" sz="2000" dirty="0">
                <a:latin typeface="Times New Roman" pitchFamily="18" charset="0"/>
              </a:rPr>
              <a:t> is the variable name </a:t>
            </a:r>
            <a:r>
              <a:rPr lang="en-US" sz="1400" dirty="0" err="1">
                <a:solidFill>
                  <a:srgbClr val="0000FF"/>
                </a:solidFill>
                <a:latin typeface="Lucida Console" panose="020B0609040504020204" pitchFamily="49" charset="0"/>
                <a:cs typeface="Lucida Sans Unicode" panose="020B0602030504020204" pitchFamily="34" charset="0"/>
              </a:rPr>
              <a:t>CityMPG</a:t>
            </a:r>
            <a:r>
              <a:rPr lang="en-US" sz="2000" dirty="0">
                <a:latin typeface="Times New Roman" pitchFamily="18" charset="0"/>
              </a:rPr>
              <a:t> in the data frame preceded by </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latin typeface="Times New Roman" pitchFamily="18" charset="0"/>
              </a:rPr>
              <a:t> (the dollar symbol):</a:t>
            </a:r>
          </a:p>
          <a:p>
            <a:endParaRPr lang="en-US" sz="1200" dirty="0">
              <a:latin typeface="Times New Roman"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mean(</a:t>
            </a:r>
            <a:r>
              <a:rPr lang="en-US" sz="1400" dirty="0" err="1">
                <a:solidFill>
                  <a:srgbClr val="0000FF"/>
                </a:solidFill>
                <a:latin typeface="Lucida Console" panose="020B0609040504020204" pitchFamily="49" charset="0"/>
                <a:cs typeface="Lucida Sans Unicode" panose="020B0602030504020204" pitchFamily="34" charset="0"/>
              </a:rPr>
              <a:t>VehicleData$CityMPG</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[1] 21.98</a:t>
            </a: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2000" dirty="0">
                <a:latin typeface="Times New Roman" pitchFamily="18" charset="0"/>
              </a:rPr>
              <a:t>We can get further statistics using the </a:t>
            </a:r>
            <a:r>
              <a:rPr lang="en-US" sz="1400" dirty="0">
                <a:solidFill>
                  <a:srgbClr val="0000FF"/>
                </a:solidFill>
                <a:latin typeface="Lucida Console" panose="020B0609040504020204" pitchFamily="49" charset="0"/>
                <a:cs typeface="Lucida Sans Unicode" panose="020B0602030504020204" pitchFamily="34" charset="0"/>
              </a:rPr>
              <a:t>summary() </a:t>
            </a:r>
            <a:r>
              <a:rPr lang="en-US" sz="2000" dirty="0">
                <a:latin typeface="Times New Roman" pitchFamily="18" charset="0"/>
              </a:rPr>
              <a:t>function.</a:t>
            </a: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 &gt; summary(</a:t>
            </a:r>
            <a:r>
              <a:rPr lang="en-US" sz="1400" dirty="0" err="1">
                <a:solidFill>
                  <a:srgbClr val="0000FF"/>
                </a:solidFill>
                <a:latin typeface="Lucida Console" panose="020B0609040504020204" pitchFamily="49" charset="0"/>
                <a:cs typeface="Lucida Sans Unicode" panose="020B0602030504020204" pitchFamily="34" charset="0"/>
              </a:rPr>
              <a:t>VehicleData$CityMPG</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   Min. 1st Qu.  Median    Mean 3rd Qu.    Max. </a:t>
            </a:r>
          </a:p>
          <a:p>
            <a:r>
              <a:rPr lang="en-US" sz="1400" dirty="0">
                <a:latin typeface="Lucida Console" panose="020B0609040504020204" pitchFamily="49" charset="0"/>
                <a:cs typeface="Lucida Sans Unicode" panose="020B0602030504020204" pitchFamily="34" charset="0"/>
              </a:rPr>
              <a:t>  13.00   18.00   22.00   21.98   26.00   31.00</a:t>
            </a:r>
          </a:p>
          <a:p>
            <a:endParaRPr lang="en-US" sz="1400" dirty="0">
              <a:latin typeface="Lucida Console" panose="020B0609040504020204" pitchFamily="49" charset="0"/>
              <a:cs typeface="Lucida Sans Unicode" panose="020B0602030504020204" pitchFamily="34" charset="0"/>
            </a:endParaRPr>
          </a:p>
        </p:txBody>
      </p:sp>
      <p:sp>
        <p:nvSpPr>
          <p:cNvPr id="4" name="TextBox 3">
            <a:extLst>
              <a:ext uri="{FF2B5EF4-FFF2-40B4-BE49-F238E27FC236}">
                <a16:creationId xmlns:a16="http://schemas.microsoft.com/office/drawing/2014/main" id="{314FC282-F953-4BC7-8573-9CFE727887B9}"/>
              </a:ext>
            </a:extLst>
          </p:cNvPr>
          <p:cNvSpPr txBox="1"/>
          <p:nvPr/>
        </p:nvSpPr>
        <p:spPr>
          <a:xfrm>
            <a:off x="6781800" y="3094304"/>
            <a:ext cx="1752600" cy="738664"/>
          </a:xfrm>
          <a:prstGeom prst="rect">
            <a:avLst/>
          </a:prstGeom>
          <a:noFill/>
        </p:spPr>
        <p:txBody>
          <a:bodyPr wrap="square" rtlCol="0">
            <a:spAutoFit/>
          </a:bodyPr>
          <a:lstStyle/>
          <a:p>
            <a:r>
              <a:rPr lang="en-US" sz="1400" i="1" dirty="0">
                <a:solidFill>
                  <a:srgbClr val="CC0000"/>
                </a:solidFill>
              </a:rPr>
              <a:t>Tip: </a:t>
            </a:r>
            <a:r>
              <a:rPr lang="en-US" sz="1400" dirty="0"/>
              <a:t>Don't forget the </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a:t> symbol before the variable name.</a:t>
            </a:r>
          </a:p>
        </p:txBody>
      </p:sp>
      <p:sp>
        <p:nvSpPr>
          <p:cNvPr id="5" name="Arrow: Left 4">
            <a:extLst>
              <a:ext uri="{FF2B5EF4-FFF2-40B4-BE49-F238E27FC236}">
                <a16:creationId xmlns:a16="http://schemas.microsoft.com/office/drawing/2014/main" id="{136B5528-6FEA-456F-A1C3-B76ECDABD237}"/>
              </a:ext>
            </a:extLst>
          </p:cNvPr>
          <p:cNvSpPr/>
          <p:nvPr/>
        </p:nvSpPr>
        <p:spPr>
          <a:xfrm>
            <a:off x="6362700" y="3239339"/>
            <a:ext cx="304800" cy="379320"/>
          </a:xfrm>
          <a:prstGeom prst="leftArrow">
            <a:avLst/>
          </a:prstGeom>
          <a:solidFill>
            <a:srgbClr val="C00000"/>
          </a:solidFill>
          <a:ln w="9525" algn="ctr">
            <a:solidFill>
              <a:schemeClr val="tx1"/>
            </a:solidFill>
            <a:round/>
            <a:headEnd/>
            <a:tailEnd/>
          </a:ln>
        </p:spPr>
        <p:txBody>
          <a:bodyPr/>
          <a:lstStyle/>
          <a:p>
            <a:endParaRPr lang="en-US">
              <a:solidFill>
                <a:srgbClr val="C00000"/>
              </a:solidFill>
              <a:latin typeface="Times New Roman" pitchFamily="18" charset="0"/>
            </a:endParaRPr>
          </a:p>
        </p:txBody>
      </p:sp>
    </p:spTree>
    <p:extLst>
      <p:ext uri="{BB962C8B-B14F-4D97-AF65-F5344CB8AC3E}">
        <p14:creationId xmlns:p14="http://schemas.microsoft.com/office/powerpoint/2010/main" val="2625681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Descriptive Statistics</a:t>
            </a:r>
          </a:p>
        </p:txBody>
      </p:sp>
      <p:sp>
        <p:nvSpPr>
          <p:cNvPr id="3" name="TextBox 2">
            <a:extLst>
              <a:ext uri="{FF2B5EF4-FFF2-40B4-BE49-F238E27FC236}">
                <a16:creationId xmlns:a16="http://schemas.microsoft.com/office/drawing/2014/main" id="{78D764FB-60AC-41C8-89C7-73D0B791F27C}"/>
              </a:ext>
            </a:extLst>
          </p:cNvPr>
          <p:cNvSpPr txBox="1"/>
          <p:nvPr/>
        </p:nvSpPr>
        <p:spPr>
          <a:xfrm>
            <a:off x="762000" y="1524000"/>
            <a:ext cx="7696200" cy="3631763"/>
          </a:xfrm>
          <a:prstGeom prst="rect">
            <a:avLst/>
          </a:prstGeom>
          <a:noFill/>
        </p:spPr>
        <p:txBody>
          <a:bodyPr wrap="square" rtlCol="0">
            <a:spAutoFit/>
          </a:bodyPr>
          <a:lstStyle/>
          <a:p>
            <a:r>
              <a:rPr lang="en-US" sz="2000" dirty="0">
                <a:latin typeface="Times New Roman" pitchFamily="18" charset="0"/>
              </a:rPr>
              <a:t>If our data frame columns have names (as they do here) we can get summary statistics for more than one variable using the </a:t>
            </a:r>
            <a:r>
              <a:rPr lang="en-US" sz="1400" dirty="0">
                <a:solidFill>
                  <a:srgbClr val="0000FF"/>
                </a:solidFill>
                <a:latin typeface="Lucida Console" panose="020B0609040504020204" pitchFamily="49" charset="0"/>
                <a:cs typeface="Lucida Sans Unicode" panose="020B0602030504020204" pitchFamily="34" charset="0"/>
              </a:rPr>
              <a:t>summary() </a:t>
            </a:r>
            <a:r>
              <a:rPr lang="en-US" sz="2000" dirty="0">
                <a:latin typeface="Times New Roman" pitchFamily="18" charset="0"/>
              </a:rPr>
              <a:t>function. For example:</a:t>
            </a:r>
          </a:p>
          <a:p>
            <a:endParaRPr lang="en-US" sz="2000" dirty="0">
              <a:latin typeface="Times New Roman"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summary(</a:t>
            </a:r>
            <a:r>
              <a:rPr lang="en-US" sz="1400" dirty="0" err="1">
                <a:solidFill>
                  <a:srgbClr val="0000FF"/>
                </a:solidFill>
                <a:latin typeface="Lucida Console" panose="020B0609040504020204" pitchFamily="49" charset="0"/>
                <a:cs typeface="Lucida Sans Unicode" panose="020B0602030504020204" pitchFamily="34" charset="0"/>
              </a:rPr>
              <a:t>MPGData</a:t>
            </a:r>
            <a:r>
              <a:rPr lang="en-US" sz="1400" dirty="0">
                <a:solidFill>
                  <a:srgbClr val="0000FF"/>
                </a:solidFill>
                <a:latin typeface="Lucida Console" panose="020B0609040504020204" pitchFamily="49" charset="0"/>
                <a:cs typeface="Lucida Sans Unicode" panose="020B0602030504020204" pitchFamily="34" charset="0"/>
              </a:rPr>
              <a:t>[c("</a:t>
            </a:r>
            <a:r>
              <a:rPr lang="en-US" sz="1400" dirty="0" err="1">
                <a:solidFill>
                  <a:srgbClr val="0000FF"/>
                </a:solidFill>
                <a:latin typeface="Lucida Console" panose="020B0609040504020204" pitchFamily="49" charset="0"/>
                <a:cs typeface="Lucida Sans Unicode" panose="020B0602030504020204" pitchFamily="34" charset="0"/>
              </a:rPr>
              <a:t>Weight","Length</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     Weight         Length     </a:t>
            </a:r>
          </a:p>
          <a:p>
            <a:r>
              <a:rPr lang="en-US" sz="1400" dirty="0">
                <a:latin typeface="Lucida Console" panose="020B0609040504020204" pitchFamily="49" charset="0"/>
                <a:cs typeface="Lucida Sans Unicode" panose="020B0602030504020204" pitchFamily="34" charset="0"/>
              </a:rPr>
              <a:t> Min.   :2385   Min.   :151.1  </a:t>
            </a:r>
          </a:p>
          <a:p>
            <a:r>
              <a:rPr lang="en-US" sz="1400" dirty="0">
                <a:latin typeface="Lucida Console" panose="020B0609040504020204" pitchFamily="49" charset="0"/>
                <a:cs typeface="Lucida Sans Unicode" panose="020B0602030504020204" pitchFamily="34" charset="0"/>
              </a:rPr>
              <a:t> 1st Qu.:3356   1st Qu.:181.9  </a:t>
            </a:r>
          </a:p>
          <a:p>
            <a:r>
              <a:rPr lang="en-US" sz="1400" dirty="0">
                <a:latin typeface="Lucida Console" panose="020B0609040504020204" pitchFamily="49" charset="0"/>
                <a:cs typeface="Lucida Sans Unicode" panose="020B0602030504020204" pitchFamily="34" charset="0"/>
              </a:rPr>
              <a:t> Median :3662   Median :192.2  </a:t>
            </a:r>
          </a:p>
          <a:p>
            <a:r>
              <a:rPr lang="en-US" sz="1400" dirty="0">
                <a:latin typeface="Lucida Console" panose="020B0609040504020204" pitchFamily="49" charset="0"/>
                <a:cs typeface="Lucida Sans Unicode" panose="020B0602030504020204" pitchFamily="34" charset="0"/>
              </a:rPr>
              <a:t> Mean   :3954   Mean   :190.9  </a:t>
            </a:r>
          </a:p>
          <a:p>
            <a:r>
              <a:rPr lang="en-US" sz="1400" dirty="0">
                <a:latin typeface="Lucida Console" panose="020B0609040504020204" pitchFamily="49" charset="0"/>
                <a:cs typeface="Lucida Sans Unicode" panose="020B0602030504020204" pitchFamily="34" charset="0"/>
              </a:rPr>
              <a:t> 3rd Qu.:4661   3rd Qu.:198.7  </a:t>
            </a:r>
          </a:p>
          <a:p>
            <a:r>
              <a:rPr lang="en-US" sz="1400" dirty="0">
                <a:latin typeface="Lucida Console" panose="020B0609040504020204" pitchFamily="49" charset="0"/>
                <a:cs typeface="Lucida Sans Unicode" panose="020B0602030504020204" pitchFamily="34" charset="0"/>
              </a:rPr>
              <a:t> Max.   :5917   Max.   :231.9 </a:t>
            </a:r>
          </a:p>
          <a:p>
            <a:endParaRPr lang="en-US" sz="1400" dirty="0">
              <a:solidFill>
                <a:srgbClr val="0000FF"/>
              </a:solidFill>
              <a:latin typeface="Lucida Console" panose="020B0609040504020204" pitchFamily="49" charset="0"/>
              <a:cs typeface="Lucida Sans Unicode" panose="020B0602030504020204" pitchFamily="34" charset="0"/>
            </a:endParaRPr>
          </a:p>
          <a:p>
            <a:endParaRPr lang="en-US" dirty="0"/>
          </a:p>
        </p:txBody>
      </p:sp>
      <p:sp>
        <p:nvSpPr>
          <p:cNvPr id="4" name="TextBox 3">
            <a:extLst>
              <a:ext uri="{FF2B5EF4-FFF2-40B4-BE49-F238E27FC236}">
                <a16:creationId xmlns:a16="http://schemas.microsoft.com/office/drawing/2014/main" id="{823E25B9-9E3A-46F9-BB54-CE59BC63CBF8}"/>
              </a:ext>
            </a:extLst>
          </p:cNvPr>
          <p:cNvSpPr txBox="1"/>
          <p:nvPr/>
        </p:nvSpPr>
        <p:spPr>
          <a:xfrm>
            <a:off x="5960024" y="3953083"/>
            <a:ext cx="2067910" cy="738664"/>
          </a:xfrm>
          <a:prstGeom prst="rect">
            <a:avLst/>
          </a:prstGeom>
          <a:noFill/>
        </p:spPr>
        <p:txBody>
          <a:bodyPr wrap="square" rtlCol="0">
            <a:spAutoFit/>
          </a:bodyPr>
          <a:lstStyle/>
          <a:p>
            <a:r>
              <a:rPr lang="en-US" sz="1400" i="1" dirty="0">
                <a:solidFill>
                  <a:srgbClr val="CC0000"/>
                </a:solidFill>
              </a:rPr>
              <a:t>Tip2: </a:t>
            </a:r>
            <a:r>
              <a:rPr lang="en-US" sz="1400" dirty="0"/>
              <a:t>The </a:t>
            </a:r>
            <a:r>
              <a:rPr lang="en-US" sz="1400" dirty="0">
                <a:solidFill>
                  <a:srgbClr val="0000FF"/>
                </a:solidFill>
                <a:latin typeface="Lucida Console" panose="020B0609040504020204" pitchFamily="49" charset="0"/>
                <a:cs typeface="Lucida Sans Unicode" panose="020B0602030504020204" pitchFamily="34" charset="0"/>
              </a:rPr>
              <a:t>c() </a:t>
            </a:r>
            <a:r>
              <a:rPr lang="en-US" sz="1400" dirty="0"/>
              <a:t>command allows you to select more than one variable.</a:t>
            </a:r>
          </a:p>
        </p:txBody>
      </p:sp>
      <p:sp>
        <p:nvSpPr>
          <p:cNvPr id="5" name="TextBox 4">
            <a:extLst>
              <a:ext uri="{FF2B5EF4-FFF2-40B4-BE49-F238E27FC236}">
                <a16:creationId xmlns:a16="http://schemas.microsoft.com/office/drawing/2014/main" id="{11E8A804-45CB-459C-8B51-826887B338E6}"/>
              </a:ext>
            </a:extLst>
          </p:cNvPr>
          <p:cNvSpPr txBox="1"/>
          <p:nvPr/>
        </p:nvSpPr>
        <p:spPr>
          <a:xfrm>
            <a:off x="5960024" y="2556570"/>
            <a:ext cx="2067909" cy="954107"/>
          </a:xfrm>
          <a:prstGeom prst="rect">
            <a:avLst/>
          </a:prstGeom>
          <a:noFill/>
        </p:spPr>
        <p:txBody>
          <a:bodyPr wrap="square" rtlCol="0">
            <a:spAutoFit/>
          </a:bodyPr>
          <a:lstStyle/>
          <a:p>
            <a:r>
              <a:rPr lang="en-US" sz="1400" i="1" dirty="0">
                <a:solidFill>
                  <a:srgbClr val="CC0000"/>
                </a:solidFill>
              </a:rPr>
              <a:t>Tip1: </a:t>
            </a:r>
            <a:r>
              <a:rPr lang="en-US" sz="1400" dirty="0"/>
              <a:t>Be careful of syntax, e.g., the square brackets </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a:t> and quotation marks around variable names.</a:t>
            </a:r>
          </a:p>
        </p:txBody>
      </p:sp>
      <p:sp>
        <p:nvSpPr>
          <p:cNvPr id="6" name="Arrow: Left 5">
            <a:extLst>
              <a:ext uri="{FF2B5EF4-FFF2-40B4-BE49-F238E27FC236}">
                <a16:creationId xmlns:a16="http://schemas.microsoft.com/office/drawing/2014/main" id="{D8899D5F-E754-4F7D-8BDB-64F111579DFF}"/>
              </a:ext>
            </a:extLst>
          </p:cNvPr>
          <p:cNvSpPr/>
          <p:nvPr/>
        </p:nvSpPr>
        <p:spPr>
          <a:xfrm>
            <a:off x="5377357" y="2689665"/>
            <a:ext cx="304800" cy="379320"/>
          </a:xfrm>
          <a:prstGeom prst="leftArrow">
            <a:avLst/>
          </a:prstGeom>
          <a:solidFill>
            <a:srgbClr val="C00000"/>
          </a:solidFill>
          <a:ln w="9525" algn="ctr">
            <a:solidFill>
              <a:schemeClr val="tx1"/>
            </a:solidFill>
            <a:round/>
            <a:headEnd/>
            <a:tailEnd/>
          </a:ln>
        </p:spPr>
        <p:txBody>
          <a:bodyPr/>
          <a:lstStyle/>
          <a:p>
            <a:endParaRPr lang="en-US">
              <a:solidFill>
                <a:srgbClr val="C00000"/>
              </a:solidFill>
              <a:latin typeface="Times New Roman" pitchFamily="18" charset="0"/>
            </a:endParaRPr>
          </a:p>
        </p:txBody>
      </p:sp>
      <p:sp>
        <p:nvSpPr>
          <p:cNvPr id="7" name="TextBox 6">
            <a:extLst>
              <a:ext uri="{FF2B5EF4-FFF2-40B4-BE49-F238E27FC236}">
                <a16:creationId xmlns:a16="http://schemas.microsoft.com/office/drawing/2014/main" id="{7E50965C-6BEE-42A6-8922-C3912C1AA7B5}"/>
              </a:ext>
            </a:extLst>
          </p:cNvPr>
          <p:cNvSpPr txBox="1"/>
          <p:nvPr/>
        </p:nvSpPr>
        <p:spPr>
          <a:xfrm>
            <a:off x="1905000" y="5134153"/>
            <a:ext cx="6019800" cy="738664"/>
          </a:xfrm>
          <a:prstGeom prst="rect">
            <a:avLst/>
          </a:prstGeom>
          <a:noFill/>
        </p:spPr>
        <p:txBody>
          <a:bodyPr wrap="square" rtlCol="0">
            <a:spAutoFit/>
          </a:bodyPr>
          <a:lstStyle/>
          <a:p>
            <a:r>
              <a:rPr lang="en-US" sz="1400" i="1" dirty="0">
                <a:solidFill>
                  <a:srgbClr val="C00000"/>
                </a:solidFill>
                <a:latin typeface="+mn-lt"/>
              </a:rPr>
              <a:t>Tip: </a:t>
            </a:r>
            <a:r>
              <a:rPr lang="en-US" sz="1400" dirty="0">
                <a:latin typeface="+mn-lt"/>
              </a:rPr>
              <a:t>The </a:t>
            </a:r>
            <a:r>
              <a:rPr lang="en-US" sz="1400" dirty="0">
                <a:solidFill>
                  <a:srgbClr val="0000FF"/>
                </a:solidFill>
                <a:latin typeface="Lucida Console" panose="020B0609040504020204" pitchFamily="49" charset="0"/>
                <a:cs typeface="Lucida Sans Unicode" panose="020B0602030504020204" pitchFamily="34" charset="0"/>
              </a:rPr>
              <a:t>summary() </a:t>
            </a:r>
            <a:r>
              <a:rPr lang="en-US" sz="1400" dirty="0">
                <a:latin typeface="+mn-lt"/>
              </a:rPr>
              <a:t>function will work on a data frame with multiple columns. However, </a:t>
            </a:r>
            <a:r>
              <a:rPr lang="en-US" sz="1400" dirty="0">
                <a:solidFill>
                  <a:srgbClr val="0000FF"/>
                </a:solidFill>
                <a:latin typeface="Lucida Console" panose="020B0609040504020204" pitchFamily="49" charset="0"/>
                <a:cs typeface="Lucida Sans Unicode" panose="020B0602030504020204" pitchFamily="34" charset="0"/>
              </a:rPr>
              <a:t>summary(</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a:latin typeface="+mn-lt"/>
              </a:rPr>
              <a:t>would display all 13 variables at once. It may be better to ask only for those columns you need.</a:t>
            </a:r>
          </a:p>
        </p:txBody>
      </p:sp>
      <p:pic>
        <p:nvPicPr>
          <p:cNvPr id="8" name="Picture 7" descr="A close up of a clock&#10;&#10;Description automatically generated">
            <a:extLst>
              <a:ext uri="{FF2B5EF4-FFF2-40B4-BE49-F238E27FC236}">
                <a16:creationId xmlns:a16="http://schemas.microsoft.com/office/drawing/2014/main" id="{F933FC11-AFD4-4198-99B7-0B41BCCE17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124" y="5027667"/>
            <a:ext cx="838951" cy="804863"/>
          </a:xfrm>
          <a:prstGeom prst="rect">
            <a:avLst/>
          </a:prstGeom>
        </p:spPr>
      </p:pic>
    </p:spTree>
    <p:extLst>
      <p:ext uri="{BB962C8B-B14F-4D97-AF65-F5344CB8AC3E}">
        <p14:creationId xmlns:p14="http://schemas.microsoft.com/office/powerpoint/2010/main" val="1403228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Descriptive Statistics</a:t>
            </a:r>
          </a:p>
        </p:txBody>
      </p:sp>
      <p:sp>
        <p:nvSpPr>
          <p:cNvPr id="6" name="TextBox 5">
            <a:extLst>
              <a:ext uri="{FF2B5EF4-FFF2-40B4-BE49-F238E27FC236}">
                <a16:creationId xmlns:a16="http://schemas.microsoft.com/office/drawing/2014/main" id="{B7713A1D-B122-4ACC-854F-FC484225DF5B}"/>
              </a:ext>
            </a:extLst>
          </p:cNvPr>
          <p:cNvSpPr txBox="1"/>
          <p:nvPr/>
        </p:nvSpPr>
        <p:spPr>
          <a:xfrm>
            <a:off x="895350" y="1310359"/>
            <a:ext cx="7429500" cy="2862322"/>
          </a:xfrm>
          <a:prstGeom prst="rect">
            <a:avLst/>
          </a:prstGeom>
          <a:noFill/>
        </p:spPr>
        <p:txBody>
          <a:bodyPr wrap="square" rtlCol="0">
            <a:spAutoFit/>
          </a:bodyPr>
          <a:lstStyle/>
          <a:p>
            <a:endParaRPr lang="en-US" sz="1400" dirty="0">
              <a:solidFill>
                <a:srgbClr val="0000FF"/>
              </a:solidFill>
              <a:latin typeface="Lucida Console" panose="020B0609040504020204" pitchFamily="49" charset="0"/>
              <a:cs typeface="Lucida Sans Unicode" panose="020B0602030504020204" pitchFamily="34" charset="0"/>
            </a:endParaRPr>
          </a:p>
          <a:p>
            <a:r>
              <a:rPr lang="en-US" sz="2000" dirty="0">
                <a:latin typeface="Times New Roman" pitchFamily="18" charset="0"/>
              </a:rPr>
              <a:t>You can refer to columns in your data frame by number. You can use a colon : if your columns are contiguous (e.g., 6 through 8):</a:t>
            </a: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summary(</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solidFill>
                  <a:srgbClr val="0000FF"/>
                </a:solidFill>
                <a:latin typeface="Lucida Console" panose="020B0609040504020204" pitchFamily="49" charset="0"/>
                <a:cs typeface="Lucida Sans Unicode" panose="020B0602030504020204" pitchFamily="34" charset="0"/>
              </a:rPr>
              <a:t>[c(6:8)])</a:t>
            </a:r>
          </a:p>
          <a:p>
            <a:r>
              <a:rPr lang="en-US" sz="1400" dirty="0">
                <a:latin typeface="Lucida Console" panose="020B0609040504020204" pitchFamily="49" charset="0"/>
                <a:cs typeface="Lucida Sans Unicode" panose="020B0602030504020204" pitchFamily="34" charset="0"/>
              </a:rPr>
              <a:t>       HP            Engine        </a:t>
            </a:r>
            <a:r>
              <a:rPr lang="en-US" sz="1400" dirty="0" err="1">
                <a:latin typeface="Lucida Console" panose="020B0609040504020204" pitchFamily="49" charset="0"/>
                <a:cs typeface="Lucida Sans Unicode" panose="020B0602030504020204" pitchFamily="34" charset="0"/>
              </a:rPr>
              <a:t>CityMPG</a:t>
            </a:r>
            <a:r>
              <a:rPr lang="en-US" sz="1400" dirty="0">
                <a:latin typeface="Lucida Console" panose="020B0609040504020204" pitchFamily="49" charset="0"/>
                <a:cs typeface="Lucida Sans Unicode" panose="020B0602030504020204" pitchFamily="34" charset="0"/>
              </a:rPr>
              <a:t>     </a:t>
            </a:r>
          </a:p>
          <a:p>
            <a:r>
              <a:rPr lang="en-US" sz="1400" dirty="0">
                <a:latin typeface="Lucida Console" panose="020B0609040504020204" pitchFamily="49" charset="0"/>
                <a:cs typeface="Lucida Sans Unicode" panose="020B0602030504020204" pitchFamily="34" charset="0"/>
              </a:rPr>
              <a:t> Min.   :106.0   Min.   :1400   Min.   :13.00  </a:t>
            </a:r>
          </a:p>
          <a:p>
            <a:r>
              <a:rPr lang="en-US" sz="1400" dirty="0">
                <a:latin typeface="Lucida Console" panose="020B0609040504020204" pitchFamily="49" charset="0"/>
                <a:cs typeface="Lucida Sans Unicode" panose="020B0602030504020204" pitchFamily="34" charset="0"/>
              </a:rPr>
              <a:t> 1st Qu.:182.5   1st Qu.:2000   1st Qu.:18.00  </a:t>
            </a:r>
          </a:p>
          <a:p>
            <a:r>
              <a:rPr lang="en-US" sz="1400" dirty="0">
                <a:latin typeface="Lucida Console" panose="020B0609040504020204" pitchFamily="49" charset="0"/>
                <a:cs typeface="Lucida Sans Unicode" panose="020B0602030504020204" pitchFamily="34" charset="0"/>
              </a:rPr>
              <a:t> Median :249.0   Median :2500   Median :22.00  </a:t>
            </a:r>
          </a:p>
          <a:p>
            <a:r>
              <a:rPr lang="en-US" sz="1400" dirty="0">
                <a:latin typeface="Lucida Console" panose="020B0609040504020204" pitchFamily="49" charset="0"/>
                <a:cs typeface="Lucida Sans Unicode" panose="020B0602030504020204" pitchFamily="34" charset="0"/>
              </a:rPr>
              <a:t> Mean   :262.3   Mean   :2898   Mean   :21.98  </a:t>
            </a:r>
          </a:p>
          <a:p>
            <a:r>
              <a:rPr lang="en-US" sz="1400" dirty="0">
                <a:latin typeface="Lucida Console" panose="020B0609040504020204" pitchFamily="49" charset="0"/>
                <a:cs typeface="Lucida Sans Unicode" panose="020B0602030504020204" pitchFamily="34" charset="0"/>
              </a:rPr>
              <a:t> 3rd Qu.:308.0   3rd Qu.:3500   3rd Qu.:26.00  </a:t>
            </a:r>
          </a:p>
          <a:p>
            <a:r>
              <a:rPr lang="en-US" sz="1400" dirty="0">
                <a:latin typeface="Lucida Console" panose="020B0609040504020204" pitchFamily="49" charset="0"/>
                <a:cs typeface="Lucida Sans Unicode" panose="020B0602030504020204" pitchFamily="34" charset="0"/>
              </a:rPr>
              <a:t> Max.   :602.0   Max.   :6200   Max.   :31.00</a:t>
            </a:r>
            <a:endParaRPr lang="en-US" dirty="0"/>
          </a:p>
        </p:txBody>
      </p:sp>
      <p:sp>
        <p:nvSpPr>
          <p:cNvPr id="7" name="TextBox 6">
            <a:extLst>
              <a:ext uri="{FF2B5EF4-FFF2-40B4-BE49-F238E27FC236}">
                <a16:creationId xmlns:a16="http://schemas.microsoft.com/office/drawing/2014/main" id="{BDFE0C33-9BE2-45A0-87B9-AA65E1BDF222}"/>
              </a:ext>
            </a:extLst>
          </p:cNvPr>
          <p:cNvSpPr txBox="1"/>
          <p:nvPr/>
        </p:nvSpPr>
        <p:spPr>
          <a:xfrm>
            <a:off x="2981206" y="4942999"/>
            <a:ext cx="3450018" cy="738664"/>
          </a:xfrm>
          <a:prstGeom prst="rect">
            <a:avLst/>
          </a:prstGeom>
          <a:noFill/>
        </p:spPr>
        <p:txBody>
          <a:bodyPr wrap="square" rtlCol="0">
            <a:spAutoFit/>
          </a:bodyPr>
          <a:lstStyle/>
          <a:p>
            <a:r>
              <a:rPr lang="en-US" sz="1400" i="1" dirty="0">
                <a:solidFill>
                  <a:srgbClr val="CC0000"/>
                </a:solidFill>
              </a:rPr>
              <a:t>Tip: </a:t>
            </a:r>
            <a:r>
              <a:rPr lang="en-US" sz="1400" dirty="0"/>
              <a:t>The </a:t>
            </a:r>
            <a:r>
              <a:rPr lang="en-US" sz="1400" dirty="0">
                <a:solidFill>
                  <a:srgbClr val="0000FF"/>
                </a:solidFill>
                <a:latin typeface="Lucida Console" panose="020B0609040504020204" pitchFamily="49" charset="0"/>
                <a:cs typeface="Lucida Sans Unicode" panose="020B0602030504020204" pitchFamily="34" charset="0"/>
              </a:rPr>
              <a:t>c() </a:t>
            </a:r>
            <a:r>
              <a:rPr lang="en-US" sz="1400" dirty="0"/>
              <a:t>command allows you to select more than one variable.  Be careful of syntax, e.g., the $ symbol and square brackets </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a:t>.</a:t>
            </a:r>
          </a:p>
        </p:txBody>
      </p:sp>
      <p:pic>
        <p:nvPicPr>
          <p:cNvPr id="10" name="Picture 9" descr="A close up of a clock&#10;&#10;Description automatically generated">
            <a:extLst>
              <a:ext uri="{FF2B5EF4-FFF2-40B4-BE49-F238E27FC236}">
                <a16:creationId xmlns:a16="http://schemas.microsoft.com/office/drawing/2014/main" id="{8C0AFBDC-CFBF-43E1-A3BB-D59AB59056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0" y="4876800"/>
            <a:ext cx="838951" cy="804863"/>
          </a:xfrm>
          <a:prstGeom prst="rect">
            <a:avLst/>
          </a:prstGeom>
        </p:spPr>
      </p:pic>
    </p:spTree>
    <p:extLst>
      <p:ext uri="{BB962C8B-B14F-4D97-AF65-F5344CB8AC3E}">
        <p14:creationId xmlns:p14="http://schemas.microsoft.com/office/powerpoint/2010/main" val="1293205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Descriptive Statistics</a:t>
            </a:r>
          </a:p>
        </p:txBody>
      </p:sp>
      <p:sp>
        <p:nvSpPr>
          <p:cNvPr id="6" name="TextBox 5">
            <a:extLst>
              <a:ext uri="{FF2B5EF4-FFF2-40B4-BE49-F238E27FC236}">
                <a16:creationId xmlns:a16="http://schemas.microsoft.com/office/drawing/2014/main" id="{B7713A1D-B122-4ACC-854F-FC484225DF5B}"/>
              </a:ext>
            </a:extLst>
          </p:cNvPr>
          <p:cNvSpPr txBox="1"/>
          <p:nvPr/>
        </p:nvSpPr>
        <p:spPr>
          <a:xfrm>
            <a:off x="609600" y="1295400"/>
            <a:ext cx="8153400" cy="2554545"/>
          </a:xfrm>
          <a:prstGeom prst="rect">
            <a:avLst/>
          </a:prstGeom>
          <a:noFill/>
        </p:spPr>
        <p:txBody>
          <a:bodyPr wrap="square" rtlCol="0">
            <a:spAutoFit/>
          </a:bodyPr>
          <a:lstStyle/>
          <a:p>
            <a:endParaRPr lang="en-US" sz="1400" dirty="0">
              <a:solidFill>
                <a:srgbClr val="0000FF"/>
              </a:solidFill>
              <a:latin typeface="Lucida Console" panose="020B0609040504020204" pitchFamily="49" charset="0"/>
              <a:cs typeface="Lucida Sans Unicode" panose="020B0602030504020204" pitchFamily="34" charset="0"/>
            </a:endParaRPr>
          </a:p>
          <a:p>
            <a:r>
              <a:rPr lang="en-US" sz="2000" dirty="0">
                <a:latin typeface="+mn-lt"/>
                <a:cs typeface="Lucida Sans Unicode" panose="020B0602030504020204" pitchFamily="34" charset="0"/>
              </a:rPr>
              <a:t>If columns are not contiguous (e.g., 6, 8, 11) use commas as separators:</a:t>
            </a:r>
          </a:p>
          <a:p>
            <a:endParaRPr lang="en-US" sz="1400" dirty="0">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summary(</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solidFill>
                  <a:srgbClr val="0000FF"/>
                </a:solidFill>
                <a:latin typeface="Lucida Console" panose="020B0609040504020204" pitchFamily="49" charset="0"/>
                <a:cs typeface="Lucida Sans Unicode" panose="020B0602030504020204" pitchFamily="34" charset="0"/>
              </a:rPr>
              <a:t>[c(6,8,11)])</a:t>
            </a:r>
          </a:p>
          <a:p>
            <a:r>
              <a:rPr lang="en-US" sz="1400" dirty="0">
                <a:latin typeface="Lucida Console" panose="020B0609040504020204" pitchFamily="49" charset="0"/>
                <a:cs typeface="Lucida Sans Unicode" panose="020B0602030504020204" pitchFamily="34" charset="0"/>
              </a:rPr>
              <a:t>       HP           </a:t>
            </a:r>
            <a:r>
              <a:rPr lang="en-US" sz="1400" dirty="0" err="1">
                <a:latin typeface="Lucida Console" panose="020B0609040504020204" pitchFamily="49" charset="0"/>
                <a:cs typeface="Lucida Sans Unicode" panose="020B0602030504020204" pitchFamily="34" charset="0"/>
              </a:rPr>
              <a:t>CityMPG</a:t>
            </a:r>
            <a:r>
              <a:rPr lang="en-US" sz="1400" dirty="0">
                <a:latin typeface="Lucida Console" panose="020B0609040504020204" pitchFamily="49" charset="0"/>
                <a:cs typeface="Lucida Sans Unicode" panose="020B0602030504020204" pitchFamily="34" charset="0"/>
              </a:rPr>
              <a:t>          Length     </a:t>
            </a:r>
          </a:p>
          <a:p>
            <a:r>
              <a:rPr lang="en-US" sz="1400" dirty="0">
                <a:latin typeface="Lucida Console" panose="020B0609040504020204" pitchFamily="49" charset="0"/>
                <a:cs typeface="Lucida Sans Unicode" panose="020B0602030504020204" pitchFamily="34" charset="0"/>
              </a:rPr>
              <a:t> Min.   :106.0   Min.   :13.00   Min.   :151.1  </a:t>
            </a:r>
          </a:p>
          <a:p>
            <a:r>
              <a:rPr lang="en-US" sz="1400" dirty="0">
                <a:latin typeface="Lucida Console" panose="020B0609040504020204" pitchFamily="49" charset="0"/>
                <a:cs typeface="Lucida Sans Unicode" panose="020B0602030504020204" pitchFamily="34" charset="0"/>
              </a:rPr>
              <a:t> 1st Qu.:182.5   1st Qu.:18.00   1st Qu.:181.9  </a:t>
            </a:r>
          </a:p>
          <a:p>
            <a:r>
              <a:rPr lang="en-US" sz="1400" dirty="0">
                <a:latin typeface="Lucida Console" panose="020B0609040504020204" pitchFamily="49" charset="0"/>
                <a:cs typeface="Lucida Sans Unicode" panose="020B0602030504020204" pitchFamily="34" charset="0"/>
              </a:rPr>
              <a:t> Median :249.0   Median :22.00   Median :192.2  </a:t>
            </a:r>
          </a:p>
          <a:p>
            <a:r>
              <a:rPr lang="en-US" sz="1400" dirty="0">
                <a:latin typeface="Lucida Console" panose="020B0609040504020204" pitchFamily="49" charset="0"/>
                <a:cs typeface="Lucida Sans Unicode" panose="020B0602030504020204" pitchFamily="34" charset="0"/>
              </a:rPr>
              <a:t> Mean   :262.3   Mean   :21.98   Mean   :190.9  </a:t>
            </a:r>
          </a:p>
          <a:p>
            <a:r>
              <a:rPr lang="en-US" sz="1400" dirty="0">
                <a:latin typeface="Lucida Console" panose="020B0609040504020204" pitchFamily="49" charset="0"/>
                <a:cs typeface="Lucida Sans Unicode" panose="020B0602030504020204" pitchFamily="34" charset="0"/>
              </a:rPr>
              <a:t> 3rd Qu.:308.0   3rd Qu.:26.00   3rd Qu.:198.7  </a:t>
            </a:r>
          </a:p>
          <a:p>
            <a:r>
              <a:rPr lang="en-US" sz="1400" dirty="0">
                <a:latin typeface="Lucida Console" panose="020B0609040504020204" pitchFamily="49" charset="0"/>
                <a:cs typeface="Lucida Sans Unicode" panose="020B0602030504020204" pitchFamily="34" charset="0"/>
              </a:rPr>
              <a:t> Max.   :602.0   Max.   :31.00   Max.   :231.9</a:t>
            </a:r>
            <a:endParaRPr lang="en-US" dirty="0"/>
          </a:p>
        </p:txBody>
      </p:sp>
      <p:sp>
        <p:nvSpPr>
          <p:cNvPr id="7" name="TextBox 6">
            <a:extLst>
              <a:ext uri="{FF2B5EF4-FFF2-40B4-BE49-F238E27FC236}">
                <a16:creationId xmlns:a16="http://schemas.microsoft.com/office/drawing/2014/main" id="{BDFE0C33-9BE2-45A0-87B9-AA65E1BDF222}"/>
              </a:ext>
            </a:extLst>
          </p:cNvPr>
          <p:cNvSpPr txBox="1"/>
          <p:nvPr/>
        </p:nvSpPr>
        <p:spPr>
          <a:xfrm>
            <a:off x="6376555" y="2156744"/>
            <a:ext cx="2362200" cy="1169551"/>
          </a:xfrm>
          <a:prstGeom prst="rect">
            <a:avLst/>
          </a:prstGeom>
          <a:noFill/>
        </p:spPr>
        <p:txBody>
          <a:bodyPr wrap="square" rtlCol="0">
            <a:spAutoFit/>
          </a:bodyPr>
          <a:lstStyle/>
          <a:p>
            <a:r>
              <a:rPr lang="en-US" sz="1400" i="1" dirty="0">
                <a:solidFill>
                  <a:srgbClr val="CC0000"/>
                </a:solidFill>
              </a:rPr>
              <a:t>Tip: </a:t>
            </a:r>
            <a:r>
              <a:rPr lang="en-US" sz="1400" dirty="0"/>
              <a:t>The </a:t>
            </a:r>
            <a:r>
              <a:rPr lang="en-US" sz="1400" dirty="0">
                <a:solidFill>
                  <a:srgbClr val="0000FF"/>
                </a:solidFill>
                <a:latin typeface="Lucida Console" panose="020B0609040504020204" pitchFamily="49" charset="0"/>
                <a:cs typeface="Lucida Sans Unicode" panose="020B0602030504020204" pitchFamily="34" charset="0"/>
              </a:rPr>
              <a:t>c() </a:t>
            </a:r>
            <a:r>
              <a:rPr lang="en-US" sz="1400" dirty="0"/>
              <a:t>command allows you to select more than one variable.  Be careful of syntax, e.g., the $ symbol and square brackets </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a:t>.</a:t>
            </a:r>
          </a:p>
        </p:txBody>
      </p:sp>
      <p:sp>
        <p:nvSpPr>
          <p:cNvPr id="8" name="Arrow: Left 7">
            <a:extLst>
              <a:ext uri="{FF2B5EF4-FFF2-40B4-BE49-F238E27FC236}">
                <a16:creationId xmlns:a16="http://schemas.microsoft.com/office/drawing/2014/main" id="{3C720CB9-CF1E-4826-AC0B-DB5E2C36E70E}"/>
              </a:ext>
            </a:extLst>
          </p:cNvPr>
          <p:cNvSpPr/>
          <p:nvPr/>
        </p:nvSpPr>
        <p:spPr>
          <a:xfrm>
            <a:off x="5933091" y="2362200"/>
            <a:ext cx="304800" cy="379320"/>
          </a:xfrm>
          <a:prstGeom prst="leftArrow">
            <a:avLst/>
          </a:prstGeom>
          <a:solidFill>
            <a:srgbClr val="C00000"/>
          </a:solidFill>
          <a:ln w="9525" algn="ctr">
            <a:solidFill>
              <a:schemeClr val="tx1"/>
            </a:solidFill>
            <a:round/>
            <a:headEnd/>
            <a:tailEnd/>
          </a:ln>
        </p:spPr>
        <p:txBody>
          <a:bodyPr/>
          <a:lstStyle/>
          <a:p>
            <a:endParaRPr lang="en-US">
              <a:solidFill>
                <a:srgbClr val="C00000"/>
              </a:solidFill>
              <a:latin typeface="Times New Roman" pitchFamily="18" charset="0"/>
            </a:endParaRPr>
          </a:p>
        </p:txBody>
      </p:sp>
      <p:sp>
        <p:nvSpPr>
          <p:cNvPr id="9" name="TextBox 8">
            <a:extLst>
              <a:ext uri="{FF2B5EF4-FFF2-40B4-BE49-F238E27FC236}">
                <a16:creationId xmlns:a16="http://schemas.microsoft.com/office/drawing/2014/main" id="{022F48F9-8FB2-4DDA-AA60-7DBF880E9980}"/>
              </a:ext>
            </a:extLst>
          </p:cNvPr>
          <p:cNvSpPr txBox="1"/>
          <p:nvPr/>
        </p:nvSpPr>
        <p:spPr>
          <a:xfrm>
            <a:off x="2667000" y="4823936"/>
            <a:ext cx="5181600" cy="738664"/>
          </a:xfrm>
          <a:prstGeom prst="rect">
            <a:avLst/>
          </a:prstGeom>
          <a:noFill/>
        </p:spPr>
        <p:txBody>
          <a:bodyPr wrap="square" rtlCol="0">
            <a:spAutoFit/>
          </a:bodyPr>
          <a:lstStyle/>
          <a:p>
            <a:r>
              <a:rPr lang="en-US" sz="1400" i="1" dirty="0">
                <a:solidFill>
                  <a:srgbClr val="CC0000"/>
                </a:solidFill>
              </a:rPr>
              <a:t>Tip: </a:t>
            </a:r>
            <a:r>
              <a:rPr lang="en-US" sz="1400" dirty="0"/>
              <a:t>If you are having trouble keeping track of your variables, the </a:t>
            </a:r>
            <a:r>
              <a:rPr lang="en-US" sz="1400" dirty="0">
                <a:solidFill>
                  <a:srgbClr val="0000FF"/>
                </a:solidFill>
                <a:latin typeface="Lucida Console" panose="020B0609040504020204" pitchFamily="49" charset="0"/>
                <a:cs typeface="Lucida Sans Unicode" panose="020B0602030504020204" pitchFamily="34" charset="0"/>
              </a:rPr>
              <a:t>Console</a:t>
            </a:r>
            <a:r>
              <a:rPr lang="en-US" sz="1400" dirty="0"/>
              <a:t> pane in the upper left of R</a:t>
            </a:r>
            <a:r>
              <a:rPr lang="en-US" sz="1400" dirty="0">
                <a:solidFill>
                  <a:srgbClr val="0000FF"/>
                </a:solidFill>
                <a:latin typeface="Lucida Console" panose="020B0609040504020204" pitchFamily="49" charset="0"/>
                <a:cs typeface="Lucida Sans Unicode" panose="020B0602030504020204" pitchFamily="34" charset="0"/>
              </a:rPr>
              <a:t>S</a:t>
            </a:r>
            <a:r>
              <a:rPr lang="en-US" sz="1400" dirty="0"/>
              <a:t>tudio has tabs for each data frame. Click on </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t> and you will see a list of the data.</a:t>
            </a:r>
          </a:p>
        </p:txBody>
      </p:sp>
      <p:pic>
        <p:nvPicPr>
          <p:cNvPr id="10" name="Picture 9" descr="A close up of a clock&#10;&#10;Description automatically generated">
            <a:extLst>
              <a:ext uri="{FF2B5EF4-FFF2-40B4-BE49-F238E27FC236}">
                <a16:creationId xmlns:a16="http://schemas.microsoft.com/office/drawing/2014/main" id="{698BB448-3E64-4077-AE39-0C5A21551F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6345" y="4757737"/>
            <a:ext cx="838951" cy="804863"/>
          </a:xfrm>
          <a:prstGeom prst="rect">
            <a:avLst/>
          </a:prstGeom>
        </p:spPr>
      </p:pic>
    </p:spTree>
    <p:extLst>
      <p:ext uri="{BB962C8B-B14F-4D97-AF65-F5344CB8AC3E}">
        <p14:creationId xmlns:p14="http://schemas.microsoft.com/office/powerpoint/2010/main" val="2960565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Scatter Plots</a:t>
            </a:r>
          </a:p>
        </p:txBody>
      </p:sp>
      <p:sp>
        <p:nvSpPr>
          <p:cNvPr id="5123" name="Text Box 7"/>
          <p:cNvSpPr txBox="1">
            <a:spLocks noChangeArrowheads="1"/>
          </p:cNvSpPr>
          <p:nvPr/>
        </p:nvSpPr>
        <p:spPr bwMode="auto">
          <a:xfrm>
            <a:off x="876300" y="1219200"/>
            <a:ext cx="7467600"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ts val="0"/>
              </a:spcBef>
            </a:pPr>
            <a:r>
              <a:rPr lang="en-US" sz="2000" dirty="0">
                <a:latin typeface="+mn-lt"/>
              </a:rPr>
              <a:t>Make a scatter plot using the function </a:t>
            </a:r>
            <a:r>
              <a:rPr lang="en-US" sz="1400" dirty="0">
                <a:solidFill>
                  <a:srgbClr val="0000FF"/>
                </a:solidFill>
                <a:latin typeface="Lucida Console" panose="020B0609040504020204" pitchFamily="49" charset="0"/>
                <a:cs typeface="Lucida Sans Unicode" panose="020B0602030504020204" pitchFamily="34" charset="0"/>
              </a:rPr>
              <a:t>plot(x, y)</a:t>
            </a:r>
            <a:r>
              <a:rPr lang="en-US" sz="2000" dirty="0">
                <a:latin typeface="+mn-lt"/>
              </a:rPr>
              <a:t>:</a:t>
            </a:r>
          </a:p>
          <a:p>
            <a:pPr>
              <a:spcBef>
                <a:spcPts val="0"/>
              </a:spcBef>
            </a:pPr>
            <a:endParaRPr lang="en-US" sz="1200" dirty="0">
              <a:latin typeface="+mn-lt"/>
            </a:endParaRPr>
          </a:p>
          <a:p>
            <a:pPr>
              <a:spcBef>
                <a:spcPts val="0"/>
              </a:spcBef>
            </a:pPr>
            <a:r>
              <a:rPr lang="en-US" sz="2000" dirty="0">
                <a:latin typeface="+mn-lt"/>
              </a:rPr>
              <a:t>&gt;</a:t>
            </a:r>
            <a:r>
              <a:rPr lang="en-US" sz="1400" dirty="0">
                <a:solidFill>
                  <a:srgbClr val="0000FF"/>
                </a:solidFill>
                <a:latin typeface="Lucida Console" panose="020B0609040504020204" pitchFamily="49" charset="0"/>
                <a:cs typeface="Lucida Sans Unicode" panose="020B0602030504020204" pitchFamily="34" charset="0"/>
              </a:rPr>
              <a:t> plot(</a:t>
            </a:r>
            <a:r>
              <a:rPr lang="en-US" sz="1400" dirty="0" err="1">
                <a:solidFill>
                  <a:srgbClr val="0000FF"/>
                </a:solidFill>
                <a:latin typeface="Lucida Console" panose="020B0609040504020204" pitchFamily="49" charset="0"/>
                <a:cs typeface="Lucida Sans Unicode" panose="020B0602030504020204" pitchFamily="34" charset="0"/>
              </a:rPr>
              <a:t>VehicleData$HP,VehicleData$Weight</a:t>
            </a:r>
            <a:r>
              <a:rPr lang="en-US" sz="2000" dirty="0">
                <a:latin typeface="+mn-lt"/>
              </a:rPr>
              <a:t>)</a:t>
            </a:r>
          </a:p>
          <a:p>
            <a:pPr>
              <a:spcBef>
                <a:spcPts val="0"/>
              </a:spcBef>
            </a:pPr>
            <a:endParaRPr lang="en-US" sz="1200" dirty="0">
              <a:latin typeface="+mn-lt"/>
            </a:endParaRPr>
          </a:p>
          <a:p>
            <a:pPr>
              <a:spcBef>
                <a:spcPts val="0"/>
              </a:spcBef>
            </a:pPr>
            <a:r>
              <a:rPr lang="en-US" sz="2000" dirty="0">
                <a:latin typeface="+mn-lt"/>
              </a:rPr>
              <a:t>We can create better axis labels using optional arguments </a:t>
            </a:r>
            <a:r>
              <a:rPr lang="en-US" sz="1400" dirty="0" err="1">
                <a:solidFill>
                  <a:srgbClr val="0000FF"/>
                </a:solidFill>
                <a:latin typeface="Lucida Console" panose="020B0609040504020204" pitchFamily="49" charset="0"/>
                <a:cs typeface="Lucida Sans Unicode" panose="020B0602030504020204" pitchFamily="34" charset="0"/>
              </a:rPr>
              <a:t>xlab</a:t>
            </a:r>
            <a:r>
              <a:rPr lang="en-US" sz="2000" dirty="0">
                <a:latin typeface="+mn-lt"/>
              </a:rPr>
              <a:t> and </a:t>
            </a:r>
            <a:r>
              <a:rPr lang="en-US" sz="1400" dirty="0" err="1">
                <a:solidFill>
                  <a:srgbClr val="0000FF"/>
                </a:solidFill>
                <a:latin typeface="Lucida Console" panose="020B0609040504020204" pitchFamily="49" charset="0"/>
                <a:cs typeface="Lucida Sans Unicode" panose="020B0602030504020204" pitchFamily="34" charset="0"/>
              </a:rPr>
              <a:t>ylab</a:t>
            </a:r>
            <a:r>
              <a:rPr lang="en-US" sz="2000" dirty="0">
                <a:latin typeface="+mn-lt"/>
              </a:rPr>
              <a:t> and </a:t>
            </a:r>
            <a:r>
              <a:rPr lang="en-US" sz="1400" dirty="0">
                <a:solidFill>
                  <a:srgbClr val="0000FF"/>
                </a:solidFill>
                <a:latin typeface="Lucida Console" panose="020B0609040504020204" pitchFamily="49" charset="0"/>
                <a:cs typeface="Lucida Sans Unicode" panose="020B0602030504020204" pitchFamily="34" charset="0"/>
              </a:rPr>
              <a:t>main</a:t>
            </a:r>
            <a:r>
              <a:rPr lang="en-US" sz="2000" dirty="0">
                <a:latin typeface="+mn-lt"/>
              </a:rPr>
              <a:t> to add a title.</a:t>
            </a:r>
          </a:p>
          <a:p>
            <a:pPr>
              <a:spcBef>
                <a:spcPts val="0"/>
              </a:spcBef>
            </a:pPr>
            <a:endParaRPr lang="en-US" sz="1200" dirty="0">
              <a:latin typeface="Calibri" panose="020F0502020204030204" pitchFamily="34" charset="0"/>
              <a:cs typeface="Calibri" panose="020F0502020204030204" pitchFamily="34" charset="0"/>
            </a:endParaRPr>
          </a:p>
          <a:p>
            <a:pPr>
              <a:spcBef>
                <a:spcPts val="0"/>
              </a:spcBef>
            </a:pPr>
            <a:r>
              <a:rPr lang="en-US" sz="1400" dirty="0">
                <a:solidFill>
                  <a:srgbClr val="0000FF"/>
                </a:solidFill>
                <a:latin typeface="Lucida Console" panose="020B0609040504020204" pitchFamily="49" charset="0"/>
                <a:cs typeface="Lucida Sans Unicode" panose="020B0602030504020204" pitchFamily="34" charset="0"/>
              </a:rPr>
              <a:t>&gt; plot(</a:t>
            </a:r>
            <a:r>
              <a:rPr lang="en-US" sz="1400" dirty="0" err="1">
                <a:solidFill>
                  <a:srgbClr val="0000FF"/>
                </a:solidFill>
                <a:latin typeface="Lucida Console" panose="020B0609040504020204" pitchFamily="49" charset="0"/>
                <a:cs typeface="Lucida Sans Unicode" panose="020B0602030504020204" pitchFamily="34" charset="0"/>
              </a:rPr>
              <a:t>VehicleData$HP,VehicleData$Weight</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err="1">
                <a:solidFill>
                  <a:srgbClr val="0000FF"/>
                </a:solidFill>
                <a:latin typeface="Lucida Console" panose="020B0609040504020204" pitchFamily="49" charset="0"/>
                <a:cs typeface="Lucida Sans Unicode" panose="020B0602030504020204" pitchFamily="34" charset="0"/>
              </a:rPr>
              <a:t>xlab</a:t>
            </a:r>
            <a:r>
              <a:rPr lang="en-US" sz="1400" dirty="0">
                <a:solidFill>
                  <a:srgbClr val="0000FF"/>
                </a:solidFill>
                <a:latin typeface="Lucida Console" panose="020B0609040504020204" pitchFamily="49" charset="0"/>
                <a:cs typeface="Lucida Sans Unicode" panose="020B0602030504020204" pitchFamily="34" charset="0"/>
              </a:rPr>
              <a:t>="Horsepower",</a:t>
            </a:r>
          </a:p>
          <a:p>
            <a:pPr>
              <a:spcBef>
                <a:spcPts val="0"/>
              </a:spcBef>
            </a:pP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err="1">
                <a:solidFill>
                  <a:srgbClr val="0000FF"/>
                </a:solidFill>
                <a:latin typeface="Lucida Console" panose="020B0609040504020204" pitchFamily="49" charset="0"/>
                <a:cs typeface="Lucida Sans Unicode" panose="020B0602030504020204" pitchFamily="34" charset="0"/>
              </a:rPr>
              <a:t>ylab</a:t>
            </a:r>
            <a:r>
              <a:rPr lang="en-US" sz="1400" dirty="0">
                <a:solidFill>
                  <a:srgbClr val="0000FF"/>
                </a:solidFill>
                <a:latin typeface="Lucida Console" panose="020B0609040504020204" pitchFamily="49" charset="0"/>
                <a:cs typeface="Lucida Sans Unicode" panose="020B0602030504020204" pitchFamily="34" charset="0"/>
              </a:rPr>
              <a:t>="Vehicle Weight(pounds)", main="Horsepower vs Weight </a:t>
            </a:r>
          </a:p>
          <a:p>
            <a:pPr>
              <a:spcBef>
                <a:spcPts val="0"/>
              </a:spcBef>
            </a:pPr>
            <a:r>
              <a:rPr lang="en-US" sz="1400" dirty="0">
                <a:solidFill>
                  <a:srgbClr val="0000FF"/>
                </a:solidFill>
                <a:latin typeface="Lucida Console" panose="020B0609040504020204" pitchFamily="49" charset="0"/>
                <a:cs typeface="Lucida Sans Unicode" panose="020B0602030504020204" pitchFamily="34" charset="0"/>
              </a:rPr>
              <a:t>+ (n = 50 vehicles)")</a:t>
            </a:r>
          </a:p>
        </p:txBody>
      </p:sp>
      <p:pic>
        <p:nvPicPr>
          <p:cNvPr id="3" name="Picture 2">
            <a:extLst>
              <a:ext uri="{FF2B5EF4-FFF2-40B4-BE49-F238E27FC236}">
                <a16:creationId xmlns:a16="http://schemas.microsoft.com/office/drawing/2014/main" id="{9A081331-3F28-4C60-A85F-835BB600ECC8}"/>
              </a:ext>
            </a:extLst>
          </p:cNvPr>
          <p:cNvPicPr>
            <a:picLocks noChangeAspect="1"/>
          </p:cNvPicPr>
          <p:nvPr/>
        </p:nvPicPr>
        <p:blipFill>
          <a:blip r:embed="rId2"/>
          <a:stretch>
            <a:fillRect/>
          </a:stretch>
        </p:blipFill>
        <p:spPr>
          <a:xfrm>
            <a:off x="1176629" y="3742968"/>
            <a:ext cx="3298390" cy="2523768"/>
          </a:xfrm>
          <a:prstGeom prst="rect">
            <a:avLst/>
          </a:prstGeom>
        </p:spPr>
      </p:pic>
      <p:pic>
        <p:nvPicPr>
          <p:cNvPr id="4" name="Picture 3">
            <a:extLst>
              <a:ext uri="{FF2B5EF4-FFF2-40B4-BE49-F238E27FC236}">
                <a16:creationId xmlns:a16="http://schemas.microsoft.com/office/drawing/2014/main" id="{E0FB13C8-EA78-411F-91A1-D82D74945578}"/>
              </a:ext>
            </a:extLst>
          </p:cNvPr>
          <p:cNvPicPr>
            <a:picLocks noChangeAspect="1"/>
          </p:cNvPicPr>
          <p:nvPr/>
        </p:nvPicPr>
        <p:blipFill>
          <a:blip r:embed="rId3"/>
          <a:stretch>
            <a:fillRect/>
          </a:stretch>
        </p:blipFill>
        <p:spPr>
          <a:xfrm>
            <a:off x="4572000" y="3777112"/>
            <a:ext cx="3200086" cy="2448551"/>
          </a:xfrm>
          <a:prstGeom prst="rect">
            <a:avLst/>
          </a:prstGeom>
        </p:spPr>
      </p:pic>
      <p:sp>
        <p:nvSpPr>
          <p:cNvPr id="8" name="TextBox 7">
            <a:extLst>
              <a:ext uri="{FF2B5EF4-FFF2-40B4-BE49-F238E27FC236}">
                <a16:creationId xmlns:a16="http://schemas.microsoft.com/office/drawing/2014/main" id="{78944E70-A1A5-406E-AD44-AAC62C8EC5C1}"/>
              </a:ext>
            </a:extLst>
          </p:cNvPr>
          <p:cNvSpPr txBox="1"/>
          <p:nvPr/>
        </p:nvSpPr>
        <p:spPr>
          <a:xfrm>
            <a:off x="6646404" y="1697742"/>
            <a:ext cx="2116596" cy="523220"/>
          </a:xfrm>
          <a:prstGeom prst="rect">
            <a:avLst/>
          </a:prstGeom>
          <a:noFill/>
        </p:spPr>
        <p:txBody>
          <a:bodyPr wrap="square" rtlCol="0">
            <a:spAutoFit/>
          </a:bodyPr>
          <a:lstStyle/>
          <a:p>
            <a:r>
              <a:rPr lang="en-US" sz="1400" i="1" dirty="0">
                <a:solidFill>
                  <a:srgbClr val="CC0000"/>
                </a:solidFill>
              </a:rPr>
              <a:t>Tip: </a:t>
            </a:r>
            <a:r>
              <a:rPr lang="en-US" sz="1400" dirty="0"/>
              <a:t>The </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a:t> symbol must precede a variable name.</a:t>
            </a:r>
          </a:p>
        </p:txBody>
      </p:sp>
      <p:sp>
        <p:nvSpPr>
          <p:cNvPr id="9" name="Arrow: Left 8">
            <a:extLst>
              <a:ext uri="{FF2B5EF4-FFF2-40B4-BE49-F238E27FC236}">
                <a16:creationId xmlns:a16="http://schemas.microsoft.com/office/drawing/2014/main" id="{20E2C199-ECA1-4BA2-AFA2-9ACB443B3242}"/>
              </a:ext>
            </a:extLst>
          </p:cNvPr>
          <p:cNvSpPr/>
          <p:nvPr/>
        </p:nvSpPr>
        <p:spPr>
          <a:xfrm>
            <a:off x="6092221" y="1769692"/>
            <a:ext cx="431353" cy="379320"/>
          </a:xfrm>
          <a:prstGeom prst="leftArrow">
            <a:avLst/>
          </a:prstGeom>
          <a:solidFill>
            <a:srgbClr val="C00000"/>
          </a:solidFill>
          <a:ln w="9525" algn="ctr">
            <a:solidFill>
              <a:schemeClr val="tx1"/>
            </a:solidFill>
            <a:round/>
            <a:headEnd/>
            <a:tailEnd/>
          </a:ln>
        </p:spPr>
        <p:txBody>
          <a:bodyPr/>
          <a:lstStyle/>
          <a:p>
            <a:endParaRPr lang="en-US">
              <a:solidFill>
                <a:srgbClr val="C00000"/>
              </a:solidFill>
              <a:latin typeface="Times New Roman" pitchFamily="18" charset="0"/>
            </a:endParaRPr>
          </a:p>
        </p:txBody>
      </p:sp>
    </p:spTree>
    <p:extLst>
      <p:ext uri="{BB962C8B-B14F-4D97-AF65-F5344CB8AC3E}">
        <p14:creationId xmlns:p14="http://schemas.microsoft.com/office/powerpoint/2010/main" val="126578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Correlation vs Regression</a:t>
            </a:r>
          </a:p>
        </p:txBody>
      </p:sp>
      <p:sp>
        <p:nvSpPr>
          <p:cNvPr id="2" name="TextBox 1">
            <a:extLst>
              <a:ext uri="{FF2B5EF4-FFF2-40B4-BE49-F238E27FC236}">
                <a16:creationId xmlns:a16="http://schemas.microsoft.com/office/drawing/2014/main" id="{4E9683B4-C8EF-4FC3-BF04-1950B4DC14D7}"/>
              </a:ext>
            </a:extLst>
          </p:cNvPr>
          <p:cNvSpPr txBox="1"/>
          <p:nvPr/>
        </p:nvSpPr>
        <p:spPr>
          <a:xfrm>
            <a:off x="1066800" y="1524000"/>
            <a:ext cx="7315200" cy="4062651"/>
          </a:xfrm>
          <a:prstGeom prst="rect">
            <a:avLst/>
          </a:prstGeom>
          <a:noFill/>
        </p:spPr>
        <p:txBody>
          <a:bodyPr wrap="square" rtlCol="0">
            <a:spAutoFit/>
          </a:bodyPr>
          <a:lstStyle/>
          <a:p>
            <a:r>
              <a:rPr lang="en-US" sz="2000" dirty="0"/>
              <a:t>Use </a:t>
            </a:r>
            <a:r>
              <a:rPr lang="en-US" sz="1400" dirty="0" err="1">
                <a:solidFill>
                  <a:srgbClr val="0000FF"/>
                </a:solidFill>
                <a:latin typeface="Lucida Console" panose="020B0609040504020204" pitchFamily="49" charset="0"/>
                <a:cs typeface="Lucida Sans Unicode" panose="020B0602030504020204" pitchFamily="34" charset="0"/>
              </a:rPr>
              <a:t>cor</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err="1">
                <a:solidFill>
                  <a:srgbClr val="0000FF"/>
                </a:solidFill>
                <a:latin typeface="Lucida Console" panose="020B0609040504020204" pitchFamily="49" charset="0"/>
                <a:cs typeface="Lucida Sans Unicode" panose="020B0602030504020204" pitchFamily="34" charset="0"/>
              </a:rPr>
              <a:t>x,y</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t> to get a correlation coefficient. Here, the correlation (0.65) indicates a strong positive relationship between a vehicle's weight and its horsepower. If you wish to go further, use </a:t>
            </a:r>
            <a:r>
              <a:rPr lang="en-US" sz="1400" dirty="0" err="1">
                <a:solidFill>
                  <a:srgbClr val="0000FF"/>
                </a:solidFill>
                <a:latin typeface="Lucida Console" panose="020B0609040504020204" pitchFamily="49" charset="0"/>
                <a:cs typeface="Lucida Sans Unicode" panose="020B0602030504020204" pitchFamily="34" charset="0"/>
              </a:rPr>
              <a:t>coef</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err="1">
                <a:solidFill>
                  <a:srgbClr val="0000FF"/>
                </a:solidFill>
                <a:latin typeface="Lucida Console" panose="020B0609040504020204" pitchFamily="49" charset="0"/>
                <a:cs typeface="Lucida Sans Unicode" panose="020B0602030504020204" pitchFamily="34" charset="0"/>
              </a:rPr>
              <a:t>y~x</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t> or </a:t>
            </a:r>
            <a:r>
              <a:rPr lang="en-US" sz="1400" dirty="0" err="1">
                <a:solidFill>
                  <a:srgbClr val="0000FF"/>
                </a:solidFill>
                <a:latin typeface="Lucida Console" panose="020B0609040504020204" pitchFamily="49" charset="0"/>
                <a:cs typeface="Lucida Sans Unicode" panose="020B0602030504020204" pitchFamily="34" charset="0"/>
              </a:rPr>
              <a:t>lm</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err="1">
                <a:solidFill>
                  <a:srgbClr val="0000FF"/>
                </a:solidFill>
                <a:latin typeface="Lucida Console" panose="020B0609040504020204" pitchFamily="49" charset="0"/>
                <a:cs typeface="Lucida Sans Unicode" panose="020B0602030504020204" pitchFamily="34" charset="0"/>
              </a:rPr>
              <a:t>y~x</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t> to see regression coefficients in the linear model </a:t>
            </a:r>
            <a:r>
              <a:rPr lang="en-US" sz="2000" i="1" dirty="0"/>
              <a:t>y</a:t>
            </a:r>
            <a:r>
              <a:rPr lang="en-US" sz="2000" dirty="0"/>
              <a:t> = </a:t>
            </a:r>
            <a:r>
              <a:rPr lang="en-US" sz="2000" i="1" dirty="0"/>
              <a:t>b</a:t>
            </a:r>
            <a:r>
              <a:rPr lang="en-US" sz="2000" baseline="-25000" dirty="0"/>
              <a:t>0</a:t>
            </a:r>
            <a:r>
              <a:rPr lang="en-US" sz="2000" dirty="0"/>
              <a:t> + </a:t>
            </a:r>
            <a:r>
              <a:rPr lang="en-US" sz="2000" i="1" dirty="0"/>
              <a:t>b</a:t>
            </a:r>
            <a:r>
              <a:rPr lang="en-US" sz="2000" baseline="-25000" dirty="0"/>
              <a:t>1</a:t>
            </a:r>
            <a:r>
              <a:rPr lang="en-US" sz="2000" i="1" dirty="0"/>
              <a:t>x</a:t>
            </a:r>
            <a:r>
              <a:rPr lang="en-US" sz="2000" dirty="0"/>
              <a:t>. Here, we ask whether a vehicle's weight (</a:t>
            </a:r>
            <a:r>
              <a:rPr lang="en-US" sz="1400" dirty="0">
                <a:solidFill>
                  <a:srgbClr val="0000FF"/>
                </a:solidFill>
                <a:latin typeface="Lucida Console" panose="020B0609040504020204" pitchFamily="49" charset="0"/>
                <a:cs typeface="Lucida Sans Unicode" panose="020B0602030504020204" pitchFamily="34" charset="0"/>
              </a:rPr>
              <a:t>x</a:t>
            </a:r>
            <a:r>
              <a:rPr lang="en-US" sz="2000" dirty="0"/>
              <a:t>) predicts the horsepower of its engine (</a:t>
            </a:r>
            <a:r>
              <a:rPr lang="en-US" sz="1400" dirty="0">
                <a:solidFill>
                  <a:srgbClr val="0000FF"/>
                </a:solidFill>
                <a:latin typeface="Lucida Console" panose="020B0609040504020204" pitchFamily="49" charset="0"/>
                <a:cs typeface="Lucida Sans Unicode" panose="020B0602030504020204" pitchFamily="34" charset="0"/>
              </a:rPr>
              <a:t>y</a:t>
            </a:r>
            <a:r>
              <a:rPr lang="en-US" sz="2000" dirty="0"/>
              <a:t>). The result says that each extra pound of weight requires .076 extra horsepower. The intercept is meaningless because no vehicle has zero weight.</a:t>
            </a:r>
          </a:p>
          <a:p>
            <a:endParaRPr lang="en-US" sz="1400" dirty="0"/>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cor</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err="1">
                <a:solidFill>
                  <a:srgbClr val="0000FF"/>
                </a:solidFill>
                <a:latin typeface="Lucida Console" panose="020B0609040504020204" pitchFamily="49" charset="0"/>
                <a:cs typeface="Lucida Sans Unicode" panose="020B0602030504020204" pitchFamily="34" charset="0"/>
              </a:rPr>
              <a:t>VehicleData$HP,VehicleData$Weight</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[1] 0.654359</a:t>
            </a: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coef</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err="1">
                <a:solidFill>
                  <a:srgbClr val="0000FF"/>
                </a:solidFill>
                <a:latin typeface="Lucida Console" panose="020B0609040504020204" pitchFamily="49" charset="0"/>
                <a:cs typeface="Lucida Sans Unicode" panose="020B0602030504020204" pitchFamily="34" charset="0"/>
              </a:rPr>
              <a:t>lm</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err="1">
                <a:solidFill>
                  <a:srgbClr val="0000FF"/>
                </a:solidFill>
                <a:latin typeface="Lucida Console" panose="020B0609040504020204" pitchFamily="49" charset="0"/>
                <a:cs typeface="Lucida Sans Unicode" panose="020B0602030504020204" pitchFamily="34" charset="0"/>
              </a:rPr>
              <a:t>VehicleData$HP~VehicleData$Weight</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       (Intercept) </a:t>
            </a:r>
            <a:r>
              <a:rPr lang="en-US" sz="1400" dirty="0" err="1">
                <a:latin typeface="Lucida Console" panose="020B0609040504020204" pitchFamily="49" charset="0"/>
                <a:cs typeface="Lucida Sans Unicode" panose="020B0602030504020204" pitchFamily="34" charset="0"/>
              </a:rPr>
              <a:t>VehicleData$Weight</a:t>
            </a:r>
            <a:r>
              <a:rPr lang="en-US" sz="1400" dirty="0">
                <a:latin typeface="Lucida Console" panose="020B0609040504020204" pitchFamily="49" charset="0"/>
                <a:cs typeface="Lucida Sans Unicode" panose="020B0602030504020204" pitchFamily="34" charset="0"/>
              </a:rPr>
              <a:t> </a:t>
            </a:r>
          </a:p>
          <a:p>
            <a:r>
              <a:rPr lang="en-US" sz="1400" dirty="0">
                <a:latin typeface="Lucida Console" panose="020B0609040504020204" pitchFamily="49" charset="0"/>
                <a:cs typeface="Lucida Sans Unicode" panose="020B0602030504020204" pitchFamily="34" charset="0"/>
              </a:rPr>
              <a:t>      -40.20742983         0.07649427</a:t>
            </a:r>
          </a:p>
          <a:p>
            <a:endParaRPr lang="en-US" sz="1400" dirty="0">
              <a:latin typeface="Lucida Console" panose="020B0609040504020204" pitchFamily="49" charset="0"/>
              <a:cs typeface="Lucida Sans Unicode" panose="020B0602030504020204" pitchFamily="34" charset="0"/>
            </a:endParaRPr>
          </a:p>
        </p:txBody>
      </p:sp>
      <p:sp>
        <p:nvSpPr>
          <p:cNvPr id="3" name="TextBox 2">
            <a:extLst>
              <a:ext uri="{FF2B5EF4-FFF2-40B4-BE49-F238E27FC236}">
                <a16:creationId xmlns:a16="http://schemas.microsoft.com/office/drawing/2014/main" id="{A985E0D7-1351-48B4-AD60-E17E9D5AC1C3}"/>
              </a:ext>
            </a:extLst>
          </p:cNvPr>
          <p:cNvSpPr txBox="1"/>
          <p:nvPr/>
        </p:nvSpPr>
        <p:spPr>
          <a:xfrm>
            <a:off x="2514600" y="5510365"/>
            <a:ext cx="4953000" cy="738664"/>
          </a:xfrm>
          <a:prstGeom prst="rect">
            <a:avLst/>
          </a:prstGeom>
          <a:noFill/>
        </p:spPr>
        <p:txBody>
          <a:bodyPr wrap="square" rtlCol="0">
            <a:spAutoFit/>
          </a:bodyPr>
          <a:lstStyle/>
          <a:p>
            <a:r>
              <a:rPr lang="en-US" sz="1400" i="1" dirty="0">
                <a:solidFill>
                  <a:srgbClr val="C00000"/>
                </a:solidFill>
              </a:rPr>
              <a:t>Tip: </a:t>
            </a:r>
            <a:r>
              <a:rPr lang="en-US" sz="1400" dirty="0"/>
              <a:t>In correlation, neither variable is designated as "independent" (the </a:t>
            </a:r>
            <a:r>
              <a:rPr lang="en-US" sz="1400" b="1" dirty="0">
                <a:solidFill>
                  <a:srgbClr val="C00000"/>
                </a:solidFill>
              </a:rPr>
              <a:t>predictor</a:t>
            </a:r>
            <a:r>
              <a:rPr lang="en-US" sz="1400" dirty="0"/>
              <a:t>) or "dependent" (the </a:t>
            </a:r>
            <a:r>
              <a:rPr lang="en-US" sz="1400" dirty="0">
                <a:solidFill>
                  <a:srgbClr val="C00000"/>
                </a:solidFill>
              </a:rPr>
              <a:t>response</a:t>
            </a:r>
            <a:r>
              <a:rPr lang="en-US" sz="1400" dirty="0"/>
              <a:t>). However, in regression we must state the model explicitly.</a:t>
            </a:r>
          </a:p>
        </p:txBody>
      </p:sp>
      <p:pic>
        <p:nvPicPr>
          <p:cNvPr id="5" name="Picture 4" descr="A close up of a clock&#10;&#10;Description automatically generated">
            <a:extLst>
              <a:ext uri="{FF2B5EF4-FFF2-40B4-BE49-F238E27FC236}">
                <a16:creationId xmlns:a16="http://schemas.microsoft.com/office/drawing/2014/main" id="{1BB12FC4-5F4C-4E1E-81DC-DB7136828F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6400" y="5510365"/>
            <a:ext cx="762751" cy="731759"/>
          </a:xfrm>
          <a:prstGeom prst="rect">
            <a:avLst/>
          </a:prstGeom>
        </p:spPr>
      </p:pic>
    </p:spTree>
    <p:extLst>
      <p:ext uri="{BB962C8B-B14F-4D97-AF65-F5344CB8AC3E}">
        <p14:creationId xmlns:p14="http://schemas.microsoft.com/office/powerpoint/2010/main" val="1591912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Regression</a:t>
            </a:r>
          </a:p>
        </p:txBody>
      </p:sp>
      <p:sp>
        <p:nvSpPr>
          <p:cNvPr id="2" name="TextBox 1">
            <a:extLst>
              <a:ext uri="{FF2B5EF4-FFF2-40B4-BE49-F238E27FC236}">
                <a16:creationId xmlns:a16="http://schemas.microsoft.com/office/drawing/2014/main" id="{4E9683B4-C8EF-4FC3-BF04-1950B4DC14D7}"/>
              </a:ext>
            </a:extLst>
          </p:cNvPr>
          <p:cNvSpPr txBox="1"/>
          <p:nvPr/>
        </p:nvSpPr>
        <p:spPr>
          <a:xfrm>
            <a:off x="1066800" y="1524000"/>
            <a:ext cx="7162800" cy="4955203"/>
          </a:xfrm>
          <a:prstGeom prst="rect">
            <a:avLst/>
          </a:prstGeom>
          <a:noFill/>
        </p:spPr>
        <p:txBody>
          <a:bodyPr wrap="square" rtlCol="0">
            <a:spAutoFit/>
          </a:bodyPr>
          <a:lstStyle/>
          <a:p>
            <a:r>
              <a:rPr lang="en-US" sz="2000" dirty="0"/>
              <a:t>Use </a:t>
            </a:r>
            <a:r>
              <a:rPr lang="en-US" sz="1400" dirty="0">
                <a:solidFill>
                  <a:srgbClr val="0000FF"/>
                </a:solidFill>
                <a:latin typeface="Lucida Console" panose="020B0609040504020204" pitchFamily="49" charset="0"/>
                <a:cs typeface="Lucida Sans Unicode" panose="020B0602030504020204" pitchFamily="34" charset="0"/>
              </a:rPr>
              <a:t>summary(</a:t>
            </a:r>
            <a:r>
              <a:rPr lang="en-US" sz="1400" dirty="0" err="1">
                <a:solidFill>
                  <a:srgbClr val="0000FF"/>
                </a:solidFill>
                <a:latin typeface="Lucida Console" panose="020B0609040504020204" pitchFamily="49" charset="0"/>
                <a:cs typeface="Lucida Sans Unicode" panose="020B0602030504020204" pitchFamily="34" charset="0"/>
              </a:rPr>
              <a:t>lm</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err="1">
                <a:solidFill>
                  <a:srgbClr val="0000FF"/>
                </a:solidFill>
                <a:latin typeface="Lucida Console" panose="020B0609040504020204" pitchFamily="49" charset="0"/>
                <a:cs typeface="Lucida Sans Unicode" panose="020B0602030504020204" pitchFamily="34" charset="0"/>
              </a:rPr>
              <a:t>y~x</a:t>
            </a:r>
            <a:r>
              <a:rPr lang="en-US" sz="1400" dirty="0">
                <a:solidFill>
                  <a:srgbClr val="0000FF"/>
                </a:solidFill>
                <a:latin typeface="Lucida Console" panose="020B0609040504020204" pitchFamily="49" charset="0"/>
                <a:cs typeface="Lucida Sans Unicode" panose="020B0602030504020204" pitchFamily="34" charset="0"/>
              </a:rPr>
              <a:t>)) </a:t>
            </a:r>
            <a:r>
              <a:rPr lang="en-US" sz="2000" dirty="0"/>
              <a:t>to see details of the regression.</a:t>
            </a:r>
            <a:r>
              <a:rPr lang="en-US" dirty="0"/>
              <a:t> </a:t>
            </a:r>
            <a:r>
              <a:rPr lang="en-US" sz="2000" dirty="0"/>
              <a:t>Here, weight "explains" 42.82 percent of variation in horsepower. A multiple regression would perhaps improve the fit (see Chapter 13).</a:t>
            </a:r>
          </a:p>
          <a:p>
            <a:endParaRPr lang="en-US" sz="1400" dirty="0"/>
          </a:p>
          <a:p>
            <a:r>
              <a:rPr lang="en-US" sz="1400" dirty="0">
                <a:solidFill>
                  <a:srgbClr val="0000FF"/>
                </a:solidFill>
                <a:latin typeface="Lucida Console" panose="020B0609040504020204" pitchFamily="49" charset="0"/>
                <a:cs typeface="Lucida Sans Unicode" panose="020B0602030504020204" pitchFamily="34" charset="0"/>
              </a:rPr>
              <a:t>&gt; summary(</a:t>
            </a:r>
            <a:r>
              <a:rPr lang="en-US" sz="1400" dirty="0" err="1">
                <a:solidFill>
                  <a:srgbClr val="0000FF"/>
                </a:solidFill>
                <a:latin typeface="Lucida Console" panose="020B0609040504020204" pitchFamily="49" charset="0"/>
                <a:cs typeface="Lucida Sans Unicode" panose="020B0602030504020204" pitchFamily="34" charset="0"/>
              </a:rPr>
              <a:t>lm</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err="1">
                <a:solidFill>
                  <a:srgbClr val="0000FF"/>
                </a:solidFill>
                <a:latin typeface="Lucida Console" panose="020B0609040504020204" pitchFamily="49" charset="0"/>
                <a:cs typeface="Lucida Sans Unicode" panose="020B0602030504020204" pitchFamily="34" charset="0"/>
              </a:rPr>
              <a:t>VehicleData$HP~VehicleData$Weight</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err="1">
                <a:latin typeface="Lucida Console" panose="020B0609040504020204" pitchFamily="49" charset="0"/>
                <a:cs typeface="Lucida Sans Unicode" panose="020B0602030504020204" pitchFamily="34" charset="0"/>
              </a:rPr>
              <a:t>lm</a:t>
            </a:r>
            <a:r>
              <a:rPr lang="en-US" sz="1400" dirty="0">
                <a:latin typeface="Lucida Console" panose="020B0609040504020204" pitchFamily="49" charset="0"/>
                <a:cs typeface="Lucida Sans Unicode" panose="020B0602030504020204" pitchFamily="34" charset="0"/>
              </a:rPr>
              <a:t>(formula = </a:t>
            </a:r>
            <a:r>
              <a:rPr lang="en-US" sz="1400" dirty="0" err="1">
                <a:latin typeface="Lucida Console" panose="020B0609040504020204" pitchFamily="49" charset="0"/>
                <a:cs typeface="Lucida Sans Unicode" panose="020B0602030504020204" pitchFamily="34" charset="0"/>
              </a:rPr>
              <a:t>VehicleData$HP</a:t>
            </a:r>
            <a:r>
              <a:rPr lang="en-US" sz="1400" dirty="0">
                <a:latin typeface="Lucida Console" panose="020B0609040504020204" pitchFamily="49" charset="0"/>
                <a:cs typeface="Lucida Sans Unicode" panose="020B0602030504020204" pitchFamily="34" charset="0"/>
              </a:rPr>
              <a:t> ~ </a:t>
            </a:r>
            <a:r>
              <a:rPr lang="en-US" sz="1400" dirty="0" err="1">
                <a:latin typeface="Lucida Console" panose="020B0609040504020204" pitchFamily="49" charset="0"/>
                <a:cs typeface="Lucida Sans Unicode" panose="020B0602030504020204" pitchFamily="34" charset="0"/>
              </a:rPr>
              <a:t>VehicleData$Weight</a:t>
            </a:r>
            <a:r>
              <a:rPr lang="en-US" sz="1400" dirty="0">
                <a:latin typeface="Lucida Console" panose="020B0609040504020204" pitchFamily="49" charset="0"/>
                <a:cs typeface="Lucida Sans Unicode" panose="020B0602030504020204" pitchFamily="34" charset="0"/>
              </a:rPr>
              <a:t>)</a:t>
            </a:r>
          </a:p>
          <a:p>
            <a:endParaRPr lang="en-US" sz="1400" dirty="0">
              <a:latin typeface="Lucida Console" panose="020B0609040504020204" pitchFamily="49" charset="0"/>
              <a:cs typeface="Lucida Sans Unicode" panose="020B0602030504020204" pitchFamily="34" charset="0"/>
            </a:endParaRPr>
          </a:p>
          <a:p>
            <a:r>
              <a:rPr lang="en-US" sz="1400" dirty="0">
                <a:latin typeface="Lucida Console" panose="020B0609040504020204" pitchFamily="49" charset="0"/>
                <a:cs typeface="Lucida Sans Unicode" panose="020B0602030504020204" pitchFamily="34" charset="0"/>
              </a:rPr>
              <a:t>Residuals:</a:t>
            </a:r>
          </a:p>
          <a:p>
            <a:r>
              <a:rPr lang="en-US" sz="1400" dirty="0">
                <a:latin typeface="Lucida Console" panose="020B0609040504020204" pitchFamily="49" charset="0"/>
                <a:cs typeface="Lucida Sans Unicode" panose="020B0602030504020204" pitchFamily="34" charset="0"/>
              </a:rPr>
              <a:t>    Min      1Q  Median      3Q     Max </a:t>
            </a:r>
          </a:p>
          <a:p>
            <a:r>
              <a:rPr lang="en-US" sz="1400" dirty="0">
                <a:latin typeface="Lucida Console" panose="020B0609040504020204" pitchFamily="49" charset="0"/>
                <a:cs typeface="Lucida Sans Unicode" panose="020B0602030504020204" pitchFamily="34" charset="0"/>
              </a:rPr>
              <a:t>-103.24  -35.82  -11.89    3.40  368.97 </a:t>
            </a:r>
          </a:p>
          <a:p>
            <a:endParaRPr lang="en-US" sz="1400" dirty="0">
              <a:latin typeface="Lucida Console" panose="020B0609040504020204" pitchFamily="49" charset="0"/>
              <a:cs typeface="Lucida Sans Unicode" panose="020B0602030504020204" pitchFamily="34" charset="0"/>
            </a:endParaRPr>
          </a:p>
          <a:p>
            <a:r>
              <a:rPr lang="en-US" sz="1400" dirty="0">
                <a:latin typeface="Lucida Console" panose="020B0609040504020204" pitchFamily="49" charset="0"/>
                <a:cs typeface="Lucida Sans Unicode" panose="020B0602030504020204" pitchFamily="34" charset="0"/>
              </a:rPr>
              <a:t>Coefficients:</a:t>
            </a:r>
          </a:p>
          <a:p>
            <a:r>
              <a:rPr lang="en-US" sz="1400" dirty="0">
                <a:latin typeface="Lucida Console" panose="020B0609040504020204" pitchFamily="49" charset="0"/>
                <a:cs typeface="Lucida Sans Unicode" panose="020B0602030504020204" pitchFamily="34" charset="0"/>
              </a:rPr>
              <a:t>                    Estimate Std. Error t value </a:t>
            </a:r>
            <a:r>
              <a:rPr lang="en-US" sz="1400" dirty="0" err="1">
                <a:latin typeface="Lucida Console" panose="020B0609040504020204" pitchFamily="49" charset="0"/>
                <a:cs typeface="Lucida Sans Unicode" panose="020B0602030504020204" pitchFamily="34" charset="0"/>
              </a:rPr>
              <a:t>Pr</a:t>
            </a:r>
            <a:r>
              <a:rPr lang="en-US" sz="1400" dirty="0">
                <a:latin typeface="Lucida Console" panose="020B0609040504020204" pitchFamily="49" charset="0"/>
                <a:cs typeface="Lucida Sans Unicode" panose="020B0602030504020204" pitchFamily="34" charset="0"/>
              </a:rPr>
              <a:t>(&gt;|t|)    </a:t>
            </a:r>
          </a:p>
          <a:p>
            <a:r>
              <a:rPr lang="en-US" sz="1400" dirty="0">
                <a:latin typeface="Lucida Console" panose="020B0609040504020204" pitchFamily="49" charset="0"/>
                <a:cs typeface="Lucida Sans Unicode" panose="020B0602030504020204" pitchFamily="34" charset="0"/>
              </a:rPr>
              <a:t>(Intercept)        -40.20743   51.59891  -0.779     0.44    </a:t>
            </a:r>
          </a:p>
          <a:p>
            <a:r>
              <a:rPr lang="en-US" sz="1400" dirty="0" err="1">
                <a:latin typeface="Lucida Console" panose="020B0609040504020204" pitchFamily="49" charset="0"/>
                <a:cs typeface="Lucida Sans Unicode" panose="020B0602030504020204" pitchFamily="34" charset="0"/>
              </a:rPr>
              <a:t>VehicleData$Weight</a:t>
            </a:r>
            <a:r>
              <a:rPr lang="en-US" sz="1400" dirty="0">
                <a:latin typeface="Lucida Console" panose="020B0609040504020204" pitchFamily="49" charset="0"/>
                <a:cs typeface="Lucida Sans Unicode" panose="020B0602030504020204" pitchFamily="34" charset="0"/>
              </a:rPr>
              <a:t>   0.07649    0.01276   5.995 2.55e-07 ***</a:t>
            </a:r>
          </a:p>
          <a:p>
            <a:r>
              <a:rPr lang="en-US" sz="1400" dirty="0">
                <a:latin typeface="Lucida Console" panose="020B0609040504020204" pitchFamily="49" charset="0"/>
                <a:cs typeface="Lucida Sans Unicode" panose="020B0602030504020204" pitchFamily="34" charset="0"/>
              </a:rPr>
              <a:t>---</a:t>
            </a:r>
          </a:p>
          <a:p>
            <a:r>
              <a:rPr lang="en-US" sz="1400" dirty="0" err="1">
                <a:latin typeface="Lucida Console" panose="020B0609040504020204" pitchFamily="49" charset="0"/>
                <a:cs typeface="Lucida Sans Unicode" panose="020B0602030504020204" pitchFamily="34" charset="0"/>
              </a:rPr>
              <a:t>Signif</a:t>
            </a:r>
            <a:r>
              <a:rPr lang="en-US" sz="1400" dirty="0">
                <a:latin typeface="Lucida Console" panose="020B0609040504020204" pitchFamily="49" charset="0"/>
                <a:cs typeface="Lucida Sans Unicode" panose="020B0602030504020204" pitchFamily="34" charset="0"/>
              </a:rPr>
              <a:t>. codes:  0 ‘***’ 0.001 ‘**’ 0.01 ‘*’ 0.05 ‘.’ 0.1 ‘ ’ 1</a:t>
            </a:r>
          </a:p>
          <a:p>
            <a:endParaRPr lang="en-US" sz="1400" dirty="0">
              <a:latin typeface="Lucida Console" panose="020B0609040504020204" pitchFamily="49" charset="0"/>
              <a:cs typeface="Lucida Sans Unicode" panose="020B0602030504020204" pitchFamily="34" charset="0"/>
            </a:endParaRPr>
          </a:p>
          <a:p>
            <a:r>
              <a:rPr lang="en-US" sz="1400" dirty="0">
                <a:latin typeface="Lucida Console" panose="020B0609040504020204" pitchFamily="49" charset="0"/>
                <a:cs typeface="Lucida Sans Unicode" panose="020B0602030504020204" pitchFamily="34" charset="0"/>
              </a:rPr>
              <a:t>Residual standard error: 76.42 on 48 degrees of freedom</a:t>
            </a:r>
          </a:p>
          <a:p>
            <a:r>
              <a:rPr lang="en-US" sz="1400" dirty="0">
                <a:latin typeface="Lucida Console" panose="020B0609040504020204" pitchFamily="49" charset="0"/>
                <a:cs typeface="Lucida Sans Unicode" panose="020B0602030504020204" pitchFamily="34" charset="0"/>
              </a:rPr>
              <a:t>Multiple R-squared:  0.4282,	Adjusted R-squared:  0.4163 </a:t>
            </a:r>
          </a:p>
          <a:p>
            <a:r>
              <a:rPr lang="en-US" sz="1400" dirty="0">
                <a:latin typeface="Lucida Console" panose="020B0609040504020204" pitchFamily="49" charset="0"/>
                <a:cs typeface="Lucida Sans Unicode" panose="020B0602030504020204" pitchFamily="34" charset="0"/>
              </a:rPr>
              <a:t>F-statistic: 35.94 on 1 and 48 DF,  p-value: 2.549e-07</a:t>
            </a:r>
          </a:p>
        </p:txBody>
      </p:sp>
    </p:spTree>
    <p:extLst>
      <p:ext uri="{BB962C8B-B14F-4D97-AF65-F5344CB8AC3E}">
        <p14:creationId xmlns:p14="http://schemas.microsoft.com/office/powerpoint/2010/main" val="62568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Correlation Matrix</a:t>
            </a:r>
          </a:p>
        </p:txBody>
      </p:sp>
      <p:sp>
        <p:nvSpPr>
          <p:cNvPr id="2" name="TextBox 1">
            <a:extLst>
              <a:ext uri="{FF2B5EF4-FFF2-40B4-BE49-F238E27FC236}">
                <a16:creationId xmlns:a16="http://schemas.microsoft.com/office/drawing/2014/main" id="{ADD59C14-B242-4582-B517-EBB3AE8E4CC6}"/>
              </a:ext>
            </a:extLst>
          </p:cNvPr>
          <p:cNvSpPr txBox="1"/>
          <p:nvPr/>
        </p:nvSpPr>
        <p:spPr>
          <a:xfrm>
            <a:off x="876300" y="1219200"/>
            <a:ext cx="7543800" cy="1631216"/>
          </a:xfrm>
          <a:prstGeom prst="rect">
            <a:avLst/>
          </a:prstGeom>
          <a:noFill/>
        </p:spPr>
        <p:txBody>
          <a:bodyPr wrap="square" rtlCol="0">
            <a:spAutoFit/>
          </a:bodyPr>
          <a:lstStyle/>
          <a:p>
            <a:r>
              <a:rPr lang="en-US" sz="2000" dirty="0"/>
              <a:t>It would be tedious to check correlations one pair at a time (our data frame </a:t>
            </a:r>
            <a:r>
              <a:rPr lang="en-US" sz="1400" dirty="0" err="1">
                <a:solidFill>
                  <a:srgbClr val="0000FF"/>
                </a:solidFill>
                <a:latin typeface="Lucida Console" panose="020B0609040504020204" pitchFamily="49" charset="0"/>
              </a:rPr>
              <a:t>VehicleData</a:t>
            </a:r>
            <a:r>
              <a:rPr lang="en-US" sz="2000" dirty="0"/>
              <a:t> has 17 columns). To get a </a:t>
            </a:r>
            <a:r>
              <a:rPr lang="en-US" sz="2000" b="1" dirty="0">
                <a:solidFill>
                  <a:srgbClr val="C00000"/>
                </a:solidFill>
              </a:rPr>
              <a:t>correlation matrix</a:t>
            </a:r>
            <a:r>
              <a:rPr lang="en-US" sz="2000" dirty="0"/>
              <a:t>, we first create a new data frame (called a </a:t>
            </a:r>
            <a:r>
              <a:rPr lang="en-US" sz="2000" b="1" dirty="0" err="1">
                <a:solidFill>
                  <a:srgbClr val="C00000"/>
                </a:solidFill>
              </a:rPr>
              <a:t>tibble</a:t>
            </a:r>
            <a:r>
              <a:rPr lang="en-US" sz="2000" dirty="0"/>
              <a:t>) containing only the </a:t>
            </a:r>
            <a:r>
              <a:rPr lang="en-US" sz="2000" i="1" dirty="0"/>
              <a:t>numerical</a:t>
            </a:r>
            <a:r>
              <a:rPr lang="en-US" sz="2000" dirty="0"/>
              <a:t> variables of interest (excluding vehicle brand, body style, </a:t>
            </a:r>
            <a:r>
              <a:rPr lang="en-US" sz="2000" dirty="0" err="1"/>
              <a:t>etc</a:t>
            </a:r>
            <a:r>
              <a:rPr lang="en-US" sz="2000" dirty="0"/>
              <a:t>). We select 9 interesting variables and copy them into </a:t>
            </a:r>
            <a:r>
              <a:rPr lang="en-US" sz="1400" dirty="0" err="1">
                <a:solidFill>
                  <a:srgbClr val="0000FF"/>
                </a:solidFill>
                <a:latin typeface="Lucida Console" panose="020B0609040504020204" pitchFamily="49" charset="0"/>
              </a:rPr>
              <a:t>NumData</a:t>
            </a:r>
            <a:r>
              <a:rPr lang="en-US" sz="2000" dirty="0"/>
              <a:t>.</a:t>
            </a:r>
          </a:p>
        </p:txBody>
      </p:sp>
      <p:sp>
        <p:nvSpPr>
          <p:cNvPr id="4" name="TextBox 3">
            <a:extLst>
              <a:ext uri="{FF2B5EF4-FFF2-40B4-BE49-F238E27FC236}">
                <a16:creationId xmlns:a16="http://schemas.microsoft.com/office/drawing/2014/main" id="{35BD4564-42D7-4117-9910-A09AAB8DA9E5}"/>
              </a:ext>
            </a:extLst>
          </p:cNvPr>
          <p:cNvSpPr txBox="1"/>
          <p:nvPr/>
        </p:nvSpPr>
        <p:spPr>
          <a:xfrm>
            <a:off x="876300" y="2937570"/>
            <a:ext cx="7543800" cy="3539430"/>
          </a:xfrm>
          <a:prstGeom prst="rect">
            <a:avLst/>
          </a:prstGeom>
          <a:noFill/>
        </p:spPr>
        <p:txBody>
          <a:bodyPr wrap="square" rtlCol="0">
            <a:spAutoFit/>
          </a:bodyPr>
          <a:lstStyle/>
          <a:p>
            <a:r>
              <a:rPr lang="en-US" sz="1400" dirty="0">
                <a:solidFill>
                  <a:srgbClr val="0000FF"/>
                </a:solidFill>
                <a:latin typeface="Lucida Console" panose="020B0609040504020204" pitchFamily="49" charset="0"/>
              </a:rPr>
              <a:t>&gt; </a:t>
            </a:r>
            <a:r>
              <a:rPr lang="en-US" sz="1400" dirty="0" err="1">
                <a:solidFill>
                  <a:srgbClr val="0000FF"/>
                </a:solidFill>
                <a:latin typeface="Lucida Console" panose="020B0609040504020204" pitchFamily="49" charset="0"/>
              </a:rPr>
              <a:t>NumData</a:t>
            </a:r>
            <a:r>
              <a:rPr lang="en-US" sz="1400" dirty="0">
                <a:solidFill>
                  <a:srgbClr val="0000FF"/>
                </a:solidFill>
                <a:latin typeface="Lucida Console" panose="020B0609040504020204" pitchFamily="49" charset="0"/>
              </a:rPr>
              <a:t>=</a:t>
            </a:r>
            <a:r>
              <a:rPr lang="en-US" sz="1400" dirty="0" err="1">
                <a:solidFill>
                  <a:srgbClr val="0000FF"/>
                </a:solidFill>
                <a:latin typeface="Lucida Console" panose="020B0609040504020204" pitchFamily="49" charset="0"/>
              </a:rPr>
              <a:t>VehicleData</a:t>
            </a:r>
            <a:r>
              <a:rPr lang="en-US" sz="1400" dirty="0">
                <a:solidFill>
                  <a:srgbClr val="0000FF"/>
                </a:solidFill>
                <a:latin typeface="Lucida Console" panose="020B0609040504020204" pitchFamily="49" charset="0"/>
              </a:rPr>
              <a:t>[c(5:13)]</a:t>
            </a:r>
          </a:p>
          <a:p>
            <a:r>
              <a:rPr lang="en-US" sz="1400" dirty="0">
                <a:solidFill>
                  <a:srgbClr val="0000FF"/>
                </a:solidFill>
                <a:latin typeface="Lucida Console" panose="020B0609040504020204" pitchFamily="49" charset="0"/>
              </a:rPr>
              <a:t>&gt; </a:t>
            </a:r>
            <a:r>
              <a:rPr lang="en-US" sz="1400" dirty="0" err="1">
                <a:solidFill>
                  <a:srgbClr val="0000FF"/>
                </a:solidFill>
                <a:latin typeface="Lucida Console" panose="020B0609040504020204" pitchFamily="49" charset="0"/>
              </a:rPr>
              <a:t>NumData</a:t>
            </a:r>
            <a:endParaRPr lang="en-US" sz="1400" dirty="0">
              <a:solidFill>
                <a:srgbClr val="0000FF"/>
              </a:solidFill>
              <a:latin typeface="Lucida Console" panose="020B0609040504020204" pitchFamily="49" charset="0"/>
            </a:endParaRPr>
          </a:p>
          <a:p>
            <a:r>
              <a:rPr lang="en-US" sz="1400" dirty="0">
                <a:latin typeface="Lucida Console" panose="020B0609040504020204" pitchFamily="49" charset="0"/>
              </a:rPr>
              <a:t># A </a:t>
            </a:r>
            <a:r>
              <a:rPr lang="en-US" sz="1400" dirty="0" err="1">
                <a:latin typeface="Lucida Console" panose="020B0609040504020204" pitchFamily="49" charset="0"/>
              </a:rPr>
              <a:t>tibble</a:t>
            </a:r>
            <a:r>
              <a:rPr lang="en-US" sz="1400" dirty="0">
                <a:latin typeface="Lucida Console" panose="020B0609040504020204" pitchFamily="49" charset="0"/>
              </a:rPr>
              <a:t>: 50 x 9</a:t>
            </a:r>
          </a:p>
          <a:p>
            <a:r>
              <a:rPr lang="en-US" sz="1400" dirty="0">
                <a:latin typeface="Lucida Console" panose="020B0609040504020204" pitchFamily="49" charset="0"/>
              </a:rPr>
              <a:t>   Doors    HP Engine </a:t>
            </a:r>
            <a:r>
              <a:rPr lang="en-US" sz="1400" dirty="0" err="1">
                <a:latin typeface="Lucida Console" panose="020B0609040504020204" pitchFamily="49" charset="0"/>
              </a:rPr>
              <a:t>CityMPG</a:t>
            </a:r>
            <a:r>
              <a:rPr lang="en-US" sz="1400" dirty="0">
                <a:latin typeface="Lucida Console" panose="020B0609040504020204" pitchFamily="49" charset="0"/>
              </a:rPr>
              <a:t> </a:t>
            </a:r>
            <a:r>
              <a:rPr lang="en-US" sz="1400" dirty="0" err="1">
                <a:latin typeface="Lucida Console" panose="020B0609040504020204" pitchFamily="49" charset="0"/>
              </a:rPr>
              <a:t>HwyMPG</a:t>
            </a:r>
            <a:r>
              <a:rPr lang="en-US" sz="1400" dirty="0">
                <a:latin typeface="Lucida Console" panose="020B0609040504020204" pitchFamily="49" charset="0"/>
              </a:rPr>
              <a:t> Weight Length Width Height</a:t>
            </a:r>
          </a:p>
          <a:p>
            <a:r>
              <a:rPr lang="en-US" sz="1400" dirty="0">
                <a:latin typeface="Lucida Console" panose="020B0609040504020204" pitchFamily="49" charset="0"/>
              </a:rPr>
              <a:t>   &lt;</a:t>
            </a:r>
            <a:r>
              <a:rPr lang="en-US" sz="1400" dirty="0" err="1">
                <a:latin typeface="Lucida Console" panose="020B0609040504020204" pitchFamily="49" charset="0"/>
              </a:rPr>
              <a:t>dbl</a:t>
            </a:r>
            <a:r>
              <a:rPr lang="en-US" sz="1400" dirty="0">
                <a:latin typeface="Lucida Console" panose="020B0609040504020204" pitchFamily="49" charset="0"/>
              </a:rPr>
              <a:t>&gt; &lt;</a:t>
            </a:r>
            <a:r>
              <a:rPr lang="en-US" sz="1400" dirty="0" err="1">
                <a:latin typeface="Lucida Console" panose="020B0609040504020204" pitchFamily="49" charset="0"/>
              </a:rPr>
              <a:t>dbl</a:t>
            </a:r>
            <a:r>
              <a:rPr lang="en-US" sz="1400" dirty="0">
                <a:latin typeface="Lucida Console" panose="020B0609040504020204" pitchFamily="49" charset="0"/>
              </a:rPr>
              <a:t>&gt;  &lt;</a:t>
            </a:r>
            <a:r>
              <a:rPr lang="en-US" sz="1400" dirty="0" err="1">
                <a:latin typeface="Lucida Console" panose="020B0609040504020204" pitchFamily="49" charset="0"/>
              </a:rPr>
              <a:t>dbl</a:t>
            </a:r>
            <a:r>
              <a:rPr lang="en-US" sz="1400" dirty="0">
                <a:latin typeface="Lucida Console" panose="020B0609040504020204" pitchFamily="49" charset="0"/>
              </a:rPr>
              <a:t>&gt;   &lt;</a:t>
            </a:r>
            <a:r>
              <a:rPr lang="en-US" sz="1400" dirty="0" err="1">
                <a:latin typeface="Lucida Console" panose="020B0609040504020204" pitchFamily="49" charset="0"/>
              </a:rPr>
              <a:t>dbl</a:t>
            </a:r>
            <a:r>
              <a:rPr lang="en-US" sz="1400" dirty="0">
                <a:latin typeface="Lucida Console" panose="020B0609040504020204" pitchFamily="49" charset="0"/>
              </a:rPr>
              <a:t>&gt;  &lt;</a:t>
            </a:r>
            <a:r>
              <a:rPr lang="en-US" sz="1400" dirty="0" err="1">
                <a:latin typeface="Lucida Console" panose="020B0609040504020204" pitchFamily="49" charset="0"/>
              </a:rPr>
              <a:t>dbl</a:t>
            </a:r>
            <a:r>
              <a:rPr lang="en-US" sz="1400" dirty="0">
                <a:latin typeface="Lucida Console" panose="020B0609040504020204" pitchFamily="49" charset="0"/>
              </a:rPr>
              <a:t>&gt;  &lt;</a:t>
            </a:r>
            <a:r>
              <a:rPr lang="en-US" sz="1400" dirty="0" err="1">
                <a:latin typeface="Lucida Console" panose="020B0609040504020204" pitchFamily="49" charset="0"/>
              </a:rPr>
              <a:t>dbl</a:t>
            </a:r>
            <a:r>
              <a:rPr lang="en-US" sz="1400" dirty="0">
                <a:latin typeface="Lucida Console" panose="020B0609040504020204" pitchFamily="49" charset="0"/>
              </a:rPr>
              <a:t>&gt;  &lt;</a:t>
            </a:r>
            <a:r>
              <a:rPr lang="en-US" sz="1400" dirty="0" err="1">
                <a:latin typeface="Lucida Console" panose="020B0609040504020204" pitchFamily="49" charset="0"/>
              </a:rPr>
              <a:t>dbl</a:t>
            </a:r>
            <a:r>
              <a:rPr lang="en-US" sz="1400" dirty="0">
                <a:latin typeface="Lucida Console" panose="020B0609040504020204" pitchFamily="49" charset="0"/>
              </a:rPr>
              <a:t>&gt; &lt;</a:t>
            </a:r>
            <a:r>
              <a:rPr lang="en-US" sz="1400" dirty="0" err="1">
                <a:latin typeface="Lucida Console" panose="020B0609040504020204" pitchFamily="49" charset="0"/>
              </a:rPr>
              <a:t>dbl</a:t>
            </a:r>
            <a:r>
              <a:rPr lang="en-US" sz="1400" dirty="0">
                <a:latin typeface="Lucida Console" panose="020B0609040504020204" pitchFamily="49" charset="0"/>
              </a:rPr>
              <a:t>&gt;  &lt;</a:t>
            </a:r>
            <a:r>
              <a:rPr lang="en-US" sz="1400" dirty="0" err="1">
                <a:latin typeface="Lucida Console" panose="020B0609040504020204" pitchFamily="49" charset="0"/>
              </a:rPr>
              <a:t>dbl</a:t>
            </a:r>
            <a:r>
              <a:rPr lang="en-US" sz="1400" dirty="0">
                <a:latin typeface="Lucida Console" panose="020B0609040504020204" pitchFamily="49" charset="0"/>
              </a:rPr>
              <a:t>&gt;</a:t>
            </a:r>
          </a:p>
          <a:p>
            <a:r>
              <a:rPr lang="en-US" sz="1400" dirty="0">
                <a:latin typeface="Lucida Console" panose="020B0609040504020204" pitchFamily="49" charset="0"/>
              </a:rPr>
              <a:t> 1     4   272   2000      21     27   4026   187.  74.8   65.7</a:t>
            </a:r>
          </a:p>
          <a:p>
            <a:r>
              <a:rPr lang="en-US" sz="1400" dirty="0">
                <a:latin typeface="Lucida Console" panose="020B0609040504020204" pitchFamily="49" charset="0"/>
              </a:rPr>
              <a:t> 2     4   206   2400      23     33   3505   191.  73     57  </a:t>
            </a:r>
          </a:p>
          <a:p>
            <a:r>
              <a:rPr lang="en-US" sz="1400" dirty="0">
                <a:latin typeface="Lucida Console" panose="020B0609040504020204" pitchFamily="49" charset="0"/>
              </a:rPr>
              <a:t> 3     2   602   5200      13     20   3572   174.  76.4   49  </a:t>
            </a:r>
          </a:p>
          <a:p>
            <a:r>
              <a:rPr lang="en-US" sz="1400" dirty="0">
                <a:latin typeface="Lucida Console" panose="020B0609040504020204" pitchFamily="49" charset="0"/>
              </a:rPr>
              <a:t> 4     4   382   2998      22     30   3489   186.  71.9   56  </a:t>
            </a:r>
          </a:p>
          <a:p>
            <a:r>
              <a:rPr lang="en-US" sz="1400" dirty="0">
                <a:latin typeface="Lucida Console" panose="020B0609040504020204" pitchFamily="49" charset="0"/>
              </a:rPr>
              <a:t> 5     4   335   3000      21     26   4758   194.  78.9   68.7</a:t>
            </a:r>
          </a:p>
          <a:p>
            <a:r>
              <a:rPr lang="en-US" sz="1400" dirty="0">
                <a:latin typeface="Lucida Console" panose="020B0609040504020204" pitchFamily="49" charset="0"/>
              </a:rPr>
              <a:t> 6     4   310   3600      17     25   4685   204.  78.8   69.9</a:t>
            </a:r>
          </a:p>
          <a:p>
            <a:r>
              <a:rPr lang="en-US" sz="1400" dirty="0">
                <a:latin typeface="Lucida Console" panose="020B0609040504020204" pitchFamily="49" charset="0"/>
              </a:rPr>
              <a:t> 7     4   250   2000      22     32   3902   193.  73.3   57.3</a:t>
            </a:r>
          </a:p>
          <a:p>
            <a:r>
              <a:rPr lang="en-US" sz="1400" dirty="0">
                <a:latin typeface="Lucida Console" panose="020B0609040504020204" pitchFamily="49" charset="0"/>
              </a:rPr>
              <a:t> 8     4   237   2000      23     32   3660   194.  74.1   57.2</a:t>
            </a:r>
          </a:p>
          <a:p>
            <a:r>
              <a:rPr lang="en-US" sz="1400" dirty="0">
                <a:latin typeface="Lucida Console" panose="020B0609040504020204" pitchFamily="49" charset="0"/>
              </a:rPr>
              <a:t> 9     4   420   6200      14     21   5856   204.  80.5   74.4</a:t>
            </a:r>
          </a:p>
          <a:p>
            <a:r>
              <a:rPr lang="en-US" sz="1400" dirty="0">
                <a:latin typeface="Lucida Console" panose="020B0609040504020204" pitchFamily="49" charset="0"/>
              </a:rPr>
              <a:t>10     4   170   1500      26     31   3325   183.  72.6   65.4</a:t>
            </a:r>
          </a:p>
          <a:p>
            <a:r>
              <a:rPr lang="en-US" sz="1400" dirty="0">
                <a:latin typeface="Lucida Console" panose="020B0609040504020204" pitchFamily="49" charset="0"/>
              </a:rPr>
              <a:t># … with 40 more rows</a:t>
            </a:r>
          </a:p>
        </p:txBody>
      </p:sp>
    </p:spTree>
    <p:extLst>
      <p:ext uri="{BB962C8B-B14F-4D97-AF65-F5344CB8AC3E}">
        <p14:creationId xmlns:p14="http://schemas.microsoft.com/office/powerpoint/2010/main" val="1795907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Correlation Matrix</a:t>
            </a:r>
          </a:p>
        </p:txBody>
      </p:sp>
      <p:sp>
        <p:nvSpPr>
          <p:cNvPr id="2" name="TextBox 1">
            <a:extLst>
              <a:ext uri="{FF2B5EF4-FFF2-40B4-BE49-F238E27FC236}">
                <a16:creationId xmlns:a16="http://schemas.microsoft.com/office/drawing/2014/main" id="{ADD59C14-B242-4582-B517-EBB3AE8E4CC6}"/>
              </a:ext>
            </a:extLst>
          </p:cNvPr>
          <p:cNvSpPr txBox="1"/>
          <p:nvPr/>
        </p:nvSpPr>
        <p:spPr>
          <a:xfrm>
            <a:off x="933450" y="1219200"/>
            <a:ext cx="7277100" cy="1631216"/>
          </a:xfrm>
          <a:prstGeom prst="rect">
            <a:avLst/>
          </a:prstGeom>
          <a:noFill/>
        </p:spPr>
        <p:txBody>
          <a:bodyPr wrap="square" rtlCol="0">
            <a:spAutoFit/>
          </a:bodyPr>
          <a:lstStyle/>
          <a:p>
            <a:r>
              <a:rPr lang="en-US" sz="2000" dirty="0"/>
              <a:t>After verifying that </a:t>
            </a:r>
            <a:r>
              <a:rPr lang="en-US" sz="1400" dirty="0" err="1">
                <a:solidFill>
                  <a:srgbClr val="0000FF"/>
                </a:solidFill>
                <a:latin typeface="Lucida Console" panose="020B0609040504020204" pitchFamily="49" charset="0"/>
              </a:rPr>
              <a:t>NumData</a:t>
            </a:r>
            <a:r>
              <a:rPr lang="en-US" sz="2000" dirty="0"/>
              <a:t> contains the desired data, we request a </a:t>
            </a:r>
            <a:r>
              <a:rPr lang="en-US" sz="2000" b="1" dirty="0">
                <a:solidFill>
                  <a:srgbClr val="C00000"/>
                </a:solidFill>
              </a:rPr>
              <a:t>correlation matrix</a:t>
            </a:r>
            <a:r>
              <a:rPr lang="en-US" sz="2000" dirty="0"/>
              <a:t> using </a:t>
            </a:r>
            <a:r>
              <a:rPr lang="en-US" sz="1400" dirty="0" err="1">
                <a:solidFill>
                  <a:srgbClr val="0000FF"/>
                </a:solidFill>
                <a:latin typeface="Lucida Console" panose="020B0609040504020204" pitchFamily="49" charset="0"/>
              </a:rPr>
              <a:t>cor</a:t>
            </a:r>
            <a:r>
              <a:rPr lang="en-US" sz="1400" dirty="0">
                <a:solidFill>
                  <a:srgbClr val="0000FF"/>
                </a:solidFill>
                <a:latin typeface="Lucida Console" panose="020B0609040504020204" pitchFamily="49" charset="0"/>
              </a:rPr>
              <a:t>() </a:t>
            </a:r>
            <a:r>
              <a:rPr lang="en-US" sz="2000" dirty="0"/>
              <a:t>but replacing </a:t>
            </a:r>
            <a:r>
              <a:rPr lang="en-US" sz="1400" dirty="0">
                <a:solidFill>
                  <a:srgbClr val="0000FF"/>
                </a:solidFill>
                <a:latin typeface="Lucida Console" panose="020B0609040504020204" pitchFamily="49" charset="0"/>
              </a:rPr>
              <a:t>x</a:t>
            </a:r>
            <a:r>
              <a:rPr lang="en-US" sz="2000" dirty="0"/>
              <a:t> and </a:t>
            </a:r>
            <a:r>
              <a:rPr lang="en-US" sz="1400" dirty="0">
                <a:solidFill>
                  <a:srgbClr val="0000FF"/>
                </a:solidFill>
                <a:latin typeface="Lucida Console" panose="020B0609040504020204" pitchFamily="49" charset="0"/>
              </a:rPr>
              <a:t>y</a:t>
            </a:r>
            <a:r>
              <a:rPr lang="en-US" sz="2000" dirty="0"/>
              <a:t> with </a:t>
            </a:r>
            <a:r>
              <a:rPr lang="en-US" sz="1400" dirty="0" err="1">
                <a:solidFill>
                  <a:srgbClr val="0000FF"/>
                </a:solidFill>
                <a:latin typeface="Lucida Console" panose="020B0609040504020204" pitchFamily="49" charset="0"/>
              </a:rPr>
              <a:t>NumData</a:t>
            </a:r>
            <a:r>
              <a:rPr lang="en-US" sz="2000" dirty="0"/>
              <a:t>. We round the correlation coefficients to two decimals for clarity. Note that each variable is perfectly correlated with itself, and the previous correlation (0.65) between </a:t>
            </a:r>
            <a:r>
              <a:rPr lang="en-US" sz="1400" dirty="0">
                <a:solidFill>
                  <a:srgbClr val="0000FF"/>
                </a:solidFill>
                <a:latin typeface="Lucida Console" panose="020B0609040504020204" pitchFamily="49" charset="0"/>
              </a:rPr>
              <a:t>Weight</a:t>
            </a:r>
            <a:r>
              <a:rPr lang="en-US" sz="2000" dirty="0"/>
              <a:t> and </a:t>
            </a:r>
            <a:r>
              <a:rPr lang="en-US" sz="1400" dirty="0">
                <a:solidFill>
                  <a:srgbClr val="0000FF"/>
                </a:solidFill>
                <a:latin typeface="Lucida Console" panose="020B0609040504020204" pitchFamily="49" charset="0"/>
              </a:rPr>
              <a:t>HP</a:t>
            </a:r>
            <a:r>
              <a:rPr lang="en-US" sz="2000" dirty="0"/>
              <a:t>.</a:t>
            </a:r>
          </a:p>
        </p:txBody>
      </p:sp>
      <p:sp>
        <p:nvSpPr>
          <p:cNvPr id="4" name="TextBox 3">
            <a:extLst>
              <a:ext uri="{FF2B5EF4-FFF2-40B4-BE49-F238E27FC236}">
                <a16:creationId xmlns:a16="http://schemas.microsoft.com/office/drawing/2014/main" id="{35BD4564-42D7-4117-9910-A09AAB8DA9E5}"/>
              </a:ext>
            </a:extLst>
          </p:cNvPr>
          <p:cNvSpPr txBox="1"/>
          <p:nvPr/>
        </p:nvSpPr>
        <p:spPr>
          <a:xfrm>
            <a:off x="933450" y="3023598"/>
            <a:ext cx="7543800" cy="2462213"/>
          </a:xfrm>
          <a:prstGeom prst="rect">
            <a:avLst/>
          </a:prstGeom>
          <a:noFill/>
        </p:spPr>
        <p:txBody>
          <a:bodyPr wrap="square" rtlCol="0">
            <a:spAutoFit/>
          </a:bodyPr>
          <a:lstStyle/>
          <a:p>
            <a:r>
              <a:rPr lang="en-US" sz="1400" dirty="0">
                <a:solidFill>
                  <a:srgbClr val="0000FF"/>
                </a:solidFill>
                <a:latin typeface="Lucida Console" panose="020B0609040504020204" pitchFamily="49" charset="0"/>
              </a:rPr>
              <a:t>&gt; round(</a:t>
            </a:r>
            <a:r>
              <a:rPr lang="en-US" sz="1400" dirty="0" err="1">
                <a:solidFill>
                  <a:srgbClr val="0000FF"/>
                </a:solidFill>
                <a:latin typeface="Lucida Console" panose="020B0609040504020204" pitchFamily="49" charset="0"/>
              </a:rPr>
              <a:t>cor</a:t>
            </a:r>
            <a:r>
              <a:rPr lang="en-US" sz="1400" dirty="0">
                <a:solidFill>
                  <a:srgbClr val="0000FF"/>
                </a:solidFill>
                <a:latin typeface="Lucida Console" panose="020B0609040504020204" pitchFamily="49" charset="0"/>
              </a:rPr>
              <a:t>(</a:t>
            </a:r>
            <a:r>
              <a:rPr lang="en-US" sz="1400" dirty="0" err="1">
                <a:solidFill>
                  <a:srgbClr val="0000FF"/>
                </a:solidFill>
                <a:latin typeface="Lucida Console" panose="020B0609040504020204" pitchFamily="49" charset="0"/>
              </a:rPr>
              <a:t>NumData</a:t>
            </a:r>
            <a:r>
              <a:rPr lang="en-US" sz="1400" dirty="0">
                <a:solidFill>
                  <a:srgbClr val="0000FF"/>
                </a:solidFill>
                <a:latin typeface="Lucida Console" panose="020B0609040504020204" pitchFamily="49" charset="0"/>
              </a:rPr>
              <a:t>),2)</a:t>
            </a:r>
          </a:p>
          <a:p>
            <a:r>
              <a:rPr lang="en-US" sz="1400" dirty="0">
                <a:latin typeface="Lucida Console" panose="020B0609040504020204" pitchFamily="49" charset="0"/>
              </a:rPr>
              <a:t>        Doors    HP Engine </a:t>
            </a:r>
            <a:r>
              <a:rPr lang="en-US" sz="1400" dirty="0" err="1">
                <a:latin typeface="Lucida Console" panose="020B0609040504020204" pitchFamily="49" charset="0"/>
              </a:rPr>
              <a:t>CityMPG</a:t>
            </a:r>
            <a:r>
              <a:rPr lang="en-US" sz="1400" dirty="0">
                <a:latin typeface="Lucida Console" panose="020B0609040504020204" pitchFamily="49" charset="0"/>
              </a:rPr>
              <a:t> </a:t>
            </a:r>
            <a:r>
              <a:rPr lang="en-US" sz="1400" dirty="0" err="1">
                <a:latin typeface="Lucida Console" panose="020B0609040504020204" pitchFamily="49" charset="0"/>
              </a:rPr>
              <a:t>HwyMPG</a:t>
            </a:r>
            <a:r>
              <a:rPr lang="en-US" sz="1400" dirty="0">
                <a:latin typeface="Lucida Console" panose="020B0609040504020204" pitchFamily="49" charset="0"/>
              </a:rPr>
              <a:t> Weight Length Width Height</a:t>
            </a:r>
          </a:p>
          <a:p>
            <a:r>
              <a:rPr lang="en-US" sz="1400" dirty="0">
                <a:latin typeface="Lucida Console" panose="020B0609040504020204" pitchFamily="49" charset="0"/>
              </a:rPr>
              <a:t>Doors    1.00 -0.34  -0.20    0.20   0.15   0.10   0.32  0.09   0.38</a:t>
            </a:r>
          </a:p>
          <a:p>
            <a:r>
              <a:rPr lang="en-US" sz="1400" dirty="0">
                <a:latin typeface="Lucida Console" panose="020B0609040504020204" pitchFamily="49" charset="0"/>
              </a:rPr>
              <a:t>HP      -0.34  1.00   0.81   -0.85  -0.77   0.65   0.50  0.71   0.20</a:t>
            </a:r>
          </a:p>
          <a:p>
            <a:r>
              <a:rPr lang="en-US" sz="1400" dirty="0">
                <a:latin typeface="Lucida Console" panose="020B0609040504020204" pitchFamily="49" charset="0"/>
              </a:rPr>
              <a:t>Engine  -0.20  0.81   1.00   -0.85  -0.77   0.73   0.57  0.68   0.39</a:t>
            </a:r>
          </a:p>
          <a:p>
            <a:r>
              <a:rPr lang="en-US" sz="1400" dirty="0" err="1">
                <a:latin typeface="Lucida Console" panose="020B0609040504020204" pitchFamily="49" charset="0"/>
              </a:rPr>
              <a:t>CityMPG</a:t>
            </a:r>
            <a:r>
              <a:rPr lang="en-US" sz="1400" dirty="0">
                <a:latin typeface="Lucida Console" panose="020B0609040504020204" pitchFamily="49" charset="0"/>
              </a:rPr>
              <a:t>  0.20 -0.85  -0.85    1.00   0.95  -0.84  -0.60 -0.77  -0.49</a:t>
            </a:r>
          </a:p>
          <a:p>
            <a:r>
              <a:rPr lang="en-US" sz="1400" dirty="0" err="1">
                <a:latin typeface="Lucida Console" panose="020B0609040504020204" pitchFamily="49" charset="0"/>
              </a:rPr>
              <a:t>HwyMPG</a:t>
            </a:r>
            <a:r>
              <a:rPr lang="en-US" sz="1400" dirty="0">
                <a:latin typeface="Lucida Console" panose="020B0609040504020204" pitchFamily="49" charset="0"/>
              </a:rPr>
              <a:t>   0.15 -0.77  -0.77    0.95   1.00  -0.84  -0.55 -0.75  -0.62</a:t>
            </a:r>
          </a:p>
          <a:p>
            <a:r>
              <a:rPr lang="en-US" sz="1400" dirty="0">
                <a:latin typeface="Lucida Console" panose="020B0609040504020204" pitchFamily="49" charset="0"/>
              </a:rPr>
              <a:t>Weight   0.10  0.65   0.73   -0.84  -0.84   1.00   0.74  0.82   0.77</a:t>
            </a:r>
          </a:p>
          <a:p>
            <a:r>
              <a:rPr lang="en-US" sz="1400" dirty="0">
                <a:latin typeface="Lucida Console" panose="020B0609040504020204" pitchFamily="49" charset="0"/>
              </a:rPr>
              <a:t>Length   0.32  0.50   0.57   -0.60  -0.55   0.74   1.00  0.76   0.60</a:t>
            </a:r>
          </a:p>
          <a:p>
            <a:r>
              <a:rPr lang="en-US" sz="1400" dirty="0">
                <a:latin typeface="Lucida Console" panose="020B0609040504020204" pitchFamily="49" charset="0"/>
              </a:rPr>
              <a:t>Width    0.09  0.71   0.68   -0.77  -0.75   0.82   0.76  1.00   0.60</a:t>
            </a:r>
          </a:p>
          <a:p>
            <a:r>
              <a:rPr lang="en-US" sz="1400" dirty="0">
                <a:latin typeface="Lucida Console" panose="020B0609040504020204" pitchFamily="49" charset="0"/>
              </a:rPr>
              <a:t>Height   0.38  0.20   0.39   -0.49  -0.62   0.77   0.60  0.60   1.00</a:t>
            </a:r>
          </a:p>
        </p:txBody>
      </p:sp>
    </p:spTree>
    <p:extLst>
      <p:ext uri="{BB962C8B-B14F-4D97-AF65-F5344CB8AC3E}">
        <p14:creationId xmlns:p14="http://schemas.microsoft.com/office/powerpoint/2010/main" val="1359529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Manipulating Data</a:t>
            </a:r>
          </a:p>
        </p:txBody>
      </p:sp>
      <p:sp>
        <p:nvSpPr>
          <p:cNvPr id="5" name="TextBox 4">
            <a:extLst>
              <a:ext uri="{FF2B5EF4-FFF2-40B4-BE49-F238E27FC236}">
                <a16:creationId xmlns:a16="http://schemas.microsoft.com/office/drawing/2014/main" id="{FA09511C-DAC7-43A7-92C3-BDED12B73140}"/>
              </a:ext>
            </a:extLst>
          </p:cNvPr>
          <p:cNvSpPr txBox="1"/>
          <p:nvPr/>
        </p:nvSpPr>
        <p:spPr>
          <a:xfrm>
            <a:off x="914400" y="1295906"/>
            <a:ext cx="7391400" cy="4462760"/>
          </a:xfrm>
          <a:prstGeom prst="rect">
            <a:avLst/>
          </a:prstGeom>
          <a:noFill/>
        </p:spPr>
        <p:txBody>
          <a:bodyPr wrap="square" rtlCol="0">
            <a:spAutoFit/>
          </a:bodyPr>
          <a:lstStyle/>
          <a:p>
            <a:r>
              <a:rPr lang="en-US" sz="2000" dirty="0">
                <a:latin typeface="+mn-lt"/>
                <a:cs typeface="Calibri" panose="020F0502020204030204" pitchFamily="34" charset="0"/>
              </a:rPr>
              <a:t>We can create data within R. One way is to use the concatenate function </a:t>
            </a:r>
            <a:r>
              <a:rPr lang="en-US" sz="1200" dirty="0">
                <a:solidFill>
                  <a:srgbClr val="0000FF"/>
                </a:solidFill>
                <a:latin typeface="Lucida Console" panose="020B0609040504020204" pitchFamily="49" charset="0"/>
                <a:cs typeface="Calibri" panose="020F0502020204030204" pitchFamily="34" charset="0"/>
              </a:rPr>
              <a:t>c()</a:t>
            </a:r>
            <a:r>
              <a:rPr lang="en-US" sz="2000" dirty="0">
                <a:latin typeface="+mn-lt"/>
                <a:cs typeface="Calibri" panose="020F0502020204030204" pitchFamily="34" charset="0"/>
              </a:rPr>
              <a:t>. Then we can then do other useful things. For example:</a:t>
            </a:r>
          </a:p>
          <a:p>
            <a:endParaRPr lang="en-US" sz="2000" dirty="0">
              <a:solidFill>
                <a:srgbClr val="0000FF"/>
              </a:solidFill>
              <a:latin typeface="+mn-lt"/>
              <a:cs typeface="Calibri" panose="020F0502020204030204" pitchFamily="34" charset="0"/>
            </a:endParaRPr>
          </a:p>
          <a:p>
            <a:r>
              <a:rPr lang="it-IT" sz="1400" dirty="0">
                <a:solidFill>
                  <a:srgbClr val="0000FF"/>
                </a:solidFill>
                <a:latin typeface="Lucida Console" panose="020B0609040504020204" pitchFamily="49" charset="0"/>
                <a:cs typeface="Calibri" panose="020F0502020204030204" pitchFamily="34" charset="0"/>
              </a:rPr>
              <a:t>&gt; x1=c(4,5,6)      # create a vector containing 4,5,6</a:t>
            </a:r>
          </a:p>
          <a:p>
            <a:r>
              <a:rPr lang="it-IT" sz="1400" dirty="0">
                <a:solidFill>
                  <a:srgbClr val="0000FF"/>
                </a:solidFill>
                <a:latin typeface="Lucida Console" panose="020B0609040504020204" pitchFamily="49" charset="0"/>
                <a:cs typeface="Calibri" panose="020F0502020204030204" pitchFamily="34" charset="0"/>
              </a:rPr>
              <a:t>&gt; x1</a:t>
            </a:r>
          </a:p>
          <a:p>
            <a:r>
              <a:rPr lang="it-IT" sz="1400" dirty="0">
                <a:latin typeface="Lucida Console" panose="020B0609040504020204" pitchFamily="49" charset="0"/>
                <a:cs typeface="Calibri" panose="020F0502020204030204" pitchFamily="34" charset="0"/>
              </a:rPr>
              <a:t>[1] 4 5 6</a:t>
            </a:r>
            <a:endParaRPr lang="it-IT" sz="1400" dirty="0">
              <a:solidFill>
                <a:srgbClr val="0000FF"/>
              </a:solidFill>
              <a:latin typeface="Lucida Console" panose="020B0609040504020204" pitchFamily="49" charset="0"/>
              <a:cs typeface="Calibri" panose="020F0502020204030204" pitchFamily="34" charset="0"/>
            </a:endParaRPr>
          </a:p>
          <a:p>
            <a:r>
              <a:rPr lang="it-IT" sz="1400" dirty="0">
                <a:solidFill>
                  <a:srgbClr val="0000FF"/>
                </a:solidFill>
                <a:latin typeface="Lucida Console" panose="020B0609040504020204" pitchFamily="49" charset="0"/>
                <a:cs typeface="Calibri" panose="020F0502020204030204" pitchFamily="34" charset="0"/>
              </a:rPr>
              <a:t>&gt; x2=c(7,8,9)      # create a vector containing 7,8,9</a:t>
            </a:r>
          </a:p>
          <a:p>
            <a:r>
              <a:rPr lang="it-IT" sz="1400" dirty="0">
                <a:solidFill>
                  <a:srgbClr val="0000FF"/>
                </a:solidFill>
                <a:latin typeface="Lucida Console" panose="020B0609040504020204" pitchFamily="49" charset="0"/>
                <a:cs typeface="Calibri" panose="020F0502020204030204" pitchFamily="34" charset="0"/>
              </a:rPr>
              <a:t>&gt; x2</a:t>
            </a:r>
          </a:p>
          <a:p>
            <a:r>
              <a:rPr lang="it-IT" sz="1400" dirty="0">
                <a:latin typeface="Lucida Console" panose="020B0609040504020204" pitchFamily="49" charset="0"/>
                <a:cs typeface="Calibri" panose="020F0502020204030204" pitchFamily="34" charset="0"/>
              </a:rPr>
              <a:t>[1] 7 8 9</a:t>
            </a:r>
          </a:p>
          <a:p>
            <a:r>
              <a:rPr lang="it-IT" sz="1400" dirty="0">
                <a:solidFill>
                  <a:srgbClr val="0000FF"/>
                </a:solidFill>
                <a:latin typeface="Lucida Console" panose="020B0609040504020204" pitchFamily="49" charset="0"/>
                <a:cs typeface="Calibri" panose="020F0502020204030204" pitchFamily="34" charset="0"/>
              </a:rPr>
              <a:t>&gt; x3=c(x1,x2)      # stack the two vectors into one column</a:t>
            </a:r>
          </a:p>
          <a:p>
            <a:r>
              <a:rPr lang="it-IT" sz="1400" dirty="0">
                <a:solidFill>
                  <a:srgbClr val="0000FF"/>
                </a:solidFill>
                <a:latin typeface="Lucida Console" panose="020B0609040504020204" pitchFamily="49" charset="0"/>
                <a:cs typeface="Calibri" panose="020F0502020204030204" pitchFamily="34" charset="0"/>
              </a:rPr>
              <a:t>&gt; x3</a:t>
            </a:r>
          </a:p>
          <a:p>
            <a:r>
              <a:rPr lang="it-IT" sz="1400" dirty="0">
                <a:latin typeface="Lucida Console" panose="020B0609040504020204" pitchFamily="49" charset="0"/>
                <a:cs typeface="Calibri" panose="020F0502020204030204" pitchFamily="34" charset="0"/>
              </a:rPr>
              <a:t>[1] 4 5 6 7 8 9</a:t>
            </a:r>
          </a:p>
          <a:p>
            <a:r>
              <a:rPr lang="it-IT" sz="1400" dirty="0">
                <a:solidFill>
                  <a:srgbClr val="0000FF"/>
                </a:solidFill>
                <a:latin typeface="Lucida Console" panose="020B0609040504020204" pitchFamily="49" charset="0"/>
                <a:cs typeface="Calibri" panose="020F0502020204030204" pitchFamily="34" charset="0"/>
              </a:rPr>
              <a:t>&gt; xdata=data.frame(x1,x2)   # put both vectors columns into a data frame</a:t>
            </a:r>
          </a:p>
          <a:p>
            <a:r>
              <a:rPr lang="it-IT" sz="1400" dirty="0">
                <a:solidFill>
                  <a:srgbClr val="0000FF"/>
                </a:solidFill>
                <a:latin typeface="Lucida Console" panose="020B0609040504020204" pitchFamily="49" charset="0"/>
                <a:cs typeface="Calibri" panose="020F0502020204030204" pitchFamily="34" charset="0"/>
              </a:rPr>
              <a:t>&gt; xdata</a:t>
            </a:r>
          </a:p>
          <a:p>
            <a:r>
              <a:rPr lang="it-IT" sz="1400" dirty="0">
                <a:latin typeface="Lucida Console" panose="020B0609040504020204" pitchFamily="49" charset="0"/>
                <a:cs typeface="Calibri" panose="020F0502020204030204" pitchFamily="34" charset="0"/>
              </a:rPr>
              <a:t>  x1 x2</a:t>
            </a:r>
          </a:p>
          <a:p>
            <a:r>
              <a:rPr lang="it-IT" sz="1400" dirty="0">
                <a:latin typeface="Lucida Console" panose="020B0609040504020204" pitchFamily="49" charset="0"/>
                <a:cs typeface="Calibri" panose="020F0502020204030204" pitchFamily="34" charset="0"/>
              </a:rPr>
              <a:t>1  4  7</a:t>
            </a:r>
          </a:p>
          <a:p>
            <a:r>
              <a:rPr lang="it-IT" sz="1400" dirty="0">
                <a:latin typeface="Lucida Console" panose="020B0609040504020204" pitchFamily="49" charset="0"/>
                <a:cs typeface="Calibri" panose="020F0502020204030204" pitchFamily="34" charset="0"/>
              </a:rPr>
              <a:t>2  5  8</a:t>
            </a:r>
          </a:p>
          <a:p>
            <a:r>
              <a:rPr lang="it-IT" sz="1400" dirty="0">
                <a:latin typeface="Lucida Console" panose="020B0609040504020204" pitchFamily="49" charset="0"/>
                <a:cs typeface="Calibri" panose="020F0502020204030204" pitchFamily="34" charset="0"/>
              </a:rPr>
              <a:t>3  6  9</a:t>
            </a:r>
            <a:endParaRPr lang="en-US" sz="1400" dirty="0">
              <a:latin typeface="Lucida Console" panose="020B0609040504020204" pitchFamily="49" charset="0"/>
              <a:cs typeface="Calibri" panose="020F0502020204030204" pitchFamily="34" charset="0"/>
            </a:endParaRPr>
          </a:p>
        </p:txBody>
      </p:sp>
    </p:spTree>
    <p:extLst>
      <p:ext uri="{BB962C8B-B14F-4D97-AF65-F5344CB8AC3E}">
        <p14:creationId xmlns:p14="http://schemas.microsoft.com/office/powerpoint/2010/main" val="633048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Random Data</a:t>
            </a:r>
          </a:p>
        </p:txBody>
      </p:sp>
      <p:sp>
        <p:nvSpPr>
          <p:cNvPr id="5" name="TextBox 4">
            <a:extLst>
              <a:ext uri="{FF2B5EF4-FFF2-40B4-BE49-F238E27FC236}">
                <a16:creationId xmlns:a16="http://schemas.microsoft.com/office/drawing/2014/main" id="{FA09511C-DAC7-43A7-92C3-BDED12B73140}"/>
              </a:ext>
            </a:extLst>
          </p:cNvPr>
          <p:cNvSpPr txBox="1"/>
          <p:nvPr/>
        </p:nvSpPr>
        <p:spPr>
          <a:xfrm>
            <a:off x="1070987" y="2608005"/>
            <a:ext cx="7692013" cy="2970044"/>
          </a:xfrm>
          <a:prstGeom prst="rect">
            <a:avLst/>
          </a:prstGeom>
          <a:noFill/>
        </p:spPr>
        <p:txBody>
          <a:bodyPr wrap="square" rtlCol="0">
            <a:spAutoFit/>
          </a:bodyPr>
          <a:lstStyle/>
          <a:p>
            <a:r>
              <a:rPr lang="en-US" sz="2000" b="1" dirty="0">
                <a:latin typeface="+mn-lt"/>
                <a:cs typeface="Arial" panose="020B0604020202020204" pitchFamily="34" charset="0"/>
              </a:rPr>
              <a:t>Example 2</a:t>
            </a:r>
            <a:r>
              <a:rPr lang="en-US" sz="2000" dirty="0">
                <a:latin typeface="+mn-lt"/>
                <a:cs typeface="Arial" panose="020B0604020202020204" pitchFamily="34" charset="0"/>
              </a:rPr>
              <a:t>: Create 25 decimal observations from a normal distribution</a:t>
            </a:r>
          </a:p>
          <a:p>
            <a:r>
              <a:rPr lang="en-US" sz="2000" dirty="0">
                <a:latin typeface="+mn-lt"/>
                <a:cs typeface="Arial" panose="020B0604020202020204" pitchFamily="34" charset="0"/>
              </a:rPr>
              <a:t>with mean 100 and standard deviation 15. Round them to integers. </a:t>
            </a:r>
          </a:p>
          <a:p>
            <a:endParaRPr lang="en-US" sz="1300" dirty="0">
              <a:solidFill>
                <a:srgbClr val="0000FF"/>
              </a:solidFill>
              <a:latin typeface="Lucida Console" panose="020B0609040504020204" pitchFamily="49" charset="0"/>
              <a:cs typeface="Calibri" panose="020F0502020204030204" pitchFamily="34" charset="0"/>
            </a:endParaRPr>
          </a:p>
          <a:p>
            <a:r>
              <a:rPr lang="en-US" sz="1300" dirty="0">
                <a:solidFill>
                  <a:srgbClr val="0000FF"/>
                </a:solidFill>
                <a:latin typeface="Lucida Console" panose="020B0609040504020204" pitchFamily="49" charset="0"/>
                <a:cs typeface="Calibri" panose="020F0502020204030204" pitchFamily="34" charset="0"/>
              </a:rPr>
              <a:t>&gt; Data1=</a:t>
            </a:r>
            <a:r>
              <a:rPr lang="en-US" sz="1300" dirty="0" err="1">
                <a:solidFill>
                  <a:srgbClr val="0000FF"/>
                </a:solidFill>
                <a:latin typeface="Lucida Console" panose="020B0609040504020204" pitchFamily="49" charset="0"/>
                <a:cs typeface="Calibri" panose="020F0502020204030204" pitchFamily="34" charset="0"/>
              </a:rPr>
              <a:t>rnorm</a:t>
            </a:r>
            <a:r>
              <a:rPr lang="en-US" sz="1300" dirty="0">
                <a:solidFill>
                  <a:srgbClr val="0000FF"/>
                </a:solidFill>
                <a:latin typeface="Lucida Console" panose="020B0609040504020204" pitchFamily="49" charset="0"/>
                <a:cs typeface="Calibri" panose="020F0502020204030204" pitchFamily="34" charset="0"/>
              </a:rPr>
              <a:t>(25,100,15) # Generate 25 random N(100,15)</a:t>
            </a:r>
          </a:p>
          <a:p>
            <a:r>
              <a:rPr lang="en-US" sz="1300" dirty="0">
                <a:solidFill>
                  <a:srgbClr val="0000FF"/>
                </a:solidFill>
                <a:latin typeface="Lucida Console" panose="020B0609040504020204" pitchFamily="49" charset="0"/>
                <a:cs typeface="Calibri" panose="020F0502020204030204" pitchFamily="34" charset="0"/>
              </a:rPr>
              <a:t>&gt; Data1                  # list the data we have created</a:t>
            </a:r>
          </a:p>
          <a:p>
            <a:r>
              <a:rPr lang="en-US" sz="1300" dirty="0">
                <a:latin typeface="Lucida Console" panose="020B0609040504020204" pitchFamily="49" charset="0"/>
                <a:cs typeface="Calibri" panose="020F0502020204030204" pitchFamily="34" charset="0"/>
              </a:rPr>
              <a:t> [1] 105.78153 112.62881  97.86053  95.25282  98.39782  88.48118  78.23761</a:t>
            </a:r>
          </a:p>
          <a:p>
            <a:r>
              <a:rPr lang="en-US" sz="1300" dirty="0">
                <a:latin typeface="Lucida Console" panose="020B0609040504020204" pitchFamily="49" charset="0"/>
                <a:cs typeface="Calibri" panose="020F0502020204030204" pitchFamily="34" charset="0"/>
              </a:rPr>
              <a:t> [8]  95.86220 110.26956 118.48021  98.41509 116.24194 102.59046 119.65684</a:t>
            </a:r>
          </a:p>
          <a:p>
            <a:r>
              <a:rPr lang="en-US" sz="1300" dirty="0">
                <a:latin typeface="Lucida Console" panose="020B0609040504020204" pitchFamily="49" charset="0"/>
                <a:cs typeface="Calibri" panose="020F0502020204030204" pitchFamily="34" charset="0"/>
              </a:rPr>
              <a:t>[15]  70.61914 112.47272 104.25433  99.06648 111.05391  97.01341 128.98725</a:t>
            </a:r>
          </a:p>
          <a:p>
            <a:r>
              <a:rPr lang="en-US" sz="1300" dirty="0">
                <a:latin typeface="Lucida Console" panose="020B0609040504020204" pitchFamily="49" charset="0"/>
                <a:cs typeface="Calibri" panose="020F0502020204030204" pitchFamily="34" charset="0"/>
              </a:rPr>
              <a:t>[22] 105.95539  79.86504  62.50125  66.75198</a:t>
            </a:r>
          </a:p>
          <a:p>
            <a:r>
              <a:rPr lang="en-US" sz="1300" dirty="0">
                <a:solidFill>
                  <a:srgbClr val="0000FF"/>
                </a:solidFill>
                <a:latin typeface="Lucida Console" panose="020B0609040504020204" pitchFamily="49" charset="0"/>
                <a:cs typeface="Calibri" panose="020F0502020204030204" pitchFamily="34" charset="0"/>
              </a:rPr>
              <a:t>&gt; Data2= round(Data1,0)  # round the sample data into integers</a:t>
            </a:r>
          </a:p>
          <a:p>
            <a:r>
              <a:rPr lang="en-US" sz="1300" dirty="0">
                <a:solidFill>
                  <a:srgbClr val="0000FF"/>
                </a:solidFill>
                <a:latin typeface="Lucida Console" panose="020B0609040504020204" pitchFamily="49" charset="0"/>
                <a:cs typeface="Calibri" panose="020F0502020204030204" pitchFamily="34" charset="0"/>
              </a:rPr>
              <a:t>&gt; Data2</a:t>
            </a:r>
          </a:p>
          <a:p>
            <a:r>
              <a:rPr lang="en-US" sz="1300" dirty="0">
                <a:latin typeface="Lucida Console" panose="020B0609040504020204" pitchFamily="49" charset="0"/>
                <a:cs typeface="Calibri" panose="020F0502020204030204" pitchFamily="34" charset="0"/>
              </a:rPr>
              <a:t> [1] 106 113  98  95  98  88  78  96 110 118  98 116 103 120  71 112 104 99</a:t>
            </a:r>
          </a:p>
          <a:p>
            <a:r>
              <a:rPr lang="en-US" sz="1300" dirty="0">
                <a:latin typeface="Lucida Console" panose="020B0609040504020204" pitchFamily="49" charset="0"/>
                <a:cs typeface="Calibri" panose="020F0502020204030204" pitchFamily="34" charset="0"/>
              </a:rPr>
              <a:t>[19] 111  97 129 106  80  63  67</a:t>
            </a:r>
          </a:p>
        </p:txBody>
      </p:sp>
      <p:sp>
        <p:nvSpPr>
          <p:cNvPr id="4" name="TextBox 3">
            <a:extLst>
              <a:ext uri="{FF2B5EF4-FFF2-40B4-BE49-F238E27FC236}">
                <a16:creationId xmlns:a16="http://schemas.microsoft.com/office/drawing/2014/main" id="{B38D14B7-4EA1-420A-82F5-08C8CD0FC812}"/>
              </a:ext>
            </a:extLst>
          </p:cNvPr>
          <p:cNvSpPr txBox="1"/>
          <p:nvPr/>
        </p:nvSpPr>
        <p:spPr>
          <a:xfrm>
            <a:off x="1054730" y="1219739"/>
            <a:ext cx="7848600" cy="1215717"/>
          </a:xfrm>
          <a:prstGeom prst="rect">
            <a:avLst/>
          </a:prstGeom>
          <a:noFill/>
        </p:spPr>
        <p:txBody>
          <a:bodyPr wrap="square" rtlCol="0">
            <a:spAutoFit/>
          </a:bodyPr>
          <a:lstStyle/>
          <a:p>
            <a:r>
              <a:rPr lang="en-US" sz="2000" b="1" dirty="0">
                <a:latin typeface="+mn-lt"/>
                <a:cs typeface="Arial" panose="020B0604020202020204" pitchFamily="34" charset="0"/>
              </a:rPr>
              <a:t>Example 1: </a:t>
            </a:r>
            <a:r>
              <a:rPr lang="en-US" sz="2000" dirty="0">
                <a:latin typeface="+mn-lt"/>
                <a:cs typeface="Arial" panose="020B0604020202020204" pitchFamily="34" charset="0"/>
              </a:rPr>
              <a:t>Create 25 random integers between 1 and  999. </a:t>
            </a:r>
            <a:endParaRPr lang="en-US" sz="2000" dirty="0">
              <a:solidFill>
                <a:srgbClr val="0000FF"/>
              </a:solidFill>
              <a:latin typeface="+mn-lt"/>
              <a:cs typeface="Calibri" panose="020F0502020204030204" pitchFamily="34" charset="0"/>
            </a:endParaRPr>
          </a:p>
          <a:p>
            <a:endParaRPr lang="en-US" sz="1300" dirty="0">
              <a:solidFill>
                <a:srgbClr val="0000FF"/>
              </a:solidFill>
              <a:latin typeface="Lucida Console" panose="020B0609040504020204" pitchFamily="49" charset="0"/>
              <a:cs typeface="Calibri" panose="020F0502020204030204" pitchFamily="34" charset="0"/>
            </a:endParaRPr>
          </a:p>
          <a:p>
            <a:r>
              <a:rPr lang="en-US" sz="1300" dirty="0">
                <a:solidFill>
                  <a:srgbClr val="0000FF"/>
                </a:solidFill>
                <a:latin typeface="Lucida Console" panose="020B0609040504020204" pitchFamily="49" charset="0"/>
                <a:cs typeface="Calibri" panose="020F0502020204030204" pitchFamily="34" charset="0"/>
              </a:rPr>
              <a:t>&gt; sample(1:999,25)</a:t>
            </a:r>
          </a:p>
          <a:p>
            <a:r>
              <a:rPr lang="en-US" sz="1300" dirty="0">
                <a:latin typeface="Lucida Console" panose="020B0609040504020204" pitchFamily="49" charset="0"/>
                <a:cs typeface="Calibri" panose="020F0502020204030204" pitchFamily="34" charset="0"/>
              </a:rPr>
              <a:t> [1] 294 358 409 766 760 927 513 185 885  29 444 274 187 828 709 108 749 9</a:t>
            </a:r>
          </a:p>
          <a:p>
            <a:r>
              <a:rPr lang="en-US" sz="1300" dirty="0">
                <a:latin typeface="Lucida Console" panose="020B0609040504020204" pitchFamily="49" charset="0"/>
                <a:cs typeface="Calibri" panose="020F0502020204030204" pitchFamily="34" charset="0"/>
              </a:rPr>
              <a:t>[19] 887 874 653 912 696 611 661</a:t>
            </a:r>
          </a:p>
        </p:txBody>
      </p:sp>
    </p:spTree>
    <p:extLst>
      <p:ext uri="{BB962C8B-B14F-4D97-AF65-F5344CB8AC3E}">
        <p14:creationId xmlns:p14="http://schemas.microsoft.com/office/powerpoint/2010/main" val="1857908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Python</a:t>
            </a:r>
          </a:p>
        </p:txBody>
      </p:sp>
      <p:sp>
        <p:nvSpPr>
          <p:cNvPr id="2" name="TextBox 1">
            <a:extLst>
              <a:ext uri="{FF2B5EF4-FFF2-40B4-BE49-F238E27FC236}">
                <a16:creationId xmlns:a16="http://schemas.microsoft.com/office/drawing/2014/main" id="{49F8B000-3FBB-B9B2-ABA6-AAE64F17D899}"/>
              </a:ext>
            </a:extLst>
          </p:cNvPr>
          <p:cNvSpPr txBox="1"/>
          <p:nvPr/>
        </p:nvSpPr>
        <p:spPr>
          <a:xfrm>
            <a:off x="1447800" y="1600200"/>
            <a:ext cx="6591300" cy="1323439"/>
          </a:xfrm>
          <a:prstGeom prst="rect">
            <a:avLst/>
          </a:prstGeom>
          <a:noFill/>
        </p:spPr>
        <p:txBody>
          <a:bodyPr wrap="square" rtlCol="0">
            <a:spAutoFit/>
          </a:bodyPr>
          <a:lstStyle/>
          <a:p>
            <a:r>
              <a:rPr lang="en-US" sz="2000" dirty="0">
                <a:solidFill>
                  <a:srgbClr val="0033CC"/>
                </a:solidFill>
              </a:rPr>
              <a:t>Python</a:t>
            </a:r>
            <a:r>
              <a:rPr lang="en-US" sz="2000" dirty="0"/>
              <a:t> is a general application development environment (not just statistics). R is often included in </a:t>
            </a:r>
            <a:r>
              <a:rPr lang="en-US" sz="2000" dirty="0">
                <a:solidFill>
                  <a:srgbClr val="0033CC"/>
                </a:solidFill>
              </a:rPr>
              <a:t>Python</a:t>
            </a:r>
            <a:r>
              <a:rPr lang="en-US" sz="2000" dirty="0"/>
              <a:t> along with other statistics and data analytics packages. Students can then enjoy seamless access to these tools within </a:t>
            </a:r>
            <a:r>
              <a:rPr lang="en-US" sz="2000" dirty="0">
                <a:solidFill>
                  <a:srgbClr val="0033CC"/>
                </a:solidFill>
              </a:rPr>
              <a:t>Python</a:t>
            </a:r>
            <a:r>
              <a:rPr lang="en-US" sz="2000" dirty="0"/>
              <a:t>.</a:t>
            </a:r>
          </a:p>
        </p:txBody>
      </p:sp>
      <p:sp>
        <p:nvSpPr>
          <p:cNvPr id="6" name="TextBox 5">
            <a:extLst>
              <a:ext uri="{FF2B5EF4-FFF2-40B4-BE49-F238E27FC236}">
                <a16:creationId xmlns:a16="http://schemas.microsoft.com/office/drawing/2014/main" id="{EFA8856C-0D0D-9A1F-CE31-AF2A59026B46}"/>
              </a:ext>
            </a:extLst>
          </p:cNvPr>
          <p:cNvSpPr txBox="1"/>
          <p:nvPr/>
        </p:nvSpPr>
        <p:spPr>
          <a:xfrm>
            <a:off x="1447800" y="3562994"/>
            <a:ext cx="6324600" cy="1785104"/>
          </a:xfrm>
          <a:prstGeom prst="rect">
            <a:avLst/>
          </a:prstGeom>
          <a:noFill/>
        </p:spPr>
        <p:txBody>
          <a:bodyPr wrap="square" rtlCol="0">
            <a:spAutoFit/>
          </a:bodyPr>
          <a:lstStyle/>
          <a:p>
            <a:pPr algn="ctr"/>
            <a:r>
              <a:rPr lang="en-US" sz="2000" b="1" dirty="0">
                <a:solidFill>
                  <a:srgbClr val="0033CC"/>
                </a:solidFill>
                <a:latin typeface="Arial" panose="020B0604020202020204" pitchFamily="34" charset="0"/>
                <a:cs typeface="Arial" panose="020B0604020202020204" pitchFamily="34" charset="0"/>
              </a:rPr>
              <a:t>What is Python?</a:t>
            </a:r>
          </a:p>
          <a:p>
            <a:endParaRPr lang="en-US" sz="2000" dirty="0"/>
          </a:p>
          <a:p>
            <a:r>
              <a:rPr lang="en-US" sz="1400" dirty="0">
                <a:latin typeface="Arial" panose="020B0604020202020204" pitchFamily="34" charset="0"/>
                <a:cs typeface="Arial" panose="020B0604020202020204" pitchFamily="34" charset="0"/>
              </a:rPr>
              <a:t>Python is a free, object-oriented, high-level programming language used for rapid application development. Its is attractive because of its easy to learn syntax and support for specialized modules (e.g., R). Besides R, there are many Python add-in packages for statistical analysis (e.g., Pandas, </a:t>
            </a:r>
            <a:r>
              <a:rPr lang="en-US" sz="1400" dirty="0" err="1">
                <a:latin typeface="Arial" panose="020B0604020202020204" pitchFamily="34" charset="0"/>
                <a:cs typeface="Arial" panose="020B0604020202020204" pitchFamily="34" charset="0"/>
              </a:rPr>
              <a:t>SciPi</a:t>
            </a:r>
            <a:r>
              <a:rPr lang="en-US" sz="1400" dirty="0">
                <a:latin typeface="Arial" panose="020B0604020202020204" pitchFamily="34" charset="0"/>
                <a:cs typeface="Arial" panose="020B0604020202020204" pitchFamily="34" charset="0"/>
              </a:rPr>
              <a:t>) as well as basic Python modules (e.g., statistics, </a:t>
            </a:r>
            <a:r>
              <a:rPr lang="en-US" sz="1400" dirty="0" err="1">
                <a:latin typeface="Arial" panose="020B0604020202020204" pitchFamily="34" charset="0"/>
                <a:cs typeface="Arial" panose="020B0604020202020204" pitchFamily="34" charset="0"/>
              </a:rPr>
              <a:t>statsmodels</a:t>
            </a:r>
            <a:r>
              <a:rPr lang="en-US" sz="1400" dirty="0">
                <a:latin typeface="Arial" panose="020B0604020202020204" pitchFamily="34" charset="0"/>
                <a:cs typeface="Arial" panose="020B0604020202020204" pitchFamily="34" charset="0"/>
              </a:rPr>
              <a:t>, random).</a:t>
            </a:r>
          </a:p>
        </p:txBody>
      </p:sp>
      <p:pic>
        <p:nvPicPr>
          <p:cNvPr id="7" name="Picture 6">
            <a:extLst>
              <a:ext uri="{FF2B5EF4-FFF2-40B4-BE49-F238E27FC236}">
                <a16:creationId xmlns:a16="http://schemas.microsoft.com/office/drawing/2014/main" id="{C355C711-E031-2682-8211-6ED4483035DC}"/>
              </a:ext>
            </a:extLst>
          </p:cNvPr>
          <p:cNvPicPr>
            <a:picLocks noChangeAspect="1"/>
          </p:cNvPicPr>
          <p:nvPr/>
        </p:nvPicPr>
        <p:blipFill>
          <a:blip r:embed="rId2"/>
          <a:stretch>
            <a:fillRect/>
          </a:stretch>
        </p:blipFill>
        <p:spPr>
          <a:xfrm>
            <a:off x="2743200" y="3475873"/>
            <a:ext cx="758207" cy="458489"/>
          </a:xfrm>
          <a:prstGeom prst="rect">
            <a:avLst/>
          </a:prstGeom>
        </p:spPr>
      </p:pic>
      <p:sp>
        <p:nvSpPr>
          <p:cNvPr id="3" name="TextBox 2">
            <a:extLst>
              <a:ext uri="{FF2B5EF4-FFF2-40B4-BE49-F238E27FC236}">
                <a16:creationId xmlns:a16="http://schemas.microsoft.com/office/drawing/2014/main" id="{B8281B63-0E3E-B047-EFFB-F4F1FC8F482F}"/>
              </a:ext>
            </a:extLst>
          </p:cNvPr>
          <p:cNvSpPr txBox="1"/>
          <p:nvPr/>
        </p:nvSpPr>
        <p:spPr>
          <a:xfrm>
            <a:off x="2685952" y="5679676"/>
            <a:ext cx="480060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For more info:    </a:t>
            </a:r>
            <a:r>
              <a:rPr lang="en-US" sz="1400" dirty="0">
                <a:latin typeface="Arial" panose="020B0604020202020204" pitchFamily="34" charset="0"/>
                <a:cs typeface="Arial" panose="020B0604020202020204" pitchFamily="34" charset="0"/>
                <a:hlinkClick r:id="rId3"/>
              </a:rPr>
              <a:t>https://www.kaggle.com/learn/python</a:t>
            </a:r>
            <a:endParaRPr lang="en-US" sz="1400" dirty="0">
              <a:latin typeface="Arial" panose="020B0604020202020204" pitchFamily="34" charset="0"/>
              <a:cs typeface="Arial" panose="020B0604020202020204" pitchFamily="34" charset="0"/>
            </a:endParaRPr>
          </a:p>
        </p:txBody>
      </p:sp>
      <p:pic>
        <p:nvPicPr>
          <p:cNvPr id="4" name="Picture 3" descr="C:\Users\Blythe\AppData\Local\Microsoft\Windows\Temporary Internet Files\Content.IE5\T28SMCVP\MC900360788[2].wmf">
            <a:extLst>
              <a:ext uri="{FF2B5EF4-FFF2-40B4-BE49-F238E27FC236}">
                <a16:creationId xmlns:a16="http://schemas.microsoft.com/office/drawing/2014/main" id="{A0A0A26E-44A0-6B67-D928-D43CE9E4D0E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3600" y="5444744"/>
            <a:ext cx="561877" cy="880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535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Python</a:t>
            </a:r>
          </a:p>
        </p:txBody>
      </p:sp>
      <p:sp>
        <p:nvSpPr>
          <p:cNvPr id="2" name="TextBox 1">
            <a:extLst>
              <a:ext uri="{FF2B5EF4-FFF2-40B4-BE49-F238E27FC236}">
                <a16:creationId xmlns:a16="http://schemas.microsoft.com/office/drawing/2014/main" id="{49F8B000-3FBB-B9B2-ABA6-AAE64F17D899}"/>
              </a:ext>
            </a:extLst>
          </p:cNvPr>
          <p:cNvSpPr txBox="1"/>
          <p:nvPr/>
        </p:nvSpPr>
        <p:spPr>
          <a:xfrm>
            <a:off x="1447800" y="1600200"/>
            <a:ext cx="6591300" cy="1631216"/>
          </a:xfrm>
          <a:prstGeom prst="rect">
            <a:avLst/>
          </a:prstGeom>
          <a:noFill/>
        </p:spPr>
        <p:txBody>
          <a:bodyPr wrap="square" rtlCol="0">
            <a:spAutoFit/>
          </a:bodyPr>
          <a:lstStyle/>
          <a:p>
            <a:r>
              <a:rPr lang="en-US" sz="2000" dirty="0"/>
              <a:t>The </a:t>
            </a:r>
            <a:r>
              <a:rPr lang="en-US" sz="2000" dirty="0">
                <a:solidFill>
                  <a:srgbClr val="0033CC"/>
                </a:solidFill>
              </a:rPr>
              <a:t>statistics</a:t>
            </a:r>
            <a:r>
              <a:rPr lang="en-US" sz="2000" dirty="0"/>
              <a:t> module for </a:t>
            </a:r>
            <a:r>
              <a:rPr lang="en-US" sz="2000" dirty="0">
                <a:solidFill>
                  <a:srgbClr val="0033CC"/>
                </a:solidFill>
              </a:rPr>
              <a:t>Python</a:t>
            </a:r>
            <a:r>
              <a:rPr lang="en-US" sz="2000" dirty="0"/>
              <a:t> offers basic functions for math and descriptive statistics (e.g., mean, median, quantiles, geometric mean). The </a:t>
            </a:r>
            <a:r>
              <a:rPr lang="en-US" sz="2000" dirty="0" err="1">
                <a:solidFill>
                  <a:srgbClr val="0033CC"/>
                </a:solidFill>
              </a:rPr>
              <a:t>statsmodels</a:t>
            </a:r>
            <a:r>
              <a:rPr lang="en-US" sz="2000" dirty="0"/>
              <a:t> module allows estimation of different statistical models, statistical tests, and data exploration. But R is more general </a:t>
            </a:r>
          </a:p>
        </p:txBody>
      </p:sp>
      <p:sp>
        <p:nvSpPr>
          <p:cNvPr id="6" name="TextBox 5">
            <a:extLst>
              <a:ext uri="{FF2B5EF4-FFF2-40B4-BE49-F238E27FC236}">
                <a16:creationId xmlns:a16="http://schemas.microsoft.com/office/drawing/2014/main" id="{EFA8856C-0D0D-9A1F-CE31-AF2A59026B46}"/>
              </a:ext>
            </a:extLst>
          </p:cNvPr>
          <p:cNvSpPr txBox="1"/>
          <p:nvPr/>
        </p:nvSpPr>
        <p:spPr>
          <a:xfrm>
            <a:off x="1447800" y="3607643"/>
            <a:ext cx="6248400" cy="1785104"/>
          </a:xfrm>
          <a:prstGeom prst="rect">
            <a:avLst/>
          </a:prstGeom>
          <a:noFill/>
        </p:spPr>
        <p:txBody>
          <a:bodyPr wrap="square" rtlCol="0">
            <a:spAutoFit/>
          </a:bodyPr>
          <a:lstStyle/>
          <a:p>
            <a:pPr algn="ctr"/>
            <a:r>
              <a:rPr lang="en-US" sz="2000" b="1" dirty="0">
                <a:solidFill>
                  <a:srgbClr val="0033CC"/>
                </a:solidFill>
                <a:latin typeface="Arial" panose="020B0604020202020204" pitchFamily="34" charset="0"/>
                <a:cs typeface="Arial" panose="020B0604020202020204" pitchFamily="34" charset="0"/>
              </a:rPr>
              <a:t>Python Statistics</a:t>
            </a:r>
          </a:p>
          <a:p>
            <a:pPr algn="ctr"/>
            <a:endParaRPr lang="en-US" sz="2000" dirty="0"/>
          </a:p>
          <a:p>
            <a:r>
              <a:rPr lang="en-US" sz="1400" dirty="0">
                <a:latin typeface="Arial" panose="020B0604020202020204" pitchFamily="34" charset="0"/>
                <a:cs typeface="Arial" panose="020B0604020202020204" pitchFamily="34" charset="0"/>
              </a:rPr>
              <a:t>Although Python may offer you many statistical tools, your instructor may focus on R for simplicity. If you pursue a career in data science, you will need to learn which package is best for each application. But introductory students who only need to manipulate or describe data may be satisfied with Excel. Or Minitab or JMP or </a:t>
            </a:r>
            <a:r>
              <a:rPr lang="en-US" sz="1400" dirty="0" err="1">
                <a:latin typeface="Arial" panose="020B0604020202020204" pitchFamily="34" charset="0"/>
                <a:cs typeface="Arial" panose="020B0604020202020204" pitchFamily="34" charset="0"/>
              </a:rPr>
              <a:t>MegaStat</a:t>
            </a:r>
            <a:r>
              <a:rPr lang="en-US" sz="1400" dirty="0">
                <a:latin typeface="Arial" panose="020B0604020202020204" pitchFamily="34" charset="0"/>
                <a:cs typeface="Arial" panose="020B0604020202020204" pitchFamily="34" charset="0"/>
              </a:rPr>
              <a:t> for quick statistical tests without programming,</a:t>
            </a:r>
          </a:p>
        </p:txBody>
      </p:sp>
      <p:pic>
        <p:nvPicPr>
          <p:cNvPr id="7" name="Picture 6">
            <a:extLst>
              <a:ext uri="{FF2B5EF4-FFF2-40B4-BE49-F238E27FC236}">
                <a16:creationId xmlns:a16="http://schemas.microsoft.com/office/drawing/2014/main" id="{C355C711-E031-2682-8211-6ED4483035DC}"/>
              </a:ext>
            </a:extLst>
          </p:cNvPr>
          <p:cNvPicPr>
            <a:picLocks noChangeAspect="1"/>
          </p:cNvPicPr>
          <p:nvPr/>
        </p:nvPicPr>
        <p:blipFill>
          <a:blip r:embed="rId2"/>
          <a:stretch>
            <a:fillRect/>
          </a:stretch>
        </p:blipFill>
        <p:spPr>
          <a:xfrm>
            <a:off x="2743200" y="3560770"/>
            <a:ext cx="758207" cy="458489"/>
          </a:xfrm>
          <a:prstGeom prst="rect">
            <a:avLst/>
          </a:prstGeom>
        </p:spPr>
      </p:pic>
    </p:spTree>
    <p:extLst>
      <p:ext uri="{BB962C8B-B14F-4D97-AF65-F5344CB8AC3E}">
        <p14:creationId xmlns:p14="http://schemas.microsoft.com/office/powerpoint/2010/main" val="230168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Anaconda</a:t>
            </a:r>
          </a:p>
        </p:txBody>
      </p:sp>
      <p:sp>
        <p:nvSpPr>
          <p:cNvPr id="2" name="TextBox 1">
            <a:extLst>
              <a:ext uri="{FF2B5EF4-FFF2-40B4-BE49-F238E27FC236}">
                <a16:creationId xmlns:a16="http://schemas.microsoft.com/office/drawing/2014/main" id="{49F8B000-3FBB-B9B2-ABA6-AAE64F17D899}"/>
              </a:ext>
            </a:extLst>
          </p:cNvPr>
          <p:cNvSpPr txBox="1"/>
          <p:nvPr/>
        </p:nvSpPr>
        <p:spPr>
          <a:xfrm>
            <a:off x="1447800" y="1600200"/>
            <a:ext cx="6629400" cy="1323439"/>
          </a:xfrm>
          <a:prstGeom prst="rect">
            <a:avLst/>
          </a:prstGeom>
          <a:noFill/>
        </p:spPr>
        <p:txBody>
          <a:bodyPr wrap="square" rtlCol="0">
            <a:spAutoFit/>
          </a:bodyPr>
          <a:lstStyle/>
          <a:p>
            <a:r>
              <a:rPr lang="en-US" sz="2000" dirty="0">
                <a:solidFill>
                  <a:srgbClr val="0033CC"/>
                </a:solidFill>
              </a:rPr>
              <a:t>Python </a:t>
            </a:r>
            <a:r>
              <a:rPr lang="en-US" sz="2000" dirty="0"/>
              <a:t>installations with </a:t>
            </a:r>
            <a:r>
              <a:rPr lang="en-US" sz="2000" dirty="0">
                <a:solidFill>
                  <a:srgbClr val="0033CC"/>
                </a:solidFill>
              </a:rPr>
              <a:t>Anaconda</a:t>
            </a:r>
            <a:r>
              <a:rPr lang="en-US" sz="2000" dirty="0"/>
              <a:t> include SciPy (common statistical tests). Often, they also include the </a:t>
            </a:r>
            <a:r>
              <a:rPr lang="en-US" sz="2000" dirty="0">
                <a:solidFill>
                  <a:srgbClr val="0033CC"/>
                </a:solidFill>
              </a:rPr>
              <a:t>R Essentials </a:t>
            </a:r>
            <a:r>
              <a:rPr lang="en-US" sz="2000" dirty="0"/>
              <a:t>bundle and other popular tools for data science (e.g., </a:t>
            </a:r>
            <a:r>
              <a:rPr lang="en-US" sz="2000" dirty="0" err="1"/>
              <a:t>IRKernel</a:t>
            </a:r>
            <a:r>
              <a:rPr lang="en-US" sz="2000" dirty="0"/>
              <a:t>, </a:t>
            </a:r>
            <a:r>
              <a:rPr lang="en-US" sz="2000" dirty="0" err="1"/>
              <a:t>dplyr</a:t>
            </a:r>
            <a:r>
              <a:rPr lang="en-US" sz="2000" dirty="0"/>
              <a:t>, shiny, ggplot2, </a:t>
            </a:r>
            <a:r>
              <a:rPr lang="en-US" sz="2000" dirty="0" err="1"/>
              <a:t>tidyr</a:t>
            </a:r>
            <a:r>
              <a:rPr lang="en-US" sz="2000" dirty="0"/>
              <a:t>, caret, </a:t>
            </a:r>
            <a:r>
              <a:rPr lang="en-US" sz="2000" dirty="0" err="1"/>
              <a:t>nnet</a:t>
            </a:r>
            <a:r>
              <a:rPr lang="en-US" sz="2000" dirty="0"/>
              <a:t>).</a:t>
            </a:r>
          </a:p>
        </p:txBody>
      </p:sp>
      <p:sp>
        <p:nvSpPr>
          <p:cNvPr id="6" name="TextBox 5">
            <a:extLst>
              <a:ext uri="{FF2B5EF4-FFF2-40B4-BE49-F238E27FC236}">
                <a16:creationId xmlns:a16="http://schemas.microsoft.com/office/drawing/2014/main" id="{EFA8856C-0D0D-9A1F-CE31-AF2A59026B46}"/>
              </a:ext>
            </a:extLst>
          </p:cNvPr>
          <p:cNvSpPr txBox="1"/>
          <p:nvPr/>
        </p:nvSpPr>
        <p:spPr>
          <a:xfrm>
            <a:off x="1447800" y="3276600"/>
            <a:ext cx="6553200" cy="2000548"/>
          </a:xfrm>
          <a:prstGeom prst="rect">
            <a:avLst/>
          </a:prstGeom>
          <a:noFill/>
        </p:spPr>
        <p:txBody>
          <a:bodyPr wrap="square" rtlCol="0">
            <a:spAutoFit/>
          </a:bodyPr>
          <a:lstStyle/>
          <a:p>
            <a:pPr algn="ctr"/>
            <a:r>
              <a:rPr lang="en-US" sz="2000" b="1" dirty="0">
                <a:solidFill>
                  <a:srgbClr val="0033CC"/>
                </a:solidFill>
                <a:latin typeface="Arial" panose="020B0604020202020204" pitchFamily="34" charset="0"/>
                <a:cs typeface="Arial" panose="020B0604020202020204" pitchFamily="34" charset="0"/>
              </a:rPr>
              <a:t>What is Anaconda?</a:t>
            </a:r>
          </a:p>
          <a:p>
            <a:endParaRPr lang="en-US" sz="2000" dirty="0"/>
          </a:p>
          <a:p>
            <a:r>
              <a:rPr lang="en-US" sz="1400" dirty="0">
                <a:latin typeface="Arial" panose="020B0604020202020204" pitchFamily="34" charset="0"/>
                <a:cs typeface="Arial" panose="020B0604020202020204" pitchFamily="34" charset="0"/>
              </a:rPr>
              <a:t>Anaconda free open-source distributor of both Python and R. Anaconda is widely used in the scientific community and by data scientists for machine learning projects or data analysis. It permits easy updating of tools and packages in an integrated environment by a site administrator. Without creating their own Anaconda installation, introductory students are probably better off enjoying sites managed by the university.</a:t>
            </a:r>
          </a:p>
        </p:txBody>
      </p:sp>
      <p:pic>
        <p:nvPicPr>
          <p:cNvPr id="5" name="Picture 4">
            <a:extLst>
              <a:ext uri="{FF2B5EF4-FFF2-40B4-BE49-F238E27FC236}">
                <a16:creationId xmlns:a16="http://schemas.microsoft.com/office/drawing/2014/main" id="{49D5AFF7-0FCF-60FD-0C29-2173299974D0}"/>
              </a:ext>
            </a:extLst>
          </p:cNvPr>
          <p:cNvPicPr>
            <a:picLocks noChangeAspect="1"/>
          </p:cNvPicPr>
          <p:nvPr/>
        </p:nvPicPr>
        <p:blipFill>
          <a:blip r:embed="rId2"/>
          <a:stretch>
            <a:fillRect/>
          </a:stretch>
        </p:blipFill>
        <p:spPr>
          <a:xfrm>
            <a:off x="2590800" y="3227794"/>
            <a:ext cx="758207" cy="458489"/>
          </a:xfrm>
          <a:prstGeom prst="rect">
            <a:avLst/>
          </a:prstGeom>
        </p:spPr>
      </p:pic>
    </p:spTree>
    <p:extLst>
      <p:ext uri="{BB962C8B-B14F-4D97-AF65-F5344CB8AC3E}">
        <p14:creationId xmlns:p14="http://schemas.microsoft.com/office/powerpoint/2010/main" val="279368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457200" y="381000"/>
            <a:ext cx="8305800" cy="685800"/>
          </a:xfrm>
        </p:spPr>
        <p:txBody>
          <a:bodyPr/>
          <a:lstStyle/>
          <a:p>
            <a:r>
              <a:rPr lang="en-US" sz="4000" b="1" kern="1200" dirty="0">
                <a:solidFill>
                  <a:srgbClr val="C00000"/>
                </a:solidFill>
                <a:effectLst>
                  <a:outerShdw blurRad="38100" dist="38100" dir="2700000" algn="tl">
                    <a:srgbClr val="000000"/>
                  </a:outerShdw>
                </a:effectLst>
                <a:latin typeface="Arial" panose="020B0604020202020204" pitchFamily="34" charset="0"/>
                <a:ea typeface="+mn-ea"/>
                <a:cs typeface="Arial" panose="020B0604020202020204" pitchFamily="34" charset="0"/>
              </a:rPr>
              <a:t>Advice</a:t>
            </a:r>
          </a:p>
        </p:txBody>
      </p:sp>
      <p:sp>
        <p:nvSpPr>
          <p:cNvPr id="18435" name="Text Box 3"/>
          <p:cNvSpPr txBox="1">
            <a:spLocks noChangeArrowheads="1"/>
          </p:cNvSpPr>
          <p:nvPr/>
        </p:nvSpPr>
        <p:spPr bwMode="auto">
          <a:xfrm>
            <a:off x="1676400" y="1332028"/>
            <a:ext cx="6315740"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Clr>
                <a:srgbClr val="C00000"/>
              </a:buClr>
            </a:pPr>
            <a:r>
              <a:rPr lang="en-US" sz="2800" dirty="0">
                <a:latin typeface="+mn-lt"/>
                <a:cs typeface="Arial" charset="0"/>
              </a:rPr>
              <a:t> </a:t>
            </a:r>
            <a:r>
              <a:rPr lang="en-US" sz="2800" dirty="0">
                <a:solidFill>
                  <a:srgbClr val="C00000"/>
                </a:solidFill>
                <a:latin typeface="Calibri" panose="020F0502020204030204" pitchFamily="34" charset="0"/>
                <a:cs typeface="Calibri" panose="020F0502020204030204" pitchFamily="34" charset="0"/>
              </a:rPr>
              <a:t>Excel data analysis ..</a:t>
            </a:r>
            <a:r>
              <a:rPr lang="en-US" sz="2800" dirty="0">
                <a:latin typeface="Calibri" panose="020F0502020204030204" pitchFamily="34" charset="0"/>
                <a:cs typeface="Calibri" panose="020F0502020204030204" pitchFamily="34" charset="0"/>
              </a:rPr>
              <a:t>.</a:t>
            </a:r>
          </a:p>
          <a:p>
            <a:pPr marL="457200" lvl="1" indent="0">
              <a:spcBef>
                <a:spcPct val="50000"/>
              </a:spcBef>
              <a:buClr>
                <a:srgbClr val="C00000"/>
              </a:buClr>
            </a:pPr>
            <a:r>
              <a:rPr lang="en-US" sz="2000" i="1" dirty="0">
                <a:solidFill>
                  <a:srgbClr val="0000FF"/>
                </a:solidFill>
                <a:latin typeface="+mn-lt"/>
                <a:cs typeface="Arial" charset="0"/>
              </a:rPr>
              <a:t>Pro: </a:t>
            </a:r>
            <a:r>
              <a:rPr lang="en-US" sz="2000" dirty="0">
                <a:latin typeface="+mn-lt"/>
                <a:cs typeface="Arial" charset="0"/>
              </a:rPr>
              <a:t>familiar, easy to insert functions</a:t>
            </a:r>
          </a:p>
          <a:p>
            <a:pPr marL="457200" lvl="1" indent="0">
              <a:spcBef>
                <a:spcPct val="50000"/>
              </a:spcBef>
              <a:buClr>
                <a:srgbClr val="C00000"/>
              </a:buClr>
            </a:pPr>
            <a:r>
              <a:rPr lang="en-US" sz="2000" i="1" dirty="0">
                <a:solidFill>
                  <a:srgbClr val="0000FF"/>
                </a:solidFill>
                <a:cs typeface="Arial" charset="0"/>
              </a:rPr>
              <a:t>Pro: </a:t>
            </a:r>
            <a:r>
              <a:rPr lang="en-US" sz="2000" dirty="0">
                <a:latin typeface="+mn-lt"/>
                <a:cs typeface="Arial" charset="0"/>
              </a:rPr>
              <a:t>intuitive custom formatting and sharing</a:t>
            </a:r>
          </a:p>
          <a:p>
            <a:pPr marL="457200" lvl="1" indent="0">
              <a:spcBef>
                <a:spcPct val="50000"/>
              </a:spcBef>
              <a:buClr>
                <a:srgbClr val="C00000"/>
              </a:buClr>
            </a:pPr>
            <a:r>
              <a:rPr lang="en-US" sz="2000" i="1" dirty="0">
                <a:solidFill>
                  <a:srgbClr val="C00000"/>
                </a:solidFill>
                <a:latin typeface="+mn-lt"/>
                <a:cs typeface="Arial" charset="0"/>
              </a:rPr>
              <a:t>Con:</a:t>
            </a:r>
            <a:r>
              <a:rPr lang="en-US" sz="2000" dirty="0">
                <a:latin typeface="+mn-lt"/>
                <a:cs typeface="Arial" charset="0"/>
              </a:rPr>
              <a:t> limited options for deeper analysis</a:t>
            </a:r>
          </a:p>
          <a:p>
            <a:pPr>
              <a:spcBef>
                <a:spcPct val="50000"/>
              </a:spcBef>
              <a:buClr>
                <a:srgbClr val="C00000"/>
              </a:buClr>
            </a:pPr>
            <a:r>
              <a:rPr lang="en-US" sz="2800" dirty="0">
                <a:solidFill>
                  <a:srgbClr val="C00000"/>
                </a:solidFill>
                <a:latin typeface="Calibri" panose="020F0502020204030204" pitchFamily="34" charset="0"/>
                <a:cs typeface="Calibri" panose="020F0502020204030204" pitchFamily="34" charset="0"/>
              </a:rPr>
              <a:t>R data analysis ...</a:t>
            </a:r>
          </a:p>
          <a:p>
            <a:pPr marL="457200" lvl="1" indent="0">
              <a:spcBef>
                <a:spcPct val="50000"/>
              </a:spcBef>
              <a:buClr>
                <a:srgbClr val="C00000"/>
              </a:buClr>
            </a:pPr>
            <a:r>
              <a:rPr lang="en-US" sz="2000" i="1" dirty="0">
                <a:solidFill>
                  <a:srgbClr val="0000FF"/>
                </a:solidFill>
                <a:latin typeface="+mn-lt"/>
                <a:cs typeface="Arial" charset="0"/>
              </a:rPr>
              <a:t>Pro: </a:t>
            </a:r>
            <a:r>
              <a:rPr lang="en-US" sz="2000" dirty="0">
                <a:latin typeface="+mn-lt"/>
                <a:cs typeface="Arial" charset="0"/>
              </a:rPr>
              <a:t>quick and logical once you get used to R</a:t>
            </a:r>
          </a:p>
          <a:p>
            <a:pPr marL="457200" lvl="1" indent="0">
              <a:spcBef>
                <a:spcPct val="50000"/>
              </a:spcBef>
              <a:buClr>
                <a:srgbClr val="C00000"/>
              </a:buClr>
            </a:pPr>
            <a:r>
              <a:rPr lang="en-US" sz="2000" i="1" dirty="0">
                <a:solidFill>
                  <a:srgbClr val="0000FF"/>
                </a:solidFill>
                <a:latin typeface="+mn-lt"/>
                <a:cs typeface="Arial" charset="0"/>
              </a:rPr>
              <a:t>Pro: </a:t>
            </a:r>
            <a:r>
              <a:rPr lang="en-US" sz="2000" dirty="0">
                <a:latin typeface="+mn-lt"/>
                <a:cs typeface="Arial" charset="0"/>
              </a:rPr>
              <a:t>allow unlimited fancy statistical tests</a:t>
            </a:r>
          </a:p>
          <a:p>
            <a:pPr marL="457200" lvl="1" indent="0">
              <a:spcBef>
                <a:spcPct val="50000"/>
              </a:spcBef>
              <a:buClr>
                <a:srgbClr val="C00000"/>
              </a:buClr>
            </a:pPr>
            <a:r>
              <a:rPr lang="en-US" sz="2000" i="1" dirty="0">
                <a:solidFill>
                  <a:srgbClr val="C00000"/>
                </a:solidFill>
                <a:latin typeface="+mn-lt"/>
                <a:cs typeface="Arial" charset="0"/>
              </a:rPr>
              <a:t>Con: </a:t>
            </a:r>
            <a:r>
              <a:rPr lang="en-US" sz="2000" dirty="0">
                <a:latin typeface="+mn-lt"/>
                <a:cs typeface="Arial" charset="0"/>
              </a:rPr>
              <a:t>require training and frequent syntax Help</a:t>
            </a:r>
          </a:p>
          <a:p>
            <a:pPr>
              <a:spcBef>
                <a:spcPct val="50000"/>
              </a:spcBef>
              <a:buClr>
                <a:srgbClr val="C00000"/>
              </a:buClr>
            </a:pPr>
            <a:r>
              <a:rPr lang="en-US" sz="2800" dirty="0">
                <a:solidFill>
                  <a:srgbClr val="C00000"/>
                </a:solidFill>
                <a:latin typeface="Calibri" panose="020F0502020204030204" pitchFamily="34" charset="0"/>
                <a:cs typeface="Calibri" panose="020F0502020204030204" pitchFamily="34" charset="0"/>
              </a:rPr>
              <a:t>Alternatives ... Minitab? JMP? </a:t>
            </a:r>
          </a:p>
        </p:txBody>
      </p:sp>
      <p:pic>
        <p:nvPicPr>
          <p:cNvPr id="18436" name="Picture 4" descr="Woodcut Baseball 39.gi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81800" y="665436"/>
            <a:ext cx="940697" cy="802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6911</TotalTime>
  <Words>3773</Words>
  <Application>Microsoft Office PowerPoint</Application>
  <PresentationFormat>On-screen Show (4:3)</PresentationFormat>
  <Paragraphs>344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Lucida Console</vt:lpstr>
      <vt:lpstr>Lucida Sans Unicode</vt:lpstr>
      <vt:lpstr>Times New Roman</vt:lpstr>
      <vt:lpstr>Default Design</vt:lpstr>
      <vt:lpstr>Describing Data Using R</vt:lpstr>
      <vt:lpstr>PowerPoint Presentation</vt:lpstr>
      <vt:lpstr>Example</vt:lpstr>
      <vt:lpstr>Import Data</vt:lpstr>
      <vt:lpstr>View the Data</vt:lpstr>
      <vt:lpstr>Describing the Data</vt:lpstr>
      <vt:lpstr>Histogram</vt:lpstr>
      <vt:lpstr>Histogram</vt:lpstr>
      <vt:lpstr>Boxplot</vt:lpstr>
      <vt:lpstr>Boxplot</vt:lpstr>
      <vt:lpstr>Several Variables</vt:lpstr>
      <vt:lpstr>Data Import</vt:lpstr>
      <vt:lpstr>Descriptive Statistics</vt:lpstr>
      <vt:lpstr>Descriptive Statistics</vt:lpstr>
      <vt:lpstr>Descriptive Statistics</vt:lpstr>
      <vt:lpstr>Descriptive Statistics</vt:lpstr>
      <vt:lpstr>Scatter Plots</vt:lpstr>
      <vt:lpstr>Correlation vs Regression</vt:lpstr>
      <vt:lpstr>Regression</vt:lpstr>
      <vt:lpstr>Correlation Matrix</vt:lpstr>
      <vt:lpstr>Correlation Matrix</vt:lpstr>
      <vt:lpstr>Manipulating Data</vt:lpstr>
      <vt:lpstr>Random Data</vt:lpstr>
      <vt:lpstr>Python</vt:lpstr>
      <vt:lpstr>Python</vt:lpstr>
      <vt:lpstr>Anaconda</vt:lpstr>
      <vt:lpstr>Advice</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R for Descriptive Statistics</dc:title>
  <dc:subject>Chapter 4  Describing Data</dc:subject>
  <dc:creator>David P. Doane</dc:creator>
  <dc:description>Copyright (c) 2025 by McGraw Hill LLC.  This material is intended solely for educational use licensed users of Connect. It may not be copied or resold.</dc:description>
  <cp:lastModifiedBy>Elango Selvaraj</cp:lastModifiedBy>
  <cp:revision>204</cp:revision>
  <dcterms:created xsi:type="dcterms:W3CDTF">2000-08-22T13:07:54Z</dcterms:created>
  <dcterms:modified xsi:type="dcterms:W3CDTF">2023-11-29T09:58:00Z</dcterms:modified>
</cp:coreProperties>
</file>