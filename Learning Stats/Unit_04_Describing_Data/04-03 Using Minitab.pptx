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1" r:id="rId3"/>
    <p:sldId id="304" r:id="rId4"/>
    <p:sldId id="283" r:id="rId5"/>
    <p:sldId id="284" r:id="rId6"/>
    <p:sldId id="285" r:id="rId7"/>
    <p:sldId id="286" r:id="rId8"/>
    <p:sldId id="287" r:id="rId9"/>
    <p:sldId id="305" r:id="rId10"/>
    <p:sldId id="288" r:id="rId11"/>
    <p:sldId id="289" r:id="rId12"/>
    <p:sldId id="290" r:id="rId13"/>
    <p:sldId id="292" r:id="rId14"/>
    <p:sldId id="291" r:id="rId15"/>
    <p:sldId id="293" r:id="rId16"/>
    <p:sldId id="294" r:id="rId17"/>
    <p:sldId id="303" r:id="rId18"/>
    <p:sldId id="306" r:id="rId19"/>
    <p:sldId id="299" r:id="rId20"/>
    <p:sldId id="300" r:id="rId21"/>
    <p:sldId id="307" r:id="rId22"/>
    <p:sldId id="301" r:id="rId23"/>
    <p:sldId id="280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33CC"/>
    <a:srgbClr val="0000FF"/>
    <a:srgbClr val="FFFFFF"/>
    <a:srgbClr val="CC0000"/>
    <a:srgbClr val="FFFFCC"/>
    <a:srgbClr val="6699FF"/>
    <a:srgbClr val="FFFF99"/>
    <a:srgbClr val="FF0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31348-7FEB-4900-8563-06D17FF5FC0E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9474-3DE2-4BD1-AF3C-C0820C6D4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9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59474-3DE2-4BD1-AF3C-C0820C6D43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49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59474-3DE2-4BD1-AF3C-C0820C6D43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9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31742-9883-4053-B88F-F60EF4013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9310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A47FA-4A8B-4455-9F65-5716925F29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28349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EBA98-F43E-4EDE-A30B-03FED689C2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72171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A17CC-374E-4389-B624-741CE3A5FD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12420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13CCA-9F23-42B6-AFB5-F46A1F7D7A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93466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4CCA8-32EE-4227-A2FA-576853B21A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55031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1B2CC-CD22-4769-B3BA-4A223F5F3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85860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D2C2-0AD0-4DAD-AE0C-294E85327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43067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8EBB8-1B3D-448D-9F51-801B4496F2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86644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F3F756-3F97-4751-8B48-399A82336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07024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CF8C1-E552-463A-9B1F-D1EAE5374A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696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DDEE1537-DF2A-4938-9C6F-35E36D033F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gif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Descriptive Statistics</a:t>
            </a:r>
            <a:b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with Minitab</a:t>
            </a:r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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066800" y="5486400"/>
            <a:ext cx="7391400" cy="523220"/>
          </a:xfrm>
          <a:prstGeom prst="rect">
            <a:avLst/>
          </a:prstGeom>
          <a:solidFill>
            <a:srgbClr val="FFFF99">
              <a:alpha val="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Times New Roman" pitchFamily="18" charset="0"/>
              </a:rPr>
              <a:t>© McGraw Hill LLC. All rights reserved. </a:t>
            </a:r>
            <a:r>
              <a:rPr lang="en-US" sz="1400" b="1">
                <a:solidFill>
                  <a:schemeClr val="accent4">
                    <a:lumMod val="65000"/>
                    <a:lumOff val="35000"/>
                  </a:schemeClr>
                </a:solidFill>
                <a:latin typeface="Times New Roman" pitchFamily="18" charset="0"/>
              </a:rPr>
              <a:t>No reproduction or distribution without the prior written consent of McGraw Hill LLC.</a:t>
            </a:r>
            <a:endParaRPr lang="en-US" sz="14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2362200" y="2819400"/>
            <a:ext cx="434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1400" i="1" dirty="0">
                <a:solidFill>
                  <a:srgbClr val="CC0000"/>
                </a:solidFill>
                <a:latin typeface="Times New Roman" pitchFamily="18" charset="0"/>
              </a:rPr>
              <a:t>Copyright Notice</a:t>
            </a:r>
            <a:r>
              <a:rPr lang="en-US" sz="1400" dirty="0">
                <a:latin typeface="Times New Roman" pitchFamily="18" charset="0"/>
              </a:rPr>
              <a:t>  Portions of Minitab statistical software input and output contained in this document are printed with permission of Minitab, Inc.  </a:t>
            </a:r>
            <a:r>
              <a:rPr lang="en-US" sz="1400" dirty="0" err="1">
                <a:latin typeface="Times New Roman" pitchFamily="18" charset="0"/>
              </a:rPr>
              <a:t>Minitab</a:t>
            </a:r>
            <a:r>
              <a:rPr lang="en-US" sz="1400" baseline="30000" dirty="0" err="1">
                <a:latin typeface="Times New Roman" pitchFamily="18" charset="0"/>
              </a:rPr>
              <a:t>TM</a:t>
            </a:r>
            <a:r>
              <a:rPr lang="en-US" sz="1400" dirty="0">
                <a:latin typeface="Times New Roman" pitchFamily="18" charset="0"/>
              </a:rPr>
              <a:t> is a trademark of Minitab Inc. in the United States and other countries and is used herein with the owner's permission.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Why Minitab?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600200" y="2743200"/>
            <a:ext cx="60960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Excel is useful for data manipulation and editing.</a:t>
            </a:r>
          </a:p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But Excel is not ideal for statistical analysis.</a:t>
            </a:r>
          </a:p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Minitab is easy to use, powerful, and affordable.</a:t>
            </a:r>
            <a:r>
              <a:rPr lang="en-US" sz="2000" dirty="0">
                <a:solidFill>
                  <a:srgbClr val="C00000"/>
                </a:solidFill>
              </a:rPr>
              <a:t>*</a:t>
            </a:r>
          </a:p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Minitab has been used in education for decades.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00400" y="5727839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*</a:t>
            </a:r>
            <a:r>
              <a:rPr lang="en-US" sz="1400" dirty="0"/>
              <a:t> Educational pricing is available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579541"/>
            <a:ext cx="856009" cy="51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91134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F1E3BF-122A-4CD3-8C60-254E3EFAC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36" y="974711"/>
            <a:ext cx="7123079" cy="4980245"/>
          </a:xfrm>
          <a:prstGeom prst="rect">
            <a:avLst/>
          </a:prstGeom>
        </p:spPr>
      </p:pic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8077200" y="29718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4103" name="Text Box 8"/>
          <p:cNvSpPr txBox="1">
            <a:spLocks noChangeArrowheads="1"/>
          </p:cNvSpPr>
          <p:nvPr/>
        </p:nvSpPr>
        <p:spPr bwMode="auto">
          <a:xfrm>
            <a:off x="6677457" y="2494846"/>
            <a:ext cx="1780743" cy="738664"/>
          </a:xfrm>
          <a:prstGeom prst="rect">
            <a:avLst/>
          </a:prstGeom>
          <a:solidFill>
            <a:schemeClr val="bg1">
              <a:alpha val="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 i="1">
                <a:solidFill>
                  <a:srgbClr val="0000FF"/>
                </a:solidFill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b="1" i="0" dirty="0">
                <a:solidFill>
                  <a:srgbClr val="003399"/>
                </a:solidFill>
              </a:rPr>
              <a:t>Session Window </a:t>
            </a:r>
            <a:r>
              <a:rPr lang="en-US" b="1" i="0" dirty="0">
                <a:solidFill>
                  <a:schemeClr val="tx1"/>
                </a:solidFill>
              </a:rPr>
              <a:t>(</a:t>
            </a:r>
            <a:r>
              <a:rPr lang="en-US" i="0" dirty="0">
                <a:solidFill>
                  <a:schemeClr val="tx1"/>
                </a:solidFill>
              </a:rPr>
              <a:t>results will be displayed here)</a:t>
            </a:r>
          </a:p>
        </p:txBody>
      </p:sp>
      <p:sp>
        <p:nvSpPr>
          <p:cNvPr id="4102" name="Text Box 7"/>
          <p:cNvSpPr txBox="1">
            <a:spLocks noChangeArrowheads="1"/>
          </p:cNvSpPr>
          <p:nvPr/>
        </p:nvSpPr>
        <p:spPr bwMode="auto">
          <a:xfrm>
            <a:off x="6671302" y="4513215"/>
            <a:ext cx="1333500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b="1" dirty="0">
                <a:solidFill>
                  <a:srgbClr val="003399"/>
                </a:solidFill>
              </a:rPr>
              <a:t>Worksheet</a:t>
            </a:r>
            <a:r>
              <a:rPr lang="en-US" sz="1400" dirty="0">
                <a:solidFill>
                  <a:srgbClr val="0033CC"/>
                </a:solidFill>
              </a:rPr>
              <a:t> </a:t>
            </a:r>
            <a:r>
              <a:rPr lang="en-US" sz="1400" dirty="0"/>
              <a:t>(like an Excel spreadsheet</a:t>
            </a:r>
            <a:r>
              <a:rPr lang="en-US" sz="1400" dirty="0">
                <a:solidFill>
                  <a:srgbClr val="0033CC"/>
                </a:solidFill>
              </a:rPr>
              <a:t>)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6677457" y="1148532"/>
            <a:ext cx="1780743" cy="523220"/>
          </a:xfrm>
          <a:prstGeom prst="rect">
            <a:avLst/>
          </a:prstGeom>
          <a:solidFill>
            <a:schemeClr val="bg1">
              <a:alpha val="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 i="1">
                <a:solidFill>
                  <a:srgbClr val="C00000"/>
                </a:solidFill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b="1" i="0" dirty="0">
                <a:solidFill>
                  <a:srgbClr val="003399"/>
                </a:solidFill>
              </a:rPr>
              <a:t>Menu Bar </a:t>
            </a:r>
            <a:r>
              <a:rPr lang="en-US" i="0" dirty="0">
                <a:solidFill>
                  <a:schemeClr val="tx1"/>
                </a:solidFill>
              </a:rPr>
              <a:t>(with drop-down menus)</a:t>
            </a:r>
          </a:p>
        </p:txBody>
      </p:sp>
      <p:sp>
        <p:nvSpPr>
          <p:cNvPr id="8" name="Left Arrow 7"/>
          <p:cNvSpPr/>
          <p:nvPr/>
        </p:nvSpPr>
        <p:spPr>
          <a:xfrm>
            <a:off x="6264502" y="1168881"/>
            <a:ext cx="412955" cy="396491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6260253" y="2595715"/>
            <a:ext cx="412955" cy="396491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6258347" y="4684301"/>
            <a:ext cx="412955" cy="396491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6A326DC-0603-42BD-9D4B-DEC745B4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371600"/>
            <a:ext cx="6000750" cy="4991145"/>
          </a:xfrm>
          <a:prstGeom prst="rect">
            <a:avLst/>
          </a:prstGeom>
          <a:ln>
            <a:noFill/>
          </a:ln>
        </p:spPr>
      </p:pic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Copying Excel Data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5614481" y="3194347"/>
            <a:ext cx="2767519" cy="1169551"/>
          </a:xfrm>
          <a:prstGeom prst="rect">
            <a:avLst/>
          </a:prstGeom>
          <a:solidFill>
            <a:schemeClr val="bg1">
              <a:alpha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To import data from Excel, highlight the data range, copy it (Ctrl-C), and paste (Ctrl-V) into  a column of the Minitab worksheet.</a:t>
            </a:r>
          </a:p>
        </p:txBody>
      </p:sp>
      <p:sp>
        <p:nvSpPr>
          <p:cNvPr id="5124" name="Line 8"/>
          <p:cNvSpPr>
            <a:spLocks noChangeShapeType="1"/>
          </p:cNvSpPr>
          <p:nvPr/>
        </p:nvSpPr>
        <p:spPr bwMode="auto">
          <a:xfrm flipH="1">
            <a:off x="4203405" y="3428999"/>
            <a:ext cx="1435395" cy="5847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5638800" y="4454843"/>
            <a:ext cx="2895600" cy="1169551"/>
          </a:xfrm>
          <a:prstGeom prst="rect">
            <a:avLst/>
          </a:prstGeom>
          <a:solidFill>
            <a:schemeClr val="bg1">
              <a:alpha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 i="1">
                <a:solidFill>
                  <a:srgbClr val="C00000"/>
                </a:solidFill>
              </a:defRPr>
            </a:lvl1pPr>
          </a:lstStyle>
          <a:p>
            <a:r>
              <a:rPr lang="en-US" dirty="0">
                <a:solidFill>
                  <a:srgbClr val="CC0000"/>
                </a:solidFill>
              </a:rPr>
              <a:t>Caution: </a:t>
            </a:r>
            <a:r>
              <a:rPr lang="en-US" i="0" dirty="0">
                <a:solidFill>
                  <a:schemeClr val="tx1"/>
                </a:solidFill>
              </a:rPr>
              <a:t>If your Excel spreadsheet uses $ format or commas (e.g., $47,352) you should reformat to plain numbers (e.g., 47352) or Minitab may treat the data as text.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0B995C-7B32-44C5-B74C-DAC086D27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04" y="1066800"/>
            <a:ext cx="7239000" cy="5046961"/>
          </a:xfrm>
          <a:prstGeom prst="rect">
            <a:avLst/>
          </a:prstGeom>
          <a:ln>
            <a:solidFill>
              <a:srgbClr val="003399"/>
            </a:solidFill>
          </a:ln>
        </p:spPr>
      </p:pic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Basic Statistics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197966" y="1313209"/>
            <a:ext cx="2438400" cy="95410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 i="1">
                <a:solidFill>
                  <a:srgbClr val="C00000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Tip: </a:t>
            </a:r>
            <a:r>
              <a:rPr lang="en-US" i="0" dirty="0">
                <a:solidFill>
                  <a:schemeClr val="tx1"/>
                </a:solidFill>
              </a:rPr>
              <a:t>You will use this menu often. Statistical analysis usually begins with a look at descriptive statistics.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6197966" y="2436212"/>
            <a:ext cx="2295032" cy="116955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 i="1">
                <a:solidFill>
                  <a:srgbClr val="C00000"/>
                </a:solidFill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dirty="0"/>
              <a:t>Tip: </a:t>
            </a:r>
            <a:r>
              <a:rPr lang="en-US" i="0" dirty="0">
                <a:solidFill>
                  <a:schemeClr val="tx1"/>
                </a:solidFill>
              </a:rPr>
              <a:t>If you see the </a:t>
            </a:r>
            <a:r>
              <a:rPr lang="en-US" i="0" dirty="0"/>
              <a:t>–T</a:t>
            </a:r>
            <a:r>
              <a:rPr lang="en-US" i="0" dirty="0">
                <a:solidFill>
                  <a:schemeClr val="tx1"/>
                </a:solidFill>
              </a:rPr>
              <a:t>  suffix (e.g., </a:t>
            </a:r>
            <a:r>
              <a:rPr lang="en-US" i="0" dirty="0"/>
              <a:t>C2-T</a:t>
            </a:r>
            <a:r>
              <a:rPr lang="en-US" i="0" dirty="0">
                <a:solidFill>
                  <a:schemeClr val="tx1"/>
                </a:solidFill>
              </a:rPr>
              <a:t>) in a column heading the data will be treated as text ( numerical data ).</a:t>
            </a:r>
          </a:p>
        </p:txBody>
      </p:sp>
      <p:sp>
        <p:nvSpPr>
          <p:cNvPr id="16" name="Left Arrow 7">
            <a:extLst>
              <a:ext uri="{FF2B5EF4-FFF2-40B4-BE49-F238E27FC236}">
                <a16:creationId xmlns:a16="http://schemas.microsoft.com/office/drawing/2014/main" id="{4214ECD7-C2CA-4A13-98A8-6AF36F21990F}"/>
              </a:ext>
            </a:extLst>
          </p:cNvPr>
          <p:cNvSpPr/>
          <p:nvPr/>
        </p:nvSpPr>
        <p:spPr>
          <a:xfrm>
            <a:off x="5624919" y="1386121"/>
            <a:ext cx="412955" cy="396491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9CD8C1-E31B-45E3-B32D-D8E5EF9C59B2}"/>
              </a:ext>
            </a:extLst>
          </p:cNvPr>
          <p:cNvSpPr/>
          <p:nvPr/>
        </p:nvSpPr>
        <p:spPr>
          <a:xfrm>
            <a:off x="3504082" y="1386121"/>
            <a:ext cx="1568302" cy="5334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FB4F5F-214E-4061-A3D2-9F8532488994}"/>
              </a:ext>
            </a:extLst>
          </p:cNvPr>
          <p:cNvSpPr/>
          <p:nvPr/>
        </p:nvSpPr>
        <p:spPr>
          <a:xfrm>
            <a:off x="2134109" y="1386121"/>
            <a:ext cx="1204578" cy="174204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7">
            <a:extLst>
              <a:ext uri="{FF2B5EF4-FFF2-40B4-BE49-F238E27FC236}">
                <a16:creationId xmlns:a16="http://schemas.microsoft.com/office/drawing/2014/main" id="{A2AE1F41-23C9-1389-7B0D-DA18C67C9ADF}"/>
              </a:ext>
            </a:extLst>
          </p:cNvPr>
          <p:cNvSpPr/>
          <p:nvPr/>
        </p:nvSpPr>
        <p:spPr>
          <a:xfrm>
            <a:off x="5624918" y="2436212"/>
            <a:ext cx="412955" cy="396491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2E1746F-D843-4E32-85FC-571E726B7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543" y="1208728"/>
            <a:ext cx="3905250" cy="2990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A85F1E-AC15-40D7-924A-E3C37DC75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7" y="4343400"/>
            <a:ext cx="2838450" cy="1847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A4BE50-69C9-44B6-98A9-318945EE3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774" y="1995995"/>
            <a:ext cx="3067050" cy="3314700"/>
          </a:xfrm>
          <a:prstGeom prst="rect">
            <a:avLst/>
          </a:prstGeom>
        </p:spPr>
      </p:pic>
      <p:sp>
        <p:nvSpPr>
          <p:cNvPr id="717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Descriptive Statistics</a:t>
            </a:r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970621" y="1118114"/>
            <a:ext cx="3134203" cy="7386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Text columns if any) will not be listed as variables because they are non-numerical.</a:t>
            </a:r>
          </a:p>
        </p:txBody>
      </p:sp>
      <p:sp>
        <p:nvSpPr>
          <p:cNvPr id="7178" name="Text Box 14"/>
          <p:cNvSpPr txBox="1">
            <a:spLocks noChangeArrowheads="1"/>
          </p:cNvSpPr>
          <p:nvPr/>
        </p:nvSpPr>
        <p:spPr bwMode="auto">
          <a:xfrm>
            <a:off x="847618" y="3400283"/>
            <a:ext cx="1828800" cy="73866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Highlight the variable(s) you want and click </a:t>
            </a:r>
            <a:r>
              <a:rPr lang="en-US" sz="1400" dirty="0">
                <a:solidFill>
                  <a:srgbClr val="C00000"/>
                </a:solidFill>
              </a:rPr>
              <a:t>Select</a:t>
            </a:r>
            <a:r>
              <a:rPr lang="en-US" sz="1400" dirty="0"/>
              <a:t>.</a:t>
            </a:r>
          </a:p>
        </p:txBody>
      </p:sp>
      <p:sp>
        <p:nvSpPr>
          <p:cNvPr id="7175" name="Line 9"/>
          <p:cNvSpPr>
            <a:spLocks noChangeShapeType="1"/>
          </p:cNvSpPr>
          <p:nvPr/>
        </p:nvSpPr>
        <p:spPr bwMode="auto">
          <a:xfrm flipV="1">
            <a:off x="2942370" y="2837448"/>
            <a:ext cx="1496280" cy="169567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6"/>
          <p:cNvSpPr>
            <a:spLocks noChangeShapeType="1"/>
          </p:cNvSpPr>
          <p:nvPr/>
        </p:nvSpPr>
        <p:spPr bwMode="auto">
          <a:xfrm flipV="1">
            <a:off x="4057004" y="4605671"/>
            <a:ext cx="464539" cy="6666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EAE517CB-4766-4CF1-9096-90ADA3AD68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81251" y="2571893"/>
            <a:ext cx="37898" cy="77455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3B00BE6-E0D8-4230-B8E9-9E92877E7DD7}"/>
              </a:ext>
            </a:extLst>
          </p:cNvPr>
          <p:cNvSpPr/>
          <p:nvPr/>
        </p:nvSpPr>
        <p:spPr>
          <a:xfrm>
            <a:off x="2352116" y="4571269"/>
            <a:ext cx="782168" cy="26305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E9E5B7C-EE2D-4BD0-AFE2-04F75A91B66A}"/>
              </a:ext>
            </a:extLst>
          </p:cNvPr>
          <p:cNvSpPr/>
          <p:nvPr/>
        </p:nvSpPr>
        <p:spPr>
          <a:xfrm>
            <a:off x="3204560" y="4540811"/>
            <a:ext cx="782168" cy="263052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Descriptive Statistics</a:t>
            </a: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1836880" y="1113878"/>
            <a:ext cx="5470240" cy="52322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The session window shows your results. You can copy each result as text or as a PNG to paste it into Word or Excel.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5294FF2-4D11-40EA-B20B-578FFFB97DE5}"/>
              </a:ext>
            </a:extLst>
          </p:cNvPr>
          <p:cNvSpPr/>
          <p:nvPr/>
        </p:nvSpPr>
        <p:spPr>
          <a:xfrm>
            <a:off x="4045264" y="1746963"/>
            <a:ext cx="505659" cy="523219"/>
          </a:xfrm>
          <a:prstGeom prst="down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54660-3DCB-40EB-9F18-9D871B4F9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86000"/>
            <a:ext cx="5257800" cy="1457325"/>
          </a:xfrm>
          <a:prstGeom prst="rect">
            <a:avLst/>
          </a:prstGeom>
        </p:spPr>
      </p:pic>
      <p:sp>
        <p:nvSpPr>
          <p:cNvPr id="15" name="Text Box 8">
            <a:extLst>
              <a:ext uri="{FF2B5EF4-FFF2-40B4-BE49-F238E27FC236}">
                <a16:creationId xmlns:a16="http://schemas.microsoft.com/office/drawing/2014/main" id="{06A8D1B0-0125-403A-AD1E-46C5F497B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3974" y="4114800"/>
            <a:ext cx="4249826" cy="1169551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Interpretation: </a:t>
            </a:r>
            <a:r>
              <a:rPr lang="en-US" sz="1400" dirty="0"/>
              <a:t>The mean and median are almost the same for winning U.S. Open Golf scores for men (</a:t>
            </a:r>
            <a:r>
              <a:rPr lang="en-US" sz="1400" i="1" dirty="0"/>
              <a:t>n</a:t>
            </a:r>
            <a:r>
              <a:rPr lang="en-US" sz="1400" dirty="0"/>
              <a:t> = 75 years). However, the skewness and kurtosis statistics suggest possible asymmetry and leptokurtic distribution. Possible outlier(s)?  </a:t>
            </a:r>
          </a:p>
        </p:txBody>
      </p:sp>
      <p:pic>
        <p:nvPicPr>
          <p:cNvPr id="16" name="Picture 3" descr="C:\Users\Blythe\AppData\Local\Microsoft\Windows\Temporary Internet Files\Content.IE5\T28SMCVP\MC900360788[2].wmf">
            <a:extLst>
              <a:ext uri="{FF2B5EF4-FFF2-40B4-BE49-F238E27FC236}">
                <a16:creationId xmlns:a16="http://schemas.microsoft.com/office/drawing/2014/main" id="{159417D2-C0B7-4D74-ADAD-D0F006BF7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764" y="3886200"/>
            <a:ext cx="970210" cy="152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Descriptive Statistics</a:t>
            </a:r>
          </a:p>
        </p:txBody>
      </p:sp>
      <p:sp>
        <p:nvSpPr>
          <p:cNvPr id="8198" name="Text Box 13"/>
          <p:cNvSpPr txBox="1">
            <a:spLocks noChangeArrowheads="1"/>
          </p:cNvSpPr>
          <p:nvPr/>
        </p:nvSpPr>
        <p:spPr bwMode="auto">
          <a:xfrm>
            <a:off x="1783241" y="1151577"/>
            <a:ext cx="5577516" cy="523220"/>
          </a:xfrm>
          <a:prstGeom prst="rect">
            <a:avLst/>
          </a:prstGeom>
          <a:solidFill>
            <a:srgbClr val="FFFFFF"/>
          </a:solidFill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Each graph is in a separate window.  Double click a graph to edit it. You can copy as a PNG to paste into Word or Excel.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440C64B-3CCC-43E2-8D8F-7C1F10B14EC4}"/>
              </a:ext>
            </a:extLst>
          </p:cNvPr>
          <p:cNvSpPr/>
          <p:nvPr/>
        </p:nvSpPr>
        <p:spPr>
          <a:xfrm>
            <a:off x="4059043" y="1784221"/>
            <a:ext cx="543760" cy="395900"/>
          </a:xfrm>
          <a:prstGeom prst="down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7DBD5B-125D-4AC1-A7C3-AA25BD7C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45" y="2242307"/>
            <a:ext cx="4101507" cy="2734338"/>
          </a:xfrm>
          <a:prstGeom prst="rect">
            <a:avLst/>
          </a:prstGeom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A1F7AB92-2307-4F38-BBF7-DAAD53EBC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13858"/>
            <a:ext cx="3774332" cy="954107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Interpretation: </a:t>
            </a:r>
            <a:r>
              <a:rPr lang="en-US" sz="1400" dirty="0"/>
              <a:t>The distribution appears somewhat bell-shaped except for a high concentration near 280 and an unusual value in the right tail.</a:t>
            </a:r>
          </a:p>
        </p:txBody>
      </p:sp>
      <p:pic>
        <p:nvPicPr>
          <p:cNvPr id="11" name="Picture 3" descr="C:\Users\Blythe\AppData\Local\Microsoft\Windows\Temporary Internet Files\Content.IE5\T28SMCVP\MC900360788[2].wmf">
            <a:extLst>
              <a:ext uri="{FF2B5EF4-FFF2-40B4-BE49-F238E27FC236}">
                <a16:creationId xmlns:a16="http://schemas.microsoft.com/office/drawing/2014/main" id="{27AD0651-D78D-4B71-91CB-93CA49F9F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857" y="4864399"/>
            <a:ext cx="810776" cy="127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933589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Editing Graphs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5400000" flipH="1" flipV="1">
            <a:off x="6438900" y="6057900"/>
            <a:ext cx="1524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2057400" y="1585007"/>
            <a:ext cx="4914900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When you double-click on a graph feature (e.g., X-axis), edit tools will appear to edit text, fonts, colors, bins,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D1703-2164-4973-8AD4-2F78BF136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326838"/>
            <a:ext cx="4173994" cy="3328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B13493-6653-443E-A332-40909F3AB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26838"/>
            <a:ext cx="3105150" cy="2756909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382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Graph Edits </a:t>
            </a:r>
          </a:p>
        </p:txBody>
      </p:sp>
      <p:sp>
        <p:nvSpPr>
          <p:cNvPr id="10245" name="Text Box 11"/>
          <p:cNvSpPr txBox="1">
            <a:spLocks noChangeArrowheads="1"/>
          </p:cNvSpPr>
          <p:nvPr/>
        </p:nvSpPr>
        <p:spPr bwMode="auto">
          <a:xfrm>
            <a:off x="2514600" y="1447800"/>
            <a:ext cx="990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>
                <a:solidFill>
                  <a:srgbClr val="003399"/>
                </a:solidFill>
              </a:rPr>
              <a:t>Before</a:t>
            </a:r>
          </a:p>
        </p:txBody>
      </p:sp>
      <p:sp>
        <p:nvSpPr>
          <p:cNvPr id="10246" name="Text Box 12"/>
          <p:cNvSpPr txBox="1">
            <a:spLocks noChangeArrowheads="1"/>
          </p:cNvSpPr>
          <p:nvPr/>
        </p:nvSpPr>
        <p:spPr bwMode="auto">
          <a:xfrm>
            <a:off x="6019798" y="2147535"/>
            <a:ext cx="990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>
                <a:solidFill>
                  <a:srgbClr val="003399"/>
                </a:solidFill>
              </a:rPr>
              <a:t>After</a:t>
            </a:r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2409978" y="5135399"/>
            <a:ext cx="46004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Comment: </a:t>
            </a:r>
            <a:r>
              <a:rPr lang="en-US" sz="1400" dirty="0"/>
              <a:t>This example is merely to show what can be done, not to suggest that this is an improvement.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273" y="4926417"/>
            <a:ext cx="710900" cy="682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C90AD5-4326-42EE-BBA5-9A6467F0D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08764"/>
            <a:ext cx="3124200" cy="208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0BDA9C-0415-46A1-B4B0-519C1CAA1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71924"/>
            <a:ext cx="3473999" cy="2315999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382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Copy a Graph </a:t>
            </a:r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2743200" y="5557661"/>
            <a:ext cx="3810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dirty="0"/>
              <a:t>There are many choices for copying a graph.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5389349"/>
            <a:ext cx="856009" cy="517630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E48AFA9-17E4-47EF-ACD7-E774BE9B2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795392"/>
              </p:ext>
            </p:extLst>
          </p:nvPr>
        </p:nvGraphicFramePr>
        <p:xfrm>
          <a:off x="1219200" y="1447800"/>
          <a:ext cx="7067550" cy="3550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8039160" imgH="4038480" progId="Paint.Picture">
                  <p:embed/>
                </p:oleObj>
              </mc:Choice>
              <mc:Fallback>
                <p:oleObj name="Bitmap Image" r:id="rId3" imgW="8039160" imgH="4038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1447800"/>
                        <a:ext cx="7067550" cy="3550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382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Graph Menus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8C294F-39F0-48C2-B514-4A93F5B2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600200"/>
            <a:ext cx="3409950" cy="2914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CBB67D-17AC-4E90-9D0F-F88CF201B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576545"/>
            <a:ext cx="3381375" cy="3114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358929-5B48-4214-AB05-CF1F50107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4691220"/>
            <a:ext cx="3352800" cy="1743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FBC717-E78C-4CE5-9F6C-9630CCBA5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4733925"/>
            <a:ext cx="3390900" cy="174307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382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Examples 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5257800" y="1072507"/>
            <a:ext cx="265247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</a:rPr>
              <a:t>Interpretation: </a:t>
            </a:r>
            <a:r>
              <a:rPr lang="en-US" sz="1400" dirty="0"/>
              <a:t>This empirical CDF resembles a normal curve. Its probability plot is linear except at the ends and overall is consistent with a normal (</a:t>
            </a:r>
            <a:r>
              <a:rPr lang="en-US" sz="1400" i="1" dirty="0"/>
              <a:t>p</a:t>
            </a:r>
            <a:r>
              <a:rPr lang="en-US" sz="1400" dirty="0"/>
              <a:t> = .290). Excel offers nothing like this.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4E84E75F-926B-457B-BA6A-A1246D5FA25F}"/>
              </a:ext>
            </a:extLst>
          </p:cNvPr>
          <p:cNvSpPr/>
          <p:nvPr/>
        </p:nvSpPr>
        <p:spPr>
          <a:xfrm>
            <a:off x="4648200" y="1510271"/>
            <a:ext cx="457200" cy="381000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sp>
        <p:nvSpPr>
          <p:cNvPr id="8" name="Down Arrow 11">
            <a:extLst>
              <a:ext uri="{FF2B5EF4-FFF2-40B4-BE49-F238E27FC236}">
                <a16:creationId xmlns:a16="http://schemas.microsoft.com/office/drawing/2014/main" id="{9249FDD2-1E80-4124-89EC-7E0290F1B6DC}"/>
              </a:ext>
            </a:extLst>
          </p:cNvPr>
          <p:cNvSpPr/>
          <p:nvPr/>
        </p:nvSpPr>
        <p:spPr>
          <a:xfrm>
            <a:off x="6125319" y="2807114"/>
            <a:ext cx="457200" cy="381000"/>
          </a:xfrm>
          <a:prstGeom prst="down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D2FC4-11F4-4AA6-A035-8C8E55310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61" y="963215"/>
            <a:ext cx="3698678" cy="2465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20F9A4-3728-44B8-8302-316EF8427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189687"/>
            <a:ext cx="3429000" cy="2286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382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Paste Text In Excel 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057400" y="5486400"/>
            <a:ext cx="6096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When you paste copied Minitab text into Excel, it might go into one column. If so, use </a:t>
            </a:r>
            <a:r>
              <a:rPr lang="en-US" sz="1400" dirty="0">
                <a:solidFill>
                  <a:srgbClr val="C00000"/>
                </a:solidFill>
              </a:rPr>
              <a:t>Data &gt; Text to Columns </a:t>
            </a:r>
            <a:r>
              <a:rPr lang="en-US" sz="1400" dirty="0"/>
              <a:t>to align it into columns, using spaces as separators. </a:t>
            </a:r>
          </a:p>
        </p:txBody>
      </p:sp>
      <p:pic>
        <p:nvPicPr>
          <p:cNvPr id="8" name="Picture 7" descr="A close up of a clock&#10;&#10;Description automatically generated">
            <a:extLst>
              <a:ext uri="{FF2B5EF4-FFF2-40B4-BE49-F238E27FC236}">
                <a16:creationId xmlns:a16="http://schemas.microsoft.com/office/drawing/2014/main" id="{511FE66F-0957-45F3-9731-6EF41C8A9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884" y="5594122"/>
            <a:ext cx="545380" cy="523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75C44B-05C6-4B2A-B021-726F4AD40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371600"/>
            <a:ext cx="6277662" cy="3953926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382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Text to Columns 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5076825" y="1530606"/>
            <a:ext cx="299847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Use </a:t>
            </a:r>
            <a:r>
              <a:rPr lang="en-US" sz="1400" dirty="0">
                <a:solidFill>
                  <a:srgbClr val="C00000"/>
                </a:solidFill>
              </a:rPr>
              <a:t>Text to Columns </a:t>
            </a:r>
            <a:r>
              <a:rPr lang="en-US" sz="1400" dirty="0"/>
              <a:t>to get text fields aligned into Excel columns, using the </a:t>
            </a:r>
            <a:r>
              <a:rPr lang="en-US" sz="1400" dirty="0">
                <a:solidFill>
                  <a:srgbClr val="C00000"/>
                </a:solidFill>
              </a:rPr>
              <a:t>Delimited</a:t>
            </a:r>
            <a:r>
              <a:rPr lang="en-US" sz="1400" dirty="0"/>
              <a:t> option with spaces and tabs as delimiters.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01" y="1515533"/>
            <a:ext cx="3863340" cy="31470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0" y="2870200"/>
            <a:ext cx="3863340" cy="3147060"/>
          </a:xfrm>
          <a:prstGeom prst="rect">
            <a:avLst/>
          </a:prstGeom>
        </p:spPr>
      </p:pic>
      <p:sp>
        <p:nvSpPr>
          <p:cNvPr id="12" name="Down Arrow 11"/>
          <p:cNvSpPr/>
          <p:nvPr/>
        </p:nvSpPr>
        <p:spPr>
          <a:xfrm>
            <a:off x="6650334" y="2679700"/>
            <a:ext cx="457200" cy="381000"/>
          </a:xfrm>
          <a:prstGeom prst="down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sp>
        <p:nvSpPr>
          <p:cNvPr id="11" name="Left Arrow 10"/>
          <p:cNvSpPr/>
          <p:nvPr/>
        </p:nvSpPr>
        <p:spPr>
          <a:xfrm>
            <a:off x="4415790" y="1765875"/>
            <a:ext cx="457200" cy="457200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4124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One-Click Stats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333500" y="1318736"/>
            <a:ext cx="6896100" cy="7386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Minitab’s </a:t>
            </a:r>
            <a:r>
              <a:rPr lang="en-US" sz="1400" dirty="0">
                <a:solidFill>
                  <a:srgbClr val="C00000"/>
                </a:solidFill>
              </a:rPr>
              <a:t>Graphical Summary</a:t>
            </a:r>
            <a:r>
              <a:rPr lang="en-US" sz="1400" dirty="0"/>
              <a:t> gives nice graphs (histogram, box plot, confidence intervals) and key statistics (mean, standard deviation, min, max, quartiles, </a:t>
            </a:r>
            <a:r>
              <a:rPr lang="en-US" sz="1400" i="1" dirty="0"/>
              <a:t>p</a:t>
            </a:r>
            <a:r>
              <a:rPr lang="en-US" sz="1400" dirty="0"/>
              <a:t>-value for  normality test, confidence intervals for mean, median, and standard deviation).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F14132BC-3F1F-4094-8067-2716580B2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810000"/>
            <a:ext cx="1981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You may never need more than this!</a:t>
            </a:r>
          </a:p>
        </p:txBody>
      </p:sp>
      <p:pic>
        <p:nvPicPr>
          <p:cNvPr id="13" name="Picture 12" descr="A close up of a clock&#10;&#10;Description automatically generated">
            <a:extLst>
              <a:ext uri="{FF2B5EF4-FFF2-40B4-BE49-F238E27FC236}">
                <a16:creationId xmlns:a16="http://schemas.microsoft.com/office/drawing/2014/main" id="{B1D76112-32AB-4423-A41A-323B669393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743200"/>
            <a:ext cx="545380" cy="523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876708-925E-4338-AAE0-54AE3892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444" y="2364696"/>
            <a:ext cx="3048425" cy="3229426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4124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One-Click Stats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333500" y="1318736"/>
            <a:ext cx="6896100" cy="7386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Minitab’s </a:t>
            </a:r>
            <a:r>
              <a:rPr lang="en-US" sz="1400" dirty="0">
                <a:solidFill>
                  <a:srgbClr val="C00000"/>
                </a:solidFill>
              </a:rPr>
              <a:t>Graphical Summary</a:t>
            </a:r>
            <a:r>
              <a:rPr lang="en-US" sz="1400" dirty="0"/>
              <a:t> gives nice graphs (histogram, box plot, confidence intervals) and key statistics (mean, standard deviation, min, max, quartiles, </a:t>
            </a:r>
            <a:r>
              <a:rPr lang="en-US" sz="1400" i="1" dirty="0"/>
              <a:t>p</a:t>
            </a:r>
            <a:r>
              <a:rPr lang="en-US" sz="1400" dirty="0"/>
              <a:t>-value for  normality test, confidence intervals for mean, median, and standard deviation).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F14132BC-3F1F-4094-8067-2716580B2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789952"/>
            <a:ext cx="1981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You may never need more than this!</a:t>
            </a:r>
          </a:p>
        </p:txBody>
      </p:sp>
      <p:pic>
        <p:nvPicPr>
          <p:cNvPr id="13" name="Picture 12" descr="A close up of a clock&#10;&#10;Description automatically generated">
            <a:extLst>
              <a:ext uri="{FF2B5EF4-FFF2-40B4-BE49-F238E27FC236}">
                <a16:creationId xmlns:a16="http://schemas.microsoft.com/office/drawing/2014/main" id="{B1D76112-32AB-4423-A41A-323B669393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040931"/>
            <a:ext cx="545380" cy="5232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4B1FBF-EE1B-434C-9C34-179745474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91" y="2182281"/>
            <a:ext cx="4984749" cy="373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85215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6858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Storing Statistics</a:t>
            </a:r>
          </a:p>
        </p:txBody>
      </p:sp>
      <p:sp>
        <p:nvSpPr>
          <p:cNvPr id="21510" name="Text Box 9"/>
          <p:cNvSpPr txBox="1">
            <a:spLocks noChangeArrowheads="1"/>
          </p:cNvSpPr>
          <p:nvPr/>
        </p:nvSpPr>
        <p:spPr bwMode="auto">
          <a:xfrm>
            <a:off x="2476500" y="1413848"/>
            <a:ext cx="4610100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You can save desired statistics in the worksheet.</a:t>
            </a:r>
          </a:p>
        </p:txBody>
      </p:sp>
      <p:sp>
        <p:nvSpPr>
          <p:cNvPr id="8" name="Down Arrow 11">
            <a:extLst>
              <a:ext uri="{FF2B5EF4-FFF2-40B4-BE49-F238E27FC236}">
                <a16:creationId xmlns:a16="http://schemas.microsoft.com/office/drawing/2014/main" id="{65C36B08-DF1E-4B5E-82A4-07056915DABA}"/>
              </a:ext>
            </a:extLst>
          </p:cNvPr>
          <p:cNvSpPr/>
          <p:nvPr/>
        </p:nvSpPr>
        <p:spPr>
          <a:xfrm>
            <a:off x="4229100" y="1835672"/>
            <a:ext cx="533400" cy="527034"/>
          </a:xfrm>
          <a:prstGeom prst="down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B5234-5B3F-47EF-BB86-C3FA93A44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27" y="2590800"/>
            <a:ext cx="4611346" cy="2958658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4124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More 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B170B-1F01-4606-9604-5501DEC5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60" y="4370446"/>
            <a:ext cx="2912895" cy="2065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923BC4-7E47-49E0-A90D-F97C2E0C8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825" y="4271929"/>
            <a:ext cx="3016969" cy="199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CE6594-6EEE-4B0C-98D9-C52B885B2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825" y="1259550"/>
            <a:ext cx="4350175" cy="2900117"/>
          </a:xfrm>
          <a:prstGeom prst="rect">
            <a:avLst/>
          </a:prstGeom>
        </p:spPr>
      </p:pic>
      <p:sp>
        <p:nvSpPr>
          <p:cNvPr id="13" name="Text Box 4">
            <a:extLst>
              <a:ext uri="{FF2B5EF4-FFF2-40B4-BE49-F238E27FC236}">
                <a16:creationId xmlns:a16="http://schemas.microsoft.com/office/drawing/2014/main" id="{6675EE1C-A058-437F-892D-C748D27B9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047" y="1769399"/>
            <a:ext cx="16315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Note: </a:t>
            </a:r>
            <a:r>
              <a:rPr lang="en-US" sz="1400" dirty="0"/>
              <a:t>Possible downward trend?</a:t>
            </a:r>
          </a:p>
        </p:txBody>
      </p:sp>
      <p:pic>
        <p:nvPicPr>
          <p:cNvPr id="14" name="Picture 13" descr="A close up of a clock&#10;&#10;Description automatically generated">
            <a:extLst>
              <a:ext uri="{FF2B5EF4-FFF2-40B4-BE49-F238E27FC236}">
                <a16:creationId xmlns:a16="http://schemas.microsoft.com/office/drawing/2014/main" id="{65BB1E2B-EB83-428A-AE65-1067FFDDF8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787" y="1134259"/>
            <a:ext cx="545380" cy="523220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9AC62C2D-06D2-4716-A874-C635FD57F74F}"/>
              </a:ext>
            </a:extLst>
          </p:cNvPr>
          <p:cNvSpPr/>
          <p:nvPr/>
        </p:nvSpPr>
        <p:spPr>
          <a:xfrm>
            <a:off x="6037008" y="1525360"/>
            <a:ext cx="381000" cy="439769"/>
          </a:xfrm>
          <a:prstGeom prst="lef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pic>
        <p:nvPicPr>
          <p:cNvPr id="16" name="Picture 15" descr="A close up of a clock&#10;&#10;Description automatically generated">
            <a:extLst>
              <a:ext uri="{FF2B5EF4-FFF2-40B4-BE49-F238E27FC236}">
                <a16:creationId xmlns:a16="http://schemas.microsoft.com/office/drawing/2014/main" id="{2F3B44DF-8D80-42E1-B3EE-EF9972D3F9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430" y="2797054"/>
            <a:ext cx="545380" cy="523220"/>
          </a:xfrm>
          <a:prstGeom prst="rect">
            <a:avLst/>
          </a:prstGeom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AE7B6665-F0CB-4FB2-BA5F-987616EE3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030" y="3440407"/>
            <a:ext cx="29128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You can set the time scale labels and edit graph labels.</a:t>
            </a:r>
          </a:p>
        </p:txBody>
      </p:sp>
      <p:sp>
        <p:nvSpPr>
          <p:cNvPr id="18" name="Down Arrow 11">
            <a:extLst>
              <a:ext uri="{FF2B5EF4-FFF2-40B4-BE49-F238E27FC236}">
                <a16:creationId xmlns:a16="http://schemas.microsoft.com/office/drawing/2014/main" id="{7670FC35-B452-49A0-8F1A-BE39E022F0DF}"/>
              </a:ext>
            </a:extLst>
          </p:cNvPr>
          <p:cNvSpPr/>
          <p:nvPr/>
        </p:nvSpPr>
        <p:spPr>
          <a:xfrm>
            <a:off x="6707177" y="4083760"/>
            <a:ext cx="495300" cy="374128"/>
          </a:xfrm>
          <a:prstGeom prst="down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5893629-5A55-49B9-9DD7-D9CA92B6376F}"/>
              </a:ext>
            </a:extLst>
          </p:cNvPr>
          <p:cNvSpPr/>
          <p:nvPr/>
        </p:nvSpPr>
        <p:spPr>
          <a:xfrm>
            <a:off x="4572000" y="4953000"/>
            <a:ext cx="304800" cy="304800"/>
          </a:xfrm>
          <a:prstGeom prst="rightArrow">
            <a:avLst/>
          </a:prstGeom>
          <a:solidFill>
            <a:srgbClr val="0033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003399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4124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More 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43097-C311-4A3E-8236-8FB97812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37747"/>
            <a:ext cx="2457450" cy="3657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0221AC-294E-413F-8A9E-DB152CA6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128" y="1382949"/>
            <a:ext cx="4799556" cy="31997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8466A6-0A50-4718-A41A-35DE726D3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636081"/>
            <a:ext cx="5421423" cy="172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51345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AB4B8-7374-428B-AD85-F7ADFE366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219200"/>
            <a:ext cx="4168302" cy="4568952"/>
          </a:xfrm>
          <a:prstGeom prst="rect">
            <a:avLst/>
          </a:prstGeom>
        </p:spPr>
      </p:pic>
      <p:sp>
        <p:nvSpPr>
          <p:cNvPr id="2355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84124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Where Did My Graphs Go?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1371600" y="1575246"/>
            <a:ext cx="1594585" cy="138499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i="1" dirty="0">
                <a:solidFill>
                  <a:srgbClr val="C00000"/>
                </a:solidFill>
              </a:rPr>
              <a:t>Tip: </a:t>
            </a:r>
            <a:r>
              <a:rPr lang="en-US" sz="1400" dirty="0"/>
              <a:t>Don’t panic. The </a:t>
            </a:r>
            <a:r>
              <a:rPr lang="en-US" sz="1400" b="1" dirty="0">
                <a:solidFill>
                  <a:srgbClr val="003399"/>
                </a:solidFill>
              </a:rPr>
              <a:t>Navigator</a:t>
            </a:r>
            <a:r>
              <a:rPr lang="en-US" sz="1400" dirty="0"/>
              <a:t> pane shows all the graphs and results you have created. 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737582-5E3C-40B8-9E95-574D06E915F1}"/>
              </a:ext>
            </a:extLst>
          </p:cNvPr>
          <p:cNvSpPr/>
          <p:nvPr/>
        </p:nvSpPr>
        <p:spPr>
          <a:xfrm>
            <a:off x="3200400" y="1752600"/>
            <a:ext cx="891702" cy="36274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4124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Closing Tips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269492" y="2743200"/>
            <a:ext cx="6605016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  Minitab is an affordable complement to Excel.</a:t>
            </a:r>
          </a:p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  Your university may already have a Minitab license.</a:t>
            </a:r>
          </a:p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  Customize graphs </a:t>
            </a:r>
            <a:r>
              <a:rPr lang="en-US" sz="2000" i="1" dirty="0">
                <a:solidFill>
                  <a:srgbClr val="C00000"/>
                </a:solidFill>
              </a:rPr>
              <a:t>before</a:t>
            </a:r>
            <a:r>
              <a:rPr lang="en-US" sz="2000" dirty="0"/>
              <a:t> you copy them.</a:t>
            </a:r>
          </a:p>
          <a:p>
            <a:pPr marL="342900" indent="-342900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  Use </a:t>
            </a:r>
            <a:r>
              <a:rPr lang="en-US" sz="2000" dirty="0">
                <a:solidFill>
                  <a:srgbClr val="C00000"/>
                </a:solidFill>
              </a:rPr>
              <a:t>Paste Special</a:t>
            </a:r>
            <a:r>
              <a:rPr lang="en-US" sz="2000" dirty="0"/>
              <a:t> to copy Minitab graphs to Word.</a:t>
            </a:r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842</Words>
  <Application>Microsoft Office PowerPoint</Application>
  <PresentationFormat>On-screen Show (4:3)</PresentationFormat>
  <Paragraphs>64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Default Design</vt:lpstr>
      <vt:lpstr>Bitmap Image</vt:lpstr>
      <vt:lpstr>Descriptive Statistics with Minitab</vt:lpstr>
      <vt:lpstr>PowerPoint Presentation</vt:lpstr>
      <vt:lpstr>Why Minitab?</vt:lpstr>
      <vt:lpstr>User Interface</vt:lpstr>
      <vt:lpstr>Copying Excel Data</vt:lpstr>
      <vt:lpstr>Basic Statistics</vt:lpstr>
      <vt:lpstr>Descriptive Statistics</vt:lpstr>
      <vt:lpstr>Descriptive Statistics</vt:lpstr>
      <vt:lpstr>Descriptive Statistics</vt:lpstr>
      <vt:lpstr>Editing Graphs </vt:lpstr>
      <vt:lpstr>Graph Edits </vt:lpstr>
      <vt:lpstr>Copy a Graph </vt:lpstr>
      <vt:lpstr>Graph Menus</vt:lpstr>
      <vt:lpstr>Examples </vt:lpstr>
      <vt:lpstr>Paste Text In Excel </vt:lpstr>
      <vt:lpstr>Text to Columns </vt:lpstr>
      <vt:lpstr>One-Click Stats</vt:lpstr>
      <vt:lpstr>One-Click Stats</vt:lpstr>
      <vt:lpstr>Storing Statistics</vt:lpstr>
      <vt:lpstr>More Graphs</vt:lpstr>
      <vt:lpstr>More Graphs</vt:lpstr>
      <vt:lpstr>Where Did My Graphs Go?</vt:lpstr>
      <vt:lpstr>Closing Tips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with MINITAB</dc:title>
  <dc:subject>Chapter 4  Describing Data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125</cp:revision>
  <dcterms:created xsi:type="dcterms:W3CDTF">2002-11-21T14:37:17Z</dcterms:created>
  <dcterms:modified xsi:type="dcterms:W3CDTF">2023-11-29T09:58:04Z</dcterms:modified>
</cp:coreProperties>
</file>