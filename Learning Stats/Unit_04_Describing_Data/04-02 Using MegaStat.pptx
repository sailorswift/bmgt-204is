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03" r:id="rId3"/>
    <p:sldId id="283" r:id="rId4"/>
    <p:sldId id="284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80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FFFFFF"/>
    <a:srgbClr val="3333CC"/>
    <a:srgbClr val="336699"/>
    <a:srgbClr val="333399"/>
    <a:srgbClr val="FFFFCC"/>
    <a:srgbClr val="FFFFFC"/>
    <a:srgbClr val="FFCC6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5" autoAdjust="0"/>
    <p:restoredTop sz="94660"/>
  </p:normalViewPr>
  <p:slideViewPr>
    <p:cSldViewPr>
      <p:cViewPr varScale="1">
        <p:scale>
          <a:sx n="59" d="100"/>
          <a:sy n="59" d="100"/>
        </p:scale>
        <p:origin x="14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7BDAA13E-F04D-42D7-A79A-B2976B951A4C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FDD2EBF-BBF3-4981-AC3E-B6FB6299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801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61CCEDF-0C3E-4782-A54F-5047DF9D4D2F}" type="slidenum">
              <a:rPr lang="en-US"/>
              <a:pPr eaLnBrk="1" hangingPunct="1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8AB14-330B-466F-9B70-5B2B3A97A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5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D9CF2-12E6-4DA3-A328-EBC8C02EB6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0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4CA16-B4AB-4E54-9733-CAEC8426E0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18F8C-5E2C-4824-BB13-DCE54BDC7D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0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4D78E-1D4F-41CC-8C2C-375C02FBC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01711-CBCC-4415-99AC-CA340BF77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3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E6FB3-8467-4FA3-90DA-CA9A3ECB5D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0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27621-550A-418A-919A-DBE54B49C9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0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1BF4A-EA8E-4754-B8F2-0F02FFF34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9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AA05A-B0CE-4762-8937-587E677430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F4FDD-4C2A-4C55-9D1B-FDF8B3ACD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4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2D7C60-546B-4E78-9BEC-45B604C9BF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highered.mcgraw-hill.com/sites/0077425995/information_center_view0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</a:t>
            </a:r>
            <a:r>
              <a:rPr lang="en-US" b="1" dirty="0" err="1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MegaStat</a:t>
            </a:r>
            <a:r>
              <a:rPr lang="en-US" b="1" baseline="300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</a:t>
            </a:r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876300" y="5562600"/>
            <a:ext cx="7505700" cy="523220"/>
          </a:xfrm>
          <a:prstGeom prst="rect">
            <a:avLst/>
          </a:prstGeom>
          <a:solidFill>
            <a:srgbClr val="FFFF99">
              <a:alpha val="0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McGraw Hill LLC. All rights reserved. </a:t>
            </a:r>
            <a:r>
              <a:rPr lang="en-US" sz="1400" b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reproduction or distribution without the prior written consent of McGraw Hill LLC.</a:t>
            </a:r>
            <a:endParaRPr lang="en-US" sz="14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1790700" y="2133600"/>
            <a:ext cx="6019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>
              <a:defRPr/>
            </a:pPr>
            <a:endParaRPr lang="en-US" sz="1600" i="1" dirty="0">
              <a:latin typeface="+mn-lt"/>
            </a:endParaRPr>
          </a:p>
          <a:p>
            <a:pPr eaLnBrk="0" hangingPunct="0">
              <a:defRPr/>
            </a:pPr>
            <a:r>
              <a:rPr lang="en-US" sz="1600" dirty="0" err="1">
                <a:solidFill>
                  <a:srgbClr val="0000FF"/>
                </a:solidFill>
                <a:latin typeface="+mn-lt"/>
              </a:rPr>
              <a:t>MegaStat</a:t>
            </a:r>
            <a:r>
              <a:rPr lang="en-US" sz="1600" b="1" baseline="30000" dirty="0">
                <a:solidFill>
                  <a:srgbClr val="0000FF"/>
                </a:solidFill>
                <a:latin typeface="+mn-lt"/>
                <a:sym typeface="Symbol" pitchFamily="18" charset="2"/>
              </a:rPr>
              <a:t></a:t>
            </a:r>
            <a:r>
              <a:rPr lang="en-US" sz="1600" dirty="0">
                <a:latin typeface="+mn-lt"/>
              </a:rPr>
              <a:t> is an Excel add-in for statistical data analysis and graph creation. It is sold as a web download for Windows 10 or Mac OS-X (Version 11 only). After installation, the </a:t>
            </a:r>
            <a:r>
              <a:rPr lang="en-US" sz="1600" dirty="0" err="1">
                <a:latin typeface="+mn-lt"/>
              </a:rPr>
              <a:t>MegaStat</a:t>
            </a:r>
            <a:r>
              <a:rPr lang="en-US" sz="1600" dirty="0">
                <a:latin typeface="+mn-lt"/>
              </a:rPr>
              <a:t> command will be added to your Excel spreadsheet on the </a:t>
            </a:r>
            <a:r>
              <a:rPr lang="en-US" sz="1600" dirty="0">
                <a:solidFill>
                  <a:srgbClr val="0000FF"/>
                </a:solidFill>
                <a:latin typeface="+mn-lt"/>
              </a:rPr>
              <a:t>Data</a:t>
            </a:r>
            <a:r>
              <a:rPr lang="en-US" sz="1600" dirty="0">
                <a:latin typeface="+mn-lt"/>
              </a:rPr>
              <a:t> ribbon. You may purchase </a:t>
            </a:r>
            <a:r>
              <a:rPr lang="en-US" sz="1600" dirty="0" err="1">
                <a:latin typeface="+mn-lt"/>
              </a:rPr>
              <a:t>MegaStat</a:t>
            </a:r>
            <a:r>
              <a:rPr lang="en-US" sz="1600" b="1" baseline="30000" dirty="0">
                <a:latin typeface="+mn-lt"/>
                <a:sym typeface="Symbol" pitchFamily="18" charset="2"/>
              </a:rPr>
              <a:t></a:t>
            </a:r>
            <a:r>
              <a:rPr lang="en-US" sz="1600" dirty="0">
                <a:latin typeface="+mn-lt"/>
              </a:rPr>
              <a:t> for about $15 (price as of 2016) from McGraw-Hill. </a:t>
            </a:r>
            <a:r>
              <a:rPr lang="en-US" sz="1600" dirty="0">
                <a:latin typeface="+mn-lt"/>
                <a:hlinkClick r:id="rId2"/>
              </a:rPr>
              <a:t>Click here</a:t>
            </a:r>
            <a:r>
              <a:rPr lang="en-US" sz="1600" dirty="0">
                <a:latin typeface="+mn-lt"/>
              </a:rPr>
              <a:t> for more information.</a:t>
            </a:r>
          </a:p>
        </p:txBody>
      </p:sp>
      <p:pic>
        <p:nvPicPr>
          <p:cNvPr id="3075" name="Picture 2" descr="Business 1088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343400"/>
            <a:ext cx="1514475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BB4E16A-8ED3-4B6B-AB7D-02ED6C8929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What Is </a:t>
            </a:r>
            <a:r>
              <a:rPr lang="en-US" sz="3600" b="1" kern="1200" dirty="0" err="1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MegaStat</a:t>
            </a:r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336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Installing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8077200" y="29718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7637" y="1394936"/>
            <a:ext cx="6858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Click the installation workbook </a:t>
            </a:r>
            <a:r>
              <a:rPr lang="en-US" sz="1600" dirty="0" err="1">
                <a:solidFill>
                  <a:srgbClr val="0000CC"/>
                </a:solidFill>
                <a:latin typeface="+mn-lt"/>
              </a:rPr>
              <a:t>MegaStat</a:t>
            </a:r>
            <a:r>
              <a:rPr lang="en-US" sz="1600" dirty="0">
                <a:solidFill>
                  <a:srgbClr val="0000CC"/>
                </a:solidFill>
                <a:latin typeface="+mn-lt"/>
              </a:rPr>
              <a:t> Add-In Installer.xlsm</a:t>
            </a:r>
            <a:r>
              <a:rPr lang="en-US" sz="1600" dirty="0">
                <a:latin typeface="+mn-lt"/>
              </a:rPr>
              <a:t>.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MegaStat.xlam and MegaStat.chm must be in the same folder as the installation workbook. When you open the installation workbook there will be an </a:t>
            </a:r>
            <a:r>
              <a:rPr lang="en-US" sz="1600" dirty="0">
                <a:solidFill>
                  <a:srgbClr val="0000CC"/>
                </a:solidFill>
                <a:latin typeface="+mn-lt"/>
              </a:rPr>
              <a:t>Install </a:t>
            </a:r>
            <a:r>
              <a:rPr lang="en-US" sz="1600" dirty="0" err="1">
                <a:solidFill>
                  <a:srgbClr val="0000CC"/>
                </a:solidFill>
                <a:latin typeface="+mn-lt"/>
              </a:rPr>
              <a:t>MegaStat</a:t>
            </a:r>
            <a:r>
              <a:rPr lang="en-US" sz="1600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US" sz="1600" dirty="0">
                <a:latin typeface="+mn-lt"/>
              </a:rPr>
              <a:t>button like this: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884" y="2743670"/>
            <a:ext cx="5639832" cy="16079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81100" y="4724400"/>
            <a:ext cx="6629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Click </a:t>
            </a:r>
            <a:r>
              <a:rPr lang="en-US" sz="1600" dirty="0">
                <a:solidFill>
                  <a:srgbClr val="0000CC"/>
                </a:solidFill>
                <a:latin typeface="+mn-lt"/>
              </a:rPr>
              <a:t>Install </a:t>
            </a:r>
            <a:r>
              <a:rPr lang="en-US" sz="1600" dirty="0" err="1">
                <a:solidFill>
                  <a:srgbClr val="0000CC"/>
                </a:solidFill>
                <a:latin typeface="+mn-lt"/>
              </a:rPr>
              <a:t>MegaStat</a:t>
            </a:r>
            <a:r>
              <a:rPr lang="en-US" sz="1600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US" sz="1600" dirty="0">
                <a:latin typeface="+mn-lt"/>
              </a:rPr>
              <a:t>and the </a:t>
            </a:r>
            <a:r>
              <a:rPr lang="en-US" sz="1600" dirty="0" err="1">
                <a:latin typeface="+mn-lt"/>
              </a:rPr>
              <a:t>MegaStat</a:t>
            </a:r>
            <a:r>
              <a:rPr lang="en-US" sz="1600" dirty="0">
                <a:latin typeface="+mn-lt"/>
              </a:rPr>
              <a:t> files will be copied to the Excel Add-ins folder and </a:t>
            </a:r>
            <a:r>
              <a:rPr lang="en-US" sz="1600" dirty="0" err="1">
                <a:latin typeface="+mn-lt"/>
              </a:rPr>
              <a:t>MegaStat</a:t>
            </a:r>
            <a:r>
              <a:rPr lang="en-US" sz="1600" dirty="0">
                <a:latin typeface="+mn-lt"/>
              </a:rPr>
              <a:t> will be placed on the Add-ins ribbon. </a:t>
            </a:r>
            <a:r>
              <a:rPr lang="en-US" sz="1600" i="1" dirty="0">
                <a:solidFill>
                  <a:srgbClr val="C00000"/>
                </a:solidFill>
                <a:latin typeface="+mn-lt"/>
              </a:rPr>
              <a:t>Note:</a:t>
            </a:r>
            <a:r>
              <a:rPr lang="en-US" sz="1600" dirty="0">
                <a:latin typeface="+mn-lt"/>
              </a:rPr>
              <a:t> When you open the installer workbook you may be asked to click Enable Content. You will need to have macros in Excel enabled to install and run </a:t>
            </a:r>
            <a:r>
              <a:rPr lang="en-US" sz="1600" dirty="0" err="1">
                <a:latin typeface="+mn-lt"/>
              </a:rPr>
              <a:t>MegaStat</a:t>
            </a:r>
            <a:r>
              <a:rPr lang="en-US" sz="1600" dirty="0">
                <a:latin typeface="+mn-lt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Data Set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91" y="1295401"/>
            <a:ext cx="6966109" cy="5272182"/>
          </a:xfrm>
          <a:prstGeom prst="rect">
            <a:avLst/>
          </a:prstGeom>
          <a:noFill/>
          <a:ln>
            <a:noFill/>
          </a:ln>
        </p:spPr>
      </p:pic>
      <p:sp>
        <p:nvSpPr>
          <p:cNvPr id="5125" name="Text Box 11"/>
          <p:cNvSpPr txBox="1">
            <a:spLocks noChangeArrowheads="1"/>
          </p:cNvSpPr>
          <p:nvPr/>
        </p:nvSpPr>
        <p:spPr bwMode="auto">
          <a:xfrm>
            <a:off x="5943600" y="1828800"/>
            <a:ext cx="1981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Winning margin in the Cotton Bowl from 1937 to 2016.</a:t>
            </a:r>
          </a:p>
        </p:txBody>
      </p:sp>
      <p:sp>
        <p:nvSpPr>
          <p:cNvPr id="5124" name="Line 8"/>
          <p:cNvSpPr>
            <a:spLocks noChangeShapeType="1"/>
          </p:cNvSpPr>
          <p:nvPr/>
        </p:nvSpPr>
        <p:spPr bwMode="auto">
          <a:xfrm flipH="1">
            <a:off x="5410200" y="2249846"/>
            <a:ext cx="533400" cy="76164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990600" y="1676400"/>
            <a:ext cx="609600" cy="573447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568687" y="1447799"/>
            <a:ext cx="593646" cy="45720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Descriptive Statistics</a:t>
            </a:r>
          </a:p>
        </p:txBody>
      </p:sp>
      <p:sp>
        <p:nvSpPr>
          <p:cNvPr id="6147" name="Text Box 10"/>
          <p:cNvSpPr txBox="1">
            <a:spLocks noChangeArrowheads="1"/>
          </p:cNvSpPr>
          <p:nvPr/>
        </p:nvSpPr>
        <p:spPr bwMode="auto">
          <a:xfrm>
            <a:off x="3429000" y="1569441"/>
            <a:ext cx="3429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Choose the outputs that you want.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95800" y="2017081"/>
            <a:ext cx="533400" cy="381000"/>
          </a:xfrm>
          <a:prstGeom prst="down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459037"/>
            <a:ext cx="5562600" cy="337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Output Worksheet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93" y="1295400"/>
            <a:ext cx="7034213" cy="5307330"/>
          </a:xfrm>
          <a:prstGeom prst="rect">
            <a:avLst/>
          </a:prstGeom>
        </p:spPr>
      </p:pic>
      <p:sp>
        <p:nvSpPr>
          <p:cNvPr id="7172" name="Text Box 17"/>
          <p:cNvSpPr txBox="1">
            <a:spLocks noChangeArrowheads="1"/>
          </p:cNvSpPr>
          <p:nvPr/>
        </p:nvSpPr>
        <p:spPr bwMode="auto">
          <a:xfrm>
            <a:off x="5105400" y="3276600"/>
            <a:ext cx="2057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Results are displayed on a new worksheet named </a:t>
            </a:r>
            <a:r>
              <a:rPr lang="en-US" sz="1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 If you do more statistics, they will be appended at the bottom of the </a:t>
            </a:r>
            <a:r>
              <a:rPr lang="en-US" sz="1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worksheet.</a:t>
            </a:r>
          </a:p>
        </p:txBody>
      </p:sp>
      <p:sp>
        <p:nvSpPr>
          <p:cNvPr id="7173" name="Line 18"/>
          <p:cNvSpPr>
            <a:spLocks noChangeShapeType="1"/>
          </p:cNvSpPr>
          <p:nvPr/>
        </p:nvSpPr>
        <p:spPr bwMode="auto">
          <a:xfrm flipH="1">
            <a:off x="2057400" y="4038600"/>
            <a:ext cx="2971800" cy="2209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Output Charts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93" y="1295400"/>
            <a:ext cx="7034213" cy="5307330"/>
          </a:xfrm>
          <a:prstGeom prst="rect">
            <a:avLst/>
          </a:prstGeom>
          <a:solidFill>
            <a:srgbClr val="FFFFCC"/>
          </a:solidFill>
          <a:ln w="12700">
            <a:noFill/>
          </a:ln>
        </p:spPr>
      </p:pic>
      <p:sp>
        <p:nvSpPr>
          <p:cNvPr id="8196" name="Text Box 12"/>
          <p:cNvSpPr txBox="1">
            <a:spLocks noChangeArrowheads="1"/>
          </p:cNvSpPr>
          <p:nvPr/>
        </p:nvSpPr>
        <p:spPr bwMode="auto">
          <a:xfrm>
            <a:off x="5715000" y="4114800"/>
            <a:ext cx="20574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Scroll down to see the charts you have requested (e.g., box plot, dot plot). You can edit axis scales and colors.</a:t>
            </a:r>
          </a:p>
        </p:txBody>
      </p:sp>
      <p:sp>
        <p:nvSpPr>
          <p:cNvPr id="9" name="Left Arrow 8"/>
          <p:cNvSpPr/>
          <p:nvPr/>
        </p:nvSpPr>
        <p:spPr>
          <a:xfrm>
            <a:off x="5105400" y="4419600"/>
            <a:ext cx="457200" cy="457200"/>
          </a:xfrm>
          <a:prstGeom prst="left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Graph Editing </a:t>
            </a:r>
          </a:p>
        </p:txBody>
      </p:sp>
      <p:sp>
        <p:nvSpPr>
          <p:cNvPr id="10243" name="Text Box 11"/>
          <p:cNvSpPr txBox="1">
            <a:spLocks noChangeArrowheads="1"/>
          </p:cNvSpPr>
          <p:nvPr/>
        </p:nvSpPr>
        <p:spPr bwMode="auto">
          <a:xfrm>
            <a:off x="2794570" y="1630387"/>
            <a:ext cx="990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b="1" i="1" dirty="0">
                <a:solidFill>
                  <a:srgbClr val="0000CC"/>
                </a:solidFill>
              </a:rPr>
              <a:t>Before</a:t>
            </a:r>
          </a:p>
        </p:txBody>
      </p:sp>
      <p:sp>
        <p:nvSpPr>
          <p:cNvPr id="10244" name="Text Box 12"/>
          <p:cNvSpPr txBox="1">
            <a:spLocks noChangeArrowheads="1"/>
          </p:cNvSpPr>
          <p:nvPr/>
        </p:nvSpPr>
        <p:spPr bwMode="auto">
          <a:xfrm>
            <a:off x="5669508" y="3631495"/>
            <a:ext cx="990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i="1" dirty="0">
                <a:solidFill>
                  <a:srgbClr val="0000CC"/>
                </a:solidFill>
              </a:rPr>
              <a:t>After</a:t>
            </a:r>
          </a:p>
        </p:txBody>
      </p:sp>
      <p:sp>
        <p:nvSpPr>
          <p:cNvPr id="10245" name="Text Box 13"/>
          <p:cNvSpPr txBox="1">
            <a:spLocks noChangeArrowheads="1"/>
          </p:cNvSpPr>
          <p:nvPr/>
        </p:nvSpPr>
        <p:spPr bwMode="auto">
          <a:xfrm>
            <a:off x="452104" y="4308448"/>
            <a:ext cx="221489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is just to show what Excel can do (not to suggest that this is an improvement).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629400" y="2119725"/>
            <a:ext cx="1901687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Some graph features can be edited. Or you can choose an Excel  template). Be careful to preserve the scaling.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025051"/>
            <a:ext cx="5216513" cy="15431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3" y="1984630"/>
            <a:ext cx="5216513" cy="1543133"/>
          </a:xfrm>
          <a:prstGeom prst="rect">
            <a:avLst/>
          </a:prstGeom>
        </p:spPr>
      </p:pic>
      <p:sp>
        <p:nvSpPr>
          <p:cNvPr id="11" name="Right Arrow 6">
            <a:extLst>
              <a:ext uri="{FF2B5EF4-FFF2-40B4-BE49-F238E27FC236}">
                <a16:creationId xmlns:a16="http://schemas.microsoft.com/office/drawing/2014/main" id="{2E7B22BC-C4D0-4CD3-A6F2-E61D54442D45}"/>
              </a:ext>
            </a:extLst>
          </p:cNvPr>
          <p:cNvSpPr/>
          <p:nvPr/>
        </p:nvSpPr>
        <p:spPr>
          <a:xfrm>
            <a:off x="2794570" y="4504622"/>
            <a:ext cx="430659" cy="445851"/>
          </a:xfrm>
          <a:prstGeom prst="right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Left Arrow 8">
            <a:extLst>
              <a:ext uri="{FF2B5EF4-FFF2-40B4-BE49-F238E27FC236}">
                <a16:creationId xmlns:a16="http://schemas.microsoft.com/office/drawing/2014/main" id="{9DD2D093-DA82-49B5-8568-842FA5ADCA54}"/>
              </a:ext>
            </a:extLst>
          </p:cNvPr>
          <p:cNvSpPr/>
          <p:nvPr/>
        </p:nvSpPr>
        <p:spPr>
          <a:xfrm>
            <a:off x="6113456" y="2268524"/>
            <a:ext cx="457200" cy="533400"/>
          </a:xfrm>
          <a:prstGeom prst="left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Pasting a Graph </a:t>
            </a:r>
          </a:p>
        </p:txBody>
      </p:sp>
      <p:sp>
        <p:nvSpPr>
          <p:cNvPr id="11267" name="Text Box 8"/>
          <p:cNvSpPr txBox="1">
            <a:spLocks noChangeArrowheads="1"/>
          </p:cNvSpPr>
          <p:nvPr/>
        </p:nvSpPr>
        <p:spPr bwMode="auto">
          <a:xfrm>
            <a:off x="2757902" y="5498712"/>
            <a:ext cx="4648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When you copy an Excel graph to Word or PowerPoint, use </a:t>
            </a:r>
            <a:r>
              <a:rPr lang="en-US" sz="1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Paste Special &gt; Picture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 Otherwise, a link may be retained to Excel,  which can cause problems later on.</a:t>
            </a:r>
          </a:p>
        </p:txBody>
      </p:sp>
      <p:sp>
        <p:nvSpPr>
          <p:cNvPr id="7" name="Up Arrow 6"/>
          <p:cNvSpPr/>
          <p:nvPr/>
        </p:nvSpPr>
        <p:spPr>
          <a:xfrm>
            <a:off x="4419600" y="5029200"/>
            <a:ext cx="457200" cy="381000"/>
          </a:xfrm>
          <a:prstGeom prst="up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604962"/>
            <a:ext cx="5200650" cy="3114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69D28-8B37-4678-91BF-CE3E2BA7D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5638800"/>
            <a:ext cx="758207" cy="4584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Graphs: Interpretation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614488" y="1349121"/>
            <a:ext cx="247161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Runs plot shows variation in winning margin over time and a possible upward trend.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15552"/>
            <a:ext cx="4021421" cy="252979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40691"/>
            <a:ext cx="4939145" cy="14764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768" y="4993764"/>
            <a:ext cx="4709631" cy="147672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3145418" y="1520468"/>
            <a:ext cx="430659" cy="445851"/>
          </a:xfrm>
          <a:prstGeom prst="right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14488" y="2333599"/>
            <a:ext cx="258591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stem-and-leaf and box plots show right-skewness. Most Cotton Bowl games are decided by less than 12 points.</a:t>
            </a:r>
          </a:p>
        </p:txBody>
      </p:sp>
      <p:sp>
        <p:nvSpPr>
          <p:cNvPr id="9" name="Down Arrow 8"/>
          <p:cNvSpPr/>
          <p:nvPr/>
        </p:nvSpPr>
        <p:spPr>
          <a:xfrm>
            <a:off x="1812195" y="3429000"/>
            <a:ext cx="533400" cy="381000"/>
          </a:xfrm>
          <a:prstGeom prst="downArrow">
            <a:avLst/>
          </a:prstGeom>
          <a:solidFill>
            <a:srgbClr val="0000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457200"/>
            <a:ext cx="77724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Help System </a:t>
            </a:r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2209801" y="1319992"/>
            <a:ext cx="4724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MegaStat's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system explains how it computes statistics and graphs, along with editing options. You can also check your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MegaStat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704" y="2590800"/>
            <a:ext cx="2194560" cy="31203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6" y="2590800"/>
            <a:ext cx="5092065" cy="3163253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5936932" y="3521262"/>
            <a:ext cx="463868" cy="441138"/>
          </a:xfrm>
          <a:prstGeom prst="rightArrow">
            <a:avLst/>
          </a:prstGeom>
          <a:solidFill>
            <a:srgbClr val="0000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315200" cy="731520"/>
          </a:xfrm>
        </p:spPr>
        <p:txBody>
          <a:bodyPr/>
          <a:lstStyle/>
          <a:p>
            <a:pPr eaLnBrk="1" hangingPunct="1"/>
            <a:r>
              <a:rPr lang="en-US" sz="3600" b="1" kern="12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Summary</a:t>
            </a:r>
          </a:p>
        </p:txBody>
      </p:sp>
      <p:sp>
        <p:nvSpPr>
          <p:cNvPr id="14339" name="Text Box 10"/>
          <p:cNvSpPr txBox="1">
            <a:spLocks noChangeArrowheads="1"/>
          </p:cNvSpPr>
          <p:nvPr/>
        </p:nvSpPr>
        <p:spPr bwMode="auto">
          <a:xfrm>
            <a:off x="1447800" y="2209800"/>
            <a:ext cx="6781800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dirty="0"/>
              <a:t>   </a:t>
            </a:r>
            <a:r>
              <a:rPr lang="en-US" dirty="0" err="1"/>
              <a:t>MegaStat</a:t>
            </a:r>
            <a:r>
              <a:rPr lang="en-US" dirty="0"/>
              <a:t> is easy because it's an Excel add-in.</a:t>
            </a:r>
          </a:p>
          <a:p>
            <a:pPr marL="285750" indent="-285750" eaLnBrk="1" hangingPunct="1">
              <a:spcBef>
                <a:spcPct val="50000"/>
              </a:spcBef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dirty="0"/>
              <a:t>   It makes nicely-scaled graphs and rounded statistics.</a:t>
            </a:r>
          </a:p>
          <a:p>
            <a:pPr marL="285750" indent="-285750" eaLnBrk="1" hangingPunct="1">
              <a:spcBef>
                <a:spcPct val="50000"/>
              </a:spcBef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dirty="0"/>
              <a:t>   You can customize its output graphs.</a:t>
            </a:r>
          </a:p>
          <a:p>
            <a:pPr marL="285750" indent="-285750" eaLnBrk="1" hangingPunct="1">
              <a:spcBef>
                <a:spcPct val="50000"/>
              </a:spcBef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dirty="0"/>
              <a:t>   To copy graphs to Word or </a:t>
            </a:r>
            <a:r>
              <a:rPr lang="en-US" dirty="0" err="1"/>
              <a:t>Powerpoint</a:t>
            </a:r>
            <a:r>
              <a:rPr lang="en-US" dirty="0"/>
              <a:t>, use </a:t>
            </a:r>
            <a:r>
              <a:rPr lang="en-US" dirty="0">
                <a:solidFill>
                  <a:srgbClr val="C00000"/>
                </a:solidFill>
              </a:rPr>
              <a:t>Paste Special</a:t>
            </a:r>
            <a:r>
              <a:rPr lang="en-US" dirty="0"/>
              <a:t>.</a:t>
            </a:r>
          </a:p>
        </p:txBody>
      </p:sp>
      <p:pic>
        <p:nvPicPr>
          <p:cNvPr id="14340" name="Picture 3" descr="Business 2345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648200"/>
            <a:ext cx="1447800" cy="1545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5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FFFF7"/>
      </a:accent1>
      <a:accent2>
        <a:srgbClr val="33CCCC"/>
      </a:accent2>
      <a:accent3>
        <a:srgbClr val="FFFFE9"/>
      </a:accent3>
      <a:accent4>
        <a:srgbClr val="000000"/>
      </a:accent4>
      <a:accent5>
        <a:srgbClr val="FFFFFA"/>
      </a:accent5>
      <a:accent6>
        <a:srgbClr val="2DB9B9"/>
      </a:accent6>
      <a:hlink>
        <a:srgbClr val="FF5050"/>
      </a:hlink>
      <a:folHlink>
        <a:srgbClr val="FF99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1770</TotalTime>
  <Words>480</Words>
  <Application>Microsoft Office PowerPoint</Application>
  <PresentationFormat>On-screen Show (4:3)</PresentationFormat>
  <Paragraphs>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Default Design</vt:lpstr>
      <vt:lpstr>Using MegaStat</vt:lpstr>
      <vt:lpstr>What Is MegaStat?</vt:lpstr>
      <vt:lpstr>Installing</vt:lpstr>
      <vt:lpstr>Data Set</vt:lpstr>
      <vt:lpstr>Descriptive Statistics</vt:lpstr>
      <vt:lpstr>Output Worksheet</vt:lpstr>
      <vt:lpstr>Output Charts</vt:lpstr>
      <vt:lpstr>Graph Editing </vt:lpstr>
      <vt:lpstr>Pasting a Graph </vt:lpstr>
      <vt:lpstr>Graphs: Interpretation</vt:lpstr>
      <vt:lpstr>Help System </vt:lpstr>
      <vt:lpstr>Summary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with MegaStat</dc:title>
  <dc:subject>Chapter 4  Describing Data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91</cp:revision>
  <dcterms:created xsi:type="dcterms:W3CDTF">2002-11-21T14:37:17Z</dcterms:created>
  <dcterms:modified xsi:type="dcterms:W3CDTF">2023-11-29T09:58:08Z</dcterms:modified>
</cp:coreProperties>
</file>