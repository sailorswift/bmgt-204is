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02" r:id="rId1"/>
  </p:sldMasterIdLst>
  <p:notesMasterIdLst>
    <p:notesMasterId r:id="rId27"/>
  </p:notesMasterIdLst>
  <p:sldIdLst>
    <p:sldId id="256" r:id="rId2"/>
    <p:sldId id="281" r:id="rId3"/>
    <p:sldId id="282" r:id="rId4"/>
    <p:sldId id="271" r:id="rId5"/>
    <p:sldId id="272" r:id="rId6"/>
    <p:sldId id="261" r:id="rId7"/>
    <p:sldId id="285" r:id="rId8"/>
    <p:sldId id="274" r:id="rId9"/>
    <p:sldId id="262" r:id="rId10"/>
    <p:sldId id="270" r:id="rId11"/>
    <p:sldId id="267" r:id="rId12"/>
    <p:sldId id="258" r:id="rId13"/>
    <p:sldId id="279" r:id="rId14"/>
    <p:sldId id="259" r:id="rId15"/>
    <p:sldId id="275" r:id="rId16"/>
    <p:sldId id="283" r:id="rId17"/>
    <p:sldId id="276" r:id="rId18"/>
    <p:sldId id="284" r:id="rId19"/>
    <p:sldId id="260" r:id="rId20"/>
    <p:sldId id="287" r:id="rId21"/>
    <p:sldId id="268" r:id="rId22"/>
    <p:sldId id="286" r:id="rId23"/>
    <p:sldId id="269" r:id="rId24"/>
    <p:sldId id="277" r:id="rId25"/>
    <p:sldId id="280"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003399"/>
    <a:srgbClr val="FFFFFF"/>
    <a:srgbClr val="000000"/>
    <a:srgbClr val="53548A"/>
    <a:srgbClr val="0000FF"/>
    <a:srgbClr val="FFFFCC"/>
    <a:srgbClr val="CC0000"/>
    <a:srgbClr val="FFFFF7"/>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6BFDFF-2413-4BD7-8ADC-B46CC93178DA}" type="datetimeFigureOut">
              <a:rPr lang="en-US" smtClean="0"/>
              <a:t>11/29/2023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72F7D9-8C86-475A-BD51-52437F8A4038}" type="slidenum">
              <a:rPr lang="en-US" smtClean="0"/>
              <a:t>‹#›</a:t>
            </a:fld>
            <a:endParaRPr lang="en-US"/>
          </a:p>
        </p:txBody>
      </p:sp>
    </p:spTree>
    <p:extLst>
      <p:ext uri="{BB962C8B-B14F-4D97-AF65-F5344CB8AC3E}">
        <p14:creationId xmlns:p14="http://schemas.microsoft.com/office/powerpoint/2010/main" val="1033081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E72F7D9-8C86-475A-BD51-52437F8A4038}" type="slidenum">
              <a:rPr lang="en-US" smtClean="0"/>
              <a:t>8</a:t>
            </a:fld>
            <a:endParaRPr lang="en-US"/>
          </a:p>
        </p:txBody>
      </p:sp>
    </p:spTree>
    <p:extLst>
      <p:ext uri="{BB962C8B-B14F-4D97-AF65-F5344CB8AC3E}">
        <p14:creationId xmlns:p14="http://schemas.microsoft.com/office/powerpoint/2010/main" val="1420409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2628" y="770467"/>
            <a:ext cx="8086725" cy="3352800"/>
          </a:xfrm>
        </p:spPr>
        <p:txBody>
          <a:bodyPr anchor="b">
            <a:noAutofit/>
          </a:bodyPr>
          <a:lstStyle>
            <a:lvl1pPr algn="l">
              <a:lnSpc>
                <a:spcPct val="80000"/>
              </a:lnSpc>
              <a:defRPr sz="8000" spc="-12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500634" y="4198409"/>
            <a:ext cx="6921151" cy="1645920"/>
          </a:xfrm>
        </p:spPr>
        <p:txBody>
          <a:bodyPr>
            <a:normAutofit/>
          </a:bodyPr>
          <a:lstStyle>
            <a:lvl1pPr marL="0" indent="0" algn="l">
              <a:buNone/>
              <a:defRPr sz="2800">
                <a:solidFill>
                  <a:schemeClr val="tx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FD6F6982-5061-44C8-9F28-4836E9DE9980}" type="slidenum">
              <a:rPr lang="en-US" smtClean="0"/>
              <a:pPr>
                <a:defRPr/>
              </a:pPr>
              <a:t>‹#›</a:t>
            </a:fld>
            <a:endParaRPr lang="en-US"/>
          </a:p>
        </p:txBody>
      </p:sp>
    </p:spTree>
    <p:extLst>
      <p:ext uri="{BB962C8B-B14F-4D97-AF65-F5344CB8AC3E}">
        <p14:creationId xmlns:p14="http://schemas.microsoft.com/office/powerpoint/2010/main" val="1803493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5975CFE-F5BA-418F-845A-2081B63CE338}" type="slidenum">
              <a:rPr lang="en-US" smtClean="0"/>
              <a:pPr>
                <a:defRPr/>
              </a:pPr>
              <a:t>‹#›</a:t>
            </a:fld>
            <a:endParaRPr lang="en-US"/>
          </a:p>
        </p:txBody>
      </p:sp>
    </p:spTree>
    <p:extLst>
      <p:ext uri="{BB962C8B-B14F-4D97-AF65-F5344CB8AC3E}">
        <p14:creationId xmlns:p14="http://schemas.microsoft.com/office/powerpoint/2010/main" val="35651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2628" y="767419"/>
            <a:ext cx="8085582" cy="3355848"/>
          </a:xfrm>
        </p:spPr>
        <p:txBody>
          <a:bodyPr anchor="b">
            <a:normAutofit/>
          </a:bodyPr>
          <a:lstStyle>
            <a:lvl1pPr>
              <a:lnSpc>
                <a:spcPct val="80000"/>
              </a:lnSpc>
              <a:defRPr sz="8000" b="0"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00634" y="4187275"/>
            <a:ext cx="6919722" cy="1645920"/>
          </a:xfrm>
        </p:spPr>
        <p:txBody>
          <a:bodyPr anchor="t">
            <a:normAutofit/>
          </a:bodyPr>
          <a:lstStyle>
            <a:lvl1pPr marL="0" indent="0">
              <a:buNone/>
              <a:defRPr sz="28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8F7BF54-BE05-492E-92A7-076C55502C1C}" type="slidenum">
              <a:rPr lang="en-US" smtClean="0"/>
              <a:pPr>
                <a:defRPr/>
              </a:pPr>
              <a:t>‹#›</a:t>
            </a:fld>
            <a:endParaRPr lang="en-US"/>
          </a:p>
        </p:txBody>
      </p:sp>
    </p:spTree>
    <p:extLst>
      <p:ext uri="{BB962C8B-B14F-4D97-AF65-F5344CB8AC3E}">
        <p14:creationId xmlns:p14="http://schemas.microsoft.com/office/powerpoint/2010/main" val="1017074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7492" y="1993392"/>
            <a:ext cx="3806190" cy="3767328"/>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7738" y="1993392"/>
            <a:ext cx="3806190" cy="3767328"/>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1789DF48-170D-44ED-8AA5-DE660273B72E}" type="slidenum">
              <a:rPr lang="en-US" smtClean="0"/>
              <a:pPr>
                <a:defRPr/>
              </a:pPr>
              <a:t>‹#›</a:t>
            </a:fld>
            <a:endParaRPr lang="en-US"/>
          </a:p>
        </p:txBody>
      </p:sp>
    </p:spTree>
    <p:extLst>
      <p:ext uri="{BB962C8B-B14F-4D97-AF65-F5344CB8AC3E}">
        <p14:creationId xmlns:p14="http://schemas.microsoft.com/office/powerpoint/2010/main" val="871960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507492" y="2032000"/>
            <a:ext cx="3806190" cy="723400"/>
          </a:xfrm>
        </p:spPr>
        <p:txBody>
          <a:bodyPr anchor="ctr">
            <a:normAutofit/>
          </a:bodyPr>
          <a:lstStyle>
            <a:lvl1pPr marL="0" indent="0">
              <a:spcBef>
                <a:spcPts val="0"/>
              </a:spcBef>
              <a:buNone/>
              <a:defRPr sz="2000" b="0" cap="all" baseline="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07492" y="2736150"/>
            <a:ext cx="3806190" cy="3200400"/>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66310" y="2029968"/>
            <a:ext cx="3806190" cy="722376"/>
          </a:xfrm>
        </p:spPr>
        <p:txBody>
          <a:bodyPr anchor="ctr">
            <a:normAutofit/>
          </a:bodyPr>
          <a:lstStyle>
            <a:lvl1pPr marL="0" indent="0">
              <a:spcBef>
                <a:spcPts val="0"/>
              </a:spcBef>
              <a:buNone/>
              <a:defRPr sz="2000" b="0"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766310" y="2734056"/>
            <a:ext cx="3806190" cy="3200400"/>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565B988F-21DE-4820-9491-6092DE627977}" type="slidenum">
              <a:rPr lang="en-US" smtClean="0"/>
              <a:pPr>
                <a:defRPr/>
              </a:pPr>
              <a:t>‹#›</a:t>
            </a:fld>
            <a:endParaRPr lang="en-US"/>
          </a:p>
        </p:txBody>
      </p:sp>
    </p:spTree>
    <p:extLst>
      <p:ext uri="{BB962C8B-B14F-4D97-AF65-F5344CB8AC3E}">
        <p14:creationId xmlns:p14="http://schemas.microsoft.com/office/powerpoint/2010/main" val="1708185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60380F79-25E4-4A8E-9011-8BDDE849E82F}" type="slidenum">
              <a:rPr lang="en-US" smtClean="0"/>
              <a:pPr>
                <a:defRPr/>
              </a:pPr>
              <a:t>‹#›</a:t>
            </a:fld>
            <a:endParaRPr lang="en-US"/>
          </a:p>
        </p:txBody>
      </p:sp>
    </p:spTree>
    <p:extLst>
      <p:ext uri="{BB962C8B-B14F-4D97-AF65-F5344CB8AC3E}">
        <p14:creationId xmlns:p14="http://schemas.microsoft.com/office/powerpoint/2010/main" val="1688690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61E63441-5210-4812-89AD-BAEA48A979F1}" type="slidenum">
              <a:rPr lang="en-US" smtClean="0"/>
              <a:pPr>
                <a:defRPr/>
              </a:pPr>
              <a:t>‹#›</a:t>
            </a:fld>
            <a:endParaRPr lang="en-US"/>
          </a:p>
        </p:txBody>
      </p:sp>
    </p:spTree>
    <p:extLst>
      <p:ext uri="{BB962C8B-B14F-4D97-AF65-F5344CB8AC3E}">
        <p14:creationId xmlns:p14="http://schemas.microsoft.com/office/powerpoint/2010/main" val="2513811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5715000" y="0"/>
            <a:ext cx="3429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6196053" y="542282"/>
            <a:ext cx="2537460" cy="1920240"/>
          </a:xfrm>
        </p:spPr>
        <p:txBody>
          <a:bodyPr anchor="b">
            <a:noAutofit/>
          </a:bodyPr>
          <a:lstStyle>
            <a:lvl1pPr>
              <a:lnSpc>
                <a:spcPct val="85000"/>
              </a:lnSpc>
              <a:defRPr sz="36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71500" y="762000"/>
            <a:ext cx="4572000" cy="4572000"/>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06987" y="2511813"/>
            <a:ext cx="254889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pPr>
              <a:defRPr/>
            </a:pPr>
            <a:fld id="{FA7B42B7-8087-4F0D-9E1A-977A40896468}" type="slidenum">
              <a:rPr lang="en-US" smtClean="0"/>
              <a:pPr>
                <a:defRPr/>
              </a:pPr>
              <a:t>‹#›</a:t>
            </a:fld>
            <a:endParaRPr lang="en-US"/>
          </a:p>
        </p:txBody>
      </p:sp>
    </p:spTree>
    <p:extLst>
      <p:ext uri="{BB962C8B-B14F-4D97-AF65-F5344CB8AC3E}">
        <p14:creationId xmlns:p14="http://schemas.microsoft.com/office/powerpoint/2010/main" val="371179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86918" y="5418668"/>
            <a:ext cx="8085582" cy="613283"/>
          </a:xfrm>
        </p:spPr>
        <p:txBody>
          <a:bodyPr anchor="b">
            <a:normAutofit/>
          </a:bodyPr>
          <a:lstStyle>
            <a:lvl1pPr>
              <a:lnSpc>
                <a:spcPct val="85000"/>
              </a:lnSpc>
              <a:defRPr sz="28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9144000" cy="5330952"/>
          </a:xfrm>
          <a:solidFill>
            <a:schemeClr val="accent1">
              <a:lumMod val="20000"/>
              <a:lumOff val="80000"/>
            </a:schemeClr>
          </a:solidFill>
        </p:spPr>
        <p:txBody>
          <a:bodyPr anchor="t"/>
          <a:lstStyle>
            <a:lvl1pPr marL="0" indent="0" algn="ctr">
              <a:spcBef>
                <a:spcPts val="800"/>
              </a:spcBef>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07492" y="5909735"/>
            <a:ext cx="6922008" cy="533400"/>
          </a:xfrm>
        </p:spPr>
        <p:txBody>
          <a:bodyPr>
            <a:normAutofit/>
          </a:bodyPr>
          <a:lstStyle>
            <a:lvl1pPr marL="0" indent="0">
              <a:lnSpc>
                <a:spcPct val="90000"/>
              </a:lnSpc>
              <a:spcBef>
                <a:spcPts val="12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0C60DEA7-103D-4684-B25C-620A06B4D4C9}" type="slidenum">
              <a:rPr lang="en-US" smtClean="0"/>
              <a:pPr>
                <a:defRPr/>
              </a:pPr>
              <a:t>‹#›</a:t>
            </a:fld>
            <a:endParaRPr lang="en-US"/>
          </a:p>
        </p:txBody>
      </p:sp>
    </p:spTree>
    <p:extLst>
      <p:ext uri="{BB962C8B-B14F-4D97-AF65-F5344CB8AC3E}">
        <p14:creationId xmlns:p14="http://schemas.microsoft.com/office/powerpoint/2010/main" val="1800935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01ACCDC-258C-4D2B-96E9-0114AB9B65CD}" type="slidenum">
              <a:rPr lang="en-US" smtClean="0"/>
              <a:pPr>
                <a:defRPr/>
              </a:pPr>
              <a:t>‹#›</a:t>
            </a:fld>
            <a:endParaRPr lang="en-US"/>
          </a:p>
        </p:txBody>
      </p:sp>
    </p:spTree>
    <p:extLst>
      <p:ext uri="{BB962C8B-B14F-4D97-AF65-F5344CB8AC3E}">
        <p14:creationId xmlns:p14="http://schemas.microsoft.com/office/powerpoint/2010/main" val="4075536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7963" y="695325"/>
            <a:ext cx="1971675"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78644" y="714376"/>
            <a:ext cx="5800725" cy="54006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94C314D-45DF-47E6-B7D3-6A3A8362FD4A}" type="slidenum">
              <a:rPr lang="en-US" smtClean="0"/>
              <a:pPr>
                <a:defRPr/>
              </a:pPr>
              <a:t>‹#›</a:t>
            </a:fld>
            <a:endParaRPr lang="en-US"/>
          </a:p>
        </p:txBody>
      </p:sp>
    </p:spTree>
    <p:extLst>
      <p:ext uri="{BB962C8B-B14F-4D97-AF65-F5344CB8AC3E}">
        <p14:creationId xmlns:p14="http://schemas.microsoft.com/office/powerpoint/2010/main" val="3093702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0200A0B2-DD6B-4440-A6D1-F138DDDCA577}" type="slidenum">
              <a:rPr lang="en-US"/>
              <a:pPr>
                <a:defRPr/>
              </a:pPr>
              <a:t>‹#›</a:t>
            </a:fld>
            <a:endParaRPr lang="en-US"/>
          </a:p>
        </p:txBody>
      </p:sp>
    </p:spTree>
    <p:extLst>
      <p:ext uri="{BB962C8B-B14F-4D97-AF65-F5344CB8AC3E}">
        <p14:creationId xmlns:p14="http://schemas.microsoft.com/office/powerpoint/2010/main" val="1169016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quarter" idx="1"/>
          </p:nvPr>
        </p:nvSpPr>
        <p:spPr>
          <a:xfrm>
            <a:off x="457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7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E3169C56-11B0-48E0-B42A-4FEA167FBAE1}" type="slidenum">
              <a:rPr lang="en-US"/>
              <a:pPr>
                <a:defRPr/>
              </a:pPr>
              <a:t>‹#›</a:t>
            </a:fld>
            <a:endParaRPr lang="en-US"/>
          </a:p>
        </p:txBody>
      </p:sp>
    </p:spTree>
    <p:extLst>
      <p:ext uri="{BB962C8B-B14F-4D97-AF65-F5344CB8AC3E}">
        <p14:creationId xmlns:p14="http://schemas.microsoft.com/office/powerpoint/2010/main" val="2095452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2919" y="499533"/>
            <a:ext cx="8079581"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07206" y="1993393"/>
            <a:ext cx="8065294" cy="376618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4350" y="6412447"/>
            <a:ext cx="3086100" cy="228600"/>
          </a:xfrm>
          <a:prstGeom prst="rect">
            <a:avLst/>
          </a:prstGeom>
        </p:spPr>
        <p:txBody>
          <a:bodyPr vert="horz" lIns="91440" tIns="45720" rIns="91440" bIns="45720" rtlCol="0" anchor="ctr"/>
          <a:lstStyle>
            <a:lvl1pPr algn="l">
              <a:defRPr sz="950">
                <a:solidFill>
                  <a:schemeClr val="tx1">
                    <a:alpha val="75000"/>
                  </a:schemeClr>
                </a:solidFill>
              </a:defRPr>
            </a:lvl1pPr>
          </a:lstStyle>
          <a:p>
            <a:pPr>
              <a:defRPr/>
            </a:pPr>
            <a:endParaRPr lang="en-US"/>
          </a:p>
        </p:txBody>
      </p:sp>
      <p:sp>
        <p:nvSpPr>
          <p:cNvPr id="5" name="Footer Placeholder 4"/>
          <p:cNvSpPr>
            <a:spLocks noGrp="1"/>
          </p:cNvSpPr>
          <p:nvPr>
            <p:ph type="ftr" sz="quarter" idx="3"/>
          </p:nvPr>
        </p:nvSpPr>
        <p:spPr>
          <a:xfrm>
            <a:off x="514350" y="6554697"/>
            <a:ext cx="3771900" cy="228600"/>
          </a:xfrm>
          <a:prstGeom prst="rect">
            <a:avLst/>
          </a:prstGeom>
        </p:spPr>
        <p:txBody>
          <a:bodyPr vert="horz" lIns="91440" tIns="45720" rIns="91440" bIns="45720" rtlCol="0" anchor="ctr"/>
          <a:lstStyle>
            <a:lvl1pPr algn="l">
              <a:defRPr sz="950" cap="all" baseline="0">
                <a:solidFill>
                  <a:schemeClr val="tx1">
                    <a:alpha val="75000"/>
                  </a:schemeClr>
                </a:solidFill>
              </a:defRPr>
            </a:lvl1pPr>
          </a:lstStyle>
          <a:p>
            <a:pPr>
              <a:defRPr/>
            </a:pPr>
            <a:endParaRPr lang="en-US"/>
          </a:p>
        </p:txBody>
      </p:sp>
      <p:sp>
        <p:nvSpPr>
          <p:cNvPr id="6" name="Slide Number Placeholder 5"/>
          <p:cNvSpPr>
            <a:spLocks noGrp="1"/>
          </p:cNvSpPr>
          <p:nvPr>
            <p:ph type="sldNum" sz="quarter" idx="4"/>
          </p:nvPr>
        </p:nvSpPr>
        <p:spPr>
          <a:xfrm>
            <a:off x="6541193" y="5829748"/>
            <a:ext cx="2194560" cy="1397039"/>
          </a:xfrm>
          <a:prstGeom prst="rect">
            <a:avLst/>
          </a:prstGeom>
        </p:spPr>
        <p:txBody>
          <a:bodyPr vert="horz" lIns="91440" tIns="45720" rIns="91440" bIns="45720" rtlCol="0" anchor="b"/>
          <a:lstStyle>
            <a:lvl1pPr algn="r">
              <a:defRPr sz="9000" b="0">
                <a:ln>
                  <a:noFill/>
                </a:ln>
                <a:solidFill>
                  <a:schemeClr val="tx1">
                    <a:alpha val="20000"/>
                  </a:schemeClr>
                </a:solidFill>
                <a:latin typeface="+mj-lt"/>
              </a:defRPr>
            </a:lvl1pPr>
          </a:lstStyle>
          <a:p>
            <a:pPr>
              <a:defRPr/>
            </a:pPr>
            <a:fld id="{4E47B042-94CD-45D7-B07E-2C7A948E61F5}" type="slidenum">
              <a:rPr lang="en-US" smtClean="0"/>
              <a:pPr>
                <a:defRPr/>
              </a:pPr>
              <a:t>‹#›</a:t>
            </a:fld>
            <a:endParaRPr lang="en-US"/>
          </a:p>
        </p:txBody>
      </p:sp>
    </p:spTree>
    <p:extLst>
      <p:ext uri="{BB962C8B-B14F-4D97-AF65-F5344CB8AC3E}">
        <p14:creationId xmlns:p14="http://schemas.microsoft.com/office/powerpoint/2010/main" val="2038561669"/>
      </p:ext>
    </p:extLst>
  </p:cSld>
  <p:clrMap bg1="dk1" tx1="lt1" bg2="dk2" tx2="lt2" accent1="accent1" accent2="accent2" accent3="accent3" accent4="accent4" accent5="accent5" accent6="accent6" hlink="hlink" folHlink="folHlink"/>
  <p:sldLayoutIdLst>
    <p:sldLayoutId id="2147484103" r:id="rId1"/>
    <p:sldLayoutId id="2147484104" r:id="rId2"/>
    <p:sldLayoutId id="2147484105" r:id="rId3"/>
    <p:sldLayoutId id="2147484106" r:id="rId4"/>
    <p:sldLayoutId id="2147484107" r:id="rId5"/>
    <p:sldLayoutId id="2147484108" r:id="rId6"/>
    <p:sldLayoutId id="2147484109" r:id="rId7"/>
    <p:sldLayoutId id="2147484110" r:id="rId8"/>
    <p:sldLayoutId id="2147484111" r:id="rId9"/>
    <p:sldLayoutId id="2147484112" r:id="rId10"/>
    <p:sldLayoutId id="2147484113" r:id="rId11"/>
    <p:sldLayoutId id="2147484114" r:id="rId12"/>
    <p:sldLayoutId id="2147484115"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800" kern="1200" spc="-12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accent1"/>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1">
              <a:lumMod val="75000"/>
              <a:lumOff val="2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65000"/>
              <a:lumOff val="3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gif"/></Relationships>
</file>

<file path=ppt/slides/_rels/slide9.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 Id="rId5" Type="http://schemas.openxmlformats.org/officeDocument/2006/relationships/image" Target="../media/image11.emf"/><Relationship Id="rId4" Type="http://schemas.openxmlformats.org/officeDocument/2006/relationships/image" Target="../media/image10.emf"/></Relationships>
</file>

<file path=ppt/slides/_rels/slide1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4.xml"/><Relationship Id="rId4" Type="http://schemas.openxmlformats.org/officeDocument/2006/relationships/image" Target="../media/image14.gif"/></Relationships>
</file>

<file path=ppt/slides/_rels/slide1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hyperlink" Target="https://en.wikipedia.org/wiki/Information_theory" TargetMode="External"/><Relationship Id="rId1" Type="http://schemas.openxmlformats.org/officeDocument/2006/relationships/slideLayout" Target="../slideLayouts/slideLayout2.xml"/><Relationship Id="rId5" Type="http://schemas.openxmlformats.org/officeDocument/2006/relationships/image" Target="../media/image14.gif"/><Relationship Id="rId4" Type="http://schemas.openxmlformats.org/officeDocument/2006/relationships/image" Target="../media/image16.emf"/></Relationships>
</file>

<file path=ppt/slides/_rels/slide1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7.emf"/><Relationship Id="rId1" Type="http://schemas.openxmlformats.org/officeDocument/2006/relationships/slideLayout" Target="../slideLayouts/slideLayout4.xml"/><Relationship Id="rId6" Type="http://schemas.openxmlformats.org/officeDocument/2006/relationships/image" Target="../media/image19.jpeg"/><Relationship Id="rId5" Type="http://schemas.openxmlformats.org/officeDocument/2006/relationships/image" Target="../media/image18.emf"/><Relationship Id="rId4" Type="http://schemas.openxmlformats.org/officeDocument/2006/relationships/image" Target="../media/image13.emf"/></Relationships>
</file>

<file path=ppt/slides/_rels/slide14.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12.xml"/><Relationship Id="rId4" Type="http://schemas.openxmlformats.org/officeDocument/2006/relationships/image" Target="../media/image22.emf"/></Relationships>
</file>

<file path=ppt/slides/_rels/slide1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23.emf"/><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 Id="rId4" Type="http://schemas.openxmlformats.org/officeDocument/2006/relationships/image" Target="../media/image30.emf"/></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2.xml"/><Relationship Id="rId5" Type="http://schemas.openxmlformats.org/officeDocument/2006/relationships/image" Target="../media/image4.gif"/><Relationship Id="rId4" Type="http://schemas.openxmlformats.org/officeDocument/2006/relationships/image" Target="../media/image34.emf"/></Relationships>
</file>

<file path=ppt/slides/_rels/slide2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pPr algn="ctr" eaLnBrk="1" hangingPunct="1">
              <a:defRPr/>
            </a:pPr>
            <a:r>
              <a:rPr lang="en-US" sz="48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Describing</a:t>
            </a:r>
            <a:br>
              <a:rPr lang="en-US" sz="48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br>
            <a:r>
              <a:rPr lang="en-US" sz="48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Data</a:t>
            </a:r>
          </a:p>
        </p:txBody>
      </p:sp>
      <p:sp>
        <p:nvSpPr>
          <p:cNvPr id="3075" name="Text Box 4"/>
          <p:cNvSpPr txBox="1">
            <a:spLocks noChangeArrowheads="1"/>
          </p:cNvSpPr>
          <p:nvPr/>
        </p:nvSpPr>
        <p:spPr bwMode="auto">
          <a:xfrm>
            <a:off x="746856" y="5564313"/>
            <a:ext cx="7772400" cy="523220"/>
          </a:xfrm>
          <a:prstGeom prst="rect">
            <a:avLst/>
          </a:prstGeom>
          <a:noFill/>
          <a:ln>
            <a:noFill/>
          </a:ln>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1400" b="1" dirty="0">
                <a:solidFill>
                  <a:schemeClr val="accent1"/>
                </a:solidFill>
                <a:latin typeface="Times New Roman" pitchFamily="18" charset="0"/>
              </a:rPr>
              <a:t>© McGraw Hill LLC. All rights reserved. </a:t>
            </a:r>
            <a:r>
              <a:rPr lang="en-US" sz="1400" b="1">
                <a:solidFill>
                  <a:schemeClr val="accent1"/>
                </a:solidFill>
                <a:latin typeface="Times New Roman" pitchFamily="18" charset="0"/>
              </a:rPr>
              <a:t>No reproduction or distribution without the prior written consent of McGraw Hill LLC.</a:t>
            </a:r>
            <a:endParaRPr lang="en-US" sz="1400" b="1" dirty="0">
              <a:solidFill>
                <a:schemeClr val="accent1"/>
              </a:solidFill>
              <a:latin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ctrTitle"/>
          </p:nvPr>
        </p:nvSpPr>
        <p:spPr>
          <a:xfrm>
            <a:off x="914400" y="457200"/>
            <a:ext cx="7845552" cy="768096"/>
          </a:xfrm>
        </p:spPr>
        <p:txBody>
          <a:bodyPr/>
          <a:lstStyle/>
          <a:p>
            <a:pPr algn="ctr" eaLnBrk="1" hangingPunct="1">
              <a:defRPr/>
            </a:pPr>
            <a:r>
              <a:rPr lang="en-US" sz="36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The Problem</a:t>
            </a:r>
          </a:p>
        </p:txBody>
      </p:sp>
      <p:sp>
        <p:nvSpPr>
          <p:cNvPr id="4099" name="Text Box 4"/>
          <p:cNvSpPr txBox="1">
            <a:spLocks noChangeArrowheads="1"/>
          </p:cNvSpPr>
          <p:nvPr/>
        </p:nvSpPr>
        <p:spPr bwMode="auto">
          <a:xfrm>
            <a:off x="1676400" y="2362200"/>
            <a:ext cx="5791200"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342900" indent="-342900" eaLnBrk="1" hangingPunct="1">
              <a:spcBef>
                <a:spcPct val="50000"/>
              </a:spcBef>
              <a:buClr>
                <a:srgbClr val="0000FF"/>
              </a:buClr>
              <a:buFont typeface="Arial" panose="020B0604020202020204" pitchFamily="34" charset="0"/>
              <a:buChar char="•"/>
            </a:pPr>
            <a:r>
              <a:rPr lang="en-US" dirty="0">
                <a:solidFill>
                  <a:schemeClr val="accent1">
                    <a:lumMod val="50000"/>
                  </a:schemeClr>
                </a:solidFill>
              </a:rPr>
              <a:t>   A data set is a “bunch of numbers”</a:t>
            </a:r>
          </a:p>
          <a:p>
            <a:pPr marL="342900" indent="-342900" eaLnBrk="1" hangingPunct="1">
              <a:spcBef>
                <a:spcPct val="50000"/>
              </a:spcBef>
              <a:buClr>
                <a:srgbClr val="0000FF"/>
              </a:buClr>
              <a:buFont typeface="Arial" panose="020B0604020202020204" pitchFamily="34" charset="0"/>
              <a:buChar char="•"/>
            </a:pPr>
            <a:r>
              <a:rPr lang="en-US" dirty="0">
                <a:solidFill>
                  <a:schemeClr val="accent1">
                    <a:lumMod val="50000"/>
                  </a:schemeClr>
                </a:solidFill>
              </a:rPr>
              <a:t>   Statisticians say we must "let the data talk"</a:t>
            </a:r>
          </a:p>
          <a:p>
            <a:pPr marL="342900" indent="-342900" eaLnBrk="1" hangingPunct="1">
              <a:spcBef>
                <a:spcPct val="50000"/>
              </a:spcBef>
              <a:buClr>
                <a:srgbClr val="0000FF"/>
              </a:buClr>
              <a:buFont typeface="Arial" panose="020B0604020202020204" pitchFamily="34" charset="0"/>
              <a:buChar char="•"/>
            </a:pPr>
            <a:r>
              <a:rPr lang="en-US" dirty="0">
                <a:solidFill>
                  <a:schemeClr val="accent1">
                    <a:lumMod val="50000"/>
                  </a:schemeClr>
                </a:solidFill>
              </a:rPr>
              <a:t>   But how do we give data a voice?</a:t>
            </a:r>
          </a:p>
          <a:p>
            <a:pPr marL="342900" indent="-342900" eaLnBrk="1" hangingPunct="1">
              <a:spcBef>
                <a:spcPct val="50000"/>
              </a:spcBef>
              <a:buClr>
                <a:srgbClr val="0000FF"/>
              </a:buClr>
              <a:buFont typeface="Arial" panose="020B0604020202020204" pitchFamily="34" charset="0"/>
              <a:buChar char="•"/>
            </a:pPr>
            <a:r>
              <a:rPr lang="en-US" dirty="0">
                <a:solidFill>
                  <a:schemeClr val="accent1">
                    <a:lumMod val="50000"/>
                  </a:schemeClr>
                </a:solidFill>
              </a:rPr>
              <a:t>   We want the main features of the data</a:t>
            </a:r>
          </a:p>
          <a:p>
            <a:pPr marL="342900" indent="-342900" eaLnBrk="1" hangingPunct="1">
              <a:spcBef>
                <a:spcPct val="50000"/>
              </a:spcBef>
              <a:buClr>
                <a:srgbClr val="0000FF"/>
              </a:buClr>
              <a:buFont typeface="Arial" panose="020B0604020202020204" pitchFamily="34" charset="0"/>
              <a:buChar char="•"/>
            </a:pPr>
            <a:r>
              <a:rPr lang="en-US" dirty="0">
                <a:solidFill>
                  <a:schemeClr val="accent1">
                    <a:lumMod val="50000"/>
                  </a:schemeClr>
                </a:solidFill>
              </a:rPr>
              <a:t>   But how to omit less important details?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ctrTitle"/>
          </p:nvPr>
        </p:nvSpPr>
        <p:spPr>
          <a:xfrm>
            <a:off x="914400" y="457200"/>
            <a:ext cx="7772400" cy="768096"/>
          </a:xfrm>
        </p:spPr>
        <p:txBody>
          <a:bodyPr/>
          <a:lstStyle/>
          <a:p>
            <a:pPr algn="ctr">
              <a:defRPr/>
            </a:pPr>
            <a:r>
              <a:rPr lang="en-US" sz="36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The Solution</a:t>
            </a:r>
          </a:p>
        </p:txBody>
      </p:sp>
      <p:sp>
        <p:nvSpPr>
          <p:cNvPr id="5123" name="Text Box 3"/>
          <p:cNvSpPr txBox="1">
            <a:spLocks noChangeArrowheads="1"/>
          </p:cNvSpPr>
          <p:nvPr/>
        </p:nvSpPr>
        <p:spPr bwMode="auto">
          <a:xfrm>
            <a:off x="1676400" y="2133600"/>
            <a:ext cx="64008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342900" indent="-342900" eaLnBrk="1" hangingPunct="1">
              <a:spcBef>
                <a:spcPct val="50000"/>
              </a:spcBef>
              <a:buClr>
                <a:srgbClr val="0000FF"/>
              </a:buClr>
              <a:buFont typeface="Arial" panose="020B0604020202020204" pitchFamily="34" charset="0"/>
              <a:buChar char="•"/>
            </a:pPr>
            <a:r>
              <a:rPr lang="en-US" sz="2000" dirty="0">
                <a:solidFill>
                  <a:schemeClr val="accent1">
                    <a:lumMod val="50000"/>
                  </a:schemeClr>
                </a:solidFill>
              </a:rPr>
              <a:t>   We have many tools to explore data</a:t>
            </a:r>
          </a:p>
          <a:p>
            <a:pPr marL="342900" indent="-342900" eaLnBrk="1" hangingPunct="1">
              <a:spcBef>
                <a:spcPct val="50000"/>
              </a:spcBef>
              <a:buClr>
                <a:srgbClr val="0000FF"/>
              </a:buClr>
              <a:buFont typeface="Arial" panose="020B0604020202020204" pitchFamily="34" charset="0"/>
              <a:buChar char="•"/>
            </a:pPr>
            <a:r>
              <a:rPr lang="en-US" sz="2000" dirty="0">
                <a:solidFill>
                  <a:schemeClr val="accent1">
                    <a:lumMod val="50000"/>
                  </a:schemeClr>
                </a:solidFill>
              </a:rPr>
              <a:t>   We can use more than one tool</a:t>
            </a:r>
          </a:p>
          <a:p>
            <a:pPr marL="342900" indent="-342900" eaLnBrk="1" hangingPunct="1">
              <a:spcBef>
                <a:spcPct val="50000"/>
              </a:spcBef>
              <a:buClr>
                <a:srgbClr val="0000FF"/>
              </a:buClr>
              <a:buFont typeface="Arial" panose="020B0604020202020204" pitchFamily="34" charset="0"/>
              <a:buChar char="•"/>
            </a:pPr>
            <a:r>
              <a:rPr lang="en-US" sz="2000" dirty="0">
                <a:solidFill>
                  <a:schemeClr val="accent1">
                    <a:lumMod val="50000"/>
                  </a:schemeClr>
                </a:solidFill>
              </a:rPr>
              <a:t>   Visual displays are more vivid</a:t>
            </a:r>
          </a:p>
          <a:p>
            <a:pPr marL="342900" indent="-342900" eaLnBrk="1" hangingPunct="1">
              <a:spcBef>
                <a:spcPct val="50000"/>
              </a:spcBef>
              <a:buClr>
                <a:srgbClr val="0000FF"/>
              </a:buClr>
              <a:buFont typeface="Arial" panose="020B0604020202020204" pitchFamily="34" charset="0"/>
              <a:buChar char="•"/>
            </a:pPr>
            <a:r>
              <a:rPr lang="en-US" sz="2000" dirty="0">
                <a:solidFill>
                  <a:schemeClr val="accent1">
                    <a:lumMod val="50000"/>
                  </a:schemeClr>
                </a:solidFill>
              </a:rPr>
              <a:t>   Software makes it easier</a:t>
            </a:r>
          </a:p>
        </p:txBody>
      </p:sp>
      <p:pic>
        <p:nvPicPr>
          <p:cNvPr id="4" name="Picture 2" descr="C:\Users\doane\AppData\Local\Microsoft\Windows\Temporary Internet Files\Content.IE5\3CB5N1BZ\MC900056988[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33800" y="4953000"/>
            <a:ext cx="1730792" cy="14393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914400" y="457200"/>
            <a:ext cx="7772400" cy="768096"/>
          </a:xfrm>
        </p:spPr>
        <p:txBody>
          <a:bodyPr>
            <a:normAutofit/>
          </a:bodyPr>
          <a:lstStyle/>
          <a:p>
            <a:pPr algn="ctr">
              <a:lnSpc>
                <a:spcPct val="80000"/>
              </a:lnSpc>
              <a:defRPr/>
            </a:pPr>
            <a:r>
              <a:rPr lang="en-US" sz="36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Tools of Data Analysis</a:t>
            </a:r>
          </a:p>
        </p:txBody>
      </p:sp>
      <p:graphicFrame>
        <p:nvGraphicFramePr>
          <p:cNvPr id="29020" name="Group 348"/>
          <p:cNvGraphicFramePr>
            <a:graphicFrameLocks noGrp="1"/>
          </p:cNvGraphicFramePr>
          <p:nvPr>
            <p:extLst>
              <p:ext uri="{D42A27DB-BD31-4B8C-83A1-F6EECF244321}">
                <p14:modId xmlns:p14="http://schemas.microsoft.com/office/powerpoint/2010/main" val="4193237533"/>
              </p:ext>
            </p:extLst>
          </p:nvPr>
        </p:nvGraphicFramePr>
        <p:xfrm>
          <a:off x="990600" y="1828800"/>
          <a:ext cx="7391400" cy="4462447"/>
        </p:xfrm>
        <a:graphic>
          <a:graphicData uri="http://schemas.openxmlformats.org/drawingml/2006/table">
            <a:tbl>
              <a:tblPr/>
              <a:tblGrid>
                <a:gridCol w="14478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Tool</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00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What Is It?</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00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What It Shows</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00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Pro/Con</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0"/>
                  </a:ext>
                </a:extLst>
              </a:tr>
              <a:tr h="82301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accent1"/>
                          </a:solidFill>
                          <a:effectLst/>
                          <a:latin typeface="Times New Roman" pitchFamily="18" charset="0"/>
                          <a:cs typeface="Times New Roman" pitchFamily="18" charset="0"/>
                        </a:rPr>
                        <a:t>Dot plot</a:t>
                      </a:r>
                      <a:endParaRPr kumimoji="0" lang="en-US" sz="1600" b="0" i="0" u="none" strike="noStrike" cap="none" normalizeH="0" baseline="0" dirty="0">
                        <a:ln>
                          <a:noFill/>
                        </a:ln>
                        <a:solidFill>
                          <a:schemeClr val="accent1"/>
                        </a:solidFill>
                        <a:effectLst/>
                        <a:latin typeface="Arial"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accent1"/>
                          </a:solidFill>
                          <a:effectLst/>
                          <a:latin typeface="Times New Roman" pitchFamily="18" charset="0"/>
                          <a:cs typeface="Times New Roman" pitchFamily="18" charset="0"/>
                        </a:rPr>
                        <a:t>Each dot is an observation plotted on </a:t>
                      </a:r>
                      <a:r>
                        <a:rPr kumimoji="0" lang="en-US" sz="1600" b="0" i="1" u="none" strike="noStrike" cap="none" normalizeH="0" baseline="0" dirty="0">
                          <a:ln>
                            <a:noFill/>
                          </a:ln>
                          <a:solidFill>
                            <a:schemeClr val="accent1"/>
                          </a:solidFill>
                          <a:effectLst/>
                          <a:latin typeface="Times New Roman" pitchFamily="18" charset="0"/>
                          <a:cs typeface="Times New Roman" pitchFamily="18" charset="0"/>
                        </a:rPr>
                        <a:t>X</a:t>
                      </a:r>
                      <a:r>
                        <a:rPr kumimoji="0" lang="en-US" sz="1600" b="0" i="0" u="none" strike="noStrike" cap="none" normalizeH="0" baseline="0" dirty="0">
                          <a:ln>
                            <a:noFill/>
                          </a:ln>
                          <a:solidFill>
                            <a:schemeClr val="accent1"/>
                          </a:solidFill>
                          <a:effectLst/>
                          <a:latin typeface="Times New Roman" pitchFamily="18" charset="0"/>
                          <a:cs typeface="Times New Roman" pitchFamily="18" charset="0"/>
                        </a:rPr>
                        <a:t> axis</a:t>
                      </a:r>
                      <a:endParaRPr kumimoji="0" lang="en-US" sz="1600" b="0" i="0" u="none" strike="noStrike" cap="none" normalizeH="0" baseline="0" dirty="0">
                        <a:ln>
                          <a:noFill/>
                        </a:ln>
                        <a:solidFill>
                          <a:schemeClr val="accent1"/>
                        </a:solidFill>
                        <a:effectLst/>
                        <a:latin typeface="Arial"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accent1"/>
                          </a:solidFill>
                          <a:effectLst/>
                          <a:latin typeface="Times New Roman" pitchFamily="18" charset="0"/>
                          <a:cs typeface="Times New Roman" pitchFamily="18" charset="0"/>
                        </a:rPr>
                        <a:t>Data range, modes, general shape</a:t>
                      </a:r>
                      <a:endParaRPr kumimoji="0" lang="en-US" sz="1600" b="0" i="0" u="none" strike="noStrike" cap="none" normalizeH="0" baseline="0" dirty="0">
                        <a:ln>
                          <a:noFill/>
                        </a:ln>
                        <a:solidFill>
                          <a:schemeClr val="accent1"/>
                        </a:solidFill>
                        <a:effectLst/>
                        <a:latin typeface="Arial"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accent1"/>
                          </a:solidFill>
                          <a:effectLst/>
                          <a:latin typeface="Times New Roman" pitchFamily="18" charset="0"/>
                          <a:cs typeface="Times New Roman" pitchFamily="18" charset="0"/>
                        </a:rPr>
                        <a:t>Simple and intuitive and shows all the data</a:t>
                      </a:r>
                      <a:endParaRPr kumimoji="0" lang="en-US" sz="1600" b="0" i="0" u="none" strike="noStrike" cap="none" normalizeH="0" baseline="0" dirty="0">
                        <a:ln>
                          <a:noFill/>
                        </a:ln>
                        <a:solidFill>
                          <a:schemeClr val="accent1"/>
                        </a:solidFill>
                        <a:effectLst/>
                        <a:latin typeface="Arial"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82301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accent1"/>
                          </a:solidFill>
                          <a:effectLst/>
                          <a:latin typeface="Times New Roman" pitchFamily="18" charset="0"/>
                          <a:cs typeface="Times New Roman" pitchFamily="18" charset="0"/>
                        </a:rPr>
                        <a:t>Stem-and-leaf</a:t>
                      </a:r>
                      <a:endParaRPr kumimoji="0" lang="en-US" sz="1600" b="0" i="0" u="none" strike="noStrike" cap="none" normalizeH="0" baseline="0">
                        <a:ln>
                          <a:noFill/>
                        </a:ln>
                        <a:solidFill>
                          <a:schemeClr val="accent1"/>
                        </a:solidFill>
                        <a:effectLst/>
                        <a:latin typeface="Arial"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accent1"/>
                          </a:solidFill>
                          <a:effectLst/>
                          <a:latin typeface="Times New Roman" pitchFamily="18" charset="0"/>
                          <a:cs typeface="Times New Roman" pitchFamily="18" charset="0"/>
                        </a:rPr>
                        <a:t>Frequency tally using data values for stem and leaves</a:t>
                      </a:r>
                      <a:endParaRPr kumimoji="0" lang="en-US" sz="1600" b="0" i="0" u="none" strike="noStrike" cap="none" normalizeH="0" baseline="0">
                        <a:ln>
                          <a:noFill/>
                        </a:ln>
                        <a:solidFill>
                          <a:schemeClr val="accent1"/>
                        </a:solidFill>
                        <a:effectLst/>
                        <a:latin typeface="Arial"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accent1"/>
                          </a:solidFill>
                          <a:effectLst/>
                          <a:latin typeface="Times New Roman" pitchFamily="18" charset="0"/>
                          <a:cs typeface="Times New Roman" pitchFamily="18" charset="0"/>
                        </a:rPr>
                        <a:t>Data range, frequencies, shape</a:t>
                      </a:r>
                      <a:endParaRPr kumimoji="0" lang="en-US" sz="1600" b="0" i="0" u="none" strike="noStrike" cap="none" normalizeH="0" baseline="0">
                        <a:ln>
                          <a:noFill/>
                        </a:ln>
                        <a:solidFill>
                          <a:schemeClr val="accent1"/>
                        </a:solidFill>
                        <a:effectLst/>
                        <a:latin typeface="Arial"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accent1"/>
                          </a:solidFill>
                          <a:effectLst/>
                          <a:latin typeface="Times New Roman" pitchFamily="18" charset="0"/>
                          <a:cs typeface="Times New Roman" pitchFamily="18" charset="0"/>
                        </a:rPr>
                        <a:t>Retains raw data but awkward unless you have 2-digit data</a:t>
                      </a:r>
                      <a:endParaRPr kumimoji="0" lang="en-US" sz="1600" b="0" i="0" u="none" strike="noStrike" cap="none" normalizeH="0" baseline="0" dirty="0">
                        <a:ln>
                          <a:noFill/>
                        </a:ln>
                        <a:solidFill>
                          <a:schemeClr val="accent1"/>
                        </a:solidFill>
                        <a:effectLst/>
                        <a:latin typeface="Arial"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82301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accent1"/>
                          </a:solidFill>
                          <a:effectLst/>
                          <a:latin typeface="Times New Roman" pitchFamily="18" charset="0"/>
                          <a:cs typeface="Times New Roman" pitchFamily="18" charset="0"/>
                        </a:rPr>
                        <a:t>Histogram</a:t>
                      </a:r>
                      <a:endParaRPr kumimoji="0" lang="en-US" sz="1600" b="0" i="0" u="none" strike="noStrike" cap="none" normalizeH="0" baseline="0">
                        <a:ln>
                          <a:noFill/>
                        </a:ln>
                        <a:solidFill>
                          <a:schemeClr val="accent1"/>
                        </a:solidFill>
                        <a:effectLst/>
                        <a:latin typeface="Arial"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accent1"/>
                          </a:solidFill>
                          <a:effectLst/>
                          <a:latin typeface="Times New Roman" pitchFamily="18" charset="0"/>
                          <a:cs typeface="Times New Roman" pitchFamily="18" charset="0"/>
                        </a:rPr>
                        <a:t>Frequency tally of data in bins based on </a:t>
                      </a:r>
                      <a:r>
                        <a:rPr kumimoji="0" lang="en-US" sz="1600" b="0" i="1" u="none" strike="noStrike" cap="none" normalizeH="0" baseline="0" dirty="0">
                          <a:ln>
                            <a:noFill/>
                          </a:ln>
                          <a:solidFill>
                            <a:schemeClr val="accent1"/>
                          </a:solidFill>
                          <a:effectLst/>
                          <a:latin typeface="Times New Roman" pitchFamily="18" charset="0"/>
                          <a:cs typeface="Times New Roman" pitchFamily="18" charset="0"/>
                        </a:rPr>
                        <a:t>X</a:t>
                      </a:r>
                      <a:r>
                        <a:rPr kumimoji="0" lang="en-US" sz="1600" b="0" i="0" u="none" strike="noStrike" cap="none" normalizeH="0" baseline="0" dirty="0">
                          <a:ln>
                            <a:noFill/>
                          </a:ln>
                          <a:solidFill>
                            <a:schemeClr val="accent1"/>
                          </a:solidFill>
                          <a:effectLst/>
                          <a:latin typeface="Times New Roman" pitchFamily="18" charset="0"/>
                          <a:cs typeface="Times New Roman" pitchFamily="18" charset="0"/>
                        </a:rPr>
                        <a:t> values</a:t>
                      </a:r>
                      <a:endParaRPr kumimoji="0" lang="en-US" sz="1600" b="0" i="0" u="none" strike="noStrike" cap="none" normalizeH="0" baseline="0" dirty="0">
                        <a:ln>
                          <a:noFill/>
                        </a:ln>
                        <a:solidFill>
                          <a:schemeClr val="accent1"/>
                        </a:solidFill>
                        <a:effectLst/>
                        <a:latin typeface="Arial"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accent1"/>
                          </a:solidFill>
                          <a:effectLst/>
                          <a:latin typeface="Times New Roman" pitchFamily="18" charset="0"/>
                          <a:cs typeface="Times New Roman" pitchFamily="18" charset="0"/>
                        </a:rPr>
                        <a:t>Shape, modal classes</a:t>
                      </a:r>
                      <a:endParaRPr kumimoji="0" lang="en-US" sz="1600" b="0" i="0" u="none" strike="noStrike" cap="none" normalizeH="0" baseline="0">
                        <a:ln>
                          <a:noFill/>
                        </a:ln>
                        <a:solidFill>
                          <a:schemeClr val="accent1"/>
                        </a:solidFill>
                        <a:effectLst/>
                        <a:latin typeface="Arial"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accent1"/>
                          </a:solidFill>
                          <a:effectLst/>
                          <a:latin typeface="Times New Roman" pitchFamily="18" charset="0"/>
                          <a:cs typeface="Times New Roman" pitchFamily="18" charset="0"/>
                        </a:rPr>
                        <a:t>Number of bins and bin limits affect apparent shape</a:t>
                      </a:r>
                      <a:endParaRPr kumimoji="0" lang="en-US" sz="1600" b="0" i="0" u="none" strike="noStrike" cap="none" normalizeH="0" baseline="0" dirty="0">
                        <a:ln>
                          <a:noFill/>
                        </a:ln>
                        <a:solidFill>
                          <a:schemeClr val="accent1"/>
                        </a:solidFill>
                        <a:effectLst/>
                        <a:latin typeface="Arial"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83508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accent1"/>
                          </a:solidFill>
                          <a:effectLst/>
                          <a:latin typeface="Times New Roman" pitchFamily="18" charset="0"/>
                          <a:cs typeface="Times New Roman" pitchFamily="18" charset="0"/>
                        </a:rPr>
                        <a:t>Box plot</a:t>
                      </a:r>
                      <a:endParaRPr kumimoji="0" lang="en-US" sz="1600" b="0" i="0" u="none" strike="noStrike" cap="none" normalizeH="0" baseline="0">
                        <a:ln>
                          <a:noFill/>
                        </a:ln>
                        <a:solidFill>
                          <a:schemeClr val="accent1"/>
                        </a:solidFill>
                        <a:effectLst/>
                        <a:latin typeface="Arial"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accent1"/>
                          </a:solidFill>
                          <a:effectLst/>
                          <a:latin typeface="Times New Roman" pitchFamily="18" charset="0"/>
                          <a:cs typeface="Times New Roman" pitchFamily="18" charset="0"/>
                        </a:rPr>
                        <a:t>Five-number summary:</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1" u="none" strike="noStrike" cap="none" normalizeH="0" baseline="0">
                          <a:ln>
                            <a:noFill/>
                          </a:ln>
                          <a:solidFill>
                            <a:schemeClr val="accent1"/>
                          </a:solidFill>
                          <a:effectLst/>
                          <a:latin typeface="Times New Roman" pitchFamily="18" charset="0"/>
                          <a:cs typeface="Times New Roman" pitchFamily="18" charset="0"/>
                        </a:rPr>
                        <a:t>X</a:t>
                      </a:r>
                      <a:r>
                        <a:rPr kumimoji="0" lang="en-US" sz="1600" b="0" i="0" u="none" strike="noStrike" cap="none" normalizeH="0" baseline="-25000">
                          <a:ln>
                            <a:noFill/>
                          </a:ln>
                          <a:solidFill>
                            <a:schemeClr val="accent1"/>
                          </a:solidFill>
                          <a:effectLst/>
                          <a:latin typeface="Times New Roman" pitchFamily="18" charset="0"/>
                          <a:cs typeface="Times New Roman" pitchFamily="18" charset="0"/>
                        </a:rPr>
                        <a:t>min</a:t>
                      </a:r>
                      <a:r>
                        <a:rPr kumimoji="0" lang="en-US" sz="1600" b="0" i="0" u="none" strike="noStrike" cap="none" normalizeH="0" baseline="0">
                          <a:ln>
                            <a:noFill/>
                          </a:ln>
                          <a:solidFill>
                            <a:schemeClr val="accent1"/>
                          </a:solidFill>
                          <a:effectLst/>
                          <a:latin typeface="Times New Roman" pitchFamily="18" charset="0"/>
                          <a:cs typeface="Times New Roman" pitchFamily="18" charset="0"/>
                        </a:rPr>
                        <a:t>, </a:t>
                      </a:r>
                      <a:r>
                        <a:rPr kumimoji="0" lang="en-US" sz="1600" b="0" i="1" u="none" strike="noStrike" cap="none" normalizeH="0" baseline="0">
                          <a:ln>
                            <a:noFill/>
                          </a:ln>
                          <a:solidFill>
                            <a:schemeClr val="accent1"/>
                          </a:solidFill>
                          <a:effectLst/>
                          <a:latin typeface="Times New Roman" pitchFamily="18" charset="0"/>
                          <a:cs typeface="Times New Roman" pitchFamily="18" charset="0"/>
                        </a:rPr>
                        <a:t>Q</a:t>
                      </a:r>
                      <a:r>
                        <a:rPr kumimoji="0" lang="en-US" sz="1600" b="0" i="0" u="none" strike="noStrike" cap="none" normalizeH="0" baseline="-25000">
                          <a:ln>
                            <a:noFill/>
                          </a:ln>
                          <a:solidFill>
                            <a:schemeClr val="accent1"/>
                          </a:solidFill>
                          <a:effectLst/>
                          <a:latin typeface="Times New Roman" pitchFamily="18" charset="0"/>
                          <a:cs typeface="Times New Roman" pitchFamily="18" charset="0"/>
                        </a:rPr>
                        <a:t>1</a:t>
                      </a:r>
                      <a:r>
                        <a:rPr kumimoji="0" lang="en-US" sz="1600" b="0" i="0" u="none" strike="noStrike" cap="none" normalizeH="0" baseline="0">
                          <a:ln>
                            <a:noFill/>
                          </a:ln>
                          <a:solidFill>
                            <a:schemeClr val="accent1"/>
                          </a:solidFill>
                          <a:effectLst/>
                          <a:latin typeface="Times New Roman" pitchFamily="18" charset="0"/>
                          <a:cs typeface="Times New Roman" pitchFamily="18" charset="0"/>
                        </a:rPr>
                        <a:t>, </a:t>
                      </a:r>
                      <a:r>
                        <a:rPr kumimoji="0" lang="en-US" sz="1600" b="0" i="1" u="none" strike="noStrike" cap="none" normalizeH="0" baseline="0">
                          <a:ln>
                            <a:noFill/>
                          </a:ln>
                          <a:solidFill>
                            <a:schemeClr val="accent1"/>
                          </a:solidFill>
                          <a:effectLst/>
                          <a:latin typeface="Times New Roman" pitchFamily="18" charset="0"/>
                          <a:cs typeface="Times New Roman" pitchFamily="18" charset="0"/>
                        </a:rPr>
                        <a:t>Q</a:t>
                      </a:r>
                      <a:r>
                        <a:rPr kumimoji="0" lang="en-US" sz="1600" b="0" i="0" u="none" strike="noStrike" cap="none" normalizeH="0" baseline="-25000">
                          <a:ln>
                            <a:noFill/>
                          </a:ln>
                          <a:solidFill>
                            <a:schemeClr val="accent1"/>
                          </a:solidFill>
                          <a:effectLst/>
                          <a:latin typeface="Times New Roman" pitchFamily="18" charset="0"/>
                          <a:cs typeface="Times New Roman" pitchFamily="18" charset="0"/>
                        </a:rPr>
                        <a:t>2</a:t>
                      </a:r>
                      <a:r>
                        <a:rPr kumimoji="0" lang="en-US" sz="1600" b="0" i="0" u="none" strike="noStrike" cap="none" normalizeH="0" baseline="0">
                          <a:ln>
                            <a:noFill/>
                          </a:ln>
                          <a:solidFill>
                            <a:schemeClr val="accent1"/>
                          </a:solidFill>
                          <a:effectLst/>
                          <a:latin typeface="Times New Roman" pitchFamily="18" charset="0"/>
                          <a:cs typeface="Times New Roman" pitchFamily="18" charset="0"/>
                        </a:rPr>
                        <a:t>, </a:t>
                      </a:r>
                      <a:r>
                        <a:rPr kumimoji="0" lang="en-US" sz="1600" b="0" i="1" u="none" strike="noStrike" cap="none" normalizeH="0" baseline="0">
                          <a:ln>
                            <a:noFill/>
                          </a:ln>
                          <a:solidFill>
                            <a:schemeClr val="accent1"/>
                          </a:solidFill>
                          <a:effectLst/>
                          <a:latin typeface="Times New Roman" pitchFamily="18" charset="0"/>
                          <a:cs typeface="Times New Roman" pitchFamily="18" charset="0"/>
                        </a:rPr>
                        <a:t>Q</a:t>
                      </a:r>
                      <a:r>
                        <a:rPr kumimoji="0" lang="en-US" sz="1600" b="0" i="0" u="none" strike="noStrike" cap="none" normalizeH="0" baseline="-25000">
                          <a:ln>
                            <a:noFill/>
                          </a:ln>
                          <a:solidFill>
                            <a:schemeClr val="accent1"/>
                          </a:solidFill>
                          <a:effectLst/>
                          <a:latin typeface="Times New Roman" pitchFamily="18" charset="0"/>
                          <a:cs typeface="Times New Roman" pitchFamily="18" charset="0"/>
                        </a:rPr>
                        <a:t>3</a:t>
                      </a:r>
                      <a:r>
                        <a:rPr kumimoji="0" lang="en-US" sz="1600" b="0" i="0" u="none" strike="noStrike" cap="none" normalizeH="0" baseline="0">
                          <a:ln>
                            <a:noFill/>
                          </a:ln>
                          <a:solidFill>
                            <a:schemeClr val="accent1"/>
                          </a:solidFill>
                          <a:effectLst/>
                          <a:latin typeface="Times New Roman" pitchFamily="18" charset="0"/>
                          <a:cs typeface="Times New Roman" pitchFamily="18" charset="0"/>
                        </a:rPr>
                        <a:t>, </a:t>
                      </a:r>
                      <a:r>
                        <a:rPr kumimoji="0" lang="en-US" sz="1600" b="0" i="1" u="none" strike="noStrike" cap="none" normalizeH="0" baseline="0">
                          <a:ln>
                            <a:noFill/>
                          </a:ln>
                          <a:solidFill>
                            <a:schemeClr val="accent1"/>
                          </a:solidFill>
                          <a:effectLst/>
                          <a:latin typeface="Times New Roman" pitchFamily="18" charset="0"/>
                          <a:cs typeface="Times New Roman" pitchFamily="18" charset="0"/>
                        </a:rPr>
                        <a:t>X</a:t>
                      </a:r>
                      <a:r>
                        <a:rPr kumimoji="0" lang="en-US" sz="1600" b="0" i="0" u="none" strike="noStrike" cap="none" normalizeH="0" baseline="-25000">
                          <a:ln>
                            <a:noFill/>
                          </a:ln>
                          <a:solidFill>
                            <a:schemeClr val="accent1"/>
                          </a:solidFill>
                          <a:effectLst/>
                          <a:latin typeface="Times New Roman" pitchFamily="18" charset="0"/>
                          <a:cs typeface="Times New Roman" pitchFamily="18" charset="0"/>
                        </a:rPr>
                        <a:t>max</a:t>
                      </a:r>
                      <a:endParaRPr kumimoji="0" lang="en-US" sz="1600" b="0" i="0" u="none" strike="noStrike" cap="none" normalizeH="0" baseline="-25000">
                        <a:ln>
                          <a:noFill/>
                        </a:ln>
                        <a:solidFill>
                          <a:schemeClr val="accent1"/>
                        </a:solidFill>
                        <a:effectLst/>
                        <a:latin typeface="Times New Roman"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accent1"/>
                          </a:solidFill>
                          <a:effectLst/>
                          <a:latin typeface="Times New Roman" pitchFamily="18" charset="0"/>
                          <a:cs typeface="Times New Roman" pitchFamily="18" charset="0"/>
                        </a:rPr>
                        <a:t>Range, quartiles, skewness</a:t>
                      </a:r>
                      <a:endParaRPr kumimoji="0" lang="en-US" sz="1600" b="0" i="0" u="none" strike="noStrike" cap="none" normalizeH="0" baseline="0">
                        <a:ln>
                          <a:noFill/>
                        </a:ln>
                        <a:solidFill>
                          <a:schemeClr val="accent1"/>
                        </a:solidFill>
                        <a:effectLst/>
                        <a:latin typeface="Arial"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accent1"/>
                          </a:solidFill>
                          <a:effectLst/>
                          <a:latin typeface="Times New Roman" pitchFamily="18" charset="0"/>
                          <a:cs typeface="Times New Roman" pitchFamily="18" charset="0"/>
                        </a:rPr>
                        <a:t>Intuitive, but requires fences to reveal outliers</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82301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accent1"/>
                          </a:solidFill>
                          <a:effectLst/>
                          <a:latin typeface="Times New Roman" pitchFamily="18" charset="0"/>
                          <a:cs typeface="Times New Roman" pitchFamily="18" charset="0"/>
                        </a:rPr>
                        <a:t>Numerical statistics</a:t>
                      </a:r>
                      <a:endParaRPr kumimoji="0" lang="en-US" sz="1600" b="0" i="0" u="none" strike="noStrike" cap="none" normalizeH="0" baseline="0">
                        <a:ln>
                          <a:noFill/>
                        </a:ln>
                        <a:solidFill>
                          <a:schemeClr val="accent1"/>
                        </a:solidFill>
                        <a:effectLst/>
                        <a:latin typeface="Arial"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a:ln>
                            <a:noFill/>
                          </a:ln>
                          <a:solidFill>
                            <a:schemeClr val="accent1"/>
                          </a:solidFill>
                          <a:effectLst/>
                          <a:latin typeface="Times New Roman" pitchFamily="18" charset="0"/>
                          <a:cs typeface="Times New Roman" pitchFamily="18" charset="0"/>
                        </a:rPr>
                        <a:t>Mean, median, quartiles, standard deviation, etc.</a:t>
                      </a:r>
                      <a:endParaRPr kumimoji="0" lang="fr-FR" sz="1600" b="0" i="0" u="none" strike="noStrike" cap="none" normalizeH="0" baseline="0">
                        <a:ln>
                          <a:noFill/>
                        </a:ln>
                        <a:solidFill>
                          <a:schemeClr val="accent1"/>
                        </a:solidFill>
                        <a:effectLst/>
                        <a:latin typeface="Arial"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accent1"/>
                          </a:solidFill>
                          <a:effectLst/>
                          <a:latin typeface="Times New Roman" pitchFamily="18" charset="0"/>
                          <a:cs typeface="Times New Roman" pitchFamily="18" charset="0"/>
                        </a:rPr>
                        <a:t>Central tendency, dispersion, shape</a:t>
                      </a:r>
                      <a:endParaRPr kumimoji="0" lang="en-US" sz="1600" b="0" i="0" u="none" strike="noStrike" cap="none" normalizeH="0" baseline="0">
                        <a:ln>
                          <a:noFill/>
                        </a:ln>
                        <a:solidFill>
                          <a:schemeClr val="accent1"/>
                        </a:solidFill>
                        <a:effectLst/>
                        <a:latin typeface="Arial"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accent1"/>
                          </a:solidFill>
                          <a:effectLst/>
                          <a:latin typeface="Times New Roman" pitchFamily="18" charset="0"/>
                          <a:cs typeface="Times New Roman" pitchFamily="18" charset="0"/>
                        </a:rPr>
                        <a:t>Precise, but not as easy to digest visually</a:t>
                      </a:r>
                      <a:endParaRPr kumimoji="0" lang="en-US" sz="1600" b="0" i="0" u="none" strike="noStrike" cap="none" normalizeH="0" baseline="0" dirty="0">
                        <a:ln>
                          <a:noFill/>
                        </a:ln>
                        <a:solidFill>
                          <a:schemeClr val="accent1"/>
                        </a:solidFill>
                        <a:effectLst/>
                        <a:latin typeface="Arial"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877394" y="663713"/>
            <a:ext cx="2438399" cy="914400"/>
          </a:xfrm>
        </p:spPr>
        <p:txBody>
          <a:bodyPr>
            <a:normAutofit/>
          </a:bodyPr>
          <a:lstStyle/>
          <a:p>
            <a:pPr eaLnBrk="1" hangingPunct="1">
              <a:defRPr/>
            </a:pPr>
            <a:r>
              <a:rPr lang="en-US" sz="36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Example</a:t>
            </a:r>
          </a:p>
        </p:txBody>
      </p:sp>
      <p:sp>
        <p:nvSpPr>
          <p:cNvPr id="7171" name="Text Box 40"/>
          <p:cNvSpPr txBox="1">
            <a:spLocks noChangeArrowheads="1"/>
          </p:cNvSpPr>
          <p:nvPr/>
        </p:nvSpPr>
        <p:spPr bwMode="auto">
          <a:xfrm>
            <a:off x="3200400" y="769203"/>
            <a:ext cx="48768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dirty="0">
                <a:solidFill>
                  <a:schemeClr val="accent1">
                    <a:lumMod val="50000"/>
                  </a:schemeClr>
                </a:solidFill>
              </a:rPr>
              <a:t>How long do justices serve on the U.S. Supreme Court? They are appointed for life or until they retire. From 1789 to 2016 there were 107 justices who had completed their terms (shown below in order of year appointed).</a:t>
            </a:r>
          </a:p>
        </p:txBody>
      </p:sp>
      <p:pic>
        <p:nvPicPr>
          <p:cNvPr id="2" name="Picture 1"/>
          <p:cNvPicPr>
            <a:picLocks noChangeAspect="1"/>
          </p:cNvPicPr>
          <p:nvPr/>
        </p:nvPicPr>
        <p:blipFill>
          <a:blip r:embed="rId2"/>
          <a:stretch>
            <a:fillRect/>
          </a:stretch>
        </p:blipFill>
        <p:spPr>
          <a:xfrm>
            <a:off x="877394" y="1828800"/>
            <a:ext cx="7580806" cy="4267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914400" y="457200"/>
            <a:ext cx="7772400" cy="768096"/>
          </a:xfrm>
        </p:spPr>
        <p:txBody>
          <a:bodyPr>
            <a:normAutofit/>
          </a:bodyPr>
          <a:lstStyle/>
          <a:p>
            <a:pPr algn="ctr" eaLnBrk="1" hangingPunct="1">
              <a:defRPr/>
            </a:pPr>
            <a:r>
              <a:rPr lang="en-US" sz="36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Dot Plot</a:t>
            </a:r>
          </a:p>
        </p:txBody>
      </p:sp>
      <p:sp>
        <p:nvSpPr>
          <p:cNvPr id="8195" name="Text Box 3"/>
          <p:cNvSpPr txBox="1">
            <a:spLocks noChangeArrowheads="1"/>
          </p:cNvSpPr>
          <p:nvPr/>
        </p:nvSpPr>
        <p:spPr bwMode="auto">
          <a:xfrm>
            <a:off x="2438399" y="1639768"/>
            <a:ext cx="47244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dirty="0">
                <a:solidFill>
                  <a:schemeClr val="accent1">
                    <a:lumMod val="50000"/>
                  </a:schemeClr>
                </a:solidFill>
              </a:rPr>
              <a:t>The dot plot is attractive because it does not "bin" the data very much. You can "see all the data" in a dot plot. It is basically a one-dimensional scatter plot.</a:t>
            </a:r>
          </a:p>
        </p:txBody>
      </p:sp>
      <p:pic>
        <p:nvPicPr>
          <p:cNvPr id="3" name="Picture 2"/>
          <p:cNvPicPr>
            <a:picLocks noChangeAspect="1"/>
          </p:cNvPicPr>
          <p:nvPr/>
        </p:nvPicPr>
        <p:blipFill>
          <a:blip r:embed="rId2"/>
          <a:stretch>
            <a:fillRect/>
          </a:stretch>
        </p:blipFill>
        <p:spPr>
          <a:xfrm>
            <a:off x="1371600" y="2521084"/>
            <a:ext cx="6667641" cy="2022336"/>
          </a:xfrm>
          <a:prstGeom prst="rect">
            <a:avLst/>
          </a:prstGeom>
          <a:ln>
            <a:solidFill>
              <a:schemeClr val="accent1"/>
            </a:solidFill>
          </a:ln>
        </p:spPr>
      </p:pic>
      <p:sp>
        <p:nvSpPr>
          <p:cNvPr id="8196" name="Text Box 4"/>
          <p:cNvSpPr txBox="1">
            <a:spLocks noChangeArrowheads="1"/>
          </p:cNvSpPr>
          <p:nvPr/>
        </p:nvSpPr>
        <p:spPr bwMode="auto">
          <a:xfrm>
            <a:off x="3059494" y="4828725"/>
            <a:ext cx="3722306"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i="1" dirty="0">
                <a:solidFill>
                  <a:srgbClr val="CC0000"/>
                </a:solidFill>
              </a:rPr>
              <a:t>Interpretation</a:t>
            </a:r>
            <a:r>
              <a:rPr lang="en-US" sz="1400" b="1" i="1" dirty="0">
                <a:solidFill>
                  <a:srgbClr val="CC0000"/>
                </a:solidFill>
              </a:rPr>
              <a:t>: </a:t>
            </a:r>
            <a:r>
              <a:rPr lang="en-US" sz="1400" dirty="0">
                <a:solidFill>
                  <a:schemeClr val="accent1">
                    <a:lumMod val="50000"/>
                  </a:schemeClr>
                </a:solidFill>
              </a:rPr>
              <a:t>The range is 1 to 36. There's a mode at 5 years, but other modes also exist. Right-skewness is suggested. </a:t>
            </a:r>
          </a:p>
        </p:txBody>
      </p:sp>
      <p:sp>
        <p:nvSpPr>
          <p:cNvPr id="10" name="Text Box 9"/>
          <p:cNvSpPr txBox="1">
            <a:spLocks noChangeArrowheads="1"/>
          </p:cNvSpPr>
          <p:nvPr/>
        </p:nvSpPr>
        <p:spPr bwMode="auto">
          <a:xfrm>
            <a:off x="3059494" y="5715000"/>
            <a:ext cx="3200400" cy="523220"/>
          </a:xfrm>
          <a:prstGeom prst="rect">
            <a:avLst/>
          </a:prstGeom>
          <a:solidFill>
            <a:srgbClr val="FFFF99">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i="1" dirty="0">
                <a:solidFill>
                  <a:srgbClr val="C00000"/>
                </a:solidFill>
              </a:rPr>
              <a:t>Note:</a:t>
            </a:r>
            <a:r>
              <a:rPr lang="en-US" sz="1400" i="1" dirty="0">
                <a:solidFill>
                  <a:srgbClr val="000000"/>
                </a:solidFill>
              </a:rPr>
              <a:t>  </a:t>
            </a:r>
            <a:r>
              <a:rPr lang="en-US" sz="1400" dirty="0">
                <a:solidFill>
                  <a:srgbClr val="000000"/>
                </a:solidFill>
              </a:rPr>
              <a:t>Excel does not offer a stem-and-leaf. This is from </a:t>
            </a:r>
            <a:r>
              <a:rPr lang="en-US" sz="1400" dirty="0" err="1">
                <a:solidFill>
                  <a:srgbClr val="000000"/>
                </a:solidFill>
              </a:rPr>
              <a:t>MegaStat</a:t>
            </a:r>
            <a:r>
              <a:rPr lang="en-US" sz="1400" dirty="0">
                <a:solidFill>
                  <a:srgbClr val="000000"/>
                </a:solidFill>
              </a:rPr>
              <a:t>.</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09800" y="5057065"/>
            <a:ext cx="685800" cy="6579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914400" y="457200"/>
            <a:ext cx="7772400" cy="768096"/>
          </a:xfrm>
        </p:spPr>
        <p:txBody>
          <a:bodyPr>
            <a:normAutofit/>
          </a:bodyPr>
          <a:lstStyle/>
          <a:p>
            <a:pPr algn="ctr">
              <a:defRPr/>
            </a:pPr>
            <a:r>
              <a:rPr lang="en-US" sz="36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Stacked Dot Plot</a:t>
            </a:r>
          </a:p>
        </p:txBody>
      </p:sp>
      <p:sp>
        <p:nvSpPr>
          <p:cNvPr id="8195" name="Text Box 3"/>
          <p:cNvSpPr txBox="1">
            <a:spLocks noChangeArrowheads="1"/>
          </p:cNvSpPr>
          <p:nvPr/>
        </p:nvSpPr>
        <p:spPr bwMode="auto">
          <a:xfrm>
            <a:off x="2518852" y="1690610"/>
            <a:ext cx="47244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dirty="0">
                <a:solidFill>
                  <a:schemeClr val="accent1">
                    <a:lumMod val="50000"/>
                  </a:schemeClr>
                </a:solidFill>
              </a:rPr>
              <a:t>Stacked dot plots are useful to compare groups visually.</a:t>
            </a:r>
          </a:p>
        </p:txBody>
      </p:sp>
      <p:sp>
        <p:nvSpPr>
          <p:cNvPr id="10" name="Text Box 9"/>
          <p:cNvSpPr txBox="1">
            <a:spLocks noChangeArrowheads="1"/>
          </p:cNvSpPr>
          <p:nvPr/>
        </p:nvSpPr>
        <p:spPr bwMode="auto">
          <a:xfrm>
            <a:off x="3623752" y="6240494"/>
            <a:ext cx="2929448" cy="523220"/>
          </a:xfrm>
          <a:prstGeom prst="rect">
            <a:avLst/>
          </a:prstGeom>
          <a:solidFill>
            <a:srgbClr val="FFFF99">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i="1" dirty="0">
                <a:solidFill>
                  <a:srgbClr val="C00000"/>
                </a:solidFill>
              </a:rPr>
              <a:t>Note:</a:t>
            </a:r>
            <a:r>
              <a:rPr lang="en-US" sz="1400" i="1" dirty="0">
                <a:solidFill>
                  <a:srgbClr val="000000"/>
                </a:solidFill>
              </a:rPr>
              <a:t>  </a:t>
            </a:r>
            <a:r>
              <a:rPr lang="en-US" sz="1400" dirty="0">
                <a:solidFill>
                  <a:srgbClr val="000000"/>
                </a:solidFill>
              </a:rPr>
              <a:t>Excel does not offer dot plots. This is from Minitab.</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0" y="2058019"/>
            <a:ext cx="5952107" cy="3968071"/>
          </a:xfrm>
          <a:prstGeom prst="rect">
            <a:avLst/>
          </a:prstGeom>
        </p:spPr>
      </p:pic>
    </p:spTree>
    <p:extLst>
      <p:ext uri="{BB962C8B-B14F-4D97-AF65-F5344CB8AC3E}">
        <p14:creationId xmlns:p14="http://schemas.microsoft.com/office/powerpoint/2010/main" val="510519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914400" y="457200"/>
            <a:ext cx="7772400" cy="768096"/>
          </a:xfrm>
        </p:spPr>
        <p:txBody>
          <a:bodyPr>
            <a:normAutofit/>
          </a:bodyPr>
          <a:lstStyle/>
          <a:p>
            <a:pPr algn="ctr">
              <a:defRPr/>
            </a:pPr>
            <a:r>
              <a:rPr lang="en-US" sz="36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Stem-and-Leaf</a:t>
            </a:r>
          </a:p>
        </p:txBody>
      </p:sp>
      <p:sp>
        <p:nvSpPr>
          <p:cNvPr id="9220" name="Text Box 3"/>
          <p:cNvSpPr txBox="1">
            <a:spLocks noChangeArrowheads="1"/>
          </p:cNvSpPr>
          <p:nvPr/>
        </p:nvSpPr>
        <p:spPr bwMode="auto">
          <a:xfrm>
            <a:off x="2209800" y="1600200"/>
            <a:ext cx="51816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dirty="0">
                <a:solidFill>
                  <a:srgbClr val="000000"/>
                </a:solidFill>
              </a:rPr>
              <a:t>The </a:t>
            </a:r>
            <a:r>
              <a:rPr lang="en-US" sz="1400" i="1" dirty="0">
                <a:solidFill>
                  <a:srgbClr val="C00000"/>
                </a:solidFill>
              </a:rPr>
              <a:t>stem</a:t>
            </a:r>
            <a:r>
              <a:rPr lang="en-US" sz="1400" dirty="0">
                <a:solidFill>
                  <a:srgbClr val="000000"/>
                </a:solidFill>
              </a:rPr>
              <a:t> is the first digit. The </a:t>
            </a:r>
            <a:r>
              <a:rPr lang="en-US" sz="1400" i="1" dirty="0">
                <a:solidFill>
                  <a:srgbClr val="C00000"/>
                </a:solidFill>
              </a:rPr>
              <a:t>leaf</a:t>
            </a:r>
            <a:r>
              <a:rPr lang="en-US" sz="1400" dirty="0">
                <a:solidFill>
                  <a:srgbClr val="000000"/>
                </a:solidFill>
              </a:rPr>
              <a:t> shows the second digits. It resembles a frequency tally showing digits shown instead of tally marks. In this example, modal service is 0-9 years, while 10-19 years is almost as common.</a:t>
            </a:r>
          </a:p>
        </p:txBody>
      </p:sp>
      <p:pic>
        <p:nvPicPr>
          <p:cNvPr id="2" name="Picture 1"/>
          <p:cNvPicPr>
            <a:picLocks noChangeAspect="1"/>
          </p:cNvPicPr>
          <p:nvPr/>
        </p:nvPicPr>
        <p:blipFill>
          <a:blip r:embed="rId3"/>
          <a:stretch>
            <a:fillRect/>
          </a:stretch>
        </p:blipFill>
        <p:spPr>
          <a:xfrm>
            <a:off x="893762" y="3124200"/>
            <a:ext cx="7770369" cy="1600200"/>
          </a:xfrm>
          <a:prstGeom prst="rect">
            <a:avLst/>
          </a:prstGeom>
        </p:spPr>
      </p:pic>
      <p:sp>
        <p:nvSpPr>
          <p:cNvPr id="8" name="Text Box 3"/>
          <p:cNvSpPr txBox="1">
            <a:spLocks noChangeArrowheads="1"/>
          </p:cNvSpPr>
          <p:nvPr/>
        </p:nvSpPr>
        <p:spPr bwMode="auto">
          <a:xfrm>
            <a:off x="2209801" y="5294293"/>
            <a:ext cx="29718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i="1" dirty="0">
                <a:solidFill>
                  <a:srgbClr val="CC0000"/>
                </a:solidFill>
              </a:rPr>
              <a:t>Interpretation</a:t>
            </a:r>
            <a:r>
              <a:rPr lang="en-US" sz="1400" b="1" i="1" dirty="0">
                <a:solidFill>
                  <a:srgbClr val="CC0000"/>
                </a:solidFill>
              </a:rPr>
              <a:t>: </a:t>
            </a:r>
            <a:r>
              <a:rPr lang="en-US" sz="1400" dirty="0">
                <a:solidFill>
                  <a:schemeClr val="accent1">
                    <a:lumMod val="50000"/>
                  </a:schemeClr>
                </a:solidFill>
              </a:rPr>
              <a:t>In this example, modal service is 0-9 years, but 10-19 years is almost as common.</a:t>
            </a:r>
          </a:p>
        </p:txBody>
      </p: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19200" y="5181600"/>
            <a:ext cx="685800" cy="657935"/>
          </a:xfrm>
          <a:prstGeom prst="rect">
            <a:avLst/>
          </a:prstGeom>
        </p:spPr>
      </p:pic>
      <p:sp>
        <p:nvSpPr>
          <p:cNvPr id="10" name="Text Box 9"/>
          <p:cNvSpPr txBox="1">
            <a:spLocks noChangeArrowheads="1"/>
          </p:cNvSpPr>
          <p:nvPr/>
        </p:nvSpPr>
        <p:spPr bwMode="auto">
          <a:xfrm>
            <a:off x="5752085" y="5294293"/>
            <a:ext cx="2514600" cy="738664"/>
          </a:xfrm>
          <a:prstGeom prst="rect">
            <a:avLst/>
          </a:prstGeom>
          <a:solidFill>
            <a:srgbClr val="FFFF99">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i="1" dirty="0">
                <a:solidFill>
                  <a:srgbClr val="C00000"/>
                </a:solidFill>
              </a:rPr>
              <a:t>Note:</a:t>
            </a:r>
            <a:r>
              <a:rPr lang="en-US" sz="1400" i="1" dirty="0">
                <a:solidFill>
                  <a:srgbClr val="000000"/>
                </a:solidFill>
              </a:rPr>
              <a:t>  </a:t>
            </a:r>
            <a:r>
              <a:rPr lang="en-US" sz="1400" dirty="0">
                <a:solidFill>
                  <a:srgbClr val="000000"/>
                </a:solidFill>
              </a:rPr>
              <a:t>Excel does not offer a stem-and-leaf. This is from </a:t>
            </a:r>
            <a:r>
              <a:rPr lang="en-US" sz="1400" dirty="0" err="1">
                <a:solidFill>
                  <a:srgbClr val="000000"/>
                </a:solidFill>
              </a:rPr>
              <a:t>MegaStat</a:t>
            </a:r>
            <a:r>
              <a:rPr lang="en-US" sz="1400" dirty="0">
                <a:solidFill>
                  <a:srgbClr val="000000"/>
                </a:solidFill>
              </a:rPr>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914400" y="457200"/>
            <a:ext cx="7772400" cy="768096"/>
          </a:xfrm>
        </p:spPr>
        <p:txBody>
          <a:bodyPr>
            <a:normAutofit/>
          </a:bodyPr>
          <a:lstStyle/>
          <a:p>
            <a:pPr algn="ctr">
              <a:defRPr/>
            </a:pPr>
            <a:r>
              <a:rPr lang="en-US" sz="36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Stem-and-Leaf</a:t>
            </a:r>
          </a:p>
        </p:txBody>
      </p:sp>
      <p:sp>
        <p:nvSpPr>
          <p:cNvPr id="10243" name="Text Box 4"/>
          <p:cNvSpPr txBox="1">
            <a:spLocks noChangeArrowheads="1"/>
          </p:cNvSpPr>
          <p:nvPr/>
        </p:nvSpPr>
        <p:spPr bwMode="auto">
          <a:xfrm>
            <a:off x="2166447" y="1601751"/>
            <a:ext cx="4694423"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dirty="0">
                <a:solidFill>
                  <a:srgbClr val="000000"/>
                </a:solidFill>
              </a:rPr>
              <a:t>For 2-digit data in a large sample, we can split the stem into low and high values (8 categories) if the single stem (4 categories) doesn't  show enough detail or produces long strings of characters.  </a:t>
            </a:r>
          </a:p>
        </p:txBody>
      </p:sp>
      <p:pic>
        <p:nvPicPr>
          <p:cNvPr id="4" name="Picture 3"/>
          <p:cNvPicPr>
            <a:picLocks noChangeAspect="1"/>
          </p:cNvPicPr>
          <p:nvPr/>
        </p:nvPicPr>
        <p:blipFill>
          <a:blip r:embed="rId2"/>
          <a:stretch>
            <a:fillRect/>
          </a:stretch>
        </p:blipFill>
        <p:spPr>
          <a:xfrm>
            <a:off x="2023369" y="2895600"/>
            <a:ext cx="5332947" cy="2281834"/>
          </a:xfrm>
          <a:prstGeom prst="rect">
            <a:avLst/>
          </a:prstGeom>
        </p:spPr>
      </p:pic>
      <p:sp>
        <p:nvSpPr>
          <p:cNvPr id="11" name="Text Box 3"/>
          <p:cNvSpPr txBox="1">
            <a:spLocks noChangeArrowheads="1"/>
          </p:cNvSpPr>
          <p:nvPr/>
        </p:nvSpPr>
        <p:spPr bwMode="auto">
          <a:xfrm>
            <a:off x="3276600" y="5517176"/>
            <a:ext cx="3352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i="1" dirty="0">
                <a:solidFill>
                  <a:srgbClr val="C00000"/>
                </a:solidFill>
              </a:rPr>
              <a:t>Interpretation</a:t>
            </a:r>
            <a:r>
              <a:rPr lang="en-US" sz="1400" b="1" i="1" dirty="0">
                <a:solidFill>
                  <a:srgbClr val="C00000"/>
                </a:solidFill>
              </a:rPr>
              <a:t>: </a:t>
            </a:r>
            <a:r>
              <a:rPr lang="en-US" sz="1400" dirty="0">
                <a:solidFill>
                  <a:srgbClr val="000000"/>
                </a:solidFill>
              </a:rPr>
              <a:t>We see three modal classes at  5-9, 15-19, and 30-34.</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6000" y="5419042"/>
            <a:ext cx="685800" cy="6579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sz="quarter"/>
          </p:nvPr>
        </p:nvSpPr>
        <p:spPr>
          <a:xfrm>
            <a:off x="914400" y="457200"/>
            <a:ext cx="7772400" cy="768096"/>
          </a:xfrm>
        </p:spPr>
        <p:txBody>
          <a:bodyPr>
            <a:normAutofit/>
          </a:bodyPr>
          <a:lstStyle/>
          <a:p>
            <a:pPr algn="ctr">
              <a:defRPr/>
            </a:pPr>
            <a:r>
              <a:rPr lang="en-US" sz="36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Excel Histograms</a:t>
            </a:r>
          </a:p>
        </p:txBody>
      </p:sp>
      <p:sp>
        <p:nvSpPr>
          <p:cNvPr id="15363" name="Text Box 3"/>
          <p:cNvSpPr txBox="1">
            <a:spLocks noChangeArrowheads="1"/>
          </p:cNvSpPr>
          <p:nvPr/>
        </p:nvSpPr>
        <p:spPr bwMode="auto">
          <a:xfrm>
            <a:off x="4896064" y="5482768"/>
            <a:ext cx="331427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i="1" dirty="0">
                <a:solidFill>
                  <a:srgbClr val="C00000"/>
                </a:solidFill>
              </a:rPr>
              <a:t>Tip: </a:t>
            </a:r>
            <a:r>
              <a:rPr lang="en-US" sz="1400" dirty="0">
                <a:solidFill>
                  <a:schemeClr val="accent1">
                    <a:lumMod val="50000"/>
                  </a:schemeClr>
                </a:solidFill>
              </a:rPr>
              <a:t>Excel makes histograms, but they are awkwardly labeled. They can, however, be edited and improved.</a:t>
            </a:r>
          </a:p>
        </p:txBody>
      </p:sp>
      <p:pic>
        <p:nvPicPr>
          <p:cNvPr id="4" name="Picture 3"/>
          <p:cNvPicPr>
            <a:picLocks noChangeAspect="1"/>
          </p:cNvPicPr>
          <p:nvPr/>
        </p:nvPicPr>
        <p:blipFill>
          <a:blip r:embed="rId2"/>
          <a:stretch>
            <a:fillRect/>
          </a:stretch>
        </p:blipFill>
        <p:spPr>
          <a:xfrm>
            <a:off x="942975" y="1234853"/>
            <a:ext cx="3705225" cy="1866900"/>
          </a:xfrm>
          <a:prstGeom prst="rect">
            <a:avLst/>
          </a:prstGeom>
        </p:spPr>
      </p:pic>
      <p:pic>
        <p:nvPicPr>
          <p:cNvPr id="5" name="Picture 4"/>
          <p:cNvPicPr>
            <a:picLocks noChangeAspect="1"/>
          </p:cNvPicPr>
          <p:nvPr/>
        </p:nvPicPr>
        <p:blipFill>
          <a:blip r:embed="rId3"/>
          <a:stretch>
            <a:fillRect/>
          </a:stretch>
        </p:blipFill>
        <p:spPr>
          <a:xfrm>
            <a:off x="908304" y="3269806"/>
            <a:ext cx="3762375" cy="2800350"/>
          </a:xfrm>
          <a:prstGeom prst="rect">
            <a:avLst/>
          </a:prstGeom>
        </p:spPr>
      </p:pic>
      <p:pic>
        <p:nvPicPr>
          <p:cNvPr id="6" name="Picture 5"/>
          <p:cNvPicPr>
            <a:picLocks noChangeAspect="1"/>
          </p:cNvPicPr>
          <p:nvPr/>
        </p:nvPicPr>
        <p:blipFill>
          <a:blip r:embed="rId4"/>
          <a:stretch>
            <a:fillRect/>
          </a:stretch>
        </p:blipFill>
        <p:spPr>
          <a:xfrm>
            <a:off x="4839128" y="3328829"/>
            <a:ext cx="3751200" cy="1982634"/>
          </a:xfrm>
          <a:prstGeom prst="rect">
            <a:avLst/>
          </a:prstGeom>
        </p:spPr>
      </p:pic>
      <p:pic>
        <p:nvPicPr>
          <p:cNvPr id="8" name="Picture 7"/>
          <p:cNvPicPr>
            <a:picLocks noChangeAspect="1"/>
          </p:cNvPicPr>
          <p:nvPr/>
        </p:nvPicPr>
        <p:blipFill>
          <a:blip r:embed="rId5"/>
          <a:stretch>
            <a:fillRect/>
          </a:stretch>
        </p:blipFill>
        <p:spPr>
          <a:xfrm>
            <a:off x="5867400" y="1193590"/>
            <a:ext cx="1371600" cy="202714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914400" y="457200"/>
            <a:ext cx="7772400" cy="768096"/>
          </a:xfrm>
        </p:spPr>
        <p:txBody>
          <a:bodyPr>
            <a:normAutofit/>
          </a:bodyPr>
          <a:lstStyle/>
          <a:p>
            <a:pPr algn="ctr">
              <a:defRPr/>
            </a:pPr>
            <a:r>
              <a:rPr lang="en-US" sz="36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Binning</a:t>
            </a:r>
          </a:p>
        </p:txBody>
      </p:sp>
      <p:sp>
        <p:nvSpPr>
          <p:cNvPr id="12292" name="Text Box 6"/>
          <p:cNvSpPr txBox="1">
            <a:spLocks noChangeArrowheads="1"/>
          </p:cNvSpPr>
          <p:nvPr/>
        </p:nvSpPr>
        <p:spPr bwMode="auto">
          <a:xfrm>
            <a:off x="1203942" y="5172526"/>
            <a:ext cx="2682258"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i="1" dirty="0">
                <a:solidFill>
                  <a:srgbClr val="C00000"/>
                </a:solidFill>
              </a:rPr>
              <a:t>Note: </a:t>
            </a:r>
            <a:r>
              <a:rPr lang="en-US" sz="1400" dirty="0">
                <a:solidFill>
                  <a:srgbClr val="000000"/>
                </a:solidFill>
              </a:rPr>
              <a:t>The number of classes and choice of class limits will affect a histogram's appearance.  These were produced using Minitab.</a:t>
            </a:r>
          </a:p>
        </p:txBody>
      </p:sp>
      <p:sp>
        <p:nvSpPr>
          <p:cNvPr id="12295" name="Text Box 10"/>
          <p:cNvSpPr txBox="1">
            <a:spLocks noChangeArrowheads="1"/>
          </p:cNvSpPr>
          <p:nvPr/>
        </p:nvSpPr>
        <p:spPr bwMode="auto">
          <a:xfrm>
            <a:off x="1025690" y="1653251"/>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400" dirty="0">
                <a:solidFill>
                  <a:srgbClr val="0000FF"/>
                </a:solidFill>
              </a:rPr>
              <a:t>10 bins</a:t>
            </a:r>
          </a:p>
        </p:txBody>
      </p:sp>
      <p:sp>
        <p:nvSpPr>
          <p:cNvPr id="12296" name="Text Box 11"/>
          <p:cNvSpPr txBox="1">
            <a:spLocks noChangeArrowheads="1"/>
          </p:cNvSpPr>
          <p:nvPr/>
        </p:nvSpPr>
        <p:spPr bwMode="auto">
          <a:xfrm>
            <a:off x="4963594" y="1653251"/>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400" dirty="0">
                <a:solidFill>
                  <a:srgbClr val="0000FF"/>
                </a:solidFill>
              </a:rPr>
              <a:t>4 bins</a:t>
            </a:r>
          </a:p>
        </p:txBody>
      </p:sp>
      <p:sp>
        <p:nvSpPr>
          <p:cNvPr id="12297" name="Text Box 3"/>
          <p:cNvSpPr txBox="1">
            <a:spLocks noChangeArrowheads="1"/>
          </p:cNvSpPr>
          <p:nvPr/>
        </p:nvSpPr>
        <p:spPr bwMode="auto">
          <a:xfrm>
            <a:off x="6237732" y="1589127"/>
            <a:ext cx="2362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dirty="0">
                <a:solidFill>
                  <a:srgbClr val="000000"/>
                </a:solidFill>
              </a:rPr>
              <a:t>Using 4 bins the data appear more right-skewed.</a:t>
            </a:r>
          </a:p>
        </p:txBody>
      </p:sp>
      <p:sp>
        <p:nvSpPr>
          <p:cNvPr id="12299" name="Text Box 13"/>
          <p:cNvSpPr txBox="1">
            <a:spLocks noChangeArrowheads="1"/>
          </p:cNvSpPr>
          <p:nvPr/>
        </p:nvSpPr>
        <p:spPr bwMode="auto">
          <a:xfrm>
            <a:off x="4485132" y="5158775"/>
            <a:ext cx="4114800" cy="1039813"/>
          </a:xfrm>
          <a:prstGeom prst="rect">
            <a:avLst/>
          </a:prstGeom>
          <a:solidFill>
            <a:srgbClr val="FFFF99">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sz="1400" dirty="0" err="1">
                <a:solidFill>
                  <a:srgbClr val="000000"/>
                </a:solidFill>
              </a:rPr>
              <a:t>Sturges</a:t>
            </a:r>
            <a:r>
              <a:rPr lang="en-US" sz="1400" dirty="0">
                <a:solidFill>
                  <a:srgbClr val="000000"/>
                </a:solidFill>
              </a:rPr>
              <a:t>' Rule suggests that a</a:t>
            </a:r>
          </a:p>
          <a:p>
            <a:pPr algn="ctr" eaLnBrk="1" hangingPunct="1"/>
            <a:r>
              <a:rPr lang="en-US" sz="1400" dirty="0">
                <a:solidFill>
                  <a:srgbClr val="000000"/>
                </a:solidFill>
              </a:rPr>
              <a:t>good number of classes </a:t>
            </a:r>
            <a:r>
              <a:rPr lang="en-US" sz="1400" i="1" dirty="0">
                <a:solidFill>
                  <a:srgbClr val="000000"/>
                </a:solidFill>
              </a:rPr>
              <a:t>k</a:t>
            </a:r>
            <a:r>
              <a:rPr lang="en-US" sz="1400" dirty="0">
                <a:solidFill>
                  <a:srgbClr val="000000"/>
                </a:solidFill>
              </a:rPr>
              <a:t> is</a:t>
            </a:r>
          </a:p>
          <a:p>
            <a:pPr algn="ctr" eaLnBrk="1" hangingPunct="1">
              <a:spcBef>
                <a:spcPct val="20000"/>
              </a:spcBef>
            </a:pPr>
            <a:r>
              <a:rPr lang="en-US" sz="1400" dirty="0">
                <a:solidFill>
                  <a:srgbClr val="000000"/>
                </a:solidFill>
              </a:rPr>
              <a:t> </a:t>
            </a:r>
            <a:r>
              <a:rPr lang="en-US" sz="1400" i="1" dirty="0">
                <a:solidFill>
                  <a:srgbClr val="000000"/>
                </a:solidFill>
              </a:rPr>
              <a:t>k</a:t>
            </a:r>
            <a:r>
              <a:rPr lang="en-US" sz="1400" dirty="0">
                <a:solidFill>
                  <a:srgbClr val="000000"/>
                </a:solidFill>
              </a:rPr>
              <a:t> = 1 + log</a:t>
            </a:r>
            <a:r>
              <a:rPr lang="en-US" sz="1400" baseline="-25000" dirty="0">
                <a:solidFill>
                  <a:srgbClr val="000000"/>
                </a:solidFill>
              </a:rPr>
              <a:t>2</a:t>
            </a:r>
            <a:r>
              <a:rPr lang="en-US" sz="1400" i="1" dirty="0">
                <a:solidFill>
                  <a:srgbClr val="000000"/>
                </a:solidFill>
              </a:rPr>
              <a:t>n</a:t>
            </a:r>
          </a:p>
          <a:p>
            <a:pPr algn="ctr" eaLnBrk="1" hangingPunct="1">
              <a:spcBef>
                <a:spcPct val="20000"/>
              </a:spcBef>
            </a:pPr>
            <a:r>
              <a:rPr lang="en-US" sz="1400" dirty="0">
                <a:solidFill>
                  <a:srgbClr val="000000"/>
                </a:solidFill>
              </a:rPr>
              <a:t>Here </a:t>
            </a:r>
            <a:r>
              <a:rPr lang="en-US" sz="1400" i="1" dirty="0">
                <a:solidFill>
                  <a:srgbClr val="000000"/>
                </a:solidFill>
              </a:rPr>
              <a:t>k</a:t>
            </a:r>
            <a:r>
              <a:rPr lang="en-US" sz="1400" dirty="0">
                <a:solidFill>
                  <a:srgbClr val="000000"/>
                </a:solidFill>
              </a:rPr>
              <a:t> = 1 + log</a:t>
            </a:r>
            <a:r>
              <a:rPr lang="en-US" sz="1400" baseline="-25000" dirty="0">
                <a:solidFill>
                  <a:srgbClr val="000000"/>
                </a:solidFill>
              </a:rPr>
              <a:t>2</a:t>
            </a:r>
            <a:r>
              <a:rPr lang="en-US" sz="1400" dirty="0">
                <a:solidFill>
                  <a:srgbClr val="000000"/>
                </a:solidFill>
              </a:rPr>
              <a:t>(107) = 1+6.74 = 7.74 </a:t>
            </a:r>
            <a:r>
              <a:rPr lang="en-US" sz="1400" dirty="0">
                <a:solidFill>
                  <a:srgbClr val="000000"/>
                </a:solidFill>
                <a:sym typeface="Symbol" pitchFamily="18" charset="2"/>
              </a:rPr>
              <a:t> </a:t>
            </a:r>
            <a:r>
              <a:rPr lang="en-US" sz="1400" dirty="0">
                <a:solidFill>
                  <a:srgbClr val="000000"/>
                </a:solidFill>
              </a:rPr>
              <a:t>8</a:t>
            </a:r>
          </a:p>
        </p:txBody>
      </p:sp>
      <p:sp>
        <p:nvSpPr>
          <p:cNvPr id="12300" name="Text Box 14"/>
          <p:cNvSpPr txBox="1">
            <a:spLocks noChangeArrowheads="1"/>
          </p:cNvSpPr>
          <p:nvPr/>
        </p:nvSpPr>
        <p:spPr bwMode="auto">
          <a:xfrm>
            <a:off x="2461242" y="1659455"/>
            <a:ext cx="2286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dirty="0">
                <a:solidFill>
                  <a:srgbClr val="000000"/>
                </a:solidFill>
              </a:rPr>
              <a:t>Using 10 bins we see several modal classes.</a:t>
            </a:r>
          </a:p>
        </p:txBody>
      </p:sp>
      <p:pic>
        <p:nvPicPr>
          <p:cNvPr id="15" name="Picture 14"/>
          <p:cNvPicPr>
            <a:picLocks noChangeAspect="1"/>
          </p:cNvPicPr>
          <p:nvPr/>
        </p:nvPicPr>
        <p:blipFill>
          <a:blip r:embed="rId2"/>
          <a:stretch>
            <a:fillRect/>
          </a:stretch>
        </p:blipFill>
        <p:spPr>
          <a:xfrm>
            <a:off x="1030187" y="2340080"/>
            <a:ext cx="3663770" cy="2444109"/>
          </a:xfrm>
          <a:prstGeom prst="rect">
            <a:avLst/>
          </a:prstGeom>
        </p:spPr>
      </p:pic>
      <p:pic>
        <p:nvPicPr>
          <p:cNvPr id="17" name="Picture 16"/>
          <p:cNvPicPr>
            <a:picLocks noChangeAspect="1"/>
          </p:cNvPicPr>
          <p:nvPr/>
        </p:nvPicPr>
        <p:blipFill>
          <a:blip r:embed="rId3"/>
          <a:stretch>
            <a:fillRect/>
          </a:stretch>
        </p:blipFill>
        <p:spPr>
          <a:xfrm>
            <a:off x="4942258" y="2340080"/>
            <a:ext cx="3663770" cy="2444109"/>
          </a:xfrm>
          <a:prstGeom prst="rect">
            <a:avLst/>
          </a:prstGeom>
        </p:spPr>
      </p:pic>
      <p:pic>
        <p:nvPicPr>
          <p:cNvPr id="18" name="Picture 17"/>
          <p:cNvPicPr>
            <a:picLocks noChangeAspect="1"/>
          </p:cNvPicPr>
          <p:nvPr/>
        </p:nvPicPr>
        <p:blipFill>
          <a:blip r:embed="rId4"/>
          <a:stretch>
            <a:fillRect/>
          </a:stretch>
        </p:blipFill>
        <p:spPr>
          <a:xfrm>
            <a:off x="4532709" y="5172526"/>
            <a:ext cx="758207" cy="45848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14400" y="457200"/>
            <a:ext cx="7772400" cy="768096"/>
          </a:xfrm>
        </p:spPr>
        <p:txBody>
          <a:bodyPr>
            <a:normAutofit/>
          </a:bodyPr>
          <a:lstStyle/>
          <a:p>
            <a:pPr algn="ctr" eaLnBrk="1" hangingPunct="1">
              <a:defRPr/>
            </a:pPr>
            <a:r>
              <a:rPr lang="en-US" sz="36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Too Many Bins?</a:t>
            </a:r>
          </a:p>
        </p:txBody>
      </p:sp>
      <p:sp>
        <p:nvSpPr>
          <p:cNvPr id="11267" name="Text Box 11"/>
          <p:cNvSpPr txBox="1">
            <a:spLocks noChangeArrowheads="1"/>
          </p:cNvSpPr>
          <p:nvPr/>
        </p:nvSpPr>
        <p:spPr bwMode="auto">
          <a:xfrm>
            <a:off x="2496235" y="5131106"/>
            <a:ext cx="474276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dirty="0">
                <a:solidFill>
                  <a:srgbClr val="000000"/>
                </a:solidFill>
              </a:rPr>
              <a:t>The logic of </a:t>
            </a:r>
            <a:r>
              <a:rPr lang="en-US" sz="1400" dirty="0" err="1">
                <a:solidFill>
                  <a:srgbClr val="000000"/>
                </a:solidFill>
              </a:rPr>
              <a:t>Sturges</a:t>
            </a:r>
            <a:r>
              <a:rPr lang="en-US" sz="1400" dirty="0">
                <a:solidFill>
                  <a:srgbClr val="000000"/>
                </a:solidFill>
              </a:rPr>
              <a:t>’ Rule is that the number of bins should reflect the </a:t>
            </a:r>
            <a:r>
              <a:rPr lang="en-US" sz="1400" i="1" dirty="0">
                <a:solidFill>
                  <a:srgbClr val="000000"/>
                </a:solidFill>
              </a:rPr>
              <a:t>information content</a:t>
            </a:r>
            <a:r>
              <a:rPr lang="en-US" sz="1400" dirty="0">
                <a:solidFill>
                  <a:srgbClr val="000000"/>
                </a:solidFill>
              </a:rPr>
              <a:t> of the sample. For more, see </a:t>
            </a:r>
            <a:r>
              <a:rPr lang="en-US" sz="1400" dirty="0">
                <a:solidFill>
                  <a:srgbClr val="000000"/>
                </a:solidFill>
                <a:hlinkClick r:id="rId2"/>
              </a:rPr>
              <a:t>https://en.wikipedia.org/wiki/Information_theory</a:t>
            </a:r>
            <a:r>
              <a:rPr lang="en-US" sz="1400" dirty="0">
                <a:solidFill>
                  <a:srgbClr val="000000"/>
                </a:solidFill>
              </a:rPr>
              <a:t>. </a:t>
            </a:r>
          </a:p>
        </p:txBody>
      </p:sp>
      <p:pic>
        <p:nvPicPr>
          <p:cNvPr id="2" name="Picture 1"/>
          <p:cNvPicPr>
            <a:picLocks noChangeAspect="1"/>
          </p:cNvPicPr>
          <p:nvPr/>
        </p:nvPicPr>
        <p:blipFill>
          <a:blip r:embed="rId3"/>
          <a:stretch>
            <a:fillRect/>
          </a:stretch>
        </p:blipFill>
        <p:spPr>
          <a:xfrm>
            <a:off x="4561284" y="2427356"/>
            <a:ext cx="3663770" cy="2444109"/>
          </a:xfrm>
          <a:prstGeom prst="rect">
            <a:avLst/>
          </a:prstGeom>
        </p:spPr>
      </p:pic>
      <p:sp>
        <p:nvSpPr>
          <p:cNvPr id="7" name="Text Box 10"/>
          <p:cNvSpPr txBox="1">
            <a:spLocks noChangeArrowheads="1"/>
          </p:cNvSpPr>
          <p:nvPr/>
        </p:nvSpPr>
        <p:spPr bwMode="auto">
          <a:xfrm>
            <a:off x="4561284" y="1682174"/>
            <a:ext cx="1219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400" dirty="0">
                <a:solidFill>
                  <a:srgbClr val="0000FF"/>
                </a:solidFill>
              </a:rPr>
              <a:t>18 bins</a:t>
            </a:r>
          </a:p>
        </p:txBody>
      </p:sp>
      <p:sp>
        <p:nvSpPr>
          <p:cNvPr id="8" name="Text Box 14"/>
          <p:cNvSpPr txBox="1">
            <a:spLocks noChangeArrowheads="1"/>
          </p:cNvSpPr>
          <p:nvPr/>
        </p:nvSpPr>
        <p:spPr bwMode="auto">
          <a:xfrm>
            <a:off x="5768292" y="1730995"/>
            <a:ext cx="21443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dirty="0">
                <a:solidFill>
                  <a:schemeClr val="accent1">
                    <a:lumMod val="50000"/>
                  </a:schemeClr>
                </a:solidFill>
              </a:rPr>
              <a:t>Using 18 bin width of 2. Four modal classes</a:t>
            </a:r>
          </a:p>
        </p:txBody>
      </p:sp>
      <p:pic>
        <p:nvPicPr>
          <p:cNvPr id="9" name="Picture 8"/>
          <p:cNvPicPr>
            <a:picLocks noChangeAspect="1"/>
          </p:cNvPicPr>
          <p:nvPr/>
        </p:nvPicPr>
        <p:blipFill>
          <a:blip r:embed="rId4"/>
          <a:stretch>
            <a:fillRect/>
          </a:stretch>
        </p:blipFill>
        <p:spPr>
          <a:xfrm>
            <a:off x="755830" y="2427355"/>
            <a:ext cx="3663770" cy="2444109"/>
          </a:xfrm>
          <a:prstGeom prst="rect">
            <a:avLst/>
          </a:prstGeom>
        </p:spPr>
      </p:pic>
      <p:sp>
        <p:nvSpPr>
          <p:cNvPr id="10" name="Text Box 10"/>
          <p:cNvSpPr txBox="1">
            <a:spLocks noChangeArrowheads="1"/>
          </p:cNvSpPr>
          <p:nvPr/>
        </p:nvSpPr>
        <p:spPr bwMode="auto">
          <a:xfrm>
            <a:off x="755830" y="1609053"/>
            <a:ext cx="1219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400" dirty="0">
                <a:solidFill>
                  <a:srgbClr val="0000FF"/>
                </a:solidFill>
              </a:rPr>
              <a:t>8 bins</a:t>
            </a:r>
          </a:p>
        </p:txBody>
      </p:sp>
      <p:sp>
        <p:nvSpPr>
          <p:cNvPr id="11" name="Text Box 14"/>
          <p:cNvSpPr txBox="1">
            <a:spLocks noChangeArrowheads="1"/>
          </p:cNvSpPr>
          <p:nvPr/>
        </p:nvSpPr>
        <p:spPr bwMode="auto">
          <a:xfrm>
            <a:off x="1859992" y="1669114"/>
            <a:ext cx="2362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dirty="0" err="1">
                <a:solidFill>
                  <a:schemeClr val="accent1">
                    <a:lumMod val="50000"/>
                  </a:schemeClr>
                </a:solidFill>
              </a:rPr>
              <a:t>Stuges</a:t>
            </a:r>
            <a:r>
              <a:rPr lang="en-US" sz="1400" dirty="0">
                <a:solidFill>
                  <a:schemeClr val="accent1">
                    <a:lumMod val="50000"/>
                  </a:schemeClr>
                </a:solidFill>
              </a:rPr>
              <a:t>’ Rule with bin width  of 5. Three modal classes.</a:t>
            </a:r>
          </a:p>
        </p:txBody>
      </p:sp>
      <p:pic>
        <p:nvPicPr>
          <p:cNvPr id="12" name="Picture 11"/>
          <p:cNvPicPr>
            <a:picLocks noChangeAspect="1"/>
          </p:cNvPicPr>
          <p:nvPr/>
        </p:nvPicPr>
        <p:blipFill>
          <a:blip r:embed="rId5"/>
          <a:stretch>
            <a:fillRect/>
          </a:stretch>
        </p:blipFill>
        <p:spPr>
          <a:xfrm>
            <a:off x="1449696" y="5093425"/>
            <a:ext cx="758207" cy="458489"/>
          </a:xfrm>
          <a:prstGeom prst="rect">
            <a:avLst/>
          </a:prstGeom>
        </p:spPr>
      </p:pic>
      <p:sp>
        <p:nvSpPr>
          <p:cNvPr id="13" name="Text Box 9">
            <a:extLst>
              <a:ext uri="{FF2B5EF4-FFF2-40B4-BE49-F238E27FC236}">
                <a16:creationId xmlns:a16="http://schemas.microsoft.com/office/drawing/2014/main" id="{B7C78BDC-38E8-4403-975E-642FFD254BD6}"/>
              </a:ext>
            </a:extLst>
          </p:cNvPr>
          <p:cNvSpPr txBox="1">
            <a:spLocks noChangeArrowheads="1"/>
          </p:cNvSpPr>
          <p:nvPr/>
        </p:nvSpPr>
        <p:spPr bwMode="auto">
          <a:xfrm>
            <a:off x="2496235" y="5975522"/>
            <a:ext cx="4449688" cy="307777"/>
          </a:xfrm>
          <a:prstGeom prst="rect">
            <a:avLst/>
          </a:prstGeom>
          <a:solidFill>
            <a:srgbClr val="FFFF99">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i="1" dirty="0">
                <a:solidFill>
                  <a:srgbClr val="CC0000"/>
                </a:solidFill>
              </a:rPr>
              <a:t>Note:</a:t>
            </a:r>
            <a:r>
              <a:rPr lang="en-US" sz="1400" i="1" dirty="0">
                <a:solidFill>
                  <a:schemeClr val="accent1">
                    <a:lumMod val="50000"/>
                  </a:schemeClr>
                </a:solidFill>
              </a:rPr>
              <a:t> </a:t>
            </a:r>
            <a:r>
              <a:rPr lang="en-US" sz="1400" dirty="0">
                <a:solidFill>
                  <a:schemeClr val="accent1">
                    <a:lumMod val="50000"/>
                  </a:schemeClr>
                </a:solidFill>
              </a:rPr>
              <a:t>These histograms were created in Minitab.</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914400" y="457200"/>
            <a:ext cx="7772400" cy="768096"/>
          </a:xfrm>
        </p:spPr>
        <p:txBody>
          <a:bodyPr>
            <a:normAutofit/>
          </a:bodyPr>
          <a:lstStyle/>
          <a:p>
            <a:pPr algn="ctr">
              <a:defRPr/>
            </a:pPr>
            <a:r>
              <a:rPr lang="en-US" sz="36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Number of Bins</a:t>
            </a:r>
          </a:p>
        </p:txBody>
      </p:sp>
      <p:sp>
        <p:nvSpPr>
          <p:cNvPr id="13315" name="Text Box 5"/>
          <p:cNvSpPr txBox="1">
            <a:spLocks noChangeArrowheads="1"/>
          </p:cNvSpPr>
          <p:nvPr/>
        </p:nvSpPr>
        <p:spPr bwMode="auto">
          <a:xfrm>
            <a:off x="2660744" y="6212974"/>
            <a:ext cx="2743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dirty="0">
                <a:solidFill>
                  <a:srgbClr val="000000"/>
                </a:solidFill>
              </a:rPr>
              <a:t>Too many bins – excessive info.               Too few bins – insufficient info. </a:t>
            </a:r>
          </a:p>
        </p:txBody>
      </p:sp>
      <p:pic>
        <p:nvPicPr>
          <p:cNvPr id="2" name="Picture 1"/>
          <p:cNvPicPr>
            <a:picLocks noChangeAspect="1"/>
          </p:cNvPicPr>
          <p:nvPr/>
        </p:nvPicPr>
        <p:blipFill>
          <a:blip r:embed="rId2"/>
          <a:stretch>
            <a:fillRect/>
          </a:stretch>
        </p:blipFill>
        <p:spPr>
          <a:xfrm>
            <a:off x="1562657" y="1850160"/>
            <a:ext cx="2818285" cy="1880084"/>
          </a:xfrm>
          <a:prstGeom prst="rect">
            <a:avLst/>
          </a:prstGeom>
        </p:spPr>
      </p:pic>
      <p:pic>
        <p:nvPicPr>
          <p:cNvPr id="3" name="Picture 2"/>
          <p:cNvPicPr>
            <a:picLocks noChangeAspect="1"/>
          </p:cNvPicPr>
          <p:nvPr/>
        </p:nvPicPr>
        <p:blipFill>
          <a:blip r:embed="rId3"/>
          <a:stretch>
            <a:fillRect/>
          </a:stretch>
        </p:blipFill>
        <p:spPr>
          <a:xfrm>
            <a:off x="4814777" y="1850160"/>
            <a:ext cx="2818285" cy="1880084"/>
          </a:xfrm>
          <a:prstGeom prst="rect">
            <a:avLst/>
          </a:prstGeom>
        </p:spPr>
      </p:pic>
      <p:pic>
        <p:nvPicPr>
          <p:cNvPr id="5" name="Picture 4"/>
          <p:cNvPicPr>
            <a:picLocks noChangeAspect="1"/>
          </p:cNvPicPr>
          <p:nvPr/>
        </p:nvPicPr>
        <p:blipFill>
          <a:blip r:embed="rId4"/>
          <a:stretch>
            <a:fillRect/>
          </a:stretch>
        </p:blipFill>
        <p:spPr>
          <a:xfrm>
            <a:off x="1583922" y="4208804"/>
            <a:ext cx="2818285" cy="1880084"/>
          </a:xfrm>
          <a:prstGeom prst="rect">
            <a:avLst/>
          </a:prstGeom>
        </p:spPr>
      </p:pic>
      <p:pic>
        <p:nvPicPr>
          <p:cNvPr id="6" name="Picture 5"/>
          <p:cNvPicPr>
            <a:picLocks noChangeAspect="1"/>
          </p:cNvPicPr>
          <p:nvPr/>
        </p:nvPicPr>
        <p:blipFill>
          <a:blip r:embed="rId5"/>
          <a:stretch>
            <a:fillRect/>
          </a:stretch>
        </p:blipFill>
        <p:spPr>
          <a:xfrm>
            <a:off x="4814777" y="4293177"/>
            <a:ext cx="2818285" cy="1880084"/>
          </a:xfrm>
          <a:prstGeom prst="rect">
            <a:avLst/>
          </a:prstGeom>
        </p:spPr>
      </p:pic>
      <p:sp>
        <p:nvSpPr>
          <p:cNvPr id="17" name="Text Box 10"/>
          <p:cNvSpPr txBox="1">
            <a:spLocks noChangeArrowheads="1"/>
          </p:cNvSpPr>
          <p:nvPr/>
        </p:nvSpPr>
        <p:spPr bwMode="auto">
          <a:xfrm>
            <a:off x="1482197" y="1388908"/>
            <a:ext cx="1219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400" dirty="0">
                <a:solidFill>
                  <a:srgbClr val="0000FF"/>
                </a:solidFill>
              </a:rPr>
              <a:t>18 bins</a:t>
            </a:r>
          </a:p>
        </p:txBody>
      </p:sp>
      <p:sp>
        <p:nvSpPr>
          <p:cNvPr id="18" name="Text Box 10"/>
          <p:cNvSpPr txBox="1">
            <a:spLocks noChangeArrowheads="1"/>
          </p:cNvSpPr>
          <p:nvPr/>
        </p:nvSpPr>
        <p:spPr bwMode="auto">
          <a:xfrm>
            <a:off x="1564429" y="3831512"/>
            <a:ext cx="1219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400" dirty="0">
                <a:solidFill>
                  <a:srgbClr val="0000FF"/>
                </a:solidFill>
              </a:rPr>
              <a:t>4 bins</a:t>
            </a:r>
          </a:p>
        </p:txBody>
      </p:sp>
      <p:sp>
        <p:nvSpPr>
          <p:cNvPr id="19" name="Text Box 10"/>
          <p:cNvSpPr txBox="1">
            <a:spLocks noChangeArrowheads="1"/>
          </p:cNvSpPr>
          <p:nvPr/>
        </p:nvSpPr>
        <p:spPr bwMode="auto">
          <a:xfrm>
            <a:off x="4696768" y="3837476"/>
            <a:ext cx="1219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400" dirty="0">
                <a:solidFill>
                  <a:srgbClr val="0000FF"/>
                </a:solidFill>
              </a:rPr>
              <a:t>2 bins</a:t>
            </a:r>
          </a:p>
        </p:txBody>
      </p:sp>
      <p:sp>
        <p:nvSpPr>
          <p:cNvPr id="20" name="Text Box 10"/>
          <p:cNvSpPr txBox="1">
            <a:spLocks noChangeArrowheads="1"/>
          </p:cNvSpPr>
          <p:nvPr/>
        </p:nvSpPr>
        <p:spPr bwMode="auto">
          <a:xfrm>
            <a:off x="4800600" y="1387198"/>
            <a:ext cx="1219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400" dirty="0">
                <a:solidFill>
                  <a:srgbClr val="0000FF"/>
                </a:solidFill>
              </a:rPr>
              <a:t>10 bins</a:t>
            </a:r>
          </a:p>
        </p:txBody>
      </p:sp>
      <p:pic>
        <p:nvPicPr>
          <p:cNvPr id="22" name="Picture 3" descr="C:\Users\doane\AppData\Local\Microsoft\Windows\Temporary Internet Files\Content.IE5\YJVGYIN5\MP900439244[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854842" y="6173261"/>
            <a:ext cx="638373" cy="42558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Box 9"/>
          <p:cNvSpPr txBox="1">
            <a:spLocks noChangeArrowheads="1"/>
          </p:cNvSpPr>
          <p:nvPr/>
        </p:nvSpPr>
        <p:spPr bwMode="auto">
          <a:xfrm>
            <a:off x="5715000" y="6244890"/>
            <a:ext cx="2133600" cy="523220"/>
          </a:xfrm>
          <a:prstGeom prst="rect">
            <a:avLst/>
          </a:prstGeom>
          <a:solidFill>
            <a:srgbClr val="FFFF99">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i="1" dirty="0">
                <a:solidFill>
                  <a:srgbClr val="CC0000"/>
                </a:solidFill>
              </a:rPr>
              <a:t>Note:</a:t>
            </a:r>
            <a:r>
              <a:rPr lang="en-US" sz="1400" i="1" dirty="0">
                <a:solidFill>
                  <a:schemeClr val="accent1">
                    <a:lumMod val="50000"/>
                  </a:schemeClr>
                </a:solidFill>
              </a:rPr>
              <a:t> </a:t>
            </a:r>
            <a:r>
              <a:rPr lang="en-US" sz="1400" dirty="0">
                <a:solidFill>
                  <a:schemeClr val="accent1">
                    <a:lumMod val="50000"/>
                  </a:schemeClr>
                </a:solidFill>
              </a:rPr>
              <a:t>These histograms were created in Minitab.</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914400" y="457200"/>
            <a:ext cx="7772400" cy="768096"/>
          </a:xfrm>
        </p:spPr>
        <p:txBody>
          <a:bodyPr>
            <a:normAutofit/>
          </a:bodyPr>
          <a:lstStyle/>
          <a:p>
            <a:pPr algn="ctr">
              <a:defRPr/>
            </a:pPr>
            <a:r>
              <a:rPr lang="en-US" sz="36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Other Frequency Displays</a:t>
            </a:r>
          </a:p>
        </p:txBody>
      </p:sp>
      <p:sp>
        <p:nvSpPr>
          <p:cNvPr id="14342" name="Text Box 23"/>
          <p:cNvSpPr txBox="1">
            <a:spLocks noChangeArrowheads="1"/>
          </p:cNvSpPr>
          <p:nvPr/>
        </p:nvSpPr>
        <p:spPr bwMode="auto">
          <a:xfrm>
            <a:off x="4917110" y="1231491"/>
            <a:ext cx="11788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400" dirty="0">
                <a:solidFill>
                  <a:srgbClr val="0000FF"/>
                </a:solidFill>
              </a:rPr>
              <a:t>Ogive </a:t>
            </a:r>
          </a:p>
        </p:txBody>
      </p:sp>
      <p:sp>
        <p:nvSpPr>
          <p:cNvPr id="14343" name="Text Box 24"/>
          <p:cNvSpPr txBox="1">
            <a:spLocks noChangeArrowheads="1"/>
          </p:cNvSpPr>
          <p:nvPr/>
        </p:nvSpPr>
        <p:spPr bwMode="auto">
          <a:xfrm>
            <a:off x="1066800" y="1231491"/>
            <a:ext cx="281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400" dirty="0">
                <a:solidFill>
                  <a:srgbClr val="0000FF"/>
                </a:solidFill>
              </a:rPr>
              <a:t>Frequency Polygon</a:t>
            </a:r>
          </a:p>
        </p:txBody>
      </p:sp>
      <p:pic>
        <p:nvPicPr>
          <p:cNvPr id="7" name="Picture 6"/>
          <p:cNvPicPr>
            <a:picLocks noChangeAspect="1"/>
          </p:cNvPicPr>
          <p:nvPr/>
        </p:nvPicPr>
        <p:blipFill>
          <a:blip r:embed="rId2"/>
          <a:stretch>
            <a:fillRect/>
          </a:stretch>
        </p:blipFill>
        <p:spPr>
          <a:xfrm>
            <a:off x="1066800" y="1817985"/>
            <a:ext cx="2844660" cy="2139389"/>
          </a:xfrm>
          <a:prstGeom prst="rect">
            <a:avLst/>
          </a:prstGeom>
        </p:spPr>
      </p:pic>
      <p:pic>
        <p:nvPicPr>
          <p:cNvPr id="8" name="Picture 7"/>
          <p:cNvPicPr>
            <a:picLocks noChangeAspect="1"/>
          </p:cNvPicPr>
          <p:nvPr/>
        </p:nvPicPr>
        <p:blipFill>
          <a:blip r:embed="rId3"/>
          <a:stretch>
            <a:fillRect/>
          </a:stretch>
        </p:blipFill>
        <p:spPr>
          <a:xfrm>
            <a:off x="4917110" y="1817984"/>
            <a:ext cx="2844660" cy="2139389"/>
          </a:xfrm>
          <a:prstGeom prst="rect">
            <a:avLst/>
          </a:prstGeom>
        </p:spPr>
      </p:pic>
      <p:pic>
        <p:nvPicPr>
          <p:cNvPr id="9" name="Picture 8"/>
          <p:cNvPicPr>
            <a:picLocks noChangeAspect="1"/>
          </p:cNvPicPr>
          <p:nvPr/>
        </p:nvPicPr>
        <p:blipFill>
          <a:blip r:embed="rId4"/>
          <a:stretch>
            <a:fillRect/>
          </a:stretch>
        </p:blipFill>
        <p:spPr>
          <a:xfrm>
            <a:off x="1066801" y="4495800"/>
            <a:ext cx="3124200" cy="2084161"/>
          </a:xfrm>
          <a:prstGeom prst="rect">
            <a:avLst/>
          </a:prstGeom>
        </p:spPr>
      </p:pic>
      <p:sp>
        <p:nvSpPr>
          <p:cNvPr id="20" name="Text Box 24"/>
          <p:cNvSpPr txBox="1">
            <a:spLocks noChangeArrowheads="1"/>
          </p:cNvSpPr>
          <p:nvPr/>
        </p:nvSpPr>
        <p:spPr bwMode="auto">
          <a:xfrm>
            <a:off x="1066800" y="3999250"/>
            <a:ext cx="35791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400" dirty="0">
                <a:solidFill>
                  <a:srgbClr val="0000FF"/>
                </a:solidFill>
              </a:rPr>
              <a:t>Empirical CDF</a:t>
            </a:r>
          </a:p>
        </p:txBody>
      </p:sp>
      <p:sp>
        <p:nvSpPr>
          <p:cNvPr id="21" name="Text Box 5"/>
          <p:cNvSpPr txBox="1">
            <a:spLocks noChangeArrowheads="1"/>
          </p:cNvSpPr>
          <p:nvPr/>
        </p:nvSpPr>
        <p:spPr bwMode="auto">
          <a:xfrm>
            <a:off x="5334000" y="4876800"/>
            <a:ext cx="274320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dirty="0">
                <a:solidFill>
                  <a:srgbClr val="000000"/>
                </a:solidFill>
              </a:rPr>
              <a:t>Polygon and ogive are from </a:t>
            </a:r>
            <a:r>
              <a:rPr lang="en-US" sz="1400" dirty="0" err="1">
                <a:solidFill>
                  <a:srgbClr val="000000"/>
                </a:solidFill>
              </a:rPr>
              <a:t>MegaStat</a:t>
            </a:r>
            <a:r>
              <a:rPr lang="en-US" sz="1400" dirty="0">
                <a:solidFill>
                  <a:srgbClr val="000000"/>
                </a:solidFill>
              </a:rPr>
              <a:t> using 8 bins. The Empirical CDF is from Minitab (individual data values and a fitted normal CDF).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sz="quarter"/>
          </p:nvPr>
        </p:nvSpPr>
        <p:spPr>
          <a:xfrm>
            <a:off x="914400" y="457200"/>
            <a:ext cx="7772400" cy="768096"/>
          </a:xfrm>
        </p:spPr>
        <p:txBody>
          <a:bodyPr>
            <a:normAutofit/>
          </a:bodyPr>
          <a:lstStyle/>
          <a:p>
            <a:pPr algn="ctr">
              <a:defRPr/>
            </a:pPr>
            <a:r>
              <a:rPr lang="en-US" sz="36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Box Plot</a:t>
            </a:r>
          </a:p>
        </p:txBody>
      </p:sp>
      <p:sp>
        <p:nvSpPr>
          <p:cNvPr id="16388" name="Text Box 14"/>
          <p:cNvSpPr txBox="1">
            <a:spLocks noChangeArrowheads="1"/>
          </p:cNvSpPr>
          <p:nvPr/>
        </p:nvSpPr>
        <p:spPr bwMode="auto">
          <a:xfrm>
            <a:off x="2324100" y="1381508"/>
            <a:ext cx="44958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dirty="0">
                <a:solidFill>
                  <a:schemeClr val="accent1">
                    <a:lumMod val="50000"/>
                  </a:schemeClr>
                </a:solidFill>
              </a:rPr>
              <a:t>The ends of the “whiskers” are the lowest and highest data values (1 and 36 years, respectively)., The ends of the box show the quartiles (25%, 50%, 75%).</a:t>
            </a:r>
          </a:p>
        </p:txBody>
      </p:sp>
      <p:pic>
        <p:nvPicPr>
          <p:cNvPr id="2" name="Picture 1"/>
          <p:cNvPicPr>
            <a:picLocks noChangeAspect="1"/>
          </p:cNvPicPr>
          <p:nvPr/>
        </p:nvPicPr>
        <p:blipFill>
          <a:blip r:embed="rId2"/>
          <a:stretch>
            <a:fillRect/>
          </a:stretch>
        </p:blipFill>
        <p:spPr>
          <a:xfrm>
            <a:off x="2084403" y="3116736"/>
            <a:ext cx="5216513" cy="1640800"/>
          </a:xfrm>
          <a:prstGeom prst="rect">
            <a:avLst/>
          </a:prstGeom>
        </p:spPr>
      </p:pic>
      <p:sp>
        <p:nvSpPr>
          <p:cNvPr id="3" name="TextBox 2"/>
          <p:cNvSpPr txBox="1"/>
          <p:nvPr/>
        </p:nvSpPr>
        <p:spPr>
          <a:xfrm>
            <a:off x="2951940" y="2379384"/>
            <a:ext cx="457200" cy="381000"/>
          </a:xfrm>
          <a:prstGeom prst="rect">
            <a:avLst/>
          </a:prstGeom>
          <a:noFill/>
        </p:spPr>
        <p:txBody>
          <a:bodyPr wrap="square" rtlCol="0">
            <a:spAutoFit/>
          </a:bodyPr>
          <a:lstStyle/>
          <a:p>
            <a:r>
              <a:rPr lang="en-US" i="1" dirty="0">
                <a:solidFill>
                  <a:srgbClr val="CC0000"/>
                </a:solidFill>
              </a:rPr>
              <a:t>Q</a:t>
            </a:r>
            <a:r>
              <a:rPr lang="en-US" baseline="-25000" dirty="0">
                <a:solidFill>
                  <a:srgbClr val="CC0000"/>
                </a:solidFill>
              </a:rPr>
              <a:t>1</a:t>
            </a:r>
          </a:p>
        </p:txBody>
      </p:sp>
      <p:sp>
        <p:nvSpPr>
          <p:cNvPr id="8" name="TextBox 7"/>
          <p:cNvSpPr txBox="1"/>
          <p:nvPr/>
        </p:nvSpPr>
        <p:spPr>
          <a:xfrm>
            <a:off x="3844822" y="2365721"/>
            <a:ext cx="457200" cy="381000"/>
          </a:xfrm>
          <a:prstGeom prst="rect">
            <a:avLst/>
          </a:prstGeom>
          <a:noFill/>
        </p:spPr>
        <p:txBody>
          <a:bodyPr wrap="square" rtlCol="0">
            <a:spAutoFit/>
          </a:bodyPr>
          <a:lstStyle/>
          <a:p>
            <a:r>
              <a:rPr lang="en-US" i="1" dirty="0">
                <a:solidFill>
                  <a:srgbClr val="CC0000"/>
                </a:solidFill>
              </a:rPr>
              <a:t>Q</a:t>
            </a:r>
            <a:r>
              <a:rPr lang="en-US" baseline="-25000" dirty="0">
                <a:solidFill>
                  <a:srgbClr val="CC0000"/>
                </a:solidFill>
              </a:rPr>
              <a:t>2</a:t>
            </a:r>
          </a:p>
        </p:txBody>
      </p:sp>
      <p:sp>
        <p:nvSpPr>
          <p:cNvPr id="9" name="TextBox 8"/>
          <p:cNvSpPr txBox="1"/>
          <p:nvPr/>
        </p:nvSpPr>
        <p:spPr>
          <a:xfrm>
            <a:off x="4835065" y="2362200"/>
            <a:ext cx="457200" cy="381000"/>
          </a:xfrm>
          <a:prstGeom prst="rect">
            <a:avLst/>
          </a:prstGeom>
          <a:noFill/>
        </p:spPr>
        <p:txBody>
          <a:bodyPr wrap="square" rtlCol="0">
            <a:spAutoFit/>
          </a:bodyPr>
          <a:lstStyle/>
          <a:p>
            <a:r>
              <a:rPr lang="en-US" i="1" dirty="0">
                <a:solidFill>
                  <a:srgbClr val="CC0000"/>
                </a:solidFill>
              </a:rPr>
              <a:t>Q</a:t>
            </a:r>
            <a:r>
              <a:rPr lang="en-US" baseline="-25000" dirty="0">
                <a:solidFill>
                  <a:srgbClr val="CC0000"/>
                </a:solidFill>
              </a:rPr>
              <a:t>3</a:t>
            </a:r>
          </a:p>
        </p:txBody>
      </p:sp>
      <p:sp>
        <p:nvSpPr>
          <p:cNvPr id="4" name="Down Arrow 3"/>
          <p:cNvSpPr/>
          <p:nvPr/>
        </p:nvSpPr>
        <p:spPr>
          <a:xfrm>
            <a:off x="2990972" y="2777568"/>
            <a:ext cx="228600" cy="304800"/>
          </a:xfrm>
          <a:prstGeom prst="down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p:cNvSpPr/>
          <p:nvPr/>
        </p:nvSpPr>
        <p:spPr>
          <a:xfrm>
            <a:off x="3922693" y="2743200"/>
            <a:ext cx="228600" cy="304800"/>
          </a:xfrm>
          <a:prstGeom prst="down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own Arrow 12"/>
          <p:cNvSpPr/>
          <p:nvPr/>
        </p:nvSpPr>
        <p:spPr>
          <a:xfrm>
            <a:off x="4913306" y="2746721"/>
            <a:ext cx="228600" cy="304800"/>
          </a:xfrm>
          <a:prstGeom prst="down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Box 14"/>
          <p:cNvSpPr txBox="1">
            <a:spLocks noChangeArrowheads="1"/>
          </p:cNvSpPr>
          <p:nvPr/>
        </p:nvSpPr>
        <p:spPr bwMode="auto">
          <a:xfrm>
            <a:off x="2832047" y="5215336"/>
            <a:ext cx="416251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i="1" dirty="0">
                <a:solidFill>
                  <a:srgbClr val="C00000"/>
                </a:solidFill>
              </a:rPr>
              <a:t>Interpretation: </a:t>
            </a:r>
            <a:r>
              <a:rPr lang="en-US" sz="1400" dirty="0">
                <a:solidFill>
                  <a:schemeClr val="accent1">
                    <a:lumMod val="50000"/>
                  </a:schemeClr>
                </a:solidFill>
              </a:rPr>
              <a:t>The "box" (interquartile range) is symmetric, although the long right tail suggests slight right-skewness.  No outliers are seen.</a:t>
            </a: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71583" y="5186570"/>
            <a:ext cx="685800" cy="6579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sz="quarter"/>
          </p:nvPr>
        </p:nvSpPr>
        <p:spPr>
          <a:xfrm>
            <a:off x="914400" y="457200"/>
            <a:ext cx="7772400" cy="768096"/>
          </a:xfrm>
        </p:spPr>
        <p:txBody>
          <a:bodyPr>
            <a:normAutofit/>
          </a:bodyPr>
          <a:lstStyle/>
          <a:p>
            <a:pPr algn="ctr">
              <a:defRPr/>
            </a:pPr>
            <a:r>
              <a:rPr lang="en-US" sz="36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Box Plot</a:t>
            </a:r>
          </a:p>
        </p:txBody>
      </p:sp>
      <p:sp>
        <p:nvSpPr>
          <p:cNvPr id="16388" name="Text Box 14"/>
          <p:cNvSpPr txBox="1">
            <a:spLocks noChangeArrowheads="1"/>
          </p:cNvSpPr>
          <p:nvPr/>
        </p:nvSpPr>
        <p:spPr bwMode="auto">
          <a:xfrm>
            <a:off x="2209800" y="1319883"/>
            <a:ext cx="494295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dirty="0">
                <a:solidFill>
                  <a:schemeClr val="accent1">
                    <a:lumMod val="50000"/>
                  </a:schemeClr>
                </a:solidFill>
              </a:rPr>
              <a:t>In a skewed distribution, the median </a:t>
            </a:r>
            <a:r>
              <a:rPr lang="en-US" sz="1400" i="1" dirty="0">
                <a:solidFill>
                  <a:schemeClr val="accent1">
                    <a:lumMod val="50000"/>
                  </a:schemeClr>
                </a:solidFill>
              </a:rPr>
              <a:t>Q</a:t>
            </a:r>
            <a:r>
              <a:rPr lang="en-US" sz="1400" baseline="-25000" dirty="0">
                <a:solidFill>
                  <a:schemeClr val="accent1">
                    <a:lumMod val="50000"/>
                  </a:schemeClr>
                </a:solidFill>
              </a:rPr>
              <a:t>2</a:t>
            </a:r>
            <a:r>
              <a:rPr lang="en-US" sz="1400" dirty="0">
                <a:solidFill>
                  <a:schemeClr val="accent1">
                    <a:lumMod val="50000"/>
                  </a:schemeClr>
                </a:solidFill>
              </a:rPr>
              <a:t> is not in the middle of the “box.” However, the “box” still demarcates the middle 50% and each tail contains 25% of the area.</a:t>
            </a:r>
          </a:p>
        </p:txBody>
      </p:sp>
      <p:pic>
        <p:nvPicPr>
          <p:cNvPr id="5" name="Picture 4"/>
          <p:cNvPicPr>
            <a:picLocks noChangeAspect="1"/>
          </p:cNvPicPr>
          <p:nvPr/>
        </p:nvPicPr>
        <p:blipFill>
          <a:blip r:embed="rId2"/>
          <a:stretch>
            <a:fillRect/>
          </a:stretch>
        </p:blipFill>
        <p:spPr>
          <a:xfrm>
            <a:off x="1828800" y="2257203"/>
            <a:ext cx="5562600" cy="4036203"/>
          </a:xfrm>
          <a:prstGeom prst="rect">
            <a:avLst/>
          </a:prstGeom>
          <a:ln w="6350">
            <a:solidFill>
              <a:schemeClr val="accent1"/>
            </a:solidFill>
          </a:ln>
        </p:spPr>
      </p:pic>
    </p:spTree>
    <p:extLst>
      <p:ext uri="{BB962C8B-B14F-4D97-AF65-F5344CB8AC3E}">
        <p14:creationId xmlns:p14="http://schemas.microsoft.com/office/powerpoint/2010/main" val="2895282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sz="quarter"/>
          </p:nvPr>
        </p:nvSpPr>
        <p:spPr>
          <a:xfrm>
            <a:off x="914400" y="457200"/>
            <a:ext cx="7772400" cy="768096"/>
          </a:xfrm>
        </p:spPr>
        <p:txBody>
          <a:bodyPr>
            <a:normAutofit/>
          </a:bodyPr>
          <a:lstStyle/>
          <a:p>
            <a:pPr algn="ctr">
              <a:defRPr/>
            </a:pPr>
            <a:r>
              <a:rPr lang="en-US" sz="36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Stacked Box Plot</a:t>
            </a:r>
          </a:p>
        </p:txBody>
      </p:sp>
      <p:sp>
        <p:nvSpPr>
          <p:cNvPr id="1028" name="Text Box 5"/>
          <p:cNvSpPr txBox="1">
            <a:spLocks noChangeArrowheads="1"/>
          </p:cNvSpPr>
          <p:nvPr/>
        </p:nvSpPr>
        <p:spPr bwMode="auto">
          <a:xfrm>
            <a:off x="2848708" y="1520389"/>
            <a:ext cx="4038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dirty="0">
                <a:solidFill>
                  <a:schemeClr val="accent1">
                    <a:lumMod val="50000"/>
                  </a:schemeClr>
                </a:solidFill>
              </a:rPr>
              <a:t>Boxplots can be useful to compare groups.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1997907"/>
            <a:ext cx="5983100" cy="3988733"/>
          </a:xfrm>
          <a:prstGeom prst="rect">
            <a:avLst/>
          </a:prstGeom>
        </p:spPr>
      </p:pic>
      <p:sp>
        <p:nvSpPr>
          <p:cNvPr id="6" name="Text Box 9"/>
          <p:cNvSpPr txBox="1">
            <a:spLocks noChangeArrowheads="1"/>
          </p:cNvSpPr>
          <p:nvPr/>
        </p:nvSpPr>
        <p:spPr bwMode="auto">
          <a:xfrm>
            <a:off x="2057400" y="6156381"/>
            <a:ext cx="5029200" cy="307777"/>
          </a:xfrm>
          <a:prstGeom prst="rect">
            <a:avLst/>
          </a:prstGeom>
          <a:solidFill>
            <a:srgbClr val="FFFF99">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i="1" dirty="0">
                <a:solidFill>
                  <a:srgbClr val="C00000"/>
                </a:solidFill>
              </a:rPr>
              <a:t>Note:</a:t>
            </a:r>
            <a:r>
              <a:rPr lang="en-US" sz="1400" dirty="0">
                <a:solidFill>
                  <a:srgbClr val="000000"/>
                </a:solidFill>
              </a:rPr>
              <a:t> This boxplot with groups was prepared using Minitab.</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sz="quarter"/>
          </p:nvPr>
        </p:nvSpPr>
        <p:spPr>
          <a:xfrm>
            <a:off x="914400" y="457200"/>
            <a:ext cx="7772400" cy="768096"/>
          </a:xfrm>
        </p:spPr>
        <p:txBody>
          <a:bodyPr>
            <a:normAutofit/>
          </a:bodyPr>
          <a:lstStyle/>
          <a:p>
            <a:pPr algn="ctr">
              <a:defRPr/>
            </a:pPr>
            <a:r>
              <a:rPr lang="en-US" sz="36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Excel Box Plot</a:t>
            </a:r>
          </a:p>
        </p:txBody>
      </p:sp>
      <p:sp>
        <p:nvSpPr>
          <p:cNvPr id="1028" name="Text Box 5"/>
          <p:cNvSpPr txBox="1">
            <a:spLocks noChangeArrowheads="1"/>
          </p:cNvSpPr>
          <p:nvPr/>
        </p:nvSpPr>
        <p:spPr bwMode="auto">
          <a:xfrm>
            <a:off x="2743200" y="1530600"/>
            <a:ext cx="3962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dirty="0">
                <a:solidFill>
                  <a:schemeClr val="accent1">
                    <a:lumMod val="50000"/>
                  </a:schemeClr>
                </a:solidFill>
              </a:rPr>
              <a:t>Excel's default box plot puts the scale on the vertical axis. The interpretation is the same.</a:t>
            </a:r>
          </a:p>
        </p:txBody>
      </p:sp>
      <p:pic>
        <p:nvPicPr>
          <p:cNvPr id="2" name="Picture 1"/>
          <p:cNvPicPr>
            <a:picLocks noChangeAspect="1"/>
          </p:cNvPicPr>
          <p:nvPr/>
        </p:nvPicPr>
        <p:blipFill>
          <a:blip r:embed="rId2"/>
          <a:stretch>
            <a:fillRect/>
          </a:stretch>
        </p:blipFill>
        <p:spPr>
          <a:xfrm>
            <a:off x="2209800" y="2514600"/>
            <a:ext cx="4698769" cy="2812800"/>
          </a:xfrm>
          <a:prstGeom prst="rect">
            <a:avLst/>
          </a:prstGeom>
          <a:ln>
            <a:solidFill>
              <a:srgbClr val="0000FF"/>
            </a:solidFill>
          </a:ln>
        </p:spPr>
      </p:pic>
    </p:spTree>
    <p:extLst>
      <p:ext uri="{BB962C8B-B14F-4D97-AF65-F5344CB8AC3E}">
        <p14:creationId xmlns:p14="http://schemas.microsoft.com/office/powerpoint/2010/main" val="1977287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14400" y="457200"/>
            <a:ext cx="7772400" cy="768096"/>
          </a:xfrm>
        </p:spPr>
        <p:txBody>
          <a:bodyPr>
            <a:normAutofit/>
          </a:bodyPr>
          <a:lstStyle/>
          <a:p>
            <a:pPr algn="ctr">
              <a:defRPr/>
            </a:pPr>
            <a:r>
              <a:rPr lang="en-US" sz="36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Numerical Statistics</a:t>
            </a:r>
          </a:p>
        </p:txBody>
      </p:sp>
      <p:sp>
        <p:nvSpPr>
          <p:cNvPr id="17411" name="Text Box 5"/>
          <p:cNvSpPr txBox="1">
            <a:spLocks noChangeArrowheads="1"/>
          </p:cNvSpPr>
          <p:nvPr/>
        </p:nvSpPr>
        <p:spPr bwMode="auto">
          <a:xfrm>
            <a:off x="2667000" y="5334015"/>
            <a:ext cx="445008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i="1" dirty="0">
                <a:solidFill>
                  <a:srgbClr val="C00000"/>
                </a:solidFill>
              </a:rPr>
              <a:t>Tip: </a:t>
            </a:r>
            <a:r>
              <a:rPr lang="en-US" sz="1400" dirty="0">
                <a:solidFill>
                  <a:schemeClr val="accent1">
                    <a:lumMod val="50000"/>
                  </a:schemeClr>
                </a:solidFill>
              </a:rPr>
              <a:t>Google Sheets has the same formulas as Excel.</a:t>
            </a: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28800" y="5158935"/>
            <a:ext cx="685800" cy="657935"/>
          </a:xfrm>
          <a:prstGeom prst="rect">
            <a:avLst/>
          </a:prstGeom>
        </p:spPr>
      </p:pic>
      <p:sp>
        <p:nvSpPr>
          <p:cNvPr id="6" name="Text Box 5">
            <a:extLst>
              <a:ext uri="{FF2B5EF4-FFF2-40B4-BE49-F238E27FC236}">
                <a16:creationId xmlns:a16="http://schemas.microsoft.com/office/drawing/2014/main" id="{E7A6F103-7D65-3475-A261-799201E4C731}"/>
              </a:ext>
            </a:extLst>
          </p:cNvPr>
          <p:cNvSpPr txBox="1">
            <a:spLocks noChangeArrowheads="1"/>
          </p:cNvSpPr>
          <p:nvPr/>
        </p:nvSpPr>
        <p:spPr bwMode="auto">
          <a:xfrm>
            <a:off x="1502664" y="1252234"/>
            <a:ext cx="5867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dirty="0">
                <a:solidFill>
                  <a:schemeClr val="accent1">
                    <a:lumMod val="50000"/>
                  </a:schemeClr>
                </a:solidFill>
              </a:rPr>
              <a:t>Use intuitive formulas in Excel or R to calculate the statistics you need for data vectors x and y. Use them to create a custom data summary.</a:t>
            </a:r>
          </a:p>
        </p:txBody>
      </p:sp>
      <p:graphicFrame>
        <p:nvGraphicFramePr>
          <p:cNvPr id="12" name="Table 11">
            <a:extLst>
              <a:ext uri="{FF2B5EF4-FFF2-40B4-BE49-F238E27FC236}">
                <a16:creationId xmlns:a16="http://schemas.microsoft.com/office/drawing/2014/main" id="{133B9AE4-2C11-F4CF-424B-441209E71D75}"/>
              </a:ext>
            </a:extLst>
          </p:cNvPr>
          <p:cNvGraphicFramePr>
            <a:graphicFrameLocks noGrp="1"/>
          </p:cNvGraphicFramePr>
          <p:nvPr>
            <p:extLst>
              <p:ext uri="{D42A27DB-BD31-4B8C-83A1-F6EECF244321}">
                <p14:modId xmlns:p14="http://schemas.microsoft.com/office/powerpoint/2010/main" val="1804020075"/>
              </p:ext>
            </p:extLst>
          </p:nvPr>
        </p:nvGraphicFramePr>
        <p:xfrm>
          <a:off x="1499616" y="1970791"/>
          <a:ext cx="6553199" cy="2771620"/>
        </p:xfrm>
        <a:graphic>
          <a:graphicData uri="http://schemas.openxmlformats.org/drawingml/2006/table">
            <a:tbl>
              <a:tblPr firstRow="1" firstCol="1" bandRow="1">
                <a:tableStyleId>{D7AC3CCA-C797-4891-BE02-D94E43425B78}</a:tableStyleId>
              </a:tblPr>
              <a:tblGrid>
                <a:gridCol w="3299407">
                  <a:extLst>
                    <a:ext uri="{9D8B030D-6E8A-4147-A177-3AD203B41FA5}">
                      <a16:colId xmlns:a16="http://schemas.microsoft.com/office/drawing/2014/main" val="1294073078"/>
                    </a:ext>
                  </a:extLst>
                </a:gridCol>
                <a:gridCol w="1626896">
                  <a:extLst>
                    <a:ext uri="{9D8B030D-6E8A-4147-A177-3AD203B41FA5}">
                      <a16:colId xmlns:a16="http://schemas.microsoft.com/office/drawing/2014/main" val="980661263"/>
                    </a:ext>
                  </a:extLst>
                </a:gridCol>
                <a:gridCol w="1626896">
                  <a:extLst>
                    <a:ext uri="{9D8B030D-6E8A-4147-A177-3AD203B41FA5}">
                      <a16:colId xmlns:a16="http://schemas.microsoft.com/office/drawing/2014/main" val="3962003089"/>
                    </a:ext>
                  </a:extLst>
                </a:gridCol>
              </a:tblGrid>
              <a:tr h="61448">
                <a:tc>
                  <a:txBody>
                    <a:bodyPr/>
                    <a:lstStyle/>
                    <a:p>
                      <a:pPr algn="l" fontAlgn="b"/>
                      <a:r>
                        <a:rPr lang="en-US" sz="1400" b="1" u="none" strike="noStrike" dirty="0">
                          <a:solidFill>
                            <a:srgbClr val="003399"/>
                          </a:solidFill>
                          <a:effectLst/>
                        </a:rPr>
                        <a:t>Descriptive Statistics</a:t>
                      </a:r>
                      <a:endParaRPr lang="en-US" sz="1400" b="1" i="0" u="none" strike="noStrike" dirty="0">
                        <a:solidFill>
                          <a:srgbClr val="003399"/>
                        </a:solidFill>
                        <a:effectLst/>
                        <a:latin typeface="Calibri" panose="020F0502020204030204" pitchFamily="34" charset="0"/>
                      </a:endParaRPr>
                    </a:p>
                  </a:txBody>
                  <a:tcPr marL="9525" marR="9525" marT="9525" marB="0" anchor="b"/>
                </a:tc>
                <a:tc>
                  <a:txBody>
                    <a:bodyPr/>
                    <a:lstStyle/>
                    <a:p>
                      <a:pPr algn="l" fontAlgn="b"/>
                      <a:r>
                        <a:rPr lang="en-US" sz="1400" b="1" u="none" strike="noStrike" dirty="0">
                          <a:solidFill>
                            <a:srgbClr val="003399"/>
                          </a:solidFill>
                          <a:effectLst/>
                        </a:rPr>
                        <a:t>Excel Function</a:t>
                      </a:r>
                      <a:endParaRPr lang="en-US" sz="1400" b="1" i="0" u="none" strike="noStrike" dirty="0">
                        <a:solidFill>
                          <a:srgbClr val="003399"/>
                        </a:solidFill>
                        <a:effectLst/>
                        <a:latin typeface="Calibri" panose="020F0502020204030204" pitchFamily="34" charset="0"/>
                      </a:endParaRPr>
                    </a:p>
                  </a:txBody>
                  <a:tcPr marL="9525" marR="9525" marT="9525" marB="0" anchor="b"/>
                </a:tc>
                <a:tc>
                  <a:txBody>
                    <a:bodyPr/>
                    <a:lstStyle/>
                    <a:p>
                      <a:pPr algn="l" fontAlgn="b"/>
                      <a:r>
                        <a:rPr lang="en-US" sz="1400" b="1" u="none" strike="noStrike" dirty="0">
                          <a:solidFill>
                            <a:srgbClr val="003399"/>
                          </a:solidFill>
                          <a:effectLst/>
                        </a:rPr>
                        <a:t>R Function</a:t>
                      </a:r>
                      <a:endParaRPr lang="en-US" sz="1400" b="1" i="0" u="none" strike="noStrike" dirty="0">
                        <a:solidFill>
                          <a:srgbClr val="003399"/>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02272009"/>
                  </a:ext>
                </a:extLst>
              </a:tr>
              <a:tr h="262735">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Number of data items</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COUNT(x)</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length(x)</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283600055"/>
                  </a:ext>
                </a:extLst>
              </a:tr>
              <a:tr h="190500">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Largest data value</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MAX(x)</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a:solidFill>
                            <a:srgbClr val="000000"/>
                          </a:solidFill>
                          <a:effectLst/>
                          <a:latin typeface="Arial" panose="020B0604020202020204" pitchFamily="34" charset="0"/>
                          <a:cs typeface="Arial" panose="020B0604020202020204" pitchFamily="34" charset="0"/>
                        </a:rPr>
                        <a:t>max(x)</a:t>
                      </a: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913418393"/>
                  </a:ext>
                </a:extLst>
              </a:tr>
              <a:tr h="190500">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Smallest data value</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MIN(x)</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a:solidFill>
                            <a:srgbClr val="000000"/>
                          </a:solidFill>
                          <a:effectLst/>
                          <a:latin typeface="Arial" panose="020B0604020202020204" pitchFamily="34" charset="0"/>
                          <a:cs typeface="Arial" panose="020B0604020202020204" pitchFamily="34" charset="0"/>
                        </a:rPr>
                        <a:t>min(x)</a:t>
                      </a: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93700728"/>
                  </a:ext>
                </a:extLst>
              </a:tr>
              <a:tr h="190500">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Mean</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a:solidFill>
                            <a:srgbClr val="000000"/>
                          </a:solidFill>
                          <a:effectLst/>
                          <a:latin typeface="Arial" panose="020B0604020202020204" pitchFamily="34" charset="0"/>
                          <a:cs typeface="Arial" panose="020B0604020202020204" pitchFamily="34" charset="0"/>
                        </a:rPr>
                        <a:t>AVERAGE(x)</a:t>
                      </a: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mean(x)</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717121650"/>
                  </a:ext>
                </a:extLst>
              </a:tr>
              <a:tr h="190500">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Median</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MEDIAN(x)</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median(x)</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429678313"/>
                  </a:ext>
                </a:extLst>
              </a:tr>
              <a:tr h="190500">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Geometric mean (positive data values)</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GEOMEAN(x)</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a:solidFill>
                            <a:srgbClr val="000000"/>
                          </a:solidFill>
                          <a:effectLst/>
                          <a:latin typeface="Arial" panose="020B0604020202020204" pitchFamily="34" charset="0"/>
                          <a:cs typeface="Arial" panose="020B0604020202020204" pitchFamily="34" charset="0"/>
                        </a:rPr>
                        <a:t>exp(mean(log(x)))</a:t>
                      </a: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428939698"/>
                  </a:ext>
                </a:extLst>
              </a:tr>
              <a:tr h="190500">
                <a:tc>
                  <a:txBody>
                    <a:bodyPr/>
                    <a:lstStyle/>
                    <a:p>
                      <a:pPr algn="l" fontAlgn="b"/>
                      <a:r>
                        <a:rPr lang="en-US" sz="1100" b="0" u="none" strike="noStrike">
                          <a:solidFill>
                            <a:srgbClr val="000000"/>
                          </a:solidFill>
                          <a:effectLst/>
                          <a:latin typeface="Arial" panose="020B0604020202020204" pitchFamily="34" charset="0"/>
                          <a:cs typeface="Arial" panose="020B0604020202020204" pitchFamily="34" charset="0"/>
                        </a:rPr>
                        <a:t>Average deviation around the mean</a:t>
                      </a: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AVDEV(x)</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mad(x)</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852951070"/>
                  </a:ext>
                </a:extLst>
              </a:tr>
              <a:tr h="190500">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Quartile k  = 1, 2, 3 for 25%, 50%, 75%</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QUARTILE.EXC(x, k)</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quantile(x, p, type=6)</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875152143"/>
                  </a:ext>
                </a:extLst>
              </a:tr>
              <a:tr h="190500">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Percentile p  e.g., p = .25 for 25%</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PERCENTILE.EXC(x, p)</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quantile(x, p, type=6)</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203488909"/>
                  </a:ext>
                </a:extLst>
              </a:tr>
              <a:tr h="190500">
                <a:tc>
                  <a:txBody>
                    <a:bodyPr/>
                    <a:lstStyle/>
                    <a:p>
                      <a:pPr algn="l" fontAlgn="b"/>
                      <a:r>
                        <a:rPr lang="en-US" sz="1100" b="0" u="none" strike="noStrike">
                          <a:solidFill>
                            <a:srgbClr val="000000"/>
                          </a:solidFill>
                          <a:effectLst/>
                          <a:latin typeface="Arial" panose="020B0604020202020204" pitchFamily="34" charset="0"/>
                          <a:cs typeface="Arial" panose="020B0604020202020204" pitchFamily="34" charset="0"/>
                        </a:rPr>
                        <a:t>Sample standard deviation</a:t>
                      </a: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STDEV.S(x)</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dirty="0" err="1">
                          <a:solidFill>
                            <a:srgbClr val="000000"/>
                          </a:solidFill>
                          <a:effectLst/>
                          <a:latin typeface="Arial" panose="020B0604020202020204" pitchFamily="34" charset="0"/>
                          <a:cs typeface="Arial" panose="020B0604020202020204" pitchFamily="34" charset="0"/>
                        </a:rPr>
                        <a:t>sd</a:t>
                      </a:r>
                      <a:r>
                        <a:rPr lang="en-US" sz="1100" b="0" u="none" strike="noStrike" dirty="0">
                          <a:solidFill>
                            <a:srgbClr val="000000"/>
                          </a:solidFill>
                          <a:effectLst/>
                          <a:latin typeface="Arial" panose="020B0604020202020204" pitchFamily="34" charset="0"/>
                          <a:cs typeface="Arial" panose="020B0604020202020204" pitchFamily="34" charset="0"/>
                        </a:rPr>
                        <a:t>(x)</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540407689"/>
                  </a:ext>
                </a:extLst>
              </a:tr>
              <a:tr h="190500">
                <a:tc>
                  <a:txBody>
                    <a:bodyPr/>
                    <a:lstStyle/>
                    <a:p>
                      <a:pPr algn="l" fontAlgn="b"/>
                      <a:r>
                        <a:rPr lang="en-US" sz="1100" b="0" u="none" strike="noStrike">
                          <a:solidFill>
                            <a:srgbClr val="000000"/>
                          </a:solidFill>
                          <a:effectLst/>
                          <a:latin typeface="Arial" panose="020B0604020202020204" pitchFamily="34" charset="0"/>
                          <a:cs typeface="Arial" panose="020B0604020202020204" pitchFamily="34" charset="0"/>
                        </a:rPr>
                        <a:t>Sample covariance for (X,Y) data pairs</a:t>
                      </a: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COVARIANCE.S(x, y)</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dirty="0" err="1">
                          <a:solidFill>
                            <a:srgbClr val="000000"/>
                          </a:solidFill>
                          <a:effectLst/>
                          <a:latin typeface="Arial" panose="020B0604020202020204" pitchFamily="34" charset="0"/>
                          <a:cs typeface="Arial" panose="020B0604020202020204" pitchFamily="34" charset="0"/>
                        </a:rPr>
                        <a:t>cov</a:t>
                      </a:r>
                      <a:r>
                        <a:rPr lang="en-US" sz="1100" b="0" u="none" strike="noStrike" dirty="0">
                          <a:solidFill>
                            <a:srgbClr val="000000"/>
                          </a:solidFill>
                          <a:effectLst/>
                          <a:latin typeface="Arial" panose="020B0604020202020204" pitchFamily="34" charset="0"/>
                          <a:cs typeface="Arial" panose="020B0604020202020204" pitchFamily="34" charset="0"/>
                        </a:rPr>
                        <a:t>(x, y)</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161415882"/>
                  </a:ext>
                </a:extLst>
              </a:tr>
              <a:tr h="190500">
                <a:tc>
                  <a:txBody>
                    <a:bodyPr/>
                    <a:lstStyle/>
                    <a:p>
                      <a:pPr algn="l" fontAlgn="b"/>
                      <a:r>
                        <a:rPr lang="en-US" sz="1100" b="0" u="none" strike="noStrike">
                          <a:solidFill>
                            <a:srgbClr val="000000"/>
                          </a:solidFill>
                          <a:effectLst/>
                          <a:latin typeface="Arial" panose="020B0604020202020204" pitchFamily="34" charset="0"/>
                          <a:cs typeface="Arial" panose="020B0604020202020204" pitchFamily="34" charset="0"/>
                        </a:rPr>
                        <a:t>Standardize an X value</a:t>
                      </a: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a:solidFill>
                            <a:srgbClr val="000000"/>
                          </a:solidFill>
                          <a:effectLst/>
                          <a:latin typeface="Arial" panose="020B0604020202020204" pitchFamily="34" charset="0"/>
                          <a:cs typeface="Arial" panose="020B0604020202020204" pitchFamily="34" charset="0"/>
                        </a:rPr>
                        <a:t>STANDARDIZE(x, µ, </a:t>
                      </a:r>
                      <a:r>
                        <a:rPr lang="el-GR" sz="1100" b="0" u="none" strike="noStrike">
                          <a:solidFill>
                            <a:srgbClr val="000000"/>
                          </a:solidFill>
                          <a:effectLst/>
                          <a:latin typeface="Arial" panose="020B0604020202020204" pitchFamily="34" charset="0"/>
                          <a:cs typeface="Arial" panose="020B0604020202020204" pitchFamily="34" charset="0"/>
                        </a:rPr>
                        <a:t>σ)</a:t>
                      </a:r>
                      <a:endParaRPr lang="el-GR"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(x-mean(x))/</a:t>
                      </a:r>
                      <a:r>
                        <a:rPr lang="en-US" sz="1100" b="0" u="none" strike="noStrike" dirty="0" err="1">
                          <a:solidFill>
                            <a:srgbClr val="000000"/>
                          </a:solidFill>
                          <a:effectLst/>
                          <a:latin typeface="Arial" panose="020B0604020202020204" pitchFamily="34" charset="0"/>
                          <a:cs typeface="Arial" panose="020B0604020202020204" pitchFamily="34" charset="0"/>
                        </a:rPr>
                        <a:t>sd</a:t>
                      </a:r>
                      <a:r>
                        <a:rPr lang="en-US" sz="1100" b="0" u="none" strike="noStrike" dirty="0">
                          <a:solidFill>
                            <a:srgbClr val="000000"/>
                          </a:solidFill>
                          <a:effectLst/>
                          <a:latin typeface="Arial" panose="020B0604020202020204" pitchFamily="34" charset="0"/>
                          <a:cs typeface="Arial" panose="020B0604020202020204" pitchFamily="34" charset="0"/>
                        </a:rPr>
                        <a:t>(x)</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004150109"/>
                  </a:ext>
                </a:extLst>
              </a:tr>
              <a:tr h="190500">
                <a:tc>
                  <a:txBody>
                    <a:bodyPr/>
                    <a:lstStyle/>
                    <a:p>
                      <a:pPr algn="l" fontAlgn="b"/>
                      <a:r>
                        <a:rPr lang="en-US" sz="1100" b="0" u="none" strike="noStrike">
                          <a:solidFill>
                            <a:srgbClr val="000000"/>
                          </a:solidFill>
                          <a:effectLst/>
                          <a:latin typeface="Arial" panose="020B0604020202020204" pitchFamily="34" charset="0"/>
                          <a:cs typeface="Arial" panose="020B0604020202020204" pitchFamily="34" charset="0"/>
                        </a:rPr>
                        <a:t>Correlation coefficient for (X,Y) data pairs</a:t>
                      </a: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dirty="0">
                          <a:solidFill>
                            <a:srgbClr val="000000"/>
                          </a:solidFill>
                          <a:effectLst/>
                          <a:latin typeface="Arial" panose="020B0604020202020204" pitchFamily="34" charset="0"/>
                          <a:cs typeface="Arial" panose="020B0604020202020204" pitchFamily="34" charset="0"/>
                        </a:rPr>
                        <a:t>CORREL(x, y)</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100" b="0" u="none" strike="noStrike" dirty="0" err="1">
                          <a:solidFill>
                            <a:srgbClr val="000000"/>
                          </a:solidFill>
                          <a:effectLst/>
                          <a:latin typeface="Arial" panose="020B0604020202020204" pitchFamily="34" charset="0"/>
                          <a:cs typeface="Arial" panose="020B0604020202020204" pitchFamily="34" charset="0"/>
                        </a:rPr>
                        <a:t>cor</a:t>
                      </a:r>
                      <a:r>
                        <a:rPr lang="en-US" sz="1100" b="0" u="none" strike="noStrike" dirty="0">
                          <a:solidFill>
                            <a:srgbClr val="000000"/>
                          </a:solidFill>
                          <a:effectLst/>
                          <a:latin typeface="Arial" panose="020B0604020202020204" pitchFamily="34" charset="0"/>
                          <a:cs typeface="Arial" panose="020B0604020202020204" pitchFamily="34" charset="0"/>
                        </a:rPr>
                        <a:t>(x, y)</a:t>
                      </a:r>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95871921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14400" y="457200"/>
            <a:ext cx="7772400" cy="768096"/>
          </a:xfrm>
        </p:spPr>
        <p:txBody>
          <a:bodyPr>
            <a:normAutofit/>
          </a:bodyPr>
          <a:lstStyle/>
          <a:p>
            <a:pPr algn="ctr">
              <a:defRPr/>
            </a:pPr>
            <a:r>
              <a:rPr lang="en-US" sz="36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Numerical Statistics</a:t>
            </a:r>
          </a:p>
        </p:txBody>
      </p:sp>
      <p:sp>
        <p:nvSpPr>
          <p:cNvPr id="17411" name="Text Box 5"/>
          <p:cNvSpPr txBox="1">
            <a:spLocks noChangeArrowheads="1"/>
          </p:cNvSpPr>
          <p:nvPr/>
        </p:nvSpPr>
        <p:spPr bwMode="auto">
          <a:xfrm>
            <a:off x="2089404" y="4989434"/>
            <a:ext cx="536448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i="1" dirty="0">
                <a:solidFill>
                  <a:srgbClr val="C00000"/>
                </a:solidFill>
              </a:rPr>
              <a:t>Interpretation: </a:t>
            </a:r>
            <a:r>
              <a:rPr lang="en-US" sz="1400" dirty="0">
                <a:solidFill>
                  <a:schemeClr val="accent1">
                    <a:lumMod val="50000"/>
                  </a:schemeClr>
                </a:solidFill>
              </a:rPr>
              <a:t>The mean slightly exceeds the median, suggesting right-skewness. The interquartile range (middle 50%) is 7 to 23 years. The kurtosis statistic hints at a flatter-than-normal distribution, and the data do not conform well to the Empirical Rule for a normal distribution. There are no outliers.</a:t>
            </a:r>
          </a:p>
        </p:txBody>
      </p:sp>
      <p:pic>
        <p:nvPicPr>
          <p:cNvPr id="5" name="Picture 4"/>
          <p:cNvPicPr>
            <a:picLocks noChangeAspect="1"/>
          </p:cNvPicPr>
          <p:nvPr/>
        </p:nvPicPr>
        <p:blipFill>
          <a:blip r:embed="rId2"/>
          <a:stretch>
            <a:fillRect/>
          </a:stretch>
        </p:blipFill>
        <p:spPr>
          <a:xfrm>
            <a:off x="2095500" y="1283790"/>
            <a:ext cx="4953000" cy="3454417"/>
          </a:xfrm>
          <a:prstGeom prst="rect">
            <a:avLst/>
          </a:prstGeom>
        </p:spPr>
      </p:pic>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91412" y="4976652"/>
            <a:ext cx="685800" cy="657935"/>
          </a:xfrm>
          <a:prstGeom prst="rect">
            <a:avLst/>
          </a:prstGeom>
        </p:spPr>
      </p:pic>
      <p:sp>
        <p:nvSpPr>
          <p:cNvPr id="6" name="Text Box 5">
            <a:extLst>
              <a:ext uri="{FF2B5EF4-FFF2-40B4-BE49-F238E27FC236}">
                <a16:creationId xmlns:a16="http://schemas.microsoft.com/office/drawing/2014/main" id="{0E78DD87-6846-E126-EB07-0E6860933FAC}"/>
              </a:ext>
            </a:extLst>
          </p:cNvPr>
          <p:cNvSpPr txBox="1">
            <a:spLocks noChangeArrowheads="1"/>
          </p:cNvSpPr>
          <p:nvPr/>
        </p:nvSpPr>
        <p:spPr bwMode="auto">
          <a:xfrm>
            <a:off x="3352800" y="6256323"/>
            <a:ext cx="31882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200" i="1" dirty="0">
                <a:solidFill>
                  <a:srgbClr val="C00000"/>
                </a:solidFill>
              </a:rPr>
              <a:t>Note: </a:t>
            </a:r>
            <a:r>
              <a:rPr lang="en-US" sz="1200" dirty="0">
                <a:solidFill>
                  <a:schemeClr val="accent1">
                    <a:lumMod val="50000"/>
                  </a:schemeClr>
                </a:solidFill>
              </a:rPr>
              <a:t>Table is from </a:t>
            </a:r>
            <a:r>
              <a:rPr lang="en-US" sz="1200" dirty="0" err="1">
                <a:solidFill>
                  <a:srgbClr val="003399"/>
                </a:solidFill>
              </a:rPr>
              <a:t>MegaStat</a:t>
            </a:r>
            <a:r>
              <a:rPr lang="en-US" sz="1200" baseline="30000" dirty="0" err="1">
                <a:solidFill>
                  <a:srgbClr val="003399"/>
                </a:solidFill>
              </a:rPr>
              <a:t>TM</a:t>
            </a:r>
            <a:r>
              <a:rPr lang="en-US" sz="1200" dirty="0">
                <a:solidFill>
                  <a:schemeClr val="accent1">
                    <a:lumMod val="50000"/>
                  </a:schemeClr>
                </a:solidFill>
              </a:rPr>
              <a:t>.</a:t>
            </a:r>
          </a:p>
        </p:txBody>
      </p:sp>
    </p:spTree>
    <p:extLst>
      <p:ext uri="{BB962C8B-B14F-4D97-AF65-F5344CB8AC3E}">
        <p14:creationId xmlns:p14="http://schemas.microsoft.com/office/powerpoint/2010/main" val="3348447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914400" y="457200"/>
            <a:ext cx="7772400" cy="768096"/>
          </a:xfrm>
        </p:spPr>
        <p:txBody>
          <a:bodyPr>
            <a:normAutofit/>
          </a:bodyPr>
          <a:lstStyle/>
          <a:p>
            <a:pPr algn="ctr">
              <a:defRPr/>
            </a:pPr>
            <a:r>
              <a:rPr lang="en-US" sz="36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Excel Statistics</a:t>
            </a:r>
          </a:p>
        </p:txBody>
      </p:sp>
      <p:sp>
        <p:nvSpPr>
          <p:cNvPr id="18435" name="Text Box 3"/>
          <p:cNvSpPr txBox="1">
            <a:spLocks noChangeArrowheads="1"/>
          </p:cNvSpPr>
          <p:nvPr/>
        </p:nvSpPr>
        <p:spPr bwMode="auto">
          <a:xfrm>
            <a:off x="922422" y="5231249"/>
            <a:ext cx="35052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i="1" dirty="0">
                <a:solidFill>
                  <a:srgbClr val="C00000"/>
                </a:solidFill>
              </a:rPr>
              <a:t>Note: </a:t>
            </a:r>
            <a:r>
              <a:rPr lang="en-US" sz="1400" dirty="0">
                <a:solidFill>
                  <a:schemeClr val="accent1">
                    <a:lumMod val="50000"/>
                  </a:schemeClr>
                </a:solidFill>
              </a:rPr>
              <a:t>Kurtosis and skewness statistics are adjusted for sample size and kurtosis statistic is centered at 0. Quartiles are not shown in Excel’s </a:t>
            </a:r>
            <a:r>
              <a:rPr lang="en-US" sz="1400" dirty="0">
                <a:solidFill>
                  <a:srgbClr val="003399"/>
                </a:solidFill>
              </a:rPr>
              <a:t>Descriptive Statistics</a:t>
            </a:r>
            <a:r>
              <a:rPr lang="en-US" sz="1400" dirty="0">
                <a:solidFill>
                  <a:schemeClr val="accent1">
                    <a:lumMod val="50000"/>
                  </a:schemeClr>
                </a:solidFill>
              </a:rPr>
              <a:t>. </a:t>
            </a:r>
          </a:p>
        </p:txBody>
      </p:sp>
      <p:pic>
        <p:nvPicPr>
          <p:cNvPr id="2" name="Picture 1"/>
          <p:cNvPicPr>
            <a:picLocks noChangeAspect="1"/>
          </p:cNvPicPr>
          <p:nvPr/>
        </p:nvPicPr>
        <p:blipFill>
          <a:blip r:embed="rId2"/>
          <a:stretch>
            <a:fillRect/>
          </a:stretch>
        </p:blipFill>
        <p:spPr>
          <a:xfrm>
            <a:off x="4716379" y="1247274"/>
            <a:ext cx="3705225" cy="1866900"/>
          </a:xfrm>
          <a:prstGeom prst="rect">
            <a:avLst/>
          </a:prstGeom>
        </p:spPr>
      </p:pic>
      <p:pic>
        <p:nvPicPr>
          <p:cNvPr id="5" name="Picture 4"/>
          <p:cNvPicPr>
            <a:picLocks noChangeAspect="1"/>
          </p:cNvPicPr>
          <p:nvPr/>
        </p:nvPicPr>
        <p:blipFill>
          <a:blip r:embed="rId3"/>
          <a:stretch>
            <a:fillRect/>
          </a:stretch>
        </p:blipFill>
        <p:spPr>
          <a:xfrm>
            <a:off x="4716379" y="3276600"/>
            <a:ext cx="3762375" cy="3324225"/>
          </a:xfrm>
          <a:prstGeom prst="rect">
            <a:avLst/>
          </a:prstGeom>
        </p:spPr>
      </p:pic>
      <p:pic>
        <p:nvPicPr>
          <p:cNvPr id="6" name="Picture 5"/>
          <p:cNvPicPr>
            <a:picLocks noChangeAspect="1"/>
          </p:cNvPicPr>
          <p:nvPr/>
        </p:nvPicPr>
        <p:blipFill>
          <a:blip r:embed="rId4"/>
          <a:stretch>
            <a:fillRect/>
          </a:stretch>
        </p:blipFill>
        <p:spPr>
          <a:xfrm>
            <a:off x="1066800" y="1371600"/>
            <a:ext cx="2819400" cy="3668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914400" y="457200"/>
            <a:ext cx="7772400" cy="768096"/>
          </a:xfrm>
        </p:spPr>
        <p:txBody>
          <a:bodyPr>
            <a:normAutofit/>
          </a:bodyPr>
          <a:lstStyle/>
          <a:p>
            <a:pPr algn="ctr">
              <a:defRPr/>
            </a:pPr>
            <a:r>
              <a:rPr lang="en-US" sz="36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Google Sheets?</a:t>
            </a:r>
          </a:p>
        </p:txBody>
      </p:sp>
      <p:sp>
        <p:nvSpPr>
          <p:cNvPr id="7" name="Text Box 18">
            <a:extLst>
              <a:ext uri="{FF2B5EF4-FFF2-40B4-BE49-F238E27FC236}">
                <a16:creationId xmlns:a16="http://schemas.microsoft.com/office/drawing/2014/main" id="{B3A87BF1-16D3-4A86-639B-A139A1360D04}"/>
              </a:ext>
            </a:extLst>
          </p:cNvPr>
          <p:cNvSpPr txBox="1">
            <a:spLocks noChangeArrowheads="1"/>
          </p:cNvSpPr>
          <p:nvPr/>
        </p:nvSpPr>
        <p:spPr bwMode="auto">
          <a:xfrm>
            <a:off x="1627632" y="1449702"/>
            <a:ext cx="568756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dirty="0">
                <a:solidFill>
                  <a:srgbClr val="080808"/>
                </a:solidFill>
              </a:rPr>
              <a:t>The </a:t>
            </a:r>
            <a:r>
              <a:rPr lang="en-US" sz="1400" dirty="0">
                <a:solidFill>
                  <a:srgbClr val="003399"/>
                </a:solidFill>
              </a:rPr>
              <a:t>Statistical Analysis Tools</a:t>
            </a:r>
            <a:r>
              <a:rPr lang="en-US" sz="1400" dirty="0">
                <a:solidFill>
                  <a:srgbClr val="080808"/>
                </a:solidFill>
              </a:rPr>
              <a:t> add-in resembles Excel’s </a:t>
            </a:r>
            <a:r>
              <a:rPr lang="en-US" sz="1400" dirty="0">
                <a:solidFill>
                  <a:srgbClr val="003399"/>
                </a:solidFill>
              </a:rPr>
              <a:t>Data Analysis, </a:t>
            </a:r>
            <a:r>
              <a:rPr lang="en-US" sz="1400" dirty="0">
                <a:solidFill>
                  <a:srgbClr val="080808"/>
                </a:solidFill>
              </a:rPr>
              <a:t> but you must pay a fee to activate it (unless your university or employer has obtained a license). Other add-ins (not free) such as </a:t>
            </a:r>
            <a:r>
              <a:rPr lang="en-US" sz="1400" dirty="0" err="1">
                <a:solidFill>
                  <a:srgbClr val="003399"/>
                </a:solidFill>
              </a:rPr>
              <a:t>XLMiner</a:t>
            </a:r>
            <a:r>
              <a:rPr lang="en-US" sz="1400" dirty="0">
                <a:solidFill>
                  <a:srgbClr val="080808"/>
                </a:solidFill>
              </a:rPr>
              <a:t> are also available in Google Sheets.</a:t>
            </a:r>
          </a:p>
        </p:txBody>
      </p:sp>
      <p:pic>
        <p:nvPicPr>
          <p:cNvPr id="8" name="Picture 7">
            <a:extLst>
              <a:ext uri="{FF2B5EF4-FFF2-40B4-BE49-F238E27FC236}">
                <a16:creationId xmlns:a16="http://schemas.microsoft.com/office/drawing/2014/main" id="{31AC19E4-976E-861B-C55B-FB32BDFFB654}"/>
              </a:ext>
            </a:extLst>
          </p:cNvPr>
          <p:cNvPicPr>
            <a:picLocks noChangeAspect="1"/>
          </p:cNvPicPr>
          <p:nvPr/>
        </p:nvPicPr>
        <p:blipFill>
          <a:blip r:embed="rId2"/>
          <a:stretch>
            <a:fillRect/>
          </a:stretch>
        </p:blipFill>
        <p:spPr>
          <a:xfrm>
            <a:off x="2362200" y="2743365"/>
            <a:ext cx="3657962" cy="3604169"/>
          </a:xfrm>
          <a:prstGeom prst="rect">
            <a:avLst/>
          </a:prstGeom>
        </p:spPr>
      </p:pic>
      <p:sp>
        <p:nvSpPr>
          <p:cNvPr id="9" name="Oval 8">
            <a:extLst>
              <a:ext uri="{FF2B5EF4-FFF2-40B4-BE49-F238E27FC236}">
                <a16:creationId xmlns:a16="http://schemas.microsoft.com/office/drawing/2014/main" id="{7D77F3E0-6DA7-B52F-873C-760169C80415}"/>
              </a:ext>
            </a:extLst>
          </p:cNvPr>
          <p:cNvSpPr/>
          <p:nvPr/>
        </p:nvSpPr>
        <p:spPr>
          <a:xfrm>
            <a:off x="4267200" y="4258595"/>
            <a:ext cx="914400" cy="266513"/>
          </a:xfrm>
          <a:prstGeom prst="ellipse">
            <a:avLst/>
          </a:prstGeom>
          <a:solidFill>
            <a:srgbClr val="FFFF00">
              <a:alpha val="17000"/>
            </a:srgbClr>
          </a:solidFill>
          <a:ln w="12700">
            <a:solidFill>
              <a:srgbClr val="FF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69E056D-BB79-8863-7F83-D4A2BD3D9858}"/>
              </a:ext>
            </a:extLst>
          </p:cNvPr>
          <p:cNvSpPr/>
          <p:nvPr/>
        </p:nvSpPr>
        <p:spPr>
          <a:xfrm>
            <a:off x="2514600" y="2710402"/>
            <a:ext cx="609600" cy="266513"/>
          </a:xfrm>
          <a:prstGeom prst="ellipse">
            <a:avLst/>
          </a:prstGeom>
          <a:solidFill>
            <a:srgbClr val="FFFF00">
              <a:alpha val="17000"/>
            </a:srgbClr>
          </a:solidFill>
          <a:ln w="12700">
            <a:solidFill>
              <a:srgbClr val="FF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84387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914400" y="457200"/>
            <a:ext cx="7772400" cy="768096"/>
          </a:xfrm>
        </p:spPr>
        <p:txBody>
          <a:bodyPr>
            <a:normAutofit/>
          </a:bodyPr>
          <a:lstStyle/>
          <a:p>
            <a:pPr algn="ctr">
              <a:defRPr/>
            </a:pPr>
            <a:r>
              <a:rPr lang="en-US" sz="36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Standardizing</a:t>
            </a:r>
          </a:p>
        </p:txBody>
      </p:sp>
      <p:sp>
        <p:nvSpPr>
          <p:cNvPr id="19459" name="Text Box 3"/>
          <p:cNvSpPr txBox="1">
            <a:spLocks noChangeArrowheads="1"/>
          </p:cNvSpPr>
          <p:nvPr/>
        </p:nvSpPr>
        <p:spPr bwMode="auto">
          <a:xfrm>
            <a:off x="5334000" y="3984928"/>
            <a:ext cx="2895600"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i="1" dirty="0">
                <a:solidFill>
                  <a:srgbClr val="C00000"/>
                </a:solidFill>
              </a:rPr>
              <a:t>Interpretation: </a:t>
            </a:r>
            <a:r>
              <a:rPr lang="en-US" sz="1400" dirty="0">
                <a:solidFill>
                  <a:schemeClr val="accent1">
                    <a:lumMod val="50000"/>
                  </a:schemeClr>
                </a:solidFill>
              </a:rPr>
              <a:t>Three justices served 1 year (less than two standard deviations below the mean).  The longest serving (Douglas at 36 years) is not an outlier (within three standard deviations of the mean).</a:t>
            </a:r>
          </a:p>
        </p:txBody>
      </p:sp>
      <p:sp>
        <p:nvSpPr>
          <p:cNvPr id="20490" name="Text Box 10"/>
          <p:cNvSpPr txBox="1">
            <a:spLocks noChangeArrowheads="1"/>
          </p:cNvSpPr>
          <p:nvPr/>
        </p:nvSpPr>
        <p:spPr bwMode="auto">
          <a:xfrm>
            <a:off x="5039100" y="2641855"/>
            <a:ext cx="3048000" cy="633413"/>
          </a:xfrm>
          <a:prstGeom prst="rect">
            <a:avLst/>
          </a:prstGeom>
          <a:noFill/>
          <a:ln w="9525">
            <a:noFill/>
            <a:miter lim="800000"/>
            <a:headEnd/>
            <a:tailEnd/>
          </a:ln>
          <a:effectLst>
            <a:outerShdw dist="107763" dir="2700000" algn="ctr" rotWithShape="0">
              <a:schemeClr val="bg2">
                <a:alpha val="50000"/>
              </a:schemeClr>
            </a:outerShdw>
          </a:effectLst>
        </p:spPr>
        <p:txBody>
          <a:bodyPr>
            <a:spAutoFit/>
          </a:bodyPr>
          <a:lstStyle/>
          <a:p>
            <a:pPr algn="ctr">
              <a:spcBef>
                <a:spcPct val="50000"/>
              </a:spcBef>
              <a:defRPr/>
            </a:pPr>
            <a:r>
              <a:rPr lang="en-US" sz="1400" i="1" dirty="0">
                <a:solidFill>
                  <a:schemeClr val="accent1">
                    <a:lumMod val="50000"/>
                  </a:schemeClr>
                </a:solidFill>
                <a:latin typeface="Arial" panose="020B0604020202020204" pitchFamily="34" charset="0"/>
                <a:cs typeface="Arial" panose="020B0604020202020204" pitchFamily="34" charset="0"/>
              </a:rPr>
              <a:t>Standardized Data:</a:t>
            </a:r>
          </a:p>
          <a:p>
            <a:pPr algn="ctr">
              <a:spcBef>
                <a:spcPct val="50000"/>
              </a:spcBef>
              <a:defRPr/>
            </a:pPr>
            <a:r>
              <a:rPr lang="en-US" sz="1400" i="1" dirty="0" err="1">
                <a:solidFill>
                  <a:srgbClr val="080808"/>
                </a:solidFill>
                <a:latin typeface="Arial" panose="020B0604020202020204" pitchFamily="34" charset="0"/>
                <a:cs typeface="Arial" panose="020B0604020202020204" pitchFamily="34" charset="0"/>
              </a:rPr>
              <a:t>z</a:t>
            </a:r>
            <a:r>
              <a:rPr lang="en-US" sz="1400" baseline="-25000" dirty="0" err="1">
                <a:solidFill>
                  <a:srgbClr val="080808"/>
                </a:solidFill>
                <a:latin typeface="Arial" panose="020B0604020202020204" pitchFamily="34" charset="0"/>
                <a:cs typeface="Arial" panose="020B0604020202020204" pitchFamily="34" charset="0"/>
              </a:rPr>
              <a:t>i</a:t>
            </a:r>
            <a:r>
              <a:rPr lang="en-US" sz="1400" dirty="0">
                <a:solidFill>
                  <a:srgbClr val="080808"/>
                </a:solidFill>
                <a:latin typeface="Arial" panose="020B0604020202020204" pitchFamily="34" charset="0"/>
                <a:cs typeface="Arial" panose="020B0604020202020204" pitchFamily="34" charset="0"/>
              </a:rPr>
              <a:t> = (</a:t>
            </a:r>
            <a:r>
              <a:rPr lang="en-US" sz="1400" i="1" dirty="0">
                <a:solidFill>
                  <a:srgbClr val="080808"/>
                </a:solidFill>
                <a:latin typeface="Arial" panose="020B0604020202020204" pitchFamily="34" charset="0"/>
                <a:cs typeface="Arial" panose="020B0604020202020204" pitchFamily="34" charset="0"/>
              </a:rPr>
              <a:t>x</a:t>
            </a:r>
            <a:r>
              <a:rPr lang="en-US" sz="1400" baseline="-25000" dirty="0">
                <a:solidFill>
                  <a:srgbClr val="080808"/>
                </a:solidFill>
                <a:latin typeface="Arial" panose="020B0604020202020204" pitchFamily="34" charset="0"/>
                <a:cs typeface="Arial" panose="020B0604020202020204" pitchFamily="34" charset="0"/>
              </a:rPr>
              <a:t>i </a:t>
            </a:r>
            <a:r>
              <a:rPr lang="en-US" sz="1400" dirty="0">
                <a:solidFill>
                  <a:srgbClr val="080808"/>
                </a:solidFill>
                <a:latin typeface="Arial" panose="020B0604020202020204" pitchFamily="34" charset="0"/>
                <a:cs typeface="Arial" panose="020B0604020202020204" pitchFamily="34" charset="0"/>
              </a:rPr>
              <a:t>– Mean) / </a:t>
            </a:r>
            <a:r>
              <a:rPr lang="en-US" sz="1400" dirty="0" err="1">
                <a:solidFill>
                  <a:srgbClr val="080808"/>
                </a:solidFill>
                <a:latin typeface="Arial" panose="020B0604020202020204" pitchFamily="34" charset="0"/>
                <a:cs typeface="Arial" panose="020B0604020202020204" pitchFamily="34" charset="0"/>
              </a:rPr>
              <a:t>StdDev</a:t>
            </a:r>
            <a:endParaRPr lang="en-US" sz="1400" dirty="0">
              <a:solidFill>
                <a:srgbClr val="080808"/>
              </a:solidFill>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stretch>
            <a:fillRect/>
          </a:stretch>
        </p:blipFill>
        <p:spPr>
          <a:xfrm>
            <a:off x="838200" y="1604316"/>
            <a:ext cx="3399525" cy="1591967"/>
          </a:xfrm>
          <a:prstGeom prst="rect">
            <a:avLst/>
          </a:prstGeom>
        </p:spPr>
      </p:pic>
      <p:pic>
        <p:nvPicPr>
          <p:cNvPr id="4" name="Picture 3"/>
          <p:cNvPicPr>
            <a:picLocks noChangeAspect="1"/>
          </p:cNvPicPr>
          <p:nvPr/>
        </p:nvPicPr>
        <p:blipFill>
          <a:blip r:embed="rId3"/>
          <a:stretch>
            <a:fillRect/>
          </a:stretch>
        </p:blipFill>
        <p:spPr>
          <a:xfrm>
            <a:off x="838199" y="3896372"/>
            <a:ext cx="3399525" cy="1679867"/>
          </a:xfrm>
          <a:prstGeom prst="rect">
            <a:avLst/>
          </a:prstGeom>
        </p:spPr>
      </p:pic>
      <p:pic>
        <p:nvPicPr>
          <p:cNvPr id="5" name="Picture 4"/>
          <p:cNvPicPr>
            <a:picLocks noChangeAspect="1"/>
          </p:cNvPicPr>
          <p:nvPr/>
        </p:nvPicPr>
        <p:blipFill>
          <a:blip r:embed="rId4"/>
          <a:stretch>
            <a:fillRect/>
          </a:stretch>
        </p:blipFill>
        <p:spPr>
          <a:xfrm>
            <a:off x="862262" y="3283394"/>
            <a:ext cx="3399525" cy="517633"/>
          </a:xfrm>
          <a:prstGeom prst="rect">
            <a:avLst/>
          </a:prstGeom>
        </p:spPr>
      </p:pic>
      <p:sp>
        <p:nvSpPr>
          <p:cNvPr id="12" name="Text Box 3"/>
          <p:cNvSpPr txBox="1">
            <a:spLocks noChangeArrowheads="1"/>
          </p:cNvSpPr>
          <p:nvPr/>
        </p:nvSpPr>
        <p:spPr bwMode="auto">
          <a:xfrm>
            <a:off x="5193632" y="1451811"/>
            <a:ext cx="28956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i="1" dirty="0">
                <a:solidFill>
                  <a:srgbClr val="C00000"/>
                </a:solidFill>
              </a:rPr>
              <a:t>Tip: </a:t>
            </a:r>
            <a:r>
              <a:rPr lang="en-US" sz="1400" dirty="0">
                <a:solidFill>
                  <a:schemeClr val="accent1">
                    <a:lumMod val="50000"/>
                  </a:schemeClr>
                </a:solidFill>
              </a:rPr>
              <a:t>It is a good idea to sort the data and calculate a standardized </a:t>
            </a:r>
            <a:r>
              <a:rPr lang="en-US" sz="1400" i="1" dirty="0">
                <a:solidFill>
                  <a:schemeClr val="accent1">
                    <a:lumMod val="50000"/>
                  </a:schemeClr>
                </a:solidFill>
              </a:rPr>
              <a:t>z</a:t>
            </a:r>
            <a:r>
              <a:rPr lang="en-US" sz="1400" dirty="0">
                <a:solidFill>
                  <a:schemeClr val="accent1">
                    <a:lumMod val="50000"/>
                  </a:schemeClr>
                </a:solidFill>
              </a:rPr>
              <a:t> score for each data point. </a:t>
            </a:r>
          </a:p>
        </p:txBody>
      </p:sp>
      <p:pic>
        <p:nvPicPr>
          <p:cNvPr id="13" name="Pictur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11378" y="4360063"/>
            <a:ext cx="589799" cy="5658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914400" y="457200"/>
            <a:ext cx="7772400" cy="768096"/>
          </a:xfrm>
        </p:spPr>
        <p:txBody>
          <a:bodyPr>
            <a:normAutofit/>
          </a:bodyPr>
          <a:lstStyle/>
          <a:p>
            <a:pPr algn="ctr">
              <a:defRPr/>
            </a:pPr>
            <a:r>
              <a:rPr lang="en-US" sz="36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Runs Chart</a:t>
            </a:r>
          </a:p>
        </p:txBody>
      </p:sp>
      <p:sp>
        <p:nvSpPr>
          <p:cNvPr id="20484" name="Text Box 3"/>
          <p:cNvSpPr txBox="1">
            <a:spLocks noChangeArrowheads="1"/>
          </p:cNvSpPr>
          <p:nvPr/>
        </p:nvSpPr>
        <p:spPr bwMode="auto">
          <a:xfrm>
            <a:off x="2427612" y="1443528"/>
            <a:ext cx="441615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dirty="0">
                <a:solidFill>
                  <a:srgbClr val="000000"/>
                </a:solidFill>
              </a:rPr>
              <a:t>A runs chart plots the data points in the same order they appear on the list, to look for trends or patterns.</a:t>
            </a:r>
          </a:p>
        </p:txBody>
      </p:sp>
      <p:pic>
        <p:nvPicPr>
          <p:cNvPr id="3" name="Picture 2"/>
          <p:cNvPicPr>
            <a:picLocks noChangeAspect="1"/>
          </p:cNvPicPr>
          <p:nvPr/>
        </p:nvPicPr>
        <p:blipFill>
          <a:blip r:embed="rId2"/>
          <a:stretch>
            <a:fillRect/>
          </a:stretch>
        </p:blipFill>
        <p:spPr>
          <a:xfrm>
            <a:off x="2049785" y="2095234"/>
            <a:ext cx="5090601" cy="3212870"/>
          </a:xfrm>
          <a:prstGeom prst="rect">
            <a:avLst/>
          </a:prstGeom>
        </p:spPr>
      </p:pic>
      <p:sp>
        <p:nvSpPr>
          <p:cNvPr id="5" name="Text Box 3"/>
          <p:cNvSpPr txBox="1">
            <a:spLocks noChangeArrowheads="1"/>
          </p:cNvSpPr>
          <p:nvPr/>
        </p:nvSpPr>
        <p:spPr bwMode="auto">
          <a:xfrm>
            <a:off x="2667000" y="5655619"/>
            <a:ext cx="4970903"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i="1" dirty="0">
                <a:solidFill>
                  <a:srgbClr val="C00000"/>
                </a:solidFill>
              </a:rPr>
              <a:t>Interpretation:</a:t>
            </a:r>
            <a:r>
              <a:rPr lang="en-US" sz="1400" dirty="0">
                <a:solidFill>
                  <a:srgbClr val="C00000"/>
                </a:solidFill>
              </a:rPr>
              <a:t> </a:t>
            </a:r>
            <a:r>
              <a:rPr lang="en-US" sz="1400" dirty="0">
                <a:solidFill>
                  <a:schemeClr val="accent1">
                    <a:lumMod val="50000"/>
                  </a:schemeClr>
                </a:solidFill>
              </a:rPr>
              <a:t>A slight upward trend may exist years served by recent appointees, but there is much variation around the mean (15.86 years). This chart is from </a:t>
            </a:r>
            <a:r>
              <a:rPr lang="en-US" sz="1400" dirty="0" err="1">
                <a:solidFill>
                  <a:schemeClr val="accent1">
                    <a:lumMod val="50000"/>
                  </a:schemeClr>
                </a:solidFill>
              </a:rPr>
              <a:t>MegaStat</a:t>
            </a:r>
            <a:r>
              <a:rPr lang="en-US" sz="1400" dirty="0">
                <a:solidFill>
                  <a:schemeClr val="accent1">
                    <a:lumMod val="50000"/>
                  </a:schemeClr>
                </a:solidFill>
              </a:rPr>
              <a:t>.</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90927" y="5653944"/>
            <a:ext cx="589799" cy="5658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914400" y="457200"/>
            <a:ext cx="7772400" cy="768096"/>
          </a:xfrm>
        </p:spPr>
        <p:txBody>
          <a:bodyPr>
            <a:normAutofit/>
          </a:bodyPr>
          <a:lstStyle/>
          <a:p>
            <a:pPr algn="ctr" eaLnBrk="1" hangingPunct="1">
              <a:defRPr/>
            </a:pPr>
            <a:r>
              <a:rPr lang="en-US" sz="3600" b="1" dirty="0">
                <a:solidFill>
                  <a:srgbClr val="0000FF"/>
                </a:solidFill>
                <a:effectLst>
                  <a:outerShdw blurRad="38100" dist="38100" dir="2700000" algn="tl">
                    <a:srgbClr val="000000"/>
                  </a:outerShdw>
                </a:effectLst>
                <a:latin typeface="Arial" panose="020B0604020202020204" pitchFamily="34" charset="0"/>
                <a:cs typeface="Arial" panose="020B0604020202020204" pitchFamily="34" charset="0"/>
              </a:rPr>
              <a:t>Summary</a:t>
            </a:r>
          </a:p>
        </p:txBody>
      </p:sp>
      <p:sp>
        <p:nvSpPr>
          <p:cNvPr id="22531" name="Text Box 10"/>
          <p:cNvSpPr txBox="1">
            <a:spLocks noChangeArrowheads="1"/>
          </p:cNvSpPr>
          <p:nvPr/>
        </p:nvSpPr>
        <p:spPr bwMode="auto">
          <a:xfrm>
            <a:off x="1733550" y="1752600"/>
            <a:ext cx="6134100"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342900" indent="-342900" eaLnBrk="1" hangingPunct="1">
              <a:spcBef>
                <a:spcPct val="50000"/>
              </a:spcBef>
              <a:buClr>
                <a:srgbClr val="0000FF"/>
              </a:buClr>
              <a:buFont typeface="Arial" panose="020B0604020202020204" pitchFamily="34" charset="0"/>
              <a:buChar char="•"/>
            </a:pPr>
            <a:r>
              <a:rPr lang="en-US" sz="2000" dirty="0">
                <a:solidFill>
                  <a:schemeClr val="accent1">
                    <a:lumMod val="50000"/>
                  </a:schemeClr>
                </a:solidFill>
              </a:rPr>
              <a:t>   The data would like to tell a story</a:t>
            </a:r>
          </a:p>
          <a:p>
            <a:pPr marL="342900" indent="-342900" eaLnBrk="1" hangingPunct="1">
              <a:spcBef>
                <a:spcPct val="50000"/>
              </a:spcBef>
              <a:buClr>
                <a:srgbClr val="0000FF"/>
              </a:buClr>
              <a:buFont typeface="Arial" panose="020B0604020202020204" pitchFamily="34" charset="0"/>
              <a:buChar char="•"/>
            </a:pPr>
            <a:r>
              <a:rPr lang="en-US" sz="2000" dirty="0">
                <a:solidFill>
                  <a:schemeClr val="accent1">
                    <a:lumMod val="50000"/>
                  </a:schemeClr>
                </a:solidFill>
              </a:rPr>
              <a:t>   Statistical tools let the data "talk" to us</a:t>
            </a:r>
          </a:p>
          <a:p>
            <a:pPr marL="342900" indent="-342900" eaLnBrk="1" hangingPunct="1">
              <a:spcBef>
                <a:spcPct val="50000"/>
              </a:spcBef>
              <a:buClr>
                <a:srgbClr val="0000FF"/>
              </a:buClr>
              <a:buFont typeface="Arial" panose="020B0604020202020204" pitchFamily="34" charset="0"/>
              <a:buChar char="•"/>
            </a:pPr>
            <a:r>
              <a:rPr lang="en-US" sz="2000" dirty="0">
                <a:solidFill>
                  <a:schemeClr val="accent1">
                    <a:lumMod val="50000"/>
                  </a:schemeClr>
                </a:solidFill>
              </a:rPr>
              <a:t>   Pictures may be better than numbers</a:t>
            </a:r>
          </a:p>
          <a:p>
            <a:pPr marL="342900" indent="-342900" eaLnBrk="1" hangingPunct="1">
              <a:spcBef>
                <a:spcPct val="50000"/>
              </a:spcBef>
              <a:buClr>
                <a:srgbClr val="0000FF"/>
              </a:buClr>
              <a:buFont typeface="Arial" panose="020B0604020202020204" pitchFamily="34" charset="0"/>
              <a:buChar char="•"/>
            </a:pPr>
            <a:r>
              <a:rPr lang="en-US" sz="2000" dirty="0">
                <a:solidFill>
                  <a:schemeClr val="accent1">
                    <a:lumMod val="50000"/>
                  </a:schemeClr>
                </a:solidFill>
              </a:rPr>
              <a:t>   There is no single "right" tool</a:t>
            </a:r>
          </a:p>
          <a:p>
            <a:pPr marL="342900" indent="-342900" eaLnBrk="1" hangingPunct="1">
              <a:spcBef>
                <a:spcPct val="50000"/>
              </a:spcBef>
              <a:buClr>
                <a:srgbClr val="0000FF"/>
              </a:buClr>
              <a:buFont typeface="Arial" panose="020B0604020202020204" pitchFamily="34" charset="0"/>
              <a:buChar char="•"/>
            </a:pPr>
            <a:r>
              <a:rPr lang="en-US" sz="2000" dirty="0">
                <a:solidFill>
                  <a:schemeClr val="accent1">
                    <a:lumMod val="50000"/>
                  </a:schemeClr>
                </a:solidFill>
              </a:rPr>
              <a:t>   Careful analysis requires </a:t>
            </a:r>
            <a:r>
              <a:rPr lang="en-US" sz="2000" i="1" dirty="0">
                <a:solidFill>
                  <a:schemeClr val="accent1">
                    <a:lumMod val="50000"/>
                  </a:schemeClr>
                </a:solidFill>
              </a:rPr>
              <a:t>several</a:t>
            </a:r>
            <a:r>
              <a:rPr lang="en-US" sz="2000" dirty="0">
                <a:solidFill>
                  <a:schemeClr val="accent1">
                    <a:lumMod val="50000"/>
                  </a:schemeClr>
                </a:solidFill>
              </a:rPr>
              <a:t> tools</a:t>
            </a:r>
          </a:p>
        </p:txBody>
      </p:sp>
      <p:pic>
        <p:nvPicPr>
          <p:cNvPr id="4" name="Picture 2" descr="C:\Users\doane\AppData\Local\Microsoft\Windows\Temporary Internet Files\Content.IE5\3CB5N1BZ\MC900056988[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29000" y="4419600"/>
            <a:ext cx="1730792" cy="14393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etropolitan">
  <a:themeElements>
    <a:clrScheme name="Custom 1">
      <a:dk1>
        <a:srgbClr val="FFFFFF"/>
      </a:dk1>
      <a:lt1>
        <a:srgbClr val="FFFFFF"/>
      </a:lt1>
      <a:dk2>
        <a:srgbClr val="FFFFFF"/>
      </a:dk2>
      <a:lt2>
        <a:srgbClr val="FFFFFF"/>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44E3BB9A-3BF5-4BE4-90CF-48BFABC785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TM03457491[[fn=Metropolitan]]</Template>
  <TotalTime>1584</TotalTime>
  <Words>1541</Words>
  <Application>Microsoft Office PowerPoint</Application>
  <PresentationFormat>On-screen Show (4:3)</PresentationFormat>
  <Paragraphs>166</Paragraphs>
  <Slides>25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Times New Roman</vt:lpstr>
      <vt:lpstr>Metropolitan</vt:lpstr>
      <vt:lpstr>Describing Data</vt:lpstr>
      <vt:lpstr>The Problem</vt:lpstr>
      <vt:lpstr>The Solution</vt:lpstr>
      <vt:lpstr>Tools of Data Analysis</vt:lpstr>
      <vt:lpstr>Example</vt:lpstr>
      <vt:lpstr>Dot Plot</vt:lpstr>
      <vt:lpstr>Stacked Dot Plot</vt:lpstr>
      <vt:lpstr>Stem-and-Leaf</vt:lpstr>
      <vt:lpstr>Stem-and-Leaf</vt:lpstr>
      <vt:lpstr>Excel Histograms</vt:lpstr>
      <vt:lpstr>Binning</vt:lpstr>
      <vt:lpstr>Too Many Bins?</vt:lpstr>
      <vt:lpstr>Number of Bins</vt:lpstr>
      <vt:lpstr>Other Frequency Displays</vt:lpstr>
      <vt:lpstr>Box Plot</vt:lpstr>
      <vt:lpstr>Box Plot</vt:lpstr>
      <vt:lpstr>Stacked Box Plot</vt:lpstr>
      <vt:lpstr>Excel Box Plot</vt:lpstr>
      <vt:lpstr>Numerical Statistics</vt:lpstr>
      <vt:lpstr>Numerical Statistics</vt:lpstr>
      <vt:lpstr>Excel Statistics</vt:lpstr>
      <vt:lpstr>Google Sheets?</vt:lpstr>
      <vt:lpstr>Standardizing</vt:lpstr>
      <vt:lpstr>Runs Chart</vt:lpstr>
      <vt:lpstr>Summary</vt:lpstr>
    </vt:vector>
  </TitlesOfParts>
  <Company>McGraw Hill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Describing a Data Set</dc:title>
  <dc:subject>Chapter 4  Describing Data</dc:subject>
  <dc:creator>David P. Doane</dc:creator>
  <dc:description>Copyright (c) 2025 by McGraw Hill LLC.  This material is intended solely for educational use licensed users of Connect. It may not be copied or resold.</dc:description>
  <cp:lastModifiedBy>Elango Selvaraj</cp:lastModifiedBy>
  <cp:revision>91</cp:revision>
  <dcterms:created xsi:type="dcterms:W3CDTF">2002-11-21T14:37:17Z</dcterms:created>
  <dcterms:modified xsi:type="dcterms:W3CDTF">2023-11-29T09:58:11Z</dcterms:modified>
</cp:coreProperties>
</file>