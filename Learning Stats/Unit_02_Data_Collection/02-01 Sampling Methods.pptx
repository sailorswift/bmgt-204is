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handoutMasterIdLst>
    <p:handoutMasterId r:id="rId20"/>
  </p:handoutMasterIdLst>
  <p:sldIdLst>
    <p:sldId id="256" r:id="rId2"/>
    <p:sldId id="331" r:id="rId3"/>
    <p:sldId id="316" r:id="rId4"/>
    <p:sldId id="324" r:id="rId5"/>
    <p:sldId id="268" r:id="rId6"/>
    <p:sldId id="320" r:id="rId7"/>
    <p:sldId id="325" r:id="rId8"/>
    <p:sldId id="326" r:id="rId9"/>
    <p:sldId id="327" r:id="rId10"/>
    <p:sldId id="311" r:id="rId11"/>
    <p:sldId id="328" r:id="rId12"/>
    <p:sldId id="329" r:id="rId13"/>
    <p:sldId id="382" r:id="rId14"/>
    <p:sldId id="383" r:id="rId15"/>
    <p:sldId id="332" r:id="rId16"/>
    <p:sldId id="333" r:id="rId17"/>
    <p:sldId id="381" r:id="rId18"/>
    <p:sldId id="330" r:id="rId1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ECFF"/>
    <a:srgbClr val="CC9900"/>
    <a:srgbClr val="0000FF"/>
    <a:srgbClr val="99CCFF"/>
    <a:srgbClr val="FFFFFF"/>
    <a:srgbClr val="FFFFCC"/>
    <a:srgbClr val="FF6699"/>
    <a:srgbClr val="CC0000"/>
    <a:srgbClr val="FF3300"/>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2" autoAdjust="0"/>
    <p:restoredTop sz="94609" autoAdjust="0"/>
  </p:normalViewPr>
  <p:slideViewPr>
    <p:cSldViewPr>
      <p:cViewPr varScale="1">
        <p:scale>
          <a:sx n="59" d="100"/>
          <a:sy n="59" d="100"/>
        </p:scale>
        <p:origin x="1496"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5222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5222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5222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8DE997A3-4BCA-4020-98E3-C94F4DA2CF27}" type="slidenum">
              <a:rPr lang="en-US"/>
              <a:pPr/>
              <a:t>‹#›</a:t>
            </a:fld>
            <a:endParaRPr lang="en-US"/>
          </a:p>
        </p:txBody>
      </p:sp>
    </p:spTree>
    <p:extLst>
      <p:ext uri="{BB962C8B-B14F-4D97-AF65-F5344CB8AC3E}">
        <p14:creationId xmlns:p14="http://schemas.microsoft.com/office/powerpoint/2010/main" val="209172252"/>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40995AB-0997-4951-9960-D5745B0A5E02}" type="slidenum">
              <a:rPr lang="en-US"/>
              <a:pPr/>
              <a:t>‹#›</a:t>
            </a:fld>
            <a:endParaRPr lang="en-US"/>
          </a:p>
        </p:txBody>
      </p:sp>
    </p:spTree>
    <p:extLst>
      <p:ext uri="{BB962C8B-B14F-4D97-AF65-F5344CB8AC3E}">
        <p14:creationId xmlns:p14="http://schemas.microsoft.com/office/powerpoint/2010/main" val="2691142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C1E0DF03-39B1-420D-88BB-E895E0BF3BC3}" type="slidenum">
              <a:rPr lang="en-US"/>
              <a:pPr/>
              <a:t>‹#›</a:t>
            </a:fld>
            <a:endParaRPr lang="en-US"/>
          </a:p>
        </p:txBody>
      </p:sp>
    </p:spTree>
    <p:extLst>
      <p:ext uri="{BB962C8B-B14F-4D97-AF65-F5344CB8AC3E}">
        <p14:creationId xmlns:p14="http://schemas.microsoft.com/office/powerpoint/2010/main" val="3494937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D597068-BC96-4437-A23B-3F2ACC4B89BC}" type="slidenum">
              <a:rPr lang="en-US"/>
              <a:pPr/>
              <a:t>‹#›</a:t>
            </a:fld>
            <a:endParaRPr lang="en-US"/>
          </a:p>
        </p:txBody>
      </p:sp>
    </p:spTree>
    <p:extLst>
      <p:ext uri="{BB962C8B-B14F-4D97-AF65-F5344CB8AC3E}">
        <p14:creationId xmlns:p14="http://schemas.microsoft.com/office/powerpoint/2010/main" val="565318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40E00D88-FA0E-4B98-8072-BE6156894A6F}" type="slidenum">
              <a:rPr lang="en-US"/>
              <a:pPr/>
              <a:t>‹#›</a:t>
            </a:fld>
            <a:endParaRPr lang="en-US"/>
          </a:p>
        </p:txBody>
      </p:sp>
    </p:spTree>
    <p:extLst>
      <p:ext uri="{BB962C8B-B14F-4D97-AF65-F5344CB8AC3E}">
        <p14:creationId xmlns:p14="http://schemas.microsoft.com/office/powerpoint/2010/main" val="3615842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829EE2F8-7F24-4888-9CDA-38B7565767CF}" type="slidenum">
              <a:rPr lang="en-US"/>
              <a:pPr/>
              <a:t>‹#›</a:t>
            </a:fld>
            <a:endParaRPr lang="en-US"/>
          </a:p>
        </p:txBody>
      </p:sp>
    </p:spTree>
    <p:extLst>
      <p:ext uri="{BB962C8B-B14F-4D97-AF65-F5344CB8AC3E}">
        <p14:creationId xmlns:p14="http://schemas.microsoft.com/office/powerpoint/2010/main" val="1641343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330BBEAE-F16B-45D8-B5CA-67596D3C5112}" type="slidenum">
              <a:rPr lang="en-US"/>
              <a:pPr/>
              <a:t>‹#›</a:t>
            </a:fld>
            <a:endParaRPr lang="en-US"/>
          </a:p>
        </p:txBody>
      </p:sp>
    </p:spTree>
    <p:extLst>
      <p:ext uri="{BB962C8B-B14F-4D97-AF65-F5344CB8AC3E}">
        <p14:creationId xmlns:p14="http://schemas.microsoft.com/office/powerpoint/2010/main" val="11738620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880CB51B-053E-4250-BCCA-FE8C918136BE}" type="slidenum">
              <a:rPr lang="en-US"/>
              <a:pPr/>
              <a:t>‹#›</a:t>
            </a:fld>
            <a:endParaRPr lang="en-US"/>
          </a:p>
        </p:txBody>
      </p:sp>
    </p:spTree>
    <p:extLst>
      <p:ext uri="{BB962C8B-B14F-4D97-AF65-F5344CB8AC3E}">
        <p14:creationId xmlns:p14="http://schemas.microsoft.com/office/powerpoint/2010/main" val="3064654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79BE3071-879C-45A9-B8E1-A96F766F9D74}" type="slidenum">
              <a:rPr lang="en-US"/>
              <a:pPr/>
              <a:t>‹#›</a:t>
            </a:fld>
            <a:endParaRPr lang="en-US"/>
          </a:p>
        </p:txBody>
      </p:sp>
    </p:spTree>
    <p:extLst>
      <p:ext uri="{BB962C8B-B14F-4D97-AF65-F5344CB8AC3E}">
        <p14:creationId xmlns:p14="http://schemas.microsoft.com/office/powerpoint/2010/main" val="7633002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39769F9-A462-436D-824F-46AC6DADF7D6}" type="slidenum">
              <a:rPr lang="en-US"/>
              <a:pPr/>
              <a:t>‹#›</a:t>
            </a:fld>
            <a:endParaRPr lang="en-US"/>
          </a:p>
        </p:txBody>
      </p:sp>
    </p:spTree>
    <p:extLst>
      <p:ext uri="{BB962C8B-B14F-4D97-AF65-F5344CB8AC3E}">
        <p14:creationId xmlns:p14="http://schemas.microsoft.com/office/powerpoint/2010/main" val="1442389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9AC3F2E-B5DE-4FE9-8C37-5E7D783AD7E6}" type="slidenum">
              <a:rPr lang="en-US"/>
              <a:pPr/>
              <a:t>‹#›</a:t>
            </a:fld>
            <a:endParaRPr lang="en-US"/>
          </a:p>
        </p:txBody>
      </p:sp>
    </p:spTree>
    <p:extLst>
      <p:ext uri="{BB962C8B-B14F-4D97-AF65-F5344CB8AC3E}">
        <p14:creationId xmlns:p14="http://schemas.microsoft.com/office/powerpoint/2010/main" val="15094101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16F21F6-2AEF-4104-887F-12A6EB4EAAFD}" type="slidenum">
              <a:rPr lang="en-US"/>
              <a:pPr/>
              <a:t>‹#›</a:t>
            </a:fld>
            <a:endParaRPr lang="en-US"/>
          </a:p>
        </p:txBody>
      </p:sp>
    </p:spTree>
    <p:extLst>
      <p:ext uri="{BB962C8B-B14F-4D97-AF65-F5344CB8AC3E}">
        <p14:creationId xmlns:p14="http://schemas.microsoft.com/office/powerpoint/2010/main" val="3532796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990D874D-6899-4BA1-9FDB-759121EF0683}"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5.wmf"/><Relationship Id="rId1" Type="http://schemas.openxmlformats.org/officeDocument/2006/relationships/slideLayout" Target="../slideLayouts/slideLayout1.xml"/><Relationship Id="rId4" Type="http://schemas.openxmlformats.org/officeDocument/2006/relationships/image" Target="../media/image6.wmf"/></Relationships>
</file>

<file path=ppt/slides/_rels/slide7.x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5.wmf"/><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emf"/><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image" Target="../media/image21.em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295400" y="1600200"/>
            <a:ext cx="6477000" cy="2209800"/>
          </a:xfrm>
        </p:spPr>
        <p:txBody>
          <a:bodyPr/>
          <a:lstStyle/>
          <a:p>
            <a:r>
              <a:rPr lang="en-US"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Sampling</a:t>
            </a:r>
            <a:br>
              <a:rPr lang="en-US"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br>
            <a:r>
              <a:rPr lang="en-US"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Methods</a:t>
            </a:r>
          </a:p>
        </p:txBody>
      </p:sp>
      <p:sp>
        <p:nvSpPr>
          <p:cNvPr id="2059" name="Text Box 11"/>
          <p:cNvSpPr txBox="1">
            <a:spLocks noChangeArrowheads="1"/>
          </p:cNvSpPr>
          <p:nvPr/>
        </p:nvSpPr>
        <p:spPr bwMode="auto">
          <a:xfrm>
            <a:off x="1028700" y="5715000"/>
            <a:ext cx="7010400" cy="523220"/>
          </a:xfrm>
          <a:prstGeom prst="rect">
            <a:avLst/>
          </a:prstGeom>
          <a:solidFill>
            <a:schemeClr val="accent2">
              <a:alpha val="0"/>
            </a:schemeClr>
          </a:solidFill>
          <a:ln>
            <a:noFill/>
          </a:ln>
          <a:extLst>
            <a:ext uri="{91240B29-F687-4F45-9708-019B960494DF}">
              <a14:hiddenLine xmlns:a14="http://schemas.microsoft.com/office/drawing/2010/main" w="9525">
                <a:solidFill>
                  <a:schemeClr val="tx1"/>
                </a:solidFill>
                <a:miter lim="800000"/>
                <a:headEnd/>
                <a:tailEnd/>
              </a14:hiddenLine>
            </a:ext>
          </a:extLst>
        </p:spPr>
        <p:txBody>
          <a:bodyPr wrap="square">
            <a:spAutoFit/>
          </a:bodyPr>
          <a:lstStyle/>
          <a:p>
            <a:pPr>
              <a:spcBef>
                <a:spcPct val="50000"/>
              </a:spcBef>
            </a:pPr>
            <a:r>
              <a:rPr lang="en-US" sz="1400" b="1" dirty="0">
                <a:solidFill>
                  <a:srgbClr val="CC6600"/>
                </a:solidFill>
              </a:rPr>
              <a:t>© McGraw Hill LLC. All rights reserved. </a:t>
            </a:r>
            <a:r>
              <a:rPr lang="en-US" sz="1400" b="1">
                <a:solidFill>
                  <a:srgbClr val="CC6600"/>
                </a:solidFill>
              </a:rPr>
              <a:t>No reproduction or distribution without the prior written consent of McGraw Hill LLC.</a:t>
            </a:r>
            <a:endParaRPr lang="en-US" sz="1400" b="1" dirty="0">
              <a:solidFill>
                <a:srgbClr val="CC6600"/>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ctrTitle"/>
          </p:nvPr>
        </p:nvSpPr>
        <p:spPr>
          <a:xfrm>
            <a:off x="0" y="228600"/>
            <a:ext cx="9144000" cy="768096"/>
          </a:xfrm>
        </p:spPr>
        <p:txBody>
          <a:bodyPr/>
          <a:lstStyle/>
          <a:p>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Target Population</a:t>
            </a:r>
          </a:p>
        </p:txBody>
      </p:sp>
      <p:sp>
        <p:nvSpPr>
          <p:cNvPr id="70660" name="Text Box 4"/>
          <p:cNvSpPr txBox="1">
            <a:spLocks noChangeArrowheads="1"/>
          </p:cNvSpPr>
          <p:nvPr/>
        </p:nvSpPr>
        <p:spPr bwMode="auto">
          <a:xfrm>
            <a:off x="786414" y="1371600"/>
            <a:ext cx="563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p>
        </p:txBody>
      </p:sp>
      <p:sp>
        <p:nvSpPr>
          <p:cNvPr id="70663" name="Text Box 7"/>
          <p:cNvSpPr txBox="1">
            <a:spLocks noChangeArrowheads="1"/>
          </p:cNvSpPr>
          <p:nvPr/>
        </p:nvSpPr>
        <p:spPr bwMode="auto">
          <a:xfrm>
            <a:off x="1676400" y="4876800"/>
            <a:ext cx="58674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Clr>
                <a:srgbClr val="C00000"/>
              </a:buClr>
              <a:buFontTx/>
              <a:buChar char="•"/>
            </a:pPr>
            <a:r>
              <a:rPr lang="en-US" sz="2000" dirty="0"/>
              <a:t>  Step 1: Define the </a:t>
            </a:r>
            <a:r>
              <a:rPr lang="en-US" sz="2000" i="1" dirty="0">
                <a:solidFill>
                  <a:srgbClr val="C00000"/>
                </a:solidFill>
              </a:rPr>
              <a:t>target population</a:t>
            </a:r>
            <a:r>
              <a:rPr lang="en-US" sz="2000" dirty="0"/>
              <a:t>.</a:t>
            </a:r>
          </a:p>
          <a:p>
            <a:pPr>
              <a:spcBef>
                <a:spcPct val="50000"/>
              </a:spcBef>
              <a:buClr>
                <a:srgbClr val="C00000"/>
              </a:buClr>
              <a:buFontTx/>
              <a:buChar char="•"/>
            </a:pPr>
            <a:r>
              <a:rPr lang="en-US" sz="2000" dirty="0"/>
              <a:t>  Step 2: Define the </a:t>
            </a:r>
            <a:r>
              <a:rPr lang="en-US" sz="2000" i="1" dirty="0">
                <a:solidFill>
                  <a:srgbClr val="C00000"/>
                </a:solidFill>
              </a:rPr>
              <a:t>sample frame</a:t>
            </a:r>
            <a:r>
              <a:rPr lang="en-US" sz="2000" dirty="0"/>
              <a:t> (is there a list?)</a:t>
            </a:r>
          </a:p>
          <a:p>
            <a:pPr>
              <a:spcBef>
                <a:spcPct val="50000"/>
              </a:spcBef>
              <a:buClr>
                <a:srgbClr val="C00000"/>
              </a:buClr>
              <a:buFontTx/>
              <a:buChar char="•"/>
            </a:pPr>
            <a:r>
              <a:rPr lang="en-US" sz="2000" dirty="0"/>
              <a:t>  Step 3: Take a sample? Or attempt a census?</a:t>
            </a:r>
          </a:p>
        </p:txBody>
      </p:sp>
      <p:pic>
        <p:nvPicPr>
          <p:cNvPr id="7" name="Picture 202" descr="C:\Users\Blythe\AppData\Local\Microsoft\Windows\Temporary Internet Files\Content.IE5\V1Z3J4WM\MP900444234[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447800"/>
            <a:ext cx="5805602"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945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ctrTitle"/>
          </p:nvPr>
        </p:nvSpPr>
        <p:spPr>
          <a:xfrm>
            <a:off x="0" y="228600"/>
            <a:ext cx="9144000" cy="768096"/>
          </a:xfrm>
        </p:spPr>
        <p:txBody>
          <a:bodyPr/>
          <a:lstStyle/>
          <a:p>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Why Sample?</a:t>
            </a:r>
          </a:p>
        </p:txBody>
      </p:sp>
      <p:sp>
        <p:nvSpPr>
          <p:cNvPr id="70663" name="Text Box 7"/>
          <p:cNvSpPr txBox="1">
            <a:spLocks noChangeArrowheads="1"/>
          </p:cNvSpPr>
          <p:nvPr/>
        </p:nvSpPr>
        <p:spPr bwMode="auto">
          <a:xfrm>
            <a:off x="1219523" y="1828800"/>
            <a:ext cx="662940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rgbClr val="C00000"/>
              </a:buClr>
              <a:buFontTx/>
              <a:buChar char="•"/>
            </a:pPr>
            <a:r>
              <a:rPr lang="en-US" sz="2000" dirty="0"/>
              <a:t>  Lower cost </a:t>
            </a:r>
          </a:p>
          <a:p>
            <a:pPr>
              <a:spcBef>
                <a:spcPct val="50000"/>
              </a:spcBef>
              <a:buClr>
                <a:srgbClr val="C00000"/>
              </a:buClr>
              <a:buFontTx/>
              <a:buChar char="•"/>
            </a:pPr>
            <a:r>
              <a:rPr lang="en-US" sz="2000" dirty="0"/>
              <a:t>  Improved accuracy</a:t>
            </a:r>
          </a:p>
          <a:p>
            <a:pPr>
              <a:spcBef>
                <a:spcPct val="50000"/>
              </a:spcBef>
              <a:buClr>
                <a:srgbClr val="C00000"/>
              </a:buClr>
              <a:buFontTx/>
              <a:buChar char="•"/>
            </a:pPr>
            <a:r>
              <a:rPr lang="en-US" sz="2000" dirty="0"/>
              <a:t>  Destructive testing, such as</a:t>
            </a:r>
          </a:p>
          <a:p>
            <a:pPr lvl="1">
              <a:spcBef>
                <a:spcPts val="600"/>
              </a:spcBef>
              <a:buClr>
                <a:srgbClr val="C00000"/>
              </a:buClr>
              <a:buFontTx/>
              <a:buChar char="•"/>
            </a:pPr>
            <a:r>
              <a:rPr lang="en-US" sz="2000" dirty="0"/>
              <a:t> Light bulb life (hours until failure)</a:t>
            </a:r>
          </a:p>
          <a:p>
            <a:pPr lvl="1">
              <a:spcBef>
                <a:spcPts val="600"/>
              </a:spcBef>
              <a:buClr>
                <a:srgbClr val="C00000"/>
              </a:buClr>
              <a:buFontTx/>
              <a:buChar char="•"/>
            </a:pPr>
            <a:r>
              <a:rPr lang="en-US" sz="2000" dirty="0"/>
              <a:t> 5 mph crash car bumper tests (damage cost)</a:t>
            </a:r>
          </a:p>
          <a:p>
            <a:pPr>
              <a:spcBef>
                <a:spcPct val="50000"/>
              </a:spcBef>
              <a:buClr>
                <a:srgbClr val="C00000"/>
              </a:buClr>
              <a:buFontTx/>
              <a:buChar char="•"/>
            </a:pPr>
            <a:r>
              <a:rPr lang="en-US" sz="2000" dirty="0"/>
              <a:t>  Perishable data (e.g., fresh fish inspection)</a:t>
            </a:r>
          </a:p>
          <a:p>
            <a:pPr>
              <a:spcBef>
                <a:spcPct val="50000"/>
              </a:spcBef>
              <a:buClr>
                <a:srgbClr val="C00000"/>
              </a:buClr>
              <a:buFontTx/>
              <a:buChar char="•"/>
            </a:pPr>
            <a:r>
              <a:rPr lang="en-US" sz="2000" dirty="0"/>
              <a:t>  Timely data is required (e.g., political polls)</a:t>
            </a:r>
          </a:p>
          <a:p>
            <a:pPr>
              <a:spcBef>
                <a:spcPct val="50000"/>
              </a:spcBef>
              <a:buClr>
                <a:srgbClr val="C00000"/>
              </a:buClr>
              <a:buFontTx/>
              <a:buChar char="•"/>
            </a:pPr>
            <a:r>
              <a:rPr lang="en-US" sz="2000" dirty="0"/>
              <a:t>  Large, dispersed population (e.g., seat belt usage)</a:t>
            </a:r>
          </a:p>
        </p:txBody>
      </p:sp>
      <p:pic>
        <p:nvPicPr>
          <p:cNvPr id="70665"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5600" y="3018174"/>
            <a:ext cx="1532180" cy="1419873"/>
          </a:xfrm>
          <a:prstGeom prst="rect">
            <a:avLst/>
          </a:prstGeom>
          <a:noFill/>
          <a:extLst>
            <a:ext uri="{909E8E84-426E-40DD-AFC4-6F175D3DCCD1}">
              <a14:hiddenFill xmlns:a14="http://schemas.microsoft.com/office/drawing/2010/main">
                <a:solidFill>
                  <a:srgbClr val="FFFFFF"/>
                </a:solidFill>
              </a14:hiddenFill>
            </a:ext>
          </a:extLst>
        </p:spPr>
      </p:pic>
      <p:sp>
        <p:nvSpPr>
          <p:cNvPr id="70666" name="AutoShape 10"/>
          <p:cNvSpPr>
            <a:spLocks noChangeArrowheads="1"/>
          </p:cNvSpPr>
          <p:nvPr/>
        </p:nvSpPr>
        <p:spPr bwMode="auto">
          <a:xfrm>
            <a:off x="4267200" y="1474035"/>
            <a:ext cx="2973457" cy="1066800"/>
          </a:xfrm>
          <a:prstGeom prst="wedgeRoundRectCallout">
            <a:avLst>
              <a:gd name="adj1" fmla="val 41906"/>
              <a:gd name="adj2" fmla="val 82715"/>
              <a:gd name="adj3" fmla="val 16667"/>
            </a:avLst>
          </a:prstGeom>
          <a:solidFill>
            <a:srgbClr val="CCECFF"/>
          </a:solidFill>
          <a:ln w="9525">
            <a:solidFill>
              <a:schemeClr val="tx1"/>
            </a:solidFill>
            <a:miter lim="800000"/>
            <a:headEnd/>
            <a:tailEnd/>
          </a:ln>
          <a:effectLst/>
        </p:spPr>
        <p:txBody>
          <a:bodyPr/>
          <a:lstStyle/>
          <a:p>
            <a:r>
              <a:rPr lang="en-US" sz="1600" dirty="0"/>
              <a:t>That's right – a sample can be both cheaper </a:t>
            </a:r>
            <a:r>
              <a:rPr lang="en-US" sz="1600" i="1" dirty="0"/>
              <a:t>and</a:t>
            </a:r>
            <a:r>
              <a:rPr lang="en-US" sz="1600" dirty="0"/>
              <a:t> more accurate than an attempted census!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ctrTitle"/>
          </p:nvPr>
        </p:nvSpPr>
        <p:spPr>
          <a:xfrm>
            <a:off x="0" y="228600"/>
            <a:ext cx="9144000" cy="768096"/>
          </a:xfrm>
        </p:spPr>
        <p:txBody>
          <a:bodyPr/>
          <a:lstStyle/>
          <a:p>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Why Census?</a:t>
            </a:r>
          </a:p>
        </p:txBody>
      </p:sp>
      <p:sp>
        <p:nvSpPr>
          <p:cNvPr id="78851" name="Text Box 3"/>
          <p:cNvSpPr txBox="1">
            <a:spLocks noChangeArrowheads="1"/>
          </p:cNvSpPr>
          <p:nvPr/>
        </p:nvSpPr>
        <p:spPr bwMode="auto">
          <a:xfrm>
            <a:off x="762000" y="1371600"/>
            <a:ext cx="563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p>
        </p:txBody>
      </p:sp>
      <p:sp>
        <p:nvSpPr>
          <p:cNvPr id="78852" name="Text Box 4"/>
          <p:cNvSpPr txBox="1">
            <a:spLocks noChangeArrowheads="1"/>
          </p:cNvSpPr>
          <p:nvPr/>
        </p:nvSpPr>
        <p:spPr bwMode="auto">
          <a:xfrm>
            <a:off x="1285875" y="1702094"/>
            <a:ext cx="4657725" cy="3016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Clr>
                <a:srgbClr val="C00000"/>
              </a:buClr>
              <a:buFontTx/>
              <a:buChar char="•"/>
            </a:pPr>
            <a:r>
              <a:rPr lang="en-US" sz="2000" dirty="0"/>
              <a:t>  Computer database exists</a:t>
            </a:r>
          </a:p>
          <a:p>
            <a:pPr>
              <a:spcBef>
                <a:spcPct val="50000"/>
              </a:spcBef>
              <a:buClr>
                <a:srgbClr val="C00000"/>
              </a:buClr>
              <a:buFontTx/>
              <a:buChar char="•"/>
            </a:pPr>
            <a:r>
              <a:rPr lang="en-US" sz="2000" dirty="0"/>
              <a:t>  Population is small and accessible</a:t>
            </a:r>
          </a:p>
          <a:p>
            <a:pPr>
              <a:spcBef>
                <a:spcPct val="50000"/>
              </a:spcBef>
              <a:buClr>
                <a:srgbClr val="C00000"/>
              </a:buClr>
              <a:buFontTx/>
              <a:buChar char="•"/>
            </a:pPr>
            <a:r>
              <a:rPr lang="en-US" sz="2000" dirty="0"/>
              <a:t>  Legal requirements</a:t>
            </a:r>
          </a:p>
          <a:p>
            <a:pPr lvl="1">
              <a:spcBef>
                <a:spcPts val="600"/>
              </a:spcBef>
              <a:buClr>
                <a:srgbClr val="C00000"/>
              </a:buClr>
              <a:buFontTx/>
              <a:buChar char="•"/>
            </a:pPr>
            <a:r>
              <a:rPr lang="en-US" sz="2000" dirty="0"/>
              <a:t> U.S. Census (national headcount)</a:t>
            </a:r>
          </a:p>
          <a:p>
            <a:pPr lvl="1">
              <a:spcBef>
                <a:spcPts val="600"/>
              </a:spcBef>
              <a:buClr>
                <a:srgbClr val="C00000"/>
              </a:buClr>
              <a:buFontTx/>
              <a:buChar char="•"/>
            </a:pPr>
            <a:r>
              <a:rPr lang="en-US" sz="2000" dirty="0"/>
              <a:t> Bank cash (cash drawer balance)</a:t>
            </a:r>
          </a:p>
          <a:p>
            <a:pPr>
              <a:spcBef>
                <a:spcPct val="50000"/>
              </a:spcBef>
              <a:buClr>
                <a:srgbClr val="C00000"/>
              </a:buClr>
              <a:buFontTx/>
              <a:buChar char="•"/>
            </a:pPr>
            <a:r>
              <a:rPr lang="en-US" sz="2000" dirty="0"/>
              <a:t>  Money is no constraint (rare)</a:t>
            </a:r>
          </a:p>
          <a:p>
            <a:pPr>
              <a:spcBef>
                <a:spcPct val="50000"/>
              </a:spcBef>
              <a:buClr>
                <a:srgbClr val="C00000"/>
              </a:buClr>
              <a:buFontTx/>
              <a:buChar char="•"/>
            </a:pPr>
            <a:r>
              <a:rPr lang="en-US" sz="2000" dirty="0"/>
              <a:t>  Time is no constraint (rare)</a:t>
            </a:r>
          </a:p>
        </p:txBody>
      </p:sp>
      <p:sp>
        <p:nvSpPr>
          <p:cNvPr id="78854" name="AutoShape 6"/>
          <p:cNvSpPr>
            <a:spLocks noChangeArrowheads="1"/>
          </p:cNvSpPr>
          <p:nvPr/>
        </p:nvSpPr>
        <p:spPr bwMode="auto">
          <a:xfrm>
            <a:off x="5653032" y="1298448"/>
            <a:ext cx="2438400" cy="1143000"/>
          </a:xfrm>
          <a:prstGeom prst="wedgeRoundRectCallout">
            <a:avLst>
              <a:gd name="adj1" fmla="val 7"/>
              <a:gd name="adj2" fmla="val 113987"/>
              <a:gd name="adj3" fmla="val 16667"/>
            </a:avLst>
          </a:prstGeom>
          <a:solidFill>
            <a:srgbClr val="CCECFF"/>
          </a:solidFill>
          <a:ln w="9525">
            <a:solidFill>
              <a:schemeClr val="tx1"/>
            </a:solidFill>
            <a:miter lim="800000"/>
            <a:headEnd/>
            <a:tailEnd/>
          </a:ln>
          <a:effectLst/>
        </p:spPr>
        <p:txBody>
          <a:bodyPr/>
          <a:lstStyle/>
          <a:p>
            <a:r>
              <a:rPr lang="en-US" sz="1600" dirty="0"/>
              <a:t>If the population is small or if data are already in a PC database, why take a sample? </a:t>
            </a:r>
          </a:p>
        </p:txBody>
      </p:sp>
      <p:pic>
        <p:nvPicPr>
          <p:cNvPr id="7885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24550" y="3472116"/>
            <a:ext cx="1552465" cy="12842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ctrTitle"/>
          </p:nvPr>
        </p:nvSpPr>
        <p:spPr>
          <a:xfrm>
            <a:off x="0" y="228600"/>
            <a:ext cx="9144000" cy="768096"/>
          </a:xfrm>
        </p:spPr>
        <p:txBody>
          <a:bodyPr/>
          <a:lstStyle/>
          <a:p>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Which Goal?</a:t>
            </a:r>
          </a:p>
        </p:txBody>
      </p:sp>
      <p:sp>
        <p:nvSpPr>
          <p:cNvPr id="65539" name="Text Box 3"/>
          <p:cNvSpPr txBox="1">
            <a:spLocks noChangeArrowheads="1"/>
          </p:cNvSpPr>
          <p:nvPr/>
        </p:nvSpPr>
        <p:spPr bwMode="auto">
          <a:xfrm>
            <a:off x="1981200" y="1676400"/>
            <a:ext cx="624840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rgbClr val="C00000"/>
              </a:buClr>
              <a:buFontTx/>
              <a:buChar char="•"/>
            </a:pPr>
            <a:r>
              <a:rPr lang="en-US" dirty="0"/>
              <a:t>  Descriptive (to get a general overview)</a:t>
            </a:r>
          </a:p>
          <a:p>
            <a:pPr lvl="1">
              <a:spcBef>
                <a:spcPts val="600"/>
              </a:spcBef>
              <a:buClr>
                <a:srgbClr val="C00000"/>
              </a:buClr>
              <a:buFontTx/>
              <a:buChar char="•"/>
            </a:pPr>
            <a:r>
              <a:rPr lang="en-US" sz="1800" dirty="0"/>
              <a:t> Percent of HMO patients who arrive late</a:t>
            </a:r>
          </a:p>
          <a:p>
            <a:pPr lvl="1">
              <a:spcBef>
                <a:spcPts val="600"/>
              </a:spcBef>
              <a:buClr>
                <a:srgbClr val="C00000"/>
              </a:buClr>
              <a:buFontTx/>
              <a:buChar char="•"/>
            </a:pPr>
            <a:r>
              <a:rPr lang="en-US" sz="1800" dirty="0"/>
              <a:t> Average tip per customer in a restaurant</a:t>
            </a:r>
          </a:p>
          <a:p>
            <a:pPr lvl="1">
              <a:spcBef>
                <a:spcPts val="600"/>
              </a:spcBef>
              <a:buClr>
                <a:srgbClr val="C00000"/>
              </a:buClr>
              <a:buFontTx/>
              <a:buChar char="•"/>
            </a:pPr>
            <a:r>
              <a:rPr lang="en-US" sz="1800" dirty="0"/>
              <a:t> Vaccination rates over time</a:t>
            </a:r>
          </a:p>
          <a:p>
            <a:pPr>
              <a:spcBef>
                <a:spcPct val="50000"/>
              </a:spcBef>
              <a:buClr>
                <a:srgbClr val="C00000"/>
              </a:buClr>
              <a:buFontTx/>
              <a:buChar char="•"/>
            </a:pPr>
            <a:r>
              <a:rPr lang="en-US" dirty="0"/>
              <a:t>  Inferential (to estimate a parameter)</a:t>
            </a:r>
          </a:p>
          <a:p>
            <a:pPr lvl="1">
              <a:spcBef>
                <a:spcPts val="600"/>
              </a:spcBef>
              <a:buClr>
                <a:srgbClr val="C00000"/>
              </a:buClr>
              <a:buFontTx/>
              <a:buChar char="•"/>
            </a:pPr>
            <a:r>
              <a:rPr lang="en-US" sz="1800" dirty="0"/>
              <a:t> Mean insurance claim amount for angioplasty</a:t>
            </a:r>
          </a:p>
          <a:p>
            <a:pPr lvl="1">
              <a:spcBef>
                <a:spcPts val="600"/>
              </a:spcBef>
              <a:buClr>
                <a:srgbClr val="C00000"/>
              </a:buClr>
              <a:buFontTx/>
              <a:buChar char="•"/>
            </a:pPr>
            <a:r>
              <a:rPr lang="en-US" sz="1800" dirty="0"/>
              <a:t> Average days between billing and payment</a:t>
            </a:r>
          </a:p>
          <a:p>
            <a:pPr lvl="1">
              <a:spcBef>
                <a:spcPts val="600"/>
              </a:spcBef>
              <a:buClr>
                <a:srgbClr val="C00000"/>
              </a:buClr>
              <a:buFontTx/>
              <a:buChar char="•"/>
            </a:pPr>
            <a:r>
              <a:rPr lang="en-US" sz="1800" dirty="0"/>
              <a:t> Traffic count at a busy intersection</a:t>
            </a:r>
          </a:p>
        </p:txBody>
      </p:sp>
      <p:pic>
        <p:nvPicPr>
          <p:cNvPr id="65541" name="Picture 5" descr="bd05296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20079" y="5029200"/>
            <a:ext cx="1303841" cy="120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ctrTitle"/>
          </p:nvPr>
        </p:nvSpPr>
        <p:spPr>
          <a:xfrm>
            <a:off x="0" y="228600"/>
            <a:ext cx="9144000" cy="768096"/>
          </a:xfrm>
        </p:spPr>
        <p:txBody>
          <a:bodyPr/>
          <a:lstStyle/>
          <a:p>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Inference</a:t>
            </a:r>
          </a:p>
        </p:txBody>
      </p:sp>
      <p:pic>
        <p:nvPicPr>
          <p:cNvPr id="74758" name="Picture 6" descr="bd04912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31914" y="3322913"/>
            <a:ext cx="2009061"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759" name="Cloud"/>
          <p:cNvSpPr>
            <a:spLocks noChangeAspect="1" noEditPoints="1" noChangeArrowheads="1"/>
          </p:cNvSpPr>
          <p:nvPr/>
        </p:nvSpPr>
        <p:spPr bwMode="auto">
          <a:xfrm>
            <a:off x="1903680" y="4247840"/>
            <a:ext cx="3041114" cy="1589673"/>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CCECFF"/>
          </a:solidFill>
          <a:ln w="9525">
            <a:solidFill>
              <a:srgbClr val="000000"/>
            </a:solidFill>
            <a:miter lim="800000"/>
            <a:headEnd/>
            <a:tailEnd/>
          </a:ln>
          <a:effectLst>
            <a:outerShdw dist="107763" dir="2700000" algn="ctr" rotWithShape="0">
              <a:srgbClr val="808080"/>
            </a:outerShdw>
          </a:effectLst>
        </p:spPr>
        <p:txBody>
          <a:bodyPr/>
          <a:lstStyle/>
          <a:p>
            <a:pPr algn="ctr"/>
            <a:r>
              <a:rPr lang="en-US" sz="1800" dirty="0"/>
              <a:t>Sample</a:t>
            </a:r>
          </a:p>
          <a:p>
            <a:pPr algn="ctr"/>
            <a:r>
              <a:rPr lang="en-US" sz="1800" dirty="0"/>
              <a:t> = $78,545</a:t>
            </a:r>
          </a:p>
          <a:p>
            <a:pPr algn="ctr"/>
            <a:r>
              <a:rPr lang="en-US" sz="1800" i="1" dirty="0"/>
              <a:t>s</a:t>
            </a:r>
            <a:r>
              <a:rPr lang="en-US" sz="1800" dirty="0"/>
              <a:t> = $6,958</a:t>
            </a:r>
          </a:p>
          <a:p>
            <a:pPr algn="ctr"/>
            <a:r>
              <a:rPr lang="en-US" sz="1800" i="1" dirty="0"/>
              <a:t>n</a:t>
            </a:r>
            <a:r>
              <a:rPr lang="en-US" sz="1800" dirty="0"/>
              <a:t> = 100</a:t>
            </a:r>
          </a:p>
          <a:p>
            <a:endParaRPr lang="en-US" sz="2000" dirty="0"/>
          </a:p>
        </p:txBody>
      </p:sp>
      <p:sp>
        <p:nvSpPr>
          <p:cNvPr id="74760" name="Cloud"/>
          <p:cNvSpPr>
            <a:spLocks noChangeAspect="1" noEditPoints="1" noChangeArrowheads="1"/>
          </p:cNvSpPr>
          <p:nvPr/>
        </p:nvSpPr>
        <p:spPr bwMode="auto">
          <a:xfrm>
            <a:off x="1157288" y="1276305"/>
            <a:ext cx="3543300" cy="180507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CCECFF"/>
          </a:solidFill>
          <a:ln w="9525">
            <a:solidFill>
              <a:srgbClr val="000000"/>
            </a:solidFill>
            <a:miter lim="800000"/>
            <a:headEnd/>
            <a:tailEnd/>
          </a:ln>
          <a:effectLst>
            <a:outerShdw dist="107763" dir="2700000" algn="ctr" rotWithShape="0">
              <a:srgbClr val="808080"/>
            </a:outerShdw>
          </a:effectLst>
        </p:spPr>
        <p:txBody>
          <a:bodyPr/>
          <a:lstStyle/>
          <a:p>
            <a:pPr algn="ctr"/>
            <a:r>
              <a:rPr lang="en-US" sz="1800" dirty="0"/>
              <a:t>Population</a:t>
            </a:r>
          </a:p>
          <a:p>
            <a:pPr algn="ctr"/>
            <a:r>
              <a:rPr lang="en-US" sz="1800" i="1" dirty="0">
                <a:latin typeface="Symbol" pitchFamily="18" charset="2"/>
              </a:rPr>
              <a:t>m</a:t>
            </a:r>
            <a:r>
              <a:rPr lang="en-US" sz="1800" dirty="0"/>
              <a:t> = $79,370</a:t>
            </a:r>
          </a:p>
          <a:p>
            <a:pPr algn="ctr"/>
            <a:r>
              <a:rPr lang="en-US" sz="1800" i="1" dirty="0">
                <a:latin typeface="Symbol" pitchFamily="18" charset="2"/>
              </a:rPr>
              <a:t>s</a:t>
            </a:r>
            <a:r>
              <a:rPr lang="en-US" sz="1800" dirty="0"/>
              <a:t> = $6,771</a:t>
            </a:r>
          </a:p>
          <a:p>
            <a:pPr algn="ctr"/>
            <a:r>
              <a:rPr lang="en-US" sz="1800" i="1" dirty="0"/>
              <a:t>N</a:t>
            </a:r>
            <a:r>
              <a:rPr lang="en-US" sz="1800" dirty="0"/>
              <a:t> = 125,000</a:t>
            </a:r>
          </a:p>
        </p:txBody>
      </p:sp>
      <p:sp>
        <p:nvSpPr>
          <p:cNvPr id="74761" name="Line 9"/>
          <p:cNvSpPr>
            <a:spLocks noChangeShapeType="1"/>
          </p:cNvSpPr>
          <p:nvPr/>
        </p:nvSpPr>
        <p:spPr bwMode="auto">
          <a:xfrm>
            <a:off x="2876551" y="3276600"/>
            <a:ext cx="495299" cy="962993"/>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4762" name="Text Box 10"/>
          <p:cNvSpPr txBox="1">
            <a:spLocks noChangeArrowheads="1"/>
          </p:cNvSpPr>
          <p:nvPr/>
        </p:nvSpPr>
        <p:spPr bwMode="auto">
          <a:xfrm>
            <a:off x="5486400" y="1143000"/>
            <a:ext cx="28194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1800" i="1" dirty="0">
                <a:solidFill>
                  <a:schemeClr val="accent2"/>
                </a:solidFill>
              </a:rPr>
              <a:t>Example</a:t>
            </a:r>
            <a:r>
              <a:rPr lang="en-US" sz="1800" dirty="0"/>
              <a:t>  What is the average salary of an information security analyst?  We sample because the population is large and hard to reach.</a:t>
            </a:r>
          </a:p>
        </p:txBody>
      </p:sp>
      <p:graphicFrame>
        <p:nvGraphicFramePr>
          <p:cNvPr id="74763" name="Object 11"/>
          <p:cNvGraphicFramePr>
            <a:graphicFrameLocks noChangeAspect="1"/>
          </p:cNvGraphicFramePr>
          <p:nvPr>
            <p:extLst>
              <p:ext uri="{D42A27DB-BD31-4B8C-83A1-F6EECF244321}">
                <p14:modId xmlns:p14="http://schemas.microsoft.com/office/powerpoint/2010/main" val="309331754"/>
              </p:ext>
            </p:extLst>
          </p:nvPr>
        </p:nvGraphicFramePr>
        <p:xfrm>
          <a:off x="2590800" y="5042677"/>
          <a:ext cx="338138" cy="366712"/>
        </p:xfrm>
        <a:graphic>
          <a:graphicData uri="http://schemas.openxmlformats.org/presentationml/2006/ole">
            <mc:AlternateContent xmlns:mc="http://schemas.openxmlformats.org/markup-compatibility/2006">
              <mc:Choice xmlns:v="urn:schemas-microsoft-com:vml" Requires="v">
                <p:oleObj name="Equation" r:id="rId3" imgW="152280" imgH="164880" progId="Equation.DSMT4">
                  <p:embed/>
                </p:oleObj>
              </mc:Choice>
              <mc:Fallback>
                <p:oleObj name="Equation" r:id="rId3" imgW="152280" imgH="164880" progId="Equation.DSMT4">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5042677"/>
                        <a:ext cx="338138" cy="36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ctrTitle"/>
          </p:nvPr>
        </p:nvSpPr>
        <p:spPr>
          <a:xfrm>
            <a:off x="0" y="228600"/>
            <a:ext cx="9144000" cy="768096"/>
          </a:xfrm>
        </p:spPr>
        <p:txBody>
          <a:bodyPr/>
          <a:lstStyle/>
          <a:p>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Sampling Methods</a:t>
            </a:r>
          </a:p>
        </p:txBody>
      </p:sp>
      <p:sp>
        <p:nvSpPr>
          <p:cNvPr id="79877" name="Text Box 5"/>
          <p:cNvSpPr txBox="1">
            <a:spLocks noChangeArrowheads="1"/>
          </p:cNvSpPr>
          <p:nvPr/>
        </p:nvSpPr>
        <p:spPr bwMode="auto">
          <a:xfrm>
            <a:off x="1295400" y="1505396"/>
            <a:ext cx="6324600" cy="3847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rgbClr val="C00000"/>
              </a:buClr>
              <a:buFontTx/>
              <a:buChar char="•"/>
            </a:pPr>
            <a:r>
              <a:rPr lang="en-US" dirty="0"/>
              <a:t>  Simple random sample</a:t>
            </a:r>
          </a:p>
          <a:p>
            <a:pPr lvl="1">
              <a:spcBef>
                <a:spcPts val="600"/>
              </a:spcBef>
              <a:buClr>
                <a:srgbClr val="C00000"/>
              </a:buClr>
              <a:buFontTx/>
              <a:buChar char="•"/>
            </a:pPr>
            <a:r>
              <a:rPr lang="en-US" sz="1800" dirty="0"/>
              <a:t> List of population items must be available</a:t>
            </a:r>
          </a:p>
          <a:p>
            <a:pPr lvl="1">
              <a:spcBef>
                <a:spcPts val="600"/>
              </a:spcBef>
              <a:buClr>
                <a:srgbClr val="C00000"/>
              </a:buClr>
              <a:buFontTx/>
              <a:buChar char="•"/>
            </a:pPr>
            <a:r>
              <a:rPr lang="en-US" sz="1800" dirty="0"/>
              <a:t> Random numbers are used to choose items</a:t>
            </a:r>
          </a:p>
          <a:p>
            <a:pPr lvl="1">
              <a:spcBef>
                <a:spcPts val="600"/>
              </a:spcBef>
              <a:buClr>
                <a:srgbClr val="C00000"/>
              </a:buClr>
              <a:buFontTx/>
              <a:buChar char="•"/>
            </a:pPr>
            <a:r>
              <a:rPr lang="en-US" sz="1800" dirty="0"/>
              <a:t> Each item has same chance of being selected</a:t>
            </a:r>
          </a:p>
          <a:p>
            <a:pPr>
              <a:spcBef>
                <a:spcPct val="50000"/>
              </a:spcBef>
              <a:buClr>
                <a:srgbClr val="C00000"/>
              </a:buClr>
              <a:buFontTx/>
              <a:buChar char="•"/>
            </a:pPr>
            <a:r>
              <a:rPr lang="en-US" dirty="0"/>
              <a:t>  Systematic sample</a:t>
            </a:r>
          </a:p>
          <a:p>
            <a:pPr lvl="1">
              <a:spcBef>
                <a:spcPts val="600"/>
              </a:spcBef>
              <a:buClr>
                <a:srgbClr val="C00000"/>
              </a:buClr>
              <a:buFontTx/>
              <a:buChar char="•"/>
            </a:pPr>
            <a:r>
              <a:rPr lang="en-US" sz="1800" dirty="0"/>
              <a:t> Continuous process (no list)</a:t>
            </a:r>
          </a:p>
          <a:p>
            <a:pPr lvl="1">
              <a:spcBef>
                <a:spcPts val="600"/>
              </a:spcBef>
              <a:buClr>
                <a:srgbClr val="C00000"/>
              </a:buClr>
              <a:buFontTx/>
              <a:buChar char="•"/>
            </a:pPr>
            <a:r>
              <a:rPr lang="en-US" sz="1800" dirty="0"/>
              <a:t> Non-enumerable population (no list) </a:t>
            </a:r>
          </a:p>
          <a:p>
            <a:pPr lvl="1">
              <a:spcBef>
                <a:spcPts val="600"/>
              </a:spcBef>
              <a:buClr>
                <a:srgbClr val="C00000"/>
              </a:buClr>
              <a:buFontTx/>
              <a:buChar char="•"/>
            </a:pPr>
            <a:r>
              <a:rPr lang="en-US" sz="1800" dirty="0"/>
              <a:t> Choose every </a:t>
            </a:r>
            <a:r>
              <a:rPr lang="en-US" sz="1800" i="1" dirty="0" err="1"/>
              <a:t>k</a:t>
            </a:r>
            <a:r>
              <a:rPr lang="en-US" sz="1800" baseline="30000" dirty="0" err="1"/>
              <a:t>th</a:t>
            </a:r>
            <a:r>
              <a:rPr lang="en-US" sz="1800" dirty="0"/>
              <a:t> item (e.g., every 10th voter at poll exit)</a:t>
            </a:r>
          </a:p>
          <a:p>
            <a:pPr lvl="1">
              <a:spcBef>
                <a:spcPts val="600"/>
              </a:spcBef>
              <a:buClr>
                <a:srgbClr val="C00000"/>
              </a:buClr>
              <a:buFontTx/>
              <a:buChar char="•"/>
            </a:pPr>
            <a:r>
              <a:rPr lang="en-US" sz="1800" dirty="0"/>
              <a:t> Use a random starting point (e.g., the 8th voter)</a:t>
            </a:r>
          </a:p>
          <a:p>
            <a:pPr lvl="1">
              <a:spcBef>
                <a:spcPts val="600"/>
              </a:spcBef>
              <a:buClr>
                <a:srgbClr val="C00000"/>
              </a:buClr>
              <a:buFontTx/>
              <a:buChar char="•"/>
            </a:pPr>
            <a:r>
              <a:rPr lang="en-US" sz="1800" dirty="0"/>
              <a:t> Unbiased unless data are in non-random order</a:t>
            </a:r>
          </a:p>
        </p:txBody>
      </p:sp>
      <p:pic>
        <p:nvPicPr>
          <p:cNvPr id="79878" name="Picture 6" descr="j019538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05601" y="2438400"/>
            <a:ext cx="1422380" cy="14525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ctrTitle"/>
          </p:nvPr>
        </p:nvSpPr>
        <p:spPr>
          <a:xfrm>
            <a:off x="0" y="228600"/>
            <a:ext cx="9144000" cy="768096"/>
          </a:xfrm>
        </p:spPr>
        <p:txBody>
          <a:bodyPr/>
          <a:lstStyle/>
          <a:p>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Sampling Methods</a:t>
            </a:r>
          </a:p>
        </p:txBody>
      </p:sp>
      <p:sp>
        <p:nvSpPr>
          <p:cNvPr id="80901" name="Text Box 5"/>
          <p:cNvSpPr txBox="1">
            <a:spLocks noChangeArrowheads="1"/>
          </p:cNvSpPr>
          <p:nvPr/>
        </p:nvSpPr>
        <p:spPr bwMode="auto">
          <a:xfrm>
            <a:off x="1143000" y="1447800"/>
            <a:ext cx="7086600" cy="34932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rgbClr val="C00000"/>
              </a:buClr>
              <a:buFontTx/>
              <a:buChar char="•"/>
            </a:pPr>
            <a:r>
              <a:rPr lang="en-US" dirty="0"/>
              <a:t>  Stratified sample</a:t>
            </a:r>
          </a:p>
          <a:p>
            <a:pPr lvl="1">
              <a:spcBef>
                <a:spcPts val="600"/>
              </a:spcBef>
              <a:buClr>
                <a:srgbClr val="C00000"/>
              </a:buClr>
              <a:buFontTx/>
              <a:buChar char="•"/>
            </a:pPr>
            <a:r>
              <a:rPr lang="en-US" sz="1800" dirty="0"/>
              <a:t> Each </a:t>
            </a:r>
            <a:r>
              <a:rPr lang="en-US" sz="1800" i="1" dirty="0">
                <a:solidFill>
                  <a:srgbClr val="C00000"/>
                </a:solidFill>
              </a:rPr>
              <a:t>stratum</a:t>
            </a:r>
            <a:r>
              <a:rPr lang="en-US" sz="1800" dirty="0"/>
              <a:t> is a defined population subgroup (e.g., male/female)</a:t>
            </a:r>
          </a:p>
          <a:p>
            <a:pPr lvl="1">
              <a:spcBef>
                <a:spcPts val="600"/>
              </a:spcBef>
              <a:buClr>
                <a:srgbClr val="C00000"/>
              </a:buClr>
              <a:buFontTx/>
              <a:buChar char="•"/>
            </a:pPr>
            <a:r>
              <a:rPr lang="en-US" sz="1800" dirty="0"/>
              <a:t> May be many </a:t>
            </a:r>
            <a:r>
              <a:rPr lang="en-US" sz="1800" i="1" dirty="0">
                <a:solidFill>
                  <a:srgbClr val="C00000"/>
                </a:solidFill>
              </a:rPr>
              <a:t>strata</a:t>
            </a:r>
            <a:r>
              <a:rPr lang="en-US" sz="1800" dirty="0"/>
              <a:t> (e.g., gender, race, occupation)</a:t>
            </a:r>
          </a:p>
          <a:p>
            <a:pPr lvl="1">
              <a:spcBef>
                <a:spcPts val="600"/>
              </a:spcBef>
              <a:buClr>
                <a:srgbClr val="C00000"/>
              </a:buClr>
              <a:buFontTx/>
              <a:buChar char="•"/>
            </a:pPr>
            <a:r>
              <a:rPr lang="en-US" sz="1800" dirty="0"/>
              <a:t> Weight sample estimates by strata size (strata % must be known)</a:t>
            </a:r>
          </a:p>
          <a:p>
            <a:pPr lvl="1">
              <a:spcBef>
                <a:spcPts val="600"/>
              </a:spcBef>
              <a:buClr>
                <a:srgbClr val="C00000"/>
              </a:buClr>
              <a:buFontTx/>
              <a:buChar char="•"/>
            </a:pPr>
            <a:r>
              <a:rPr lang="en-US" sz="1800" dirty="0"/>
              <a:t> Corrects for possible under-representation of groups</a:t>
            </a:r>
          </a:p>
          <a:p>
            <a:pPr>
              <a:spcBef>
                <a:spcPct val="50000"/>
              </a:spcBef>
              <a:buClr>
                <a:srgbClr val="C00000"/>
              </a:buClr>
              <a:buFontTx/>
              <a:buChar char="•"/>
            </a:pPr>
            <a:r>
              <a:rPr lang="en-US" dirty="0"/>
              <a:t>  Cluster sample</a:t>
            </a:r>
          </a:p>
          <a:p>
            <a:pPr lvl="1">
              <a:spcBef>
                <a:spcPts val="600"/>
              </a:spcBef>
              <a:buClr>
                <a:srgbClr val="C00000"/>
              </a:buClr>
              <a:buFontTx/>
              <a:buChar char="•"/>
            </a:pPr>
            <a:r>
              <a:rPr lang="en-US" sz="1800" dirty="0"/>
              <a:t> Like stratification except based on geography (e.g., school districts)</a:t>
            </a:r>
          </a:p>
          <a:p>
            <a:pPr lvl="1">
              <a:spcBef>
                <a:spcPts val="600"/>
              </a:spcBef>
              <a:buClr>
                <a:srgbClr val="C00000"/>
              </a:buClr>
              <a:buFontTx/>
              <a:buChar char="•"/>
            </a:pPr>
            <a:r>
              <a:rPr lang="en-US" sz="1800" dirty="0"/>
              <a:t> Two-stage is common (random cluster, random items in cluster)</a:t>
            </a:r>
          </a:p>
          <a:p>
            <a:pPr lvl="1">
              <a:spcBef>
                <a:spcPts val="600"/>
              </a:spcBef>
              <a:buClr>
                <a:srgbClr val="C00000"/>
              </a:buClr>
              <a:buFontTx/>
              <a:buChar char="•"/>
            </a:pPr>
            <a:r>
              <a:rPr lang="en-US" sz="1800" dirty="0"/>
              <a:t> Reduces travel cost for in-person interviews</a:t>
            </a:r>
          </a:p>
        </p:txBody>
      </p:sp>
      <p:pic>
        <p:nvPicPr>
          <p:cNvPr id="80903" name="Picture 7" descr="pe01460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00800" y="5105400"/>
            <a:ext cx="914400" cy="1135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ctrTitle"/>
          </p:nvPr>
        </p:nvSpPr>
        <p:spPr>
          <a:xfrm>
            <a:off x="0" y="228600"/>
            <a:ext cx="9144000" cy="768096"/>
          </a:xfrm>
        </p:spPr>
        <p:txBody>
          <a:bodyPr/>
          <a:lstStyle/>
          <a:p>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Sampling Methods</a:t>
            </a:r>
          </a:p>
        </p:txBody>
      </p:sp>
      <p:sp>
        <p:nvSpPr>
          <p:cNvPr id="81924" name="Text Box 4"/>
          <p:cNvSpPr txBox="1">
            <a:spLocks noChangeArrowheads="1"/>
          </p:cNvSpPr>
          <p:nvPr/>
        </p:nvSpPr>
        <p:spPr bwMode="auto">
          <a:xfrm>
            <a:off x="762000" y="1371600"/>
            <a:ext cx="563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p>
        </p:txBody>
      </p:sp>
      <p:sp>
        <p:nvSpPr>
          <p:cNvPr id="81925" name="Text Box 5"/>
          <p:cNvSpPr txBox="1">
            <a:spLocks noChangeArrowheads="1"/>
          </p:cNvSpPr>
          <p:nvPr/>
        </p:nvSpPr>
        <p:spPr bwMode="auto">
          <a:xfrm>
            <a:off x="990600" y="1371600"/>
            <a:ext cx="7010400" cy="3847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Clr>
                <a:srgbClr val="C00000"/>
              </a:buClr>
              <a:buFontTx/>
              <a:buChar char="•"/>
            </a:pPr>
            <a:r>
              <a:rPr lang="en-US" dirty="0"/>
              <a:t>  Judgment sample</a:t>
            </a:r>
          </a:p>
          <a:p>
            <a:pPr lvl="1">
              <a:spcBef>
                <a:spcPts val="600"/>
              </a:spcBef>
              <a:buClr>
                <a:srgbClr val="C00000"/>
              </a:buClr>
              <a:buFontTx/>
              <a:buChar char="•"/>
            </a:pPr>
            <a:r>
              <a:rPr lang="en-US" sz="1800" dirty="0"/>
              <a:t> Experts in the field select the sample (e.g., which firms)</a:t>
            </a:r>
          </a:p>
          <a:p>
            <a:pPr lvl="1">
              <a:spcBef>
                <a:spcPts val="600"/>
              </a:spcBef>
              <a:buClr>
                <a:srgbClr val="C00000"/>
              </a:buClr>
              <a:buFontTx/>
              <a:buChar char="•"/>
            </a:pPr>
            <a:r>
              <a:rPr lang="en-US" sz="1800" dirty="0"/>
              <a:t> Utilizes domain knowledge of experts (e.g., software engineers)</a:t>
            </a:r>
          </a:p>
          <a:p>
            <a:pPr lvl="1">
              <a:spcBef>
                <a:spcPts val="600"/>
              </a:spcBef>
              <a:buClr>
                <a:srgbClr val="C00000"/>
              </a:buClr>
              <a:buFontTx/>
              <a:buChar char="•"/>
            </a:pPr>
            <a:r>
              <a:rPr lang="en-US" sz="1800" dirty="0"/>
              <a:t> May avoid wasting time on atypical or unimportant respondents</a:t>
            </a:r>
          </a:p>
          <a:p>
            <a:pPr lvl="1">
              <a:spcBef>
                <a:spcPts val="600"/>
              </a:spcBef>
              <a:buClr>
                <a:srgbClr val="C00000"/>
              </a:buClr>
              <a:buFontTx/>
              <a:buChar char="•"/>
            </a:pPr>
            <a:r>
              <a:rPr lang="en-US" sz="1800" dirty="0"/>
              <a:t> But introduces subjectivity</a:t>
            </a:r>
          </a:p>
          <a:p>
            <a:pPr>
              <a:spcBef>
                <a:spcPct val="50000"/>
              </a:spcBef>
              <a:buClr>
                <a:srgbClr val="C00000"/>
              </a:buClr>
              <a:buFontTx/>
              <a:buChar char="•"/>
            </a:pPr>
            <a:r>
              <a:rPr lang="en-US" dirty="0"/>
              <a:t>  Convenience sample</a:t>
            </a:r>
          </a:p>
          <a:p>
            <a:pPr lvl="1">
              <a:spcBef>
                <a:spcPts val="600"/>
              </a:spcBef>
              <a:buClr>
                <a:srgbClr val="C00000"/>
              </a:buClr>
              <a:buFontTx/>
              <a:buChar char="•"/>
            </a:pPr>
            <a:r>
              <a:rPr lang="en-US" sz="1800" dirty="0"/>
              <a:t> Ask co-workers opinions "because they're handy"</a:t>
            </a:r>
          </a:p>
          <a:p>
            <a:pPr lvl="1">
              <a:spcBef>
                <a:spcPts val="600"/>
              </a:spcBef>
              <a:buClr>
                <a:srgbClr val="C00000"/>
              </a:buClr>
              <a:buFontTx/>
              <a:buChar char="•"/>
            </a:pPr>
            <a:r>
              <a:rPr lang="en-US" sz="1800" dirty="0"/>
              <a:t> Using data that happens to exist already</a:t>
            </a:r>
          </a:p>
          <a:p>
            <a:pPr lvl="1">
              <a:spcBef>
                <a:spcPts val="600"/>
              </a:spcBef>
              <a:buClr>
                <a:srgbClr val="C00000"/>
              </a:buClr>
              <a:buFontTx/>
              <a:buChar char="•"/>
            </a:pPr>
            <a:r>
              <a:rPr lang="en-US" sz="1800" dirty="0"/>
              <a:t> Subjective</a:t>
            </a:r>
          </a:p>
          <a:p>
            <a:pPr lvl="1">
              <a:spcBef>
                <a:spcPts val="600"/>
              </a:spcBef>
              <a:buClr>
                <a:srgbClr val="C00000"/>
              </a:buClr>
              <a:buFontTx/>
              <a:buChar char="•"/>
            </a:pPr>
            <a:r>
              <a:rPr lang="en-US" sz="1800" dirty="0"/>
              <a:t> Unknowable biases</a:t>
            </a:r>
          </a:p>
        </p:txBody>
      </p:sp>
      <p:pic>
        <p:nvPicPr>
          <p:cNvPr id="81926" name="Picture 6" descr="pe01682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91325" y="4441880"/>
            <a:ext cx="1447800" cy="1417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7" name="AutoShape 7"/>
          <p:cNvSpPr>
            <a:spLocks noChangeArrowheads="1"/>
          </p:cNvSpPr>
          <p:nvPr/>
        </p:nvSpPr>
        <p:spPr bwMode="auto">
          <a:xfrm>
            <a:off x="6650935" y="3009007"/>
            <a:ext cx="2090530" cy="838200"/>
          </a:xfrm>
          <a:prstGeom prst="wedgeRoundRectCallout">
            <a:avLst>
              <a:gd name="adj1" fmla="val -607"/>
              <a:gd name="adj2" fmla="val 130335"/>
              <a:gd name="adj3" fmla="val 16667"/>
            </a:avLst>
          </a:prstGeom>
          <a:solidFill>
            <a:srgbClr val="CCECFF"/>
          </a:solidFill>
          <a:ln w="9525">
            <a:solidFill>
              <a:schemeClr val="tx1"/>
            </a:solidFill>
            <a:miter lim="800000"/>
            <a:headEnd/>
            <a:tailEnd/>
          </a:ln>
          <a:effectLst/>
        </p:spPr>
        <p:txBody>
          <a:bodyPr/>
          <a:lstStyle/>
          <a:p>
            <a:pPr algn="ctr"/>
            <a:r>
              <a:rPr lang="en-US" sz="1600" dirty="0"/>
              <a:t>Alas – some key business decisions are made this way!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ctrTitle"/>
          </p:nvPr>
        </p:nvSpPr>
        <p:spPr>
          <a:xfrm>
            <a:off x="0" y="228600"/>
            <a:ext cx="9144000" cy="768096"/>
          </a:xfrm>
        </p:spPr>
        <p:txBody>
          <a:bodyPr/>
          <a:lstStyle/>
          <a:p>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Simple Random Sample</a:t>
            </a:r>
          </a:p>
        </p:txBody>
      </p:sp>
      <p:pic>
        <p:nvPicPr>
          <p:cNvPr id="62553" name="Picture 8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2000" y="3087480"/>
            <a:ext cx="4829175" cy="261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554" name="Text Box 90"/>
          <p:cNvSpPr txBox="1">
            <a:spLocks noChangeArrowheads="1"/>
          </p:cNvSpPr>
          <p:nvPr/>
        </p:nvSpPr>
        <p:spPr bwMode="auto">
          <a:xfrm>
            <a:off x="1110422" y="1186070"/>
            <a:ext cx="4268718" cy="1160809"/>
          </a:xfrm>
          <a:prstGeom prst="rect">
            <a:avLst/>
          </a:prstGeom>
          <a:noFill/>
          <a:ln w="15875">
            <a:noFill/>
            <a:miter lim="800000"/>
            <a:headEnd/>
            <a:tailEnd/>
          </a:ln>
          <a:effectLst/>
        </p:spPr>
        <p:txBody>
          <a:bodyPr/>
          <a:lstStyle/>
          <a:p>
            <a:r>
              <a:rPr lang="en-US" sz="1400" b="1" i="1" dirty="0">
                <a:solidFill>
                  <a:srgbClr val="C00000"/>
                </a:solidFill>
              </a:rPr>
              <a:t>Method</a:t>
            </a:r>
            <a:r>
              <a:rPr lang="en-US" sz="1400" dirty="0"/>
              <a:t>  Here are GPAs of 120 college freshmen seated in a classroom. Ten students were sampled by choosing the row and column at random. Sampled GPAs are highlighted. How well did the sample statistics and histograms match the population?</a:t>
            </a:r>
          </a:p>
        </p:txBody>
      </p:sp>
      <p:pic>
        <p:nvPicPr>
          <p:cNvPr id="62558" name="Picture 9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19200" y="2430991"/>
            <a:ext cx="3700463"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560" name="Text Box 96"/>
          <p:cNvSpPr txBox="1">
            <a:spLocks noChangeArrowheads="1"/>
          </p:cNvSpPr>
          <p:nvPr/>
        </p:nvSpPr>
        <p:spPr bwMode="auto">
          <a:xfrm>
            <a:off x="879872" y="5856931"/>
            <a:ext cx="495691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1400" b="1" i="1" dirty="0">
                <a:solidFill>
                  <a:schemeClr val="accent2"/>
                </a:solidFill>
              </a:rPr>
              <a:t>Note</a:t>
            </a:r>
            <a:r>
              <a:rPr lang="en-US" sz="1400" dirty="0"/>
              <a:t>  If </a:t>
            </a:r>
            <a:r>
              <a:rPr lang="en-US" sz="1400" i="1" dirty="0">
                <a:solidFill>
                  <a:srgbClr val="0000FF"/>
                </a:solidFill>
              </a:rPr>
              <a:t>you</a:t>
            </a:r>
            <a:r>
              <a:rPr lang="en-US" sz="1400" dirty="0"/>
              <a:t> chose the sample, you might avoid adjacent items or try to include each row or column. But that would </a:t>
            </a:r>
            <a:r>
              <a:rPr lang="en-US" sz="1400" i="1" dirty="0">
                <a:solidFill>
                  <a:srgbClr val="0000FF"/>
                </a:solidFill>
              </a:rPr>
              <a:t>not</a:t>
            </a:r>
            <a:r>
              <a:rPr lang="en-US" sz="1400" dirty="0"/>
              <a:t> be random.</a:t>
            </a:r>
          </a:p>
        </p:txBody>
      </p:sp>
      <p:pic>
        <p:nvPicPr>
          <p:cNvPr id="3" name="Picture 2">
            <a:extLst>
              <a:ext uri="{FF2B5EF4-FFF2-40B4-BE49-F238E27FC236}">
                <a16:creationId xmlns:a16="http://schemas.microsoft.com/office/drawing/2014/main" id="{B2A6325D-FD0C-47B0-BF78-B4FE0C836C68}"/>
              </a:ext>
            </a:extLst>
          </p:cNvPr>
          <p:cNvPicPr>
            <a:picLocks noChangeAspect="1"/>
          </p:cNvPicPr>
          <p:nvPr/>
        </p:nvPicPr>
        <p:blipFill>
          <a:blip r:embed="rId4"/>
          <a:stretch>
            <a:fillRect/>
          </a:stretch>
        </p:blipFill>
        <p:spPr>
          <a:xfrm>
            <a:off x="5836783" y="1235428"/>
            <a:ext cx="2209800" cy="1666875"/>
          </a:xfrm>
          <a:prstGeom prst="rect">
            <a:avLst/>
          </a:prstGeom>
        </p:spPr>
      </p:pic>
      <p:pic>
        <p:nvPicPr>
          <p:cNvPr id="5" name="Picture 4">
            <a:extLst>
              <a:ext uri="{FF2B5EF4-FFF2-40B4-BE49-F238E27FC236}">
                <a16:creationId xmlns:a16="http://schemas.microsoft.com/office/drawing/2014/main" id="{09296F4F-C7D0-4C06-82A8-0C9DB6144ADF}"/>
              </a:ext>
            </a:extLst>
          </p:cNvPr>
          <p:cNvPicPr>
            <a:picLocks noChangeAspect="1"/>
          </p:cNvPicPr>
          <p:nvPr/>
        </p:nvPicPr>
        <p:blipFill>
          <a:blip r:embed="rId5"/>
          <a:stretch>
            <a:fillRect/>
          </a:stretch>
        </p:blipFill>
        <p:spPr>
          <a:xfrm>
            <a:off x="5923021" y="2986415"/>
            <a:ext cx="2171700" cy="1714500"/>
          </a:xfrm>
          <a:prstGeom prst="rect">
            <a:avLst/>
          </a:prstGeom>
        </p:spPr>
      </p:pic>
      <p:pic>
        <p:nvPicPr>
          <p:cNvPr id="7" name="Picture 6">
            <a:extLst>
              <a:ext uri="{FF2B5EF4-FFF2-40B4-BE49-F238E27FC236}">
                <a16:creationId xmlns:a16="http://schemas.microsoft.com/office/drawing/2014/main" id="{B8B3D9DD-1B2F-466F-A515-331431D1537E}"/>
              </a:ext>
            </a:extLst>
          </p:cNvPr>
          <p:cNvPicPr>
            <a:picLocks noChangeAspect="1"/>
          </p:cNvPicPr>
          <p:nvPr/>
        </p:nvPicPr>
        <p:blipFill>
          <a:blip r:embed="rId6"/>
          <a:stretch>
            <a:fillRect/>
          </a:stretch>
        </p:blipFill>
        <p:spPr>
          <a:xfrm>
            <a:off x="5923021" y="4785027"/>
            <a:ext cx="2286000" cy="14668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ctrTitle"/>
          </p:nvPr>
        </p:nvSpPr>
        <p:spPr>
          <a:xfrm>
            <a:off x="0" y="228600"/>
            <a:ext cx="9144000" cy="768096"/>
          </a:xfrm>
        </p:spPr>
        <p:txBody>
          <a:bodyPr/>
          <a:lstStyle/>
          <a:p>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Systematic Sample</a:t>
            </a:r>
          </a:p>
        </p:txBody>
      </p:sp>
      <p:pic>
        <p:nvPicPr>
          <p:cNvPr id="82951" name="Picture 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0" y="2667000"/>
            <a:ext cx="4829175" cy="2613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2953" name="Text Box 9"/>
          <p:cNvSpPr txBox="1">
            <a:spLocks noChangeArrowheads="1"/>
          </p:cNvSpPr>
          <p:nvPr/>
        </p:nvSpPr>
        <p:spPr bwMode="auto">
          <a:xfrm>
            <a:off x="4191000" y="1219200"/>
            <a:ext cx="4267200" cy="1219200"/>
          </a:xfrm>
          <a:prstGeom prst="rect">
            <a:avLst/>
          </a:prstGeom>
          <a:noFill/>
          <a:ln w="15875">
            <a:noFill/>
            <a:miter lim="800000"/>
            <a:headEnd/>
            <a:tailEnd/>
          </a:ln>
          <a:effectLst/>
        </p:spPr>
        <p:txBody>
          <a:bodyPr/>
          <a:lstStyle>
            <a:defPPr>
              <a:defRPr lang="en-US"/>
            </a:defPPr>
            <a:lvl1pPr>
              <a:defRPr sz="1400" b="1" i="1">
                <a:solidFill>
                  <a:srgbClr val="C00000"/>
                </a:solidFill>
              </a:defRPr>
            </a:lvl1pPr>
          </a:lstStyle>
          <a:p>
            <a:r>
              <a:rPr lang="en-US" dirty="0"/>
              <a:t>Method</a:t>
            </a:r>
            <a:r>
              <a:rPr lang="en-US" b="0" i="0" dirty="0">
                <a:solidFill>
                  <a:schemeClr val="tx1"/>
                </a:solidFill>
              </a:rPr>
              <a:t>  Data are the GPAs of college freshmen in a classroom.  Choose 10 at random by picking every 12th student starting in row 5, column 1 and going down and across. Sampled GPAs are highlighted.  How well do the sample statistics and histograms match the population?</a:t>
            </a:r>
          </a:p>
        </p:txBody>
      </p:sp>
      <p:sp>
        <p:nvSpPr>
          <p:cNvPr id="82954" name="Text Box 10"/>
          <p:cNvSpPr txBox="1">
            <a:spLocks noChangeArrowheads="1"/>
          </p:cNvSpPr>
          <p:nvPr/>
        </p:nvSpPr>
        <p:spPr bwMode="auto">
          <a:xfrm>
            <a:off x="4048125" y="5516962"/>
            <a:ext cx="460057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sz="1400" i="1" dirty="0">
                <a:solidFill>
                  <a:schemeClr val="accent2"/>
                </a:solidFill>
              </a:rPr>
              <a:t>Note</a:t>
            </a:r>
            <a:r>
              <a:rPr lang="en-US" sz="1400" dirty="0"/>
              <a:t>  Although this sample happens to give poor estimates, the systematic </a:t>
            </a:r>
            <a:r>
              <a:rPr lang="en-US" sz="1400" i="1" dirty="0"/>
              <a:t>method</a:t>
            </a:r>
            <a:r>
              <a:rPr lang="en-US" sz="1400" dirty="0"/>
              <a:t> is not to blame. It's just sampling error.</a:t>
            </a:r>
          </a:p>
        </p:txBody>
      </p:sp>
      <p:pic>
        <p:nvPicPr>
          <p:cNvPr id="9" name="Picture 8">
            <a:extLst>
              <a:ext uri="{FF2B5EF4-FFF2-40B4-BE49-F238E27FC236}">
                <a16:creationId xmlns:a16="http://schemas.microsoft.com/office/drawing/2014/main" id="{FBFDA5E8-D013-410F-8504-658B80A0665A}"/>
              </a:ext>
            </a:extLst>
          </p:cNvPr>
          <p:cNvPicPr>
            <a:picLocks noChangeAspect="1"/>
          </p:cNvPicPr>
          <p:nvPr/>
        </p:nvPicPr>
        <p:blipFill>
          <a:blip r:embed="rId3"/>
          <a:stretch>
            <a:fillRect/>
          </a:stretch>
        </p:blipFill>
        <p:spPr>
          <a:xfrm>
            <a:off x="995991" y="1058608"/>
            <a:ext cx="2209800" cy="1666875"/>
          </a:xfrm>
          <a:prstGeom prst="rect">
            <a:avLst/>
          </a:prstGeom>
        </p:spPr>
      </p:pic>
      <p:pic>
        <p:nvPicPr>
          <p:cNvPr id="3" name="Picture 2">
            <a:extLst>
              <a:ext uri="{FF2B5EF4-FFF2-40B4-BE49-F238E27FC236}">
                <a16:creationId xmlns:a16="http://schemas.microsoft.com/office/drawing/2014/main" id="{D66E2D89-1429-4042-A293-377545371626}"/>
              </a:ext>
            </a:extLst>
          </p:cNvPr>
          <p:cNvPicPr>
            <a:picLocks noChangeAspect="1"/>
          </p:cNvPicPr>
          <p:nvPr/>
        </p:nvPicPr>
        <p:blipFill>
          <a:blip r:embed="rId4"/>
          <a:stretch>
            <a:fillRect/>
          </a:stretch>
        </p:blipFill>
        <p:spPr>
          <a:xfrm>
            <a:off x="1072191" y="2787395"/>
            <a:ext cx="2181225" cy="1704975"/>
          </a:xfrm>
          <a:prstGeom prst="rect">
            <a:avLst/>
          </a:prstGeom>
        </p:spPr>
      </p:pic>
      <p:pic>
        <p:nvPicPr>
          <p:cNvPr id="7" name="Picture 6">
            <a:extLst>
              <a:ext uri="{FF2B5EF4-FFF2-40B4-BE49-F238E27FC236}">
                <a16:creationId xmlns:a16="http://schemas.microsoft.com/office/drawing/2014/main" id="{0EA83F88-52D4-4D39-80A9-D9C7704F954B}"/>
              </a:ext>
            </a:extLst>
          </p:cNvPr>
          <p:cNvPicPr>
            <a:picLocks noChangeAspect="1"/>
          </p:cNvPicPr>
          <p:nvPr/>
        </p:nvPicPr>
        <p:blipFill>
          <a:blip r:embed="rId5"/>
          <a:stretch>
            <a:fillRect/>
          </a:stretch>
        </p:blipFill>
        <p:spPr>
          <a:xfrm>
            <a:off x="1226657" y="4563807"/>
            <a:ext cx="2257425" cy="147637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ctrTitle"/>
          </p:nvPr>
        </p:nvSpPr>
        <p:spPr>
          <a:xfrm>
            <a:off x="0" y="228600"/>
            <a:ext cx="9144000" cy="768096"/>
          </a:xfrm>
        </p:spPr>
        <p:txBody>
          <a:bodyPr/>
          <a:lstStyle/>
          <a:p>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Cluster Sample</a:t>
            </a:r>
          </a:p>
        </p:txBody>
      </p:sp>
      <p:sp>
        <p:nvSpPr>
          <p:cNvPr id="83971" name="Text Box 3"/>
          <p:cNvSpPr txBox="1">
            <a:spLocks noChangeArrowheads="1"/>
          </p:cNvSpPr>
          <p:nvPr/>
        </p:nvSpPr>
        <p:spPr bwMode="auto">
          <a:xfrm>
            <a:off x="762000" y="1371600"/>
            <a:ext cx="563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p>
        </p:txBody>
      </p:sp>
      <p:sp>
        <p:nvSpPr>
          <p:cNvPr id="83973" name="Text Box 5"/>
          <p:cNvSpPr txBox="1">
            <a:spLocks noChangeArrowheads="1"/>
          </p:cNvSpPr>
          <p:nvPr/>
        </p:nvSpPr>
        <p:spPr bwMode="auto">
          <a:xfrm>
            <a:off x="1019174" y="1060703"/>
            <a:ext cx="6448425" cy="1342527"/>
          </a:xfrm>
          <a:prstGeom prst="rect">
            <a:avLst/>
          </a:prstGeom>
          <a:noFill/>
          <a:ln w="15875">
            <a:noFill/>
            <a:miter lim="800000"/>
            <a:headEnd/>
            <a:tailEnd/>
          </a:ln>
          <a:effectLst/>
        </p:spPr>
        <p:txBody>
          <a:bodyPr/>
          <a:lstStyle>
            <a:defPPr>
              <a:defRPr lang="en-US"/>
            </a:defPPr>
            <a:lvl1pPr>
              <a:defRPr sz="1400" b="1" i="1">
                <a:solidFill>
                  <a:srgbClr val="C00000"/>
                </a:solidFill>
              </a:defRPr>
            </a:lvl1pPr>
          </a:lstStyle>
          <a:p>
            <a:r>
              <a:rPr lang="en-US" dirty="0"/>
              <a:t>Method  </a:t>
            </a:r>
            <a:r>
              <a:rPr lang="en-US" b="0" i="0" dirty="0">
                <a:solidFill>
                  <a:schemeClr val="tx1"/>
                </a:solidFill>
              </a:rPr>
              <a:t>As a senior project, a team of political science students plans to conduct in-depth video interviews with dorm students to ascertain their views and information sources on an upcoming election. Each interview requires 15 minutes. They require a sample of 20 students. There are 11 dorms. To save interview room setup time, they choose 4 dorms at random and select 5 at random students in each dorm. This is a </a:t>
            </a:r>
            <a:r>
              <a:rPr lang="en-US" dirty="0"/>
              <a:t>two-stage</a:t>
            </a:r>
            <a:r>
              <a:rPr lang="en-US" b="0" i="0" dirty="0">
                <a:solidFill>
                  <a:schemeClr val="tx1"/>
                </a:solidFill>
              </a:rPr>
              <a:t> cluster sample.</a:t>
            </a:r>
          </a:p>
        </p:txBody>
      </p:sp>
      <p:pic>
        <p:nvPicPr>
          <p:cNvPr id="4" name="Picture 3">
            <a:extLst>
              <a:ext uri="{FF2B5EF4-FFF2-40B4-BE49-F238E27FC236}">
                <a16:creationId xmlns:a16="http://schemas.microsoft.com/office/drawing/2014/main" id="{D4599E36-98A0-DC9E-C7E5-8EF2021FDDD5}"/>
              </a:ext>
            </a:extLst>
          </p:cNvPr>
          <p:cNvPicPr>
            <a:picLocks noChangeAspect="1"/>
          </p:cNvPicPr>
          <p:nvPr/>
        </p:nvPicPr>
        <p:blipFill>
          <a:blip r:embed="rId2"/>
          <a:stretch>
            <a:fillRect/>
          </a:stretch>
        </p:blipFill>
        <p:spPr>
          <a:xfrm>
            <a:off x="1614486" y="2651784"/>
            <a:ext cx="5257800" cy="34766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ctrTitle"/>
          </p:nvPr>
        </p:nvSpPr>
        <p:spPr>
          <a:xfrm>
            <a:off x="0" y="228600"/>
            <a:ext cx="9144000" cy="768096"/>
          </a:xfrm>
        </p:spPr>
        <p:txBody>
          <a:bodyPr/>
          <a:lstStyle/>
          <a:p>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Stratified Sample</a:t>
            </a:r>
          </a:p>
        </p:txBody>
      </p:sp>
      <p:sp>
        <p:nvSpPr>
          <p:cNvPr id="83971" name="Text Box 3"/>
          <p:cNvSpPr txBox="1">
            <a:spLocks noChangeArrowheads="1"/>
          </p:cNvSpPr>
          <p:nvPr/>
        </p:nvSpPr>
        <p:spPr bwMode="auto">
          <a:xfrm>
            <a:off x="762000" y="1371600"/>
            <a:ext cx="563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p>
        </p:txBody>
      </p:sp>
      <p:sp>
        <p:nvSpPr>
          <p:cNvPr id="83973" name="Text Box 5"/>
          <p:cNvSpPr txBox="1">
            <a:spLocks noChangeArrowheads="1"/>
          </p:cNvSpPr>
          <p:nvPr/>
        </p:nvSpPr>
        <p:spPr bwMode="auto">
          <a:xfrm>
            <a:off x="1019175" y="1060703"/>
            <a:ext cx="6372226" cy="1225297"/>
          </a:xfrm>
          <a:prstGeom prst="rect">
            <a:avLst/>
          </a:prstGeom>
          <a:noFill/>
          <a:ln w="15875">
            <a:noFill/>
            <a:miter lim="800000"/>
            <a:headEnd/>
            <a:tailEnd/>
          </a:ln>
          <a:effectLst/>
        </p:spPr>
        <p:txBody>
          <a:bodyPr/>
          <a:lstStyle>
            <a:defPPr>
              <a:defRPr lang="en-US"/>
            </a:defPPr>
            <a:lvl1pPr>
              <a:defRPr sz="1400" b="1" i="1">
                <a:solidFill>
                  <a:srgbClr val="C00000"/>
                </a:solidFill>
              </a:defRPr>
            </a:lvl1pPr>
          </a:lstStyle>
          <a:p>
            <a:r>
              <a:rPr lang="en-US" dirty="0"/>
              <a:t>Method</a:t>
            </a:r>
            <a:r>
              <a:rPr lang="en-US" b="0" i="0" dirty="0">
                <a:solidFill>
                  <a:schemeClr val="tx1"/>
                </a:solidFill>
              </a:rPr>
              <a:t>  A </a:t>
            </a:r>
            <a:r>
              <a:rPr lang="en-US" dirty="0"/>
              <a:t>stratum</a:t>
            </a:r>
            <a:r>
              <a:rPr lang="en-US" b="0" i="0" dirty="0">
                <a:solidFill>
                  <a:schemeClr val="tx1"/>
                </a:solidFill>
              </a:rPr>
              <a:t> (plural </a:t>
            </a:r>
            <a:r>
              <a:rPr lang="en-US" dirty="0"/>
              <a:t>strata</a:t>
            </a:r>
            <a:r>
              <a:rPr lang="en-US" b="0" i="0" dirty="0">
                <a:solidFill>
                  <a:schemeClr val="tx1"/>
                </a:solidFill>
              </a:rPr>
              <a:t>) is a specific subgroup of individuals defined by a characteristic such as age or race or gender (e.g., black women under age 30). A random sample may not accurately reflect all population strata. </a:t>
            </a:r>
            <a:r>
              <a:rPr lang="en-US" dirty="0"/>
              <a:t>Stratified sampling</a:t>
            </a:r>
            <a:r>
              <a:rPr lang="en-US" b="0" i="0" dirty="0">
                <a:solidFill>
                  <a:schemeClr val="tx1"/>
                </a:solidFill>
              </a:rPr>
              <a:t> seeks to sample individuals within each stratum so as to ensure an accurate representation of the population. </a:t>
            </a:r>
          </a:p>
        </p:txBody>
      </p:sp>
      <p:pic>
        <p:nvPicPr>
          <p:cNvPr id="2" name="Picture 1">
            <a:extLst>
              <a:ext uri="{FF2B5EF4-FFF2-40B4-BE49-F238E27FC236}">
                <a16:creationId xmlns:a16="http://schemas.microsoft.com/office/drawing/2014/main" id="{68A5A5C9-9431-80B0-1F8E-5D5384D8E12C}"/>
              </a:ext>
            </a:extLst>
          </p:cNvPr>
          <p:cNvPicPr>
            <a:picLocks noChangeAspect="1"/>
          </p:cNvPicPr>
          <p:nvPr/>
        </p:nvPicPr>
        <p:blipFill>
          <a:blip r:embed="rId2"/>
          <a:stretch>
            <a:fillRect/>
          </a:stretch>
        </p:blipFill>
        <p:spPr>
          <a:xfrm>
            <a:off x="4495800" y="3613965"/>
            <a:ext cx="2581275" cy="2686050"/>
          </a:xfrm>
          <a:prstGeom prst="rect">
            <a:avLst/>
          </a:prstGeom>
        </p:spPr>
      </p:pic>
      <p:sp>
        <p:nvSpPr>
          <p:cNvPr id="3" name="TextBox 2">
            <a:extLst>
              <a:ext uri="{FF2B5EF4-FFF2-40B4-BE49-F238E27FC236}">
                <a16:creationId xmlns:a16="http://schemas.microsoft.com/office/drawing/2014/main" id="{28062754-C539-245C-D97A-CC3C3F7E8042}"/>
              </a:ext>
            </a:extLst>
          </p:cNvPr>
          <p:cNvSpPr txBox="1"/>
          <p:nvPr/>
        </p:nvSpPr>
        <p:spPr>
          <a:xfrm>
            <a:off x="1019175" y="2365207"/>
            <a:ext cx="2581275" cy="954107"/>
          </a:xfrm>
          <a:prstGeom prst="rect">
            <a:avLst/>
          </a:prstGeom>
          <a:noFill/>
        </p:spPr>
        <p:txBody>
          <a:bodyPr wrap="square" rtlCol="0">
            <a:spAutoFit/>
          </a:bodyPr>
          <a:lstStyle/>
          <a:p>
            <a:r>
              <a:rPr lang="en-US" sz="1400" b="1" i="1" dirty="0">
                <a:solidFill>
                  <a:srgbClr val="C00000"/>
                </a:solidFill>
              </a:rPr>
              <a:t>But …</a:t>
            </a:r>
            <a:r>
              <a:rPr lang="en-US" sz="1400" dirty="0"/>
              <a:t> We often do not know the true population proportions, making </a:t>
            </a:r>
            <a:r>
              <a:rPr lang="en-US" sz="1400" i="1" dirty="0"/>
              <a:t>a priori</a:t>
            </a:r>
            <a:r>
              <a:rPr lang="en-US" sz="1400" dirty="0"/>
              <a:t> stratification impossible.</a:t>
            </a:r>
          </a:p>
        </p:txBody>
      </p:sp>
      <p:sp>
        <p:nvSpPr>
          <p:cNvPr id="8" name="TextBox 7">
            <a:extLst>
              <a:ext uri="{FF2B5EF4-FFF2-40B4-BE49-F238E27FC236}">
                <a16:creationId xmlns:a16="http://schemas.microsoft.com/office/drawing/2014/main" id="{56DC42AE-CB6B-205B-385B-5B11545641D4}"/>
              </a:ext>
            </a:extLst>
          </p:cNvPr>
          <p:cNvSpPr txBox="1"/>
          <p:nvPr/>
        </p:nvSpPr>
        <p:spPr>
          <a:xfrm>
            <a:off x="4343400" y="2365207"/>
            <a:ext cx="2581275" cy="1169551"/>
          </a:xfrm>
          <a:prstGeom prst="rect">
            <a:avLst/>
          </a:prstGeom>
          <a:noFill/>
        </p:spPr>
        <p:txBody>
          <a:bodyPr wrap="square" rtlCol="0">
            <a:spAutoFit/>
          </a:bodyPr>
          <a:lstStyle/>
          <a:p>
            <a:r>
              <a:rPr lang="en-US" sz="1400" b="1" i="1" dirty="0">
                <a:solidFill>
                  <a:srgbClr val="C00000"/>
                </a:solidFill>
              </a:rPr>
              <a:t>Moreover …</a:t>
            </a:r>
            <a:r>
              <a:rPr lang="en-US" sz="1400" dirty="0"/>
              <a:t> The number strata can be huge, depending on how we define the strata. For example, the U.S. Census has 13 categories of ethnicity. </a:t>
            </a:r>
          </a:p>
        </p:txBody>
      </p:sp>
      <p:sp>
        <p:nvSpPr>
          <p:cNvPr id="9" name="TextBox 8">
            <a:extLst>
              <a:ext uri="{FF2B5EF4-FFF2-40B4-BE49-F238E27FC236}">
                <a16:creationId xmlns:a16="http://schemas.microsoft.com/office/drawing/2014/main" id="{719BA8E8-BFB9-BA41-851B-69B839ACF992}"/>
              </a:ext>
            </a:extLst>
          </p:cNvPr>
          <p:cNvSpPr txBox="1"/>
          <p:nvPr/>
        </p:nvSpPr>
        <p:spPr>
          <a:xfrm>
            <a:off x="1019175" y="3445668"/>
            <a:ext cx="2867025" cy="1384995"/>
          </a:xfrm>
          <a:prstGeom prst="rect">
            <a:avLst/>
          </a:prstGeom>
          <a:noFill/>
        </p:spPr>
        <p:txBody>
          <a:bodyPr wrap="square" rtlCol="0">
            <a:spAutoFit/>
          </a:bodyPr>
          <a:lstStyle/>
          <a:p>
            <a:r>
              <a:rPr lang="en-US" sz="1400" b="1" i="1" dirty="0">
                <a:solidFill>
                  <a:srgbClr val="C00000"/>
                </a:solidFill>
              </a:rPr>
              <a:t>For example …</a:t>
            </a:r>
            <a:r>
              <a:rPr lang="en-US" sz="1400" dirty="0"/>
              <a:t> If we arbitrarily define 6 genders, 10 age groups, and 13 ethnicities, there are 6 × 10 × 13 = 780 strata. A sample of 20 individuals in each stratum would require </a:t>
            </a:r>
            <a:r>
              <a:rPr lang="en-US" sz="1400" i="1" dirty="0"/>
              <a:t>n</a:t>
            </a:r>
            <a:r>
              <a:rPr lang="en-US" sz="1400" dirty="0"/>
              <a:t> = 15,600.</a:t>
            </a:r>
          </a:p>
        </p:txBody>
      </p:sp>
      <p:pic>
        <p:nvPicPr>
          <p:cNvPr id="10" name="Picture 12" descr="C:\Users\Blythe\AppData\Local\Microsoft\Windows\Temporary Internet Files\Content.IE5\T28SMCVP\MC900078714[1].wmf">
            <a:extLst>
              <a:ext uri="{FF2B5EF4-FFF2-40B4-BE49-F238E27FC236}">
                <a16:creationId xmlns:a16="http://schemas.microsoft.com/office/drawing/2014/main" id="{F0C50784-275E-8F5F-6B0B-923218219E0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8349" y="4810820"/>
            <a:ext cx="746363" cy="1402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4240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ctrTitle"/>
          </p:nvPr>
        </p:nvSpPr>
        <p:spPr>
          <a:xfrm>
            <a:off x="0" y="228600"/>
            <a:ext cx="9144000" cy="768096"/>
          </a:xfrm>
        </p:spPr>
        <p:txBody>
          <a:bodyPr/>
          <a:lstStyle/>
          <a:p>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Stratified Sample</a:t>
            </a:r>
          </a:p>
        </p:txBody>
      </p:sp>
      <p:sp>
        <p:nvSpPr>
          <p:cNvPr id="83971" name="Text Box 3"/>
          <p:cNvSpPr txBox="1">
            <a:spLocks noChangeArrowheads="1"/>
          </p:cNvSpPr>
          <p:nvPr/>
        </p:nvSpPr>
        <p:spPr bwMode="auto">
          <a:xfrm>
            <a:off x="762000" y="1371600"/>
            <a:ext cx="563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p>
        </p:txBody>
      </p:sp>
      <p:sp>
        <p:nvSpPr>
          <p:cNvPr id="83973" name="Text Box 5"/>
          <p:cNvSpPr txBox="1">
            <a:spLocks noChangeArrowheads="1"/>
          </p:cNvSpPr>
          <p:nvPr/>
        </p:nvSpPr>
        <p:spPr bwMode="auto">
          <a:xfrm>
            <a:off x="1019175" y="1060703"/>
            <a:ext cx="6372225" cy="1884324"/>
          </a:xfrm>
          <a:prstGeom prst="rect">
            <a:avLst/>
          </a:prstGeom>
          <a:noFill/>
          <a:ln w="15875">
            <a:noFill/>
            <a:miter lim="800000"/>
            <a:headEnd/>
            <a:tailEnd/>
          </a:ln>
          <a:effectLst/>
        </p:spPr>
        <p:txBody>
          <a:bodyPr/>
          <a:lstStyle>
            <a:defPPr>
              <a:defRPr lang="en-US"/>
            </a:defPPr>
            <a:lvl1pPr>
              <a:defRPr sz="1400" b="1" i="1">
                <a:solidFill>
                  <a:srgbClr val="C00000"/>
                </a:solidFill>
              </a:defRPr>
            </a:lvl1pPr>
          </a:lstStyle>
          <a:p>
            <a:r>
              <a:rPr lang="en-US" dirty="0"/>
              <a:t>Workaround</a:t>
            </a:r>
            <a:r>
              <a:rPr lang="en-US" b="0" i="0" dirty="0">
                <a:solidFill>
                  <a:schemeClr val="tx1"/>
                </a:solidFill>
              </a:rPr>
              <a:t>  </a:t>
            </a:r>
            <a:r>
              <a:rPr lang="en-US" sz="1400" b="0" i="0" dirty="0">
                <a:solidFill>
                  <a:schemeClr val="tx1"/>
                </a:solidFill>
              </a:rPr>
              <a:t>Because we often do not know the true population proportions (making </a:t>
            </a:r>
            <a:r>
              <a:rPr lang="en-US" sz="1400" b="0" dirty="0">
                <a:solidFill>
                  <a:schemeClr val="tx1"/>
                </a:solidFill>
              </a:rPr>
              <a:t>a priori </a:t>
            </a:r>
            <a:r>
              <a:rPr lang="en-US" sz="1400" b="0" i="0" dirty="0">
                <a:solidFill>
                  <a:schemeClr val="tx1"/>
                </a:solidFill>
              </a:rPr>
              <a:t>stratification impossible) and our survey budget constrains our sample size, how can we ensure fair estimation of each stratum? One workaround is to take a random sample that we can afford and then drastically simplify our definitions of strata so that enough individuals are sampled within each stratum. If population proportions are known (e.g., from prior research) we can form an overall estimate of a parameter (e.g., Covid-19 vaccination rates) </a:t>
            </a:r>
            <a:r>
              <a:rPr lang="en-US" sz="1400" b="0" dirty="0">
                <a:solidFill>
                  <a:schemeClr val="tx1"/>
                </a:solidFill>
              </a:rPr>
              <a:t>after taking the sample</a:t>
            </a:r>
            <a:r>
              <a:rPr lang="en-US" sz="1400" b="0" i="0" dirty="0">
                <a:solidFill>
                  <a:schemeClr val="tx1"/>
                </a:solidFill>
              </a:rPr>
              <a:t> by weighting each individual stratum estimate by its subgroup proportion.</a:t>
            </a:r>
            <a:endParaRPr lang="en-US" b="0" i="0" dirty="0">
              <a:solidFill>
                <a:schemeClr val="tx1"/>
              </a:solidFill>
            </a:endParaRPr>
          </a:p>
        </p:txBody>
      </p:sp>
      <p:sp>
        <p:nvSpPr>
          <p:cNvPr id="9" name="TextBox 8">
            <a:extLst>
              <a:ext uri="{FF2B5EF4-FFF2-40B4-BE49-F238E27FC236}">
                <a16:creationId xmlns:a16="http://schemas.microsoft.com/office/drawing/2014/main" id="{719BA8E8-BFB9-BA41-851B-69B839ACF992}"/>
              </a:ext>
            </a:extLst>
          </p:cNvPr>
          <p:cNvSpPr txBox="1"/>
          <p:nvPr/>
        </p:nvSpPr>
        <p:spPr>
          <a:xfrm>
            <a:off x="1013907" y="3103122"/>
            <a:ext cx="4086226" cy="954107"/>
          </a:xfrm>
          <a:prstGeom prst="rect">
            <a:avLst/>
          </a:prstGeom>
          <a:noFill/>
        </p:spPr>
        <p:txBody>
          <a:bodyPr wrap="square" rtlCol="0">
            <a:spAutoFit/>
          </a:bodyPr>
          <a:lstStyle/>
          <a:p>
            <a:r>
              <a:rPr lang="en-US" sz="1400" b="1" i="1" dirty="0">
                <a:solidFill>
                  <a:srgbClr val="C00000"/>
                </a:solidFill>
              </a:rPr>
              <a:t>For example …</a:t>
            </a:r>
            <a:r>
              <a:rPr lang="en-US" sz="1400" dirty="0"/>
              <a:t> Even if we limit ourselves to only 2 genders, 4 age groups, and 3 ethnicities, we still have 2 × 4 × 3 = 24 strata. Even if the sample is large, we may still have enough individuals in each stratum! </a:t>
            </a:r>
          </a:p>
        </p:txBody>
      </p:sp>
      <p:pic>
        <p:nvPicPr>
          <p:cNvPr id="5" name="Picture 4">
            <a:extLst>
              <a:ext uri="{FF2B5EF4-FFF2-40B4-BE49-F238E27FC236}">
                <a16:creationId xmlns:a16="http://schemas.microsoft.com/office/drawing/2014/main" id="{C46FF2EC-CCAC-076E-BEBF-BDA6101DB8C2}"/>
              </a:ext>
            </a:extLst>
          </p:cNvPr>
          <p:cNvPicPr>
            <a:picLocks noChangeAspect="1"/>
          </p:cNvPicPr>
          <p:nvPr/>
        </p:nvPicPr>
        <p:blipFill>
          <a:blip r:embed="rId2"/>
          <a:stretch>
            <a:fillRect/>
          </a:stretch>
        </p:blipFill>
        <p:spPr>
          <a:xfrm>
            <a:off x="1178061" y="4215324"/>
            <a:ext cx="2581275" cy="971550"/>
          </a:xfrm>
          <a:prstGeom prst="rect">
            <a:avLst/>
          </a:prstGeom>
        </p:spPr>
      </p:pic>
      <p:sp>
        <p:nvSpPr>
          <p:cNvPr id="13" name="Thought Bubble: Cloud 12">
            <a:extLst>
              <a:ext uri="{FF2B5EF4-FFF2-40B4-BE49-F238E27FC236}">
                <a16:creationId xmlns:a16="http://schemas.microsoft.com/office/drawing/2014/main" id="{48FBFE11-5BD9-4BC7-B7CD-C4BC8CFDC370}"/>
              </a:ext>
            </a:extLst>
          </p:cNvPr>
          <p:cNvSpPr/>
          <p:nvPr/>
        </p:nvSpPr>
        <p:spPr bwMode="auto">
          <a:xfrm>
            <a:off x="5318397" y="2739515"/>
            <a:ext cx="2909383" cy="1527251"/>
          </a:xfrm>
          <a:prstGeom prst="cloudCallout">
            <a:avLst>
              <a:gd name="adj1" fmla="val -60998"/>
              <a:gd name="adj2" fmla="val 77728"/>
            </a:avLst>
          </a:prstGeom>
          <a:solidFill>
            <a:srgbClr val="CCECFF">
              <a:alpha val="25490"/>
            </a:srgb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400" b="0" i="0" u="none" strike="noStrike" cap="none" normalizeH="0" baseline="0" dirty="0">
                <a:ln>
                  <a:noFill/>
                </a:ln>
                <a:solidFill>
                  <a:schemeClr val="tx1"/>
                </a:solidFill>
                <a:effectLst/>
                <a:latin typeface="Times New Roman" pitchFamily="18" charset="0"/>
              </a:rPr>
              <a:t>There is no free lunch. We can’t always break down the data as much as we’d like.</a:t>
            </a:r>
          </a:p>
        </p:txBody>
      </p:sp>
      <p:pic>
        <p:nvPicPr>
          <p:cNvPr id="19" name="Picture 2" descr="C:\Users\doane\AppData\Local\Microsoft\Windows\Temporary Internet Files\Content.IE5\3CB5N1BZ\MC900053284[1].wmf">
            <a:extLst>
              <a:ext uri="{FF2B5EF4-FFF2-40B4-BE49-F238E27FC236}">
                <a16:creationId xmlns:a16="http://schemas.microsoft.com/office/drawing/2014/main" id="{E17CE890-13F9-4872-A79C-6A560F9E2D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62400" y="4797356"/>
            <a:ext cx="1524000" cy="15272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1922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ctrTitle"/>
          </p:nvPr>
        </p:nvSpPr>
        <p:spPr>
          <a:xfrm>
            <a:off x="0" y="228600"/>
            <a:ext cx="9144000" cy="768096"/>
          </a:xfrm>
        </p:spPr>
        <p:txBody>
          <a:bodyPr/>
          <a:lstStyle/>
          <a:p>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Sampling: Excel</a:t>
            </a:r>
          </a:p>
        </p:txBody>
      </p:sp>
      <p:pic>
        <p:nvPicPr>
          <p:cNvPr id="14" name="Picture 13">
            <a:extLst>
              <a:ext uri="{FF2B5EF4-FFF2-40B4-BE49-F238E27FC236}">
                <a16:creationId xmlns:a16="http://schemas.microsoft.com/office/drawing/2014/main" id="{BE03C51E-5990-406C-BEA1-BB6F2BBE4C1E}"/>
              </a:ext>
            </a:extLst>
          </p:cNvPr>
          <p:cNvPicPr>
            <a:picLocks noChangeAspect="1"/>
          </p:cNvPicPr>
          <p:nvPr/>
        </p:nvPicPr>
        <p:blipFill>
          <a:blip r:embed="rId2"/>
          <a:stretch>
            <a:fillRect/>
          </a:stretch>
        </p:blipFill>
        <p:spPr>
          <a:xfrm>
            <a:off x="1076922" y="1444451"/>
            <a:ext cx="4912733" cy="4779957"/>
          </a:xfrm>
          <a:prstGeom prst="rect">
            <a:avLst/>
          </a:prstGeom>
        </p:spPr>
      </p:pic>
      <p:pic>
        <p:nvPicPr>
          <p:cNvPr id="4" name="Picture 3">
            <a:extLst>
              <a:ext uri="{FF2B5EF4-FFF2-40B4-BE49-F238E27FC236}">
                <a16:creationId xmlns:a16="http://schemas.microsoft.com/office/drawing/2014/main" id="{DA7B1B72-882F-4BEE-A149-5594398BCB0B}"/>
              </a:ext>
            </a:extLst>
          </p:cNvPr>
          <p:cNvPicPr>
            <a:picLocks noChangeAspect="1"/>
          </p:cNvPicPr>
          <p:nvPr/>
        </p:nvPicPr>
        <p:blipFill>
          <a:blip r:embed="rId3"/>
          <a:stretch>
            <a:fillRect/>
          </a:stretch>
        </p:blipFill>
        <p:spPr>
          <a:xfrm>
            <a:off x="6306633" y="2163639"/>
            <a:ext cx="2398133" cy="1208314"/>
          </a:xfrm>
          <a:prstGeom prst="rect">
            <a:avLst/>
          </a:prstGeom>
        </p:spPr>
      </p:pic>
      <p:pic>
        <p:nvPicPr>
          <p:cNvPr id="12" name="Picture 11">
            <a:extLst>
              <a:ext uri="{FF2B5EF4-FFF2-40B4-BE49-F238E27FC236}">
                <a16:creationId xmlns:a16="http://schemas.microsoft.com/office/drawing/2014/main" id="{3B76540E-A905-413F-A80A-BA288E26FA9F}"/>
              </a:ext>
            </a:extLst>
          </p:cNvPr>
          <p:cNvPicPr>
            <a:picLocks noChangeAspect="1"/>
          </p:cNvPicPr>
          <p:nvPr/>
        </p:nvPicPr>
        <p:blipFill>
          <a:blip r:embed="rId4"/>
          <a:stretch>
            <a:fillRect/>
          </a:stretch>
        </p:blipFill>
        <p:spPr>
          <a:xfrm>
            <a:off x="3048000" y="3505200"/>
            <a:ext cx="2590800" cy="2072640"/>
          </a:xfrm>
          <a:prstGeom prst="rect">
            <a:avLst/>
          </a:prstGeom>
        </p:spPr>
      </p:pic>
      <p:sp>
        <p:nvSpPr>
          <p:cNvPr id="15" name="TextBox 14">
            <a:extLst>
              <a:ext uri="{FF2B5EF4-FFF2-40B4-BE49-F238E27FC236}">
                <a16:creationId xmlns:a16="http://schemas.microsoft.com/office/drawing/2014/main" id="{5E6FB23C-D70E-4785-83B8-444DE51F426B}"/>
              </a:ext>
            </a:extLst>
          </p:cNvPr>
          <p:cNvSpPr txBox="1"/>
          <p:nvPr/>
        </p:nvSpPr>
        <p:spPr>
          <a:xfrm>
            <a:off x="6629400" y="1271374"/>
            <a:ext cx="2017133" cy="738664"/>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Step 1. Click </a:t>
            </a:r>
            <a:r>
              <a:rPr lang="en-US" sz="1400" dirty="0">
                <a:solidFill>
                  <a:srgbClr val="C00000"/>
                </a:solidFill>
                <a:latin typeface="Arial" panose="020B0604020202020204" pitchFamily="34" charset="0"/>
                <a:cs typeface="Arial" panose="020B0604020202020204" pitchFamily="34" charset="0"/>
              </a:rPr>
              <a:t>Data Analysis </a:t>
            </a:r>
            <a:r>
              <a:rPr lang="en-US" sz="1400" dirty="0">
                <a:latin typeface="Arial" panose="020B0604020202020204" pitchFamily="34" charset="0"/>
                <a:cs typeface="Arial" panose="020B0604020202020204" pitchFamily="34" charset="0"/>
              </a:rPr>
              <a:t>and choose </a:t>
            </a:r>
            <a:r>
              <a:rPr lang="en-US" sz="1400" dirty="0">
                <a:solidFill>
                  <a:srgbClr val="C00000"/>
                </a:solidFill>
                <a:latin typeface="Arial" panose="020B0604020202020204" pitchFamily="34" charset="0"/>
                <a:cs typeface="Arial" panose="020B0604020202020204" pitchFamily="34" charset="0"/>
              </a:rPr>
              <a:t>Sampling</a:t>
            </a:r>
            <a:r>
              <a:rPr lang="en-US" sz="1400" dirty="0">
                <a:latin typeface="Arial" panose="020B0604020202020204" pitchFamily="34" charset="0"/>
                <a:cs typeface="Arial" panose="020B0604020202020204" pitchFamily="34" charset="0"/>
              </a:rPr>
              <a:t>. </a:t>
            </a:r>
          </a:p>
        </p:txBody>
      </p:sp>
      <p:sp>
        <p:nvSpPr>
          <p:cNvPr id="21" name="TextBox 20">
            <a:extLst>
              <a:ext uri="{FF2B5EF4-FFF2-40B4-BE49-F238E27FC236}">
                <a16:creationId xmlns:a16="http://schemas.microsoft.com/office/drawing/2014/main" id="{0F6741F5-8BB9-4F75-932A-B9DC7B3BCCEA}"/>
              </a:ext>
            </a:extLst>
          </p:cNvPr>
          <p:cNvSpPr txBox="1"/>
          <p:nvPr/>
        </p:nvSpPr>
        <p:spPr>
          <a:xfrm>
            <a:off x="6631075" y="3906980"/>
            <a:ext cx="1818678" cy="1169551"/>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Step 2. Enter data range, sample size, method (simple or periodic), and location for sample.</a:t>
            </a:r>
          </a:p>
        </p:txBody>
      </p:sp>
      <p:sp>
        <p:nvSpPr>
          <p:cNvPr id="23" name="Oval 22">
            <a:extLst>
              <a:ext uri="{FF2B5EF4-FFF2-40B4-BE49-F238E27FC236}">
                <a16:creationId xmlns:a16="http://schemas.microsoft.com/office/drawing/2014/main" id="{7EFDFA4E-5B91-4169-AE0A-8DD6EA7E95CD}"/>
              </a:ext>
            </a:extLst>
          </p:cNvPr>
          <p:cNvSpPr/>
          <p:nvPr/>
        </p:nvSpPr>
        <p:spPr>
          <a:xfrm>
            <a:off x="4495800" y="1820091"/>
            <a:ext cx="685800" cy="313509"/>
          </a:xfrm>
          <a:prstGeom prst="ellipse">
            <a:avLst/>
          </a:prstGeom>
          <a:solidFill>
            <a:schemeClr val="accent1">
              <a:alpha val="0"/>
            </a:schemeClr>
          </a:solidFill>
          <a:ln w="12700">
            <a:solidFill>
              <a:srgbClr val="FF0000"/>
            </a:solidFill>
          </a:ln>
          <a:effectLst>
            <a:glow rad="139700">
              <a:srgbClr val="FFFF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823D7C2A-5DB1-46E1-B0E5-D4B4A955195B}"/>
              </a:ext>
            </a:extLst>
          </p:cNvPr>
          <p:cNvSpPr/>
          <p:nvPr/>
        </p:nvSpPr>
        <p:spPr>
          <a:xfrm>
            <a:off x="6252587" y="2767796"/>
            <a:ext cx="685800" cy="313509"/>
          </a:xfrm>
          <a:prstGeom prst="ellipse">
            <a:avLst/>
          </a:prstGeom>
          <a:solidFill>
            <a:schemeClr val="accent1">
              <a:alpha val="0"/>
            </a:schemeClr>
          </a:solidFill>
          <a:ln w="12700">
            <a:solidFill>
              <a:srgbClr val="FF0000"/>
            </a:solidFill>
          </a:ln>
          <a:effectLst>
            <a:glow rad="139700">
              <a:srgbClr val="FFFF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F5127DEC-4ADD-4B55-88E0-518198DF9D88}"/>
              </a:ext>
            </a:extLst>
          </p:cNvPr>
          <p:cNvSpPr/>
          <p:nvPr/>
        </p:nvSpPr>
        <p:spPr>
          <a:xfrm>
            <a:off x="4000500" y="3724676"/>
            <a:ext cx="685800" cy="313509"/>
          </a:xfrm>
          <a:prstGeom prst="ellipse">
            <a:avLst/>
          </a:prstGeom>
          <a:solidFill>
            <a:schemeClr val="accent1">
              <a:alpha val="0"/>
            </a:schemeClr>
          </a:solidFill>
          <a:ln w="12700">
            <a:solidFill>
              <a:srgbClr val="FF0000"/>
            </a:solidFill>
          </a:ln>
          <a:effectLst>
            <a:glow rad="139700">
              <a:srgbClr val="FFFF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18A360DA-7784-481F-98B7-59F1625202CA}"/>
              </a:ext>
            </a:extLst>
          </p:cNvPr>
          <p:cNvSpPr/>
          <p:nvPr/>
        </p:nvSpPr>
        <p:spPr>
          <a:xfrm>
            <a:off x="3924300" y="4574406"/>
            <a:ext cx="685800" cy="313509"/>
          </a:xfrm>
          <a:prstGeom prst="ellipse">
            <a:avLst/>
          </a:prstGeom>
          <a:solidFill>
            <a:schemeClr val="accent1">
              <a:alpha val="0"/>
            </a:schemeClr>
          </a:solidFill>
          <a:ln w="12700">
            <a:solidFill>
              <a:srgbClr val="FF0000"/>
            </a:solidFill>
          </a:ln>
          <a:effectLst>
            <a:glow rad="139700">
              <a:srgbClr val="FFFF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C13459C0-B6E6-488B-84FD-87A8D0C64B0A}"/>
              </a:ext>
            </a:extLst>
          </p:cNvPr>
          <p:cNvSpPr/>
          <p:nvPr/>
        </p:nvSpPr>
        <p:spPr>
          <a:xfrm>
            <a:off x="3946909" y="4945724"/>
            <a:ext cx="685800" cy="313509"/>
          </a:xfrm>
          <a:prstGeom prst="ellipse">
            <a:avLst/>
          </a:prstGeom>
          <a:solidFill>
            <a:schemeClr val="accent1">
              <a:alpha val="0"/>
            </a:schemeClr>
          </a:solidFill>
          <a:ln w="12700">
            <a:solidFill>
              <a:srgbClr val="FF0000"/>
            </a:solidFill>
          </a:ln>
          <a:effectLst>
            <a:glow rad="139700">
              <a:srgbClr val="FFFF00">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Arrow: Left 15">
            <a:extLst>
              <a:ext uri="{FF2B5EF4-FFF2-40B4-BE49-F238E27FC236}">
                <a16:creationId xmlns:a16="http://schemas.microsoft.com/office/drawing/2014/main" id="{DC100F0C-6512-4E50-A65E-80FA7CCBE00C}"/>
              </a:ext>
            </a:extLst>
          </p:cNvPr>
          <p:cNvSpPr/>
          <p:nvPr/>
        </p:nvSpPr>
        <p:spPr bwMode="auto">
          <a:xfrm>
            <a:off x="6096000" y="1676982"/>
            <a:ext cx="304800" cy="296091"/>
          </a:xfrm>
          <a:prstGeom prst="leftArrow">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
        <p:nvSpPr>
          <p:cNvPr id="29" name="Arrow: Left 28">
            <a:extLst>
              <a:ext uri="{FF2B5EF4-FFF2-40B4-BE49-F238E27FC236}">
                <a16:creationId xmlns:a16="http://schemas.microsoft.com/office/drawing/2014/main" id="{271C006F-80AE-43AE-B4C8-5EA4266ECD3A}"/>
              </a:ext>
            </a:extLst>
          </p:cNvPr>
          <p:cNvSpPr/>
          <p:nvPr/>
        </p:nvSpPr>
        <p:spPr bwMode="auto">
          <a:xfrm>
            <a:off x="6161105" y="3976110"/>
            <a:ext cx="304800" cy="296091"/>
          </a:xfrm>
          <a:prstGeom prst="leftArrow">
            <a:avLst/>
          </a:prstGeom>
          <a:solidFill>
            <a:srgbClr val="C0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1110935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ctrTitle"/>
          </p:nvPr>
        </p:nvSpPr>
        <p:spPr>
          <a:xfrm>
            <a:off x="0" y="228600"/>
            <a:ext cx="9144000" cy="768096"/>
          </a:xfrm>
        </p:spPr>
        <p:txBody>
          <a:bodyPr/>
          <a:lstStyle/>
          <a:p>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Sampling: R</a:t>
            </a:r>
          </a:p>
        </p:txBody>
      </p:sp>
      <p:sp>
        <p:nvSpPr>
          <p:cNvPr id="2" name="TextBox 1">
            <a:extLst>
              <a:ext uri="{FF2B5EF4-FFF2-40B4-BE49-F238E27FC236}">
                <a16:creationId xmlns:a16="http://schemas.microsoft.com/office/drawing/2014/main" id="{87198EBB-FCE5-4F99-967A-800CFB653ADA}"/>
              </a:ext>
            </a:extLst>
          </p:cNvPr>
          <p:cNvSpPr txBox="1"/>
          <p:nvPr/>
        </p:nvSpPr>
        <p:spPr>
          <a:xfrm>
            <a:off x="1243484" y="1219200"/>
            <a:ext cx="6986116" cy="1600438"/>
          </a:xfrm>
          <a:prstGeom prst="rect">
            <a:avLst/>
          </a:prstGeom>
          <a:noFill/>
        </p:spPr>
        <p:txBody>
          <a:bodyPr wrap="square" rtlCol="0">
            <a:spAutoFit/>
          </a:bodyPr>
          <a:lstStyle/>
          <a:p>
            <a:r>
              <a:rPr lang="en-US" sz="2000" dirty="0">
                <a:latin typeface="+mn-lt"/>
                <a:cs typeface="Arial" panose="020B0604020202020204" pitchFamily="34" charset="0"/>
              </a:rPr>
              <a:t>In this example, we use </a:t>
            </a:r>
            <a:r>
              <a:rPr lang="en-US" sz="2000" dirty="0">
                <a:latin typeface="Arial" panose="020B0604020202020204" pitchFamily="34" charset="0"/>
                <a:cs typeface="Arial" panose="020B0604020202020204" pitchFamily="34" charset="0"/>
              </a:rPr>
              <a:t>R</a:t>
            </a:r>
            <a:r>
              <a:rPr lang="en-US" sz="2000" dirty="0">
                <a:latin typeface="+mn-lt"/>
                <a:cs typeface="Arial" panose="020B0604020202020204" pitchFamily="34" charset="0"/>
              </a:rPr>
              <a:t> to create a data vector (alternatively, you could import a data column from Excel) and then sample it using the </a:t>
            </a:r>
            <a:r>
              <a:rPr lang="en-US" sz="2000" dirty="0">
                <a:latin typeface="Arial" panose="020B0604020202020204" pitchFamily="34" charset="0"/>
                <a:cs typeface="Arial" panose="020B0604020202020204" pitchFamily="34" charset="0"/>
              </a:rPr>
              <a:t>R</a:t>
            </a:r>
            <a:r>
              <a:rPr lang="en-US" sz="2000" dirty="0">
                <a:latin typeface="+mn-lt"/>
                <a:cs typeface="Arial" panose="020B0604020202020204" pitchFamily="34" charset="0"/>
              </a:rPr>
              <a:t> function </a:t>
            </a:r>
            <a:r>
              <a:rPr lang="en-US" sz="2000" i="1" dirty="0">
                <a:latin typeface="+mn-lt"/>
                <a:cs typeface="Arial" panose="020B0604020202020204" pitchFamily="34" charset="0"/>
              </a:rPr>
              <a:t>sample().</a:t>
            </a:r>
          </a:p>
          <a:p>
            <a:r>
              <a:rPr lang="en-US" sz="2000" dirty="0">
                <a:solidFill>
                  <a:srgbClr val="C00000"/>
                </a:solidFill>
                <a:latin typeface="+mn-lt"/>
                <a:cs typeface="Arial" panose="020B0604020202020204" pitchFamily="34" charset="0"/>
              </a:rPr>
              <a:t>      </a:t>
            </a:r>
            <a:r>
              <a:rPr lang="en-US" sz="1800" i="1" dirty="0">
                <a:latin typeface="+mn-lt"/>
                <a:cs typeface="Arial" panose="020B0604020202020204" pitchFamily="34" charset="0"/>
              </a:rPr>
              <a:t>Syntax: sample(x, size, replace = FALSE, prob = NULL)</a:t>
            </a:r>
          </a:p>
          <a:p>
            <a:r>
              <a:rPr lang="en-US" sz="1800" i="1" dirty="0">
                <a:latin typeface="+mn-lt"/>
                <a:cs typeface="Arial" panose="020B0604020202020204" pitchFamily="34" charset="0"/>
              </a:rPr>
              <a:t>       The prob</a:t>
            </a:r>
            <a:r>
              <a:rPr lang="en-US" sz="1800" dirty="0">
                <a:latin typeface="+mn-lt"/>
                <a:cs typeface="Arial" panose="020B0604020202020204" pitchFamily="34" charset="0"/>
              </a:rPr>
              <a:t> option (omitted here) lets you specify sample weights</a:t>
            </a:r>
          </a:p>
        </p:txBody>
      </p:sp>
      <p:sp>
        <p:nvSpPr>
          <p:cNvPr id="11" name="TextBox 10">
            <a:extLst>
              <a:ext uri="{FF2B5EF4-FFF2-40B4-BE49-F238E27FC236}">
                <a16:creationId xmlns:a16="http://schemas.microsoft.com/office/drawing/2014/main" id="{72E7C94F-BF79-4B10-B37C-9C0064C00788}"/>
              </a:ext>
            </a:extLst>
          </p:cNvPr>
          <p:cNvSpPr txBox="1"/>
          <p:nvPr/>
        </p:nvSpPr>
        <p:spPr>
          <a:xfrm>
            <a:off x="1257300" y="2895600"/>
            <a:ext cx="6629400" cy="1815882"/>
          </a:xfrm>
          <a:prstGeom prst="rect">
            <a:avLst/>
          </a:prstGeom>
          <a:noFill/>
        </p:spPr>
        <p:txBody>
          <a:bodyPr wrap="square" rtlCol="0">
            <a:spAutoFit/>
          </a:bodyPr>
          <a:lstStyle/>
          <a:p>
            <a:r>
              <a:rPr lang="en-US" sz="1400" dirty="0">
                <a:solidFill>
                  <a:schemeClr val="accent5">
                    <a:lumMod val="50000"/>
                  </a:schemeClr>
                </a:solidFill>
                <a:latin typeface="Lucida Console" panose="020B0609040504020204" pitchFamily="49" charset="0"/>
                <a:cs typeface="Lucida Sans Unicode" panose="020B0602030504020204" pitchFamily="34" charset="0"/>
              </a:rPr>
              <a:t>&gt; # create data vector</a:t>
            </a:r>
          </a:p>
          <a:p>
            <a:r>
              <a:rPr lang="en-US" sz="1400" dirty="0">
                <a:solidFill>
                  <a:srgbClr val="0000FF"/>
                </a:solidFill>
                <a:latin typeface="Lucida Console" panose="020B0609040504020204" pitchFamily="49" charset="0"/>
                <a:cs typeface="Lucida Sans Unicode" panose="020B0602030504020204" pitchFamily="34" charset="0"/>
              </a:rPr>
              <a:t>&gt; x=c(5,8,10,13,15,33,36,36,38,45,46,52,55,60,64,83,88,92)</a:t>
            </a:r>
          </a:p>
          <a:p>
            <a:r>
              <a:rPr lang="en-US" sz="1400" dirty="0">
                <a:solidFill>
                  <a:schemeClr val="accent5">
                    <a:lumMod val="50000"/>
                  </a:schemeClr>
                </a:solidFill>
                <a:latin typeface="Lucida Console" panose="020B0609040504020204" pitchFamily="49" charset="0"/>
                <a:cs typeface="Lucida Sans Unicode" panose="020B0602030504020204" pitchFamily="34" charset="0"/>
              </a:rPr>
              <a:t>&gt; # take sample of 5 with replacement</a:t>
            </a:r>
          </a:p>
          <a:p>
            <a:r>
              <a:rPr lang="en-US" sz="1400" dirty="0">
                <a:solidFill>
                  <a:schemeClr val="accent5">
                    <a:lumMod val="50000"/>
                  </a:schemeClr>
                </a:solidFill>
                <a:latin typeface="Lucida Console" panose="020B0609040504020204" pitchFamily="49" charset="0"/>
                <a:cs typeface="Lucida Sans Unicode" panose="020B0602030504020204" pitchFamily="34" charset="0"/>
              </a:rPr>
              <a:t>&gt; # enter FALSE if without replacement</a:t>
            </a:r>
          </a:p>
          <a:p>
            <a:r>
              <a:rPr lang="en-US" sz="1400" dirty="0">
                <a:solidFill>
                  <a:srgbClr val="0000FF"/>
                </a:solidFill>
                <a:latin typeface="Lucida Console" panose="020B0609040504020204" pitchFamily="49" charset="0"/>
                <a:cs typeface="Lucida Sans Unicode" panose="020B0602030504020204" pitchFamily="34" charset="0"/>
              </a:rPr>
              <a:t>&gt; y=sample(x, 5, TRUE)</a:t>
            </a:r>
          </a:p>
          <a:p>
            <a:r>
              <a:rPr lang="en-US" sz="1400" dirty="0">
                <a:solidFill>
                  <a:schemeClr val="accent5">
                    <a:lumMod val="50000"/>
                  </a:schemeClr>
                </a:solidFill>
                <a:latin typeface="Lucida Console" panose="020B0609040504020204" pitchFamily="49" charset="0"/>
                <a:cs typeface="Lucida Sans Unicode" panose="020B0602030504020204" pitchFamily="34" charset="0"/>
              </a:rPr>
              <a:t>&gt; # display the sample</a:t>
            </a:r>
            <a:endParaRPr lang="en-US" sz="1400" dirty="0">
              <a:solidFill>
                <a:srgbClr val="0000FF"/>
              </a:solidFill>
              <a:latin typeface="Lucida Console" panose="020B0609040504020204" pitchFamily="49" charset="0"/>
              <a:cs typeface="Lucida Sans Unicode" panose="020B0602030504020204" pitchFamily="34" charset="0"/>
            </a:endParaRPr>
          </a:p>
          <a:p>
            <a:r>
              <a:rPr lang="en-US" sz="1400" dirty="0">
                <a:solidFill>
                  <a:srgbClr val="0000FF"/>
                </a:solidFill>
                <a:latin typeface="Lucida Console" panose="020B0609040504020204" pitchFamily="49" charset="0"/>
                <a:cs typeface="Lucida Sans Unicode" panose="020B0602030504020204" pitchFamily="34" charset="0"/>
              </a:rPr>
              <a:t>&gt; y</a:t>
            </a:r>
          </a:p>
          <a:p>
            <a:r>
              <a:rPr lang="en-US" sz="1400" dirty="0">
                <a:solidFill>
                  <a:srgbClr val="0000FF"/>
                </a:solidFill>
                <a:latin typeface="Lucida Console" panose="020B0609040504020204" pitchFamily="49" charset="0"/>
                <a:cs typeface="Lucida Sans Unicode" panose="020B0602030504020204" pitchFamily="34" charset="0"/>
              </a:rPr>
              <a:t>[1] 45 52 55  5  8</a:t>
            </a:r>
          </a:p>
        </p:txBody>
      </p:sp>
    </p:spTree>
    <p:extLst>
      <p:ext uri="{BB962C8B-B14F-4D97-AF65-F5344CB8AC3E}">
        <p14:creationId xmlns:p14="http://schemas.microsoft.com/office/powerpoint/2010/main" val="391871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0" y="228600"/>
            <a:ext cx="9144000" cy="768096"/>
          </a:xfrm>
        </p:spPr>
        <p:txBody>
          <a:bodyPr/>
          <a:lstStyle/>
          <a:p>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Random Data: R</a:t>
            </a:r>
          </a:p>
        </p:txBody>
      </p:sp>
      <p:sp>
        <p:nvSpPr>
          <p:cNvPr id="5" name="TextBox 4">
            <a:extLst>
              <a:ext uri="{FF2B5EF4-FFF2-40B4-BE49-F238E27FC236}">
                <a16:creationId xmlns:a16="http://schemas.microsoft.com/office/drawing/2014/main" id="{FA09511C-DAC7-43A7-92C3-BDED12B73140}"/>
              </a:ext>
            </a:extLst>
          </p:cNvPr>
          <p:cNvSpPr txBox="1"/>
          <p:nvPr/>
        </p:nvSpPr>
        <p:spPr>
          <a:xfrm>
            <a:off x="1219200" y="2668217"/>
            <a:ext cx="7692013" cy="2970044"/>
          </a:xfrm>
          <a:prstGeom prst="rect">
            <a:avLst/>
          </a:prstGeom>
          <a:noFill/>
        </p:spPr>
        <p:txBody>
          <a:bodyPr wrap="square" rtlCol="0">
            <a:spAutoFit/>
          </a:bodyPr>
          <a:lstStyle/>
          <a:p>
            <a:r>
              <a:rPr lang="en-US" sz="2000" b="1" dirty="0">
                <a:latin typeface="+mn-lt"/>
                <a:cs typeface="Arial" panose="020B0604020202020204" pitchFamily="34" charset="0"/>
              </a:rPr>
              <a:t>Example 2</a:t>
            </a:r>
            <a:r>
              <a:rPr lang="en-US" sz="2000" dirty="0">
                <a:latin typeface="+mn-lt"/>
                <a:cs typeface="Arial" panose="020B0604020202020204" pitchFamily="34" charset="0"/>
              </a:rPr>
              <a:t>: Create 25 decimal observations from a normal distribution</a:t>
            </a:r>
          </a:p>
          <a:p>
            <a:r>
              <a:rPr lang="en-US" sz="2000" dirty="0">
                <a:latin typeface="+mn-lt"/>
                <a:cs typeface="Arial" panose="020B0604020202020204" pitchFamily="34" charset="0"/>
              </a:rPr>
              <a:t>with mean 100 and standard deviation 15. Round them to integers. </a:t>
            </a:r>
          </a:p>
          <a:p>
            <a:endParaRPr lang="en-US" sz="1300" dirty="0">
              <a:solidFill>
                <a:srgbClr val="0000FF"/>
              </a:solidFill>
              <a:latin typeface="Lucida Console" panose="020B0609040504020204" pitchFamily="49" charset="0"/>
              <a:cs typeface="Calibri" panose="020F0502020204030204" pitchFamily="34" charset="0"/>
            </a:endParaRPr>
          </a:p>
          <a:p>
            <a:r>
              <a:rPr lang="en-US" sz="1400" dirty="0">
                <a:solidFill>
                  <a:srgbClr val="0000FF"/>
                </a:solidFill>
                <a:latin typeface="Lucida Console" panose="020B0609040504020204" pitchFamily="49" charset="0"/>
                <a:cs typeface="Calibri" panose="020F0502020204030204" pitchFamily="34" charset="0"/>
              </a:rPr>
              <a:t>&gt; Data1=</a:t>
            </a:r>
            <a:r>
              <a:rPr lang="en-US" sz="1400" dirty="0" err="1">
                <a:solidFill>
                  <a:srgbClr val="0000FF"/>
                </a:solidFill>
                <a:latin typeface="Lucida Console" panose="020B0609040504020204" pitchFamily="49" charset="0"/>
                <a:cs typeface="Calibri" panose="020F0502020204030204" pitchFamily="34" charset="0"/>
              </a:rPr>
              <a:t>rnorm</a:t>
            </a:r>
            <a:r>
              <a:rPr lang="en-US" sz="1400" dirty="0">
                <a:solidFill>
                  <a:srgbClr val="0000FF"/>
                </a:solidFill>
                <a:latin typeface="Lucida Console" panose="020B0609040504020204" pitchFamily="49" charset="0"/>
                <a:cs typeface="Calibri" panose="020F0502020204030204" pitchFamily="34" charset="0"/>
              </a:rPr>
              <a:t>(25,100,15) # Generate 25 random N(100,15)</a:t>
            </a:r>
          </a:p>
          <a:p>
            <a:r>
              <a:rPr lang="en-US" sz="1400" dirty="0">
                <a:solidFill>
                  <a:srgbClr val="0000FF"/>
                </a:solidFill>
                <a:latin typeface="Lucida Console" panose="020B0609040504020204" pitchFamily="49" charset="0"/>
                <a:cs typeface="Calibri" panose="020F0502020204030204" pitchFamily="34" charset="0"/>
              </a:rPr>
              <a:t>&gt; Data1                  </a:t>
            </a:r>
            <a:r>
              <a:rPr lang="en-US" sz="1300" dirty="0">
                <a:solidFill>
                  <a:srgbClr val="0000FF"/>
                </a:solidFill>
                <a:latin typeface="Lucida Console" panose="020B0609040504020204" pitchFamily="49" charset="0"/>
                <a:cs typeface="Calibri" panose="020F0502020204030204" pitchFamily="34" charset="0"/>
              </a:rPr>
              <a:t># list the data we have created</a:t>
            </a:r>
          </a:p>
          <a:p>
            <a:r>
              <a:rPr lang="en-US" sz="1300" dirty="0">
                <a:latin typeface="Lucida Console" panose="020B0609040504020204" pitchFamily="49" charset="0"/>
                <a:cs typeface="Calibri" panose="020F0502020204030204" pitchFamily="34" charset="0"/>
              </a:rPr>
              <a:t> [1] 105.78153 112.62881  97.86053  95.25282  98.39782  88.48118  78.23761</a:t>
            </a:r>
          </a:p>
          <a:p>
            <a:r>
              <a:rPr lang="en-US" sz="1300" dirty="0">
                <a:latin typeface="Lucida Console" panose="020B0609040504020204" pitchFamily="49" charset="0"/>
                <a:cs typeface="Calibri" panose="020F0502020204030204" pitchFamily="34" charset="0"/>
              </a:rPr>
              <a:t> [8]  95.86220 110.26956 118.48021  98.41509 116.24194 102.59046 119.65684</a:t>
            </a:r>
          </a:p>
          <a:p>
            <a:r>
              <a:rPr lang="en-US" sz="1300" dirty="0">
                <a:latin typeface="Lucida Console" panose="020B0609040504020204" pitchFamily="49" charset="0"/>
                <a:cs typeface="Calibri" panose="020F0502020204030204" pitchFamily="34" charset="0"/>
              </a:rPr>
              <a:t>[15]  70.61914 112.47272 104.25433  99.06648 111.05391  97.01341 128.98725</a:t>
            </a:r>
          </a:p>
          <a:p>
            <a:r>
              <a:rPr lang="en-US" sz="1300" dirty="0">
                <a:latin typeface="Lucida Console" panose="020B0609040504020204" pitchFamily="49" charset="0"/>
                <a:cs typeface="Calibri" panose="020F0502020204030204" pitchFamily="34" charset="0"/>
              </a:rPr>
              <a:t>[22] 105.95539  79.86504  62.50125  66.75198</a:t>
            </a:r>
          </a:p>
          <a:p>
            <a:r>
              <a:rPr lang="en-US" sz="1400" dirty="0">
                <a:solidFill>
                  <a:srgbClr val="0000FF"/>
                </a:solidFill>
                <a:latin typeface="Lucida Console" panose="020B0609040504020204" pitchFamily="49" charset="0"/>
                <a:cs typeface="Calibri" panose="020F0502020204030204" pitchFamily="34" charset="0"/>
              </a:rPr>
              <a:t>&gt; Data2= round(Data1,0)  # round the sample data into integers</a:t>
            </a:r>
          </a:p>
          <a:p>
            <a:r>
              <a:rPr lang="en-US" sz="1400" dirty="0">
                <a:solidFill>
                  <a:srgbClr val="0000FF"/>
                </a:solidFill>
                <a:latin typeface="Lucida Console" panose="020B0609040504020204" pitchFamily="49" charset="0"/>
                <a:cs typeface="Calibri" panose="020F0502020204030204" pitchFamily="34" charset="0"/>
              </a:rPr>
              <a:t>&gt; Data2</a:t>
            </a:r>
          </a:p>
          <a:p>
            <a:r>
              <a:rPr lang="en-US" sz="1300" dirty="0">
                <a:latin typeface="Lucida Console" panose="020B0609040504020204" pitchFamily="49" charset="0"/>
                <a:cs typeface="Calibri" panose="020F0502020204030204" pitchFamily="34" charset="0"/>
              </a:rPr>
              <a:t> [1] 106 113  98  95  98  88  78  96 110 118  98 116 103 120  71 112 104 99</a:t>
            </a:r>
          </a:p>
          <a:p>
            <a:r>
              <a:rPr lang="en-US" sz="1300" dirty="0">
                <a:latin typeface="Lucida Console" panose="020B0609040504020204" pitchFamily="49" charset="0"/>
                <a:cs typeface="Calibri" panose="020F0502020204030204" pitchFamily="34" charset="0"/>
              </a:rPr>
              <a:t>[19] 111  97 129 106  80  63  67</a:t>
            </a:r>
          </a:p>
        </p:txBody>
      </p:sp>
      <p:sp>
        <p:nvSpPr>
          <p:cNvPr id="4" name="TextBox 3">
            <a:extLst>
              <a:ext uri="{FF2B5EF4-FFF2-40B4-BE49-F238E27FC236}">
                <a16:creationId xmlns:a16="http://schemas.microsoft.com/office/drawing/2014/main" id="{B38D14B7-4EA1-420A-82F5-08C8CD0FC812}"/>
              </a:ext>
            </a:extLst>
          </p:cNvPr>
          <p:cNvSpPr txBox="1"/>
          <p:nvPr/>
        </p:nvSpPr>
        <p:spPr>
          <a:xfrm>
            <a:off x="1219200" y="1219739"/>
            <a:ext cx="7848600" cy="1215717"/>
          </a:xfrm>
          <a:prstGeom prst="rect">
            <a:avLst/>
          </a:prstGeom>
          <a:noFill/>
        </p:spPr>
        <p:txBody>
          <a:bodyPr wrap="square" rtlCol="0">
            <a:spAutoFit/>
          </a:bodyPr>
          <a:lstStyle/>
          <a:p>
            <a:r>
              <a:rPr lang="en-US" sz="2000" b="1" dirty="0">
                <a:latin typeface="+mn-lt"/>
                <a:cs typeface="Arial" panose="020B0604020202020204" pitchFamily="34" charset="0"/>
              </a:rPr>
              <a:t>Example 1: </a:t>
            </a:r>
            <a:r>
              <a:rPr lang="en-US" sz="2000" dirty="0">
                <a:latin typeface="+mn-lt"/>
                <a:cs typeface="Arial" panose="020B0604020202020204" pitchFamily="34" charset="0"/>
              </a:rPr>
              <a:t>Create 25 random integers between 1 and  999. </a:t>
            </a:r>
            <a:endParaRPr lang="en-US" sz="2000" dirty="0">
              <a:solidFill>
                <a:srgbClr val="0000FF"/>
              </a:solidFill>
              <a:latin typeface="+mn-lt"/>
              <a:cs typeface="Calibri" panose="020F0502020204030204" pitchFamily="34" charset="0"/>
            </a:endParaRPr>
          </a:p>
          <a:p>
            <a:endParaRPr lang="en-US" sz="1300" dirty="0">
              <a:solidFill>
                <a:srgbClr val="0000FF"/>
              </a:solidFill>
              <a:latin typeface="Lucida Console" panose="020B0609040504020204" pitchFamily="49" charset="0"/>
              <a:cs typeface="Calibri" panose="020F0502020204030204" pitchFamily="34" charset="0"/>
            </a:endParaRPr>
          </a:p>
          <a:p>
            <a:r>
              <a:rPr lang="en-US" sz="1400" dirty="0">
                <a:solidFill>
                  <a:srgbClr val="0000FF"/>
                </a:solidFill>
                <a:latin typeface="Lucida Console" panose="020B0609040504020204" pitchFamily="49" charset="0"/>
                <a:cs typeface="Calibri" panose="020F0502020204030204" pitchFamily="34" charset="0"/>
              </a:rPr>
              <a:t>&gt; sample(1:999,25)</a:t>
            </a:r>
          </a:p>
          <a:p>
            <a:r>
              <a:rPr lang="en-US" sz="1300" dirty="0">
                <a:latin typeface="Lucida Console" panose="020B0609040504020204" pitchFamily="49" charset="0"/>
                <a:cs typeface="Calibri" panose="020F0502020204030204" pitchFamily="34" charset="0"/>
              </a:rPr>
              <a:t> [1] 294 358 409 766 760 927 513 185 885  29 444 274 187 828 709 108 749 9</a:t>
            </a:r>
          </a:p>
          <a:p>
            <a:r>
              <a:rPr lang="en-US" sz="1300" dirty="0">
                <a:latin typeface="Lucida Console" panose="020B0609040504020204" pitchFamily="49" charset="0"/>
                <a:cs typeface="Calibri" panose="020F0502020204030204" pitchFamily="34" charset="0"/>
              </a:rPr>
              <a:t>[19] 887 874 653 912 696 611 661</a:t>
            </a:r>
          </a:p>
        </p:txBody>
      </p:sp>
    </p:spTree>
    <p:extLst>
      <p:ext uri="{BB962C8B-B14F-4D97-AF65-F5344CB8AC3E}">
        <p14:creationId xmlns:p14="http://schemas.microsoft.com/office/powerpoint/2010/main" val="2037778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ctrTitle"/>
          </p:nvPr>
        </p:nvSpPr>
        <p:spPr>
          <a:xfrm>
            <a:off x="0" y="228600"/>
            <a:ext cx="9144000" cy="768096"/>
          </a:xfrm>
        </p:spPr>
        <p:txBody>
          <a:bodyPr/>
          <a:lstStyle/>
          <a:p>
            <a:r>
              <a:rPr lang="en-US" sz="36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Bottom Line</a:t>
            </a:r>
          </a:p>
        </p:txBody>
      </p:sp>
      <p:sp>
        <p:nvSpPr>
          <p:cNvPr id="84995" name="Text Box 3"/>
          <p:cNvSpPr txBox="1">
            <a:spLocks noChangeArrowheads="1"/>
          </p:cNvSpPr>
          <p:nvPr/>
        </p:nvSpPr>
        <p:spPr bwMode="auto">
          <a:xfrm>
            <a:off x="762000" y="1371600"/>
            <a:ext cx="5638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p>
        </p:txBody>
      </p:sp>
      <p:sp>
        <p:nvSpPr>
          <p:cNvPr id="85003" name="Text Box 11"/>
          <p:cNvSpPr txBox="1">
            <a:spLocks noChangeArrowheads="1"/>
          </p:cNvSpPr>
          <p:nvPr/>
        </p:nvSpPr>
        <p:spPr bwMode="auto">
          <a:xfrm>
            <a:off x="2362200" y="1600200"/>
            <a:ext cx="4419600" cy="2262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Clr>
                <a:srgbClr val="C00000"/>
              </a:buClr>
              <a:buFontTx/>
              <a:buChar char="•"/>
            </a:pPr>
            <a:r>
              <a:rPr lang="en-US" sz="1800" dirty="0"/>
              <a:t>  Do a cost/benefit before sampling.</a:t>
            </a:r>
          </a:p>
          <a:p>
            <a:pPr>
              <a:spcBef>
                <a:spcPct val="50000"/>
              </a:spcBef>
              <a:buClr>
                <a:srgbClr val="C00000"/>
              </a:buClr>
              <a:buFontTx/>
              <a:buChar char="•"/>
            </a:pPr>
            <a:r>
              <a:rPr lang="en-US" sz="1800" dirty="0"/>
              <a:t>  Define the purpose before you plunge.</a:t>
            </a:r>
          </a:p>
          <a:p>
            <a:pPr>
              <a:spcBef>
                <a:spcPct val="50000"/>
              </a:spcBef>
              <a:buClr>
                <a:srgbClr val="C00000"/>
              </a:buClr>
              <a:buFontTx/>
              <a:buChar char="•"/>
            </a:pPr>
            <a:r>
              <a:rPr lang="en-US" sz="1800" dirty="0"/>
              <a:t>  It may pay to seek expert advice for</a:t>
            </a:r>
          </a:p>
          <a:p>
            <a:pPr lvl="1">
              <a:spcBef>
                <a:spcPts val="600"/>
              </a:spcBef>
              <a:buClr>
                <a:srgbClr val="C00000"/>
              </a:buClr>
              <a:buFontTx/>
              <a:buChar char="•"/>
            </a:pPr>
            <a:r>
              <a:rPr lang="en-US" sz="1800" dirty="0"/>
              <a:t>  the sampling plan.</a:t>
            </a:r>
          </a:p>
          <a:p>
            <a:pPr lvl="1">
              <a:spcBef>
                <a:spcPts val="600"/>
              </a:spcBef>
              <a:buClr>
                <a:srgbClr val="C00000"/>
              </a:buClr>
              <a:buFontTx/>
              <a:buChar char="•"/>
            </a:pPr>
            <a:r>
              <a:rPr lang="en-US" sz="1800" dirty="0"/>
              <a:t>  the sample sizes required.</a:t>
            </a:r>
          </a:p>
          <a:p>
            <a:pPr lvl="1">
              <a:spcBef>
                <a:spcPts val="600"/>
              </a:spcBef>
              <a:buClr>
                <a:srgbClr val="C00000"/>
              </a:buClr>
              <a:buFontTx/>
              <a:buChar char="•"/>
            </a:pPr>
            <a:r>
              <a:rPr lang="en-US" sz="1800" dirty="0"/>
              <a:t>  analysis of the sample.</a:t>
            </a:r>
          </a:p>
        </p:txBody>
      </p:sp>
      <p:pic>
        <p:nvPicPr>
          <p:cNvPr id="85004" name="Picture 12" descr="bd04897_"/>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95017" y="4475474"/>
            <a:ext cx="1676400" cy="12503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00" descr="C:\Users\Blythe\AppData\Local\Microsoft\Windows\Temporary Internet Files\Content.IE5\78DSK311\MC900082477[1].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53000" y="4481443"/>
            <a:ext cx="1331039" cy="12503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Default Design">
  <a:themeElements>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2183</TotalTime>
  <Words>1573</Words>
  <Application>Microsoft Office PowerPoint</Application>
  <PresentationFormat>On-screen Show (4:3)</PresentationFormat>
  <Paragraphs>135</Paragraphs>
  <Slides>18</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4" baseType="lpstr">
      <vt:lpstr>Arial</vt:lpstr>
      <vt:lpstr>Lucida Console</vt:lpstr>
      <vt:lpstr>Symbol</vt:lpstr>
      <vt:lpstr>Times New Roman</vt:lpstr>
      <vt:lpstr>Default Design</vt:lpstr>
      <vt:lpstr>Equation</vt:lpstr>
      <vt:lpstr>Sampling Methods</vt:lpstr>
      <vt:lpstr>Target Population</vt:lpstr>
      <vt:lpstr>Why Sample?</vt:lpstr>
      <vt:lpstr>Why Census?</vt:lpstr>
      <vt:lpstr>Which Goal?</vt:lpstr>
      <vt:lpstr>Inference</vt:lpstr>
      <vt:lpstr>Sampling Methods</vt:lpstr>
      <vt:lpstr>Sampling Methods</vt:lpstr>
      <vt:lpstr>Sampling Methods</vt:lpstr>
      <vt:lpstr>Simple Random Sample</vt:lpstr>
      <vt:lpstr>Systematic Sample</vt:lpstr>
      <vt:lpstr>Cluster Sample</vt:lpstr>
      <vt:lpstr>Stratified Sample</vt:lpstr>
      <vt:lpstr>Stratified Sample</vt:lpstr>
      <vt:lpstr>Sampling: Excel</vt:lpstr>
      <vt:lpstr>Sampling: R</vt:lpstr>
      <vt:lpstr>Random Data: R</vt:lpstr>
      <vt:lpstr>Bottom Line</vt:lpstr>
    </vt:vector>
  </TitlesOfParts>
  <Company>McGraw Hill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Sampling Methods</dc:title>
  <dc:subject>Chapter 2 - Data Collection</dc:subject>
  <dc:creator>David P. Doane</dc:creator>
  <dc:description>Copyright (c) 2025 by McGraw Hill LLC.  This material is intended solely for educational use licensed users of Connect. It may not be copied or resold.</dc:description>
  <cp:lastModifiedBy>Elango Selvaraj</cp:lastModifiedBy>
  <cp:revision>123</cp:revision>
  <dcterms:created xsi:type="dcterms:W3CDTF">2000-08-22T13:07:54Z</dcterms:created>
  <dcterms:modified xsi:type="dcterms:W3CDTF">2023-11-29T09:57:07Z</dcterms:modified>
</cp:coreProperties>
</file>