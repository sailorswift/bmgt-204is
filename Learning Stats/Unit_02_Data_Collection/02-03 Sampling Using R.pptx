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handoutMasterIdLst>
    <p:handoutMasterId r:id="rId10"/>
  </p:handoutMasterIdLst>
  <p:sldIdLst>
    <p:sldId id="256" r:id="rId2"/>
    <p:sldId id="333" r:id="rId3"/>
    <p:sldId id="383" r:id="rId4"/>
    <p:sldId id="385" r:id="rId5"/>
    <p:sldId id="384" r:id="rId6"/>
    <p:sldId id="381" r:id="rId7"/>
    <p:sldId id="382" r:id="rId8"/>
    <p:sldId id="330" r:id="rId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0000FF"/>
    <a:srgbClr val="CCECFF"/>
    <a:srgbClr val="99CCFF"/>
    <a:srgbClr val="FFFFFF"/>
    <a:srgbClr val="FFFFCC"/>
    <a:srgbClr val="FF6699"/>
    <a:srgbClr val="CC0000"/>
    <a:srgbClr val="FF33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2" autoAdjust="0"/>
    <p:restoredTop sz="94609" autoAdjust="0"/>
  </p:normalViewPr>
  <p:slideViewPr>
    <p:cSldViewPr>
      <p:cViewPr varScale="1">
        <p:scale>
          <a:sx n="59" d="100"/>
          <a:sy n="59" d="100"/>
        </p:scale>
        <p:origin x="1496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DE997A3-4BCA-4020-98E3-C94F4DA2CF2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722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0995AB-0997-4951-9960-D5745B0A5E0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142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E0DF03-39B1-420D-88BB-E895E0BF3BC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937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597068-BC96-4437-A23B-3F2ACC4B89B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31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E00D88-FA0E-4B98-8072-BE6156894A6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84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EE2F8-7F24-4888-9CDA-38B7565767C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34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0BBEAE-F16B-45D8-B5CA-67596D3C51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862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0CB51B-053E-4250-BCCA-FE8C918136B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54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BE3071-879C-45A9-B8E1-A96F766F9D7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30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9769F9-A462-436D-824F-46AC6DADF7D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8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AC3F2E-B5DE-4FE9-8C37-5E7D783AD7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10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6F21F6-2AEF-4104-887F-12A6EB4EAAF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796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90D874D-6899-4BA1-9FDB-759121EF068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95400" y="1600200"/>
            <a:ext cx="6477000" cy="220980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Sampling</a:t>
            </a:r>
            <a:b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Using R</a:t>
            </a:r>
          </a:p>
        </p:txBody>
      </p:sp>
      <p:sp>
        <p:nvSpPr>
          <p:cNvPr id="2059" name="Text Box 11"/>
          <p:cNvSpPr txBox="1">
            <a:spLocks noChangeArrowheads="1"/>
          </p:cNvSpPr>
          <p:nvPr/>
        </p:nvSpPr>
        <p:spPr bwMode="auto">
          <a:xfrm>
            <a:off x="1028700" y="5715000"/>
            <a:ext cx="7010400" cy="523220"/>
          </a:xfrm>
          <a:prstGeom prst="rect">
            <a:avLst/>
          </a:prstGeom>
          <a:solidFill>
            <a:schemeClr val="accent2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 dirty="0">
                <a:solidFill>
                  <a:srgbClr val="333333"/>
                </a:solidFill>
              </a:rPr>
              <a:t>© McGraw Hill LLC. All rights reserved. </a:t>
            </a:r>
            <a:r>
              <a:rPr lang="en-US" sz="1400" b="1">
                <a:solidFill>
                  <a:srgbClr val="333333"/>
                </a:solidFill>
              </a:rPr>
              <a:t>No reproduction or distribution without the prior written consent of McGraw Hill LLC.</a:t>
            </a:r>
            <a:endParaRPr lang="en-US" sz="1400" b="1" dirty="0">
              <a:solidFill>
                <a:srgbClr val="33333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68096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Sampling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198EBB-FCE5-4F99-967A-800CFB653ADA}"/>
              </a:ext>
            </a:extLst>
          </p:cNvPr>
          <p:cNvSpPr txBox="1"/>
          <p:nvPr/>
        </p:nvSpPr>
        <p:spPr>
          <a:xfrm>
            <a:off x="1243484" y="1219200"/>
            <a:ext cx="69861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  <a:cs typeface="Arial" panose="020B0604020202020204" pitchFamily="34" charset="0"/>
              </a:rPr>
              <a:t>You can use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 to create a data vector and then sample it using the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 function 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sample()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. Alternatively, you can import Excel</a:t>
            </a:r>
            <a:r>
              <a:rPr lang="en-US" sz="2000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*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 data.</a:t>
            </a:r>
            <a:r>
              <a:rPr lang="en-US" sz="2000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 </a:t>
            </a:r>
            <a:endParaRPr lang="en-US" sz="1400" dirty="0">
              <a:solidFill>
                <a:schemeClr val="accent5">
                  <a:lumMod val="50000"/>
                </a:schemeClr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E7C94F-BF79-4B10-B37C-9C0064C00788}"/>
              </a:ext>
            </a:extLst>
          </p:cNvPr>
          <p:cNvSpPr txBox="1"/>
          <p:nvPr/>
        </p:nvSpPr>
        <p:spPr>
          <a:xfrm>
            <a:off x="1257300" y="2362200"/>
            <a:ext cx="6629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# create data vector</a:t>
            </a: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x=c(5,8,10,13,15,33,36,36,38,45,46,52,55,60,64,83,88,92)</a:t>
            </a:r>
          </a:p>
          <a:p>
            <a:endParaRPr lang="en-US" sz="1400" dirty="0">
              <a:solidFill>
                <a:schemeClr val="accent5">
                  <a:lumMod val="50000"/>
                </a:schemeClr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# sample(x, size, replace = TRUE/FALSE) </a:t>
            </a: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# enter FALSE if without replacement</a:t>
            </a: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you can omit the replace =</a:t>
            </a:r>
          </a:p>
          <a:p>
            <a:endParaRPr lang="en-US" sz="1400" dirty="0">
              <a:solidFill>
                <a:schemeClr val="accent5">
                  <a:lumMod val="50000"/>
                </a:schemeClr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# take sample of 5 with replacement</a:t>
            </a: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y=sample(x, 5, TRUE)</a:t>
            </a: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# display the sample</a:t>
            </a:r>
            <a:endParaRPr lang="en-US" sz="1400" dirty="0">
              <a:solidFill>
                <a:srgbClr val="0000FF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y</a:t>
            </a: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[1] 45 52 55  5 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D42B59-E119-43B9-B4D3-56E0547198BB}"/>
              </a:ext>
            </a:extLst>
          </p:cNvPr>
          <p:cNvSpPr txBox="1"/>
          <p:nvPr/>
        </p:nvSpPr>
        <p:spPr>
          <a:xfrm>
            <a:off x="2514600" y="5451391"/>
            <a:ext cx="4876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Excel does random sampling using </a:t>
            </a:r>
            <a:r>
              <a:rPr lang="en-US" sz="1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&gt; Data Analysis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but R has more options, as shown in the next slides.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06EB00-455C-477D-8103-D677D18F2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5409555"/>
            <a:ext cx="758207" cy="45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71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68096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Sampling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198EBB-FCE5-4F99-967A-800CFB653ADA}"/>
              </a:ext>
            </a:extLst>
          </p:cNvPr>
          <p:cNvSpPr txBox="1"/>
          <p:nvPr/>
        </p:nvSpPr>
        <p:spPr>
          <a:xfrm>
            <a:off x="1243484" y="1219200"/>
            <a:ext cx="69861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  <a:cs typeface="Arial" panose="020B0604020202020204" pitchFamily="34" charset="0"/>
              </a:rPr>
              <a:t>The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 function 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sample()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 works with </a:t>
            </a:r>
            <a:r>
              <a:rPr lang="en-US" sz="2000" i="1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categorical data 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(also called </a:t>
            </a:r>
            <a:r>
              <a:rPr lang="en-US" sz="2000" i="1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strings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 or </a:t>
            </a:r>
            <a:r>
              <a:rPr lang="en-US" sz="2000" i="1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character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 data). This allows some interesting possibilities. Define your categorical data using "" and the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as.factor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() 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function. </a:t>
            </a:r>
            <a:endParaRPr lang="en-US" sz="1400" dirty="0">
              <a:latin typeface="Lucida Console" panose="020B0609040504020204" pitchFamily="49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E7C94F-BF79-4B10-B37C-9C0064C00788}"/>
              </a:ext>
            </a:extLst>
          </p:cNvPr>
          <p:cNvSpPr txBox="1"/>
          <p:nvPr/>
        </p:nvSpPr>
        <p:spPr>
          <a:xfrm>
            <a:off x="1257300" y="2868413"/>
            <a:ext cx="6629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# create a random string of two characters</a:t>
            </a: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# </a:t>
            </a:r>
            <a:r>
              <a:rPr lang="en-US" sz="1400" dirty="0" err="1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cample</a:t>
            </a:r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with replacement so either can be chosen</a:t>
            </a: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sample(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as.factor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(c("A","B")),10,TRUE)</a:t>
            </a: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[1] B A B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B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A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A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B A B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B</a:t>
            </a:r>
            <a:endParaRPr lang="en-US" sz="1400" dirty="0">
              <a:solidFill>
                <a:srgbClr val="0000FF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Levels: A B</a:t>
            </a:r>
          </a:p>
          <a:p>
            <a:endParaRPr lang="pt-BR" sz="1400" dirty="0">
              <a:solidFill>
                <a:schemeClr val="accent5">
                  <a:lumMod val="50000"/>
                </a:schemeClr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r>
              <a:rPr lang="pt-BR" sz="1400" dirty="0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# choose three items from a list</a:t>
            </a:r>
          </a:p>
          <a:p>
            <a:r>
              <a:rPr lang="pt-BR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sample(as.factor(c("A","B","C","D","E","F","G")),3,TRUE)</a:t>
            </a:r>
          </a:p>
          <a:p>
            <a:r>
              <a:rPr lang="pt-BR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[1] D D E</a:t>
            </a:r>
          </a:p>
          <a:p>
            <a:r>
              <a:rPr lang="pt-BR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Levels: A B C D E F G</a:t>
            </a:r>
            <a:endParaRPr lang="pt-BR" sz="1400" dirty="0">
              <a:solidFill>
                <a:srgbClr val="0000FF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F1C595-30E0-4E1D-A67F-309B2BA3E456}"/>
              </a:ext>
            </a:extLst>
          </p:cNvPr>
          <p:cNvSpPr txBox="1"/>
          <p:nvPr/>
        </p:nvSpPr>
        <p:spPr>
          <a:xfrm>
            <a:off x="2933700" y="5486400"/>
            <a:ext cx="3771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R's sample is truly random – you would probably not have chosen this sample of 3 items.</a:t>
            </a:r>
          </a:p>
        </p:txBody>
      </p:sp>
      <p:pic>
        <p:nvPicPr>
          <p:cNvPr id="8" name="Picture 7" descr="A close up of a clock&#10;&#10;Description automatically generated">
            <a:extLst>
              <a:ext uri="{FF2B5EF4-FFF2-40B4-BE49-F238E27FC236}">
                <a16:creationId xmlns:a16="http://schemas.microsoft.com/office/drawing/2014/main" id="{3EBCCA33-602F-408A-8B78-C9B517934A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5420350"/>
            <a:ext cx="545380" cy="52322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B5D0B00-9C4C-4ED6-B039-2FF08DD99B2C}"/>
              </a:ext>
            </a:extLst>
          </p:cNvPr>
          <p:cNvSpPr/>
          <p:nvPr/>
        </p:nvSpPr>
        <p:spPr bwMode="auto">
          <a:xfrm>
            <a:off x="1719750" y="4572000"/>
            <a:ext cx="685800" cy="304799"/>
          </a:xfrm>
          <a:prstGeom prst="roundRect">
            <a:avLst/>
          </a:prstGeom>
          <a:solidFill>
            <a:srgbClr val="FFC000">
              <a:alpha val="34000"/>
            </a:srgb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D23712-DD77-4FB6-8597-89AED8C3475A}"/>
              </a:ext>
            </a:extLst>
          </p:cNvPr>
          <p:cNvCxnSpPr/>
          <p:nvPr/>
        </p:nvCxnSpPr>
        <p:spPr bwMode="auto">
          <a:xfrm flipH="1" flipV="1">
            <a:off x="2514600" y="4807406"/>
            <a:ext cx="381000" cy="6129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08178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68096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Sampling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198EBB-FCE5-4F99-967A-800CFB653ADA}"/>
              </a:ext>
            </a:extLst>
          </p:cNvPr>
          <p:cNvSpPr txBox="1"/>
          <p:nvPr/>
        </p:nvSpPr>
        <p:spPr>
          <a:xfrm>
            <a:off x="1243484" y="1219200"/>
            <a:ext cx="69861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  <a:cs typeface="Arial" panose="020B0604020202020204" pitchFamily="34" charset="0"/>
              </a:rPr>
              <a:t>You could choose names for team assignments using 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replace=FALSE 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(no replacement) to ensure that no one is chosen more than once.  Another possibility is to sort a list randomly by setting sample size equal to the population size.</a:t>
            </a:r>
            <a:endParaRPr lang="en-US" sz="1400" dirty="0">
              <a:latin typeface="Lucida Console" panose="020B0609040504020204" pitchFamily="49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E7C94F-BF79-4B10-B37C-9C0064C00788}"/>
              </a:ext>
            </a:extLst>
          </p:cNvPr>
          <p:cNvSpPr txBox="1"/>
          <p:nvPr/>
        </p:nvSpPr>
        <p:spPr>
          <a:xfrm>
            <a:off x="1320521" y="2720547"/>
            <a:ext cx="650295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# choose three names from a list of 5</a:t>
            </a: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sample(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as.factor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(c("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Alex","Drew","Taylor","Jordan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",</a:t>
            </a: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"Dane")),3,FALSE)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[1] Jordan Dane   Alex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Levels: Alex Dane Drew Jordan Taylor</a:t>
            </a:r>
          </a:p>
          <a:p>
            <a:endParaRPr lang="en-US" sz="1400" dirty="0">
              <a:solidFill>
                <a:schemeClr val="accent5">
                  <a:lumMod val="50000"/>
                </a:schemeClr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# arrange 5 names in random order</a:t>
            </a: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# set sample size equal to population size</a:t>
            </a: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sample(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as.factor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(c("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Alex","Drew","Taylor","Jordan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"</a:t>
            </a: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"Dane" )),5,FALSE)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[1] Taylor Drew   Dane  Jordan  Alex  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Levels: Alex Dane Drew Jordan Taylor</a:t>
            </a:r>
          </a:p>
          <a:p>
            <a:endParaRPr lang="en-US" sz="1400" dirty="0">
              <a:solidFill>
                <a:srgbClr val="0000FF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B8696A-8A3E-41D8-961E-1A32BFB64560}"/>
              </a:ext>
            </a:extLst>
          </p:cNvPr>
          <p:cNvSpPr txBox="1"/>
          <p:nvPr/>
        </p:nvSpPr>
        <p:spPr>
          <a:xfrm>
            <a:off x="2564842" y="5613647"/>
            <a:ext cx="3835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Tip: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Excel's </a:t>
            </a:r>
            <a:r>
              <a:rPr lang="en-US" sz="1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Analysis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does random sampling , but it only works on </a:t>
            </a:r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numerical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data.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A193C5-9DF7-46AE-8C00-0D63C1B80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5613647"/>
            <a:ext cx="758207" cy="45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313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68096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Sampling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198EBB-FCE5-4F99-967A-800CFB653ADA}"/>
              </a:ext>
            </a:extLst>
          </p:cNvPr>
          <p:cNvSpPr txBox="1"/>
          <p:nvPr/>
        </p:nvSpPr>
        <p:spPr>
          <a:xfrm>
            <a:off x="1243484" y="1219200"/>
            <a:ext cx="69861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  <a:cs typeface="Arial" panose="020B0604020202020204" pitchFamily="34" charset="0"/>
              </a:rPr>
              <a:t>You can import character data from Excel but be careful of the syntax. Highlight and copy the column data (including headings). Insert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stringsAsFactors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= TRUE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 in the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read.table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()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 function. Then you can sample as usual.</a:t>
            </a:r>
            <a:endParaRPr lang="en-US" sz="1400" dirty="0">
              <a:latin typeface="Lucida Console" panose="020B0609040504020204" pitchFamily="49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E7C94F-BF79-4B10-B37C-9C0064C00788}"/>
              </a:ext>
            </a:extLst>
          </p:cNvPr>
          <p:cNvSpPr txBox="1"/>
          <p:nvPr/>
        </p:nvSpPr>
        <p:spPr>
          <a:xfrm>
            <a:off x="1236086" y="2667000"/>
            <a:ext cx="6629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import five animal names from Excel as string factors</a:t>
            </a: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AnimalData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=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read.table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(file="clipboard",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sep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="\t",</a:t>
            </a: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   header=TRUE,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stringsAsFactors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= TRUE)</a:t>
            </a: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AnimalData</a:t>
            </a:r>
            <a:endParaRPr lang="en-US" sz="1400" dirty="0">
              <a:solidFill>
                <a:srgbClr val="0000FF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  Name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1    Dog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2    Cat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3   Goat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4 Rabbit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5  Snake</a:t>
            </a:r>
          </a:p>
          <a:p>
            <a:endParaRPr lang="en-US" sz="1400" dirty="0">
              <a:solidFill>
                <a:srgbClr val="0000FF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# choose two animal names with replacement</a:t>
            </a: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sample(AnimalData$Name,2,TRUE)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[1] Dog </a:t>
            </a:r>
            <a:r>
              <a:rPr lang="en-US" sz="14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Dog</a:t>
            </a:r>
            <a:endParaRPr lang="en-US" sz="14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Levels: Cat Dog Goat Rabbit Snake</a:t>
            </a:r>
          </a:p>
          <a:p>
            <a:endParaRPr lang="en-US" sz="1400" dirty="0">
              <a:solidFill>
                <a:srgbClr val="0000FF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55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68096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Random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8D14B7-4EA1-420A-82F5-08C8CD0FC812}"/>
              </a:ext>
            </a:extLst>
          </p:cNvPr>
          <p:cNvSpPr txBox="1"/>
          <p:nvPr/>
        </p:nvSpPr>
        <p:spPr>
          <a:xfrm>
            <a:off x="1143000" y="1219200"/>
            <a:ext cx="662940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  <a:cs typeface="Arial" panose="020B0604020202020204" pitchFamily="34" charset="0"/>
              </a:rPr>
              <a:t>Choose a random sample of integers. If you sample with replacement, the same number could occur more than once. The odds of re-occurrence will be low if </a:t>
            </a:r>
            <a:r>
              <a:rPr lang="en-US" sz="2000" i="1" dirty="0">
                <a:latin typeface="+mn-lt"/>
                <a:cs typeface="Arial" panose="020B0604020202020204" pitchFamily="34" charset="0"/>
              </a:rPr>
              <a:t>n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/</a:t>
            </a:r>
            <a:r>
              <a:rPr lang="en-US" sz="2000" i="1" dirty="0">
                <a:latin typeface="+mn-lt"/>
                <a:cs typeface="Arial" panose="020B0604020202020204" pitchFamily="34" charset="0"/>
              </a:rPr>
              <a:t>N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 is small.</a:t>
            </a:r>
            <a:endParaRPr lang="en-US" sz="2000" dirty="0">
              <a:solidFill>
                <a:srgbClr val="0000FF"/>
              </a:solidFill>
              <a:latin typeface="+mn-lt"/>
              <a:cs typeface="Calibri" panose="020F0502020204030204" pitchFamily="34" charset="0"/>
            </a:endParaRPr>
          </a:p>
          <a:p>
            <a:endParaRPr lang="en-US" sz="1300" dirty="0">
              <a:solidFill>
                <a:srgbClr val="0000FF"/>
              </a:solidFill>
              <a:latin typeface="Lucida Console" panose="020B0609040504020204" pitchFamily="49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# choose ten integers from 1 to 999 with replacement</a:t>
            </a: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&gt; sample(1:999,10, TRUE)</a:t>
            </a:r>
          </a:p>
          <a:p>
            <a:r>
              <a:rPr lang="en-US" sz="1300" dirty="0">
                <a:latin typeface="Lucida Console" panose="020B0609040504020204" pitchFamily="49" charset="0"/>
                <a:cs typeface="Calibri" panose="020F0502020204030204" pitchFamily="34" charset="0"/>
              </a:rPr>
              <a:t> [1] 294 358 409 766 760 927 513 185 885 29</a:t>
            </a:r>
          </a:p>
          <a:p>
            <a:endParaRPr lang="en-US" sz="1300" dirty="0">
              <a:latin typeface="Lucida Console" panose="020B0609040504020204" pitchFamily="49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# choose 5 integers from 1 to 10 without replacement</a:t>
            </a: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&gt; sample(1:10, 5, TRUE)</a:t>
            </a:r>
          </a:p>
          <a:p>
            <a:r>
              <a:rPr lang="en-US" sz="1400" dirty="0">
                <a:latin typeface="Lucida Console" panose="020B0609040504020204" pitchFamily="49" charset="0"/>
                <a:cs typeface="Calibri" panose="020F0502020204030204" pitchFamily="34" charset="0"/>
              </a:rPr>
              <a:t>[1]  3  1  2  3 10</a:t>
            </a:r>
          </a:p>
          <a:p>
            <a:endParaRPr lang="en-US" sz="1400" dirty="0">
              <a:solidFill>
                <a:srgbClr val="0000FF"/>
              </a:solidFill>
              <a:latin typeface="Lucida Console" panose="020B0609040504020204" pitchFamily="49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# choose 5 integers from 1 to 10 with replacement</a:t>
            </a: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&gt; sample(1:10, 5, FALSE)</a:t>
            </a:r>
          </a:p>
          <a:p>
            <a:r>
              <a:rPr lang="en-US" sz="1400" dirty="0">
                <a:latin typeface="Lucida Console" panose="020B0609040504020204" pitchFamily="49" charset="0"/>
                <a:cs typeface="Calibri" panose="020F0502020204030204" pitchFamily="34" charset="0"/>
              </a:rPr>
              <a:t>[1]  6  2  5 10  4</a:t>
            </a:r>
          </a:p>
        </p:txBody>
      </p:sp>
    </p:spTree>
    <p:extLst>
      <p:ext uri="{BB962C8B-B14F-4D97-AF65-F5344CB8AC3E}">
        <p14:creationId xmlns:p14="http://schemas.microsoft.com/office/powerpoint/2010/main" val="2037778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68096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Random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893D7D-F035-439D-8E40-2B01209575A0}"/>
              </a:ext>
            </a:extLst>
          </p:cNvPr>
          <p:cNvSpPr txBox="1"/>
          <p:nvPr/>
        </p:nvSpPr>
        <p:spPr>
          <a:xfrm>
            <a:off x="1143000" y="1447800"/>
            <a:ext cx="7692013" cy="337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  <a:cs typeface="Arial" panose="020B0604020202020204" pitchFamily="34" charset="0"/>
              </a:rPr>
              <a:t>Create 25 decimal observations from a normal distribution</a:t>
            </a:r>
          </a:p>
          <a:p>
            <a:r>
              <a:rPr lang="en-US" sz="2000" dirty="0">
                <a:latin typeface="+mn-lt"/>
                <a:cs typeface="Arial" panose="020B0604020202020204" pitchFamily="34" charset="0"/>
              </a:rPr>
              <a:t>with mean 100 and standard deviation 15. Round them to integers.</a:t>
            </a:r>
          </a:p>
          <a:p>
            <a:r>
              <a:rPr lang="en-US" sz="2000" dirty="0">
                <a:latin typeface="+mn-lt"/>
                <a:cs typeface="Arial" panose="020B0604020202020204" pitchFamily="34" charset="0"/>
              </a:rPr>
              <a:t> </a:t>
            </a:r>
          </a:p>
          <a:p>
            <a:endParaRPr lang="en-US" sz="1300" dirty="0">
              <a:solidFill>
                <a:srgbClr val="0000FF"/>
              </a:solidFill>
              <a:latin typeface="Lucida Console" panose="020B0609040504020204" pitchFamily="49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&gt; Data1=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rnorm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(25,100,15) </a:t>
            </a:r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# Generate 25 random N(100,15)</a:t>
            </a: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&gt; Data1                  </a:t>
            </a:r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# list the data we have created</a:t>
            </a:r>
          </a:p>
          <a:p>
            <a:r>
              <a:rPr lang="en-US" sz="1200" dirty="0">
                <a:latin typeface="Lucida Console" panose="020B0609040504020204" pitchFamily="49" charset="0"/>
                <a:cs typeface="Calibri" panose="020F0502020204030204" pitchFamily="34" charset="0"/>
              </a:rPr>
              <a:t> [1] 105.78153 112.62881  97.86053  95.25282  98.39782  88.48118  78.23761</a:t>
            </a:r>
          </a:p>
          <a:p>
            <a:r>
              <a:rPr lang="en-US" sz="1200" dirty="0">
                <a:latin typeface="Lucida Console" panose="020B0609040504020204" pitchFamily="49" charset="0"/>
                <a:cs typeface="Calibri" panose="020F0502020204030204" pitchFamily="34" charset="0"/>
              </a:rPr>
              <a:t> [8]  95.86220 110.26956 118.48021  98.41509 116.24194 102.59046 119.65684</a:t>
            </a:r>
          </a:p>
          <a:p>
            <a:r>
              <a:rPr lang="en-US" sz="1200" dirty="0">
                <a:latin typeface="Lucida Console" panose="020B0609040504020204" pitchFamily="49" charset="0"/>
                <a:cs typeface="Calibri" panose="020F0502020204030204" pitchFamily="34" charset="0"/>
              </a:rPr>
              <a:t>[15]  70.61914 112.47272 104.25433  99.06648 111.05391  97.01341 128.98725</a:t>
            </a:r>
          </a:p>
          <a:p>
            <a:r>
              <a:rPr lang="en-US" sz="1200" dirty="0">
                <a:latin typeface="Lucida Console" panose="020B0609040504020204" pitchFamily="49" charset="0"/>
                <a:cs typeface="Calibri" panose="020F0502020204030204" pitchFamily="34" charset="0"/>
              </a:rPr>
              <a:t>[22] 105.95539  79.86504  62.50125  66.75198</a:t>
            </a:r>
          </a:p>
          <a:p>
            <a:endParaRPr lang="en-US" sz="1200" dirty="0">
              <a:solidFill>
                <a:srgbClr val="0000FF"/>
              </a:solidFill>
              <a:latin typeface="Lucida Console" panose="020B0609040504020204" pitchFamily="49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&gt; Data2= round(Data1,0)  </a:t>
            </a:r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# round the sample data into integers</a:t>
            </a: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&gt; Data2</a:t>
            </a:r>
          </a:p>
          <a:p>
            <a:r>
              <a:rPr lang="en-US" sz="1200" dirty="0">
                <a:latin typeface="Lucida Console" panose="020B0609040504020204" pitchFamily="49" charset="0"/>
                <a:cs typeface="Calibri" panose="020F0502020204030204" pitchFamily="34" charset="0"/>
              </a:rPr>
              <a:t> [1] 106 113  98  95  98  88  78  96 110 118  98 116 103 120  71 112 104 99</a:t>
            </a:r>
          </a:p>
          <a:p>
            <a:r>
              <a:rPr lang="en-US" sz="1200" dirty="0">
                <a:latin typeface="Lucida Console" panose="020B0609040504020204" pitchFamily="49" charset="0"/>
                <a:cs typeface="Calibri" panose="020F0502020204030204" pitchFamily="34" charset="0"/>
              </a:rPr>
              <a:t>[19] 111  97 129 106  80  63  67</a:t>
            </a:r>
          </a:p>
        </p:txBody>
      </p:sp>
    </p:spTree>
    <p:extLst>
      <p:ext uri="{BB962C8B-B14F-4D97-AF65-F5344CB8AC3E}">
        <p14:creationId xmlns:p14="http://schemas.microsoft.com/office/powerpoint/2010/main" val="3941400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68096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Bottom Line</a:t>
            </a:r>
          </a:p>
        </p:txBody>
      </p:sp>
      <p:sp>
        <p:nvSpPr>
          <p:cNvPr id="84995" name="Text Box 3"/>
          <p:cNvSpPr txBox="1">
            <a:spLocks noChangeArrowheads="1"/>
          </p:cNvSpPr>
          <p:nvPr/>
        </p:nvSpPr>
        <p:spPr bwMode="auto">
          <a:xfrm>
            <a:off x="762000" y="1371600"/>
            <a:ext cx="563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85003" name="Text Box 11"/>
          <p:cNvSpPr txBox="1">
            <a:spLocks noChangeArrowheads="1"/>
          </p:cNvSpPr>
          <p:nvPr/>
        </p:nvSpPr>
        <p:spPr bwMode="auto">
          <a:xfrm>
            <a:off x="1371600" y="1371600"/>
            <a:ext cx="6172200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rgbClr val="C00000"/>
              </a:buClr>
              <a:buFontTx/>
              <a:buChar char="•"/>
            </a:pPr>
            <a:r>
              <a:rPr lang="en-US" sz="2000" dirty="0"/>
              <a:t>  R can sample a data vector </a:t>
            </a:r>
            <a:r>
              <a:rPr lang="en-US" sz="2000" i="1" dirty="0"/>
              <a:t>n</a:t>
            </a:r>
            <a:r>
              <a:rPr lang="en-US" sz="2000" dirty="0"/>
              <a:t> times.</a:t>
            </a:r>
          </a:p>
          <a:p>
            <a:pPr>
              <a:spcBef>
                <a:spcPts val="600"/>
              </a:spcBef>
              <a:buClr>
                <a:srgbClr val="C00000"/>
              </a:buClr>
              <a:buFontTx/>
              <a:buChar char="•"/>
            </a:pPr>
            <a:r>
              <a:rPr lang="en-US" sz="2000" dirty="0"/>
              <a:t>  So can Excel but only one value at a time.</a:t>
            </a:r>
          </a:p>
          <a:p>
            <a:pPr>
              <a:spcBef>
                <a:spcPts val="600"/>
              </a:spcBef>
              <a:buClr>
                <a:srgbClr val="C00000"/>
              </a:buClr>
              <a:buFontTx/>
              <a:buChar char="•"/>
            </a:pPr>
            <a:r>
              <a:rPr lang="en-US" sz="2000" dirty="0"/>
              <a:t>  Excel can sample a few common distributions, e.g.,</a:t>
            </a:r>
          </a:p>
          <a:p>
            <a:pPr>
              <a:spcBef>
                <a:spcPts val="600"/>
              </a:spcBef>
              <a:buClr>
                <a:srgbClr val="C00000"/>
              </a:buClr>
            </a:pPr>
            <a:r>
              <a:rPr lang="en-US" sz="1400" dirty="0"/>
              <a:t>	 </a:t>
            </a:r>
            <a:r>
              <a:rPr lang="en-US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=NORM.INV(RAND(),0,1)</a:t>
            </a:r>
          </a:p>
          <a:p>
            <a:pPr>
              <a:spcBef>
                <a:spcPts val="600"/>
              </a:spcBef>
              <a:buClr>
                <a:srgbClr val="C00000"/>
              </a:buClr>
            </a:pPr>
            <a:r>
              <a:rPr lang="en-US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= BINOM.INV(10,0.5,RAND())</a:t>
            </a:r>
          </a:p>
          <a:p>
            <a:pPr>
              <a:spcBef>
                <a:spcPts val="600"/>
              </a:spcBef>
              <a:buClr>
                <a:srgbClr val="C00000"/>
              </a:buClr>
            </a:pPr>
            <a:r>
              <a:rPr lang="en-US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=RANDBETWEEN(1,999)</a:t>
            </a:r>
          </a:p>
          <a:p>
            <a:pPr>
              <a:spcBef>
                <a:spcPts val="600"/>
              </a:spcBef>
              <a:buClr>
                <a:srgbClr val="C00000"/>
              </a:buClr>
              <a:buFontTx/>
              <a:buChar char="•"/>
            </a:pPr>
            <a:r>
              <a:rPr lang="en-US" sz="2000" dirty="0"/>
              <a:t>  R  can create </a:t>
            </a:r>
            <a:r>
              <a:rPr lang="en-US" sz="2000" i="1" dirty="0"/>
              <a:t>many</a:t>
            </a:r>
            <a:r>
              <a:rPr lang="en-US" sz="2000" dirty="0"/>
              <a:t> observations on random data from </a:t>
            </a:r>
            <a:r>
              <a:rPr lang="en-US" sz="2000" i="1" dirty="0"/>
              <a:t>many</a:t>
            </a:r>
            <a:r>
              <a:rPr lang="en-US" sz="2000" dirty="0"/>
              <a:t> distributions, e.g.,</a:t>
            </a:r>
          </a:p>
          <a:p>
            <a:pPr lvl="1">
              <a:spcBef>
                <a:spcPts val="600"/>
              </a:spcBef>
              <a:buClr>
                <a:srgbClr val="C00000"/>
              </a:buClr>
            </a:pPr>
            <a:r>
              <a:rPr lang="en-US" sz="1600" dirty="0">
                <a:solidFill>
                  <a:srgbClr val="0000F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 </a:t>
            </a:r>
            <a:r>
              <a:rPr lang="pt-BR" sz="1600" dirty="0">
                <a:solidFill>
                  <a:srgbClr val="0000F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&gt; rpois(10,5)       </a:t>
            </a:r>
            <a:r>
              <a:rPr lang="pt-BR" sz="1600" dirty="0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# 5 Poisson data values</a:t>
            </a:r>
          </a:p>
          <a:p>
            <a:pPr lvl="1">
              <a:spcBef>
                <a:spcPts val="0"/>
              </a:spcBef>
              <a:buClr>
                <a:srgbClr val="C00000"/>
              </a:buClr>
            </a:pPr>
            <a:r>
              <a:rPr lang="pt-BR" sz="1600" dirty="0">
                <a:latin typeface="Lucida Console" panose="020B0609040504020204" pitchFamily="49" charset="0"/>
                <a:cs typeface="Calibri" panose="020F0502020204030204" pitchFamily="34" charset="0"/>
              </a:rPr>
              <a:t> [1] 3 9 9 3 7 1 5 2 2 3</a:t>
            </a:r>
          </a:p>
          <a:p>
            <a:pPr lvl="1">
              <a:spcBef>
                <a:spcPts val="0"/>
              </a:spcBef>
              <a:buClr>
                <a:srgbClr val="C00000"/>
              </a:buClr>
            </a:pPr>
            <a:r>
              <a:rPr lang="sv-SE" sz="1600" dirty="0">
                <a:latin typeface="Lucida Console" panose="020B0609040504020204" pitchFamily="49" charset="0"/>
                <a:cs typeface="Calibri" panose="020F0502020204030204" pitchFamily="34" charset="0"/>
              </a:rPr>
              <a:t> </a:t>
            </a:r>
            <a:r>
              <a:rPr lang="sv-SE" sz="1600" dirty="0">
                <a:solidFill>
                  <a:srgbClr val="0000FF"/>
                </a:solidFill>
                <a:latin typeface="Lucida Console" panose="020B0609040504020204" pitchFamily="49" charset="0"/>
                <a:cs typeface="Calibri" panose="020F0502020204030204" pitchFamily="34" charset="0"/>
              </a:rPr>
              <a:t>&gt; rbinom(5,10,.5) </a:t>
            </a:r>
            <a:r>
              <a:rPr lang="pt-BR" sz="1600" dirty="0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# 5 Binomial data values</a:t>
            </a:r>
            <a:endParaRPr lang="sv-SE" sz="1600" dirty="0">
              <a:solidFill>
                <a:srgbClr val="0000FF"/>
              </a:solidFill>
              <a:latin typeface="Lucida Console" panose="020B0609040504020204" pitchFamily="49" charset="0"/>
              <a:cs typeface="Calibri" panose="020F0502020204030204" pitchFamily="34" charset="0"/>
            </a:endParaRPr>
          </a:p>
          <a:p>
            <a:pPr lvl="1">
              <a:spcBef>
                <a:spcPts val="0"/>
              </a:spcBef>
              <a:buClr>
                <a:srgbClr val="C00000"/>
              </a:buClr>
            </a:pPr>
            <a:r>
              <a:rPr lang="sv-SE" sz="1600" dirty="0">
                <a:latin typeface="Lucida Console" panose="020B0609040504020204" pitchFamily="49" charset="0"/>
                <a:cs typeface="Calibri" panose="020F0502020204030204" pitchFamily="34" charset="0"/>
              </a:rPr>
              <a:t> [1] 4 5 5 6 4</a:t>
            </a:r>
            <a:endParaRPr lang="en-US" sz="1600" dirty="0">
              <a:latin typeface="Lucida Console" panose="020B0609040504020204" pitchFamily="49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  <a:buClr>
                <a:srgbClr val="C00000"/>
              </a:buClr>
              <a:buFontTx/>
              <a:buChar char="•"/>
            </a:pPr>
            <a:r>
              <a:rPr lang="en-US" sz="2000" dirty="0"/>
              <a:t>  R is better for simulations because it can do more, do it faster, and then manipulate the results in many ways.</a:t>
            </a:r>
          </a:p>
        </p:txBody>
      </p:sp>
      <p:pic>
        <p:nvPicPr>
          <p:cNvPr id="85004" name="Picture 12" descr="bd04897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175705"/>
            <a:ext cx="1138309" cy="848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3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2105</TotalTime>
  <Words>1020</Words>
  <Application>Microsoft Office PowerPoint</Application>
  <PresentationFormat>On-screen Show (4:3)</PresentationFormat>
  <Paragraphs>105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Lucida Console</vt:lpstr>
      <vt:lpstr>Times New Roman</vt:lpstr>
      <vt:lpstr>Default Design</vt:lpstr>
      <vt:lpstr>Sampling Using R</vt:lpstr>
      <vt:lpstr>Sampling</vt:lpstr>
      <vt:lpstr>Sampling</vt:lpstr>
      <vt:lpstr>Sampling</vt:lpstr>
      <vt:lpstr>Sampling</vt:lpstr>
      <vt:lpstr>Random Data</vt:lpstr>
      <vt:lpstr>Random Data</vt:lpstr>
      <vt:lpstr>Bottom Line</vt:lpstr>
    </vt:vector>
  </TitlesOfParts>
  <Company>McGraw Hill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Sampling Using R</dc:title>
  <dc:subject>Chapter 2 - Data Collection</dc:subject>
  <dc:creator>David P. Doane</dc:creator>
  <dc:description>Copyright (c) 2025 by McGraw Hill LLC.  This material is intended solely for educational use licensed users of Connect. It may not be copied or resold.</dc:description>
  <cp:lastModifiedBy>Elango Selvaraj</cp:lastModifiedBy>
  <cp:revision>134</cp:revision>
  <dcterms:created xsi:type="dcterms:W3CDTF">2000-08-22T13:07:54Z</dcterms:created>
  <dcterms:modified xsi:type="dcterms:W3CDTF">2023-11-29T09:56:59Z</dcterms:modified>
</cp:coreProperties>
</file>