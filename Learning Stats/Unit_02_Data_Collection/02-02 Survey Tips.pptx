
<file path=[Content_Types].xml><?xml version="1.0" encoding="utf-8"?>
<Types xmlns="http://schemas.openxmlformats.org/package/2006/content-types">
  <Default Extension="gif" ContentType="image/gif"/>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handoutMasterIdLst>
    <p:handoutMasterId r:id="rId15"/>
  </p:handoutMasterIdLst>
  <p:sldIdLst>
    <p:sldId id="256" r:id="rId2"/>
    <p:sldId id="316" r:id="rId3"/>
    <p:sldId id="268" r:id="rId4"/>
    <p:sldId id="311" r:id="rId5"/>
    <p:sldId id="319" r:id="rId6"/>
    <p:sldId id="320" r:id="rId7"/>
    <p:sldId id="322" r:id="rId8"/>
    <p:sldId id="312" r:id="rId9"/>
    <p:sldId id="321" r:id="rId10"/>
    <p:sldId id="315" r:id="rId11"/>
    <p:sldId id="323" r:id="rId12"/>
    <p:sldId id="324" r:id="rId13"/>
    <p:sldId id="325" r:id="rId14"/>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333333"/>
    <a:srgbClr val="5F5F5F"/>
    <a:srgbClr val="CCECFF"/>
    <a:srgbClr val="FFFFCC"/>
    <a:srgbClr val="FFCC99"/>
    <a:srgbClr val="800000"/>
    <a:srgbClr val="FF6600"/>
    <a:srgbClr val="CC9900"/>
    <a:srgbClr val="FFCC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13" autoAdjust="0"/>
    <p:restoredTop sz="94609" autoAdjust="0"/>
  </p:normalViewPr>
  <p:slideViewPr>
    <p:cSldViewPr>
      <p:cViewPr varScale="1">
        <p:scale>
          <a:sx n="63" d="100"/>
          <a:sy n="63" d="100"/>
        </p:scale>
        <p:origin x="1252" y="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34"/>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smtClean="0"/>
            </a:lvl1pPr>
          </a:lstStyle>
          <a:p>
            <a:pPr>
              <a:defRPr/>
            </a:pPr>
            <a:endParaRPr lang="en-US"/>
          </a:p>
        </p:txBody>
      </p:sp>
      <p:sp>
        <p:nvSpPr>
          <p:cNvPr id="52227"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en-US"/>
          </a:p>
        </p:txBody>
      </p:sp>
      <p:sp>
        <p:nvSpPr>
          <p:cNvPr id="52228"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smtClean="0"/>
            </a:lvl1pPr>
          </a:lstStyle>
          <a:p>
            <a:pPr>
              <a:defRPr/>
            </a:pPr>
            <a:endParaRPr lang="en-US"/>
          </a:p>
        </p:txBody>
      </p:sp>
      <p:sp>
        <p:nvSpPr>
          <p:cNvPr id="52229"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smtClean="0"/>
            </a:lvl1pPr>
          </a:lstStyle>
          <a:p>
            <a:pPr>
              <a:defRPr/>
            </a:pPr>
            <a:fld id="{3580776C-EB37-4FC6-B267-8255AB40527E}" type="slidenum">
              <a:rPr lang="en-US"/>
              <a:pPr>
                <a:defRPr/>
              </a:pPr>
              <a:t>‹#›</a:t>
            </a:fld>
            <a:endParaRPr lang="en-US"/>
          </a:p>
        </p:txBody>
      </p:sp>
    </p:spTree>
    <p:extLst>
      <p:ext uri="{BB962C8B-B14F-4D97-AF65-F5344CB8AC3E}">
        <p14:creationId xmlns:p14="http://schemas.microsoft.com/office/powerpoint/2010/main" val="561217140"/>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322A92C-97C9-488D-A760-C3493A3FAFBC}" type="slidenum">
              <a:rPr lang="en-US"/>
              <a:pPr>
                <a:defRPr/>
              </a:pPr>
              <a:t>‹#›</a:t>
            </a:fld>
            <a:endParaRPr lang="en-US"/>
          </a:p>
        </p:txBody>
      </p:sp>
    </p:spTree>
    <p:extLst>
      <p:ext uri="{BB962C8B-B14F-4D97-AF65-F5344CB8AC3E}">
        <p14:creationId xmlns:p14="http://schemas.microsoft.com/office/powerpoint/2010/main" val="3498699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8FAE75C-BC1C-4135-8592-0596FEB1D0F1}" type="slidenum">
              <a:rPr lang="en-US"/>
              <a:pPr>
                <a:defRPr/>
              </a:pPr>
              <a:t>‹#›</a:t>
            </a:fld>
            <a:endParaRPr lang="en-US"/>
          </a:p>
        </p:txBody>
      </p:sp>
    </p:spTree>
    <p:extLst>
      <p:ext uri="{BB962C8B-B14F-4D97-AF65-F5344CB8AC3E}">
        <p14:creationId xmlns:p14="http://schemas.microsoft.com/office/powerpoint/2010/main" val="436810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3374BC6-34DF-4864-94A1-FB5A52A8BB20}" type="slidenum">
              <a:rPr lang="en-US"/>
              <a:pPr>
                <a:defRPr/>
              </a:pPr>
              <a:t>‹#›</a:t>
            </a:fld>
            <a:endParaRPr lang="en-US"/>
          </a:p>
        </p:txBody>
      </p:sp>
    </p:spTree>
    <p:extLst>
      <p:ext uri="{BB962C8B-B14F-4D97-AF65-F5344CB8AC3E}">
        <p14:creationId xmlns:p14="http://schemas.microsoft.com/office/powerpoint/2010/main" val="1223953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D248A56B-E7E2-41D7-A51F-5DD1D0FE9CC9}" type="slidenum">
              <a:rPr lang="en-US"/>
              <a:pPr>
                <a:defRPr/>
              </a:pPr>
              <a:t>‹#›</a:t>
            </a:fld>
            <a:endParaRPr lang="en-US"/>
          </a:p>
        </p:txBody>
      </p:sp>
    </p:spTree>
    <p:extLst>
      <p:ext uri="{BB962C8B-B14F-4D97-AF65-F5344CB8AC3E}">
        <p14:creationId xmlns:p14="http://schemas.microsoft.com/office/powerpoint/2010/main" val="3249006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8FD29029-7566-4F06-AB04-3924F3A8185C}" type="slidenum">
              <a:rPr lang="en-US"/>
              <a:pPr>
                <a:defRPr/>
              </a:pPr>
              <a:t>‹#›</a:t>
            </a:fld>
            <a:endParaRPr lang="en-US"/>
          </a:p>
        </p:txBody>
      </p:sp>
    </p:spTree>
    <p:extLst>
      <p:ext uri="{BB962C8B-B14F-4D97-AF65-F5344CB8AC3E}">
        <p14:creationId xmlns:p14="http://schemas.microsoft.com/office/powerpoint/2010/main" val="123469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A3D8296F-6E09-4BF2-9DB3-2EE758B4B159}" type="slidenum">
              <a:rPr lang="en-US"/>
              <a:pPr>
                <a:defRPr/>
              </a:pPr>
              <a:t>‹#›</a:t>
            </a:fld>
            <a:endParaRPr lang="en-US"/>
          </a:p>
        </p:txBody>
      </p:sp>
    </p:spTree>
    <p:extLst>
      <p:ext uri="{BB962C8B-B14F-4D97-AF65-F5344CB8AC3E}">
        <p14:creationId xmlns:p14="http://schemas.microsoft.com/office/powerpoint/2010/main" val="3273163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2AB668E8-6089-46FE-9F54-4939DB179956}" type="slidenum">
              <a:rPr lang="en-US"/>
              <a:pPr>
                <a:defRPr/>
              </a:pPr>
              <a:t>‹#›</a:t>
            </a:fld>
            <a:endParaRPr lang="en-US"/>
          </a:p>
        </p:txBody>
      </p:sp>
    </p:spTree>
    <p:extLst>
      <p:ext uri="{BB962C8B-B14F-4D97-AF65-F5344CB8AC3E}">
        <p14:creationId xmlns:p14="http://schemas.microsoft.com/office/powerpoint/2010/main" val="1904358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3D991B4F-7B1F-45A0-89FB-6162C869BB39}" type="slidenum">
              <a:rPr lang="en-US"/>
              <a:pPr>
                <a:defRPr/>
              </a:pPr>
              <a:t>‹#›</a:t>
            </a:fld>
            <a:endParaRPr lang="en-US"/>
          </a:p>
        </p:txBody>
      </p:sp>
    </p:spTree>
    <p:extLst>
      <p:ext uri="{BB962C8B-B14F-4D97-AF65-F5344CB8AC3E}">
        <p14:creationId xmlns:p14="http://schemas.microsoft.com/office/powerpoint/2010/main" val="3260056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3D0819CB-DE14-4A54-A5F8-A65EEBACBE20}" type="slidenum">
              <a:rPr lang="en-US"/>
              <a:pPr>
                <a:defRPr/>
              </a:pPr>
              <a:t>‹#›</a:t>
            </a:fld>
            <a:endParaRPr lang="en-US"/>
          </a:p>
        </p:txBody>
      </p:sp>
    </p:spTree>
    <p:extLst>
      <p:ext uri="{BB962C8B-B14F-4D97-AF65-F5344CB8AC3E}">
        <p14:creationId xmlns:p14="http://schemas.microsoft.com/office/powerpoint/2010/main" val="717767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F393D576-1E1D-41D3-ACE3-43A38642CD26}" type="slidenum">
              <a:rPr lang="en-US"/>
              <a:pPr>
                <a:defRPr/>
              </a:pPr>
              <a:t>‹#›</a:t>
            </a:fld>
            <a:endParaRPr lang="en-US"/>
          </a:p>
        </p:txBody>
      </p:sp>
    </p:spTree>
    <p:extLst>
      <p:ext uri="{BB962C8B-B14F-4D97-AF65-F5344CB8AC3E}">
        <p14:creationId xmlns:p14="http://schemas.microsoft.com/office/powerpoint/2010/main" val="2488418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7F46C54C-BAA6-473C-AD0A-449456B79107}" type="slidenum">
              <a:rPr lang="en-US"/>
              <a:pPr>
                <a:defRPr/>
              </a:pPr>
              <a:t>‹#›</a:t>
            </a:fld>
            <a:endParaRPr lang="en-US"/>
          </a:p>
        </p:txBody>
      </p:sp>
    </p:spTree>
    <p:extLst>
      <p:ext uri="{BB962C8B-B14F-4D97-AF65-F5344CB8AC3E}">
        <p14:creationId xmlns:p14="http://schemas.microsoft.com/office/powerpoint/2010/main" val="2492103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smtClean="0"/>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smtClean="0"/>
            </a:lvl1pPr>
          </a:lstStyle>
          <a:p>
            <a:pPr>
              <a:defRPr/>
            </a:pP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smtClean="0"/>
            </a:lvl1pPr>
          </a:lstStyle>
          <a:p>
            <a:pPr>
              <a:defRPr/>
            </a:pPr>
            <a:fld id="{E28DB051-DD9D-47E0-98C1-C9F62792CFD2}"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www.survey-design-and-analysis.com/" TargetMode="External"/><Relationship Id="rId2" Type="http://schemas.openxmlformats.org/officeDocument/2006/relationships/hyperlink" Target="https://www.surveymonkey.com/" TargetMode="External"/><Relationship Id="rId1" Type="http://schemas.openxmlformats.org/officeDocument/2006/relationships/slideLayout" Target="../slideLayouts/slideLayout1.xml"/><Relationship Id="rId4" Type="http://schemas.openxmlformats.org/officeDocument/2006/relationships/image" Target="../media/image6.gif"/></Relationships>
</file>

<file path=ppt/slides/_rels/slide13.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1295400" y="2819400"/>
            <a:ext cx="6477000" cy="990600"/>
          </a:xfrm>
        </p:spPr>
        <p:txBody>
          <a:bodyPr/>
          <a:lstStyle/>
          <a:p>
            <a:pPr>
              <a:defRPr/>
            </a:pPr>
            <a:r>
              <a:rPr lang="en-US" sz="4800" b="1" dirty="0">
                <a:solidFill>
                  <a:srgbClr val="C0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Surveys</a:t>
            </a:r>
            <a:endParaRPr lang="en-US" b="1" dirty="0">
              <a:solidFill>
                <a:srgbClr val="C0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2051" name="Text Box 2056"/>
          <p:cNvSpPr txBox="1">
            <a:spLocks noChangeArrowheads="1"/>
          </p:cNvSpPr>
          <p:nvPr/>
        </p:nvSpPr>
        <p:spPr bwMode="auto">
          <a:xfrm>
            <a:off x="1447800" y="5715000"/>
            <a:ext cx="6400800" cy="523220"/>
          </a:xfrm>
          <a:prstGeom prst="rect">
            <a:avLst/>
          </a:prstGeom>
          <a:solidFill>
            <a:srgbClr val="FFFF99">
              <a:alpha val="0"/>
            </a:srgbClr>
          </a:solidFill>
          <a:ln>
            <a:noFill/>
          </a:ln>
          <a:extLs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400" b="1" dirty="0">
                <a:solidFill>
                  <a:srgbClr val="333333"/>
                </a:solidFill>
              </a:rPr>
              <a:t>© McGraw Hill LLC. All rights reserved. </a:t>
            </a:r>
            <a:r>
              <a:rPr lang="en-US" sz="1400" b="1">
                <a:solidFill>
                  <a:srgbClr val="333333"/>
                </a:solidFill>
              </a:rPr>
              <a:t>No reproduction or distribution without the prior written consent of McGraw Hill LLC.</a:t>
            </a:r>
            <a:endParaRPr lang="en-US" sz="1400" b="1" dirty="0">
              <a:solidFill>
                <a:srgbClr val="333333"/>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ctrTitle"/>
          </p:nvPr>
        </p:nvSpPr>
        <p:spPr>
          <a:xfrm>
            <a:off x="0" y="228600"/>
            <a:ext cx="9144000" cy="768096"/>
          </a:xfrm>
        </p:spPr>
        <p:txBody>
          <a:bodyPr/>
          <a:lstStyle/>
          <a:p>
            <a:pPr>
              <a:defRPr/>
            </a:pPr>
            <a:r>
              <a:rPr lang="en-US" sz="3600" b="1" dirty="0">
                <a:solidFill>
                  <a:srgbClr val="C0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Who Does Surveys?</a:t>
            </a:r>
          </a:p>
        </p:txBody>
      </p:sp>
      <p:sp>
        <p:nvSpPr>
          <p:cNvPr id="3076" name="Text Box 7"/>
          <p:cNvSpPr txBox="1">
            <a:spLocks noChangeArrowheads="1"/>
          </p:cNvSpPr>
          <p:nvPr/>
        </p:nvSpPr>
        <p:spPr bwMode="auto">
          <a:xfrm>
            <a:off x="1600200" y="1447800"/>
            <a:ext cx="6553200" cy="361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ts val="1200"/>
              </a:spcBef>
              <a:buClr>
                <a:srgbClr val="C00000"/>
              </a:buClr>
              <a:buFontTx/>
              <a:buChar char="•"/>
            </a:pPr>
            <a:r>
              <a:rPr lang="en-US" dirty="0"/>
              <a:t>  Government (a few examples)</a:t>
            </a:r>
          </a:p>
          <a:p>
            <a:pPr lvl="1">
              <a:spcBef>
                <a:spcPts val="600"/>
              </a:spcBef>
              <a:buClr>
                <a:srgbClr val="C00000"/>
              </a:buClr>
              <a:buFontTx/>
              <a:buChar char="•"/>
            </a:pPr>
            <a:r>
              <a:rPr lang="en-US" sz="1800" dirty="0"/>
              <a:t> Bureau of Labor Statistics (e.g., unemployment rate)</a:t>
            </a:r>
          </a:p>
          <a:p>
            <a:pPr lvl="1">
              <a:spcBef>
                <a:spcPts val="600"/>
              </a:spcBef>
              <a:buClr>
                <a:srgbClr val="C00000"/>
              </a:buClr>
              <a:buFontTx/>
              <a:buChar char="•"/>
            </a:pPr>
            <a:r>
              <a:rPr lang="en-US" sz="1800" dirty="0"/>
              <a:t> U.S. Bureau of the Census (e.g., housing conditions)</a:t>
            </a:r>
          </a:p>
          <a:p>
            <a:pPr lvl="1">
              <a:spcBef>
                <a:spcPts val="600"/>
              </a:spcBef>
              <a:buClr>
                <a:srgbClr val="C00000"/>
              </a:buClr>
              <a:buFontTx/>
              <a:buChar char="•"/>
            </a:pPr>
            <a:r>
              <a:rPr lang="en-US" sz="1800" dirty="0"/>
              <a:t> National Center for Health Statistics (e.g., medical costs)</a:t>
            </a:r>
          </a:p>
          <a:p>
            <a:pPr>
              <a:spcBef>
                <a:spcPts val="1200"/>
              </a:spcBef>
              <a:buClr>
                <a:srgbClr val="C00000"/>
              </a:buClr>
              <a:buFontTx/>
              <a:buChar char="•"/>
            </a:pPr>
            <a:r>
              <a:rPr lang="en-US" dirty="0"/>
              <a:t>  Companies (e.g., media, retailers, e-commerce)</a:t>
            </a:r>
          </a:p>
          <a:p>
            <a:pPr>
              <a:spcBef>
                <a:spcPts val="1200"/>
              </a:spcBef>
              <a:buClr>
                <a:srgbClr val="C00000"/>
              </a:buClr>
              <a:buFontTx/>
              <a:buChar char="•"/>
            </a:pPr>
            <a:r>
              <a:rPr lang="en-US" dirty="0"/>
              <a:t>  Trade associations, professional societies</a:t>
            </a:r>
          </a:p>
          <a:p>
            <a:pPr>
              <a:spcBef>
                <a:spcPts val="1200"/>
              </a:spcBef>
              <a:buClr>
                <a:srgbClr val="C00000"/>
              </a:buClr>
              <a:buFontTx/>
              <a:buChar char="•"/>
            </a:pPr>
            <a:r>
              <a:rPr lang="en-US" dirty="0"/>
              <a:t>  University researchers (e.g., sociologists)</a:t>
            </a:r>
          </a:p>
          <a:p>
            <a:pPr>
              <a:spcBef>
                <a:spcPts val="1200"/>
              </a:spcBef>
              <a:buClr>
                <a:srgbClr val="C00000"/>
              </a:buClr>
              <a:buFontTx/>
              <a:buChar char="•"/>
            </a:pPr>
            <a:r>
              <a:rPr lang="en-US" dirty="0"/>
              <a:t>  Market research companies (e.g., pollsters)</a:t>
            </a:r>
          </a:p>
        </p:txBody>
      </p:sp>
      <p:pic>
        <p:nvPicPr>
          <p:cNvPr id="5" name="Picture 4" descr="pe01460_">
            <a:extLst>
              <a:ext uri="{FF2B5EF4-FFF2-40B4-BE49-F238E27FC236}">
                <a16:creationId xmlns:a16="http://schemas.microsoft.com/office/drawing/2014/main" id="{0C95C2FF-6D1D-46F4-8D16-F3363E89556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38600" y="5257800"/>
            <a:ext cx="762000" cy="946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ctrTitle"/>
          </p:nvPr>
        </p:nvSpPr>
        <p:spPr>
          <a:xfrm>
            <a:off x="0" y="228600"/>
            <a:ext cx="9144000" cy="768096"/>
          </a:xfrm>
        </p:spPr>
        <p:txBody>
          <a:bodyPr/>
          <a:lstStyle/>
          <a:p>
            <a:pPr>
              <a:defRPr/>
            </a:pPr>
            <a:r>
              <a:rPr lang="en-US" sz="3600" b="1" dirty="0">
                <a:solidFill>
                  <a:srgbClr val="C0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Planning Your Survey</a:t>
            </a:r>
          </a:p>
        </p:txBody>
      </p:sp>
      <p:sp>
        <p:nvSpPr>
          <p:cNvPr id="4099" name="Text Box 5"/>
          <p:cNvSpPr txBox="1">
            <a:spLocks noChangeArrowheads="1"/>
          </p:cNvSpPr>
          <p:nvPr/>
        </p:nvSpPr>
        <p:spPr bwMode="auto">
          <a:xfrm>
            <a:off x="2165360" y="6051352"/>
            <a:ext cx="51054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400" i="1" dirty="0"/>
              <a:t>Source: </a:t>
            </a:r>
            <a:r>
              <a:rPr lang="en-US" sz="1400" dirty="0"/>
              <a:t>American Statistical Association, "How to Plan a Survey"</a:t>
            </a:r>
          </a:p>
        </p:txBody>
      </p:sp>
      <p:sp>
        <p:nvSpPr>
          <p:cNvPr id="4101" name="Text Box 3"/>
          <p:cNvSpPr txBox="1">
            <a:spLocks noChangeArrowheads="1"/>
          </p:cNvSpPr>
          <p:nvPr/>
        </p:nvSpPr>
        <p:spPr bwMode="auto">
          <a:xfrm>
            <a:off x="1600200" y="1447800"/>
            <a:ext cx="6477000" cy="3077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ts val="1200"/>
              </a:spcBef>
              <a:buClr>
                <a:srgbClr val="C00000"/>
              </a:buClr>
              <a:buFontTx/>
              <a:buChar char="•"/>
            </a:pPr>
            <a:r>
              <a:rPr lang="en-US" dirty="0"/>
              <a:t>  What are the objectives of the investigation?</a:t>
            </a:r>
          </a:p>
          <a:p>
            <a:pPr>
              <a:spcBef>
                <a:spcPts val="1200"/>
              </a:spcBef>
              <a:buClr>
                <a:srgbClr val="C00000"/>
              </a:buClr>
              <a:buFontTx/>
              <a:buChar char="•"/>
            </a:pPr>
            <a:r>
              <a:rPr lang="en-US" dirty="0"/>
              <a:t>  Who is the survey for?  Who is the sponsor?</a:t>
            </a:r>
          </a:p>
          <a:p>
            <a:pPr>
              <a:spcBef>
                <a:spcPts val="1200"/>
              </a:spcBef>
              <a:buClr>
                <a:srgbClr val="C00000"/>
              </a:buClr>
              <a:buFontTx/>
              <a:buChar char="•"/>
            </a:pPr>
            <a:r>
              <a:rPr lang="en-US" dirty="0"/>
              <a:t>  What does the client </a:t>
            </a:r>
            <a:r>
              <a:rPr lang="en-US" i="1" dirty="0"/>
              <a:t>actually</a:t>
            </a:r>
            <a:r>
              <a:rPr lang="en-US" dirty="0"/>
              <a:t> need to know?</a:t>
            </a:r>
          </a:p>
          <a:p>
            <a:pPr>
              <a:spcBef>
                <a:spcPts val="1200"/>
              </a:spcBef>
              <a:buClr>
                <a:srgbClr val="C00000"/>
              </a:buClr>
              <a:buFontTx/>
              <a:buChar char="•"/>
            </a:pPr>
            <a:r>
              <a:rPr lang="en-US" dirty="0"/>
              <a:t>  What degree of accuracy is desired?  Why?</a:t>
            </a:r>
          </a:p>
          <a:p>
            <a:pPr>
              <a:spcBef>
                <a:spcPts val="1200"/>
              </a:spcBef>
              <a:buClr>
                <a:srgbClr val="C00000"/>
              </a:buClr>
              <a:buFontTx/>
              <a:buChar char="•"/>
            </a:pPr>
            <a:r>
              <a:rPr lang="en-US" dirty="0"/>
              <a:t>  Is there a better way (e.g., an experiment)?</a:t>
            </a:r>
          </a:p>
          <a:p>
            <a:pPr>
              <a:spcBef>
                <a:spcPts val="1200"/>
              </a:spcBef>
              <a:buClr>
                <a:srgbClr val="C00000"/>
              </a:buClr>
              <a:buFontTx/>
              <a:buChar char="•"/>
            </a:pPr>
            <a:r>
              <a:rPr lang="en-US" dirty="0"/>
              <a:t>  What are the constraints (time, budget, people)?</a:t>
            </a:r>
          </a:p>
        </p:txBody>
      </p:sp>
      <p:pic>
        <p:nvPicPr>
          <p:cNvPr id="4102" name="Picture 4" descr="j019538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51432" y="4719414"/>
            <a:ext cx="1041136" cy="113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50000"/>
          </a:srgbClr>
        </a:solidFill>
        <a:effectLst/>
      </p:bgPr>
    </p:bg>
    <p:spTree>
      <p:nvGrpSpPr>
        <p:cNvPr id="1" name=""/>
        <p:cNvGrpSpPr/>
        <p:nvPr/>
      </p:nvGrpSpPr>
      <p:grpSpPr>
        <a:xfrm>
          <a:off x="0" y="0"/>
          <a:ext cx="0" cy="0"/>
          <a:chOff x="0" y="0"/>
          <a:chExt cx="0" cy="0"/>
        </a:xfrm>
      </p:grpSpPr>
      <p:sp>
        <p:nvSpPr>
          <p:cNvPr id="62466" name="Rectangle 2"/>
          <p:cNvSpPr>
            <a:spLocks noGrp="1" noChangeArrowheads="1"/>
          </p:cNvSpPr>
          <p:nvPr>
            <p:ph type="ctrTitle"/>
          </p:nvPr>
        </p:nvSpPr>
        <p:spPr>
          <a:xfrm>
            <a:off x="0" y="228600"/>
            <a:ext cx="9144000" cy="768096"/>
          </a:xfrm>
        </p:spPr>
        <p:txBody>
          <a:bodyPr/>
          <a:lstStyle/>
          <a:p>
            <a:pPr>
              <a:defRPr/>
            </a:pPr>
            <a:r>
              <a:rPr lang="en-US" sz="3600" b="1" dirty="0">
                <a:solidFill>
                  <a:srgbClr val="C0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Survey Types</a:t>
            </a:r>
          </a:p>
        </p:txBody>
      </p:sp>
      <p:graphicFrame>
        <p:nvGraphicFramePr>
          <p:cNvPr id="62552" name="Group 88"/>
          <p:cNvGraphicFramePr>
            <a:graphicFrameLocks noGrp="1"/>
          </p:cNvGraphicFramePr>
          <p:nvPr>
            <p:extLst>
              <p:ext uri="{D42A27DB-BD31-4B8C-83A1-F6EECF244321}">
                <p14:modId xmlns:p14="http://schemas.microsoft.com/office/powerpoint/2010/main" val="151252344"/>
              </p:ext>
            </p:extLst>
          </p:nvPr>
        </p:nvGraphicFramePr>
        <p:xfrm>
          <a:off x="1676400" y="1619250"/>
          <a:ext cx="6096000" cy="4546480"/>
        </p:xfrm>
        <a:graphic>
          <a:graphicData uri="http://schemas.openxmlformats.org/drawingml/2006/table">
            <a:tbl>
              <a:tblPr/>
              <a:tblGrid>
                <a:gridCol w="16764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2819400">
                  <a:extLst>
                    <a:ext uri="{9D8B030D-6E8A-4147-A177-3AD203B41FA5}">
                      <a16:colId xmlns:a16="http://schemas.microsoft.com/office/drawing/2014/main" val="20002"/>
                    </a:ext>
                  </a:extLst>
                </a:gridCol>
              </a:tblGrid>
              <a:tr h="5334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lang="en-US" sz="2400" dirty="0">
                          <a:solidFill>
                            <a:srgbClr val="C00000"/>
                          </a:solidFill>
                          <a:effectLst>
                            <a:outerShdw blurRad="38100" dist="38100" dir="2700000" algn="tl">
                              <a:srgbClr val="000000">
                                <a:alpha val="43137"/>
                              </a:srgbClr>
                            </a:outerShdw>
                          </a:effectLst>
                          <a:latin typeface="Arial" panose="020B0604020202020204" pitchFamily="34" charset="0"/>
                          <a:ea typeface="+mj-ea"/>
                          <a:cs typeface="Arial" panose="020B0604020202020204" pitchFamily="34" charset="0"/>
                        </a:rPr>
                        <a:t>Type</a:t>
                      </a:r>
                    </a:p>
                  </a:txBody>
                  <a:tcPr marT="45718" marB="4571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alpha val="24706"/>
                      </a:srgbClr>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lang="en-US" sz="2400" kern="1200" dirty="0">
                          <a:solidFill>
                            <a:srgbClr val="C00000"/>
                          </a:solidFill>
                          <a:effectLst>
                            <a:outerShdw blurRad="38100" dist="38100" dir="2700000" algn="tl">
                              <a:srgbClr val="000000">
                                <a:alpha val="43137"/>
                              </a:srgbClr>
                            </a:outerShdw>
                          </a:effectLst>
                          <a:latin typeface="Arial" panose="020B0604020202020204" pitchFamily="34" charset="0"/>
                          <a:ea typeface="+mj-ea"/>
                          <a:cs typeface="Arial" panose="020B0604020202020204" pitchFamily="34" charset="0"/>
                        </a:rPr>
                        <a:t>Pro</a:t>
                      </a: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alpha val="24706"/>
                      </a:srgbClr>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lang="en-US" sz="2400" kern="1200" dirty="0">
                          <a:solidFill>
                            <a:srgbClr val="C00000"/>
                          </a:solidFill>
                          <a:effectLst>
                            <a:outerShdw blurRad="38100" dist="38100" dir="2700000" algn="tl">
                              <a:srgbClr val="000000">
                                <a:alpha val="43137"/>
                              </a:srgbClr>
                            </a:outerShdw>
                          </a:effectLst>
                          <a:latin typeface="Arial" panose="020B0604020202020204" pitchFamily="34" charset="0"/>
                          <a:ea typeface="+mj-ea"/>
                          <a:cs typeface="Arial" panose="020B0604020202020204" pitchFamily="34" charset="0"/>
                        </a:rPr>
                        <a:t>Con</a:t>
                      </a:r>
                    </a:p>
                  </a:txBody>
                  <a:tcPr marT="45718" marB="4571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alpha val="24706"/>
                      </a:srgbClr>
                    </a:solidFill>
                  </a:tcPr>
                </a:tc>
                <a:extLst>
                  <a:ext uri="{0D108BD9-81ED-4DB2-BD59-A6C34878D82A}">
                    <a16:rowId xmlns:a16="http://schemas.microsoft.com/office/drawing/2014/main" val="10000"/>
                  </a:ext>
                </a:extLst>
              </a:tr>
              <a:tr h="7620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Times New Roman" pitchFamily="18" charset="0"/>
                        </a:rPr>
                        <a:t>Mail</a:t>
                      </a:r>
                    </a:p>
                  </a:txBody>
                  <a:tcPr marT="45718" marB="4571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imes New Roman" pitchFamily="18" charset="0"/>
                        </a:rPr>
                        <a:t> Cheap</a:t>
                      </a:r>
                    </a:p>
                    <a:p>
                      <a:pPr marL="0" marR="0" lvl="0" indent="0" algn="l" defTabSz="914400" rtl="0" eaLnBrk="0" fontAlgn="base" latinLnBrk="0" hangingPunct="0">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imes New Roman" pitchFamily="18" charset="0"/>
                        </a:rPr>
                        <a:t> Low training</a:t>
                      </a: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imes New Roman" pitchFamily="18" charset="0"/>
                        </a:rPr>
                        <a:t> Slow, low response</a:t>
                      </a:r>
                    </a:p>
                    <a:p>
                      <a:pPr marL="0" marR="0" lvl="0" indent="0" algn="l" defTabSz="914400" rtl="0" eaLnBrk="0" fontAlgn="base" latinLnBrk="0" hangingPunct="0">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imes New Roman" pitchFamily="18" charset="0"/>
                        </a:rPr>
                        <a:t> Bias (busy won’t respond)</a:t>
                      </a:r>
                    </a:p>
                  </a:txBody>
                  <a:tcPr marT="45718" marB="4571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1277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rPr>
                        <a:t>Telephone</a:t>
                      </a:r>
                    </a:p>
                  </a:txBody>
                  <a:tcPr marT="45718" marB="4571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Char char="•"/>
                        <a:tabLst/>
                      </a:pPr>
                      <a:r>
                        <a:rPr kumimoji="0" lang="en-US" sz="1800" b="0" i="0" u="none" strike="noStrike" cap="none" normalizeH="0" baseline="0">
                          <a:ln>
                            <a:noFill/>
                          </a:ln>
                          <a:solidFill>
                            <a:schemeClr val="tx1"/>
                          </a:solidFill>
                          <a:effectLst/>
                          <a:latin typeface="Times New Roman" pitchFamily="18" charset="0"/>
                        </a:rPr>
                        <a:t> Quick</a:t>
                      </a: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imes New Roman" pitchFamily="18" charset="0"/>
                        </a:rPr>
                        <a:t> Bias (e.g., who's at home?)</a:t>
                      </a:r>
                    </a:p>
                    <a:p>
                      <a:pPr marL="0" marR="0" lvl="0" indent="0" algn="l" defTabSz="914400" rtl="0" eaLnBrk="0" fontAlgn="base" latinLnBrk="0" hangingPunct="0">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imes New Roman" pitchFamily="18" charset="0"/>
                        </a:rPr>
                        <a:t> Spam fatigue</a:t>
                      </a:r>
                    </a:p>
                  </a:txBody>
                  <a:tcPr marT="45718" marB="4571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1277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rPr>
                        <a:t>In-person</a:t>
                      </a:r>
                    </a:p>
                  </a:txBody>
                  <a:tcPr marT="45718" marB="4571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Char char="•"/>
                        <a:tabLst/>
                      </a:pPr>
                      <a:r>
                        <a:rPr kumimoji="0" lang="en-US" sz="1800" b="0" i="0" u="none" strike="noStrike" cap="none" normalizeH="0" baseline="0">
                          <a:ln>
                            <a:noFill/>
                          </a:ln>
                          <a:solidFill>
                            <a:schemeClr val="tx1"/>
                          </a:solidFill>
                          <a:effectLst/>
                          <a:latin typeface="Times New Roman" pitchFamily="18" charset="0"/>
                        </a:rPr>
                        <a:t> High response</a:t>
                      </a: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imes New Roman" pitchFamily="18" charset="0"/>
                        </a:rPr>
                        <a:t> Higher cost</a:t>
                      </a:r>
                    </a:p>
                    <a:p>
                      <a:pPr marL="0" marR="0" lvl="0" indent="0" algn="l" defTabSz="914400" rtl="0" eaLnBrk="0" fontAlgn="base" latinLnBrk="0" hangingPunct="0">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imes New Roman" pitchFamily="18" charset="0"/>
                        </a:rPr>
                        <a:t> Training needed</a:t>
                      </a:r>
                    </a:p>
                  </a:txBody>
                  <a:tcPr marT="45718" marB="4571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1277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Times New Roman" pitchFamily="18" charset="0"/>
                        </a:rPr>
                        <a:t>Reply cards</a:t>
                      </a:r>
                    </a:p>
                  </a:txBody>
                  <a:tcPr marT="45718" marB="4571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imes New Roman" pitchFamily="18" charset="0"/>
                        </a:rPr>
                        <a:t> Cheap</a:t>
                      </a: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Char char="•"/>
                        <a:tabLst/>
                      </a:pPr>
                      <a:r>
                        <a:rPr kumimoji="0" lang="en-US" sz="1800" b="0" i="0" u="none" strike="noStrike" cap="none" normalizeH="0" baseline="0">
                          <a:ln>
                            <a:noFill/>
                          </a:ln>
                          <a:solidFill>
                            <a:schemeClr val="tx1"/>
                          </a:solidFill>
                          <a:effectLst/>
                          <a:latin typeface="Times New Roman" pitchFamily="18" charset="0"/>
                        </a:rPr>
                        <a:t> Bias (self-selection)</a:t>
                      </a:r>
                    </a:p>
                  </a:txBody>
                  <a:tcPr marT="45718" marB="4571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81277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Times New Roman" pitchFamily="18" charset="0"/>
                        </a:rPr>
                        <a:t>Internet</a:t>
                      </a:r>
                    </a:p>
                  </a:txBody>
                  <a:tcPr marT="45718" marB="4571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Char char="•"/>
                        <a:tabLst/>
                      </a:pPr>
                      <a:r>
                        <a:rPr kumimoji="0" lang="en-US" sz="1800" b="0" i="0" u="none" strike="noStrike" cap="none" normalizeH="0" baseline="0">
                          <a:ln>
                            <a:noFill/>
                          </a:ln>
                          <a:solidFill>
                            <a:schemeClr val="tx1"/>
                          </a:solidFill>
                          <a:effectLst/>
                          <a:latin typeface="Times New Roman" pitchFamily="18" charset="0"/>
                        </a:rPr>
                        <a:t> Versatile</a:t>
                      </a:r>
                    </a:p>
                  </a:txBody>
                  <a:tcPr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imes New Roman" pitchFamily="18" charset="0"/>
                        </a:rPr>
                        <a:t> Response bias</a:t>
                      </a:r>
                    </a:p>
                    <a:p>
                      <a:pPr marL="0" marR="0" lvl="0" indent="0" algn="l" defTabSz="914400" rtl="0" eaLnBrk="0" fontAlgn="base" latinLnBrk="0" hangingPunct="0">
                        <a:lnSpc>
                          <a:spcPct val="100000"/>
                        </a:lnSpc>
                        <a:spcBef>
                          <a:spcPct val="20000"/>
                        </a:spcBef>
                        <a:spcAft>
                          <a:spcPct val="0"/>
                        </a:spcAft>
                        <a:buClrTx/>
                        <a:buSzTx/>
                        <a:buFontTx/>
                        <a:buChar char="•"/>
                        <a:tabLst/>
                      </a:pPr>
                      <a:r>
                        <a:rPr kumimoji="0" lang="en-US" sz="1800" b="0" i="0" u="none" strike="noStrike" cap="none" normalizeH="0" baseline="0" dirty="0">
                          <a:ln>
                            <a:noFill/>
                          </a:ln>
                          <a:solidFill>
                            <a:schemeClr val="tx1"/>
                          </a:solidFill>
                          <a:effectLst/>
                          <a:latin typeface="Times New Roman" pitchFamily="18" charset="0"/>
                        </a:rPr>
                        <a:t> Hard to target</a:t>
                      </a:r>
                    </a:p>
                  </a:txBody>
                  <a:tcPr marT="45718" marB="4571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ctrTitle"/>
          </p:nvPr>
        </p:nvSpPr>
        <p:spPr>
          <a:xfrm>
            <a:off x="0" y="228600"/>
            <a:ext cx="9144000" cy="768096"/>
          </a:xfrm>
        </p:spPr>
        <p:txBody>
          <a:bodyPr/>
          <a:lstStyle/>
          <a:p>
            <a:pPr>
              <a:defRPr/>
            </a:pPr>
            <a:r>
              <a:rPr lang="en-US" sz="3600" b="1" dirty="0">
                <a:solidFill>
                  <a:srgbClr val="C0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Confidentiality</a:t>
            </a:r>
          </a:p>
        </p:txBody>
      </p:sp>
      <p:pic>
        <p:nvPicPr>
          <p:cNvPr id="6148" name="Picture 4" descr="j023465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0000" y="4746040"/>
            <a:ext cx="1219200" cy="1187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9" name="Text Box 5"/>
          <p:cNvSpPr txBox="1">
            <a:spLocks noChangeArrowheads="1"/>
          </p:cNvSpPr>
          <p:nvPr/>
        </p:nvSpPr>
        <p:spPr bwMode="auto">
          <a:xfrm>
            <a:off x="1600200" y="1743075"/>
            <a:ext cx="6324600" cy="263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buClr>
                <a:srgbClr val="C00000"/>
              </a:buClr>
              <a:buFontTx/>
              <a:buChar char="•"/>
            </a:pPr>
            <a:r>
              <a:rPr lang="en-US" dirty="0"/>
              <a:t> Are replies confidential?  If so, how to ensure it?</a:t>
            </a:r>
          </a:p>
          <a:p>
            <a:pPr lvl="1">
              <a:spcBef>
                <a:spcPts val="600"/>
              </a:spcBef>
              <a:buClr>
                <a:srgbClr val="C00000"/>
              </a:buClr>
              <a:buFontTx/>
              <a:buChar char="•"/>
            </a:pPr>
            <a:r>
              <a:rPr lang="en-US" sz="1800" dirty="0"/>
              <a:t>  Coded reply numbers</a:t>
            </a:r>
          </a:p>
          <a:p>
            <a:pPr lvl="1">
              <a:spcBef>
                <a:spcPts val="600"/>
              </a:spcBef>
              <a:buClr>
                <a:srgbClr val="C00000"/>
              </a:buClr>
              <a:buFontTx/>
              <a:buChar char="•"/>
            </a:pPr>
            <a:r>
              <a:rPr lang="en-US" sz="1800" dirty="0"/>
              <a:t>  Deleting names, addresses, etc.</a:t>
            </a:r>
          </a:p>
          <a:p>
            <a:pPr lvl="1">
              <a:spcBef>
                <a:spcPts val="600"/>
              </a:spcBef>
              <a:buClr>
                <a:srgbClr val="C00000"/>
              </a:buClr>
              <a:buFontTx/>
              <a:buChar char="•"/>
            </a:pPr>
            <a:r>
              <a:rPr lang="en-US" sz="1800" dirty="0"/>
              <a:t>  Aggregate reporting (not individual)</a:t>
            </a:r>
          </a:p>
          <a:p>
            <a:pPr>
              <a:spcBef>
                <a:spcPct val="50000"/>
              </a:spcBef>
              <a:buClr>
                <a:srgbClr val="C00000"/>
              </a:buClr>
              <a:buFontTx/>
              <a:buChar char="•"/>
            </a:pPr>
            <a:r>
              <a:rPr lang="en-US" dirty="0"/>
              <a:t> Will respondent </a:t>
            </a:r>
            <a:r>
              <a:rPr lang="en-US" i="1" dirty="0"/>
              <a:t>believe</a:t>
            </a:r>
            <a:r>
              <a:rPr lang="en-US" dirty="0"/>
              <a:t> it's confidential?</a:t>
            </a:r>
          </a:p>
          <a:p>
            <a:pPr>
              <a:spcBef>
                <a:spcPct val="50000"/>
              </a:spcBef>
              <a:buClr>
                <a:srgbClr val="C00000"/>
              </a:buClr>
              <a:buFontTx/>
              <a:buChar char="•"/>
            </a:pPr>
            <a:r>
              <a:rPr lang="en-US" dirty="0"/>
              <a:t> What penalty if company </a:t>
            </a:r>
            <a:r>
              <a:rPr lang="en-US" i="1" dirty="0"/>
              <a:t>does</a:t>
            </a:r>
            <a:r>
              <a:rPr lang="en-US" dirty="0"/>
              <a:t> share data?</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ctrTitle"/>
          </p:nvPr>
        </p:nvSpPr>
        <p:spPr>
          <a:xfrm>
            <a:off x="0" y="228600"/>
            <a:ext cx="9144000" cy="768096"/>
          </a:xfrm>
        </p:spPr>
        <p:txBody>
          <a:bodyPr/>
          <a:lstStyle/>
          <a:p>
            <a:pPr>
              <a:defRPr/>
            </a:pPr>
            <a:r>
              <a:rPr lang="en-US" sz="3600" b="1" dirty="0">
                <a:solidFill>
                  <a:srgbClr val="C0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Questionnaire Design</a:t>
            </a:r>
          </a:p>
        </p:txBody>
      </p:sp>
      <p:sp>
        <p:nvSpPr>
          <p:cNvPr id="7171" name="Text Box 5"/>
          <p:cNvSpPr txBox="1">
            <a:spLocks noChangeArrowheads="1"/>
          </p:cNvSpPr>
          <p:nvPr/>
        </p:nvSpPr>
        <p:spPr bwMode="auto">
          <a:xfrm>
            <a:off x="1600200" y="1405369"/>
            <a:ext cx="4953000" cy="4047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itchFamily="18" charset="0"/>
              </a:defRPr>
            </a:lvl1pPr>
            <a:lvl2pPr>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buClr>
                <a:srgbClr val="C00000"/>
              </a:buClr>
              <a:buFontTx/>
              <a:buChar char="•"/>
            </a:pPr>
            <a:r>
              <a:rPr lang="en-US" dirty="0"/>
              <a:t>  Keep it short</a:t>
            </a:r>
          </a:p>
          <a:p>
            <a:pPr lvl="1">
              <a:spcBef>
                <a:spcPts val="600"/>
              </a:spcBef>
              <a:buClr>
                <a:srgbClr val="C00000"/>
              </a:buClr>
              <a:buFontTx/>
              <a:buChar char="•"/>
            </a:pPr>
            <a:r>
              <a:rPr lang="en-US" sz="1800" dirty="0"/>
              <a:t> Avoid "gratuitous question bloat"</a:t>
            </a:r>
          </a:p>
          <a:p>
            <a:pPr lvl="1">
              <a:spcBef>
                <a:spcPts val="600"/>
              </a:spcBef>
              <a:buClr>
                <a:srgbClr val="C00000"/>
              </a:buClr>
              <a:buFontTx/>
              <a:buChar char="•"/>
            </a:pPr>
            <a:r>
              <a:rPr lang="en-US" sz="1800" dirty="0"/>
              <a:t> Short gives better response rate</a:t>
            </a:r>
          </a:p>
          <a:p>
            <a:pPr lvl="1">
              <a:spcBef>
                <a:spcPts val="600"/>
              </a:spcBef>
              <a:buClr>
                <a:srgbClr val="C00000"/>
              </a:buClr>
              <a:buFontTx/>
              <a:buChar char="•"/>
            </a:pPr>
            <a:r>
              <a:rPr lang="en-US" sz="1800" dirty="0"/>
              <a:t> Short promotes careful replies</a:t>
            </a:r>
          </a:p>
          <a:p>
            <a:pPr>
              <a:spcBef>
                <a:spcPct val="50000"/>
              </a:spcBef>
              <a:buClr>
                <a:srgbClr val="C00000"/>
              </a:buClr>
              <a:buFontTx/>
              <a:buChar char="•"/>
            </a:pPr>
            <a:r>
              <a:rPr lang="en-US" dirty="0"/>
              <a:t>  Pre-test questions for</a:t>
            </a:r>
          </a:p>
          <a:p>
            <a:pPr lvl="1">
              <a:spcBef>
                <a:spcPts val="600"/>
              </a:spcBef>
              <a:buClr>
                <a:srgbClr val="C00000"/>
              </a:buClr>
              <a:buFontTx/>
              <a:buChar char="•"/>
            </a:pPr>
            <a:r>
              <a:rPr lang="en-US" sz="1800" dirty="0"/>
              <a:t> Ambiguity</a:t>
            </a:r>
          </a:p>
          <a:p>
            <a:pPr lvl="1">
              <a:spcBef>
                <a:spcPts val="600"/>
              </a:spcBef>
              <a:buClr>
                <a:srgbClr val="C00000"/>
              </a:buClr>
              <a:buFontTx/>
              <a:buChar char="•"/>
            </a:pPr>
            <a:r>
              <a:rPr lang="en-US" sz="1800" dirty="0"/>
              <a:t> Loaded wording (favors one response)</a:t>
            </a:r>
          </a:p>
          <a:p>
            <a:pPr>
              <a:spcBef>
                <a:spcPct val="50000"/>
              </a:spcBef>
              <a:buClr>
                <a:srgbClr val="C00000"/>
              </a:buClr>
              <a:buFontTx/>
              <a:buChar char="•"/>
            </a:pPr>
            <a:r>
              <a:rPr lang="en-US" dirty="0"/>
              <a:t>  Pre-test scaling for</a:t>
            </a:r>
          </a:p>
          <a:p>
            <a:pPr lvl="1">
              <a:spcBef>
                <a:spcPts val="600"/>
              </a:spcBef>
              <a:spcAft>
                <a:spcPts val="0"/>
              </a:spcAft>
              <a:buClr>
                <a:srgbClr val="C00000"/>
              </a:buClr>
              <a:buFontTx/>
              <a:buChar char="•"/>
            </a:pPr>
            <a:r>
              <a:rPr lang="en-US" sz="1800" dirty="0"/>
              <a:t> Clarity</a:t>
            </a:r>
          </a:p>
          <a:p>
            <a:pPr lvl="1">
              <a:spcBef>
                <a:spcPts val="600"/>
              </a:spcBef>
              <a:spcAft>
                <a:spcPts val="0"/>
              </a:spcAft>
              <a:buClr>
                <a:srgbClr val="C00000"/>
              </a:buClr>
              <a:buFontTx/>
              <a:buChar char="•"/>
            </a:pPr>
            <a:r>
              <a:rPr lang="en-US" sz="1800" dirty="0"/>
              <a:t> Congruency to intended purpose</a:t>
            </a:r>
          </a:p>
        </p:txBody>
      </p:sp>
      <p:pic>
        <p:nvPicPr>
          <p:cNvPr id="7172" name="Picture 6" descr="bd04912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77000" y="2438400"/>
            <a:ext cx="1461136"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ctrTitle"/>
          </p:nvPr>
        </p:nvSpPr>
        <p:spPr>
          <a:xfrm>
            <a:off x="0" y="228600"/>
            <a:ext cx="9144000" cy="768096"/>
          </a:xfrm>
        </p:spPr>
        <p:txBody>
          <a:bodyPr/>
          <a:lstStyle/>
          <a:p>
            <a:pPr>
              <a:defRPr/>
            </a:pPr>
            <a:r>
              <a:rPr lang="en-US" sz="3600" b="1" dirty="0">
                <a:solidFill>
                  <a:srgbClr val="C0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Survey Costs</a:t>
            </a:r>
          </a:p>
        </p:txBody>
      </p:sp>
      <p:sp>
        <p:nvSpPr>
          <p:cNvPr id="8196" name="Text Box 5"/>
          <p:cNvSpPr txBox="1">
            <a:spLocks noChangeArrowheads="1"/>
          </p:cNvSpPr>
          <p:nvPr/>
        </p:nvSpPr>
        <p:spPr bwMode="auto">
          <a:xfrm>
            <a:off x="1828800" y="1536174"/>
            <a:ext cx="609600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buClr>
                <a:srgbClr val="C00000"/>
              </a:buClr>
              <a:buFontTx/>
              <a:buChar char="•"/>
            </a:pPr>
            <a:r>
              <a:rPr lang="en-US" dirty="0"/>
              <a:t>  Planning staff (design, consultation)</a:t>
            </a:r>
          </a:p>
          <a:p>
            <a:pPr>
              <a:spcBef>
                <a:spcPct val="50000"/>
              </a:spcBef>
              <a:buClr>
                <a:srgbClr val="C00000"/>
              </a:buClr>
              <a:buFontTx/>
              <a:buChar char="•"/>
            </a:pPr>
            <a:r>
              <a:rPr lang="en-US" dirty="0"/>
              <a:t>  Pre-testing (labor, re-design)</a:t>
            </a:r>
          </a:p>
          <a:p>
            <a:pPr>
              <a:spcBef>
                <a:spcPct val="50000"/>
              </a:spcBef>
              <a:buClr>
                <a:srgbClr val="C00000"/>
              </a:buClr>
              <a:buFontTx/>
              <a:buChar char="•"/>
            </a:pPr>
            <a:r>
              <a:rPr lang="en-US" dirty="0"/>
              <a:t>  Supervisors and interviewer training</a:t>
            </a:r>
          </a:p>
          <a:p>
            <a:pPr>
              <a:spcBef>
                <a:spcPct val="50000"/>
              </a:spcBef>
              <a:buClr>
                <a:srgbClr val="C00000"/>
              </a:buClr>
              <a:buFontTx/>
              <a:buChar char="•"/>
            </a:pPr>
            <a:r>
              <a:rPr lang="en-US" dirty="0"/>
              <a:t>  Administration (e.g., travel, labor)</a:t>
            </a:r>
          </a:p>
          <a:p>
            <a:pPr>
              <a:spcBef>
                <a:spcPct val="50000"/>
              </a:spcBef>
              <a:buClr>
                <a:srgbClr val="C00000"/>
              </a:buClr>
              <a:buFontTx/>
              <a:buChar char="•"/>
            </a:pPr>
            <a:r>
              <a:rPr lang="en-US" dirty="0"/>
              <a:t>  Materials (e.g., telephone, postage, printing)</a:t>
            </a:r>
          </a:p>
          <a:p>
            <a:pPr>
              <a:spcBef>
                <a:spcPct val="50000"/>
              </a:spcBef>
              <a:buClr>
                <a:srgbClr val="C00000"/>
              </a:buClr>
              <a:buFontTx/>
              <a:buChar char="•"/>
            </a:pPr>
            <a:r>
              <a:rPr lang="en-US" dirty="0"/>
              <a:t>  Data coding, editing, checking, cleaning</a:t>
            </a:r>
          </a:p>
          <a:p>
            <a:pPr>
              <a:spcBef>
                <a:spcPct val="50000"/>
              </a:spcBef>
              <a:buClr>
                <a:srgbClr val="C00000"/>
              </a:buClr>
              <a:buFontTx/>
              <a:buChar char="•"/>
            </a:pPr>
            <a:r>
              <a:rPr lang="en-US" dirty="0"/>
              <a:t> Analysis (programming, report writing)</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ctrTitle"/>
          </p:nvPr>
        </p:nvSpPr>
        <p:spPr>
          <a:xfrm>
            <a:off x="0" y="228600"/>
            <a:ext cx="9144000" cy="768096"/>
          </a:xfrm>
        </p:spPr>
        <p:txBody>
          <a:bodyPr/>
          <a:lstStyle/>
          <a:p>
            <a:pPr>
              <a:defRPr/>
            </a:pPr>
            <a:r>
              <a:rPr lang="en-US" sz="3600" b="1" dirty="0">
                <a:solidFill>
                  <a:srgbClr val="C0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Sampling Frame</a:t>
            </a:r>
          </a:p>
        </p:txBody>
      </p:sp>
      <p:sp>
        <p:nvSpPr>
          <p:cNvPr id="9219" name="Text Box 5"/>
          <p:cNvSpPr txBox="1">
            <a:spLocks noChangeArrowheads="1"/>
          </p:cNvSpPr>
          <p:nvPr/>
        </p:nvSpPr>
        <p:spPr bwMode="auto">
          <a:xfrm>
            <a:off x="762000" y="1371600"/>
            <a:ext cx="5638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endParaRPr lang="en-US"/>
          </a:p>
        </p:txBody>
      </p:sp>
      <p:sp>
        <p:nvSpPr>
          <p:cNvPr id="9220" name="Text Box 196"/>
          <p:cNvSpPr txBox="1">
            <a:spLocks noChangeArrowheads="1"/>
          </p:cNvSpPr>
          <p:nvPr/>
        </p:nvSpPr>
        <p:spPr bwMode="auto">
          <a:xfrm>
            <a:off x="1143000" y="1447800"/>
            <a:ext cx="6934200" cy="2369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itchFamily="18" charset="0"/>
              </a:defRPr>
            </a:lvl1pPr>
            <a:lvl2pPr>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dirty="0"/>
              <a:t>The </a:t>
            </a:r>
            <a:r>
              <a:rPr lang="en-US" i="1" dirty="0">
                <a:solidFill>
                  <a:srgbClr val="C00000"/>
                </a:solidFill>
              </a:rPr>
              <a:t>sampling frame</a:t>
            </a:r>
            <a:r>
              <a:rPr lang="en-US" dirty="0">
                <a:solidFill>
                  <a:srgbClr val="C00000"/>
                </a:solidFill>
              </a:rPr>
              <a:t> </a:t>
            </a:r>
            <a:r>
              <a:rPr lang="en-US" dirty="0"/>
              <a:t>is a list or method used to sample the </a:t>
            </a:r>
            <a:r>
              <a:rPr lang="en-US" i="1" dirty="0">
                <a:solidFill>
                  <a:srgbClr val="C00000"/>
                </a:solidFill>
              </a:rPr>
              <a:t>target population</a:t>
            </a:r>
            <a:r>
              <a:rPr lang="en-US" dirty="0"/>
              <a:t>.  For example:</a:t>
            </a:r>
          </a:p>
          <a:p>
            <a:pPr lvl="1">
              <a:spcBef>
                <a:spcPts val="600"/>
              </a:spcBef>
              <a:buClr>
                <a:srgbClr val="C00000"/>
              </a:buClr>
              <a:buFontTx/>
              <a:buChar char="•"/>
            </a:pPr>
            <a:r>
              <a:rPr lang="en-US" sz="2000" dirty="0"/>
              <a:t>  All postal mailing addresses in Cleveland, Ohio</a:t>
            </a:r>
          </a:p>
          <a:p>
            <a:pPr lvl="1">
              <a:spcBef>
                <a:spcPts val="600"/>
              </a:spcBef>
              <a:buClr>
                <a:srgbClr val="C00000"/>
              </a:buClr>
              <a:buFontTx/>
              <a:buChar char="•"/>
            </a:pPr>
            <a:r>
              <a:rPr lang="en-US" sz="2000" dirty="0"/>
              <a:t>  All retail establishments in Ventura  County, California</a:t>
            </a:r>
          </a:p>
          <a:p>
            <a:pPr lvl="1">
              <a:spcBef>
                <a:spcPts val="600"/>
              </a:spcBef>
              <a:buClr>
                <a:srgbClr val="C00000"/>
              </a:buClr>
              <a:buFontTx/>
              <a:buChar char="•"/>
            </a:pPr>
            <a:r>
              <a:rPr lang="en-US" sz="2000" dirty="0"/>
              <a:t>  All currently-enrolled grad students at MIT</a:t>
            </a:r>
          </a:p>
          <a:p>
            <a:pPr lvl="1">
              <a:spcBef>
                <a:spcPts val="600"/>
              </a:spcBef>
              <a:buClr>
                <a:srgbClr val="C00000"/>
              </a:buClr>
              <a:buFontTx/>
              <a:buChar char="•"/>
            </a:pPr>
            <a:r>
              <a:rPr lang="en-US" sz="2000" dirty="0"/>
              <a:t>  All Denver Bronco season ticket holders</a:t>
            </a:r>
          </a:p>
        </p:txBody>
      </p:sp>
      <p:sp>
        <p:nvSpPr>
          <p:cNvPr id="63686" name="DownRibbonSharp"/>
          <p:cNvSpPr>
            <a:spLocks noEditPoints="1" noChangeArrowheads="1"/>
          </p:cNvSpPr>
          <p:nvPr/>
        </p:nvSpPr>
        <p:spPr bwMode="auto">
          <a:xfrm>
            <a:off x="2057400" y="4465638"/>
            <a:ext cx="4495800" cy="1030287"/>
          </a:xfrm>
          <a:custGeom>
            <a:avLst/>
            <a:gdLst>
              <a:gd name="G0" fmla="+- 0 0 0"/>
              <a:gd name="G1" fmla="+- 5400 0 0"/>
              <a:gd name="G2" fmla="+- 5400 2700 0"/>
              <a:gd name="G3" fmla="+- 21600 0 G2"/>
              <a:gd name="G4" fmla="+- 21600 0 G1"/>
              <a:gd name="G5" fmla="+- 21600 0 2700"/>
              <a:gd name="G6" fmla="*/ G5 1 2"/>
              <a:gd name="G7" fmla="+- 2700 0 0"/>
              <a:gd name="T0" fmla="*/ 10800 w 21600"/>
              <a:gd name="T1" fmla="*/ 2700 h 21600"/>
              <a:gd name="T2" fmla="*/ 2700 w 21600"/>
              <a:gd name="T3" fmla="*/ 9450 h 21600"/>
              <a:gd name="T4" fmla="*/ 10800 w 21600"/>
              <a:gd name="T5" fmla="*/ 21600 h 21600"/>
              <a:gd name="T6" fmla="*/ 18900 w 21600"/>
              <a:gd name="T7" fmla="*/ 9450 h 21600"/>
              <a:gd name="T8" fmla="*/ 17694720 60000 65536"/>
              <a:gd name="T9" fmla="*/ 11796480 60000 65536"/>
              <a:gd name="T10" fmla="*/ 5898240 60000 65536"/>
              <a:gd name="T11" fmla="*/ 0 60000 65536"/>
              <a:gd name="T12" fmla="*/ G1 w 21600"/>
              <a:gd name="T13" fmla="*/ G7 h 21600"/>
              <a:gd name="T14" fmla="*/ G4 w 21600"/>
              <a:gd name="T15" fmla="*/ 21600 h 21600"/>
            </a:gdLst>
            <a:ahLst/>
            <a:cxnLst>
              <a:cxn ang="T8">
                <a:pos x="T0" y="T1"/>
              </a:cxn>
              <a:cxn ang="T9">
                <a:pos x="T2" y="T3"/>
              </a:cxn>
              <a:cxn ang="T10">
                <a:pos x="T4" y="T5"/>
              </a:cxn>
              <a:cxn ang="T11">
                <a:pos x="T6" y="T7"/>
              </a:cxn>
            </a:cxnLst>
            <a:rect l="T12" t="T13" r="T14" b="T15"/>
            <a:pathLst>
              <a:path w="21600" h="21600" extrusionOk="0">
                <a:moveTo>
                  <a:pt x="0" y="0"/>
                </a:moveTo>
                <a:lnTo>
                  <a:pt x="8100" y="0"/>
                </a:lnTo>
                <a:lnTo>
                  <a:pt x="8100" y="2700"/>
                </a:lnTo>
                <a:lnTo>
                  <a:pt x="13500" y="2700"/>
                </a:lnTo>
                <a:lnTo>
                  <a:pt x="13500" y="0"/>
                </a:lnTo>
                <a:lnTo>
                  <a:pt x="21600" y="0"/>
                </a:lnTo>
                <a:lnTo>
                  <a:pt x="18900" y="9450"/>
                </a:lnTo>
                <a:lnTo>
                  <a:pt x="21600" y="18900"/>
                </a:lnTo>
                <a:lnTo>
                  <a:pt x="16200" y="18900"/>
                </a:lnTo>
                <a:lnTo>
                  <a:pt x="16200" y="21600"/>
                </a:lnTo>
                <a:lnTo>
                  <a:pt x="5400" y="21600"/>
                </a:lnTo>
                <a:lnTo>
                  <a:pt x="5400" y="18900"/>
                </a:lnTo>
                <a:lnTo>
                  <a:pt x="0" y="18900"/>
                </a:lnTo>
                <a:lnTo>
                  <a:pt x="2700" y="9450"/>
                </a:lnTo>
                <a:close/>
              </a:path>
              <a:path w="21600" h="21600" fill="none" extrusionOk="0">
                <a:moveTo>
                  <a:pt x="8100" y="2700"/>
                </a:moveTo>
                <a:lnTo>
                  <a:pt x="5400" y="2700"/>
                </a:lnTo>
                <a:lnTo>
                  <a:pt x="5400" y="18900"/>
                </a:lnTo>
              </a:path>
              <a:path w="21600" h="21600" fill="none" extrusionOk="0">
                <a:moveTo>
                  <a:pt x="5400" y="2700"/>
                </a:moveTo>
                <a:lnTo>
                  <a:pt x="8100" y="0"/>
                </a:lnTo>
              </a:path>
              <a:path w="21600" h="21600" fill="none" extrusionOk="0">
                <a:moveTo>
                  <a:pt x="13500" y="2700"/>
                </a:moveTo>
                <a:lnTo>
                  <a:pt x="16200" y="2700"/>
                </a:lnTo>
                <a:lnTo>
                  <a:pt x="16200" y="18900"/>
                </a:lnTo>
              </a:path>
              <a:path w="21600" h="21600" fill="none" extrusionOk="0">
                <a:moveTo>
                  <a:pt x="16200" y="2700"/>
                </a:moveTo>
                <a:lnTo>
                  <a:pt x="13500" y="0"/>
                </a:lnTo>
              </a:path>
            </a:pathLst>
          </a:custGeom>
          <a:solidFill>
            <a:srgbClr val="CCECFF"/>
          </a:solidFill>
          <a:ln w="9525">
            <a:solidFill>
              <a:srgbClr val="000000"/>
            </a:solidFill>
            <a:miter lim="800000"/>
            <a:headEnd/>
            <a:tailEnd/>
          </a:ln>
          <a:effectLst>
            <a:outerShdw dist="107763" dir="2700000" algn="ctr" rotWithShape="0">
              <a:srgbClr val="808080"/>
            </a:outerShdw>
          </a:effectLst>
        </p:spPr>
        <p:txBody>
          <a:bodyPr/>
          <a:lstStyle/>
          <a:p>
            <a:pPr>
              <a:defRPr/>
            </a:pPr>
            <a:r>
              <a:rPr lang="en-US" sz="1600" i="1" dirty="0">
                <a:solidFill>
                  <a:srgbClr val="CC3300"/>
                </a:solidFill>
              </a:rPr>
              <a:t>Comment</a:t>
            </a:r>
            <a:r>
              <a:rPr lang="en-US" sz="1600" dirty="0"/>
              <a:t>  Defining the frame is critical but is often a difficult step.</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ctrTitle"/>
          </p:nvPr>
        </p:nvSpPr>
        <p:spPr>
          <a:xfrm>
            <a:off x="0" y="228600"/>
            <a:ext cx="9144000" cy="768096"/>
          </a:xfrm>
        </p:spPr>
        <p:txBody>
          <a:bodyPr/>
          <a:lstStyle/>
          <a:p>
            <a:pPr>
              <a:defRPr/>
            </a:pPr>
            <a:r>
              <a:rPr lang="en-US" sz="3600" b="1" dirty="0">
                <a:solidFill>
                  <a:srgbClr val="C0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Sources of Error</a:t>
            </a:r>
          </a:p>
        </p:txBody>
      </p:sp>
      <p:sp>
        <p:nvSpPr>
          <p:cNvPr id="10243" name="Text Box 3"/>
          <p:cNvSpPr txBox="1">
            <a:spLocks noChangeArrowheads="1"/>
          </p:cNvSpPr>
          <p:nvPr/>
        </p:nvSpPr>
        <p:spPr bwMode="auto">
          <a:xfrm>
            <a:off x="762000" y="1371600"/>
            <a:ext cx="5638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endParaRPr lang="en-US"/>
          </a:p>
        </p:txBody>
      </p:sp>
      <p:graphicFrame>
        <p:nvGraphicFramePr>
          <p:cNvPr id="75833" name="Group 57"/>
          <p:cNvGraphicFramePr>
            <a:graphicFrameLocks noGrp="1"/>
          </p:cNvGraphicFramePr>
          <p:nvPr>
            <p:extLst>
              <p:ext uri="{D42A27DB-BD31-4B8C-83A1-F6EECF244321}">
                <p14:modId xmlns:p14="http://schemas.microsoft.com/office/powerpoint/2010/main" val="2785205664"/>
              </p:ext>
            </p:extLst>
          </p:nvPr>
        </p:nvGraphicFramePr>
        <p:xfrm>
          <a:off x="1219200" y="1619250"/>
          <a:ext cx="6705600" cy="4324350"/>
        </p:xfrm>
        <a:graphic>
          <a:graphicData uri="http://schemas.openxmlformats.org/drawingml/2006/table">
            <a:tbl>
              <a:tblPr/>
              <a:tblGrid>
                <a:gridCol w="2500313">
                  <a:extLst>
                    <a:ext uri="{9D8B030D-6E8A-4147-A177-3AD203B41FA5}">
                      <a16:colId xmlns:a16="http://schemas.microsoft.com/office/drawing/2014/main" val="20000"/>
                    </a:ext>
                  </a:extLst>
                </a:gridCol>
                <a:gridCol w="4205287">
                  <a:extLst>
                    <a:ext uri="{9D8B030D-6E8A-4147-A177-3AD203B41FA5}">
                      <a16:colId xmlns:a16="http://schemas.microsoft.com/office/drawing/2014/main" val="20001"/>
                    </a:ext>
                  </a:extLst>
                </a:gridCol>
              </a:tblGrid>
              <a:tr h="5334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lang="en-US" sz="2400" kern="1200" dirty="0">
                          <a:solidFill>
                            <a:srgbClr val="C00000"/>
                          </a:solidFill>
                          <a:effectLst>
                            <a:outerShdw blurRad="38100" dist="38100" dir="2700000" algn="tl">
                              <a:srgbClr val="000000">
                                <a:alpha val="43137"/>
                              </a:srgbClr>
                            </a:outerShdw>
                          </a:effectLst>
                          <a:latin typeface="Arial" panose="020B0604020202020204" pitchFamily="34" charset="0"/>
                          <a:ea typeface="+mj-ea"/>
                          <a:cs typeface="Arial" panose="020B0604020202020204" pitchFamily="34" charset="0"/>
                        </a:rPr>
                        <a:t>Error</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lang="en-US" sz="2400" kern="1200" dirty="0">
                          <a:solidFill>
                            <a:srgbClr val="C00000"/>
                          </a:solidFill>
                          <a:effectLst>
                            <a:outerShdw blurRad="38100" dist="38100" dir="2700000" algn="tl">
                              <a:srgbClr val="000000">
                                <a:alpha val="43137"/>
                              </a:srgbClr>
                            </a:outerShdw>
                          </a:effectLst>
                          <a:latin typeface="Arial" panose="020B0604020202020204" pitchFamily="34" charset="0"/>
                          <a:ea typeface="+mj-ea"/>
                          <a:cs typeface="Arial" panose="020B0604020202020204" pitchFamily="34" charset="0"/>
                        </a:rPr>
                        <a:t>Explanation</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0"/>
                  </a:ext>
                </a:extLst>
              </a:tr>
              <a:tr h="81266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Times New Roman" pitchFamily="18" charset="0"/>
                        </a:rPr>
                        <a:t>Coverage error</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Times New Roman" pitchFamily="18" charset="0"/>
                        </a:rPr>
                        <a:t>The survey was not administered in a way that reached the target population (frame).</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914252">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rPr>
                        <a:t>Measurement error</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rPr>
                        <a:t>Survey questions fail to measure the intended variable (usually through poor wording or incorrect scaling).</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35309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rPr>
                        <a:t>Bias</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Char char="•"/>
                        <a:tabLst/>
                      </a:pPr>
                      <a:r>
                        <a:rPr kumimoji="0" lang="en-US" sz="1800" b="0" i="0" u="none" strike="noStrike" cap="none" normalizeH="0" baseline="0">
                          <a:ln>
                            <a:noFill/>
                          </a:ln>
                          <a:solidFill>
                            <a:schemeClr val="tx1"/>
                          </a:solidFill>
                          <a:effectLst/>
                          <a:latin typeface="Times New Roman" pitchFamily="18" charset="0"/>
                        </a:rPr>
                        <a:t> Improper sample design</a:t>
                      </a:r>
                    </a:p>
                    <a:p>
                      <a:pPr marL="0" marR="0" lvl="0" indent="0" algn="l" defTabSz="914400" rtl="0" eaLnBrk="0" fontAlgn="base" latinLnBrk="0" hangingPunct="0">
                        <a:lnSpc>
                          <a:spcPct val="100000"/>
                        </a:lnSpc>
                        <a:spcBef>
                          <a:spcPct val="20000"/>
                        </a:spcBef>
                        <a:spcAft>
                          <a:spcPct val="0"/>
                        </a:spcAft>
                        <a:buClrTx/>
                        <a:buSzTx/>
                        <a:buFontTx/>
                        <a:buChar char="•"/>
                        <a:tabLst/>
                      </a:pPr>
                      <a:r>
                        <a:rPr kumimoji="0" lang="en-US" sz="1800" b="0" i="0" u="none" strike="noStrike" cap="none" normalizeH="0" baseline="0">
                          <a:ln>
                            <a:noFill/>
                          </a:ln>
                          <a:solidFill>
                            <a:schemeClr val="tx1"/>
                          </a:solidFill>
                          <a:effectLst/>
                          <a:latin typeface="Times New Roman" pitchFamily="18" charset="0"/>
                        </a:rPr>
                        <a:t> Poor respondent selection</a:t>
                      </a:r>
                    </a:p>
                    <a:p>
                      <a:pPr marL="0" marR="0" lvl="0" indent="0" algn="l" defTabSz="914400" rtl="0" eaLnBrk="0" fontAlgn="base" latinLnBrk="0" hangingPunct="0">
                        <a:lnSpc>
                          <a:spcPct val="100000"/>
                        </a:lnSpc>
                        <a:spcBef>
                          <a:spcPct val="20000"/>
                        </a:spcBef>
                        <a:spcAft>
                          <a:spcPct val="0"/>
                        </a:spcAft>
                        <a:buClrTx/>
                        <a:buSzTx/>
                        <a:buFontTx/>
                        <a:buChar char="•"/>
                        <a:tabLst/>
                      </a:pPr>
                      <a:r>
                        <a:rPr kumimoji="0" lang="en-US" sz="1800" b="0" i="0" u="none" strike="noStrike" cap="none" normalizeH="0" baseline="0">
                          <a:ln>
                            <a:noFill/>
                          </a:ln>
                          <a:solidFill>
                            <a:schemeClr val="tx1"/>
                          </a:solidFill>
                          <a:effectLst/>
                          <a:latin typeface="Times New Roman" pitchFamily="18" charset="0"/>
                        </a:rPr>
                        <a:t> Non-response bias</a:t>
                      </a:r>
                    </a:p>
                    <a:p>
                      <a:pPr marL="0" marR="0" lvl="0" indent="0" algn="l" defTabSz="914400" rtl="0" eaLnBrk="0" fontAlgn="base" latinLnBrk="0" hangingPunct="0">
                        <a:lnSpc>
                          <a:spcPct val="100000"/>
                        </a:lnSpc>
                        <a:spcBef>
                          <a:spcPct val="20000"/>
                        </a:spcBef>
                        <a:spcAft>
                          <a:spcPct val="0"/>
                        </a:spcAft>
                        <a:buClrTx/>
                        <a:buSzTx/>
                        <a:buFontTx/>
                        <a:buChar char="•"/>
                        <a:tabLst/>
                      </a:pPr>
                      <a:r>
                        <a:rPr kumimoji="0" lang="en-US" sz="1800" b="0" i="0" u="none" strike="noStrike" cap="none" normalizeH="0" baseline="0">
                          <a:ln>
                            <a:noFill/>
                          </a:ln>
                          <a:solidFill>
                            <a:schemeClr val="tx1"/>
                          </a:solidFill>
                          <a:effectLst/>
                          <a:latin typeface="Times New Roman" pitchFamily="18" charset="0"/>
                        </a:rPr>
                        <a:t> "Loaded" questions</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1059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Times New Roman" pitchFamily="18" charset="0"/>
                        </a:rPr>
                        <a:t>Sampling error</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Times New Roman" pitchFamily="18" charset="0"/>
                        </a:rPr>
                        <a:t>Random error that can usually be reduced by increasing the sample size.</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ctrTitle"/>
          </p:nvPr>
        </p:nvSpPr>
        <p:spPr>
          <a:xfrm>
            <a:off x="0" y="228600"/>
            <a:ext cx="9144000" cy="768096"/>
          </a:xfrm>
        </p:spPr>
        <p:txBody>
          <a:bodyPr/>
          <a:lstStyle/>
          <a:p>
            <a:pPr>
              <a:defRPr/>
            </a:pPr>
            <a:r>
              <a:rPr lang="en-US" sz="3600" b="1" dirty="0">
                <a:solidFill>
                  <a:srgbClr val="C0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Response Scales </a:t>
            </a:r>
          </a:p>
        </p:txBody>
      </p:sp>
      <p:sp>
        <p:nvSpPr>
          <p:cNvPr id="11268" name="Text Box 5"/>
          <p:cNvSpPr txBox="1">
            <a:spLocks noChangeArrowheads="1"/>
          </p:cNvSpPr>
          <p:nvPr/>
        </p:nvSpPr>
        <p:spPr bwMode="auto">
          <a:xfrm>
            <a:off x="914400" y="1752600"/>
            <a:ext cx="708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b="1">
              <a:solidFill>
                <a:srgbClr val="0000FF"/>
              </a:solidFill>
            </a:endParaRPr>
          </a:p>
        </p:txBody>
      </p:sp>
      <p:sp>
        <p:nvSpPr>
          <p:cNvPr id="11269" name="Text Box 6"/>
          <p:cNvSpPr txBox="1">
            <a:spLocks noChangeArrowheads="1"/>
          </p:cNvSpPr>
          <p:nvPr/>
        </p:nvSpPr>
        <p:spPr bwMode="auto">
          <a:xfrm>
            <a:off x="1066800" y="2133600"/>
            <a:ext cx="655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endParaRPr lang="en-US" sz="1800"/>
          </a:p>
        </p:txBody>
      </p:sp>
      <p:graphicFrame>
        <p:nvGraphicFramePr>
          <p:cNvPr id="69696" name="Group 64"/>
          <p:cNvGraphicFramePr>
            <a:graphicFrameLocks noGrp="1"/>
          </p:cNvGraphicFramePr>
          <p:nvPr>
            <p:extLst>
              <p:ext uri="{D42A27DB-BD31-4B8C-83A1-F6EECF244321}">
                <p14:modId xmlns:p14="http://schemas.microsoft.com/office/powerpoint/2010/main" val="3143619963"/>
              </p:ext>
            </p:extLst>
          </p:nvPr>
        </p:nvGraphicFramePr>
        <p:xfrm>
          <a:off x="1181100" y="1523896"/>
          <a:ext cx="7391400" cy="3383264"/>
        </p:xfrm>
        <a:graphic>
          <a:graphicData uri="http://schemas.openxmlformats.org/drawingml/2006/table">
            <a:tbl>
              <a:tblPr/>
              <a:tblGrid>
                <a:gridCol w="37338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4572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lang="en-US" sz="2400" kern="1200" dirty="0">
                          <a:solidFill>
                            <a:srgbClr val="C00000"/>
                          </a:solidFill>
                          <a:effectLst>
                            <a:outerShdw blurRad="38100" dist="38100" dir="2700000" algn="tl">
                              <a:srgbClr val="000000">
                                <a:alpha val="43137"/>
                              </a:srgbClr>
                            </a:outerShdw>
                          </a:effectLst>
                          <a:latin typeface="Arial" panose="020B0604020202020204" pitchFamily="34" charset="0"/>
                          <a:ea typeface="+mj-ea"/>
                          <a:cs typeface="Arial" panose="020B0604020202020204" pitchFamily="34" charset="0"/>
                        </a:rPr>
                        <a:t>Type of Scale</a:t>
                      </a:r>
                    </a:p>
                  </a:txBody>
                  <a:tcPr marT="45716" marB="4571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lang="en-US" sz="2400" kern="1200" dirty="0">
                          <a:solidFill>
                            <a:srgbClr val="C00000"/>
                          </a:solidFill>
                          <a:effectLst>
                            <a:outerShdw blurRad="38100" dist="38100" dir="2700000" algn="tl">
                              <a:srgbClr val="000000">
                                <a:alpha val="43137"/>
                              </a:srgbClr>
                            </a:outerShdw>
                          </a:effectLst>
                          <a:latin typeface="Arial" panose="020B0604020202020204" pitchFamily="34" charset="0"/>
                          <a:ea typeface="+mj-ea"/>
                          <a:cs typeface="Arial" panose="020B0604020202020204" pitchFamily="34" charset="0"/>
                        </a:rPr>
                        <a:t>Example</a:t>
                      </a:r>
                    </a:p>
                  </a:txBody>
                  <a:tcPr marT="45716" marB="457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0"/>
                  </a:ext>
                </a:extLst>
              </a:tr>
              <a:tr h="1188619">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1" i="1" u="none" strike="noStrike" cap="none" normalizeH="0" baseline="0" dirty="0">
                          <a:ln>
                            <a:noFill/>
                          </a:ln>
                          <a:solidFill>
                            <a:srgbClr val="C00000"/>
                          </a:solidFill>
                          <a:effectLst/>
                          <a:latin typeface="Times New Roman" pitchFamily="18" charset="0"/>
                        </a:rPr>
                        <a:t>Check Box </a:t>
                      </a:r>
                      <a:r>
                        <a:rPr kumimoji="0" lang="en-US" sz="1800" b="0" i="1" u="none" strike="noStrike" cap="none" normalizeH="0" baseline="0" dirty="0">
                          <a:ln>
                            <a:noFill/>
                          </a:ln>
                          <a:solidFill>
                            <a:srgbClr val="C00000"/>
                          </a:solidFill>
                          <a:effectLst/>
                          <a:latin typeface="Times New Roman" pitchFamily="18" charset="0"/>
                        </a:rPr>
                        <a:t> </a:t>
                      </a:r>
                      <a:r>
                        <a:rPr kumimoji="0" lang="en-US" sz="1800" b="0" i="0" u="none" strike="noStrike" cap="none" normalizeH="0" baseline="0" dirty="0">
                          <a:ln>
                            <a:noFill/>
                          </a:ln>
                          <a:solidFill>
                            <a:schemeClr val="tx1"/>
                          </a:solidFill>
                          <a:effectLst/>
                          <a:latin typeface="Times New Roman" pitchFamily="18" charset="0"/>
                        </a:rPr>
                        <a:t>For nominal, attribute, or categorical data.  Must include </a:t>
                      </a:r>
                      <a:r>
                        <a:rPr kumimoji="0" lang="en-US" sz="1800" b="0" i="1" u="none" strike="noStrike" cap="none" normalizeH="0" baseline="0" dirty="0">
                          <a:ln>
                            <a:noFill/>
                          </a:ln>
                          <a:solidFill>
                            <a:srgbClr val="CC0000"/>
                          </a:solidFill>
                          <a:effectLst/>
                          <a:latin typeface="Times New Roman" pitchFamily="18" charset="0"/>
                        </a:rPr>
                        <a:t>all possibilities</a:t>
                      </a:r>
                      <a:r>
                        <a:rPr kumimoji="0" lang="en-US" sz="1800" b="0" i="0" u="none" strike="noStrike" cap="none" normalizeH="0" baseline="0" dirty="0">
                          <a:ln>
                            <a:noFill/>
                          </a:ln>
                          <a:solidFill>
                            <a:schemeClr val="tx1"/>
                          </a:solidFill>
                          <a:effectLst/>
                          <a:latin typeface="Times New Roman" pitchFamily="18" charset="0"/>
                        </a:rPr>
                        <a:t>.  "What is your present marital status?"</a:t>
                      </a:r>
                    </a:p>
                  </a:txBody>
                  <a:tcPr marT="45716" marB="4571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Times New Roman" pitchFamily="18" charset="0"/>
                          <a:sym typeface="Wingdings" pitchFamily="2" charset="2"/>
                        </a:rPr>
                        <a:t> </a:t>
                      </a:r>
                      <a:r>
                        <a:rPr kumimoji="0" lang="en-US" sz="1800" b="0" i="0" u="none" strike="noStrike" cap="none" normalizeH="0" baseline="0" dirty="0">
                          <a:ln>
                            <a:noFill/>
                          </a:ln>
                          <a:solidFill>
                            <a:schemeClr val="tx1"/>
                          </a:solidFill>
                          <a:effectLst/>
                          <a:latin typeface="Times New Roman" pitchFamily="18" charset="0"/>
                        </a:rPr>
                        <a:t>Married</a:t>
                      </a:r>
                    </a:p>
                    <a:p>
                      <a:pPr marL="0" marR="0" lvl="0" indent="0" algn="l" defTabSz="914400" rtl="0" eaLnBrk="0" fontAlgn="base" latinLnBrk="0" hangingPunct="0">
                        <a:lnSpc>
                          <a:spcPct val="100000"/>
                        </a:lnSpc>
                        <a:spcBef>
                          <a:spcPct val="20000"/>
                        </a:spcBef>
                        <a:spcAft>
                          <a:spcPct val="0"/>
                        </a:spcAft>
                        <a:buClrTx/>
                        <a:buSzTx/>
                        <a:buFont typeface="Wingdings" pitchFamily="2" charset="2"/>
                        <a:buChar char="r"/>
                        <a:tabLst/>
                      </a:pPr>
                      <a:r>
                        <a:rPr kumimoji="0" lang="en-US" sz="1800" b="0" i="0" u="none" strike="noStrike" cap="none" normalizeH="0" baseline="0" dirty="0">
                          <a:ln>
                            <a:noFill/>
                          </a:ln>
                          <a:solidFill>
                            <a:schemeClr val="tx1"/>
                          </a:solidFill>
                          <a:effectLst/>
                          <a:latin typeface="Times New Roman" pitchFamily="18" charset="0"/>
                        </a:rPr>
                        <a:t> Divorced</a:t>
                      </a:r>
                    </a:p>
                    <a:p>
                      <a:pPr marL="0" marR="0" lvl="0" indent="0" algn="l" defTabSz="914400" rtl="0" eaLnBrk="0" fontAlgn="base" latinLnBrk="0" hangingPunct="0">
                        <a:lnSpc>
                          <a:spcPct val="100000"/>
                        </a:lnSpc>
                        <a:spcBef>
                          <a:spcPct val="20000"/>
                        </a:spcBef>
                        <a:spcAft>
                          <a:spcPct val="0"/>
                        </a:spcAft>
                        <a:buClrTx/>
                        <a:buSzTx/>
                        <a:buFont typeface="Wingdings" pitchFamily="2" charset="2"/>
                        <a:buChar char="r"/>
                        <a:tabLst/>
                      </a:pPr>
                      <a:r>
                        <a:rPr kumimoji="0" lang="en-US" sz="1800" b="0" i="0" u="none" strike="noStrike" cap="none" normalizeH="0" baseline="0" dirty="0">
                          <a:ln>
                            <a:noFill/>
                          </a:ln>
                          <a:solidFill>
                            <a:schemeClr val="tx1"/>
                          </a:solidFill>
                          <a:effectLst/>
                          <a:latin typeface="Times New Roman" pitchFamily="18" charset="0"/>
                        </a:rPr>
                        <a:t> Never married</a:t>
                      </a:r>
                    </a:p>
                  </a:txBody>
                  <a:tcPr marT="45716" marB="457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173721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1" i="1" u="none" strike="noStrike" cap="none" normalizeH="0" baseline="0" dirty="0">
                          <a:ln>
                            <a:noFill/>
                          </a:ln>
                          <a:solidFill>
                            <a:srgbClr val="C00000"/>
                          </a:solidFill>
                          <a:effectLst/>
                          <a:latin typeface="Times New Roman" pitchFamily="18" charset="0"/>
                        </a:rPr>
                        <a:t>Open-Ended Question  </a:t>
                      </a:r>
                      <a:r>
                        <a:rPr kumimoji="0" lang="en-US" sz="1800" b="0" i="0" u="none" strike="noStrike" cap="none" normalizeH="0" baseline="0" dirty="0">
                          <a:ln>
                            <a:noFill/>
                          </a:ln>
                          <a:solidFill>
                            <a:schemeClr val="tx1"/>
                          </a:solidFill>
                          <a:effectLst/>
                          <a:latin typeface="Times New Roman" pitchFamily="18" charset="0"/>
                        </a:rPr>
                        <a:t>Yields richer data.  "Why did you choose Axolotl College?"  </a:t>
                      </a:r>
                      <a:r>
                        <a:rPr kumimoji="0" lang="en-US" sz="1800" b="0" i="1" u="none" strike="noStrike" cap="none" normalizeH="0" baseline="0" dirty="0">
                          <a:ln>
                            <a:noFill/>
                          </a:ln>
                          <a:solidFill>
                            <a:srgbClr val="CC0000"/>
                          </a:solidFill>
                          <a:effectLst/>
                          <a:latin typeface="Times New Roman" pitchFamily="18" charset="0"/>
                        </a:rPr>
                        <a:t>But:</a:t>
                      </a:r>
                      <a:r>
                        <a:rPr kumimoji="0" lang="en-US" sz="1800" b="0" i="0" u="none" strike="noStrike" cap="none" normalizeH="0" baseline="0" dirty="0">
                          <a:ln>
                            <a:noFill/>
                          </a:ln>
                          <a:solidFill>
                            <a:schemeClr val="tx1"/>
                          </a:solidFill>
                          <a:effectLst/>
                          <a:latin typeface="Times New Roman" pitchFamily="18" charset="0"/>
                        </a:rPr>
                        <a:t> Do you really want to read all the replies?  What will you do with this type of "data?"  What do you really want to </a:t>
                      </a:r>
                      <a:r>
                        <a:rPr kumimoji="0" lang="en-US" sz="1800" b="0" i="1" u="none" strike="noStrike" cap="none" normalizeH="0" baseline="0" dirty="0">
                          <a:ln>
                            <a:noFill/>
                          </a:ln>
                          <a:solidFill>
                            <a:schemeClr val="tx1"/>
                          </a:solidFill>
                          <a:effectLst/>
                          <a:latin typeface="Times New Roman" pitchFamily="18" charset="0"/>
                        </a:rPr>
                        <a:t>know</a:t>
                      </a:r>
                      <a:r>
                        <a:rPr kumimoji="0" lang="en-US" sz="1800" b="0" i="0" u="none" strike="noStrike" cap="none" normalizeH="0" baseline="0" dirty="0">
                          <a:ln>
                            <a:noFill/>
                          </a:ln>
                          <a:solidFill>
                            <a:schemeClr val="tx1"/>
                          </a:solidFill>
                          <a:effectLst/>
                          <a:latin typeface="Times New Roman" pitchFamily="18" charset="0"/>
                        </a:rPr>
                        <a:t>?</a:t>
                      </a:r>
                    </a:p>
                  </a:txBody>
                  <a:tcPr marT="45716" marB="4571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Times New Roman" pitchFamily="18" charset="0"/>
                        </a:rPr>
                        <a:t>Puts a burden on respondent but can capture insights the survey designer never anticipated. "Because Axolotl College has lots of bike racks and cool frat parties and most of the faculty are easy graders."</a:t>
                      </a:r>
                    </a:p>
                  </a:txBody>
                  <a:tcPr marT="45716" marB="457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bl>
          </a:graphicData>
        </a:graphic>
      </p:graphicFrame>
      <p:sp>
        <p:nvSpPr>
          <p:cNvPr id="2" name="TextBox 1">
            <a:extLst>
              <a:ext uri="{FF2B5EF4-FFF2-40B4-BE49-F238E27FC236}">
                <a16:creationId xmlns:a16="http://schemas.microsoft.com/office/drawing/2014/main" id="{B135A70F-B029-452C-B3AC-21DCC7D63238}"/>
              </a:ext>
            </a:extLst>
          </p:cNvPr>
          <p:cNvSpPr txBox="1"/>
          <p:nvPr/>
        </p:nvSpPr>
        <p:spPr>
          <a:xfrm>
            <a:off x="2514600" y="5891909"/>
            <a:ext cx="4876800" cy="307777"/>
          </a:xfrm>
          <a:prstGeom prst="rect">
            <a:avLst/>
          </a:prstGeom>
          <a:noFill/>
        </p:spPr>
        <p:txBody>
          <a:bodyPr wrap="square" rtlCol="0">
            <a:spAutoFit/>
          </a:bodyPr>
          <a:lstStyle/>
          <a:p>
            <a:r>
              <a:rPr lang="en-US" sz="1400" i="1" dirty="0">
                <a:latin typeface="Calibri" panose="020F0502020204030204" pitchFamily="34" charset="0"/>
                <a:cs typeface="Calibri" panose="020F0502020204030204" pitchFamily="34" charset="0"/>
              </a:rPr>
              <a:t>Tip: </a:t>
            </a:r>
            <a:r>
              <a:rPr lang="en-US" sz="1400" dirty="0">
                <a:latin typeface="Calibri" panose="020F0502020204030204" pitchFamily="34" charset="0"/>
                <a:cs typeface="Calibri" panose="020F0502020204030204" pitchFamily="34" charset="0"/>
              </a:rPr>
              <a:t>Check boxes are perhaps the most common type of scale.</a:t>
            </a:r>
            <a:endParaRPr lang="en-US" dirty="0"/>
          </a:p>
        </p:txBody>
      </p:sp>
      <p:pic>
        <p:nvPicPr>
          <p:cNvPr id="9" name="Picture 8" descr="A close up of a clock&#10;&#10;Description automatically generated">
            <a:extLst>
              <a:ext uri="{FF2B5EF4-FFF2-40B4-BE49-F238E27FC236}">
                <a16:creationId xmlns:a16="http://schemas.microsoft.com/office/drawing/2014/main" id="{AF47D3A7-A4C1-4C88-B12C-A8981B61693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69220" y="5750554"/>
            <a:ext cx="545380" cy="5232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ctrTitle"/>
          </p:nvPr>
        </p:nvSpPr>
        <p:spPr>
          <a:xfrm>
            <a:off x="0" y="228600"/>
            <a:ext cx="9144000" cy="768096"/>
          </a:xfrm>
        </p:spPr>
        <p:txBody>
          <a:bodyPr/>
          <a:lstStyle/>
          <a:p>
            <a:pPr>
              <a:defRPr/>
            </a:pPr>
            <a:r>
              <a:rPr lang="en-US" sz="3600" b="1" dirty="0" err="1">
                <a:solidFill>
                  <a:srgbClr val="C0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Likert</a:t>
            </a:r>
            <a:r>
              <a:rPr lang="en-US" sz="3600" b="1" dirty="0">
                <a:solidFill>
                  <a:srgbClr val="C0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Scales</a:t>
            </a:r>
          </a:p>
        </p:txBody>
      </p:sp>
      <p:sp>
        <p:nvSpPr>
          <p:cNvPr id="12292" name="Text Box 4"/>
          <p:cNvSpPr txBox="1">
            <a:spLocks noChangeArrowheads="1"/>
          </p:cNvSpPr>
          <p:nvPr/>
        </p:nvSpPr>
        <p:spPr bwMode="auto">
          <a:xfrm>
            <a:off x="914400" y="1752600"/>
            <a:ext cx="708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b="1">
              <a:solidFill>
                <a:srgbClr val="0000FF"/>
              </a:solidFill>
            </a:endParaRPr>
          </a:p>
        </p:txBody>
      </p:sp>
      <p:sp>
        <p:nvSpPr>
          <p:cNvPr id="12293" name="Text Box 5"/>
          <p:cNvSpPr txBox="1">
            <a:spLocks noChangeArrowheads="1"/>
          </p:cNvSpPr>
          <p:nvPr/>
        </p:nvSpPr>
        <p:spPr bwMode="auto">
          <a:xfrm>
            <a:off x="1066800" y="2133600"/>
            <a:ext cx="655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endParaRPr lang="en-US" sz="1800"/>
          </a:p>
        </p:txBody>
      </p:sp>
      <p:graphicFrame>
        <p:nvGraphicFramePr>
          <p:cNvPr id="77854" name="Group 30"/>
          <p:cNvGraphicFramePr>
            <a:graphicFrameLocks noGrp="1"/>
          </p:cNvGraphicFramePr>
          <p:nvPr>
            <p:extLst>
              <p:ext uri="{D42A27DB-BD31-4B8C-83A1-F6EECF244321}">
                <p14:modId xmlns:p14="http://schemas.microsoft.com/office/powerpoint/2010/main" val="1510567484"/>
              </p:ext>
            </p:extLst>
          </p:nvPr>
        </p:nvGraphicFramePr>
        <p:xfrm>
          <a:off x="914400" y="1479596"/>
          <a:ext cx="7391400" cy="3898808"/>
        </p:xfrm>
        <a:graphic>
          <a:graphicData uri="http://schemas.openxmlformats.org/drawingml/2006/table">
            <a:tbl>
              <a:tblPr/>
              <a:tblGrid>
                <a:gridCol w="37338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5334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lang="en-US" sz="2400" kern="1200" dirty="0">
                          <a:solidFill>
                            <a:srgbClr val="C00000"/>
                          </a:solidFill>
                          <a:effectLst>
                            <a:outerShdw blurRad="38100" dist="38100" dir="2700000" algn="tl">
                              <a:srgbClr val="000000">
                                <a:alpha val="43137"/>
                              </a:srgbClr>
                            </a:outerShdw>
                          </a:effectLst>
                          <a:latin typeface="Arial" panose="020B0604020202020204" pitchFamily="34" charset="0"/>
                          <a:ea typeface="+mj-ea"/>
                          <a:cs typeface="Arial" panose="020B0604020202020204" pitchFamily="34" charset="0"/>
                        </a:rPr>
                        <a:t>Type of Scale</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lang="en-US" sz="2400" kern="1200" dirty="0">
                          <a:solidFill>
                            <a:srgbClr val="C00000"/>
                          </a:solidFill>
                          <a:effectLst>
                            <a:outerShdw blurRad="38100" dist="38100" dir="2700000" algn="tl">
                              <a:srgbClr val="000000">
                                <a:alpha val="43137"/>
                              </a:srgbClr>
                            </a:outerShdw>
                          </a:effectLst>
                          <a:latin typeface="Arial" panose="020B0604020202020204" pitchFamily="34" charset="0"/>
                          <a:ea typeface="+mj-ea"/>
                          <a:cs typeface="Arial" panose="020B0604020202020204" pitchFamily="34" charset="0"/>
                        </a:rPr>
                        <a:t>Example</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0"/>
                  </a:ext>
                </a:extLst>
              </a:tr>
              <a:tr h="1682704">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1" i="1" u="none" strike="noStrike" cap="none" normalizeH="0" baseline="0" dirty="0" err="1">
                          <a:ln>
                            <a:noFill/>
                          </a:ln>
                          <a:solidFill>
                            <a:srgbClr val="C00000"/>
                          </a:solidFill>
                          <a:effectLst/>
                          <a:latin typeface="Times New Roman" pitchFamily="18" charset="0"/>
                        </a:rPr>
                        <a:t>Likert</a:t>
                      </a:r>
                      <a:r>
                        <a:rPr kumimoji="0" lang="en-US" sz="1800" b="1" i="1" u="none" strike="noStrike" cap="none" normalizeH="0" baseline="0" dirty="0">
                          <a:ln>
                            <a:noFill/>
                          </a:ln>
                          <a:solidFill>
                            <a:srgbClr val="C00000"/>
                          </a:solidFill>
                          <a:effectLst/>
                          <a:latin typeface="Times New Roman" pitchFamily="18" charset="0"/>
                        </a:rPr>
                        <a:t> Scale</a:t>
                      </a:r>
                      <a:r>
                        <a:rPr kumimoji="0" lang="en-US" sz="1800" b="0" i="1" u="none" strike="noStrike" cap="none" normalizeH="0" baseline="0" dirty="0">
                          <a:ln>
                            <a:noFill/>
                          </a:ln>
                          <a:solidFill>
                            <a:srgbClr val="C00000"/>
                          </a:solidFill>
                          <a:effectLst/>
                          <a:latin typeface="Times New Roman" pitchFamily="18" charset="0"/>
                        </a:rPr>
                        <a:t>  </a:t>
                      </a:r>
                      <a:r>
                        <a:rPr kumimoji="0" lang="en-US" sz="1800" b="0" i="0" u="none" strike="noStrike" cap="none" normalizeH="0" baseline="0" dirty="0">
                          <a:ln>
                            <a:noFill/>
                          </a:ln>
                          <a:solidFill>
                            <a:schemeClr val="tx1"/>
                          </a:solidFill>
                          <a:effectLst/>
                          <a:latin typeface="Times New Roman" pitchFamily="18" charset="0"/>
                        </a:rPr>
                        <a:t>For interval data.  Can be preceded by a </a:t>
                      </a:r>
                      <a:r>
                        <a:rPr kumimoji="0" lang="en-US" sz="1800" b="0" i="1" u="none" strike="noStrike" cap="none" normalizeH="0" baseline="0" dirty="0">
                          <a:ln>
                            <a:noFill/>
                          </a:ln>
                          <a:solidFill>
                            <a:srgbClr val="CC0000"/>
                          </a:solidFill>
                          <a:effectLst/>
                          <a:latin typeface="Times New Roman" pitchFamily="18" charset="0"/>
                        </a:rPr>
                        <a:t>question</a:t>
                      </a:r>
                      <a:r>
                        <a:rPr kumimoji="0" lang="en-US" sz="1800" b="0" i="0" u="none" strike="noStrike" cap="none" normalizeH="0" baseline="0" dirty="0">
                          <a:ln>
                            <a:noFill/>
                          </a:ln>
                          <a:solidFill>
                            <a:schemeClr val="tx1"/>
                          </a:solidFill>
                          <a:effectLst/>
                          <a:latin typeface="Times New Roman" pitchFamily="18" charset="0"/>
                        </a:rPr>
                        <a:t>. "How satisfied were you with your purchase of a Dell computer?"</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Times New Roman" pitchFamily="18" charset="0"/>
                          <a:sym typeface="Wingdings" pitchFamily="2" charset="2"/>
                        </a:rPr>
                        <a:t> </a:t>
                      </a:r>
                      <a:r>
                        <a:rPr kumimoji="0" lang="en-US" sz="1800" b="0" i="0" u="none" strike="noStrike" cap="none" normalizeH="0" baseline="0" dirty="0">
                          <a:ln>
                            <a:noFill/>
                          </a:ln>
                          <a:solidFill>
                            <a:schemeClr val="tx1"/>
                          </a:solidFill>
                          <a:effectLst/>
                          <a:latin typeface="Times New Roman" pitchFamily="18" charset="0"/>
                        </a:rPr>
                        <a:t>Very satisfied </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Times New Roman" pitchFamily="18" charset="0"/>
                          <a:sym typeface="Wingdings" pitchFamily="2" charset="2"/>
                        </a:rPr>
                        <a:t> Somewhat satisfied</a:t>
                      </a:r>
                      <a:endParaRPr kumimoji="0" lang="en-US" sz="1800" b="0" i="0" u="none" strike="noStrike" cap="none" normalizeH="0" baseline="0" dirty="0">
                        <a:ln>
                          <a:noFill/>
                        </a:ln>
                        <a:solidFill>
                          <a:schemeClr val="tx1"/>
                        </a:solidFill>
                        <a:effectLst/>
                        <a:latin typeface="Times New Roman" pitchFamily="18" charset="0"/>
                      </a:endParaRPr>
                    </a:p>
                    <a:p>
                      <a:pPr marL="0" marR="0" lvl="0" indent="0" algn="l" defTabSz="914400" rtl="0" eaLnBrk="0" fontAlgn="base" latinLnBrk="0" hangingPunct="0">
                        <a:lnSpc>
                          <a:spcPct val="100000"/>
                        </a:lnSpc>
                        <a:spcBef>
                          <a:spcPct val="20000"/>
                        </a:spcBef>
                        <a:spcAft>
                          <a:spcPct val="0"/>
                        </a:spcAft>
                        <a:buClrTx/>
                        <a:buSzTx/>
                        <a:buFont typeface="Wingdings" pitchFamily="2" charset="2"/>
                        <a:buChar char="r"/>
                        <a:tabLst/>
                      </a:pPr>
                      <a:r>
                        <a:rPr kumimoji="0" lang="en-US" sz="1800" b="0" i="0" u="none" strike="noStrike" cap="none" normalizeH="0" baseline="0" dirty="0">
                          <a:ln>
                            <a:noFill/>
                          </a:ln>
                          <a:solidFill>
                            <a:schemeClr val="tx1"/>
                          </a:solidFill>
                          <a:effectLst/>
                          <a:latin typeface="Times New Roman" pitchFamily="18" charset="0"/>
                          <a:sym typeface="Wingdings" pitchFamily="2" charset="2"/>
                        </a:rPr>
                        <a:t> Neither satisfied nor dissatisfied</a:t>
                      </a:r>
                    </a:p>
                    <a:p>
                      <a:pPr marL="0" marR="0" lvl="0" indent="0" algn="l" defTabSz="914400" rtl="0" eaLnBrk="0" fontAlgn="base" latinLnBrk="0" hangingPunct="0">
                        <a:lnSpc>
                          <a:spcPct val="100000"/>
                        </a:lnSpc>
                        <a:spcBef>
                          <a:spcPct val="20000"/>
                        </a:spcBef>
                        <a:spcAft>
                          <a:spcPct val="0"/>
                        </a:spcAft>
                        <a:buClrTx/>
                        <a:buSzTx/>
                        <a:buFont typeface="Wingdings" pitchFamily="2" charset="2"/>
                        <a:buChar char="r"/>
                        <a:tabLst/>
                      </a:pPr>
                      <a:r>
                        <a:rPr kumimoji="0" lang="en-US" sz="1800" b="0" i="0" u="none" strike="noStrike" cap="none" normalizeH="0" baseline="0" dirty="0">
                          <a:ln>
                            <a:noFill/>
                          </a:ln>
                          <a:solidFill>
                            <a:schemeClr val="tx1"/>
                          </a:solidFill>
                          <a:effectLst/>
                          <a:latin typeface="Times New Roman" pitchFamily="18" charset="0"/>
                          <a:sym typeface="Wingdings" pitchFamily="2" charset="2"/>
                        </a:rPr>
                        <a:t> Somewhat dissatisfied</a:t>
                      </a:r>
                      <a:endParaRPr kumimoji="0" lang="en-US" sz="1800" b="0" i="0" u="none" strike="noStrike" cap="none" normalizeH="0" baseline="0" dirty="0">
                        <a:ln>
                          <a:noFill/>
                        </a:ln>
                        <a:solidFill>
                          <a:schemeClr val="tx1"/>
                        </a:solidFill>
                        <a:effectLst/>
                        <a:latin typeface="Times New Roman" pitchFamily="18" charset="0"/>
                      </a:endParaRP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Times New Roman" pitchFamily="18" charset="0"/>
                          <a:sym typeface="Wingdings" pitchFamily="2" charset="2"/>
                        </a:rPr>
                        <a:t> Very dissatisfied</a:t>
                      </a:r>
                      <a:endParaRPr kumimoji="0" lang="en-US" sz="1800" b="0" i="0" u="none" strike="noStrike" cap="none" normalizeH="0" baseline="0" dirty="0">
                        <a:ln>
                          <a:noFill/>
                        </a:ln>
                        <a:solidFill>
                          <a:schemeClr val="tx1"/>
                        </a:solidFill>
                        <a:effectLst/>
                        <a:latin typeface="Times New Roman" pitchFamily="18" charset="0"/>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682704">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1" i="1" u="none" strike="noStrike" cap="none" normalizeH="0" baseline="0" dirty="0" err="1">
                          <a:ln>
                            <a:noFill/>
                          </a:ln>
                          <a:solidFill>
                            <a:srgbClr val="C00000"/>
                          </a:solidFill>
                          <a:effectLst/>
                          <a:latin typeface="Times New Roman" pitchFamily="18" charset="0"/>
                        </a:rPr>
                        <a:t>Likert</a:t>
                      </a:r>
                      <a:r>
                        <a:rPr kumimoji="0" lang="en-US" sz="1800" b="1" i="1" u="none" strike="noStrike" cap="none" normalizeH="0" baseline="0" dirty="0">
                          <a:ln>
                            <a:noFill/>
                          </a:ln>
                          <a:solidFill>
                            <a:srgbClr val="C00000"/>
                          </a:solidFill>
                          <a:effectLst/>
                          <a:latin typeface="Times New Roman" pitchFamily="18" charset="0"/>
                        </a:rPr>
                        <a:t> Scale </a:t>
                      </a:r>
                      <a:r>
                        <a:rPr kumimoji="0" lang="en-US" sz="1800" b="0" i="0" u="none" strike="noStrike" cap="none" normalizeH="0" baseline="0" dirty="0">
                          <a:ln>
                            <a:noFill/>
                          </a:ln>
                          <a:solidFill>
                            <a:schemeClr val="tx1"/>
                          </a:solidFill>
                          <a:effectLst/>
                          <a:latin typeface="Times New Roman" pitchFamily="18" charset="0"/>
                        </a:rPr>
                        <a:t> For interval data.  Can be preceded by a </a:t>
                      </a:r>
                      <a:r>
                        <a:rPr kumimoji="0" lang="en-US" sz="1800" b="0" i="1" u="none" strike="noStrike" cap="none" normalizeH="0" baseline="0" dirty="0">
                          <a:ln>
                            <a:noFill/>
                          </a:ln>
                          <a:solidFill>
                            <a:srgbClr val="CC0000"/>
                          </a:solidFill>
                          <a:effectLst/>
                          <a:latin typeface="Times New Roman" pitchFamily="18" charset="0"/>
                        </a:rPr>
                        <a:t>statement</a:t>
                      </a:r>
                      <a:r>
                        <a:rPr kumimoji="0" lang="en-US" sz="1800" b="0" i="0" u="none" strike="noStrike" cap="none" normalizeH="0" baseline="0" dirty="0">
                          <a:ln>
                            <a:noFill/>
                          </a:ln>
                          <a:solidFill>
                            <a:schemeClr val="tx1"/>
                          </a:solidFill>
                          <a:effectLst/>
                          <a:latin typeface="Times New Roman" pitchFamily="18" charset="0"/>
                        </a:rPr>
                        <a:t>. "CEOs who steal corporate funds should be flogged by the stockholders."</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Times New Roman" pitchFamily="18" charset="0"/>
                          <a:sym typeface="Wingdings" pitchFamily="2" charset="2"/>
                        </a:rPr>
                        <a:t> </a:t>
                      </a:r>
                      <a:r>
                        <a:rPr kumimoji="0" lang="en-US" sz="1800" b="0" i="0" u="none" strike="noStrike" cap="none" normalizeH="0" baseline="0" dirty="0">
                          <a:ln>
                            <a:noFill/>
                          </a:ln>
                          <a:solidFill>
                            <a:schemeClr val="tx1"/>
                          </a:solidFill>
                          <a:effectLst/>
                          <a:latin typeface="Times New Roman" pitchFamily="18" charset="0"/>
                        </a:rPr>
                        <a:t>Strongly agree </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Times New Roman" pitchFamily="18" charset="0"/>
                          <a:sym typeface="Wingdings" pitchFamily="2" charset="2"/>
                        </a:rPr>
                        <a:t> Somewhat agree</a:t>
                      </a:r>
                      <a:endParaRPr kumimoji="0" lang="en-US" sz="1800" b="0" i="0" u="none" strike="noStrike" cap="none" normalizeH="0" baseline="0" dirty="0">
                        <a:ln>
                          <a:noFill/>
                        </a:ln>
                        <a:solidFill>
                          <a:schemeClr val="tx1"/>
                        </a:solidFill>
                        <a:effectLst/>
                        <a:latin typeface="Times New Roman" pitchFamily="18" charset="0"/>
                      </a:endParaRPr>
                    </a:p>
                    <a:p>
                      <a:pPr marL="0" marR="0" lvl="0" indent="0" algn="l" defTabSz="914400" rtl="0" eaLnBrk="0" fontAlgn="base" latinLnBrk="0" hangingPunct="0">
                        <a:lnSpc>
                          <a:spcPct val="100000"/>
                        </a:lnSpc>
                        <a:spcBef>
                          <a:spcPct val="20000"/>
                        </a:spcBef>
                        <a:spcAft>
                          <a:spcPct val="0"/>
                        </a:spcAft>
                        <a:buClrTx/>
                        <a:buSzTx/>
                        <a:buFont typeface="Wingdings" pitchFamily="2" charset="2"/>
                        <a:buChar char="r"/>
                        <a:tabLst/>
                      </a:pPr>
                      <a:r>
                        <a:rPr kumimoji="0" lang="en-US" sz="1800" b="0" i="0" u="none" strike="noStrike" cap="none" normalizeH="0" baseline="0" dirty="0">
                          <a:ln>
                            <a:noFill/>
                          </a:ln>
                          <a:solidFill>
                            <a:schemeClr val="tx1"/>
                          </a:solidFill>
                          <a:effectLst/>
                          <a:latin typeface="Times New Roman" pitchFamily="18" charset="0"/>
                          <a:sym typeface="Wingdings" pitchFamily="2" charset="2"/>
                        </a:rPr>
                        <a:t> Neither agree nor disagree</a:t>
                      </a:r>
                    </a:p>
                    <a:p>
                      <a:pPr marL="0" marR="0" lvl="0" indent="0" algn="l" defTabSz="914400" rtl="0" eaLnBrk="0" fontAlgn="base" latinLnBrk="0" hangingPunct="0">
                        <a:lnSpc>
                          <a:spcPct val="100000"/>
                        </a:lnSpc>
                        <a:spcBef>
                          <a:spcPct val="20000"/>
                        </a:spcBef>
                        <a:spcAft>
                          <a:spcPct val="0"/>
                        </a:spcAft>
                        <a:buClrTx/>
                        <a:buSzTx/>
                        <a:buFont typeface="Wingdings" pitchFamily="2" charset="2"/>
                        <a:buChar char="r"/>
                        <a:tabLst/>
                      </a:pPr>
                      <a:r>
                        <a:rPr kumimoji="0" lang="en-US" sz="1800" b="0" i="0" u="none" strike="noStrike" cap="none" normalizeH="0" baseline="0" dirty="0">
                          <a:ln>
                            <a:noFill/>
                          </a:ln>
                          <a:solidFill>
                            <a:schemeClr val="tx1"/>
                          </a:solidFill>
                          <a:effectLst/>
                          <a:latin typeface="Times New Roman" pitchFamily="18" charset="0"/>
                          <a:sym typeface="Wingdings" pitchFamily="2" charset="2"/>
                        </a:rPr>
                        <a:t> Somewhat disagree</a:t>
                      </a:r>
                      <a:endParaRPr kumimoji="0" lang="en-US" sz="1800" b="0" i="0" u="none" strike="noStrike" cap="none" normalizeH="0" baseline="0" dirty="0">
                        <a:ln>
                          <a:noFill/>
                        </a:ln>
                        <a:solidFill>
                          <a:schemeClr val="tx1"/>
                        </a:solidFill>
                        <a:effectLst/>
                        <a:latin typeface="Times New Roman" pitchFamily="18" charset="0"/>
                      </a:endParaRP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Times New Roman" pitchFamily="18" charset="0"/>
                          <a:sym typeface="Wingdings" pitchFamily="2" charset="2"/>
                        </a:rPr>
                        <a:t> Strongly disagree</a:t>
                      </a:r>
                      <a:endParaRPr kumimoji="0" lang="en-US" sz="1800" b="0" i="0" u="none" strike="noStrike" cap="none" normalizeH="0" baseline="0" dirty="0">
                        <a:ln>
                          <a:noFill/>
                        </a:ln>
                        <a:solidFill>
                          <a:schemeClr val="tx1"/>
                        </a:solidFill>
                        <a:effectLst/>
                        <a:latin typeface="Times New Roman" pitchFamily="18" charset="0"/>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2309" name="Text Box 31"/>
          <p:cNvSpPr txBox="1">
            <a:spLocks noChangeArrowheads="1"/>
          </p:cNvSpPr>
          <p:nvPr/>
        </p:nvSpPr>
        <p:spPr bwMode="auto">
          <a:xfrm>
            <a:off x="2209800" y="5664962"/>
            <a:ext cx="5867400"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400" i="1" dirty="0">
                <a:solidFill>
                  <a:srgbClr val="CC0000"/>
                </a:solidFill>
                <a:latin typeface="Calibri" panose="020F0502020204030204" pitchFamily="34" charset="0"/>
                <a:cs typeface="Calibri" panose="020F0502020204030204" pitchFamily="34" charset="0"/>
              </a:rPr>
              <a:t>Tip:</a:t>
            </a:r>
            <a:r>
              <a:rPr lang="en-US" sz="1400" dirty="0">
                <a:latin typeface="Calibri" panose="020F0502020204030204" pitchFamily="34" charset="0"/>
                <a:cs typeface="Calibri" panose="020F0502020204030204" pitchFamily="34" charset="0"/>
              </a:rPr>
              <a:t>  Likert replies can be coded numerically (e.g., 1, 2, 3, 4, 5) and then averaged.  You </a:t>
            </a:r>
            <a:r>
              <a:rPr lang="en-US" sz="1400" i="1" dirty="0">
                <a:latin typeface="Calibri" panose="020F0502020204030204" pitchFamily="34" charset="0"/>
                <a:cs typeface="Calibri" panose="020F0502020204030204" pitchFamily="34" charset="0"/>
              </a:rPr>
              <a:t>can't </a:t>
            </a:r>
            <a:r>
              <a:rPr lang="en-US" sz="1400" dirty="0">
                <a:latin typeface="Calibri" panose="020F0502020204030204" pitchFamily="34" charset="0"/>
                <a:cs typeface="Calibri" panose="020F0502020204030204" pitchFamily="34" charset="0"/>
              </a:rPr>
              <a:t>do that with attribute data. 5-point scale is common. Eliminate the middle (neutral) option if you want a forced choice. </a:t>
            </a:r>
            <a:endParaRPr lang="en-US" sz="1400" dirty="0"/>
          </a:p>
        </p:txBody>
      </p:sp>
      <p:pic>
        <p:nvPicPr>
          <p:cNvPr id="8" name="Picture 7" descr="A close up of a clock&#10;&#10;Description automatically generated">
            <a:extLst>
              <a:ext uri="{FF2B5EF4-FFF2-40B4-BE49-F238E27FC236}">
                <a16:creationId xmlns:a16="http://schemas.microsoft.com/office/drawing/2014/main" id="{96CC8FFF-E42C-4520-8C1A-F16DEBC6BBF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71600" y="5709504"/>
            <a:ext cx="545380" cy="5232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ctrTitle"/>
          </p:nvPr>
        </p:nvSpPr>
        <p:spPr>
          <a:xfrm>
            <a:off x="0" y="228600"/>
            <a:ext cx="9144000" cy="768096"/>
          </a:xfrm>
        </p:spPr>
        <p:txBody>
          <a:bodyPr/>
          <a:lstStyle/>
          <a:p>
            <a:pPr>
              <a:defRPr/>
            </a:pPr>
            <a:r>
              <a:rPr lang="en-US" sz="3600" b="1" dirty="0">
                <a:solidFill>
                  <a:srgbClr val="C0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Do It Yourself?</a:t>
            </a:r>
          </a:p>
        </p:txBody>
      </p:sp>
      <p:sp>
        <p:nvSpPr>
          <p:cNvPr id="78855" name="AutoShape 7"/>
          <p:cNvSpPr>
            <a:spLocks noChangeArrowheads="1"/>
          </p:cNvSpPr>
          <p:nvPr/>
        </p:nvSpPr>
        <p:spPr bwMode="auto">
          <a:xfrm>
            <a:off x="1752600" y="1219200"/>
            <a:ext cx="6096000" cy="3212271"/>
          </a:xfrm>
          <a:prstGeom prst="irregularSeal2">
            <a:avLst/>
          </a:prstGeom>
          <a:solidFill>
            <a:srgbClr val="CCECFF"/>
          </a:solidFill>
          <a:ln w="9525">
            <a:solidFill>
              <a:schemeClr val="tx1"/>
            </a:solidFill>
            <a:miter lim="800000"/>
            <a:headEnd/>
            <a:tailEnd/>
          </a:ln>
          <a:effectLst/>
        </p:spPr>
        <p:txBody>
          <a:bodyPr wrap="none" anchor="ctr"/>
          <a:lstStyle/>
          <a:p>
            <a:pPr algn="ctr">
              <a:lnSpc>
                <a:spcPct val="60000"/>
              </a:lnSpc>
              <a:spcBef>
                <a:spcPts val="600"/>
              </a:spcBef>
              <a:defRPr/>
            </a:pPr>
            <a:r>
              <a:rPr lang="en-US" sz="1800" dirty="0">
                <a:latin typeface="Calibri" panose="020F0502020204030204" pitchFamily="34" charset="0"/>
                <a:cs typeface="Calibri" panose="020F0502020204030204" pitchFamily="34" charset="0"/>
              </a:rPr>
              <a:t>Surveys require careful</a:t>
            </a:r>
          </a:p>
          <a:p>
            <a:pPr algn="ctr">
              <a:lnSpc>
                <a:spcPct val="60000"/>
              </a:lnSpc>
              <a:spcBef>
                <a:spcPts val="600"/>
              </a:spcBef>
              <a:defRPr/>
            </a:pPr>
            <a:r>
              <a:rPr lang="en-US" sz="1800" dirty="0">
                <a:latin typeface="Calibri" panose="020F0502020204030204" pitchFamily="34" charset="0"/>
                <a:cs typeface="Calibri" panose="020F0502020204030204" pitchFamily="34" charset="0"/>
              </a:rPr>
              <a:t>planning.  If you are an</a:t>
            </a:r>
          </a:p>
          <a:p>
            <a:pPr algn="ctr">
              <a:lnSpc>
                <a:spcPct val="60000"/>
              </a:lnSpc>
              <a:spcBef>
                <a:spcPts val="600"/>
              </a:spcBef>
              <a:defRPr/>
            </a:pPr>
            <a:r>
              <a:rPr lang="en-US" sz="1800" dirty="0">
                <a:latin typeface="Calibri" panose="020F0502020204030204" pitchFamily="34" charset="0"/>
                <a:cs typeface="Calibri" panose="020F0502020204030204" pitchFamily="34" charset="0"/>
              </a:rPr>
              <a:t>independent type, go for it.</a:t>
            </a:r>
          </a:p>
          <a:p>
            <a:pPr algn="ctr">
              <a:lnSpc>
                <a:spcPct val="60000"/>
              </a:lnSpc>
              <a:spcBef>
                <a:spcPts val="600"/>
              </a:spcBef>
              <a:defRPr/>
            </a:pPr>
            <a:r>
              <a:rPr lang="en-US" sz="1800" dirty="0">
                <a:latin typeface="Calibri" panose="020F0502020204030204" pitchFamily="34" charset="0"/>
                <a:cs typeface="Calibri" panose="020F0502020204030204" pitchFamily="34" charset="0"/>
              </a:rPr>
              <a:t>  Professional software can help</a:t>
            </a:r>
          </a:p>
          <a:p>
            <a:pPr algn="ctr">
              <a:lnSpc>
                <a:spcPct val="60000"/>
              </a:lnSpc>
              <a:spcBef>
                <a:spcPts val="600"/>
              </a:spcBef>
              <a:defRPr/>
            </a:pPr>
            <a:r>
              <a:rPr lang="en-US" sz="1800" dirty="0">
                <a:latin typeface="Calibri" panose="020F0502020204030204" pitchFamily="34" charset="0"/>
                <a:cs typeface="Calibri" panose="020F0502020204030204" pitchFamily="34" charset="0"/>
              </a:rPr>
              <a:t> design the survey.</a:t>
            </a:r>
          </a:p>
        </p:txBody>
      </p:sp>
      <p:sp>
        <p:nvSpPr>
          <p:cNvPr id="6" name="Text Box 4">
            <a:extLst>
              <a:ext uri="{FF2B5EF4-FFF2-40B4-BE49-F238E27FC236}">
                <a16:creationId xmlns:a16="http://schemas.microsoft.com/office/drawing/2014/main" id="{25A41170-CE78-4063-B286-3240497470F5}"/>
              </a:ext>
            </a:extLst>
          </p:cNvPr>
          <p:cNvSpPr txBox="1">
            <a:spLocks noChangeArrowheads="1"/>
          </p:cNvSpPr>
          <p:nvPr/>
        </p:nvSpPr>
        <p:spPr bwMode="auto">
          <a:xfrm>
            <a:off x="3048000" y="4998533"/>
            <a:ext cx="3657600" cy="5198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nSpc>
                <a:spcPct val="60000"/>
              </a:lnSpc>
              <a:spcBef>
                <a:spcPts val="600"/>
              </a:spcBef>
              <a:spcAft>
                <a:spcPts val="600"/>
              </a:spcAft>
              <a:defRPr/>
            </a:pPr>
            <a:r>
              <a:rPr lang="en-US" sz="1400" dirty="0">
                <a:solidFill>
                  <a:srgbClr val="0033CC"/>
                </a:solidFill>
                <a:latin typeface="Calibri" panose="020F0502020204030204" pitchFamily="34" charset="0"/>
                <a:cs typeface="Calibri" panose="020F0502020204030204" pitchFamily="34" charset="0"/>
                <a:hlinkClick r:id="rId2">
                  <a:extLst>
                    <a:ext uri="{A12FA001-AC4F-418D-AE19-62706E023703}">
                      <ahyp:hlinkClr xmlns:ahyp="http://schemas.microsoft.com/office/drawing/2018/hyperlinkcolor" val="tx"/>
                    </a:ext>
                  </a:extLst>
                </a:hlinkClick>
              </a:rPr>
              <a:t>https://www.surveymonkey.com</a:t>
            </a:r>
            <a:endParaRPr lang="en-US" sz="1400" dirty="0">
              <a:solidFill>
                <a:srgbClr val="0033CC"/>
              </a:solidFill>
              <a:latin typeface="Calibri" panose="020F0502020204030204" pitchFamily="34" charset="0"/>
              <a:cs typeface="Calibri" panose="020F0502020204030204" pitchFamily="34" charset="0"/>
            </a:endParaRPr>
          </a:p>
          <a:p>
            <a:pPr>
              <a:lnSpc>
                <a:spcPct val="60000"/>
              </a:lnSpc>
              <a:spcBef>
                <a:spcPts val="600"/>
              </a:spcBef>
              <a:spcAft>
                <a:spcPts val="600"/>
              </a:spcAft>
              <a:defRPr/>
            </a:pPr>
            <a:r>
              <a:rPr lang="en-US" sz="1400" dirty="0">
                <a:solidFill>
                  <a:srgbClr val="0033CC"/>
                </a:solidFill>
                <a:latin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https://www.survey-design-and-analysis.com/</a:t>
            </a:r>
            <a:endParaRPr lang="en-US" sz="1400" dirty="0">
              <a:solidFill>
                <a:srgbClr val="0033CC"/>
              </a:solidFill>
              <a:latin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211A66F4-D4D8-8E98-B0B0-A60829453491}"/>
              </a:ext>
            </a:extLst>
          </p:cNvPr>
          <p:cNvPicPr>
            <a:picLocks noChangeAspect="1"/>
          </p:cNvPicPr>
          <p:nvPr/>
        </p:nvPicPr>
        <p:blipFill>
          <a:blip r:embed="rId4"/>
          <a:stretch>
            <a:fillRect/>
          </a:stretch>
        </p:blipFill>
        <p:spPr>
          <a:xfrm>
            <a:off x="2133600" y="4998533"/>
            <a:ext cx="758207" cy="458489"/>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ctrTitle"/>
          </p:nvPr>
        </p:nvSpPr>
        <p:spPr>
          <a:xfrm>
            <a:off x="0" y="228600"/>
            <a:ext cx="9144000" cy="768096"/>
          </a:xfrm>
        </p:spPr>
        <p:txBody>
          <a:bodyPr/>
          <a:lstStyle/>
          <a:p>
            <a:pPr>
              <a:defRPr/>
            </a:pPr>
            <a:r>
              <a:rPr lang="en-US" sz="3600" b="1" dirty="0">
                <a:solidFill>
                  <a:srgbClr val="C0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More Resources</a:t>
            </a:r>
          </a:p>
        </p:txBody>
      </p:sp>
      <p:sp>
        <p:nvSpPr>
          <p:cNvPr id="3" name="TextBox 2">
            <a:extLst>
              <a:ext uri="{FF2B5EF4-FFF2-40B4-BE49-F238E27FC236}">
                <a16:creationId xmlns:a16="http://schemas.microsoft.com/office/drawing/2014/main" id="{4DEFB868-4C7C-9AF5-1631-9115A63FE0F6}"/>
              </a:ext>
            </a:extLst>
          </p:cNvPr>
          <p:cNvSpPr txBox="1"/>
          <p:nvPr/>
        </p:nvSpPr>
        <p:spPr>
          <a:xfrm>
            <a:off x="1714500" y="2667000"/>
            <a:ext cx="5715000" cy="3293209"/>
          </a:xfrm>
          <a:prstGeom prst="rect">
            <a:avLst/>
          </a:prstGeom>
          <a:noFill/>
        </p:spPr>
        <p:txBody>
          <a:bodyPr wrap="square" rtlCol="0">
            <a:spAutoFit/>
          </a:bodyPr>
          <a:lstStyle/>
          <a:p>
            <a:pPr marL="285750" indent="-285750">
              <a:buClr>
                <a:srgbClr val="C00000"/>
              </a:buClr>
              <a:buSzPct val="150000"/>
              <a:buFont typeface="Arial" panose="020B0604020202020204" pitchFamily="34" charset="0"/>
              <a:buChar char="•"/>
            </a:pPr>
            <a:r>
              <a:rPr lang="en-US" sz="1600" dirty="0"/>
              <a:t>Haydn Aarons, </a:t>
            </a:r>
            <a:r>
              <a:rPr lang="en-US" sz="1600" i="1" dirty="0"/>
              <a:t>A Practical Introduction to Survey Design: A Beginner's Guide</a:t>
            </a:r>
            <a:r>
              <a:rPr lang="en-US" sz="1600" dirty="0"/>
              <a:t>, 1st Edition (Sage, 2021).</a:t>
            </a:r>
          </a:p>
          <a:p>
            <a:pPr marL="285750" indent="-285750">
              <a:buClr>
                <a:srgbClr val="C00000"/>
              </a:buClr>
              <a:buSzPct val="150000"/>
              <a:buFont typeface="Arial" panose="020B0604020202020204" pitchFamily="34" charset="0"/>
              <a:buChar char="•"/>
            </a:pPr>
            <a:endParaRPr lang="en-US" sz="1600" dirty="0"/>
          </a:p>
          <a:p>
            <a:pPr marL="285750" indent="-285750">
              <a:buClr>
                <a:srgbClr val="C00000"/>
              </a:buClr>
              <a:buSzPct val="150000"/>
              <a:buFont typeface="Arial" panose="020B0604020202020204" pitchFamily="34" charset="0"/>
              <a:buChar char="•"/>
            </a:pPr>
            <a:r>
              <a:rPr lang="en-US" sz="1600" dirty="0"/>
              <a:t>Johnny Blair, Ronald F. </a:t>
            </a:r>
            <a:r>
              <a:rPr lang="en-US" sz="1600" dirty="0" err="1"/>
              <a:t>Czaja</a:t>
            </a:r>
            <a:r>
              <a:rPr lang="en-US" sz="1600" dirty="0"/>
              <a:t>, and Edward Blair, </a:t>
            </a:r>
            <a:r>
              <a:rPr lang="en-US" sz="1600" i="1" dirty="0"/>
              <a:t>Designing Surveys: A Guide to Decisions and Procedures</a:t>
            </a:r>
            <a:r>
              <a:rPr lang="en-US" sz="1600" dirty="0"/>
              <a:t>, 3rd Edition (Sage, 2014).</a:t>
            </a:r>
          </a:p>
          <a:p>
            <a:pPr marL="285750" indent="-285750">
              <a:buClr>
                <a:srgbClr val="C00000"/>
              </a:buClr>
              <a:buSzPct val="150000"/>
              <a:buFont typeface="Arial" panose="020B0604020202020204" pitchFamily="34" charset="0"/>
              <a:buChar char="•"/>
            </a:pPr>
            <a:endParaRPr lang="en-US" sz="1600" dirty="0"/>
          </a:p>
          <a:p>
            <a:pPr marL="285750" indent="-285750">
              <a:buClr>
                <a:srgbClr val="C00000"/>
              </a:buClr>
              <a:buSzPct val="150000"/>
              <a:buFont typeface="Arial" panose="020B0604020202020204" pitchFamily="34" charset="0"/>
              <a:buChar char="•"/>
            </a:pPr>
            <a:r>
              <a:rPr lang="en-US" sz="1600" dirty="0"/>
              <a:t>Louis M. Rea, </a:t>
            </a:r>
            <a:r>
              <a:rPr lang="en-US" sz="1600" i="1" dirty="0"/>
              <a:t>Designing and Conducting Survey Research: A Comprehensive Guide</a:t>
            </a:r>
            <a:r>
              <a:rPr lang="en-US" sz="1600" dirty="0"/>
              <a:t>, 4th Edition (Wiley, 2014).</a:t>
            </a:r>
          </a:p>
          <a:p>
            <a:pPr marL="285750" indent="-285750">
              <a:buClr>
                <a:srgbClr val="C00000"/>
              </a:buClr>
              <a:buSzPct val="150000"/>
              <a:buFont typeface="Arial" panose="020B0604020202020204" pitchFamily="34" charset="0"/>
              <a:buChar char="•"/>
            </a:pPr>
            <a:endParaRPr lang="en-US" sz="1600" dirty="0"/>
          </a:p>
          <a:p>
            <a:pPr marL="285750" indent="-285750">
              <a:buClr>
                <a:srgbClr val="C00000"/>
              </a:buClr>
              <a:buSzPct val="150000"/>
              <a:buFont typeface="Arial" panose="020B0604020202020204" pitchFamily="34" charset="0"/>
              <a:buChar char="•"/>
            </a:pPr>
            <a:endParaRPr lang="en-US" sz="1600" dirty="0"/>
          </a:p>
          <a:p>
            <a:pPr marL="285750" indent="-285750">
              <a:buClr>
                <a:srgbClr val="C00000"/>
              </a:buClr>
              <a:buSzPct val="150000"/>
              <a:buFont typeface="Arial" panose="020B0604020202020204" pitchFamily="34" charset="0"/>
              <a:buChar char="•"/>
            </a:pPr>
            <a:r>
              <a:rPr lang="en-US" sz="1600" dirty="0"/>
              <a:t>Sheila B. Robinson and Kimberly Firth Leonard, </a:t>
            </a:r>
            <a:r>
              <a:rPr lang="en-US" sz="1600" i="1" dirty="0"/>
              <a:t>Designing Quality Survey Questions</a:t>
            </a:r>
            <a:r>
              <a:rPr lang="en-US" sz="1600" dirty="0"/>
              <a:t>, 1st Edition (Sage 2019).</a:t>
            </a:r>
          </a:p>
        </p:txBody>
      </p:sp>
      <p:pic>
        <p:nvPicPr>
          <p:cNvPr id="8" name="Picture 4" descr="bd04912_">
            <a:extLst>
              <a:ext uri="{FF2B5EF4-FFF2-40B4-BE49-F238E27FC236}">
                <a16:creationId xmlns:a16="http://schemas.microsoft.com/office/drawing/2014/main" id="{AC922292-C0F6-D8F2-2BC2-5DE05BD688A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0000" y="996696"/>
            <a:ext cx="1160374" cy="1446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00654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Default Design">
  <a:themeElements>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1204</TotalTime>
  <Words>988</Words>
  <Application>Microsoft Office PowerPoint</Application>
  <PresentationFormat>On-screen Show (4:3)</PresentationFormat>
  <Paragraphs>133</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Times New Roman</vt:lpstr>
      <vt:lpstr>Wingdings</vt:lpstr>
      <vt:lpstr>Default Design</vt:lpstr>
      <vt:lpstr>Surveys</vt:lpstr>
      <vt:lpstr>Who Does Surveys?</vt:lpstr>
      <vt:lpstr>Planning Your Survey</vt:lpstr>
      <vt:lpstr>Survey Types</vt:lpstr>
      <vt:lpstr>Confidentiality</vt:lpstr>
      <vt:lpstr>Questionnaire Design</vt:lpstr>
      <vt:lpstr>Survey Costs</vt:lpstr>
      <vt:lpstr>Sampling Frame</vt:lpstr>
      <vt:lpstr>Sources of Error</vt:lpstr>
      <vt:lpstr>Response Scales </vt:lpstr>
      <vt:lpstr>Likert Scales</vt:lpstr>
      <vt:lpstr>Do It Yourself?</vt:lpstr>
      <vt:lpstr>More Resources</vt:lpstr>
    </vt:vector>
  </TitlesOfParts>
  <Company>McGraw Hill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Survey Guidelines</dc:title>
  <dc:subject>Chapter 2 - Data Collection</dc:subject>
  <dc:creator>David P. Doane</dc:creator>
  <dc:description>Copyright (c) 2025 by McGraw Hill LLC.  This material is intended solely for educational use licensed users of Connect. It may not be copied or resold.</dc:description>
  <cp:lastModifiedBy>Elango Selvaraj</cp:lastModifiedBy>
  <cp:revision>91</cp:revision>
  <dcterms:created xsi:type="dcterms:W3CDTF">2000-08-22T13:07:54Z</dcterms:created>
  <dcterms:modified xsi:type="dcterms:W3CDTF">2023-11-29T09:57:03Z</dcterms:modified>
</cp:coreProperties>
</file>