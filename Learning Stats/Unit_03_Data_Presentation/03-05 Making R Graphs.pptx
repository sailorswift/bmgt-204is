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sldIdLst>
    <p:sldId id="256" r:id="rId2"/>
    <p:sldId id="336" r:id="rId3"/>
    <p:sldId id="360" r:id="rId4"/>
    <p:sldId id="361" r:id="rId5"/>
    <p:sldId id="362" r:id="rId6"/>
    <p:sldId id="268" r:id="rId7"/>
    <p:sldId id="363" r:id="rId8"/>
    <p:sldId id="364" r:id="rId9"/>
    <p:sldId id="365" r:id="rId10"/>
    <p:sldId id="355" r:id="rId11"/>
    <p:sldId id="359" r:id="rId12"/>
    <p:sldId id="349" r:id="rId13"/>
    <p:sldId id="358" r:id="rId14"/>
    <p:sldId id="319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99"/>
    <a:srgbClr val="3333CC"/>
    <a:srgbClr val="0033CC"/>
    <a:srgbClr val="FFFFFF"/>
    <a:srgbClr val="FFFFCC"/>
    <a:srgbClr val="99CCFF"/>
    <a:srgbClr val="CC0000"/>
    <a:srgbClr val="CCEC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979" autoAdjust="0"/>
    <p:restoredTop sz="90929"/>
  </p:normalViewPr>
  <p:slideViewPr>
    <p:cSldViewPr>
      <p:cViewPr varScale="1">
        <p:scale>
          <a:sx n="57" d="100"/>
          <a:sy n="57" d="100"/>
        </p:scale>
        <p:origin x="9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2D82CF-0560-460B-9950-96968E9D38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734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C76324-1719-4CB0-B84E-C6D3BB035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33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89088D-25E4-45AF-AF1B-43AFA6A8E4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095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7D9ADD-21EB-4960-B95D-3A3D272BE6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019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FCC814-55F7-4F22-828A-9E580E54BB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232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4D6EE-1397-4AE4-87E4-54CE250CB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A3D371-D84A-4F3F-A95C-A3FFE620DD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87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5EEAB-96D7-4950-A327-770D7A0535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517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AC4C60-A7B8-410A-91E4-FFA241B10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491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5C12F-277C-4A66-B6E7-80DC77C734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134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A49E74-07F4-4647-9153-CF4DC73642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952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BF0F8C44-B223-4D4C-98E5-80924220E3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gi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2209800"/>
            <a:ext cx="4876800" cy="1524000"/>
          </a:xfrm>
        </p:spPr>
        <p:txBody>
          <a:bodyPr/>
          <a:lstStyle/>
          <a:p>
            <a:pPr>
              <a:defRPr/>
            </a:pPr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Making R</a:t>
            </a:r>
            <a:b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Graphs</a:t>
            </a:r>
          </a:p>
        </p:txBody>
      </p:sp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009650" y="5943600"/>
            <a:ext cx="7124700" cy="523220"/>
          </a:xfrm>
          <a:prstGeom prst="rect">
            <a:avLst/>
          </a:prstGeom>
          <a:solidFill>
            <a:srgbClr val="FFFF99">
              <a:alpha val="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400" b="1" dirty="0">
                <a:solidFill>
                  <a:srgbClr val="993300"/>
                </a:solidFill>
              </a:rPr>
              <a:t>© McGraw Hill LLC. All rights reserved. </a:t>
            </a:r>
            <a:r>
              <a:rPr lang="en-US" sz="1400" b="1">
                <a:solidFill>
                  <a:srgbClr val="993300"/>
                </a:solidFill>
              </a:rPr>
              <a:t>No reproduction or distribution without the prior written consent of McGraw Hill LLC.</a:t>
            </a:r>
            <a:endParaRPr lang="en-US" sz="1400" b="1" dirty="0">
              <a:solidFill>
                <a:srgbClr val="9933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Excel Data</a:t>
            </a:r>
          </a:p>
        </p:txBody>
      </p:sp>
      <p:sp>
        <p:nvSpPr>
          <p:cNvPr id="5123" name="Text Box 7"/>
          <p:cNvSpPr txBox="1">
            <a:spLocks noChangeArrowheads="1"/>
          </p:cNvSpPr>
          <p:nvPr/>
        </p:nvSpPr>
        <p:spPr bwMode="auto">
          <a:xfrm>
            <a:off x="1400175" y="1295400"/>
            <a:ext cx="649046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+mn-lt"/>
              </a:rPr>
              <a:t>We have 44 observations on price-earnings ratios for a sample of S&amp;P 500 companies. We want to describe the </a:t>
            </a:r>
            <a:r>
              <a:rPr lang="en-US" sz="2000" dirty="0">
                <a:solidFill>
                  <a:srgbClr val="C00000"/>
                </a:solidFill>
                <a:latin typeface="+mn-lt"/>
                <a:cs typeface="Arial" charset="0"/>
              </a:rPr>
              <a:t>shape</a:t>
            </a:r>
            <a:r>
              <a:rPr lang="en-US" sz="2000" dirty="0">
                <a:latin typeface="+mn-lt"/>
              </a:rPr>
              <a:t> of the distribution. First, we import the data to R.</a:t>
            </a:r>
          </a:p>
        </p:txBody>
      </p:sp>
      <p:sp>
        <p:nvSpPr>
          <p:cNvPr id="5126" name="Left Arrow 7"/>
          <p:cNvSpPr>
            <a:spLocks noChangeArrowheads="1"/>
          </p:cNvSpPr>
          <p:nvPr/>
        </p:nvSpPr>
        <p:spPr bwMode="auto">
          <a:xfrm>
            <a:off x="4693481" y="3429000"/>
            <a:ext cx="402746" cy="33096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6F71C-AA33-42A2-A7A2-22242A58F09D}"/>
              </a:ext>
            </a:extLst>
          </p:cNvPr>
          <p:cNvSpPr txBox="1"/>
          <p:nvPr/>
        </p:nvSpPr>
        <p:spPr>
          <a:xfrm>
            <a:off x="1381198" y="2796477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Row-Column Format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11686-C0B7-4319-A88A-F5011B363C62}"/>
              </a:ext>
            </a:extLst>
          </p:cNvPr>
          <p:cNvSpPr txBox="1"/>
          <p:nvPr/>
        </p:nvSpPr>
        <p:spPr>
          <a:xfrm>
            <a:off x="3482939" y="2796476"/>
            <a:ext cx="14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One Column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9E5EC65-AAA8-45FA-BA8E-11F66EDAA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7094" y="2887119"/>
            <a:ext cx="2891106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Row-column format is OK in Excel, but </a:t>
            </a:r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good for import. R would interpret each column as a separate variable and would not know what to do with the heading. We reformat Excel data into a single column with a simple heading.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110386-51EB-494F-934C-AD6066E2A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465" y="3099403"/>
            <a:ext cx="1314450" cy="23050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E14183D-00DE-4ECD-A62F-870E1011B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096" y="3099403"/>
            <a:ext cx="742950" cy="1543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31342C-28C5-44C6-8A2D-7131BB696C75}"/>
              </a:ext>
            </a:extLst>
          </p:cNvPr>
          <p:cNvSpPr txBox="1"/>
          <p:nvPr/>
        </p:nvSpPr>
        <p:spPr>
          <a:xfrm>
            <a:off x="3290587" y="5250564"/>
            <a:ext cx="1716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middle rows omitted</a:t>
            </a:r>
            <a:endParaRPr lang="en-US" sz="1400" dirty="0"/>
          </a:p>
        </p:txBody>
      </p:sp>
      <p:sp>
        <p:nvSpPr>
          <p:cNvPr id="10" name="Arrow: Up 9">
            <a:extLst>
              <a:ext uri="{FF2B5EF4-FFF2-40B4-BE49-F238E27FC236}">
                <a16:creationId xmlns:a16="http://schemas.microsoft.com/office/drawing/2014/main" id="{19D040F8-1832-4FD1-83DA-78A4A0D2F04D}"/>
              </a:ext>
            </a:extLst>
          </p:cNvPr>
          <p:cNvSpPr/>
          <p:nvPr/>
        </p:nvSpPr>
        <p:spPr bwMode="auto">
          <a:xfrm>
            <a:off x="3810000" y="4791491"/>
            <a:ext cx="381419" cy="307777"/>
          </a:xfrm>
          <a:prstGeom prst="upArrow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Import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2BE5-6518-434C-B827-3F1B89EB5F01}"/>
              </a:ext>
            </a:extLst>
          </p:cNvPr>
          <p:cNvSpPr txBox="1"/>
          <p:nvPr/>
        </p:nvSpPr>
        <p:spPr>
          <a:xfrm>
            <a:off x="838200" y="1405530"/>
            <a:ext cx="7772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</a:rPr>
              <a:t>A quick way to import data to R is the clipboard. Highlight the data block in Excel (including its column heading) and copy it to the clipboard using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Ctrl+c</a:t>
            </a:r>
            <a:r>
              <a:rPr lang="en-US" sz="2000" dirty="0">
                <a:latin typeface="Times New Roman" pitchFamily="18" charset="0"/>
              </a:rPr>
              <a:t> (Windows) or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command+c</a:t>
            </a:r>
            <a:r>
              <a:rPr lang="en-US" sz="2000" dirty="0">
                <a:latin typeface="Times New Roman" pitchFamily="18" charset="0"/>
              </a:rPr>
              <a:t> (MacOS). We will call the imported data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r>
              <a:rPr lang="en-US" sz="2000" dirty="0">
                <a:latin typeface="Times New Roman" pitchFamily="18" charset="0"/>
              </a:rPr>
              <a:t>. For Windows, enter:</a:t>
            </a:r>
          </a:p>
          <a:p>
            <a:r>
              <a:rPr lang="en-US" sz="1200" dirty="0">
                <a:latin typeface="Times New Roman" pitchFamily="18" charset="0"/>
              </a:rPr>
              <a:t> 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read.table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(file="clipboard",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sep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="\t", header=TRUE)</a:t>
            </a:r>
          </a:p>
          <a:p>
            <a:r>
              <a:rPr lang="en-US" sz="1200" dirty="0"/>
              <a:t> </a:t>
            </a:r>
          </a:p>
          <a:p>
            <a:r>
              <a:rPr lang="en-US" sz="2000" dirty="0">
                <a:latin typeface="Times New Roman" pitchFamily="18" charset="0"/>
              </a:rPr>
              <a:t>For MacOS, enter:</a:t>
            </a:r>
          </a:p>
          <a:p>
            <a:r>
              <a:rPr lang="en-US" sz="1200" dirty="0"/>
              <a:t> </a:t>
            </a:r>
          </a:p>
          <a:p>
            <a:pPr latinLnBrk="1"/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=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read.table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(pipe("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pbpaste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",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sep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="\t", header=TRUE)</a:t>
            </a:r>
          </a:p>
          <a:p>
            <a:r>
              <a:rPr lang="en-US" sz="1200" dirty="0"/>
              <a:t> </a:t>
            </a:r>
          </a:p>
          <a:p>
            <a:r>
              <a:rPr lang="en-US" sz="2000" dirty="0">
                <a:latin typeface="Times New Roman" pitchFamily="18" charset="0"/>
              </a:rPr>
              <a:t>The argument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sep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="\t"</a:t>
            </a:r>
            <a:r>
              <a:rPr lang="en-US" sz="1400" dirty="0">
                <a:solidFill>
                  <a:srgbClr val="0000FF"/>
                </a:solidFill>
                <a:latin typeface="Lucida Sans Unicode" panose="020B0602030504020204" pitchFamily="34" charset="0"/>
                <a:cs typeface="Lucida Sans Unicode" panose="020B0602030504020204" pitchFamily="34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tells R that the columns are tab-separated. The argument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header=TRUE </a:t>
            </a:r>
            <a:r>
              <a:rPr lang="en-US" sz="2000" dirty="0">
                <a:latin typeface="Times New Roman" pitchFamily="18" charset="0"/>
              </a:rPr>
              <a:t>tells R to expect text headings on each column.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F8E3C-AF11-4BE8-AF03-3CC30BC3955F}"/>
              </a:ext>
            </a:extLst>
          </p:cNvPr>
          <p:cNvSpPr txBox="1"/>
          <p:nvPr/>
        </p:nvSpPr>
        <p:spPr>
          <a:xfrm>
            <a:off x="987128" y="5148891"/>
            <a:ext cx="29179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Tip1: </a:t>
            </a:r>
            <a:r>
              <a:rPr lang="en-US" sz="1400" dirty="0"/>
              <a:t>R doe not want column names that begin with a number or contain special symbols like % and $.</a:t>
            </a:r>
          </a:p>
        </p:txBody>
      </p:sp>
      <p:pic>
        <p:nvPicPr>
          <p:cNvPr id="7" name="Picture 6" descr="A close up of a clock&#10;&#10;Description automatically generated">
            <a:extLst>
              <a:ext uri="{FF2B5EF4-FFF2-40B4-BE49-F238E27FC236}">
                <a16:creationId xmlns:a16="http://schemas.microsoft.com/office/drawing/2014/main" id="{C5A4DD71-B4F1-4957-A101-D7E6F22A6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524" y="5094712"/>
            <a:ext cx="838951" cy="80486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C7E47AE-5B3C-4EFE-809C-13EDA0DAC64B}"/>
              </a:ext>
            </a:extLst>
          </p:cNvPr>
          <p:cNvSpPr txBox="1"/>
          <p:nvPr/>
        </p:nvSpPr>
        <p:spPr>
          <a:xfrm>
            <a:off x="5486400" y="5144225"/>
            <a:ext cx="25159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Tip2:</a:t>
            </a:r>
            <a:r>
              <a:rPr lang="en-US" sz="1400" dirty="0"/>
              <a:t> An advantage of the clipboard method is that you choose exactly what to import.</a:t>
            </a:r>
          </a:p>
        </p:txBody>
      </p:sp>
    </p:spTree>
    <p:extLst>
      <p:ext uri="{BB962C8B-B14F-4D97-AF65-F5344CB8AC3E}">
        <p14:creationId xmlns:p14="http://schemas.microsoft.com/office/powerpoint/2010/main" val="3275951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View the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2BE5-6518-434C-B827-3F1B89EB5F01}"/>
              </a:ext>
            </a:extLst>
          </p:cNvPr>
          <p:cNvSpPr txBox="1"/>
          <p:nvPr/>
        </p:nvSpPr>
        <p:spPr>
          <a:xfrm>
            <a:off x="876300" y="1447800"/>
            <a:ext cx="7467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Lucida Sans Unicode" panose="020B0602030504020204" pitchFamily="34" charset="0"/>
              </a:rPr>
              <a:t>As we requested, R stores the imported data in an object named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. To view the data (44 observations) type the name of the object.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PERatio</a:t>
            </a: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1       59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2       16</a:t>
            </a:r>
          </a:p>
          <a:p>
            <a:pPr marL="342900" indent="-342900">
              <a:buAutoNum type="arabicPlain" startAt="3"/>
            </a:pPr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  20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42       9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43      37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44      13</a:t>
            </a:r>
          </a:p>
          <a:p>
            <a:endParaRPr lang="en-US" sz="2000" dirty="0">
              <a:latin typeface="+mn-lt"/>
              <a:cs typeface="Lucida Sans Unicode" panose="020B0602030504020204" pitchFamily="34" charset="0"/>
            </a:endParaRPr>
          </a:p>
          <a:p>
            <a:r>
              <a:rPr lang="en-US" sz="2000" dirty="0">
                <a:latin typeface="+mn-lt"/>
                <a:cs typeface="Lucida Sans Unicode" panose="020B0602030504020204" pitchFamily="34" charset="0"/>
              </a:rPr>
              <a:t>After verifying that the imported data look OK, we are ready to request detailed statistics and/or graphs.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F8E3C-AF11-4BE8-AF03-3CC30BC3955F}"/>
              </a:ext>
            </a:extLst>
          </p:cNvPr>
          <p:cNvSpPr txBox="1"/>
          <p:nvPr/>
        </p:nvSpPr>
        <p:spPr>
          <a:xfrm>
            <a:off x="4610100" y="3059667"/>
            <a:ext cx="19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Note:</a:t>
            </a:r>
            <a:r>
              <a:rPr lang="en-US" sz="1400" dirty="0"/>
              <a:t> M</a:t>
            </a:r>
            <a:r>
              <a:rPr lang="en-US" sz="1400" dirty="0">
                <a:cs typeface="Lucida Sans Unicode" panose="020B0602030504020204" pitchFamily="34" charset="0"/>
              </a:rPr>
              <a:t>iddle values omitted for brevity.</a:t>
            </a:r>
          </a:p>
          <a:p>
            <a:endParaRPr lang="en-US" sz="1400" dirty="0"/>
          </a:p>
        </p:txBody>
      </p:sp>
      <p:sp>
        <p:nvSpPr>
          <p:cNvPr id="10" name="Left Arrow 7">
            <a:extLst>
              <a:ext uri="{FF2B5EF4-FFF2-40B4-BE49-F238E27FC236}">
                <a16:creationId xmlns:a16="http://schemas.microsoft.com/office/drawing/2014/main" id="{2F204462-EB90-43C1-9B26-851EE5F3C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3225416"/>
            <a:ext cx="381000" cy="40716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104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Import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2BE5-6518-434C-B827-3F1B89EB5F01}"/>
              </a:ext>
            </a:extLst>
          </p:cNvPr>
          <p:cNvSpPr txBox="1"/>
          <p:nvPr/>
        </p:nvSpPr>
        <p:spPr>
          <a:xfrm>
            <a:off x="704850" y="1295400"/>
            <a:ext cx="78105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Lucida Sans Unicode" panose="020B0602030504020204" pitchFamily="34" charset="0"/>
              </a:rPr>
              <a:t>Use the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summary(x) 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function to view statistics for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 and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stem(x) 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for a </a:t>
            </a:r>
            <a:r>
              <a:rPr lang="en-US" sz="2000" dirty="0">
                <a:cs typeface="Lucida Sans Unicode" panose="020B0602030504020204" pitchFamily="34" charset="0"/>
              </a:rPr>
              <a:t>stem-and-leaf plot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.</a:t>
            </a:r>
            <a:r>
              <a:rPr lang="en-US" sz="2000" dirty="0">
                <a:cs typeface="Lucida Sans Unicode" panose="020B0602030504020204" pitchFamily="34" charset="0"/>
              </a:rPr>
              <a:t> In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stem(x)</a:t>
            </a:r>
            <a:r>
              <a:rPr lang="en-US" sz="2000" dirty="0">
                <a:cs typeface="Lucida Sans Unicode" panose="020B0602030504020204" pitchFamily="34" charset="0"/>
              </a:rPr>
              <a:t> the variable name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PERatio</a:t>
            </a:r>
            <a:r>
              <a:rPr lang="en-US" sz="2000" dirty="0">
                <a:cs typeface="Lucida Sans Unicode" panose="020B0602030504020204" pitchFamily="34" charset="0"/>
              </a:rPr>
              <a:t> is preceded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$</a:t>
            </a:r>
            <a:r>
              <a:rPr lang="en-US" sz="2000" dirty="0">
                <a:cs typeface="Lucida Sans Unicode" panose="020B0602030504020204" pitchFamily="34" charset="0"/>
              </a:rPr>
              <a:t> because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r>
              <a:rPr lang="en-US" sz="2000" dirty="0">
                <a:cs typeface="Lucida Sans Unicode" panose="020B0602030504020204" pitchFamily="34" charset="0"/>
              </a:rPr>
              <a:t> could have more data columns (it doesn't in this example). 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summary(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 </a:t>
            </a:r>
            <a:r>
              <a:rPr lang="en-US" sz="14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PERatio</a:t>
            </a:r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Min.   : 7.00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1st Qu.:13.00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Median :17.50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Mean   :20.61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3rd Qu.:24.50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Max.   :59.00</a:t>
            </a:r>
          </a:p>
          <a:p>
            <a:endParaRPr lang="en-US" sz="1400" dirty="0">
              <a:latin typeface="+mn-lt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stem(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PEData$PERatio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The decimal point is 1 digit(s) to the right of the |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0 | 79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1 | 000011123334456666778899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2 | 00112346678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3 | 1778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4 | 2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5 | 09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29F42F-6676-4C31-B48A-95DDEB1EF2AA}"/>
              </a:ext>
            </a:extLst>
          </p:cNvPr>
          <p:cNvSpPr txBox="1"/>
          <p:nvPr/>
        </p:nvSpPr>
        <p:spPr>
          <a:xfrm>
            <a:off x="4724400" y="3003559"/>
            <a:ext cx="2401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Note:</a:t>
            </a:r>
            <a:r>
              <a:rPr lang="en-US" sz="1400" dirty="0"/>
              <a:t> Possibly skewed right because mean exceeds median.</a:t>
            </a:r>
            <a:endParaRPr lang="en-US" sz="1400" dirty="0">
              <a:cs typeface="Lucida Sans Unicode" panose="020B0602030504020204" pitchFamily="34" charset="0"/>
            </a:endParaRPr>
          </a:p>
          <a:p>
            <a:endParaRPr lang="en-US" sz="1400" dirty="0"/>
          </a:p>
        </p:txBody>
      </p:sp>
      <p:sp>
        <p:nvSpPr>
          <p:cNvPr id="10" name="Left Arrow 7">
            <a:extLst>
              <a:ext uri="{FF2B5EF4-FFF2-40B4-BE49-F238E27FC236}">
                <a16:creationId xmlns:a16="http://schemas.microsoft.com/office/drawing/2014/main" id="{4384EF3B-B03D-4A9B-8BAC-30B91AE5D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132249"/>
            <a:ext cx="457200" cy="293186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76B34B-A39B-4A6E-90BD-575781C16D0A}"/>
              </a:ext>
            </a:extLst>
          </p:cNvPr>
          <p:cNvSpPr txBox="1"/>
          <p:nvPr/>
        </p:nvSpPr>
        <p:spPr>
          <a:xfrm>
            <a:off x="4719145" y="5070358"/>
            <a:ext cx="24016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Note:</a:t>
            </a:r>
            <a:r>
              <a:rPr lang="en-US" sz="1400" dirty="0"/>
              <a:t> Long upper tail suggests positive skewness. Possible high extremes?</a:t>
            </a:r>
          </a:p>
        </p:txBody>
      </p:sp>
      <p:sp>
        <p:nvSpPr>
          <p:cNvPr id="12" name="Left Arrow 7">
            <a:extLst>
              <a:ext uri="{FF2B5EF4-FFF2-40B4-BE49-F238E27FC236}">
                <a16:creationId xmlns:a16="http://schemas.microsoft.com/office/drawing/2014/main" id="{A0D9A0AE-CA3F-45B5-B731-0DDBE8D11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146504"/>
            <a:ext cx="457200" cy="293186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2E22C4-9541-4465-898A-4C90916F3D59}"/>
              </a:ext>
            </a:extLst>
          </p:cNvPr>
          <p:cNvSpPr txBox="1"/>
          <p:nvPr/>
        </p:nvSpPr>
        <p:spPr>
          <a:xfrm>
            <a:off x="3733800" y="6003583"/>
            <a:ext cx="24016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Note:</a:t>
            </a:r>
            <a:r>
              <a:rPr lang="en-US" sz="1400" dirty="0"/>
              <a:t> Stem-and-leaf displays work best for </a:t>
            </a:r>
            <a:r>
              <a:rPr lang="en-US" sz="1400" i="1" dirty="0"/>
              <a:t>integer</a:t>
            </a:r>
            <a:r>
              <a:rPr lang="en-US" sz="1400" dirty="0"/>
              <a:t> data.</a:t>
            </a:r>
          </a:p>
        </p:txBody>
      </p:sp>
      <p:pic>
        <p:nvPicPr>
          <p:cNvPr id="14" name="Picture 13" descr="A close up of a clock&#10;&#10;Description automatically generated">
            <a:extLst>
              <a:ext uri="{FF2B5EF4-FFF2-40B4-BE49-F238E27FC236}">
                <a16:creationId xmlns:a16="http://schemas.microsoft.com/office/drawing/2014/main" id="{1871E841-A30F-46FF-8132-A521282912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449" y="5941252"/>
            <a:ext cx="610351" cy="58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74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Histogram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93E29A-004C-4375-AFD0-6BD89A46C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335" y="2743200"/>
            <a:ext cx="4182701" cy="320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0F8C36-F7B3-4587-8620-B67292AA0919}"/>
              </a:ext>
            </a:extLst>
          </p:cNvPr>
          <p:cNvSpPr txBox="1"/>
          <p:nvPr/>
        </p:nvSpPr>
        <p:spPr>
          <a:xfrm>
            <a:off x="983669" y="1558498"/>
            <a:ext cx="701733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Request a histogram for a vector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x</a:t>
            </a:r>
            <a:r>
              <a:rPr lang="en-US" sz="2000" dirty="0"/>
              <a:t> using the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hist(x)</a:t>
            </a:r>
            <a:r>
              <a:rPr lang="en-US" sz="2000" dirty="0"/>
              <a:t> function. The histogram appears in the lower right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Files</a:t>
            </a:r>
            <a:r>
              <a:rPr lang="en-US" sz="2000" dirty="0"/>
              <a:t> pane. It can be copied to the clipboard or exported to a file:</a:t>
            </a:r>
          </a:p>
          <a:p>
            <a:endParaRPr lang="en-US" sz="1400" dirty="0"/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hist(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PEData$PERatio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A2C9B3-5328-4B49-B3D8-103A1C9B58AF}"/>
              </a:ext>
            </a:extLst>
          </p:cNvPr>
          <p:cNvSpPr txBox="1"/>
          <p:nvPr/>
        </p:nvSpPr>
        <p:spPr>
          <a:xfrm>
            <a:off x="1215733" y="4343400"/>
            <a:ext cx="198466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We omitted all optional arguments for the </a:t>
            </a:r>
            <a:r>
              <a:rPr lang="en-US" sz="12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hist() </a:t>
            </a:r>
            <a:r>
              <a:rPr lang="en-US" sz="1400" dirty="0">
                <a:latin typeface="+mj-lt"/>
                <a:cs typeface="Calibri" panose="020F0502020204030204" pitchFamily="34" charset="0"/>
              </a:rPr>
              <a:t>function so we got the default number of bins, based on Sturges' Rule (6 bins, 7 axis break points). </a:t>
            </a:r>
            <a:endParaRPr lang="en-US" dirty="0">
              <a:latin typeface="+mj-lt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AF3E684-301A-49B7-BE8D-F54F85C454E4}"/>
              </a:ext>
            </a:extLst>
          </p:cNvPr>
          <p:cNvSpPr/>
          <p:nvPr/>
        </p:nvSpPr>
        <p:spPr bwMode="auto">
          <a:xfrm>
            <a:off x="3465367" y="3466698"/>
            <a:ext cx="381000" cy="304800"/>
          </a:xfrm>
          <a:prstGeom prst="rightArrow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EDBF1F-E635-4206-9264-35A0DB5414F0}"/>
              </a:ext>
            </a:extLst>
          </p:cNvPr>
          <p:cNvSpPr txBox="1"/>
          <p:nvPr/>
        </p:nvSpPr>
        <p:spPr>
          <a:xfrm>
            <a:off x="1215732" y="3287473"/>
            <a:ext cx="19846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Note:</a:t>
            </a:r>
            <a:r>
              <a:rPr lang="en-US" sz="1400" dirty="0"/>
              <a:t> Upper tail is longer, which indicates positive skewness. </a:t>
            </a:r>
            <a:endParaRPr lang="en-US" sz="1400" dirty="0">
              <a:cs typeface="Lucida Sans Unicode" panose="020B0602030504020204" pitchFamily="34" charset="0"/>
            </a:endParaRPr>
          </a:p>
          <a:p>
            <a:endParaRPr lang="en-US" sz="1400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10AE6153-D797-4A44-A04E-553E44C3D17A}"/>
              </a:ext>
            </a:extLst>
          </p:cNvPr>
          <p:cNvSpPr/>
          <p:nvPr/>
        </p:nvSpPr>
        <p:spPr bwMode="auto">
          <a:xfrm>
            <a:off x="3465367" y="5022801"/>
            <a:ext cx="381000" cy="304800"/>
          </a:xfrm>
          <a:prstGeom prst="rightArrow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Histogram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0F8C36-F7B3-4587-8620-B67292AA0919}"/>
              </a:ext>
            </a:extLst>
          </p:cNvPr>
          <p:cNvSpPr txBox="1"/>
          <p:nvPr/>
        </p:nvSpPr>
        <p:spPr>
          <a:xfrm>
            <a:off x="685800" y="1534253"/>
            <a:ext cx="77724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You can include an optional argument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breaks=k</a:t>
            </a:r>
            <a:r>
              <a:rPr lang="en-US" sz="2000" dirty="0"/>
              <a:t> to force </a:t>
            </a:r>
            <a:r>
              <a:rPr lang="en-US" sz="2000" i="1" dirty="0"/>
              <a:t>k</a:t>
            </a:r>
            <a:r>
              <a:rPr lang="en-US" sz="2000" dirty="0"/>
              <a:t>-1 bins. To choose your own axis label you can include an optional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xlab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000" dirty="0"/>
              <a:t>argument:</a:t>
            </a:r>
          </a:p>
          <a:p>
            <a:r>
              <a:rPr lang="en-US" sz="2000" dirty="0"/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hist(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PEData$PE.pE.RatioRatio,xlab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="Price Earnings Ratio", breaks=12)</a:t>
            </a: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EB01E-BB2C-4B83-A75F-B3F715F84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0299" y="3048000"/>
            <a:ext cx="4182701" cy="32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F3D9DA-1B8C-446F-900B-5DF2D40C8FE6}"/>
              </a:ext>
            </a:extLst>
          </p:cNvPr>
          <p:cNvSpPr txBox="1"/>
          <p:nvPr/>
        </p:nvSpPr>
        <p:spPr>
          <a:xfrm>
            <a:off x="950766" y="3723310"/>
            <a:ext cx="25180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For example, we requested 11 bins (12 axis breaks) and axis label “Price Earnings Ratio”.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138F6E7E-9459-4C38-9006-2E9D26957E69}"/>
              </a:ext>
            </a:extLst>
          </p:cNvPr>
          <p:cNvSpPr/>
          <p:nvPr/>
        </p:nvSpPr>
        <p:spPr bwMode="auto">
          <a:xfrm>
            <a:off x="3733800" y="4038600"/>
            <a:ext cx="381000" cy="304800"/>
          </a:xfrm>
          <a:prstGeom prst="rightArrow">
            <a:avLst/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52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Scatter Plots</a:t>
            </a:r>
          </a:p>
        </p:txBody>
      </p:sp>
      <p:sp>
        <p:nvSpPr>
          <p:cNvPr id="5123" name="Text Box 7"/>
          <p:cNvSpPr txBox="1">
            <a:spLocks noChangeArrowheads="1"/>
          </p:cNvSpPr>
          <p:nvPr/>
        </p:nvSpPr>
        <p:spPr bwMode="auto">
          <a:xfrm>
            <a:off x="1011382" y="1319166"/>
            <a:ext cx="67008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+mn-lt"/>
              </a:rPr>
              <a:t>We have paired observations on acceleration times (in seconds) for 39 vehicles: </a:t>
            </a: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</p:txBody>
      </p:sp>
      <p:sp>
        <p:nvSpPr>
          <p:cNvPr id="5126" name="Left Arrow 7"/>
          <p:cNvSpPr>
            <a:spLocks noChangeArrowheads="1"/>
          </p:cNvSpPr>
          <p:nvPr/>
        </p:nvSpPr>
        <p:spPr bwMode="auto">
          <a:xfrm>
            <a:off x="5562600" y="2568776"/>
            <a:ext cx="402746" cy="33096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31342C-28C5-44C6-8A2D-7131BB696C75}"/>
              </a:ext>
            </a:extLst>
          </p:cNvPr>
          <p:cNvSpPr txBox="1"/>
          <p:nvPr/>
        </p:nvSpPr>
        <p:spPr>
          <a:xfrm>
            <a:off x="6172200" y="2315444"/>
            <a:ext cx="97661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middle rows omitted</a:t>
            </a:r>
            <a:endParaRPr lang="en-US" sz="1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AA0B42-E14C-4209-AF46-60DED82E6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0" y="2177398"/>
            <a:ext cx="2376412" cy="1444691"/>
          </a:xfrm>
          <a:prstGeom prst="rect">
            <a:avLst/>
          </a:prstGeom>
        </p:spPr>
      </p:pic>
      <p:sp>
        <p:nvSpPr>
          <p:cNvPr id="13" name="Text Box 7">
            <a:extLst>
              <a:ext uri="{FF2B5EF4-FFF2-40B4-BE49-F238E27FC236}">
                <a16:creationId xmlns:a16="http://schemas.microsoft.com/office/drawing/2014/main" id="{F56100C9-3CDF-4C15-858E-F0E6D4706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7527" y="3900668"/>
            <a:ext cx="7110413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+mn-lt"/>
              </a:rPr>
              <a:t>Highlight our two Excel data columns (including column headings), copy them to the clipboard using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Ctrl-c</a:t>
            </a:r>
            <a:r>
              <a:rPr lang="en-US" sz="2000" dirty="0">
                <a:latin typeface="+mn-lt"/>
              </a:rPr>
              <a:t> (Windows) </a:t>
            </a:r>
            <a:r>
              <a:rPr lang="en-US" sz="2000" dirty="0"/>
              <a:t>or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command+c</a:t>
            </a:r>
            <a:r>
              <a:rPr lang="en-US" sz="2000" dirty="0"/>
              <a:t> (MacOS) </a:t>
            </a:r>
            <a:r>
              <a:rPr lang="en-US" sz="2000" dirty="0">
                <a:latin typeface="+mn-lt"/>
              </a:rPr>
              <a:t>and paste the data into an R data frame named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Accel</a:t>
            </a:r>
            <a:r>
              <a:rPr lang="en-US" sz="2000" dirty="0">
                <a:latin typeface="+mn-lt"/>
              </a:rPr>
              <a:t>:</a:t>
            </a:r>
          </a:p>
          <a:p>
            <a:pPr>
              <a:spcBef>
                <a:spcPts val="0"/>
              </a:spcBef>
            </a:pPr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Accel=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read.table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(file="clipboard",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sep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=”\t”, header=TRUE)</a:t>
            </a:r>
          </a:p>
        </p:txBody>
      </p:sp>
    </p:spTree>
    <p:extLst>
      <p:ext uri="{BB962C8B-B14F-4D97-AF65-F5344CB8AC3E}">
        <p14:creationId xmlns:p14="http://schemas.microsoft.com/office/powerpoint/2010/main" val="830144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Scatter Plots</a:t>
            </a:r>
          </a:p>
        </p:txBody>
      </p:sp>
      <p:sp>
        <p:nvSpPr>
          <p:cNvPr id="5123" name="Text Box 7"/>
          <p:cNvSpPr txBox="1">
            <a:spLocks noChangeArrowheads="1"/>
          </p:cNvSpPr>
          <p:nvPr/>
        </p:nvSpPr>
        <p:spPr bwMode="auto">
          <a:xfrm>
            <a:off x="876300" y="1219200"/>
            <a:ext cx="74676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sz="2000" dirty="0">
                <a:latin typeface="+mn-lt"/>
              </a:rPr>
              <a:t>Make a scatter plot using the function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plot(x, y)</a:t>
            </a:r>
            <a:r>
              <a:rPr lang="en-US" sz="2000" dirty="0">
                <a:latin typeface="+mn-lt"/>
              </a:rPr>
              <a:t>:</a:t>
            </a:r>
          </a:p>
          <a:p>
            <a:pPr>
              <a:spcBef>
                <a:spcPts val="0"/>
              </a:spcBef>
            </a:pPr>
            <a:endParaRPr lang="en-US" sz="1200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+mn-lt"/>
              </a:rPr>
              <a:t>&gt;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plot(Accel$ZeroTo30,Accel$ZeroTo60</a:t>
            </a:r>
            <a:r>
              <a:rPr lang="en-US" sz="2000" dirty="0">
                <a:latin typeface="+mn-lt"/>
              </a:rPr>
              <a:t>)</a:t>
            </a:r>
          </a:p>
          <a:p>
            <a:pPr>
              <a:spcBef>
                <a:spcPts val="0"/>
              </a:spcBef>
            </a:pPr>
            <a:endParaRPr lang="en-US" sz="1200" dirty="0">
              <a:latin typeface="+mn-lt"/>
            </a:endParaRPr>
          </a:p>
          <a:p>
            <a:pPr>
              <a:spcBef>
                <a:spcPts val="0"/>
              </a:spcBef>
            </a:pPr>
            <a:r>
              <a:rPr lang="en-US" sz="2000" dirty="0">
                <a:latin typeface="+mn-lt"/>
              </a:rPr>
              <a:t>We can create better axis labels using optional arguments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xlab</a:t>
            </a:r>
            <a:r>
              <a:rPr lang="en-US" sz="2000" dirty="0">
                <a:latin typeface="+mn-lt"/>
              </a:rPr>
              <a:t> and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ylab</a:t>
            </a:r>
            <a:r>
              <a:rPr lang="en-US" sz="2000" dirty="0">
                <a:latin typeface="+mn-lt"/>
              </a:rPr>
              <a:t> and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main</a:t>
            </a:r>
            <a:r>
              <a:rPr lang="en-US" sz="2000" dirty="0">
                <a:latin typeface="+mn-lt"/>
              </a:rPr>
              <a:t> to add a title.</a:t>
            </a:r>
          </a:p>
          <a:p>
            <a:pPr>
              <a:spcBef>
                <a:spcPts val="0"/>
              </a:spcBef>
            </a:pP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plot(Accel$ZeroTo30, Accel$ZeroTo60,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xlab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="Zero to 30 (seconds)",</a:t>
            </a:r>
          </a:p>
          <a:p>
            <a:pPr>
              <a:spcBef>
                <a:spcPts val="0"/>
              </a:spcBef>
            </a:pP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+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ylab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="Zero to 60 (seconds)", main="Vehicle Acceleration (n = 39)")</a:t>
            </a: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F23B501B-6625-494D-B61A-E2504F0988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352" y="3896856"/>
            <a:ext cx="5424626" cy="247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69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Export a Plot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53266C-33E9-40B1-BEE9-32C395C40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33600"/>
            <a:ext cx="3455126" cy="3657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BA8CA2-2324-40A1-9521-1D13D94D0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8244" y="1156515"/>
            <a:ext cx="1355558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8502E95-6424-4FFC-8877-B15B4F9706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868" y="2087059"/>
            <a:ext cx="3211975" cy="36576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1600200" y="2171142"/>
            <a:ext cx="457199" cy="313509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7467602" y="5495161"/>
            <a:ext cx="533400" cy="328046"/>
          </a:xfrm>
          <a:prstGeom prst="ellipse">
            <a:avLst/>
          </a:prstGeom>
          <a:solidFill>
            <a:schemeClr val="accent1">
              <a:alpha val="0"/>
            </a:schemeClr>
          </a:solidFill>
          <a:ln w="12700">
            <a:solidFill>
              <a:srgbClr val="FF0000"/>
            </a:solidFill>
          </a:ln>
          <a:effectLst>
            <a:glow rad="1397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8F8D0EB-3BD8-4673-AAD4-D4E167CD620D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1981200" y="1613715"/>
            <a:ext cx="2027044" cy="49474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AA6187E-4591-4984-9C20-4054EA0BF35B}"/>
              </a:ext>
            </a:extLst>
          </p:cNvPr>
          <p:cNvSpPr/>
          <p:nvPr/>
        </p:nvSpPr>
        <p:spPr bwMode="auto">
          <a:xfrm>
            <a:off x="4419600" y="3200400"/>
            <a:ext cx="457200" cy="381000"/>
          </a:xfrm>
          <a:prstGeom prst="rightArrow">
            <a:avLst/>
          </a:prstGeom>
          <a:solidFill>
            <a:srgbClr val="3333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782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Normal Plot</a:t>
            </a:r>
          </a:p>
        </p:txBody>
      </p:sp>
      <p:sp>
        <p:nvSpPr>
          <p:cNvPr id="5123" name="Text Box 7"/>
          <p:cNvSpPr txBox="1">
            <a:spLocks noChangeArrowheads="1"/>
          </p:cNvSpPr>
          <p:nvPr/>
        </p:nvSpPr>
        <p:spPr bwMode="auto">
          <a:xfrm>
            <a:off x="1295400" y="1128786"/>
            <a:ext cx="69342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000" dirty="0">
                <a:latin typeface="+mn-lt"/>
              </a:rPr>
              <a:t>When a histogram does not tell you enough about the shape of a distribution, we can make a 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q-q plot </a:t>
            </a:r>
            <a:r>
              <a:rPr lang="en-US" sz="2000" dirty="0">
                <a:latin typeface="+mn-lt"/>
              </a:rPr>
              <a:t>("quantile-quantile" plot) to compare the sample with, say, a normal distribution. A near-linear q-q plot suggests that the data resemble the specified distribution. </a:t>
            </a:r>
          </a:p>
        </p:txBody>
      </p:sp>
      <p:sp>
        <p:nvSpPr>
          <p:cNvPr id="5124" name="TextBox 5"/>
          <p:cNvSpPr txBox="1">
            <a:spLocks noChangeArrowheads="1"/>
          </p:cNvSpPr>
          <p:nvPr/>
        </p:nvSpPr>
        <p:spPr bwMode="auto">
          <a:xfrm>
            <a:off x="3727090" y="4591314"/>
            <a:ext cx="369969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200" i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 </a:t>
            </a:r>
            <a:r>
              <a:rPr lang="en-US" sz="12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show the "current ratio" for 75 small manufacturing firms, a measure of liquidity defined as (current assets)/(current liabilities).  If this ratio is below 1, the firm does not have enough assets to meet its liabilities and is insolvent. A ratio of 1.5 to 2 is generally desirable, while a ratio of more than 2 could mean that the firm has too much tied up in non-earning assets.</a:t>
            </a:r>
          </a:p>
        </p:txBody>
      </p:sp>
      <p:sp>
        <p:nvSpPr>
          <p:cNvPr id="5126" name="Left Arrow 7"/>
          <p:cNvSpPr>
            <a:spLocks noChangeArrowheads="1"/>
          </p:cNvSpPr>
          <p:nvPr/>
        </p:nvSpPr>
        <p:spPr bwMode="auto">
          <a:xfrm>
            <a:off x="4961525" y="3104027"/>
            <a:ext cx="457200" cy="48336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924648-C4F4-4446-80B2-8291FA54F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711" y="2859122"/>
            <a:ext cx="828897" cy="12911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F6F71C-AA33-42A2-A7A2-22242A58F09D}"/>
              </a:ext>
            </a:extLst>
          </p:cNvPr>
          <p:cNvSpPr txBox="1"/>
          <p:nvPr/>
        </p:nvSpPr>
        <p:spPr>
          <a:xfrm>
            <a:off x="1378525" y="2567614"/>
            <a:ext cx="1914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Row-Column Format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11686-C0B7-4319-A88A-F5011B363C62}"/>
              </a:ext>
            </a:extLst>
          </p:cNvPr>
          <p:cNvSpPr txBox="1"/>
          <p:nvPr/>
        </p:nvSpPr>
        <p:spPr>
          <a:xfrm>
            <a:off x="3774884" y="2566415"/>
            <a:ext cx="14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latin typeface="Calibri" panose="020F0502020204030204" pitchFamily="34" charset="0"/>
                <a:cs typeface="Calibri" panose="020F0502020204030204" pitchFamily="34" charset="0"/>
              </a:rPr>
              <a:t>One Column</a:t>
            </a: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B9E5EC65-AAA8-45FA-BA8E-11F66EDAA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924392"/>
            <a:ext cx="20574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r>
              <a:rPr lang="en-US" sz="1400" i="1" dirty="0">
                <a:solidFill>
                  <a:srgbClr val="8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Note:</a:t>
            </a:r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For safe import, reformat Excel data into a single column with a simple heading.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D615FD-EC1D-4CD4-A504-59B09FCAAE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593" y="2833816"/>
            <a:ext cx="1994387" cy="2709673"/>
          </a:xfrm>
          <a:prstGeom prst="rect">
            <a:avLst/>
          </a:prstGeom>
        </p:spPr>
      </p:pic>
      <p:pic>
        <p:nvPicPr>
          <p:cNvPr id="12" name="Picture 3" descr="C:\Users\Blythe\AppData\Local\Microsoft\Windows\Temporary Internet Files\Content.IE5\T28SMCVP\MC900057129[1].wmf">
            <a:extLst>
              <a:ext uri="{FF2B5EF4-FFF2-40B4-BE49-F238E27FC236}">
                <a16:creationId xmlns:a16="http://schemas.microsoft.com/office/drawing/2014/main" id="{55E7E32C-65E8-4DE5-B42B-DECA9402D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090" y="4744615"/>
            <a:ext cx="609600" cy="915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66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Verify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2BE5-6518-434C-B827-3F1B89EB5F01}"/>
              </a:ext>
            </a:extLst>
          </p:cNvPr>
          <p:cNvSpPr txBox="1"/>
          <p:nvPr/>
        </p:nvSpPr>
        <p:spPr>
          <a:xfrm>
            <a:off x="990600" y="1435204"/>
            <a:ext cx="7772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Lucida Sans Unicode" panose="020B0602030504020204" pitchFamily="34" charset="0"/>
              </a:rPr>
              <a:t>We import the data to a data frame named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CurrData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. To view the data, type the name of the object (middle values omitted for brevity).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CurrData</a:t>
            </a: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  </a:t>
            </a:r>
            <a:r>
              <a:rPr lang="en-US" sz="14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Current.Ratio</a:t>
            </a:r>
            <a:endParaRPr lang="en-US" sz="1400" dirty="0"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1      2.04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2      1.33</a:t>
            </a:r>
          </a:p>
          <a:p>
            <a:pPr marL="457200" indent="-457200">
              <a:buAutoNum type="arabicPlain" startAt="3"/>
            </a:pPr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1.03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...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73     1.48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74     1.65</a:t>
            </a:r>
          </a:p>
          <a:p>
            <a:pPr marL="342900" indent="-342900">
              <a:buAutoNum type="arabicPlain" startAt="75"/>
            </a:pPr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 0.70</a:t>
            </a:r>
          </a:p>
          <a:p>
            <a:pPr marL="342900" indent="-342900">
              <a:buAutoNum type="arabicPlain" startAt="75"/>
            </a:pPr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2000" dirty="0">
                <a:latin typeface="+mn-lt"/>
                <a:cs typeface="Lucida Sans Unicode" panose="020B0602030504020204" pitchFamily="34" charset="0"/>
              </a:rPr>
              <a:t>After verifying that the imported data look OK, we are ready to request detailed statistics and/or graphs.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F8E3C-AF11-4BE8-AF03-3CC30BC3955F}"/>
              </a:ext>
            </a:extLst>
          </p:cNvPr>
          <p:cNvSpPr txBox="1"/>
          <p:nvPr/>
        </p:nvSpPr>
        <p:spPr>
          <a:xfrm>
            <a:off x="4007446" y="2409238"/>
            <a:ext cx="280551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</a:rPr>
              <a:t>Note: </a:t>
            </a:r>
            <a:r>
              <a:rPr lang="en-US" sz="1400" dirty="0"/>
              <a:t>We had a space in the Excel column title "Current Ratio." R converted the space to a period. </a:t>
            </a:r>
          </a:p>
        </p:txBody>
      </p:sp>
      <p:pic>
        <p:nvPicPr>
          <p:cNvPr id="7" name="Picture 6" descr="A close up of a clock&#10;&#10;Description automatically generated">
            <a:extLst>
              <a:ext uri="{FF2B5EF4-FFF2-40B4-BE49-F238E27FC236}">
                <a16:creationId xmlns:a16="http://schemas.microsoft.com/office/drawing/2014/main" id="{C5A4DD71-B4F1-4957-A101-D7E6F22A6A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8261" y="3307667"/>
            <a:ext cx="838951" cy="804863"/>
          </a:xfrm>
          <a:prstGeom prst="rect">
            <a:avLst/>
          </a:prstGeom>
        </p:spPr>
      </p:pic>
      <p:sp>
        <p:nvSpPr>
          <p:cNvPr id="10" name="Left Arrow 7">
            <a:extLst>
              <a:ext uri="{FF2B5EF4-FFF2-40B4-BE49-F238E27FC236}">
                <a16:creationId xmlns:a16="http://schemas.microsoft.com/office/drawing/2014/main" id="{2F204462-EB90-43C1-9B26-851EE5F3C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6600" y="2536887"/>
            <a:ext cx="457200" cy="483367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8125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Normal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292BE5-6518-434C-B827-3F1B89EB5F01}"/>
              </a:ext>
            </a:extLst>
          </p:cNvPr>
          <p:cNvSpPr txBox="1"/>
          <p:nvPr/>
        </p:nvSpPr>
        <p:spPr>
          <a:xfrm>
            <a:off x="1105275" y="1295400"/>
            <a:ext cx="77724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n-lt"/>
                <a:cs typeface="Lucida Sans Unicode" panose="020B0602030504020204" pitchFamily="34" charset="0"/>
              </a:rPr>
              <a:t>We request an overview of the data using the 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summary()</a:t>
            </a:r>
            <a:r>
              <a:rPr lang="en-US" sz="20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function. The mean and median are similar, suggesting symmetry. Next, we request a </a:t>
            </a:r>
            <a:r>
              <a:rPr lang="en-US" sz="2000" b="1" dirty="0" err="1">
                <a:solidFill>
                  <a:srgbClr val="C00000"/>
                </a:solidFill>
                <a:latin typeface="+mn-lt"/>
              </a:rPr>
              <a:t>qq</a:t>
            </a:r>
            <a:r>
              <a:rPr lang="en-US" sz="2000" b="1" dirty="0">
                <a:solidFill>
                  <a:srgbClr val="C00000"/>
                </a:solidFill>
                <a:latin typeface="+mn-lt"/>
              </a:rPr>
              <a:t>-plot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 to compare the data with a normal distribution. The </a:t>
            </a:r>
            <a:r>
              <a:rPr lang="en-US" sz="2000" dirty="0" err="1">
                <a:latin typeface="+mn-lt"/>
                <a:cs typeface="Lucida Sans Unicode" panose="020B0602030504020204" pitchFamily="34" charset="0"/>
              </a:rPr>
              <a:t>qq</a:t>
            </a:r>
            <a:r>
              <a:rPr lang="en-US" sz="2000" dirty="0">
                <a:latin typeface="+mn-lt"/>
                <a:cs typeface="Lucida Sans Unicode" panose="020B0602030504020204" pitchFamily="34" charset="0"/>
              </a:rPr>
              <a:t> plot is nearly linear, suggesting a good fit.</a:t>
            </a:r>
          </a:p>
          <a:p>
            <a:endParaRPr lang="en-US" sz="1400" dirty="0">
              <a:solidFill>
                <a:srgbClr val="0000FF"/>
              </a:solidFill>
              <a:latin typeface="Lucida Console" panose="020B0609040504020204" pitchFamily="49" charset="0"/>
              <a:cs typeface="Lucida Sans Unicode" panose="020B0602030504020204" pitchFamily="34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summary(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CurrData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</a:t>
            </a:r>
            <a:r>
              <a:rPr lang="en-US" sz="1400" dirty="0" err="1">
                <a:latin typeface="Lucida Console" panose="020B0609040504020204" pitchFamily="49" charset="0"/>
                <a:cs typeface="Lucida Sans Unicode" panose="020B0602030504020204" pitchFamily="34" charset="0"/>
              </a:rPr>
              <a:t>Current.Ratio</a:t>
            </a:r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Min.   :0.500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1st Qu.:1.120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Median :1.290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Mean   :1.275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3rd Qu.:1.485  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Max.   :2.040</a:t>
            </a:r>
          </a:p>
          <a:p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&gt; 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qqnorm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(</a:t>
            </a:r>
            <a:r>
              <a:rPr lang="en-US" sz="1400" dirty="0" err="1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CurrData$Current.Ratio</a:t>
            </a:r>
            <a:r>
              <a:rPr lang="en-US" sz="1400" dirty="0">
                <a:solidFill>
                  <a:srgbClr val="0000FF"/>
                </a:solidFill>
                <a:latin typeface="Lucida Console" panose="020B0609040504020204" pitchFamily="49" charset="0"/>
                <a:cs typeface="Lucida Sans Unicode" panose="020B0602030504020204" pitchFamily="34" charset="0"/>
              </a:rPr>
              <a:t>)</a:t>
            </a:r>
          </a:p>
          <a:p>
            <a:r>
              <a:rPr lang="en-US" sz="1400" dirty="0">
                <a:latin typeface="Lucida Console" panose="020B0609040504020204" pitchFamily="49" charset="0"/>
                <a:cs typeface="Lucida Sans Unicode" panose="020B0602030504020204" pitchFamily="34" charset="0"/>
              </a:rPr>
              <a:t>  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A1B030-BDDB-4D2F-BC6D-A4E42EF6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7809" y="2555754"/>
            <a:ext cx="3670299" cy="28083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AF1868-4CA7-40B2-A4D4-80501FA2F7CA}"/>
              </a:ext>
            </a:extLst>
          </p:cNvPr>
          <p:cNvSpPr txBox="1"/>
          <p:nvPr/>
        </p:nvSpPr>
        <p:spPr>
          <a:xfrm>
            <a:off x="3581400" y="5376847"/>
            <a:ext cx="2743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Testing for normality is important in many statistical tests. Excel does not offer a q-q plot.</a:t>
            </a:r>
          </a:p>
        </p:txBody>
      </p:sp>
      <p:pic>
        <p:nvPicPr>
          <p:cNvPr id="10" name="Picture 2" descr="C:\Users\doane\AppData\Local\Microsoft\Windows\Temporary Internet Files\Content.IE5\3CB5N1BZ\MM900303472[1].gif">
            <a:extLst>
              <a:ext uri="{FF2B5EF4-FFF2-40B4-BE49-F238E27FC236}">
                <a16:creationId xmlns:a16="http://schemas.microsoft.com/office/drawing/2014/main" id="{05F57DA8-0D56-4D9F-B087-8FDD35FA8E5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382" y="5364089"/>
            <a:ext cx="595164" cy="68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573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28600"/>
            <a:ext cx="9144000" cy="731520"/>
          </a:xfrm>
        </p:spPr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Advice</a:t>
            </a: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524000" y="1448955"/>
            <a:ext cx="6477000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50000"/>
              </a:spcBef>
              <a:buClr>
                <a:srgbClr val="C00000"/>
              </a:buClr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charts ...</a:t>
            </a:r>
          </a:p>
          <a:p>
            <a:pPr marL="457200" lvl="1" indent="0">
              <a:spcBef>
                <a:spcPct val="50000"/>
              </a:spcBef>
              <a:buClr>
                <a:srgbClr val="C00000"/>
              </a:buClr>
            </a:pPr>
            <a:r>
              <a:rPr lang="en-US" sz="2000" i="1" dirty="0">
                <a:solidFill>
                  <a:srgbClr val="0000FF"/>
                </a:solidFill>
                <a:latin typeface="+mn-lt"/>
                <a:cs typeface="Arial" charset="0"/>
              </a:rPr>
              <a:t>Pro: </a:t>
            </a:r>
            <a:r>
              <a:rPr lang="en-US" sz="2000" dirty="0">
                <a:latin typeface="+mn-lt"/>
                <a:cs typeface="Arial" charset="0"/>
              </a:rPr>
              <a:t>easy to create, customize, and apply templates</a:t>
            </a:r>
          </a:p>
          <a:p>
            <a:pPr marL="457200" lvl="1" indent="0">
              <a:spcBef>
                <a:spcPct val="50000"/>
              </a:spcBef>
              <a:buClr>
                <a:srgbClr val="C00000"/>
              </a:buClr>
            </a:pPr>
            <a:r>
              <a:rPr lang="en-US" sz="2000" i="1" dirty="0">
                <a:solidFill>
                  <a:srgbClr val="0000FF"/>
                </a:solidFill>
                <a:latin typeface="+mn-lt"/>
                <a:cs typeface="Arial" charset="0"/>
              </a:rPr>
              <a:t>Pro: </a:t>
            </a:r>
            <a:r>
              <a:rPr lang="en-US" sz="2000" dirty="0">
                <a:latin typeface="+mn-lt"/>
                <a:cs typeface="Arial" charset="0"/>
              </a:rPr>
              <a:t>familiar in business world and easy to share</a:t>
            </a:r>
          </a:p>
          <a:p>
            <a:pPr marL="457200" lvl="1" indent="0">
              <a:spcBef>
                <a:spcPct val="50000"/>
              </a:spcBef>
              <a:buClr>
                <a:srgbClr val="C00000"/>
              </a:buClr>
            </a:pPr>
            <a:r>
              <a:rPr lang="en-US" sz="2000" i="1" dirty="0">
                <a:solidFill>
                  <a:srgbClr val="C00000"/>
                </a:solidFill>
                <a:latin typeface="+mn-lt"/>
                <a:cs typeface="Arial" charset="0"/>
              </a:rPr>
              <a:t>Con: </a:t>
            </a:r>
            <a:r>
              <a:rPr lang="en-US" sz="2000" dirty="0">
                <a:latin typeface="+mn-lt"/>
                <a:cs typeface="Arial" charset="0"/>
              </a:rPr>
              <a:t>histograms have weird bins, non-aligned axis ticks</a:t>
            </a:r>
          </a:p>
          <a:p>
            <a:pPr>
              <a:spcBef>
                <a:spcPct val="50000"/>
              </a:spcBef>
              <a:buClr>
                <a:srgbClr val="C00000"/>
              </a:buClr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plots ...</a:t>
            </a:r>
          </a:p>
          <a:p>
            <a:pPr marL="457200" lvl="1" indent="0">
              <a:spcBef>
                <a:spcPct val="50000"/>
              </a:spcBef>
              <a:buClr>
                <a:srgbClr val="C00000"/>
              </a:buClr>
            </a:pPr>
            <a:r>
              <a:rPr lang="en-US" sz="2000" i="1" dirty="0">
                <a:solidFill>
                  <a:srgbClr val="0000FF"/>
                </a:solidFill>
                <a:latin typeface="+mn-lt"/>
                <a:cs typeface="Arial" charset="0"/>
              </a:rPr>
              <a:t>Pro: </a:t>
            </a:r>
            <a:r>
              <a:rPr lang="en-US" sz="2000" dirty="0">
                <a:latin typeface="+mn-lt"/>
                <a:cs typeface="Arial" charset="0"/>
              </a:rPr>
              <a:t>are quick and acceptable with only defaults</a:t>
            </a:r>
          </a:p>
          <a:p>
            <a:pPr marL="457200" lvl="1" indent="0">
              <a:spcBef>
                <a:spcPct val="50000"/>
              </a:spcBef>
              <a:buClr>
                <a:srgbClr val="C00000"/>
              </a:buClr>
            </a:pPr>
            <a:r>
              <a:rPr lang="en-US" sz="2000" i="1" dirty="0">
                <a:solidFill>
                  <a:srgbClr val="0000FF"/>
                </a:solidFill>
                <a:latin typeface="+mn-lt"/>
                <a:cs typeface="Arial" charset="0"/>
              </a:rPr>
              <a:t>Pro: </a:t>
            </a:r>
            <a:r>
              <a:rPr lang="en-US" sz="2000" dirty="0">
                <a:latin typeface="+mn-lt"/>
                <a:cs typeface="Arial" charset="0"/>
              </a:rPr>
              <a:t>have proper axis ticks and easy to export</a:t>
            </a:r>
          </a:p>
          <a:p>
            <a:pPr marL="457200" lvl="1" indent="0">
              <a:spcBef>
                <a:spcPct val="50000"/>
              </a:spcBef>
              <a:buClr>
                <a:srgbClr val="C00000"/>
              </a:buClr>
            </a:pPr>
            <a:r>
              <a:rPr lang="en-US" sz="2000" i="1" dirty="0">
                <a:solidFill>
                  <a:srgbClr val="C00000"/>
                </a:solidFill>
                <a:latin typeface="+mn-lt"/>
                <a:cs typeface="Arial" charset="0"/>
              </a:rPr>
              <a:t>Con: </a:t>
            </a:r>
            <a:r>
              <a:rPr lang="en-US" sz="2000" dirty="0">
                <a:latin typeface="+mn-lt"/>
                <a:cs typeface="Arial" charset="0"/>
              </a:rPr>
              <a:t>tricky to customize and require R experience</a:t>
            </a:r>
          </a:p>
          <a:p>
            <a:pPr>
              <a:spcBef>
                <a:spcPct val="50000"/>
              </a:spcBef>
              <a:buClr>
                <a:srgbClr val="C00000"/>
              </a:buClr>
            </a:pP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Alternatives ... Minitab? JMP? </a:t>
            </a:r>
          </a:p>
        </p:txBody>
      </p:sp>
      <p:pic>
        <p:nvPicPr>
          <p:cNvPr id="18436" name="Picture 4" descr="Woodcut Baseball 39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723900"/>
            <a:ext cx="940697" cy="802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CC"/>
      </a:lt1>
      <a:dk2>
        <a:srgbClr val="808000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6586</TotalTime>
  <Words>1307</Words>
  <Application>Microsoft Office PowerPoint</Application>
  <PresentationFormat>On-screen Show (4:3)</PresentationFormat>
  <Paragraphs>130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Lucida Console</vt:lpstr>
      <vt:lpstr>Lucida Sans Unicode</vt:lpstr>
      <vt:lpstr>Times New Roman</vt:lpstr>
      <vt:lpstr>Default Design</vt:lpstr>
      <vt:lpstr>Making R Graphs</vt:lpstr>
      <vt:lpstr>Excel Data</vt:lpstr>
      <vt:lpstr>Import Data</vt:lpstr>
      <vt:lpstr>View the Data</vt:lpstr>
      <vt:lpstr>Import Data</vt:lpstr>
      <vt:lpstr>Histogram</vt:lpstr>
      <vt:lpstr>Histogram</vt:lpstr>
      <vt:lpstr>Scatter Plots</vt:lpstr>
      <vt:lpstr>Scatter Plots</vt:lpstr>
      <vt:lpstr>Export a Plot</vt:lpstr>
      <vt:lpstr>Normal Plot</vt:lpstr>
      <vt:lpstr>Verify Data</vt:lpstr>
      <vt:lpstr>Normal Plot</vt:lpstr>
      <vt:lpstr>Advice</vt:lpstr>
    </vt:vector>
  </TitlesOfParts>
  <Company>McGraw Hill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Making R Graphs</dc:title>
  <dc:subject>Chapter 3 - Data Presentation</dc:subject>
  <dc:creator>David P. Doane</dc:creator>
  <dc:description>Copyright (c) 2025 by McGraw Hill LLC.  This material is intended solely for educational use licensed users of Connect. It may not be copied or resold.</dc:description>
  <cp:lastModifiedBy>Elango Selvaraj</cp:lastModifiedBy>
  <cp:revision>173</cp:revision>
  <dcterms:created xsi:type="dcterms:W3CDTF">2000-08-22T13:07:54Z</dcterms:created>
  <dcterms:modified xsi:type="dcterms:W3CDTF">2023-11-29T09:57:30Z</dcterms:modified>
</cp:coreProperties>
</file>