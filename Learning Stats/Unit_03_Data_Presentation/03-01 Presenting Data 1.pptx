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</p:sldMasterIdLst>
  <p:notesMasterIdLst>
    <p:notesMasterId r:id="rId33"/>
  </p:notesMasterIdLst>
  <p:sldIdLst>
    <p:sldId id="326" r:id="rId2"/>
    <p:sldId id="309" r:id="rId3"/>
    <p:sldId id="352" r:id="rId4"/>
    <p:sldId id="348" r:id="rId5"/>
    <p:sldId id="311" r:id="rId6"/>
    <p:sldId id="354" r:id="rId7"/>
    <p:sldId id="337" r:id="rId8"/>
    <p:sldId id="343" r:id="rId9"/>
    <p:sldId id="338" r:id="rId10"/>
    <p:sldId id="345" r:id="rId11"/>
    <p:sldId id="263" r:id="rId12"/>
    <p:sldId id="347" r:id="rId13"/>
    <p:sldId id="341" r:id="rId14"/>
    <p:sldId id="369" r:id="rId15"/>
    <p:sldId id="365" r:id="rId16"/>
    <p:sldId id="368" r:id="rId17"/>
    <p:sldId id="323" r:id="rId18"/>
    <p:sldId id="366" r:id="rId19"/>
    <p:sldId id="361" r:id="rId20"/>
    <p:sldId id="357" r:id="rId21"/>
    <p:sldId id="358" r:id="rId22"/>
    <p:sldId id="340" r:id="rId23"/>
    <p:sldId id="367" r:id="rId24"/>
    <p:sldId id="307" r:id="rId25"/>
    <p:sldId id="364" r:id="rId26"/>
    <p:sldId id="281" r:id="rId27"/>
    <p:sldId id="346" r:id="rId28"/>
    <p:sldId id="282" r:id="rId29"/>
    <p:sldId id="304" r:id="rId30"/>
    <p:sldId id="362" r:id="rId31"/>
    <p:sldId id="353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CC3300"/>
    <a:srgbClr val="0033CC"/>
    <a:srgbClr val="9BA9AE"/>
    <a:srgbClr val="6699FF"/>
    <a:srgbClr val="FFFF00"/>
    <a:srgbClr val="FFFFCC"/>
    <a:srgbClr val="990000"/>
    <a:srgbClr val="FF33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8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790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0284D-1E2B-4B3D-B3DB-D535474FE0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600699-DE69-4C01-AC48-B1DAD24DEB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AE067B-9648-4BDE-8FB5-42E89FE460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09112-067F-49F6-9964-2D387E7619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A38647-6E3C-4452-A592-572799E5F5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CF2FDD-8038-4953-835F-20DAA8F250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99C270-7618-440F-8EF2-56E98BDF65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37C94A6-577B-43B1-B5DB-46A4B47922E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2D6F9F-6602-41EC-B1AD-34C2EC1985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ABD34E-BCB8-4966-83ED-75DEAE02760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A0CB3E-871D-4777-9C1C-206912168C8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8036D7A-B760-4823-86EE-553884C869B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050"/>
          <p:cNvSpPr txBox="1">
            <a:spLocks noChangeArrowheads="1"/>
          </p:cNvSpPr>
          <p:nvPr/>
        </p:nvSpPr>
        <p:spPr bwMode="auto">
          <a:xfrm>
            <a:off x="1143000" y="1447800"/>
            <a:ext cx="7086600" cy="313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Visual</a:t>
            </a:r>
          </a:p>
          <a:p>
            <a:pPr algn="ctr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Data</a:t>
            </a:r>
          </a:p>
          <a:p>
            <a:pPr algn="ctr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Presentation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3200" b="1" dirty="0">
                <a:solidFill>
                  <a:srgbClr val="6699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Part I</a:t>
            </a:r>
            <a:endParaRPr lang="en-US" sz="3200" dirty="0">
              <a:solidFill>
                <a:srgbClr val="6699FF"/>
              </a:solidFill>
              <a:latin typeface="Times New Roman" pitchFamily="18" charset="0"/>
            </a:endParaRPr>
          </a:p>
        </p:txBody>
      </p:sp>
      <p:sp>
        <p:nvSpPr>
          <p:cNvPr id="4099" name="Text Box 2053"/>
          <p:cNvSpPr txBox="1">
            <a:spLocks noChangeArrowheads="1"/>
          </p:cNvSpPr>
          <p:nvPr/>
        </p:nvSpPr>
        <p:spPr bwMode="auto">
          <a:xfrm>
            <a:off x="1676400" y="5529590"/>
            <a:ext cx="6429375" cy="523220"/>
          </a:xfrm>
          <a:prstGeom prst="rect">
            <a:avLst/>
          </a:prstGeom>
          <a:solidFill>
            <a:srgbClr val="FFFF99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333333"/>
                </a:solidFill>
                <a:latin typeface="Times New Roman" pitchFamily="18" charset="0"/>
              </a:rPr>
              <a:t>© McGraw Hill LLC. All rights reserved. </a:t>
            </a:r>
            <a:r>
              <a:rPr lang="en-US" sz="1400">
                <a:solidFill>
                  <a:srgbClr val="333333"/>
                </a:solidFill>
                <a:latin typeface="Times New Roman" pitchFamily="18" charset="0"/>
              </a:rPr>
              <a:t>No reproduction or distribution without the prior written consent of McGraw Hill LLC.</a:t>
            </a:r>
            <a:endParaRPr lang="en-US" sz="1400" dirty="0">
              <a:solidFill>
                <a:srgbClr val="333333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2667000" y="1417416"/>
            <a:ext cx="4038600" cy="785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Wingdings" panose="05000000000000000000" pitchFamily="2" charset="2"/>
              <a:buChar char="§"/>
            </a:pPr>
            <a:r>
              <a:rPr lang="en-US" dirty="0"/>
              <a:t>Tables are clear and precise.</a:t>
            </a:r>
          </a:p>
          <a:p>
            <a:pPr marL="342900" indent="-342900">
              <a:spcBef>
                <a:spcPts val="600"/>
              </a:spcBef>
              <a:buClr>
                <a:srgbClr val="990000"/>
              </a:buClr>
              <a:buFont typeface="Wingdings" panose="05000000000000000000" pitchFamily="2" charset="2"/>
              <a:buChar char="§"/>
            </a:pPr>
            <a:r>
              <a:rPr lang="en-US" dirty="0"/>
              <a:t>But graphs have more impact.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Tables vs. Graphs</a:t>
            </a:r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1981200" y="2516831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i="1" dirty="0">
                <a:solidFill>
                  <a:srgbClr val="CC3300"/>
                </a:solidFill>
              </a:rPr>
              <a:t>Table</a:t>
            </a:r>
          </a:p>
        </p:txBody>
      </p:sp>
      <p:sp>
        <p:nvSpPr>
          <p:cNvPr id="5128" name="Text Box 9"/>
          <p:cNvSpPr txBox="1">
            <a:spLocks noChangeArrowheads="1"/>
          </p:cNvSpPr>
          <p:nvPr/>
        </p:nvSpPr>
        <p:spPr bwMode="auto">
          <a:xfrm>
            <a:off x="5113338" y="2516832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CC3300"/>
                </a:solidFill>
              </a:rPr>
              <a:t>Graph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043" y="3007071"/>
            <a:ext cx="1839914" cy="2060729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DBDB75-9243-461F-BB49-CF5E98F6B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315" y="3061792"/>
            <a:ext cx="4239969" cy="2304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638300" y="1752600"/>
            <a:ext cx="5867400" cy="329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dirty="0"/>
              <a:t>Learn the types of graphs and when they are appropriate.</a:t>
            </a:r>
          </a:p>
          <a:p>
            <a:pPr marL="342900" indent="-342900"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dirty="0"/>
              <a:t>Learn and apply the rules of good graphing. It takes practice – like golf. </a:t>
            </a:r>
          </a:p>
          <a:p>
            <a:pPr marL="342900" indent="-342900"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dirty="0"/>
              <a:t>Avoid visual tricks and deceptions that may confuse others.</a:t>
            </a:r>
          </a:p>
          <a:p>
            <a:pPr marL="342900" indent="-342900"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dirty="0"/>
              <a:t>Think critically.  Does your graph show the data effectively? </a:t>
            </a:r>
            <a:r>
              <a:rPr lang="en-US" i="1" dirty="0">
                <a:solidFill>
                  <a:srgbClr val="C00000"/>
                </a:solidFill>
              </a:rPr>
              <a:t>Ask your co-workers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>
              <a:spcBef>
                <a:spcPct val="50000"/>
              </a:spcBef>
            </a:pPr>
            <a:endParaRPr lang="en-US" sz="1200" dirty="0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Principles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ChangeArrowheads="1"/>
          </p:cNvSpPr>
          <p:nvPr/>
        </p:nvSpPr>
        <p:spPr bwMode="auto">
          <a:xfrm>
            <a:off x="1524000" y="1752600"/>
            <a:ext cx="6096000" cy="255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dirty="0"/>
              <a:t>Keep It simple.  Why make the reader hard to see the main point?</a:t>
            </a:r>
          </a:p>
          <a:p>
            <a:pPr marL="342900" indent="-342900"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dirty="0"/>
              <a:t>Focus on your main objective. Omit unnecessary details or “bonus” data that can be plotted on the same axes.</a:t>
            </a:r>
          </a:p>
          <a:p>
            <a:pPr marL="342900" indent="-342900">
              <a:spcBef>
                <a:spcPct val="5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C00000"/>
                </a:solidFill>
              </a:rPr>
              <a:t>10 Second Rule</a:t>
            </a:r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/>
              <a:t>A display fails unless it conveys its main message within ten seconds.</a:t>
            </a:r>
          </a:p>
        </p:txBody>
      </p:sp>
      <p:sp>
        <p:nvSpPr>
          <p:cNvPr id="7171" name="Text Box 1027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Complexity</a:t>
            </a:r>
          </a:p>
        </p:txBody>
      </p:sp>
      <p:pic>
        <p:nvPicPr>
          <p:cNvPr id="4" name="Picture 3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CFC73673-705F-4CC9-A07A-074AC06B22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4620972"/>
            <a:ext cx="1066800" cy="11389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or Graph?</a:t>
            </a:r>
          </a:p>
        </p:txBody>
      </p:sp>
      <p:sp>
        <p:nvSpPr>
          <p:cNvPr id="8196" name="Text Box 66"/>
          <p:cNvSpPr txBox="1">
            <a:spLocks noChangeArrowheads="1"/>
          </p:cNvSpPr>
          <p:nvPr/>
        </p:nvSpPr>
        <p:spPr bwMode="auto">
          <a:xfrm>
            <a:off x="3048000" y="1377360"/>
            <a:ext cx="2743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A graph is </a:t>
            </a:r>
            <a:r>
              <a:rPr lang="en-US" i="1" dirty="0">
                <a:solidFill>
                  <a:srgbClr val="C00000"/>
                </a:solidFill>
              </a:rPr>
              <a:t>not</a:t>
            </a:r>
            <a:r>
              <a:rPr lang="en-US" dirty="0"/>
              <a:t> always clearer than a table.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AC559-4819-4EDC-9CCA-ABCB2F699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491261"/>
            <a:ext cx="2943225" cy="2281493"/>
          </a:xfrm>
          <a:prstGeom prst="rect">
            <a:avLst/>
          </a:prstGeom>
        </p:spPr>
      </p:pic>
      <p:sp>
        <p:nvSpPr>
          <p:cNvPr id="9" name="Text Box 66">
            <a:extLst>
              <a:ext uri="{FF2B5EF4-FFF2-40B4-BE49-F238E27FC236}">
                <a16:creationId xmlns:a16="http://schemas.microsoft.com/office/drawing/2014/main" id="{9BBC675F-01BD-4522-A887-BB7D89AF3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5616586"/>
            <a:ext cx="2667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dirty="0"/>
              <a:t>Hard to interpret?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04480D73-79B0-48BD-87E3-329E4477EB31}"/>
              </a:ext>
            </a:extLst>
          </p:cNvPr>
          <p:cNvSpPr/>
          <p:nvPr/>
        </p:nvSpPr>
        <p:spPr>
          <a:xfrm>
            <a:off x="2200275" y="5312835"/>
            <a:ext cx="381000" cy="3048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C3300"/>
              </a:highlight>
            </a:endParaRP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CB0E2218-0B5F-4F3F-82FA-08DDA6346D83}"/>
              </a:ext>
            </a:extLst>
          </p:cNvPr>
          <p:cNvSpPr/>
          <p:nvPr/>
        </p:nvSpPr>
        <p:spPr>
          <a:xfrm>
            <a:off x="6153152" y="5312835"/>
            <a:ext cx="381000" cy="3048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C3300"/>
              </a:highlight>
            </a:endParaRPr>
          </a:p>
        </p:txBody>
      </p:sp>
      <p:sp>
        <p:nvSpPr>
          <p:cNvPr id="10" name="Text Box 66">
            <a:extLst>
              <a:ext uri="{FF2B5EF4-FFF2-40B4-BE49-F238E27FC236}">
                <a16:creationId xmlns:a16="http://schemas.microsoft.com/office/drawing/2014/main" id="{63441EC9-3D31-4B3E-A552-211DFC6B6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616586"/>
            <a:ext cx="2752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dirty="0"/>
              <a:t>But is the chart any better?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4CDA93-9373-4515-AC5D-0E820D3A7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687169"/>
            <a:ext cx="4443413" cy="2666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Maps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743200" y="1066800"/>
            <a:ext cx="411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Maps are powerful data displays.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5ABBE-24E8-4254-8934-E8A44E99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723672"/>
            <a:ext cx="6662738" cy="391512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 Chart</a:t>
            </a:r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2438400" y="1174631"/>
            <a:ext cx="525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The most familiar type of chart in business.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9359DF-E553-468D-8F0D-FE31CD59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981200"/>
            <a:ext cx="5461198" cy="32767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 Chart</a:t>
            </a:r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2590800" y="1176407"/>
            <a:ext cx="42900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Long axis labels may look better on a bar chart than on a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C2C28B-0453-4532-8699-52A25ADF6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09800"/>
            <a:ext cx="6310319" cy="3249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2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Stacked Column Chart</a:t>
            </a:r>
          </a:p>
        </p:txBody>
      </p:sp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2286000" y="1020762"/>
            <a:ext cx="502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dirty="0"/>
              <a:t>Labeling data values adds the clarity of a table to the visual impact of a chart.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18BB9-BEF5-4034-BBB5-224EB8907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57400"/>
            <a:ext cx="5714999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3D Column Chart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1800225" y="1100771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Visually interesting, but bar height is ambiguous.  Which “bar edge” (front or back) should you read?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534CD-8D99-48C6-977C-0DFECDE5D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080"/>
            <a:ext cx="5486400" cy="3291840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26FC2BC8-7406-4293-AFD1-3C67DBCDE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634354"/>
            <a:ext cx="3124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dirty="0"/>
              <a:t>Data labels are helpful</a:t>
            </a:r>
            <a:r>
              <a:rPr lang="en-US" sz="1600" i="1" dirty="0"/>
              <a:t>.</a:t>
            </a:r>
            <a:endParaRPr lang="en-US" sz="1600" dirty="0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7D6E303C-E160-4217-A870-546F8F229BDE}"/>
              </a:ext>
            </a:extLst>
          </p:cNvPr>
          <p:cNvSpPr/>
          <p:nvPr/>
        </p:nvSpPr>
        <p:spPr>
          <a:xfrm>
            <a:off x="4572000" y="5329554"/>
            <a:ext cx="381000" cy="3048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C33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 Graph</a:t>
            </a: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2133600" y="1143000"/>
            <a:ext cx="525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If more than 2 or 3 variables are plotted at once, a line chart may become cluttered.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CEBEA-8D10-4711-9C8C-B43593A43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196" y="2286000"/>
            <a:ext cx="5080396" cy="30482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1981200" y="1371600"/>
            <a:ext cx="5562600" cy="147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Thick plot lines make it easier to see trends, but harder to see data values. 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A plain line graph without markers is best for multiple time series variables.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 Markers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708BD6-2B00-44F5-BC48-D6BC5368F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71800"/>
            <a:ext cx="4797968" cy="320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Dual Scale</a:t>
            </a:r>
          </a:p>
        </p:txBody>
      </p:sp>
      <p:sp>
        <p:nvSpPr>
          <p:cNvPr id="15365" name="Text Box 8"/>
          <p:cNvSpPr txBox="1">
            <a:spLocks noChangeArrowheads="1"/>
          </p:cNvSpPr>
          <p:nvPr/>
        </p:nvSpPr>
        <p:spPr bwMode="auto">
          <a:xfrm>
            <a:off x="2286000" y="1112837"/>
            <a:ext cx="4876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A dual-scale chart is useful to plot two time series with dissimilar magnitudes.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5BF6A-D067-4AF9-94F2-000A184AE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587" y="2139949"/>
            <a:ext cx="5931625" cy="3605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Scale</a:t>
            </a:r>
          </a:p>
        </p:txBody>
      </p:sp>
      <p:sp>
        <p:nvSpPr>
          <p:cNvPr id="33797" name="Text Box 8"/>
          <p:cNvSpPr txBox="1">
            <a:spLocks noChangeArrowheads="1"/>
          </p:cNvSpPr>
          <p:nvPr/>
        </p:nvSpPr>
        <p:spPr bwMode="auto">
          <a:xfrm>
            <a:off x="1348083" y="3929530"/>
            <a:ext cx="190500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On a log scale a series growing at a constant </a:t>
            </a:r>
            <a:r>
              <a:rPr lang="en-US" sz="1600" i="1" dirty="0">
                <a:solidFill>
                  <a:srgbClr val="C00000"/>
                </a:solidFill>
              </a:rPr>
              <a:t>percent</a:t>
            </a:r>
            <a:r>
              <a:rPr lang="en-US" sz="1600" dirty="0"/>
              <a:t> rate appears as a straight line.</a:t>
            </a: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2007038" y="5674355"/>
            <a:ext cx="2031562" cy="739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</a:t>
            </a:r>
            <a:r>
              <a:rPr lang="en-US" sz="1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Many people do not understand log scales.  Be prepared to interpret.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983" y="5601371"/>
            <a:ext cx="685800" cy="657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60517E-7C7E-42DF-8EEB-8B0B0EDE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038" y="3669540"/>
            <a:ext cx="4375108" cy="2625065"/>
          </a:xfrm>
          <a:prstGeom prst="rect">
            <a:avLst/>
          </a:prstGeom>
        </p:spPr>
      </p:pic>
      <p:sp>
        <p:nvSpPr>
          <p:cNvPr id="12" name="Text Box 8">
            <a:extLst>
              <a:ext uri="{FF2B5EF4-FFF2-40B4-BE49-F238E27FC236}">
                <a16:creationId xmlns:a16="http://schemas.microsoft.com/office/drawing/2014/main" id="{C6632489-732A-49C5-B300-A87F4D8A9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480" y="1627075"/>
            <a:ext cx="192444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Over 30 years, Fiona's portfolio grew non-linearly (7.2% annual average).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A1403-20A5-4778-8814-CAAEB8913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107184"/>
            <a:ext cx="4457704" cy="2674623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5E8284F-8904-4989-AAAB-8E517D60B3B8}"/>
              </a:ext>
            </a:extLst>
          </p:cNvPr>
          <p:cNvSpPr/>
          <p:nvPr/>
        </p:nvSpPr>
        <p:spPr>
          <a:xfrm>
            <a:off x="3295652" y="4474924"/>
            <a:ext cx="381000" cy="40210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F491F24C-0E5A-419B-8172-C07D1D820615}"/>
              </a:ext>
            </a:extLst>
          </p:cNvPr>
          <p:cNvSpPr/>
          <p:nvPr/>
        </p:nvSpPr>
        <p:spPr>
          <a:xfrm>
            <a:off x="5642392" y="2159762"/>
            <a:ext cx="457200" cy="45720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4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Scale</a:t>
            </a:r>
          </a:p>
        </p:txBody>
      </p:sp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1219200" y="4391561"/>
            <a:ext cx="207883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A log scale can help compare </a:t>
            </a:r>
            <a:r>
              <a:rPr lang="en-US" sz="1600" i="1" dirty="0">
                <a:solidFill>
                  <a:srgbClr val="C00000"/>
                </a:solidFill>
              </a:rPr>
              <a:t>growth rates</a:t>
            </a:r>
            <a:r>
              <a:rPr lang="en-US" sz="1600" dirty="0"/>
              <a:t> in two time series of dissimilar magnitude.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D8F0C-32B3-41EE-9743-B384152D8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857" y="3857982"/>
            <a:ext cx="4190999" cy="251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002094-E4DB-435E-B505-3E8C30F78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03" y="1143000"/>
            <a:ext cx="4572396" cy="2743438"/>
          </a:xfrm>
          <a:prstGeom prst="rect">
            <a:avLst/>
          </a:prstGeom>
        </p:spPr>
      </p:pic>
      <p:sp>
        <p:nvSpPr>
          <p:cNvPr id="9" name="Text Box 1031">
            <a:extLst>
              <a:ext uri="{FF2B5EF4-FFF2-40B4-BE49-F238E27FC236}">
                <a16:creationId xmlns:a16="http://schemas.microsoft.com/office/drawing/2014/main" id="{279D6653-4071-4755-B6D2-320F02BD3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299" y="1542564"/>
            <a:ext cx="201113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Did net income grow more slowly than revenue? Differing data magnitudes make it impossible to tell.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82AEEDE-656C-44EE-982E-26484F79CC4E}"/>
              </a:ext>
            </a:extLst>
          </p:cNvPr>
          <p:cNvSpPr/>
          <p:nvPr/>
        </p:nvSpPr>
        <p:spPr>
          <a:xfrm>
            <a:off x="3515915" y="4741634"/>
            <a:ext cx="381000" cy="40210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A702F025-DA89-4B18-A9EC-DDC4E758A5BF}"/>
              </a:ext>
            </a:extLst>
          </p:cNvPr>
          <p:cNvSpPr/>
          <p:nvPr/>
        </p:nvSpPr>
        <p:spPr>
          <a:xfrm>
            <a:off x="5486499" y="2098794"/>
            <a:ext cx="457200" cy="45720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0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7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Scale</a:t>
            </a:r>
          </a:p>
        </p:txBody>
      </p:sp>
      <p:sp>
        <p:nvSpPr>
          <p:cNvPr id="32771" name="Text Box 1031"/>
          <p:cNvSpPr txBox="1">
            <a:spLocks noChangeArrowheads="1"/>
          </p:cNvSpPr>
          <p:nvPr/>
        </p:nvSpPr>
        <p:spPr bwMode="auto">
          <a:xfrm>
            <a:off x="6248400" y="1395680"/>
            <a:ext cx="1752600" cy="134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Differing data magnitudes make it hard to tell which grew faster.</a:t>
            </a:r>
          </a:p>
        </p:txBody>
      </p:sp>
      <p:sp>
        <p:nvSpPr>
          <p:cNvPr id="32772" name="Text Box 1035"/>
          <p:cNvSpPr txBox="1">
            <a:spLocks noChangeArrowheads="1"/>
          </p:cNvSpPr>
          <p:nvPr/>
        </p:nvSpPr>
        <p:spPr bwMode="auto">
          <a:xfrm>
            <a:off x="1219200" y="4235688"/>
            <a:ext cx="194810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On a log scale we can see that revenue and net income grew at similar rates.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AB1B51-3F9A-4D8B-8983-A412D1A5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3852490"/>
            <a:ext cx="4190999" cy="2514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B3FF7-DB42-44DD-B405-79F1B9046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05" y="1143000"/>
            <a:ext cx="4572396" cy="2743438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9C1568D-06AD-4E00-9D9A-723CF6A9DF5B}"/>
              </a:ext>
            </a:extLst>
          </p:cNvPr>
          <p:cNvSpPr/>
          <p:nvPr/>
        </p:nvSpPr>
        <p:spPr>
          <a:xfrm>
            <a:off x="3296132" y="4908738"/>
            <a:ext cx="381000" cy="40210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B83B15A8-3E51-4BF7-8A70-B73D79372B9D}"/>
              </a:ext>
            </a:extLst>
          </p:cNvPr>
          <p:cNvSpPr/>
          <p:nvPr/>
        </p:nvSpPr>
        <p:spPr>
          <a:xfrm>
            <a:off x="5486400" y="2057400"/>
            <a:ext cx="457200" cy="45720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2D Pie Chart</a:t>
            </a:r>
          </a:p>
        </p:txBody>
      </p:sp>
      <p:sp>
        <p:nvSpPr>
          <p:cNvPr id="17411" name="Text Box 9"/>
          <p:cNvSpPr txBox="1">
            <a:spLocks noChangeArrowheads="1"/>
          </p:cNvSpPr>
          <p:nvPr/>
        </p:nvSpPr>
        <p:spPr bwMode="auto">
          <a:xfrm>
            <a:off x="2362200" y="1277937"/>
            <a:ext cx="541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The best pie charts have only 2 or 3 slices.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91992-7CE1-421F-8F4A-E6C7A2D07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09800"/>
            <a:ext cx="4906749" cy="3171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2D Pie Chart</a:t>
            </a:r>
          </a:p>
        </p:txBody>
      </p:sp>
      <p:sp>
        <p:nvSpPr>
          <p:cNvPr id="17411" name="Text Box 9"/>
          <p:cNvSpPr txBox="1">
            <a:spLocks noChangeArrowheads="1"/>
          </p:cNvSpPr>
          <p:nvPr/>
        </p:nvSpPr>
        <p:spPr bwMode="auto">
          <a:xfrm>
            <a:off x="1676400" y="1219200"/>
            <a:ext cx="6096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A pie chart is appropriate only when its components are </a:t>
            </a:r>
            <a:r>
              <a:rPr lang="en-US" i="1" dirty="0">
                <a:solidFill>
                  <a:srgbClr val="C00000"/>
                </a:solidFill>
              </a:rPr>
              <a:t>parts of a whole</a:t>
            </a:r>
            <a:r>
              <a:rPr lang="en-US" dirty="0"/>
              <a:t>. They must sum to 100%.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F381B-57ED-4740-A186-09EF886D6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09800"/>
            <a:ext cx="4905375" cy="372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3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 Many Slices?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81200" y="1158874"/>
            <a:ext cx="518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The more slices in the pie, the harder it is to see data values.  Value labels are a “must.”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A20B0-EA75-4E9B-8C3E-4A31CA32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133600"/>
            <a:ext cx="5966996" cy="3390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Exploded 2D Pie</a:t>
            </a:r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1981200" y="1295400"/>
            <a:ext cx="5638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Too many "slices"? But data labels are helpful.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2424F6-C8FA-4DD6-855E-C6A881361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076390"/>
            <a:ext cx="4003837" cy="3873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Rotated 3D Pie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2133600" y="1219200"/>
            <a:ext cx="525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Visually appealing, but acceptable only if a few well-labeled data values are presented.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298A9-0714-4C39-BCCC-961BFBC9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438400"/>
            <a:ext cx="6038850" cy="2809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 Busy?</a:t>
            </a:r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2438400" y="1057615"/>
            <a:ext cx="464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A pie chart is ineffective if it has too many slices and lacks data labels.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364022-F393-45AA-83CA-70F9BDCAB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209800"/>
            <a:ext cx="6172200" cy="32397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 Much Information?</a:t>
            </a:r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2781300" y="1109732"/>
            <a:ext cx="3733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A chart is ineffective if it tries to show too much information.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2F38E-EDDF-4973-8269-186C6F2B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57400"/>
            <a:ext cx="6096000" cy="34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0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Proportions</a:t>
            </a: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937399" y="1223831"/>
            <a:ext cx="5486400" cy="1197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4:3 rule (</a:t>
            </a:r>
            <a:r>
              <a:rPr lang="en-US" dirty="0" err="1"/>
              <a:t>width:height</a:t>
            </a:r>
            <a:r>
              <a:rPr lang="en-US" dirty="0"/>
              <a:t>, pre-HDTV).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16:9 (</a:t>
            </a:r>
            <a:r>
              <a:rPr lang="en-US" dirty="0" err="1"/>
              <a:t>width:height</a:t>
            </a:r>
            <a:r>
              <a:rPr lang="en-US" dirty="0"/>
              <a:t>, HDTV).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~ 8:5 (</a:t>
            </a:r>
            <a:r>
              <a:rPr lang="en-US" dirty="0" err="1"/>
              <a:t>width:height</a:t>
            </a:r>
            <a:r>
              <a:rPr lang="en-US" dirty="0"/>
              <a:t>, Excel chart default).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543F9-5840-438F-9BB2-D11E9AE4A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970729"/>
            <a:ext cx="4191000" cy="2663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18857B-E83B-4357-8D9D-52C6239D06B8}"/>
              </a:ext>
            </a:extLst>
          </p:cNvPr>
          <p:cNvSpPr txBox="1"/>
          <p:nvPr/>
        </p:nvSpPr>
        <p:spPr>
          <a:xfrm>
            <a:off x="2743200" y="5863840"/>
            <a:ext cx="335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http://wildlife-mitigation.tc.faa.gov.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76E6E86-8A55-4FC9-9F06-5DB6CF1C4EF7}"/>
              </a:ext>
            </a:extLst>
          </p:cNvPr>
          <p:cNvSpPr/>
          <p:nvPr/>
        </p:nvSpPr>
        <p:spPr>
          <a:xfrm>
            <a:off x="4229101" y="2494266"/>
            <a:ext cx="342899" cy="31666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Proportions</a:t>
            </a:r>
          </a:p>
        </p:txBody>
      </p:sp>
      <p:sp>
        <p:nvSpPr>
          <p:cNvPr id="27654" name="Text Box 11"/>
          <p:cNvSpPr txBox="1">
            <a:spLocks noChangeArrowheads="1"/>
          </p:cNvSpPr>
          <p:nvPr/>
        </p:nvSpPr>
        <p:spPr bwMode="auto">
          <a:xfrm>
            <a:off x="5050463" y="1652636"/>
            <a:ext cx="25482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Squeezed X scale (emphasizes growth)</a:t>
            </a:r>
          </a:p>
        </p:txBody>
      </p:sp>
      <p:sp>
        <p:nvSpPr>
          <p:cNvPr id="27655" name="Text Box 12"/>
          <p:cNvSpPr txBox="1">
            <a:spLocks noChangeArrowheads="1"/>
          </p:cNvSpPr>
          <p:nvPr/>
        </p:nvSpPr>
        <p:spPr bwMode="auto">
          <a:xfrm>
            <a:off x="4719965" y="3296772"/>
            <a:ext cx="24055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Stretched X scale (downplays growth)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0C984-F2B1-4197-A6AD-A17F42699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4583996"/>
            <a:ext cx="4311307" cy="1492376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9BF734AB-C23E-4956-B34C-2E750B1E403B}"/>
              </a:ext>
            </a:extLst>
          </p:cNvPr>
          <p:cNvSpPr/>
          <p:nvPr/>
        </p:nvSpPr>
        <p:spPr>
          <a:xfrm>
            <a:off x="5410200" y="4074440"/>
            <a:ext cx="342899" cy="31666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96D67-1DCB-449C-9E6C-9A0C31E97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091" y="1295400"/>
            <a:ext cx="2246855" cy="2991006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7B4D2222-1051-40A0-B5E7-E42648AD026D}"/>
              </a:ext>
            </a:extLst>
          </p:cNvPr>
          <p:cNvSpPr/>
          <p:nvPr/>
        </p:nvSpPr>
        <p:spPr>
          <a:xfrm>
            <a:off x="4548515" y="1787627"/>
            <a:ext cx="304800" cy="30480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746034" y="1172765"/>
            <a:ext cx="5791200" cy="210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Axis "tick” marks help the reader identify individual data values.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Excel allows solid, dotted, and colored grid to suit your purpose.</a:t>
            </a:r>
          </a:p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Gridlines may be omitted if graph is simple and precision is of less importance.</a:t>
            </a:r>
            <a:endParaRPr lang="en-US" b="1" dirty="0">
              <a:latin typeface="Times New Roman" pitchFamily="18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Axis Ticks and Gridlines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3BA2C0-51AE-49E4-A4AC-F66134362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510837"/>
            <a:ext cx="3498634" cy="20991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B84FC5-F20E-4F7B-881E-69B07975E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634" y="3506898"/>
            <a:ext cx="3505200" cy="2103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7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Gridlines</a:t>
            </a:r>
          </a:p>
        </p:txBody>
      </p:sp>
      <p:sp>
        <p:nvSpPr>
          <p:cNvPr id="29700" name="Text Box 1029"/>
          <p:cNvSpPr txBox="1">
            <a:spLocks noChangeArrowheads="1"/>
          </p:cNvSpPr>
          <p:nvPr/>
        </p:nvSpPr>
        <p:spPr bwMode="auto">
          <a:xfrm>
            <a:off x="6031508" y="1843970"/>
            <a:ext cx="206434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Without gridlines, data values are harder to read.</a:t>
            </a:r>
          </a:p>
        </p:txBody>
      </p:sp>
      <p:sp>
        <p:nvSpPr>
          <p:cNvPr id="7" name="Text Box 1029"/>
          <p:cNvSpPr txBox="1">
            <a:spLocks noChangeArrowheads="1"/>
          </p:cNvSpPr>
          <p:nvPr/>
        </p:nvSpPr>
        <p:spPr bwMode="auto">
          <a:xfrm>
            <a:off x="1524000" y="4154382"/>
            <a:ext cx="17758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Insert data labels if you must omit gridlines.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B6C56-5E1B-4DDE-A43E-CA3C5129D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17" y="1163880"/>
            <a:ext cx="4105275" cy="2305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6A4D6-DA5C-4FA6-BC51-2420CD1A8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747" y="3494901"/>
            <a:ext cx="4314825" cy="2343150"/>
          </a:xfrm>
          <a:prstGeom prst="rect">
            <a:avLst/>
          </a:prstGeom>
        </p:spPr>
      </p:pic>
      <p:sp>
        <p:nvSpPr>
          <p:cNvPr id="11" name="Arrow: Left 10">
            <a:extLst>
              <a:ext uri="{FF2B5EF4-FFF2-40B4-BE49-F238E27FC236}">
                <a16:creationId xmlns:a16="http://schemas.microsoft.com/office/drawing/2014/main" id="{32A08DDD-877A-4725-8554-7D26837A4F21}"/>
              </a:ext>
            </a:extLst>
          </p:cNvPr>
          <p:cNvSpPr/>
          <p:nvPr/>
        </p:nvSpPr>
        <p:spPr>
          <a:xfrm>
            <a:off x="5562600" y="2096904"/>
            <a:ext cx="381000" cy="341496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901D336-E9F6-438F-BBDF-36DAFF2A9246}"/>
              </a:ext>
            </a:extLst>
          </p:cNvPr>
          <p:cNvSpPr/>
          <p:nvPr/>
        </p:nvSpPr>
        <p:spPr>
          <a:xfrm>
            <a:off x="3299842" y="4503554"/>
            <a:ext cx="374052" cy="3048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176A634C-9F7D-44CA-A592-7837521B6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955613"/>
            <a:ext cx="50110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Modern Healthcare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Vol. 29, N.3 4, Aug. 23, 1999, p. 3.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676400" y="1676400"/>
            <a:ext cx="6096000" cy="286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A non-zero origin on the Y-axis exaggerates taller bars relative to shorter ones.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Measured bar height does not match the stated values or axis demarcations.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Unless there is an axis scale, you will need a ruler to detect this problem.</a:t>
            </a:r>
            <a:endParaRPr lang="en-US" b="1" dirty="0">
              <a:latin typeface="Times New Roman" pitchFamily="18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Non-Zero Origin</a:t>
            </a:r>
          </a:p>
        </p:txBody>
      </p:sp>
      <p:pic>
        <p:nvPicPr>
          <p:cNvPr id="4" name="Picture 5" descr="Business Spots 41">
            <a:extLst>
              <a:ext uri="{FF2B5EF4-FFF2-40B4-BE49-F238E27FC236}">
                <a16:creationId xmlns:a16="http://schemas.microsoft.com/office/drawing/2014/main" id="{D1990B4D-0E50-4D4D-9C9D-0CC36D602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953000"/>
            <a:ext cx="1752600" cy="993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Non-Zero Origin</a:t>
            </a:r>
          </a:p>
        </p:txBody>
      </p:sp>
      <p:sp>
        <p:nvSpPr>
          <p:cNvPr id="31747" name="Text Box 7"/>
          <p:cNvSpPr txBox="1">
            <a:spLocks noChangeArrowheads="1"/>
          </p:cNvSpPr>
          <p:nvPr/>
        </p:nvSpPr>
        <p:spPr bwMode="auto">
          <a:xfrm>
            <a:off x="2057400" y="6107115"/>
            <a:ext cx="54197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Modern Healthcare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Vol. 29, N.3 4, Aug. 23, 1999, p. 3.</a:t>
            </a:r>
          </a:p>
        </p:txBody>
      </p:sp>
      <p:sp>
        <p:nvSpPr>
          <p:cNvPr id="31750" name="Text Box 12"/>
          <p:cNvSpPr txBox="1">
            <a:spLocks noChangeArrowheads="1"/>
          </p:cNvSpPr>
          <p:nvPr/>
        </p:nvSpPr>
        <p:spPr bwMode="auto">
          <a:xfrm>
            <a:off x="6410325" y="1799124"/>
            <a:ext cx="17811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Zero origin  shows correct bar proportions. </a:t>
            </a:r>
          </a:p>
        </p:txBody>
      </p:sp>
      <p:sp>
        <p:nvSpPr>
          <p:cNvPr id="31752" name="Text Box 14"/>
          <p:cNvSpPr txBox="1">
            <a:spLocks noChangeArrowheads="1"/>
          </p:cNvSpPr>
          <p:nvPr/>
        </p:nvSpPr>
        <p:spPr bwMode="auto">
          <a:xfrm>
            <a:off x="1489374" y="4498606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Non-zero origin exaggerates the decline.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E79FD-3EBA-434F-94C1-DE3E6EAD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1202106"/>
            <a:ext cx="4276725" cy="2314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296F3A-9BE4-4574-A92D-892142CAF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665" y="3640323"/>
            <a:ext cx="4276725" cy="2381250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9F240573-4FC9-4904-9DD4-875F5613AE09}"/>
              </a:ext>
            </a:extLst>
          </p:cNvPr>
          <p:cNvSpPr/>
          <p:nvPr/>
        </p:nvSpPr>
        <p:spPr>
          <a:xfrm>
            <a:off x="5824537" y="2066740"/>
            <a:ext cx="381000" cy="341496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0A5BA46-7D58-482E-8AC9-0B377619764F}"/>
              </a:ext>
            </a:extLst>
          </p:cNvPr>
          <p:cNvSpPr/>
          <p:nvPr/>
        </p:nvSpPr>
        <p:spPr>
          <a:xfrm>
            <a:off x="3429000" y="4914105"/>
            <a:ext cx="374052" cy="3048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Really a Graph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286000" y="1143000"/>
            <a:ext cx="495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Some visual displays are just for fun and need not be judged as serious graphs.</a:t>
            </a:r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6629400" cy="357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Charts</a:t>
            </a:r>
          </a:p>
        </p:txBody>
      </p:sp>
      <p:sp>
        <p:nvSpPr>
          <p:cNvPr id="35845" name="Text Box 8"/>
          <p:cNvSpPr txBox="1">
            <a:spLocks noChangeArrowheads="1"/>
          </p:cNvSpPr>
          <p:nvPr/>
        </p:nvSpPr>
        <p:spPr bwMode="auto">
          <a:xfrm>
            <a:off x="3032125" y="1136978"/>
            <a:ext cx="3733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You can make Excel's default charts more colorful. But is it better? You must decide.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97828"/>
            <a:ext cx="683308" cy="6555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2317EA6-9D52-4E90-B64F-DA295E83E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24" y="2277550"/>
            <a:ext cx="4010819" cy="24064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EEFCE2-8FC0-40FD-9DC3-41CD7BFC1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4114800"/>
            <a:ext cx="3683000" cy="2209800"/>
          </a:xfrm>
          <a:prstGeom prst="rect">
            <a:avLst/>
          </a:prstGeom>
        </p:spPr>
      </p:pic>
      <p:sp>
        <p:nvSpPr>
          <p:cNvPr id="12" name="Text Box 8">
            <a:extLst>
              <a:ext uri="{FF2B5EF4-FFF2-40B4-BE49-F238E27FC236}">
                <a16:creationId xmlns:a16="http://schemas.microsoft.com/office/drawing/2014/main" id="{B4664B88-6D0E-4695-93EB-84060906F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703" y="5238750"/>
            <a:ext cx="14763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Customized</a:t>
            </a: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BD7B4D48-8C67-4023-8537-B881F1AFB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804266"/>
            <a:ext cx="12636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/>
              <a:t>Default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21795BA5-CB2D-4D58-B174-58CCB0A321E3}"/>
              </a:ext>
            </a:extLst>
          </p:cNvPr>
          <p:cNvSpPr/>
          <p:nvPr/>
        </p:nvSpPr>
        <p:spPr>
          <a:xfrm>
            <a:off x="5410200" y="2833573"/>
            <a:ext cx="381000" cy="341496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218DE31-95EF-453D-8B49-20CA742788B9}"/>
              </a:ext>
            </a:extLst>
          </p:cNvPr>
          <p:cNvSpPr/>
          <p:nvPr/>
        </p:nvSpPr>
        <p:spPr>
          <a:xfrm>
            <a:off x="3965575" y="5219700"/>
            <a:ext cx="374052" cy="3048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5553</TotalTime>
  <Words>863</Words>
  <Application>Microsoft Office PowerPoint</Application>
  <PresentationFormat>On-screen Show (4:3)</PresentationFormat>
  <Paragraphs>97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Franklin Gothic Book</vt:lpstr>
      <vt:lpstr>Franklin Gothic Medium</vt:lpstr>
      <vt:lpstr>Times New Roman</vt:lpstr>
      <vt:lpstr>Wingdings</vt:lpstr>
      <vt:lpstr>Angles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Presentation Rules - Part I</dc:title>
  <dc:subject>Chapter 3 - Data Presentation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124</cp:revision>
  <dcterms:created xsi:type="dcterms:W3CDTF">1998-04-14T00:31:44Z</dcterms:created>
  <dcterms:modified xsi:type="dcterms:W3CDTF">2023-11-29T09:57:43Z</dcterms:modified>
</cp:coreProperties>
</file>