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1"/>
  </p:sldMasterIdLst>
  <p:notesMasterIdLst>
    <p:notesMasterId r:id="rId34"/>
  </p:notesMasterIdLst>
  <p:sldIdLst>
    <p:sldId id="326" r:id="rId2"/>
    <p:sldId id="352" r:id="rId3"/>
    <p:sldId id="353" r:id="rId4"/>
    <p:sldId id="354" r:id="rId5"/>
    <p:sldId id="282" r:id="rId6"/>
    <p:sldId id="361" r:id="rId7"/>
    <p:sldId id="331" r:id="rId8"/>
    <p:sldId id="356" r:id="rId9"/>
    <p:sldId id="357" r:id="rId10"/>
    <p:sldId id="355" r:id="rId11"/>
    <p:sldId id="328" r:id="rId12"/>
    <p:sldId id="364" r:id="rId13"/>
    <p:sldId id="360" r:id="rId14"/>
    <p:sldId id="363" r:id="rId15"/>
    <p:sldId id="283" r:id="rId16"/>
    <p:sldId id="285" r:id="rId17"/>
    <p:sldId id="286" r:id="rId18"/>
    <p:sldId id="287" r:id="rId19"/>
    <p:sldId id="320" r:id="rId20"/>
    <p:sldId id="319" r:id="rId21"/>
    <p:sldId id="288" r:id="rId22"/>
    <p:sldId id="303" r:id="rId23"/>
    <p:sldId id="290" r:id="rId24"/>
    <p:sldId id="350" r:id="rId25"/>
    <p:sldId id="291" r:id="rId26"/>
    <p:sldId id="294" r:id="rId27"/>
    <p:sldId id="306" r:id="rId28"/>
    <p:sldId id="296" r:id="rId29"/>
    <p:sldId id="351" r:id="rId30"/>
    <p:sldId id="299" r:id="rId31"/>
    <p:sldId id="362" r:id="rId32"/>
    <p:sldId id="329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Doane" initials="DD" lastIdx="1" clrIdx="0">
    <p:extLst>
      <p:ext uri="{19B8F6BF-5375-455C-9EA6-DF929625EA0E}">
        <p15:presenceInfo xmlns:p15="http://schemas.microsoft.com/office/powerpoint/2012/main" userId="b97c5b6b14eb9ec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5F5F5F"/>
    <a:srgbClr val="CC3300"/>
    <a:srgbClr val="CC6600"/>
    <a:srgbClr val="003399"/>
    <a:srgbClr val="3366CC"/>
    <a:srgbClr val="FFFF00"/>
    <a:srgbClr val="FFFFCC"/>
    <a:srgbClr val="99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28"/>
    </p:cViewPr>
  </p:sorterViewPr>
  <p:notesViewPr>
    <p:cSldViewPr>
      <p:cViewPr varScale="1">
        <p:scale>
          <a:sx n="40" d="100"/>
          <a:sy n="40" d="100"/>
        </p:scale>
        <p:origin x="-148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8FD6A7-26CD-41B7-9455-07D36158CD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1C898A-0F03-4930-9770-BABAB8E5CE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D22399-A4C3-477C-9D2A-6A8BFA8917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BDD8AC-A2D4-44E3-B8A7-1F4C0BE7A8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B7C77B-724E-4ABA-B738-D62D2BD1F8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ED1712-0570-4A82-B298-506648B7FB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8162DD-2F5E-40FC-8931-F6A8F4FEC9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D730EA3-9154-489F-933A-AAC5AD2221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DFCE91-64AC-44A2-8FDB-447BA375BED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B0DC6A-4461-44A4-A976-D675CA9A39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5F4FF4-18A0-4213-8196-05839334AC4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9859B74-E0FE-45CE-8583-672C916B76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random/>
  </p:transition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jpeg"/><Relationship Id="rId4" Type="http://schemas.openxmlformats.org/officeDocument/2006/relationships/image" Target="../media/image41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2053"/>
          <p:cNvSpPr txBox="1">
            <a:spLocks noChangeArrowheads="1"/>
          </p:cNvSpPr>
          <p:nvPr/>
        </p:nvSpPr>
        <p:spPr bwMode="auto">
          <a:xfrm>
            <a:off x="1600200" y="5715000"/>
            <a:ext cx="6172200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333333"/>
                </a:solidFill>
              </a:rPr>
              <a:t>© McGraw Hill LLC. All rights reserved. </a:t>
            </a:r>
            <a:r>
              <a:rPr lang="en-US" sz="1400">
                <a:solidFill>
                  <a:srgbClr val="333333"/>
                </a:solidFill>
              </a:rPr>
              <a:t>No reproduction or distribution without the prior written consent of McGraw Hill LLC.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5" name="Text Box 2050">
            <a:extLst>
              <a:ext uri="{FF2B5EF4-FFF2-40B4-BE49-F238E27FC236}">
                <a16:creationId xmlns:a16="http://schemas.microsoft.com/office/drawing/2014/main" id="{B0FA7952-E234-4F86-9FDB-AAD1577D2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295400"/>
            <a:ext cx="7086600" cy="296696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pPr algn="ctr">
              <a:lnSpc>
                <a:spcPct val="90000"/>
              </a:lnSpc>
              <a:spcBef>
                <a:spcPts val="120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Presentation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3200" b="1" dirty="0">
                <a:solidFill>
                  <a:srgbClr val="66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Part II</a:t>
            </a:r>
            <a:endParaRPr lang="en-US" sz="3200" dirty="0">
              <a:solidFill>
                <a:srgbClr val="6699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191000" y="2209800"/>
            <a:ext cx="3657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Arial" charset="0"/>
              </a:rPr>
              <a:t>“Lord, Lord, how this world is given to lying.”</a:t>
            </a:r>
          </a:p>
          <a:p>
            <a:pPr>
              <a:spcBef>
                <a:spcPct val="50000"/>
              </a:spcBef>
            </a:pPr>
            <a:endParaRPr lang="en-US" dirty="0">
              <a:latin typeface="Arial" charset="0"/>
            </a:endParaRPr>
          </a:p>
          <a:p>
            <a:pPr algn="r"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- W. Shakespeare (Henry IV)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905000"/>
            <a:ext cx="1463735" cy="1897201"/>
          </a:xfrm>
          <a:prstGeom prst="rect">
            <a:avLst/>
          </a:prstGeom>
        </p:spPr>
      </p:pic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2362200"/>
            <a:ext cx="34290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You will follow rules for good graphs.  But not everyone does.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It's time to learn some self-defense.</a:t>
            </a:r>
            <a:endParaRPr lang="en-US" sz="2000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Breaking the Rules</a:t>
            </a:r>
          </a:p>
        </p:txBody>
      </p:sp>
      <p:pic>
        <p:nvPicPr>
          <p:cNvPr id="5124" name="Picture 5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981200"/>
            <a:ext cx="2251364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905000" y="2166795"/>
            <a:ext cx="5943600" cy="252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Know types of graphs and when to use them.</a:t>
            </a:r>
          </a:p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Learn and apply rules of good graphing</a:t>
            </a:r>
          </a:p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Practice and improve your skills. </a:t>
            </a:r>
          </a:p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Learn deceptions that you may encounter.</a:t>
            </a:r>
          </a:p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Be critical of unclear or deceptive graphs.</a:t>
            </a:r>
          </a:p>
          <a:p>
            <a:pPr>
              <a:spcBef>
                <a:spcPct val="50000"/>
              </a:spcBef>
            </a:pPr>
            <a:endParaRPr lang="en-US" sz="1200" dirty="0">
              <a:latin typeface="Arial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Avoiding Deception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676400" y="2092234"/>
            <a:ext cx="5676900" cy="147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A non-zero origin on the Y-axis exaggerates taller bars relative to shorter ones.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Measured bar height does not match the stated values or axis demarcations.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Non-Zero Origin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657600" y="4737781"/>
            <a:ext cx="3352800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Unless there is an axis scale, you will need a ruler to detect this distortion.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doane\AppData\Local\Microsoft\Windows\Temporary Internet Files\Content.IE5\3CB5N1BZ\MC90005698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492769"/>
            <a:ext cx="1219200" cy="101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Non-Zero Origin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6115291" y="1878547"/>
            <a:ext cx="1905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Bar heights are in correct proportions.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123709" y="4346663"/>
            <a:ext cx="24007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2005 looks like 15% of 2000. The correct ratio is 76% (i.e., 366/480). </a:t>
            </a:r>
          </a:p>
        </p:txBody>
      </p:sp>
      <p:sp>
        <p:nvSpPr>
          <p:cNvPr id="8" name="AutoShape 13"/>
          <p:cNvSpPr>
            <a:spLocks noChangeArrowheads="1"/>
          </p:cNvSpPr>
          <p:nvPr/>
        </p:nvSpPr>
        <p:spPr bwMode="auto">
          <a:xfrm>
            <a:off x="5505691" y="1917184"/>
            <a:ext cx="514109" cy="521216"/>
          </a:xfrm>
          <a:prstGeom prst="leftArrow">
            <a:avLst>
              <a:gd name="adj1" fmla="val 50000"/>
              <a:gd name="adj2" fmla="val 28571"/>
            </a:avLst>
          </a:prstGeom>
          <a:solidFill>
            <a:srgbClr val="C0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15291" y="1416882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charset="0"/>
              </a:rPr>
              <a:t>Zero Origin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709" y="3816435"/>
            <a:ext cx="26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charset="0"/>
              </a:rPr>
              <a:t>Non-Zero Origin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1A508-F85E-4F59-9669-4D809F126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09" y="1295467"/>
            <a:ext cx="4161905" cy="2305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2545F3-5355-45B2-9390-1BEE51C37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242" y="3562739"/>
            <a:ext cx="4161905" cy="22476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4DF55D-97B1-4218-B92E-1C88032ADF4C}"/>
              </a:ext>
            </a:extLst>
          </p:cNvPr>
          <p:cNvSpPr txBox="1"/>
          <p:nvPr/>
        </p:nvSpPr>
        <p:spPr>
          <a:xfrm>
            <a:off x="1175853" y="5405076"/>
            <a:ext cx="2591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i="1" dirty="0"/>
              <a:t>Source: </a:t>
            </a:r>
            <a:r>
              <a:rPr lang="en-US" altLang="en-US" sz="1200" dirty="0"/>
              <a:t>Modern Healthcare, </a:t>
            </a:r>
            <a:r>
              <a:rPr lang="en-US" altLang="en-US" sz="1200" i="1" dirty="0"/>
              <a:t>By the Numbers</a:t>
            </a:r>
            <a:r>
              <a:rPr lang="en-US" altLang="en-US" sz="1200" dirty="0"/>
              <a:t>, Dec. 19, 2005, p. 10.</a:t>
            </a: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3490792" y="4575697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C000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Non-Zero Origin</a:t>
            </a:r>
          </a:p>
        </p:txBody>
      </p:sp>
      <p:sp>
        <p:nvSpPr>
          <p:cNvPr id="10246" name="Text Box 10"/>
          <p:cNvSpPr txBox="1">
            <a:spLocks noChangeArrowheads="1"/>
          </p:cNvSpPr>
          <p:nvPr/>
        </p:nvSpPr>
        <p:spPr bwMode="auto">
          <a:xfrm>
            <a:off x="1504950" y="2124611"/>
            <a:ext cx="207645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First graph makes it appear that adverse drug effects occur four times as often as nosocomial infections.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00C4C-95D0-4D88-ACEC-BE2BC1B3A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885" y="4048225"/>
            <a:ext cx="4229100" cy="234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6D4406-E34F-4C64-8CD8-C853140E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45059"/>
            <a:ext cx="4191585" cy="2266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FCFF77-77A1-4FF6-A8C4-86EDFC115D83}"/>
              </a:ext>
            </a:extLst>
          </p:cNvPr>
          <p:cNvSpPr txBox="1"/>
          <p:nvPr/>
        </p:nvSpPr>
        <p:spPr>
          <a:xfrm>
            <a:off x="5867400" y="3709877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charset="0"/>
              </a:rPr>
              <a:t>Correct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98E787-BB55-4019-849B-92AF272C4BEB}"/>
              </a:ext>
            </a:extLst>
          </p:cNvPr>
          <p:cNvSpPr txBox="1"/>
          <p:nvPr/>
        </p:nvSpPr>
        <p:spPr>
          <a:xfrm>
            <a:off x="5867692" y="1136057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" charset="0"/>
              </a:rPr>
              <a:t>Incorrect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6C3A48AD-EFED-46B5-BDC1-AC750EC56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4300190"/>
            <a:ext cx="17907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Second graph shows that their true ratio is less than 2 to 1.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1C0C575-B108-4A09-9C7A-88116376CCDE}"/>
              </a:ext>
            </a:extLst>
          </p:cNvPr>
          <p:cNvSpPr/>
          <p:nvPr/>
        </p:nvSpPr>
        <p:spPr>
          <a:xfrm>
            <a:off x="3848099" y="2605563"/>
            <a:ext cx="304801" cy="38100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3F04CD-615C-4CBB-AE32-B3F8A4C82128}"/>
              </a:ext>
            </a:extLst>
          </p:cNvPr>
          <p:cNvSpPr/>
          <p:nvPr/>
        </p:nvSpPr>
        <p:spPr>
          <a:xfrm>
            <a:off x="3848098" y="4838799"/>
            <a:ext cx="304801" cy="38100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Zero Origin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1428750" y="1312818"/>
            <a:ext cx="6286500" cy="132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The zero-origin rule is important in accounting (e.g., assets, revenue, profit) to portray the financial status of a company. It is illegal to mislead investors). Some scientific journals require a zero origin.</a:t>
            </a:r>
            <a:endParaRPr lang="en-US" sz="2000" dirty="0">
              <a:solidFill>
                <a:srgbClr val="66FF33"/>
              </a:solidFill>
              <a:latin typeface="Arial" charset="0"/>
            </a:endParaRPr>
          </a:p>
        </p:txBody>
      </p:sp>
      <p:pic>
        <p:nvPicPr>
          <p:cNvPr id="11268" name="Picture 23" descr="j030525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344802"/>
            <a:ext cx="1090811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BA8717-DC4D-4C6E-BDF1-05BEEC3A6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912154"/>
            <a:ext cx="4085650" cy="24513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6CAE49-0F0E-4257-8FB2-7F17652EAED2}"/>
              </a:ext>
            </a:extLst>
          </p:cNvPr>
          <p:cNvSpPr txBox="1"/>
          <p:nvPr/>
        </p:nvSpPr>
        <p:spPr>
          <a:xfrm>
            <a:off x="1600200" y="56388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Source:</a:t>
            </a:r>
            <a:r>
              <a:rPr lang="en-US" sz="1400" dirty="0"/>
              <a:t> Company annual reports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Always Zero Origin?</a:t>
            </a:r>
          </a:p>
        </p:txBody>
      </p:sp>
      <p:sp>
        <p:nvSpPr>
          <p:cNvPr id="12291" name="Text Box 7"/>
          <p:cNvSpPr txBox="1">
            <a:spLocks noChangeArrowheads="1"/>
          </p:cNvSpPr>
          <p:nvPr/>
        </p:nvSpPr>
        <p:spPr bwMode="auto">
          <a:xfrm>
            <a:off x="3048000" y="5486400"/>
            <a:ext cx="3886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/>
              <a:t>Source:</a:t>
            </a:r>
            <a:r>
              <a:rPr lang="en-US" sz="1400" dirty="0"/>
              <a:t>  http://aolpf5.marketwatch.com/</a:t>
            </a:r>
          </a:p>
        </p:txBody>
      </p:sp>
      <p:pic>
        <p:nvPicPr>
          <p:cNvPr id="1229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7" y="3276598"/>
            <a:ext cx="2376488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229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3276599"/>
            <a:ext cx="2376488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2295" name="Text Box 13"/>
          <p:cNvSpPr txBox="1">
            <a:spLocks noChangeArrowheads="1"/>
          </p:cNvSpPr>
          <p:nvPr/>
        </p:nvSpPr>
        <p:spPr bwMode="auto">
          <a:xfrm>
            <a:off x="1905000" y="1295400"/>
            <a:ext cx="6096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There are situations when a zero origin prevents effective display of the intended information, e.g., stock indexes, or when data starts far from zero.</a:t>
            </a: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Always Zero Origin?</a:t>
            </a:r>
          </a:p>
        </p:txBody>
      </p:sp>
      <p:sp>
        <p:nvSpPr>
          <p:cNvPr id="13317" name="Rectangle 8"/>
          <p:cNvSpPr>
            <a:spLocks noChangeArrowheads="1"/>
          </p:cNvSpPr>
          <p:nvPr/>
        </p:nvSpPr>
        <p:spPr bwMode="auto">
          <a:xfrm>
            <a:off x="1933575" y="1344097"/>
            <a:ext cx="5638800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In this example, a non-zero origin fails to display adequate detail. The second graph is clearer.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78E72F-0DD1-4F0C-AE02-3F310ECB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638317"/>
            <a:ext cx="3804885" cy="22829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71647C-B4EA-4432-9FBB-6FAFFA00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657600"/>
            <a:ext cx="3791719" cy="22829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7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Log Scale</a:t>
            </a:r>
          </a:p>
        </p:txBody>
      </p:sp>
      <p:sp>
        <p:nvSpPr>
          <p:cNvPr id="14339" name="Rectangle 1033"/>
          <p:cNvSpPr>
            <a:spLocks noChangeArrowheads="1"/>
          </p:cNvSpPr>
          <p:nvPr/>
        </p:nvSpPr>
        <p:spPr bwMode="auto">
          <a:xfrm>
            <a:off x="2113570" y="1199069"/>
            <a:ext cx="5181600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When data magnitude varies greatly, a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log scale </a:t>
            </a:r>
            <a:r>
              <a:rPr lang="en-US" sz="2000" dirty="0">
                <a:latin typeface="Arial" charset="0"/>
              </a:rPr>
              <a:t>may be necessary.</a:t>
            </a:r>
            <a:r>
              <a:rPr lang="en-US" sz="2000" dirty="0">
                <a:solidFill>
                  <a:srgbClr val="66FF33"/>
                </a:solidFill>
                <a:latin typeface="Arial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631AE9-2DA9-4538-9205-153E60B0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630" y="2041769"/>
            <a:ext cx="3672549" cy="20874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8DE16-5323-44AA-926B-95A35A46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630" y="4168856"/>
            <a:ext cx="3672549" cy="2087451"/>
          </a:xfrm>
          <a:prstGeom prst="rect">
            <a:avLst/>
          </a:prstGeom>
        </p:spPr>
      </p:pic>
      <p:sp>
        <p:nvSpPr>
          <p:cNvPr id="8" name="Text Box 10">
            <a:extLst>
              <a:ext uri="{FF2B5EF4-FFF2-40B4-BE49-F238E27FC236}">
                <a16:creationId xmlns:a16="http://schemas.microsoft.com/office/drawing/2014/main" id="{5EB19C10-CDF0-4E51-9D8D-D02595C39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327" y="2565449"/>
            <a:ext cx="133349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Constant </a:t>
            </a:r>
            <a:r>
              <a:rPr lang="en-US" sz="1600" i="1" dirty="0">
                <a:solidFill>
                  <a:srgbClr val="C00000"/>
                </a:solidFill>
                <a:latin typeface="Arial" charset="0"/>
              </a:rPr>
              <a:t>percent</a:t>
            </a:r>
            <a:r>
              <a:rPr lang="en-US" sz="1600" dirty="0">
                <a:latin typeface="Arial" charset="0"/>
              </a:rPr>
              <a:t> growth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AD66BEAD-709A-491C-9266-922D6AFD0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971" y="4550860"/>
            <a:ext cx="141732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Same data appears </a:t>
            </a:r>
            <a:r>
              <a:rPr lang="en-US" sz="1600" i="1" dirty="0">
                <a:solidFill>
                  <a:srgbClr val="C00000"/>
                </a:solidFill>
                <a:latin typeface="Arial" charset="0"/>
              </a:rPr>
              <a:t>linear</a:t>
            </a:r>
            <a:r>
              <a:rPr lang="en-US" sz="1600" dirty="0">
                <a:latin typeface="Arial" charset="0"/>
              </a:rPr>
              <a:t> on a log scale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F6F521-1148-420F-854B-F1B55CE69297}"/>
              </a:ext>
            </a:extLst>
          </p:cNvPr>
          <p:cNvSpPr/>
          <p:nvPr/>
        </p:nvSpPr>
        <p:spPr>
          <a:xfrm>
            <a:off x="3482327" y="2882781"/>
            <a:ext cx="304801" cy="38100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1700E73-B6F7-46A1-90E1-0F73844F064A}"/>
              </a:ext>
            </a:extLst>
          </p:cNvPr>
          <p:cNvSpPr/>
          <p:nvPr/>
        </p:nvSpPr>
        <p:spPr>
          <a:xfrm>
            <a:off x="3482327" y="5022080"/>
            <a:ext cx="304801" cy="38100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7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Log Scale</a:t>
            </a:r>
          </a:p>
        </p:txBody>
      </p:sp>
      <p:sp>
        <p:nvSpPr>
          <p:cNvPr id="14339" name="Rectangle 1033"/>
          <p:cNvSpPr>
            <a:spLocks noChangeArrowheads="1"/>
          </p:cNvSpPr>
          <p:nvPr/>
        </p:nvSpPr>
        <p:spPr bwMode="auto">
          <a:xfrm>
            <a:off x="1844911" y="1293711"/>
            <a:ext cx="60960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On a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log scale </a:t>
            </a:r>
            <a:r>
              <a:rPr lang="en-US" sz="2000" dirty="0">
                <a:latin typeface="Arial" charset="0"/>
              </a:rPr>
              <a:t>equal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distances</a:t>
            </a:r>
            <a:r>
              <a:rPr lang="en-US" sz="2000" dirty="0">
                <a:latin typeface="Arial" charset="0"/>
              </a:rPr>
              <a:t> show equal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ratios</a:t>
            </a:r>
            <a:r>
              <a:rPr lang="en-US" sz="2000" dirty="0">
                <a:latin typeface="Arial" charset="0"/>
              </a:rPr>
              <a:t>.</a:t>
            </a:r>
            <a:endParaRPr lang="en-US" sz="2000" dirty="0">
              <a:solidFill>
                <a:srgbClr val="66FF33"/>
              </a:solidFill>
              <a:latin typeface="Arial" charset="0"/>
            </a:endParaRPr>
          </a:p>
        </p:txBody>
      </p:sp>
      <p:sp>
        <p:nvSpPr>
          <p:cNvPr id="4" name="Rectangle 1033"/>
          <p:cNvSpPr>
            <a:spLocks noChangeArrowheads="1"/>
          </p:cNvSpPr>
          <p:nvPr/>
        </p:nvSpPr>
        <p:spPr bwMode="auto">
          <a:xfrm>
            <a:off x="3104578" y="5832782"/>
            <a:ext cx="363128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i="1" dirty="0">
                <a:solidFill>
                  <a:srgbClr val="C00000"/>
                </a:solidFill>
                <a:latin typeface="Arial" charset="0"/>
              </a:rPr>
              <a:t>Tip:</a:t>
            </a:r>
            <a:r>
              <a:rPr lang="en-US" sz="1200" dirty="0">
                <a:latin typeface="Arial" charset="0"/>
              </a:rPr>
              <a:t> Many people do not understand log scales.  Be prepared to explain and interpret.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86" y="5584929"/>
            <a:ext cx="584671" cy="5609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8DE16-5323-44AA-926B-95A35A46E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866" y="1878221"/>
            <a:ext cx="4621145" cy="2626627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7EC08F25-08E0-4A5D-8C3B-AFB5FA81F01A}"/>
              </a:ext>
            </a:extLst>
          </p:cNvPr>
          <p:cNvSpPr/>
          <p:nvPr/>
        </p:nvSpPr>
        <p:spPr>
          <a:xfrm>
            <a:off x="3045744" y="2406945"/>
            <a:ext cx="294784" cy="652986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01B66553-1DA5-43AC-875F-F25BD3D86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282" y="2379495"/>
            <a:ext cx="1002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dirty="0">
                <a:solidFill>
                  <a:srgbClr val="C00000"/>
                </a:solidFill>
                <a:latin typeface="Arial" charset="0"/>
              </a:rPr>
              <a:t>Ratio</a:t>
            </a:r>
          </a:p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10 to 1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C54B4B00-2ABC-4390-BBFA-6D45DA3032B7}"/>
              </a:ext>
            </a:extLst>
          </p:cNvPr>
          <p:cNvSpPr/>
          <p:nvPr/>
        </p:nvSpPr>
        <p:spPr>
          <a:xfrm>
            <a:off x="3060853" y="3342738"/>
            <a:ext cx="294784" cy="652986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4C5C04D1-CB0F-416E-9F1F-D04EAEC39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282" y="3269637"/>
            <a:ext cx="10022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dirty="0">
                <a:solidFill>
                  <a:srgbClr val="C00000"/>
                </a:solidFill>
                <a:latin typeface="Arial" charset="0"/>
              </a:rPr>
              <a:t>Ratio</a:t>
            </a:r>
          </a:p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10 to 1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6066C634-6F00-40F4-8997-417E0B48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221" y="5246375"/>
            <a:ext cx="20873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C00000"/>
                </a:solidFill>
                <a:latin typeface="Arial" charset="0"/>
              </a:rPr>
              <a:t>110.5/11.8 </a:t>
            </a:r>
            <a:r>
              <a:rPr lang="en-US" sz="1600" dirty="0">
                <a:solidFill>
                  <a:srgbClr val="C00000"/>
                </a:solidFill>
                <a:latin typeface="Arial" charset="0"/>
                <a:sym typeface="Symbol" panose="05050102010706020507" pitchFamily="18" charset="2"/>
              </a:rPr>
              <a:t></a:t>
            </a:r>
            <a:r>
              <a:rPr lang="en-US" sz="1600" dirty="0">
                <a:solidFill>
                  <a:srgbClr val="C00000"/>
                </a:solidFill>
                <a:latin typeface="Arial" charset="0"/>
              </a:rPr>
              <a:t> 10 to 1</a:t>
            </a: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E8FD8DA6-0ED9-496C-B40E-8E831ECB5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436" y="4601310"/>
            <a:ext cx="13641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2010</a:t>
            </a:r>
          </a:p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sales: 11.8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93E05DC-2B35-4AA7-9838-FCB7DF258DC4}"/>
              </a:ext>
            </a:extLst>
          </p:cNvPr>
          <p:cNvSpPr/>
          <p:nvPr/>
        </p:nvSpPr>
        <p:spPr>
          <a:xfrm>
            <a:off x="4920221" y="4409084"/>
            <a:ext cx="228600" cy="192226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Up 29">
            <a:extLst>
              <a:ext uri="{FF2B5EF4-FFF2-40B4-BE49-F238E27FC236}">
                <a16:creationId xmlns:a16="http://schemas.microsoft.com/office/drawing/2014/main" id="{C24696FB-CFAE-4C51-AB64-85B740643974}"/>
              </a:ext>
            </a:extLst>
          </p:cNvPr>
          <p:cNvSpPr/>
          <p:nvPr/>
        </p:nvSpPr>
        <p:spPr>
          <a:xfrm>
            <a:off x="6772400" y="4451278"/>
            <a:ext cx="228600" cy="192226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8AF9DC-F150-475B-88D1-71D07C975913}"/>
              </a:ext>
            </a:extLst>
          </p:cNvPr>
          <p:cNvSpPr/>
          <p:nvPr/>
        </p:nvSpPr>
        <p:spPr>
          <a:xfrm>
            <a:off x="4746105" y="3917136"/>
            <a:ext cx="476495" cy="36058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5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3A820EA-0B33-494D-B8FE-5994B00A1B11}"/>
              </a:ext>
            </a:extLst>
          </p:cNvPr>
          <p:cNvSpPr/>
          <p:nvPr/>
        </p:nvSpPr>
        <p:spPr>
          <a:xfrm>
            <a:off x="6648454" y="3942994"/>
            <a:ext cx="476495" cy="36058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5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45D47657-6BBA-437E-A2EE-89B264132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615" y="4652552"/>
            <a:ext cx="13641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2015</a:t>
            </a:r>
          </a:p>
          <a:p>
            <a:pPr algn="ctr">
              <a:spcBef>
                <a:spcPts val="0"/>
              </a:spcBef>
            </a:pPr>
            <a:r>
              <a:rPr lang="en-US" sz="1600" dirty="0">
                <a:latin typeface="Arial" charset="0"/>
              </a:rPr>
              <a:t>sales: 110.5</a:t>
            </a:r>
          </a:p>
        </p:txBody>
      </p:sp>
    </p:spTree>
    <p:extLst>
      <p:ext uri="{BB962C8B-B14F-4D97-AF65-F5344CB8AC3E}">
        <p14:creationId xmlns:p14="http://schemas.microsoft.com/office/powerpoint/2010/main" val="3141996197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Log Scale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5882634" y="1660197"/>
            <a:ext cx="231078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On a linear scale, we see that the trade deficit has increased more than linearly. </a:t>
            </a:r>
          </a:p>
        </p:txBody>
      </p:sp>
      <p:sp>
        <p:nvSpPr>
          <p:cNvPr id="15366" name="Text Box 8"/>
          <p:cNvSpPr txBox="1">
            <a:spLocks noChangeArrowheads="1"/>
          </p:cNvSpPr>
          <p:nvPr/>
        </p:nvSpPr>
        <p:spPr bwMode="auto">
          <a:xfrm>
            <a:off x="2895600" y="6238060"/>
            <a:ext cx="3962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/>
              <a:t>Source: Economic Report of the President, 2020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6ACD9D-5AD1-436B-9417-192EC69DB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18" y="1159082"/>
            <a:ext cx="4535817" cy="27434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0BFA09-9079-4231-BE92-4EAF59463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557924"/>
            <a:ext cx="4474852" cy="2743438"/>
          </a:xfrm>
          <a:prstGeom prst="rect">
            <a:avLst/>
          </a:prstGeom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4F3C7FA0-9510-44B6-8BDB-E303F621E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542" y="3979703"/>
            <a:ext cx="241983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On a log scale, the </a:t>
            </a:r>
            <a:r>
              <a:rPr lang="en-US" sz="1600" i="1" dirty="0">
                <a:solidFill>
                  <a:srgbClr val="C00000"/>
                </a:solidFill>
                <a:latin typeface="Arial" charset="0"/>
              </a:rPr>
              <a:t>percent</a:t>
            </a:r>
            <a:r>
              <a:rPr lang="en-US" sz="1600" dirty="0">
                <a:latin typeface="Arial" charset="0"/>
              </a:rPr>
              <a:t> growth rate appears constant or even declining.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23B60B88-BEB6-4413-B47B-238BA4F8D345}"/>
              </a:ext>
            </a:extLst>
          </p:cNvPr>
          <p:cNvSpPr/>
          <p:nvPr/>
        </p:nvSpPr>
        <p:spPr>
          <a:xfrm>
            <a:off x="5404477" y="2034981"/>
            <a:ext cx="346715" cy="365751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19C2BF3-4FEF-4C61-BA53-4D29732760DA}"/>
              </a:ext>
            </a:extLst>
          </p:cNvPr>
          <p:cNvSpPr/>
          <p:nvPr/>
        </p:nvSpPr>
        <p:spPr>
          <a:xfrm>
            <a:off x="3809999" y="4571999"/>
            <a:ext cx="304801" cy="38100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Log Scale</a:t>
            </a: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1892447" y="1322457"/>
            <a:ext cx="532772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A log scale helps to compare rates of growth that are not obvious on an arithmetic scale.</a:t>
            </a:r>
          </a:p>
        </p:txBody>
      </p:sp>
      <p:sp>
        <p:nvSpPr>
          <p:cNvPr id="15366" name="Text Box 8"/>
          <p:cNvSpPr txBox="1">
            <a:spLocks noChangeArrowheads="1"/>
          </p:cNvSpPr>
          <p:nvPr/>
        </p:nvSpPr>
        <p:spPr bwMode="auto">
          <a:xfrm>
            <a:off x="2279723" y="5735597"/>
            <a:ext cx="49404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/>
              <a:t>Sources: The New York Times</a:t>
            </a:r>
            <a:r>
              <a:rPr lang="en-US" sz="1400" dirty="0"/>
              <a:t>, 3-23-2020 and </a:t>
            </a:r>
            <a:r>
              <a:rPr lang="en-US" sz="1400" dirty="0" err="1"/>
              <a:t>Worldometer</a:t>
            </a:r>
            <a:endParaRPr lang="en-US" sz="1400" i="1" dirty="0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3DEE2002-5FEE-4062-80A8-1A93301B5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35168"/>
            <a:ext cx="5890721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15469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981200" y="1269847"/>
            <a:ext cx="5105400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Missing or unclear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units of measurement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leave the reader in limbo. Label the </a:t>
            </a:r>
            <a:r>
              <a:rPr lang="en-US" sz="2000" i="1" dirty="0">
                <a:latin typeface="Arial" charset="0"/>
              </a:rPr>
              <a:t>Y</a:t>
            </a:r>
            <a:r>
              <a:rPr lang="en-US" sz="2000" dirty="0">
                <a:latin typeface="Arial" charset="0"/>
              </a:rPr>
              <a:t> axis!  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Unclear Definitions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6670675" y="3575870"/>
            <a:ext cx="2057400" cy="1077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Total revenue? Profit? Profit after taxes? Number of employees?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789D99-B3F5-4FA4-A129-BE81FAF25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25" y="2667000"/>
            <a:ext cx="4826000" cy="2895600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9B821B67-ED69-4FD1-B576-82FC91B8EC4F}"/>
              </a:ext>
            </a:extLst>
          </p:cNvPr>
          <p:cNvSpPr/>
          <p:nvPr/>
        </p:nvSpPr>
        <p:spPr>
          <a:xfrm>
            <a:off x="6096000" y="3962400"/>
            <a:ext cx="381000" cy="3048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Unlabeled Values</a:t>
            </a: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2667000" y="5107586"/>
            <a:ext cx="5410200" cy="73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Bar value labels may be omitted if the scale and axis tick marks are clear (especially if a grid is used) or if you are worried about distracting attention from the data.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1752600" y="1350305"/>
            <a:ext cx="647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For best clarity, label each bar with its numerical value.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5073915"/>
            <a:ext cx="584671" cy="5609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A19DD3-CD3A-46B8-832E-17906F9C7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05000"/>
            <a:ext cx="4572000" cy="27432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4000" y="1371600"/>
            <a:ext cx="449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latin typeface="Arial" charset="0"/>
              </a:rPr>
              <a:t>Years and axis demarcations should be at even intervals on the scale.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Uneven Axis Ticks</a:t>
            </a:r>
          </a:p>
        </p:txBody>
      </p:sp>
      <p:sp>
        <p:nvSpPr>
          <p:cNvPr id="18437" name="AutoShape 5"/>
          <p:cNvSpPr>
            <a:spLocks/>
          </p:cNvSpPr>
          <p:nvPr/>
        </p:nvSpPr>
        <p:spPr bwMode="auto">
          <a:xfrm>
            <a:off x="6819900" y="1359705"/>
            <a:ext cx="1600200" cy="609600"/>
          </a:xfrm>
          <a:prstGeom prst="borderCallout1">
            <a:avLst>
              <a:gd name="adj1" fmla="val 15792"/>
              <a:gd name="adj2" fmla="val -4347"/>
              <a:gd name="adj3" fmla="val 526315"/>
              <a:gd name="adj4" fmla="val -195653"/>
            </a:avLst>
          </a:prstGeom>
          <a:noFill/>
          <a:ln w="12700">
            <a:noFill/>
            <a:miter lim="800000"/>
            <a:headEnd type="none" w="lg" len="lg"/>
            <a:tailEnd type="triangle" w="lg" len="lg"/>
          </a:ln>
        </p:spPr>
        <p:txBody>
          <a:bodyPr/>
          <a:lstStyle/>
          <a:p>
            <a:pPr algn="ctr"/>
            <a:r>
              <a:rPr lang="en-US" sz="12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Uh-Oh:</a:t>
            </a:r>
            <a:r>
              <a:rPr lang="en-US" sz="12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Where did 2017 and 2018 go?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804" y="1928030"/>
            <a:ext cx="804391" cy="7913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2C9733-C7B3-405F-BEE3-1A459273D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78" y="2327275"/>
            <a:ext cx="5293392" cy="316943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600200" y="1398468"/>
            <a:ext cx="5867400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Titles that grab attention make it harder for the reader to draw an independent conclusion. </a:t>
            </a:r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Dramatic Effects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9EEA4-6F63-419C-8A73-432C040E7EE2}"/>
              </a:ext>
            </a:extLst>
          </p:cNvPr>
          <p:cNvSpPr txBox="1"/>
          <p:nvPr/>
        </p:nvSpPr>
        <p:spPr>
          <a:xfrm>
            <a:off x="6896100" y="3020762"/>
            <a:ext cx="144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charset="0"/>
              </a:rPr>
              <a:t>Emotional words, scary pictures and non-zero origin can bias the reader.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98294F89-877E-4D9B-8EE6-764233F2C6F3}"/>
              </a:ext>
            </a:extLst>
          </p:cNvPr>
          <p:cNvSpPr/>
          <p:nvPr/>
        </p:nvSpPr>
        <p:spPr>
          <a:xfrm>
            <a:off x="6381244" y="3733800"/>
            <a:ext cx="304800" cy="30480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11027-4363-4B5E-BAB1-F1C2F7ACC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743200"/>
            <a:ext cx="4590544" cy="274560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Nonzero Origin</a:t>
            </a:r>
          </a:p>
        </p:txBody>
      </p:sp>
      <p:sp>
        <p:nvSpPr>
          <p:cNvPr id="20483" name="Text Box 7"/>
          <p:cNvSpPr txBox="1">
            <a:spLocks noChangeArrowheads="1"/>
          </p:cNvSpPr>
          <p:nvPr/>
        </p:nvSpPr>
        <p:spPr bwMode="auto">
          <a:xfrm>
            <a:off x="1828800" y="5829142"/>
            <a:ext cx="5181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dirty="0"/>
              <a:t>Source: Association of American Medical Colleges (http:/www.aamc.org)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219200" y="1300797"/>
            <a:ext cx="7010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In addition to a dramatic title, the non-zero origin and 3-D scale make med school applications seem to grow wildly. The actual increase was about 42% over 20 years.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63BF8-E043-418D-B05F-6F80BFF82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667000"/>
            <a:ext cx="4141727" cy="2940914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026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Starting Point</a:t>
            </a:r>
          </a:p>
        </p:txBody>
      </p:sp>
      <p:sp>
        <p:nvSpPr>
          <p:cNvPr id="21507" name="Rectangle 1027"/>
          <p:cNvSpPr>
            <a:spLocks noChangeArrowheads="1"/>
          </p:cNvSpPr>
          <p:nvPr/>
        </p:nvSpPr>
        <p:spPr bwMode="auto">
          <a:xfrm>
            <a:off x="2362200" y="1234575"/>
            <a:ext cx="4800363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Selecting data to support a conclusion.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D8DDB-2221-4E47-8587-1BC680699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99" y="4051624"/>
            <a:ext cx="3657917" cy="21898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7FB507-DDAF-4346-81CC-607F6976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308" y="1721218"/>
            <a:ext cx="3657917" cy="218987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B03FBF-2BDA-4786-9C9D-BF7B2E6F7D2D}"/>
              </a:ext>
            </a:extLst>
          </p:cNvPr>
          <p:cNvSpPr/>
          <p:nvPr/>
        </p:nvSpPr>
        <p:spPr>
          <a:xfrm>
            <a:off x="3962717" y="2000961"/>
            <a:ext cx="1447799" cy="1991436"/>
          </a:xfrm>
          <a:prstGeom prst="roundRect">
            <a:avLst/>
          </a:prstGeom>
          <a:solidFill>
            <a:schemeClr val="accent2">
              <a:lumMod val="60000"/>
              <a:lumOff val="40000"/>
              <a:alpha val="12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557D5-0DFC-4AC1-B1E0-48A0BB776271}"/>
              </a:ext>
            </a:extLst>
          </p:cNvPr>
          <p:cNvSpPr txBox="1"/>
          <p:nvPr/>
        </p:nvSpPr>
        <p:spPr>
          <a:xfrm>
            <a:off x="6637698" y="4648199"/>
            <a:ext cx="1896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charset="0"/>
              </a:rPr>
              <a:t>But for last the 5 weeks the price nearly doubled.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7BBFCC11-85E1-4635-8262-C854835E2213}"/>
              </a:ext>
            </a:extLst>
          </p:cNvPr>
          <p:cNvSpPr/>
          <p:nvPr/>
        </p:nvSpPr>
        <p:spPr>
          <a:xfrm>
            <a:off x="6096000" y="2890492"/>
            <a:ext cx="313652" cy="326713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1A576-558B-4DE4-9D13-95234C9D316E}"/>
              </a:ext>
            </a:extLst>
          </p:cNvPr>
          <p:cNvSpPr txBox="1"/>
          <p:nvPr/>
        </p:nvSpPr>
        <p:spPr>
          <a:xfrm>
            <a:off x="6595449" y="2256740"/>
            <a:ext cx="198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charset="0"/>
              </a:rPr>
              <a:t>Over 35 weeks the stock price fluctuated, ending about where it started.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187ECB99-439B-49FC-A4B1-E258C055FCD6}"/>
              </a:ext>
            </a:extLst>
          </p:cNvPr>
          <p:cNvSpPr/>
          <p:nvPr/>
        </p:nvSpPr>
        <p:spPr>
          <a:xfrm>
            <a:off x="6096000" y="4983205"/>
            <a:ext cx="313652" cy="326713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295400" y="1371600"/>
            <a:ext cx="6781800" cy="224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When “latest” figures are unavailable, the author may 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estimate</a:t>
            </a:r>
            <a:r>
              <a:rPr lang="en-US" sz="2000" dirty="0">
                <a:latin typeface="Arial" charset="0"/>
              </a:rPr>
              <a:t> the most recent year (quarter, month, </a:t>
            </a:r>
            <a:r>
              <a:rPr lang="en-US" sz="2000" dirty="0" err="1">
                <a:latin typeface="Arial" charset="0"/>
              </a:rPr>
              <a:t>etc</a:t>
            </a:r>
            <a:r>
              <a:rPr lang="en-US" sz="2000" dirty="0">
                <a:latin typeface="Arial" charset="0"/>
              </a:rPr>
              <a:t>).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When one or two data points are missing, the artist is tempted to "fill in the blanks” with estimated values.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Such points can be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clearly noted</a:t>
            </a:r>
            <a:r>
              <a:rPr lang="en-US" sz="2000" dirty="0">
                <a:solidFill>
                  <a:srgbClr val="C00000"/>
                </a:solidFill>
                <a:latin typeface="Arial" charset="0"/>
              </a:rPr>
              <a:t> </a:t>
            </a:r>
            <a:r>
              <a:rPr lang="en-US" sz="2000" dirty="0">
                <a:latin typeface="Arial" charset="0"/>
              </a:rPr>
              <a:t>(e.g., different color) and be labeled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“estimated”</a:t>
            </a:r>
            <a:r>
              <a:rPr lang="en-US" sz="2000" dirty="0">
                <a:latin typeface="Arial" charset="0"/>
              </a:rPr>
              <a:t>.</a:t>
            </a:r>
            <a:endParaRPr lang="en-US" sz="2000" b="1" dirty="0"/>
          </a:p>
        </p:txBody>
      </p:sp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Estimated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9BE91E-699D-48CD-8D4E-72136DCFB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810000"/>
            <a:ext cx="4578493" cy="2743438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Extended Graph Trick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343650" y="2392105"/>
            <a:ext cx="1905000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Data appears to “burst” through the upper scale limit.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3A11BE-7EB6-4F40-9E60-A6CBA135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00200"/>
            <a:ext cx="4515559" cy="333662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C17E5D4C-A0B6-434E-BEFD-72EA2F6EF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20316"/>
            <a:ext cx="3276600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 dirty="0">
                <a:solidFill>
                  <a:srgbClr val="CC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Such deceptive devices that are designed to get attention. Be on guard.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B11A59-CB69-4908-8D8E-25191A27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3533372"/>
            <a:ext cx="1905000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Non-zero origin exaggerates vertical distance.</a:t>
            </a:r>
            <a:endParaRPr lang="en-US" sz="1600" b="1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3731A458-FC0D-44C1-A89D-292C5196A50F}"/>
              </a:ext>
            </a:extLst>
          </p:cNvPr>
          <p:cNvSpPr/>
          <p:nvPr/>
        </p:nvSpPr>
        <p:spPr>
          <a:xfrm>
            <a:off x="6001423" y="2644569"/>
            <a:ext cx="313652" cy="326713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FEAB4666-A138-42CC-9A77-DE6538A34AC5}"/>
              </a:ext>
            </a:extLst>
          </p:cNvPr>
          <p:cNvSpPr/>
          <p:nvPr/>
        </p:nvSpPr>
        <p:spPr>
          <a:xfrm>
            <a:off x="5949053" y="3723362"/>
            <a:ext cx="313652" cy="326713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2" descr="C:\Users\Blythe\AppData\Local\Microsoft\Windows\Temporary Internet Files\Content.IE5\T28SMCVP\MC900078714[1].wmf">
            <a:extLst>
              <a:ext uri="{FF2B5EF4-FFF2-40B4-BE49-F238E27FC236}">
                <a16:creationId xmlns:a16="http://schemas.microsoft.com/office/drawing/2014/main" id="{BB8EC3E8-D45E-4E8E-A36A-FA9612FC3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5074094"/>
            <a:ext cx="540666" cy="101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Blythe\AppData\Local\Microsoft\Windows\Temporary Internet Files\Content.IE5\DWBN8RIF\MC900431529[1].png">
            <a:extLst>
              <a:ext uri="{FF2B5EF4-FFF2-40B4-BE49-F238E27FC236}">
                <a16:creationId xmlns:a16="http://schemas.microsoft.com/office/drawing/2014/main" id="{800D8599-C6FF-424C-95ED-7D462F3D9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135" y="524827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600200" y="1298290"/>
            <a:ext cx="6172200" cy="147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A vague source is useless.  Large organizations issue many reports. At least give a Web link</a:t>
            </a:r>
          </a:p>
          <a:p>
            <a:pPr marL="342900" indent="-342900">
              <a:spcBef>
                <a:spcPct val="50000"/>
              </a:spcBef>
              <a:buClr>
                <a:srgbClr val="99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Vague sources may indicate that the author lost the citation or mixed data from several sources.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Vague Source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7283CF-0B0F-458C-8E45-52BCFEC1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985593"/>
            <a:ext cx="4900633" cy="2940380"/>
          </a:xfrm>
          <a:prstGeom prst="rect">
            <a:avLst/>
          </a:prstGeom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F68D651B-AD91-452E-B81D-4A0832E52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649" y="4761739"/>
            <a:ext cx="9143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i="1" dirty="0"/>
              <a:t>Source: </a:t>
            </a:r>
            <a:r>
              <a:rPr lang="en-US" sz="1400" dirty="0"/>
              <a:t>NOAA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77BDF-59BC-418A-9408-064D0AB27D11}"/>
              </a:ext>
            </a:extLst>
          </p:cNvPr>
          <p:cNvSpPr txBox="1"/>
          <p:nvPr/>
        </p:nvSpPr>
        <p:spPr>
          <a:xfrm>
            <a:off x="6543672" y="4025622"/>
            <a:ext cx="1085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Not specific.</a:t>
            </a:r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FB822A1-67E3-483E-8AA2-656DC58D3554}"/>
              </a:ext>
            </a:extLst>
          </p:cNvPr>
          <p:cNvSpPr/>
          <p:nvPr/>
        </p:nvSpPr>
        <p:spPr>
          <a:xfrm>
            <a:off x="6858000" y="4436733"/>
            <a:ext cx="381000" cy="381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Vague Source</a:t>
            </a:r>
          </a:p>
        </p:txBody>
      </p:sp>
      <p:sp>
        <p:nvSpPr>
          <p:cNvPr id="26627" name="Text Box 1029"/>
          <p:cNvSpPr txBox="1">
            <a:spLocks noChangeArrowheads="1"/>
          </p:cNvSpPr>
          <p:nvPr/>
        </p:nvSpPr>
        <p:spPr bwMode="auto">
          <a:xfrm>
            <a:off x="2838451" y="5454650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i="1" dirty="0"/>
              <a:t>Source</a:t>
            </a:r>
            <a:r>
              <a:rPr lang="en-US" sz="1600" i="1" dirty="0">
                <a:solidFill>
                  <a:srgbClr val="C00000"/>
                </a:solidFill>
              </a:rPr>
              <a:t>:</a:t>
            </a:r>
            <a:r>
              <a:rPr lang="en-US" sz="1600" dirty="0"/>
              <a:t>  Olympic records.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1776BC-6668-4334-84A8-82C549BD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17" y="1447800"/>
            <a:ext cx="5996984" cy="3604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11A9F2-B93A-4521-8543-6836F97AD618}"/>
              </a:ext>
            </a:extLst>
          </p:cNvPr>
          <p:cNvSpPr txBox="1"/>
          <p:nvPr/>
        </p:nvSpPr>
        <p:spPr>
          <a:xfrm>
            <a:off x="6076949" y="5445125"/>
            <a:ext cx="1085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Not specific.</a:t>
            </a:r>
            <a:endParaRPr lang="en-US" dirty="0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2F90E560-8C62-4E97-9CD3-75C8DE011ED6}"/>
              </a:ext>
            </a:extLst>
          </p:cNvPr>
          <p:cNvSpPr/>
          <p:nvPr/>
        </p:nvSpPr>
        <p:spPr>
          <a:xfrm>
            <a:off x="5486400" y="5454650"/>
            <a:ext cx="381000" cy="336550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38844"/>
            <a:ext cx="4070940" cy="2442043"/>
          </a:xfrm>
          <a:prstGeom prst="rect">
            <a:avLst/>
          </a:prstGeom>
        </p:spPr>
      </p:pic>
      <p:pic>
        <p:nvPicPr>
          <p:cNvPr id="2765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893" y="3906868"/>
            <a:ext cx="1002751" cy="157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335108" y="1501963"/>
            <a:ext cx="2590800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Commercials and ads feature attractive actors portraying scientists, doctors, or business leaders with scientific-looking charts.  </a:t>
            </a:r>
          </a:p>
        </p:txBody>
      </p:sp>
      <p:sp>
        <p:nvSpPr>
          <p:cNvPr id="27652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Authority Figures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371600" y="4031956"/>
            <a:ext cx="2517818" cy="132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Because the public respects science, such displays impart credibility to self-serving commercial claims.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54" y="1538267"/>
            <a:ext cx="1143000" cy="1220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48400" y="4724400"/>
            <a:ext cx="2209800" cy="957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chart shows a weight loss of only 3 pounds. Was this attributable to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Zappo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pills? Who knows?</a:t>
            </a: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80A780B6-46E4-4A67-B3D9-B122A6882EB2}"/>
              </a:ext>
            </a:extLst>
          </p:cNvPr>
          <p:cNvSpPr/>
          <p:nvPr/>
        </p:nvSpPr>
        <p:spPr>
          <a:xfrm>
            <a:off x="7103571" y="4228487"/>
            <a:ext cx="381000" cy="3048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409700" y="1326874"/>
            <a:ext cx="6324600" cy="101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For dramatic effect, artists may superimpose a figure or drawing on a chart.  This can distract the reader or impart an emotional slant to the chart.</a:t>
            </a:r>
            <a:endParaRPr lang="en-US" sz="2000" dirty="0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Distracting Pictures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85584"/>
            <a:ext cx="4689000" cy="2812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550" y="3987322"/>
            <a:ext cx="838200" cy="10063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3" y="2813973"/>
            <a:ext cx="1025687" cy="8365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7550" y="5935222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But debt only increased by $300 in 15 years. </a:t>
            </a:r>
          </a:p>
        </p:txBody>
      </p:sp>
      <p:pic>
        <p:nvPicPr>
          <p:cNvPr id="8" name="Picture 3" descr="C:\Users\doane\AppData\Local\Microsoft\Windows\Temporary Internet Files\Content.IE5\YJVGYIN5\MP900439244[1].jpg">
            <a:extLst>
              <a:ext uri="{FF2B5EF4-FFF2-40B4-BE49-F238E27FC236}">
                <a16:creationId xmlns:a16="http://schemas.microsoft.com/office/drawing/2014/main" id="{D5941ED0-A1B3-4F9A-85FC-4248BBA95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879112"/>
            <a:ext cx="629995" cy="41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Distracting Pictures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902301-9722-445A-88FC-87FD32CC3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26" y="1660525"/>
            <a:ext cx="6817148" cy="4095750"/>
          </a:xfrm>
          <a:prstGeom prst="rect">
            <a:avLst/>
          </a:prstGeom>
        </p:spPr>
      </p:pic>
      <p:pic>
        <p:nvPicPr>
          <p:cNvPr id="31750" name="Picture 9" descr="pe01027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662" y="3352800"/>
            <a:ext cx="865188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5" descr="hm00163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419475"/>
            <a:ext cx="20764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6" descr="pe02364_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022600"/>
            <a:ext cx="9652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1752600" y="1371600"/>
            <a:ext cx="6324600" cy="1785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Bar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width</a:t>
            </a:r>
            <a:r>
              <a:rPr lang="en-US" sz="2000" dirty="0">
                <a:latin typeface="Arial" charset="0"/>
              </a:rPr>
              <a:t> changes as well as bar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height</a:t>
            </a:r>
            <a:r>
              <a:rPr lang="en-US" sz="2000" dirty="0">
                <a:latin typeface="Arial" charset="0"/>
              </a:rPr>
              <a:t>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This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area trick</a:t>
            </a:r>
            <a:r>
              <a:rPr lang="en-US" sz="2000" dirty="0">
                <a:latin typeface="Arial" charset="0"/>
              </a:rPr>
              <a:t> distorts the trend.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 As bar height increases, so does width</a:t>
            </a:r>
          </a:p>
          <a:p>
            <a:pPr marL="342900" indent="-342900">
              <a:spcBef>
                <a:spcPct val="5000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Arial" charset="0"/>
              </a:rPr>
              <a:t>This distorts the area. Pictures worsen the effect.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Area Trick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672B7B-B911-4D5F-AA82-589A0A709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52800"/>
            <a:ext cx="4101663" cy="271624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762000" y="1256986"/>
            <a:ext cx="746760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Both width </a:t>
            </a:r>
            <a:r>
              <a:rPr lang="en-US" sz="2000" i="1" dirty="0">
                <a:solidFill>
                  <a:srgbClr val="C00000"/>
                </a:solidFill>
                <a:latin typeface="Arial" charset="0"/>
              </a:rPr>
              <a:t>and</a:t>
            </a:r>
            <a:r>
              <a:rPr lang="en-US" sz="2000" dirty="0">
                <a:latin typeface="Arial" charset="0"/>
              </a:rPr>
              <a:t> height change.</a:t>
            </a:r>
            <a:endParaRPr lang="en-US" sz="2000" b="1" dirty="0">
              <a:solidFill>
                <a:srgbClr val="C00000"/>
              </a:solidFill>
              <a:latin typeface="Arial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Area Trick</a:t>
            </a:r>
          </a:p>
        </p:txBody>
      </p:sp>
      <p:pic>
        <p:nvPicPr>
          <p:cNvPr id="33796" name="Picture 5" descr="Quar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" t="111" r="41054" b="40997"/>
          <a:stretch>
            <a:fillRect/>
          </a:stretch>
        </p:blipFill>
        <p:spPr bwMode="auto">
          <a:xfrm>
            <a:off x="5326862" y="3154414"/>
            <a:ext cx="2486119" cy="2492243"/>
          </a:xfrm>
          <a:prstGeom prst="rect">
            <a:avLst/>
          </a:prstGeom>
          <a:solidFill>
            <a:srgbClr val="66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</p:pic>
      <p:pic>
        <p:nvPicPr>
          <p:cNvPr id="33797" name="Picture 6" descr="Quar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" t="111" r="41054" b="40997"/>
          <a:stretch>
            <a:fillRect/>
          </a:stretch>
        </p:blipFill>
        <p:spPr bwMode="auto">
          <a:xfrm>
            <a:off x="3102281" y="3932776"/>
            <a:ext cx="1709698" cy="1713882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8" name="Picture 7" descr="Quar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" t="111" r="41054" b="40997"/>
          <a:stretch>
            <a:fillRect/>
          </a:stretch>
        </p:blipFill>
        <p:spPr bwMode="auto">
          <a:xfrm>
            <a:off x="1753263" y="4809814"/>
            <a:ext cx="834135" cy="836843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1674367" y="5646657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2010</a:t>
            </a:r>
          </a:p>
        </p:txBody>
      </p:sp>
      <p:sp>
        <p:nvSpPr>
          <p:cNvPr id="33800" name="Text Box 9"/>
          <p:cNvSpPr txBox="1">
            <a:spLocks noChangeArrowheads="1"/>
          </p:cNvSpPr>
          <p:nvPr/>
        </p:nvSpPr>
        <p:spPr bwMode="auto">
          <a:xfrm>
            <a:off x="3438525" y="570645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2015</a:t>
            </a:r>
          </a:p>
        </p:txBody>
      </p:sp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943599" y="570645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tx2"/>
                </a:solidFill>
                <a:latin typeface="Arial" charset="0"/>
              </a:rPr>
              <a:t>2020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0098" y="1833518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large coin’s </a:t>
            </a: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height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is 3 times the small coin’s </a:t>
            </a: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height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6862" y="1882856"/>
            <a:ext cx="2486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But the large coin’s </a:t>
            </a: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is 9 times the small coin’s </a:t>
            </a: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Down Arrow 4"/>
          <p:cNvSpPr/>
          <p:nvPr/>
        </p:nvSpPr>
        <p:spPr>
          <a:xfrm>
            <a:off x="1979167" y="2456757"/>
            <a:ext cx="533400" cy="51124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4" name="Down Arrow 4">
            <a:extLst>
              <a:ext uri="{FF2B5EF4-FFF2-40B4-BE49-F238E27FC236}">
                <a16:creationId xmlns:a16="http://schemas.microsoft.com/office/drawing/2014/main" id="{1F365050-BDC6-4E1F-B222-807B36A7333D}"/>
              </a:ext>
            </a:extLst>
          </p:cNvPr>
          <p:cNvSpPr/>
          <p:nvPr/>
        </p:nvSpPr>
        <p:spPr>
          <a:xfrm>
            <a:off x="6303221" y="2457880"/>
            <a:ext cx="533400" cy="511245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+mn-lt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Area Trick</a:t>
            </a:r>
          </a:p>
        </p:txBody>
      </p:sp>
      <p:sp>
        <p:nvSpPr>
          <p:cNvPr id="34824" name="Text Box 9"/>
          <p:cNvSpPr txBox="1">
            <a:spLocks noChangeArrowheads="1"/>
          </p:cNvSpPr>
          <p:nvPr/>
        </p:nvSpPr>
        <p:spPr bwMode="auto">
          <a:xfrm>
            <a:off x="1905000" y="1346536"/>
            <a:ext cx="6069726" cy="1015663"/>
          </a:xfrm>
          <a:prstGeom prst="rect">
            <a:avLst/>
          </a:prstGeom>
          <a:noFill/>
          <a:ln w="15875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Increasing width as well as height exaggerates change. Visually we could fit 17 bars from 2000 inside the 2020 bar (actual increase was 5.6 times).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FC9B1-5289-4BBA-9652-253E622D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68" y="2520015"/>
            <a:ext cx="5549463" cy="3675018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Radar Chart</a:t>
            </a:r>
          </a:p>
        </p:txBody>
      </p:sp>
      <p:sp>
        <p:nvSpPr>
          <p:cNvPr id="35845" name="Text Box 13"/>
          <p:cNvSpPr txBox="1">
            <a:spLocks noChangeArrowheads="1"/>
          </p:cNvSpPr>
          <p:nvPr/>
        </p:nvSpPr>
        <p:spPr bwMode="auto">
          <a:xfrm>
            <a:off x="5486400" y="1283791"/>
            <a:ext cx="3200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Arial" charset="0"/>
              </a:rPr>
              <a:t>Sometimes called a “spider chart.”  Distorts data by showing areas instead of proportions.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199" y="4635771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Arial" charset="0"/>
              </a:rPr>
              <a:t>Tip: </a:t>
            </a:r>
            <a:r>
              <a:rPr lang="en-US" sz="1400" dirty="0">
                <a:latin typeface="Arial" charset="0"/>
              </a:rPr>
              <a:t>Avoid this type of chart.</a:t>
            </a:r>
            <a:endParaRPr lang="en-US" sz="1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95" y="4177282"/>
            <a:ext cx="758207" cy="4584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AFC616-7D4F-4741-85E7-F9D0A9814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90114"/>
            <a:ext cx="3777289" cy="14642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9CB965-7FF8-48EA-BF41-16E63B4FA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525" y="3160790"/>
            <a:ext cx="5791200" cy="31813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2205037" y="3505200"/>
            <a:ext cx="4953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dirty="0">
                <a:latin typeface="Arial" charset="0"/>
              </a:rPr>
              <a:t>“... a lie which is half a truth is a harder matter to fight”</a:t>
            </a:r>
          </a:p>
          <a:p>
            <a:pPr algn="ctr">
              <a:spcBef>
                <a:spcPct val="50000"/>
              </a:spcBef>
            </a:pPr>
            <a:r>
              <a:rPr lang="en-US" sz="1600" dirty="0">
                <a:latin typeface="Arial" charset="0"/>
              </a:rPr>
              <a:t>- A. Tennyson (1864)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062" y="1657855"/>
            <a:ext cx="2047875" cy="17901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92075" tIns="46038" rIns="92075" bIns="46038">
        <a:spAutoFit/>
      </a:bodyPr>
      <a:lstStyle>
        <a:defPPr algn="ctr">
          <a:spcBef>
            <a:spcPct val="50000"/>
          </a:spcBef>
          <a:defRPr sz="3600" b="1" dirty="0">
            <a:solidFill>
              <a:srgbClr val="C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6766</TotalTime>
  <Words>1150</Words>
  <Application>Microsoft Office PowerPoint</Application>
  <PresentationFormat>On-screen Show (4:3)</PresentationFormat>
  <Paragraphs>125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Franklin Gothic Book</vt:lpstr>
      <vt:lpstr>Franklin Gothic Medium</vt:lpstr>
      <vt:lpstr>Times New Roman</vt:lpstr>
      <vt:lpstr>Wingdings</vt:lpstr>
      <vt:lpstr>Angles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Presentation Rules - Part II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134</cp:revision>
  <dcterms:created xsi:type="dcterms:W3CDTF">1998-04-14T00:31:44Z</dcterms:created>
  <dcterms:modified xsi:type="dcterms:W3CDTF">2023-11-29T09:57:40Z</dcterms:modified>
</cp:coreProperties>
</file>