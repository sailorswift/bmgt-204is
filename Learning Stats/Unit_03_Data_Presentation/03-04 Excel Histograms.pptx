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3"/>
  </p:notesMasterIdLst>
  <p:sldIdLst>
    <p:sldId id="256" r:id="rId2"/>
    <p:sldId id="331" r:id="rId3"/>
    <p:sldId id="334" r:id="rId4"/>
    <p:sldId id="336" r:id="rId5"/>
    <p:sldId id="351" r:id="rId6"/>
    <p:sldId id="349" r:id="rId7"/>
    <p:sldId id="268" r:id="rId8"/>
    <p:sldId id="350" r:id="rId9"/>
    <p:sldId id="353" r:id="rId10"/>
    <p:sldId id="329" r:id="rId11"/>
    <p:sldId id="342" r:id="rId12"/>
    <p:sldId id="343" r:id="rId13"/>
    <p:sldId id="344" r:id="rId14"/>
    <p:sldId id="346" r:id="rId15"/>
    <p:sldId id="339" r:id="rId16"/>
    <p:sldId id="341" r:id="rId17"/>
    <p:sldId id="340" r:id="rId18"/>
    <p:sldId id="320" r:id="rId19"/>
    <p:sldId id="308" r:id="rId20"/>
    <p:sldId id="352" r:id="rId21"/>
    <p:sldId id="319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CC"/>
    <a:srgbClr val="0000FF"/>
    <a:srgbClr val="99CCFF"/>
    <a:srgbClr val="0033CC"/>
    <a:srgbClr val="CC0000"/>
    <a:srgbClr val="CCECFF"/>
    <a:srgbClr val="FF6699"/>
    <a:srgbClr val="FF3300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979" autoAdjust="0"/>
    <p:restoredTop sz="90929"/>
  </p:normalViewPr>
  <p:slideViewPr>
    <p:cSldViewPr>
      <p:cViewPr varScale="1">
        <p:scale>
          <a:sx n="57" d="100"/>
          <a:sy n="57" d="100"/>
        </p:scale>
        <p:origin x="9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27668-37A5-46F3-9144-1D12C846A8CD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9BBB2-C1E3-432B-92E6-FF2486ED9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25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9BBB2-C1E3-432B-92E6-FF2486ED94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28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D82CF-0560-460B-9950-96968E9D38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3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76324-1719-4CB0-B84E-C6D3BB035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33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9088D-25E4-45AF-AF1B-43AFA6A8E4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9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D9ADD-21EB-4960-B95D-3A3D272BE6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19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CC814-55F7-4F22-828A-9E580E54BB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3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4D6EE-1397-4AE4-87E4-54CE250CB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1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3D371-D84A-4F3F-A95C-A3FFE620DD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7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5EEAB-96D7-4950-A327-770D7A0535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17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C4C60-A7B8-410A-91E4-FFA241B10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9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35C12F-277C-4A66-B6E7-80DC77C734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34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A49E74-07F4-4647-9153-CF4DC73642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5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F0F8C44-B223-4D4C-98E5-80924220E3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2209800"/>
            <a:ext cx="4876800" cy="15240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Making Excel</a:t>
            </a: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Histograms</a:t>
            </a:r>
          </a:p>
        </p:txBody>
      </p:sp>
      <p:sp>
        <p:nvSpPr>
          <p:cNvPr id="2051" name="Text Box 12"/>
          <p:cNvSpPr txBox="1">
            <a:spLocks noChangeArrowheads="1"/>
          </p:cNvSpPr>
          <p:nvPr/>
        </p:nvSpPr>
        <p:spPr bwMode="auto">
          <a:xfrm>
            <a:off x="990600" y="5943600"/>
            <a:ext cx="7162800" cy="523220"/>
          </a:xfrm>
          <a:prstGeom prst="rect">
            <a:avLst/>
          </a:prstGeom>
          <a:solidFill>
            <a:srgbClr val="FFFF99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 dirty="0">
                <a:solidFill>
                  <a:srgbClr val="993300"/>
                </a:solidFill>
              </a:rPr>
              <a:t>© McGraw Hill LLC. All rights reserved. </a:t>
            </a:r>
            <a:r>
              <a:rPr lang="en-US" sz="1400" b="1">
                <a:solidFill>
                  <a:srgbClr val="993300"/>
                </a:solidFill>
              </a:rPr>
              <a:t>No reproduction or distribution without the prior written consent of McGraw Hill LLC.</a:t>
            </a:r>
            <a:endParaRPr lang="en-US" sz="1400" b="1" dirty="0">
              <a:solidFill>
                <a:srgbClr val="9933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What is a Histogram?</a:t>
            </a:r>
          </a:p>
        </p:txBody>
      </p:sp>
      <p:sp>
        <p:nvSpPr>
          <p:cNvPr id="3075" name="Text Box 7"/>
          <p:cNvSpPr txBox="1">
            <a:spLocks noChangeArrowheads="1"/>
          </p:cNvSpPr>
          <p:nvPr/>
        </p:nvSpPr>
        <p:spPr bwMode="auto">
          <a:xfrm>
            <a:off x="1447800" y="1295400"/>
            <a:ext cx="70104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 histogram is a 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chart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Excel.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Column height (vertical axis) shows frequency.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Intervals (horizontal axis) show the x-values.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Intervals (called 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are shown by x-axis labels.</a:t>
            </a:r>
          </a:p>
        </p:txBody>
      </p:sp>
      <p:pic>
        <p:nvPicPr>
          <p:cNvPr id="307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657600"/>
            <a:ext cx="3398838" cy="27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9" descr="Business 4107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495800"/>
            <a:ext cx="1143000" cy="148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Bin Limits</a:t>
            </a:r>
          </a:p>
        </p:txBody>
      </p:sp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990600" y="1219200"/>
            <a:ext cx="4800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Different bin limits may affect your perception of the distribution’s shape.</a:t>
            </a:r>
          </a:p>
        </p:txBody>
      </p:sp>
      <p:pic>
        <p:nvPicPr>
          <p:cNvPr id="410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572000"/>
            <a:ext cx="2530475" cy="18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572000"/>
            <a:ext cx="2384425" cy="176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572000"/>
            <a:ext cx="2530475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667000"/>
            <a:ext cx="18383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362200"/>
            <a:ext cx="183832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219200"/>
            <a:ext cx="1838325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Raw Data</a:t>
            </a:r>
          </a:p>
        </p:txBody>
      </p:sp>
      <p:sp>
        <p:nvSpPr>
          <p:cNvPr id="5123" name="Text Box 7"/>
          <p:cNvSpPr txBox="1">
            <a:spLocks noChangeArrowheads="1"/>
          </p:cNvSpPr>
          <p:nvPr/>
        </p:nvSpPr>
        <p:spPr bwMode="auto">
          <a:xfrm>
            <a:off x="2438400" y="1311414"/>
            <a:ext cx="457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Raw data does not tell you very much about the 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the distribution.</a:t>
            </a:r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5257800" y="2971800"/>
            <a:ext cx="2362200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000" i="1">
                <a:solidFill>
                  <a:srgbClr val="800000"/>
                </a:solidFill>
                <a:latin typeface="Arial" charset="0"/>
                <a:cs typeface="Arial" charset="0"/>
              </a:rPr>
              <a:t>Note: </a:t>
            </a:r>
            <a:r>
              <a:rPr lang="en-US" sz="1000">
                <a:solidFill>
                  <a:srgbClr val="000000"/>
                </a:solidFill>
                <a:latin typeface="Arial" charset="0"/>
                <a:cs typeface="Arial" charset="0"/>
              </a:rPr>
              <a:t>Data show the "current ratio" for 75 small manufacturing firms.  This measure of liquidity is defined as (current assets)/(current liabilities).  If this ratio is below 1, the firm does not have enough assets to meet its liabilities and is insolvent. A ratio of 1.5 to 2 is generally considered desirable, while a ratio of more than 2 could mean that the firm too much money tied up in non-earning assets.</a:t>
            </a:r>
          </a:p>
        </p:txBody>
      </p:sp>
      <p:pic>
        <p:nvPicPr>
          <p:cNvPr id="512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514600"/>
            <a:ext cx="191452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Left Arrow 7"/>
          <p:cNvSpPr>
            <a:spLocks noChangeArrowheads="1"/>
          </p:cNvSpPr>
          <p:nvPr/>
        </p:nvSpPr>
        <p:spPr bwMode="auto">
          <a:xfrm>
            <a:off x="4495800" y="3505200"/>
            <a:ext cx="457200" cy="533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Three Ways</a:t>
            </a:r>
          </a:p>
        </p:txBody>
      </p:sp>
      <p:sp>
        <p:nvSpPr>
          <p:cNvPr id="5123" name="Text Box 7"/>
          <p:cNvSpPr txBox="1">
            <a:spLocks noChangeArrowheads="1"/>
          </p:cNvSpPr>
          <p:nvPr/>
        </p:nvSpPr>
        <p:spPr bwMode="auto">
          <a:xfrm>
            <a:off x="2819400" y="1315345"/>
            <a:ext cx="3581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make a histogram in Excel: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153888"/>
              </p:ext>
            </p:extLst>
          </p:nvPr>
        </p:nvGraphicFramePr>
        <p:xfrm>
          <a:off x="1390650" y="2743200"/>
          <a:ext cx="6438900" cy="2316480"/>
        </p:xfrm>
        <a:graphic>
          <a:graphicData uri="http://schemas.openxmlformats.org/drawingml/2006/table">
            <a:tbl>
              <a:tblPr firstRow="1" bandRow="1">
                <a:solidFill>
                  <a:schemeClr val="accent2"/>
                </a:solidFill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89719579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16193659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187902529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rgbClr val="FFFFFF"/>
                          </a:solidFill>
                          <a:latin typeface="+mj-lt"/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rgbClr val="FFFFFF"/>
                          </a:solidFill>
                          <a:latin typeface="+mj-lt"/>
                        </a:rPr>
                        <a:t>Pro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rgbClr val="FFFFFF"/>
                          </a:solidFill>
                          <a:latin typeface="+mj-lt"/>
                        </a:rPr>
                        <a:t>Con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99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Quick Histogram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Weird bins</a:t>
                      </a:r>
                    </a:p>
                    <a:p>
                      <a:r>
                        <a:rPr lang="en-US" dirty="0"/>
                        <a:t>- No bin control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996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Data Analysis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Menu guidance</a:t>
                      </a:r>
                    </a:p>
                    <a:p>
                      <a:r>
                        <a:rPr lang="en-US" dirty="0"/>
                        <a:t>- Option to set bins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Weird histogram</a:t>
                      </a:r>
                    </a:p>
                    <a:p>
                      <a:r>
                        <a:rPr lang="en-US" dirty="0"/>
                        <a:t>- Hard to edit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57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 Do-It-Yourself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Full control</a:t>
                      </a:r>
                    </a:p>
                    <a:p>
                      <a:r>
                        <a:rPr lang="en-US" dirty="0"/>
                        <a:t>- “Live” histogram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Requires editing</a:t>
                      </a:r>
                    </a:p>
                    <a:p>
                      <a:r>
                        <a:rPr lang="en-US" dirty="0"/>
                        <a:t>- Uses array</a:t>
                      </a:r>
                      <a:r>
                        <a:rPr lang="en-US" baseline="0" dirty="0"/>
                        <a:t> function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864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327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6147" name="Text Box 7"/>
          <p:cNvSpPr txBox="1">
            <a:spLocks noChangeArrowheads="1"/>
          </p:cNvSpPr>
          <p:nvPr/>
        </p:nvSpPr>
        <p:spPr bwMode="auto">
          <a:xfrm>
            <a:off x="2514600" y="1194405"/>
            <a:ext cx="4495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1: Enter the data.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18C828-0D03-B41D-DF7E-C847902F1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5348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014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F1431C-62E3-9276-C17A-7199A31AD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192448" cy="4343400"/>
          </a:xfrm>
          <a:prstGeom prst="rect">
            <a:avLst/>
          </a:prstGeom>
        </p:spPr>
      </p:pic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Quick Histogram</a:t>
            </a:r>
          </a:p>
        </p:txBody>
      </p:sp>
      <p:sp>
        <p:nvSpPr>
          <p:cNvPr id="6147" name="Text Box 7"/>
          <p:cNvSpPr txBox="1">
            <a:spLocks noChangeArrowheads="1"/>
          </p:cNvSpPr>
          <p:nvPr/>
        </p:nvSpPr>
        <p:spPr bwMode="auto">
          <a:xfrm>
            <a:off x="2171700" y="1063462"/>
            <a:ext cx="5029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2: Highlight the data, click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tab, select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icon, and click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Histogram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2057400" y="2057400"/>
            <a:ext cx="457199" cy="313509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724275" y="2502473"/>
            <a:ext cx="266700" cy="263012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429000" y="2832462"/>
            <a:ext cx="457200" cy="444138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Quick Histogram</a:t>
            </a:r>
          </a:p>
        </p:txBody>
      </p:sp>
      <p:sp>
        <p:nvSpPr>
          <p:cNvPr id="6147" name="Text Box 7"/>
          <p:cNvSpPr txBox="1">
            <a:spLocks noChangeArrowheads="1"/>
          </p:cNvSpPr>
          <p:nvPr/>
        </p:nvSpPr>
        <p:spPr bwMode="auto">
          <a:xfrm>
            <a:off x="1828800" y="1117819"/>
            <a:ext cx="55862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3: Do you like the “quick” histogram?</a:t>
            </a:r>
          </a:p>
        </p:txBody>
      </p:sp>
      <p:sp>
        <p:nvSpPr>
          <p:cNvPr id="8" name="Oval 7"/>
          <p:cNvSpPr/>
          <p:nvPr/>
        </p:nvSpPr>
        <p:spPr>
          <a:xfrm>
            <a:off x="5638800" y="2186554"/>
            <a:ext cx="381000" cy="32804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EEDB79-0212-1283-D2CA-BD73615A1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5348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3988" y="3429000"/>
            <a:ext cx="1905000" cy="1323439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Comment</a:t>
            </a:r>
            <a:r>
              <a:rPr lang="en-US" sz="1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Excel chose 3 bins, but Sturges’ Rule suggests 7 bins for </a:t>
            </a:r>
            <a:r>
              <a:rPr lang="en-US" sz="1000" i="1" dirty="0">
                <a:latin typeface="Arial" pitchFamily="34" charset="0"/>
                <a:cs typeface="Arial" pitchFamily="34" charset="0"/>
              </a:rPr>
              <a:t>n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= 75:</a:t>
            </a:r>
          </a:p>
          <a:p>
            <a:pPr>
              <a:defRPr/>
            </a:pPr>
            <a:endParaRPr lang="en-US" sz="10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1000" i="1" dirty="0">
                <a:latin typeface="Arial" pitchFamily="34" charset="0"/>
                <a:cs typeface="Arial" pitchFamily="34" charset="0"/>
              </a:rPr>
              <a:t>k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= 1 + 3.3 log(</a:t>
            </a:r>
            <a:r>
              <a:rPr lang="en-US" sz="1000" i="1" dirty="0">
                <a:latin typeface="Arial" pitchFamily="34" charset="0"/>
                <a:cs typeface="Arial" pitchFamily="34" charset="0"/>
              </a:rPr>
              <a:t>n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defRPr/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1000" i="1" dirty="0">
                <a:latin typeface="Arial" pitchFamily="34" charset="0"/>
                <a:cs typeface="Arial" pitchFamily="34" charset="0"/>
              </a:rPr>
              <a:t>k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= 1 + 3.3 log(75)</a:t>
            </a:r>
          </a:p>
          <a:p>
            <a:pPr>
              <a:defRPr/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1000" i="1" dirty="0">
                <a:latin typeface="Arial" pitchFamily="34" charset="0"/>
                <a:cs typeface="Arial" pitchFamily="34" charset="0"/>
              </a:rPr>
              <a:t>k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= 1 + 3.3 (1.875)</a:t>
            </a:r>
          </a:p>
          <a:p>
            <a:pPr>
              <a:defRPr/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1000" i="1" dirty="0">
                <a:latin typeface="Arial" pitchFamily="34" charset="0"/>
                <a:cs typeface="Arial" pitchFamily="34" charset="0"/>
              </a:rPr>
              <a:t>k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0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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7 bins </a:t>
            </a:r>
          </a:p>
        </p:txBody>
      </p:sp>
      <p:sp>
        <p:nvSpPr>
          <p:cNvPr id="10" name="Left Arrow 8">
            <a:extLst>
              <a:ext uri="{FF2B5EF4-FFF2-40B4-BE49-F238E27FC236}">
                <a16:creationId xmlns:a16="http://schemas.microsoft.com/office/drawing/2014/main" id="{135DA168-C2F8-46E7-D7C7-1D5911826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488" y="3886201"/>
            <a:ext cx="457200" cy="457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41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Quick Histogram</a:t>
            </a:r>
          </a:p>
        </p:txBody>
      </p:sp>
      <p:sp>
        <p:nvSpPr>
          <p:cNvPr id="6147" name="Text Box 7"/>
          <p:cNvSpPr txBox="1">
            <a:spLocks noChangeArrowheads="1"/>
          </p:cNvSpPr>
          <p:nvPr/>
        </p:nvSpPr>
        <p:spPr bwMode="auto">
          <a:xfrm>
            <a:off x="2971800" y="963931"/>
            <a:ext cx="40239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4: Use the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 Design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tab to edit colors or add a title.</a:t>
            </a:r>
          </a:p>
        </p:txBody>
      </p:sp>
      <p:sp>
        <p:nvSpPr>
          <p:cNvPr id="8" name="Oval 7"/>
          <p:cNvSpPr/>
          <p:nvPr/>
        </p:nvSpPr>
        <p:spPr>
          <a:xfrm>
            <a:off x="5638800" y="2186554"/>
            <a:ext cx="381000" cy="32804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54374-593D-8E64-6E8D-EF90586F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53488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74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05CB10-B299-6868-777D-43C06862F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53488" cy="4343400"/>
          </a:xfrm>
          <a:prstGeom prst="rect">
            <a:avLst/>
          </a:prstGeom>
        </p:spPr>
      </p:pic>
      <p:sp>
        <p:nvSpPr>
          <p:cNvPr id="71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 Analysis Tools</a:t>
            </a:r>
          </a:p>
        </p:txBody>
      </p:sp>
      <p:sp>
        <p:nvSpPr>
          <p:cNvPr id="7172" name="Text Box 7"/>
          <p:cNvSpPr txBox="1">
            <a:spLocks noChangeArrowheads="1"/>
          </p:cNvSpPr>
          <p:nvPr/>
        </p:nvSpPr>
        <p:spPr bwMode="auto">
          <a:xfrm>
            <a:off x="1625009" y="1028145"/>
            <a:ext cx="643155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1. Enter your own upper bin limits. Be sure to cover the data range. Excel 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upper bin limit.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4498" y="3429000"/>
            <a:ext cx="2345043" cy="123110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Comment: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Only the </a:t>
            </a:r>
            <a:r>
              <a:rPr lang="en-US" sz="1400" i="1" dirty="0">
                <a:solidFill>
                  <a:srgbClr val="C00000"/>
                </a:solidFill>
                <a:latin typeface="Calibri" pitchFamily="34" charset="0"/>
                <a:cs typeface="Arial" charset="0"/>
              </a:rPr>
              <a:t>upper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bin limits are used for your histogram. But it’s a good idea also to create lower bin limits so you can interpret the intervals or use them as bin labels</a:t>
            </a:r>
          </a:p>
        </p:txBody>
      </p:sp>
      <p:sp>
        <p:nvSpPr>
          <p:cNvPr id="7175" name="Left Arrow 8"/>
          <p:cNvSpPr>
            <a:spLocks noChangeArrowheads="1"/>
          </p:cNvSpPr>
          <p:nvPr/>
        </p:nvSpPr>
        <p:spPr bwMode="auto">
          <a:xfrm>
            <a:off x="5124450" y="3888581"/>
            <a:ext cx="457200" cy="457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DEA4E7-B779-48D0-AA32-D545FA71D1DF}"/>
              </a:ext>
            </a:extLst>
          </p:cNvPr>
          <p:cNvSpPr/>
          <p:nvPr/>
        </p:nvSpPr>
        <p:spPr>
          <a:xfrm>
            <a:off x="4038601" y="3414073"/>
            <a:ext cx="741628" cy="1172853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A1ABA0-7A10-996A-79D9-96220BE4B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12869" cy="4343400"/>
          </a:xfrm>
          <a:prstGeom prst="rect">
            <a:avLst/>
          </a:prstGeom>
        </p:spPr>
      </p:pic>
      <p:sp>
        <p:nvSpPr>
          <p:cNvPr id="819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 Analysis Tools</a:t>
            </a:r>
          </a:p>
        </p:txBody>
      </p:sp>
      <p:sp>
        <p:nvSpPr>
          <p:cNvPr id="8196" name="Line 6"/>
          <p:cNvSpPr>
            <a:spLocks noChangeShapeType="1"/>
          </p:cNvSpPr>
          <p:nvPr/>
        </p:nvSpPr>
        <p:spPr bwMode="auto">
          <a:xfrm>
            <a:off x="6166884" y="1447800"/>
            <a:ext cx="611372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2059171" y="1031764"/>
            <a:ext cx="487325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2. On the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ribbon, click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Analysis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then choose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Histogram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272" name="TextBox 10"/>
          <p:cNvSpPr txBox="1">
            <a:spLocks noChangeArrowheads="1"/>
          </p:cNvSpPr>
          <p:nvPr/>
        </p:nvSpPr>
        <p:spPr bwMode="auto">
          <a:xfrm>
            <a:off x="6629311" y="4953000"/>
            <a:ext cx="1910316" cy="646331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i="1" dirty="0">
                <a:solidFill>
                  <a:srgbClr val="C00000"/>
                </a:solidFill>
                <a:latin typeface="Arial" charset="0"/>
                <a:cs typeface="Arial" charset="0"/>
              </a:rPr>
              <a:t>Hint: </a:t>
            </a:r>
            <a:r>
              <a:rPr lang="en-US" sz="1200" dirty="0">
                <a:latin typeface="Arial" charset="0"/>
                <a:cs typeface="Arial" charset="0"/>
              </a:rPr>
              <a:t>If you don’t see </a:t>
            </a:r>
            <a:r>
              <a:rPr lang="en-US" sz="1200" dirty="0">
                <a:solidFill>
                  <a:srgbClr val="C00000"/>
                </a:solidFill>
                <a:latin typeface="Arial" charset="0"/>
                <a:cs typeface="Arial" charset="0"/>
              </a:rPr>
              <a:t>Data Analysis </a:t>
            </a:r>
            <a:r>
              <a:rPr lang="en-US" sz="1200" dirty="0">
                <a:latin typeface="Arial" charset="0"/>
                <a:cs typeface="Arial" charset="0"/>
              </a:rPr>
              <a:t>you may need to install it.</a:t>
            </a: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5319526" y="1739651"/>
            <a:ext cx="100808" cy="1914364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466909" y="2143125"/>
            <a:ext cx="381000" cy="2286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107962" y="2321036"/>
            <a:ext cx="771103" cy="222139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786945" y="4419600"/>
            <a:ext cx="771103" cy="407894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FDAF68-C894-CD03-4160-8DA96D7B1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36997" cy="4343400"/>
          </a:xfrm>
          <a:prstGeom prst="rect">
            <a:avLst/>
          </a:prstGeom>
        </p:spPr>
      </p:pic>
      <p:sp>
        <p:nvSpPr>
          <p:cNvPr id="921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 Analysis Tools</a:t>
            </a:r>
          </a:p>
        </p:txBody>
      </p:sp>
      <p:sp>
        <p:nvSpPr>
          <p:cNvPr id="9220" name="Text Box 7"/>
          <p:cNvSpPr txBox="1">
            <a:spLocks noChangeArrowheads="1"/>
          </p:cNvSpPr>
          <p:nvPr/>
        </p:nvSpPr>
        <p:spPr bwMode="auto">
          <a:xfrm>
            <a:off x="1676400" y="1066800"/>
            <a:ext cx="6324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3. Specify data range, upper bin limits, and output location. You 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check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 Output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 flipH="1">
            <a:off x="5334000" y="1774686"/>
            <a:ext cx="914400" cy="3078024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838700" y="4953000"/>
            <a:ext cx="793012" cy="23653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82DFC0-04DD-6FAD-6B27-4FF3919C0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53488" cy="4343400"/>
          </a:xfrm>
          <a:prstGeom prst="rect">
            <a:avLst/>
          </a:prstGeom>
        </p:spPr>
      </p:pic>
      <p:sp>
        <p:nvSpPr>
          <p:cNvPr id="1024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 Analysis Tools</a:t>
            </a:r>
          </a:p>
        </p:txBody>
      </p:sp>
      <p:sp>
        <p:nvSpPr>
          <p:cNvPr id="10244" name="Text Box 7"/>
          <p:cNvSpPr txBox="1">
            <a:spLocks noChangeArrowheads="1"/>
          </p:cNvSpPr>
          <p:nvPr/>
        </p:nvSpPr>
        <p:spPr bwMode="auto">
          <a:xfrm>
            <a:off x="1898439" y="1161990"/>
            <a:ext cx="5791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4. You can edit the resulting chart (optional). </a:t>
            </a:r>
          </a:p>
        </p:txBody>
      </p:sp>
      <p:sp>
        <p:nvSpPr>
          <p:cNvPr id="10245" name="Line 6"/>
          <p:cNvSpPr>
            <a:spLocks noChangeShapeType="1"/>
          </p:cNvSpPr>
          <p:nvPr/>
        </p:nvSpPr>
        <p:spPr bwMode="auto">
          <a:xfrm flipH="1" flipV="1">
            <a:off x="5638800" y="4571998"/>
            <a:ext cx="76200" cy="44165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Box 10"/>
          <p:cNvSpPr txBox="1">
            <a:spLocks noChangeArrowheads="1"/>
          </p:cNvSpPr>
          <p:nvPr/>
        </p:nvSpPr>
        <p:spPr bwMode="auto">
          <a:xfrm>
            <a:off x="5410200" y="4865013"/>
            <a:ext cx="2990850" cy="830997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Excel's bin labels are centered on the bars rather than aligned with the tick marks.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That’s weird, but you can’t do anything about it!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1352C9-3656-D819-11DF-5D8FF58B2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53488" cy="4343400"/>
          </a:xfrm>
          <a:prstGeom prst="rect">
            <a:avLst/>
          </a:prstGeom>
        </p:spPr>
      </p:pic>
      <p:sp>
        <p:nvSpPr>
          <p:cNvPr id="1229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Do-It-Yourself</a:t>
            </a:r>
          </a:p>
        </p:txBody>
      </p:sp>
      <p:sp>
        <p:nvSpPr>
          <p:cNvPr id="12292" name="Text Box 7"/>
          <p:cNvSpPr txBox="1">
            <a:spLocks noChangeArrowheads="1"/>
          </p:cNvSpPr>
          <p:nvPr/>
        </p:nvSpPr>
        <p:spPr bwMode="auto">
          <a:xfrm>
            <a:off x="1949502" y="1066740"/>
            <a:ext cx="56755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1. Start by entering your own bin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6288" y="3486834"/>
            <a:ext cx="1828800" cy="646331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Enter your bin upper limits (this limit will be </a:t>
            </a:r>
            <a:r>
              <a:rPr lang="en-US" sz="12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included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in the interval).</a:t>
            </a:r>
          </a:p>
        </p:txBody>
      </p:sp>
      <p:sp>
        <p:nvSpPr>
          <p:cNvPr id="12294" name="Left Arrow 8"/>
          <p:cNvSpPr>
            <a:spLocks noChangeArrowheads="1"/>
          </p:cNvSpPr>
          <p:nvPr/>
        </p:nvSpPr>
        <p:spPr bwMode="auto">
          <a:xfrm>
            <a:off x="5105400" y="3581400"/>
            <a:ext cx="457200" cy="457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789768" y="4267200"/>
            <a:ext cx="2162085" cy="1046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Comment: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Only the </a:t>
            </a:r>
            <a:r>
              <a:rPr lang="en-US" sz="1400" i="1" dirty="0">
                <a:latin typeface="Calibri" pitchFamily="34" charset="0"/>
                <a:cs typeface="Arial" charset="0"/>
              </a:rPr>
              <a:t>upper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 bin limits are used for your histogram. But it’s a good idea also to create lower limits for clarity.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01CFE9-4131-4E13-BB41-34DCFA734670}"/>
              </a:ext>
            </a:extLst>
          </p:cNvPr>
          <p:cNvSpPr/>
          <p:nvPr/>
        </p:nvSpPr>
        <p:spPr>
          <a:xfrm>
            <a:off x="4029213" y="3429000"/>
            <a:ext cx="780259" cy="1173778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ADEB8C-0138-D6BE-EEFD-37080699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30748" cy="4343400"/>
          </a:xfrm>
          <a:prstGeom prst="rect">
            <a:avLst/>
          </a:prstGeom>
        </p:spPr>
      </p:pic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Do-It-Yourself</a:t>
            </a:r>
          </a:p>
        </p:txBody>
      </p:sp>
      <p:sp>
        <p:nvSpPr>
          <p:cNvPr id="13316" name="Text Box 7"/>
          <p:cNvSpPr txBox="1">
            <a:spLocks noChangeArrowheads="1"/>
          </p:cNvSpPr>
          <p:nvPr/>
        </p:nvSpPr>
        <p:spPr bwMode="auto">
          <a:xfrm>
            <a:off x="1524000" y="1070580"/>
            <a:ext cx="63403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2. Highlight an output range for your frequencies.</a:t>
            </a:r>
          </a:p>
        </p:txBody>
      </p:sp>
      <p:sp>
        <p:nvSpPr>
          <p:cNvPr id="13317" name="Line 12"/>
          <p:cNvSpPr>
            <a:spLocks noChangeShapeType="1"/>
          </p:cNvSpPr>
          <p:nvPr/>
        </p:nvSpPr>
        <p:spPr bwMode="auto">
          <a:xfrm flipH="1">
            <a:off x="5181600" y="1581150"/>
            <a:ext cx="457200" cy="1981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1FAF4E-8FF1-95B5-D74E-7C8A2BE3E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30748" cy="4343400"/>
          </a:xfrm>
          <a:prstGeom prst="rect">
            <a:avLst/>
          </a:prstGeom>
        </p:spPr>
      </p:pic>
      <p:sp>
        <p:nvSpPr>
          <p:cNvPr id="143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Do-It-Yourself</a:t>
            </a:r>
          </a:p>
        </p:txBody>
      </p:sp>
      <p:sp>
        <p:nvSpPr>
          <p:cNvPr id="14340" name="Text Box 7"/>
          <p:cNvSpPr txBox="1">
            <a:spLocks noChangeArrowheads="1"/>
          </p:cNvSpPr>
          <p:nvPr/>
        </p:nvSpPr>
        <p:spPr bwMode="auto">
          <a:xfrm>
            <a:off x="1600200" y="960120"/>
            <a:ext cx="620363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3. Type array function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=FREQUENCY(Data Range, Bin Upper Limits)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press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4341" name="Line 12"/>
          <p:cNvSpPr>
            <a:spLocks noChangeShapeType="1"/>
          </p:cNvSpPr>
          <p:nvPr/>
        </p:nvSpPr>
        <p:spPr bwMode="auto">
          <a:xfrm flipH="1" flipV="1">
            <a:off x="4224670" y="3276599"/>
            <a:ext cx="667846" cy="144779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4" name="TextBox 12"/>
          <p:cNvSpPr txBox="1">
            <a:spLocks noChangeArrowheads="1"/>
          </p:cNvSpPr>
          <p:nvPr/>
        </p:nvSpPr>
        <p:spPr bwMode="auto">
          <a:xfrm>
            <a:off x="4224670" y="4884737"/>
            <a:ext cx="1981200" cy="83026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200" i="1" dirty="0">
                <a:solidFill>
                  <a:srgbClr val="C00000"/>
                </a:solidFill>
                <a:latin typeface="Arial" charset="0"/>
                <a:cs typeface="Arial" charset="0"/>
              </a:rPr>
              <a:t>Note: </a:t>
            </a:r>
            <a:r>
              <a:rPr lang="en-US" sz="1200" dirty="0">
                <a:latin typeface="Arial" charset="0"/>
                <a:cs typeface="Arial" charset="0"/>
              </a:rPr>
              <a:t>The “squiggly brackets” indicate that you have successfully entered an array function.</a:t>
            </a:r>
          </a:p>
        </p:txBody>
      </p:sp>
      <p:sp>
        <p:nvSpPr>
          <p:cNvPr id="14343" name="Line 12"/>
          <p:cNvSpPr>
            <a:spLocks noChangeShapeType="1"/>
          </p:cNvSpPr>
          <p:nvPr/>
        </p:nvSpPr>
        <p:spPr bwMode="auto">
          <a:xfrm flipH="1">
            <a:off x="5334000" y="3886200"/>
            <a:ext cx="762000" cy="20294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6157699" y="3479005"/>
            <a:ext cx="1981200" cy="830263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200" i="1" dirty="0">
                <a:solidFill>
                  <a:srgbClr val="C00000"/>
                </a:solidFill>
                <a:latin typeface="Arial" charset="0"/>
                <a:cs typeface="Arial" charset="0"/>
              </a:rPr>
              <a:t>Hint: </a:t>
            </a:r>
            <a:r>
              <a:rPr lang="en-US" sz="1200" dirty="0">
                <a:latin typeface="Arial" charset="0"/>
                <a:cs typeface="Arial" charset="0"/>
              </a:rPr>
              <a:t>You can no longer edit a single cell in array K4:K10. You can only edit the entire array.</a:t>
            </a:r>
          </a:p>
        </p:txBody>
      </p:sp>
      <p:sp>
        <p:nvSpPr>
          <p:cNvPr id="11" name="Oval 10"/>
          <p:cNvSpPr/>
          <p:nvPr/>
        </p:nvSpPr>
        <p:spPr>
          <a:xfrm>
            <a:off x="2590800" y="2971800"/>
            <a:ext cx="1337930" cy="304799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FD9027-FD67-ECB0-29DE-BD139BFB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6211062" cy="4343400"/>
          </a:xfrm>
          <a:prstGeom prst="rect">
            <a:avLst/>
          </a:prstGeom>
        </p:spPr>
      </p:pic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Do-It-Yourself</a:t>
            </a:r>
          </a:p>
        </p:txBody>
      </p:sp>
      <p:sp>
        <p:nvSpPr>
          <p:cNvPr id="15364" name="Text Box 7"/>
          <p:cNvSpPr txBox="1">
            <a:spLocks noChangeArrowheads="1"/>
          </p:cNvSpPr>
          <p:nvPr/>
        </p:nvSpPr>
        <p:spPr bwMode="auto">
          <a:xfrm>
            <a:off x="2428606" y="967741"/>
            <a:ext cx="4495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4. Highlight frequencies, click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choose a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Column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chart.</a:t>
            </a:r>
          </a:p>
        </p:txBody>
      </p:sp>
      <p:sp>
        <p:nvSpPr>
          <p:cNvPr id="15365" name="Line 12"/>
          <p:cNvSpPr>
            <a:spLocks noChangeShapeType="1"/>
          </p:cNvSpPr>
          <p:nvPr/>
        </p:nvSpPr>
        <p:spPr bwMode="auto">
          <a:xfrm flipH="1">
            <a:off x="2524125" y="1695449"/>
            <a:ext cx="3810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6" name="Line 12"/>
          <p:cNvSpPr>
            <a:spLocks noChangeShapeType="1"/>
          </p:cNvSpPr>
          <p:nvPr/>
        </p:nvSpPr>
        <p:spPr bwMode="auto">
          <a:xfrm flipH="1">
            <a:off x="4179714" y="1897063"/>
            <a:ext cx="201786" cy="51117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4" name="TextBox 12"/>
          <p:cNvSpPr txBox="1">
            <a:spLocks noChangeArrowheads="1"/>
          </p:cNvSpPr>
          <p:nvPr/>
        </p:nvSpPr>
        <p:spPr bwMode="auto">
          <a:xfrm>
            <a:off x="4423213" y="5096573"/>
            <a:ext cx="1853762" cy="646331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200" dirty="0">
                <a:latin typeface="Arial" charset="0"/>
                <a:cs typeface="Arial" charset="0"/>
              </a:rPr>
              <a:t>The column chart is very plain, so you will want to customize it.</a:t>
            </a:r>
          </a:p>
        </p:txBody>
      </p:sp>
      <p:sp>
        <p:nvSpPr>
          <p:cNvPr id="15368" name="Line 12"/>
          <p:cNvSpPr>
            <a:spLocks noChangeShapeType="1"/>
          </p:cNvSpPr>
          <p:nvPr/>
        </p:nvSpPr>
        <p:spPr bwMode="auto">
          <a:xfrm flipV="1">
            <a:off x="5340569" y="4853542"/>
            <a:ext cx="457200" cy="1984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003678" y="2071550"/>
            <a:ext cx="478465" cy="38893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184170" y="2286000"/>
            <a:ext cx="397230" cy="29394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82C3C-471D-AA4B-8E23-20ABF1173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519" y="3571704"/>
            <a:ext cx="1853762" cy="11326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BB86A4-91F9-91D8-FCDB-0BBE484B2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25332" cy="4343400"/>
          </a:xfrm>
          <a:prstGeom prst="rect">
            <a:avLst/>
          </a:prstGeom>
        </p:spPr>
      </p:pic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Do-It-Yourself</a:t>
            </a:r>
          </a:p>
        </p:txBody>
      </p:sp>
      <p:sp>
        <p:nvSpPr>
          <p:cNvPr id="16388" name="Text Box 7"/>
          <p:cNvSpPr txBox="1">
            <a:spLocks noChangeArrowheads="1"/>
          </p:cNvSpPr>
          <p:nvPr/>
        </p:nvSpPr>
        <p:spPr bwMode="auto">
          <a:xfrm>
            <a:off x="1754709" y="929085"/>
            <a:ext cx="563458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5. Right-click on chart, choose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Data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specify horizontal axis labels (bin limits).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128214"/>
            <a:ext cx="3615690" cy="1981200"/>
          </a:xfrm>
          <a:prstGeom prst="rect">
            <a:avLst/>
          </a:prstGeom>
          <a:effectLst>
            <a:glow rad="127000">
              <a:srgbClr val="FFFF00"/>
            </a:glo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5118814"/>
            <a:ext cx="1894523" cy="674846"/>
          </a:xfrm>
          <a:prstGeom prst="rect">
            <a:avLst/>
          </a:prstGeom>
          <a:effectLst>
            <a:glow rad="127000">
              <a:srgbClr val="FFFF00"/>
            </a:glow>
          </a:effectLst>
        </p:spPr>
      </p:pic>
      <p:sp>
        <p:nvSpPr>
          <p:cNvPr id="15" name="Oval 14"/>
          <p:cNvSpPr/>
          <p:nvPr/>
        </p:nvSpPr>
        <p:spPr>
          <a:xfrm>
            <a:off x="6494756" y="4854949"/>
            <a:ext cx="1277644" cy="21328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60BFA3-3B12-6118-C4D3-FA9CBE7C9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253488" cy="4343400"/>
          </a:xfrm>
          <a:prstGeom prst="rect">
            <a:avLst/>
          </a:prstGeom>
        </p:spPr>
      </p:pic>
      <p:sp>
        <p:nvSpPr>
          <p:cNvPr id="174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Do-It-Yourself</a:t>
            </a:r>
          </a:p>
        </p:txBody>
      </p:sp>
      <p:sp>
        <p:nvSpPr>
          <p:cNvPr id="17413" name="Text Box 7"/>
          <p:cNvSpPr txBox="1">
            <a:spLocks noChangeArrowheads="1"/>
          </p:cNvSpPr>
          <p:nvPr/>
        </p:nvSpPr>
        <p:spPr bwMode="auto">
          <a:xfrm>
            <a:off x="1828800" y="990418"/>
            <a:ext cx="600408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6. Right-click on data and choose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 Data Series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adjust gaps between columns.</a:t>
            </a:r>
          </a:p>
        </p:txBody>
      </p:sp>
      <p:sp>
        <p:nvSpPr>
          <p:cNvPr id="10246" name="TextBox 9"/>
          <p:cNvSpPr txBox="1">
            <a:spLocks noChangeArrowheads="1"/>
          </p:cNvSpPr>
          <p:nvPr/>
        </p:nvSpPr>
        <p:spPr bwMode="auto">
          <a:xfrm>
            <a:off x="6759416" y="2721955"/>
            <a:ext cx="1905000" cy="646331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200" dirty="0">
                <a:latin typeface="Arial" charset="0"/>
                <a:cs typeface="Arial" charset="0"/>
              </a:rPr>
              <a:t>For clarity, put a tiny 5% to reveal separation between bars.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2747962"/>
            <a:ext cx="2362200" cy="2505075"/>
          </a:xfrm>
          <a:prstGeom prst="rect">
            <a:avLst/>
          </a:prstGeom>
          <a:ln>
            <a:noFill/>
          </a:ln>
          <a:effectLst>
            <a:glow rad="127000">
              <a:schemeClr val="bg1">
                <a:lumMod val="75000"/>
              </a:schemeClr>
            </a:glow>
          </a:effectLst>
        </p:spPr>
      </p:pic>
      <p:sp>
        <p:nvSpPr>
          <p:cNvPr id="17416" name="Line 7"/>
          <p:cNvSpPr>
            <a:spLocks noChangeShapeType="1"/>
          </p:cNvSpPr>
          <p:nvPr/>
        </p:nvSpPr>
        <p:spPr bwMode="auto">
          <a:xfrm flipH="1">
            <a:off x="4648200" y="3047999"/>
            <a:ext cx="2111215" cy="208212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54963" y="4873808"/>
            <a:ext cx="864550" cy="38893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Do-It-Yourself</a:t>
            </a:r>
          </a:p>
        </p:txBody>
      </p:sp>
      <p:sp>
        <p:nvSpPr>
          <p:cNvPr id="17413" name="Text Box 7"/>
          <p:cNvSpPr txBox="1">
            <a:spLocks noChangeArrowheads="1"/>
          </p:cNvSpPr>
          <p:nvPr/>
        </p:nvSpPr>
        <p:spPr bwMode="auto">
          <a:xfrm>
            <a:off x="1661950" y="1290934"/>
            <a:ext cx="6781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7. Add a nice title, colors, and data labels to columns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166270"/>
            <a:ext cx="4733789" cy="2857250"/>
          </a:xfrm>
          <a:prstGeom prst="rect">
            <a:avLst/>
          </a:prstGeom>
        </p:spPr>
      </p:pic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2667000" y="5430206"/>
            <a:ext cx="54102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Comment: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Result is better than Excel’s default column chart, but horizontal axis labels are still centered on columns instead of at interval cut points. Try JMP or Minitab or R if you want a better histogram.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950" y="5379760"/>
            <a:ext cx="897305" cy="88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73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Bottom Line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981200" y="1828800"/>
            <a:ext cx="525780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  <a:cs typeface="Arial" charset="0"/>
              </a:rPr>
              <a:t>Histograms are essential in data analysis.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  <a:cs typeface="Arial" charset="0"/>
              </a:rPr>
              <a:t>Excel ‘s </a:t>
            </a:r>
            <a:r>
              <a:rPr lang="en-US" sz="2000" dirty="0">
                <a:solidFill>
                  <a:srgbClr val="C00000"/>
                </a:solidFill>
                <a:latin typeface="Arial" charset="0"/>
                <a:cs typeface="Arial" charset="0"/>
              </a:rPr>
              <a:t>Data Analysis </a:t>
            </a:r>
            <a:r>
              <a:rPr lang="en-US" sz="2000" dirty="0">
                <a:latin typeface="Arial" charset="0"/>
                <a:cs typeface="Arial" charset="0"/>
              </a:rPr>
              <a:t>histogram is easy. 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  <a:cs typeface="Arial" charset="0"/>
              </a:rPr>
              <a:t>But its chart output is unattractive.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  <a:cs typeface="Arial" charset="0"/>
              </a:rPr>
              <a:t>You can improve the chart.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  <a:cs typeface="Arial" charset="0"/>
              </a:rPr>
              <a:t>But axis labels won’t line up with ticks.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  <a:cs typeface="Arial" charset="0"/>
              </a:rPr>
              <a:t>Try using Minitab or JMP or R. </a:t>
            </a:r>
          </a:p>
        </p:txBody>
      </p:sp>
      <p:pic>
        <p:nvPicPr>
          <p:cNvPr id="18436" name="Picture 4" descr="Woodcut Baseball 39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876800"/>
            <a:ext cx="1371600" cy="1170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2099</TotalTime>
  <Words>849</Words>
  <Application>Microsoft Office PowerPoint</Application>
  <PresentationFormat>On-screen Show (4:3)</PresentationFormat>
  <Paragraphs>85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Default Design</vt:lpstr>
      <vt:lpstr>Making Excel Histograms</vt:lpstr>
      <vt:lpstr>What is a Histogram?</vt:lpstr>
      <vt:lpstr>Bin Limits</vt:lpstr>
      <vt:lpstr>Raw Data</vt:lpstr>
      <vt:lpstr>Three Ways</vt:lpstr>
      <vt:lpstr>Data</vt:lpstr>
      <vt:lpstr>Quick Histogram</vt:lpstr>
      <vt:lpstr>Quick Histogram</vt:lpstr>
      <vt:lpstr>Quick Histogram</vt:lpstr>
      <vt:lpstr>Data Analysis Tools</vt:lpstr>
      <vt:lpstr>Data Analysis Tools</vt:lpstr>
      <vt:lpstr>Data Analysis Tools</vt:lpstr>
      <vt:lpstr>Data Analysis Tools</vt:lpstr>
      <vt:lpstr>Do-It-Yourself</vt:lpstr>
      <vt:lpstr>Do-It-Yourself</vt:lpstr>
      <vt:lpstr>Do-It-Yourself</vt:lpstr>
      <vt:lpstr>Do-It-Yourself</vt:lpstr>
      <vt:lpstr>Do-It-Yourself</vt:lpstr>
      <vt:lpstr>Do-It-Yourself</vt:lpstr>
      <vt:lpstr>Do-It-Yourself</vt:lpstr>
      <vt:lpstr>Bottom Line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Excel Histograms</dc:title>
  <dc:subject>Chapter 3 - Data Presentation</dc:subject>
  <dc:creator>David P. Doane</dc:creator>
  <dc:description>Copyright (c) 2025 by McGraw Hill LLC.  This material is intended solely for educational use licensed users of Connect. It may not be copied or resold.</dc:description>
  <cp:lastModifiedBy>Elango Selvaraj</cp:lastModifiedBy>
  <cp:revision>147</cp:revision>
  <dcterms:created xsi:type="dcterms:W3CDTF">2000-08-22T13:07:54Z</dcterms:created>
  <dcterms:modified xsi:type="dcterms:W3CDTF">2023-11-29T09:57:33Z</dcterms:modified>
</cp:coreProperties>
</file>