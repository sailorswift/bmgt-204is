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sldIdLst>
    <p:sldId id="256" r:id="rId2"/>
    <p:sldId id="331" r:id="rId3"/>
    <p:sldId id="334" r:id="rId4"/>
    <p:sldId id="343" r:id="rId5"/>
    <p:sldId id="341" r:id="rId6"/>
    <p:sldId id="342" r:id="rId7"/>
    <p:sldId id="339" r:id="rId8"/>
    <p:sldId id="345" r:id="rId9"/>
    <p:sldId id="336" r:id="rId10"/>
    <p:sldId id="344" r:id="rId11"/>
    <p:sldId id="337" r:id="rId12"/>
    <p:sldId id="268" r:id="rId13"/>
    <p:sldId id="329" r:id="rId14"/>
    <p:sldId id="320" r:id="rId15"/>
    <p:sldId id="308" r:id="rId16"/>
    <p:sldId id="309" r:id="rId17"/>
    <p:sldId id="330" r:id="rId18"/>
    <p:sldId id="310" r:id="rId19"/>
    <p:sldId id="314" r:id="rId20"/>
    <p:sldId id="338" r:id="rId21"/>
    <p:sldId id="323" r:id="rId22"/>
    <p:sldId id="346" r:id="rId23"/>
    <p:sldId id="333" r:id="rId24"/>
    <p:sldId id="319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969696"/>
    <a:srgbClr val="CCECFF"/>
    <a:srgbClr val="FF6699"/>
    <a:srgbClr val="CC0000"/>
    <a:srgbClr val="FFFFFF"/>
    <a:srgbClr val="FF3300"/>
    <a:srgbClr val="9966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1" autoAdjust="0"/>
    <p:restoredTop sz="90929"/>
  </p:normalViewPr>
  <p:slideViewPr>
    <p:cSldViewPr>
      <p:cViewPr varScale="1">
        <p:scale>
          <a:sx n="57" d="100"/>
          <a:sy n="57" d="100"/>
        </p:scale>
        <p:origin x="14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F1AF6-4607-48F1-8E47-9C061BF2366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4F869-F235-40A9-9232-79C6B8BD0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7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4F869-F235-40A9-9232-79C6B8BD02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92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4F869-F235-40A9-9232-79C6B8BD02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3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C8651-160F-44E8-8917-2DBE0109B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7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E019F-4050-4D2A-B6AE-E7BA95166E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422776-C440-472B-9B9C-913B18CB53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22A87-D6DB-454A-A4D0-CA781B529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5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E63DD-85C0-428C-8699-9DA5DACDFC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0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FB0DF-9891-4532-8BA6-8D3637C5BF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56BCAB-DAD1-4D8D-9663-313CB835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0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4227E-3D80-4E48-9116-1B6A30C8C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9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A3806-5544-43EC-92A7-6E547AD7E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1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7FDA4-BBCE-4D82-BE18-657DD389A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0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6C56D-EF18-4E62-992B-9E405F469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839FB32-FA9D-40B3-84A3-5D4D7E8DC9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4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image" Target="../media/image9.png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2209800"/>
            <a:ext cx="4876800" cy="1524000"/>
          </a:xfrm>
        </p:spPr>
        <p:txBody>
          <a:bodyPr/>
          <a:lstStyle/>
          <a:p>
            <a:pPr>
              <a:defRPr/>
            </a:pP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b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Charts</a:t>
            </a:r>
          </a:p>
        </p:txBody>
      </p:sp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295400" y="5791200"/>
            <a:ext cx="7239000" cy="52322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rgbClr val="993300"/>
                </a:solidFill>
              </a:rPr>
              <a:t>© McGraw Hill LLC. All rights reserved. </a:t>
            </a:r>
            <a:r>
              <a:rPr lang="en-US" sz="1400" b="1">
                <a:solidFill>
                  <a:srgbClr val="993300"/>
                </a:solidFill>
              </a:rPr>
              <a:t>No reproduction or distribution without the prior written consent of McGraw Hill LLC.</a:t>
            </a:r>
            <a:endParaRPr lang="en-US" sz="1400" b="1" dirty="0">
              <a:solidFill>
                <a:srgbClr val="9933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What’s Your Data Type?</a:t>
            </a:r>
          </a:p>
        </p:txBody>
      </p:sp>
      <p:sp>
        <p:nvSpPr>
          <p:cNvPr id="3075" name="Text Box 7"/>
          <p:cNvSpPr txBox="1">
            <a:spLocks noChangeArrowheads="1"/>
          </p:cNvSpPr>
          <p:nvPr/>
        </p:nvSpPr>
        <p:spPr bwMode="auto">
          <a:xfrm>
            <a:off x="2743200" y="1346777"/>
            <a:ext cx="3505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  <a:cs typeface="Arial" charset="0"/>
              </a:rPr>
              <a:t>Your data type dictates the appropriate chart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3100" y="2883176"/>
            <a:ext cx="5334000" cy="21240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sz="1800" dirty="0">
                <a:latin typeface="+mj-lt"/>
                <a:cs typeface="Arial" pitchFamily="34" charset="0"/>
              </a:rPr>
              <a:t> Cross sectional data (</a:t>
            </a:r>
            <a:r>
              <a:rPr lang="en-US" sz="1800" i="1" dirty="0">
                <a:latin typeface="+mj-lt"/>
                <a:cs typeface="Arial" pitchFamily="34" charset="0"/>
              </a:rPr>
              <a:t>x</a:t>
            </a:r>
            <a:r>
              <a:rPr lang="en-US" sz="1800" baseline="-25000" dirty="0">
                <a:latin typeface="+mj-lt"/>
                <a:cs typeface="Arial" pitchFamily="34" charset="0"/>
              </a:rPr>
              <a:t>1</a:t>
            </a:r>
            <a:r>
              <a:rPr lang="en-US" sz="1800" dirty="0">
                <a:latin typeface="+mj-lt"/>
                <a:cs typeface="Arial" pitchFamily="34" charset="0"/>
              </a:rPr>
              <a:t>, </a:t>
            </a:r>
            <a:r>
              <a:rPr lang="en-US" sz="1800" i="1" dirty="0">
                <a:latin typeface="+mj-lt"/>
                <a:cs typeface="Arial" pitchFamily="34" charset="0"/>
              </a:rPr>
              <a:t>x</a:t>
            </a:r>
            <a:r>
              <a:rPr lang="en-US" sz="1800" baseline="-25000" dirty="0">
                <a:latin typeface="+mj-lt"/>
                <a:cs typeface="Arial" pitchFamily="34" charset="0"/>
              </a:rPr>
              <a:t>2</a:t>
            </a:r>
            <a:r>
              <a:rPr lang="en-US" sz="1800" dirty="0">
                <a:latin typeface="+mj-lt"/>
                <a:cs typeface="Arial" pitchFamily="34" charset="0"/>
              </a:rPr>
              <a:t>, … , </a:t>
            </a:r>
            <a:r>
              <a:rPr lang="en-US" sz="1800" i="1" dirty="0" err="1">
                <a:latin typeface="+mj-lt"/>
                <a:cs typeface="Arial" pitchFamily="34" charset="0"/>
              </a:rPr>
              <a:t>x</a:t>
            </a:r>
            <a:r>
              <a:rPr lang="en-US" sz="1800" i="1" baseline="-25000" dirty="0" err="1">
                <a:latin typeface="+mj-lt"/>
                <a:cs typeface="Arial" pitchFamily="34" charset="0"/>
              </a:rPr>
              <a:t>n</a:t>
            </a:r>
            <a:r>
              <a:rPr lang="en-US" sz="1800" dirty="0">
                <a:latin typeface="+mj-lt"/>
                <a:cs typeface="Arial" pitchFamily="34" charset="0"/>
              </a:rPr>
              <a:t>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1800" dirty="0">
                <a:latin typeface="+mj-lt"/>
                <a:cs typeface="Arial" pitchFamily="34" charset="0"/>
              </a:rPr>
              <a:t> Numerical data: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histogram</a:t>
            </a:r>
            <a:r>
              <a:rPr lang="en-US" sz="1800" dirty="0">
                <a:latin typeface="+mj-lt"/>
                <a:cs typeface="Arial" pitchFamily="34" charset="0"/>
              </a:rPr>
              <a:t>,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 chart, boxplot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1800" dirty="0">
                <a:latin typeface="+mj-lt"/>
                <a:cs typeface="Arial" pitchFamily="34" charset="0"/>
              </a:rPr>
              <a:t> Categorical data: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</a:t>
            </a:r>
            <a:r>
              <a:rPr lang="en-US" sz="1800" dirty="0">
                <a:latin typeface="+mj-lt"/>
                <a:cs typeface="Arial" pitchFamily="34" charset="0"/>
              </a:rPr>
              <a:t>,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column</a:t>
            </a:r>
            <a:r>
              <a:rPr lang="en-US" sz="1800" dirty="0">
                <a:latin typeface="+mj-lt"/>
                <a:cs typeface="Arial" pitchFamily="34" charset="0"/>
              </a:rPr>
              <a:t>,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pie, area</a:t>
            </a:r>
          </a:p>
          <a:p>
            <a:pPr>
              <a:defRPr/>
            </a:pPr>
            <a:endParaRPr lang="en-US" sz="1200" dirty="0">
              <a:latin typeface="+mj-lt"/>
              <a:cs typeface="Arial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1800" dirty="0">
                <a:latin typeface="+mj-lt"/>
                <a:cs typeface="Arial" pitchFamily="34" charset="0"/>
              </a:rPr>
              <a:t>Time series data (</a:t>
            </a:r>
            <a:r>
              <a:rPr lang="en-US" sz="1800" i="1" dirty="0">
                <a:latin typeface="+mj-lt"/>
                <a:cs typeface="Arial" pitchFamily="34" charset="0"/>
              </a:rPr>
              <a:t>y</a:t>
            </a:r>
            <a:r>
              <a:rPr lang="en-US" sz="1800" baseline="-25000" dirty="0">
                <a:latin typeface="+mj-lt"/>
                <a:cs typeface="Arial" pitchFamily="34" charset="0"/>
              </a:rPr>
              <a:t>1</a:t>
            </a:r>
            <a:r>
              <a:rPr lang="en-US" sz="1800" dirty="0">
                <a:latin typeface="+mj-lt"/>
                <a:cs typeface="Arial" pitchFamily="34" charset="0"/>
              </a:rPr>
              <a:t>, </a:t>
            </a:r>
            <a:r>
              <a:rPr lang="en-US" sz="1800" i="1" dirty="0">
                <a:latin typeface="+mj-lt"/>
                <a:cs typeface="Arial" pitchFamily="34" charset="0"/>
              </a:rPr>
              <a:t>y</a:t>
            </a:r>
            <a:r>
              <a:rPr lang="en-US" sz="1800" baseline="-25000" dirty="0">
                <a:latin typeface="+mj-lt"/>
                <a:cs typeface="Arial" pitchFamily="34" charset="0"/>
              </a:rPr>
              <a:t>2</a:t>
            </a:r>
            <a:r>
              <a:rPr lang="en-US" sz="1800" dirty="0">
                <a:latin typeface="+mj-lt"/>
                <a:cs typeface="Arial" pitchFamily="34" charset="0"/>
              </a:rPr>
              <a:t>, … , </a:t>
            </a:r>
            <a:r>
              <a:rPr lang="en-US" sz="1800" i="1" dirty="0" err="1">
                <a:latin typeface="+mj-lt"/>
                <a:cs typeface="Arial" pitchFamily="34" charset="0"/>
              </a:rPr>
              <a:t>y</a:t>
            </a:r>
            <a:r>
              <a:rPr lang="en-US" sz="1800" i="1" baseline="-25000" dirty="0" err="1">
                <a:latin typeface="+mj-lt"/>
                <a:cs typeface="Arial" pitchFamily="34" charset="0"/>
              </a:rPr>
              <a:t>n</a:t>
            </a:r>
            <a:r>
              <a:rPr lang="en-US" sz="1800" dirty="0">
                <a:latin typeface="+mj-lt"/>
                <a:cs typeface="Arial" pitchFamily="34" charset="0"/>
              </a:rPr>
              <a:t>): 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line chart, bar chart</a:t>
            </a:r>
          </a:p>
          <a:p>
            <a:pPr>
              <a:buFont typeface="Arial" pitchFamily="34" charset="0"/>
              <a:buChar char="•"/>
              <a:defRPr/>
            </a:pPr>
            <a:endParaRPr lang="en-US" sz="1200" dirty="0">
              <a:latin typeface="+mj-lt"/>
              <a:cs typeface="Arial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1800" dirty="0">
                <a:latin typeface="+mj-lt"/>
                <a:cs typeface="Arial" pitchFamily="34" charset="0"/>
              </a:rPr>
              <a:t> </a:t>
            </a:r>
            <a:r>
              <a:rPr lang="en-US" sz="1800" dirty="0" err="1">
                <a:latin typeface="+mj-lt"/>
                <a:cs typeface="Arial" pitchFamily="34" charset="0"/>
              </a:rPr>
              <a:t>Bivariate</a:t>
            </a:r>
            <a:r>
              <a:rPr lang="en-US" sz="1800" dirty="0">
                <a:latin typeface="+mj-lt"/>
                <a:cs typeface="Arial" pitchFamily="34" charset="0"/>
              </a:rPr>
              <a:t> data (</a:t>
            </a:r>
            <a:r>
              <a:rPr lang="en-US" sz="1800" i="1" dirty="0">
                <a:latin typeface="+mj-lt"/>
                <a:cs typeface="Arial" pitchFamily="34" charset="0"/>
              </a:rPr>
              <a:t>x</a:t>
            </a:r>
            <a:r>
              <a:rPr lang="en-US" sz="1800" baseline="-25000" dirty="0">
                <a:latin typeface="+mj-lt"/>
                <a:cs typeface="Arial" pitchFamily="34" charset="0"/>
              </a:rPr>
              <a:t>1</a:t>
            </a:r>
            <a:r>
              <a:rPr lang="en-US" sz="1800" dirty="0">
                <a:latin typeface="+mj-lt"/>
                <a:cs typeface="Arial" pitchFamily="34" charset="0"/>
              </a:rPr>
              <a:t>,</a:t>
            </a:r>
            <a:r>
              <a:rPr lang="en-US" sz="1800" i="1" dirty="0">
                <a:latin typeface="+mj-lt"/>
                <a:cs typeface="Arial" pitchFamily="34" charset="0"/>
              </a:rPr>
              <a:t>y</a:t>
            </a:r>
            <a:r>
              <a:rPr lang="en-US" sz="1800" baseline="-25000" dirty="0">
                <a:latin typeface="+mj-lt"/>
                <a:cs typeface="Arial" pitchFamily="34" charset="0"/>
              </a:rPr>
              <a:t>1</a:t>
            </a:r>
            <a:r>
              <a:rPr lang="en-US" sz="1800" dirty="0">
                <a:latin typeface="+mj-lt"/>
                <a:cs typeface="Arial" pitchFamily="34" charset="0"/>
              </a:rPr>
              <a:t>), (</a:t>
            </a:r>
            <a:r>
              <a:rPr lang="en-US" sz="1800" i="1" dirty="0">
                <a:latin typeface="+mj-lt"/>
                <a:cs typeface="Arial" pitchFamily="34" charset="0"/>
              </a:rPr>
              <a:t>x</a:t>
            </a:r>
            <a:r>
              <a:rPr lang="en-US" sz="1800" baseline="-25000" dirty="0">
                <a:latin typeface="+mj-lt"/>
                <a:cs typeface="Arial" pitchFamily="34" charset="0"/>
              </a:rPr>
              <a:t>2</a:t>
            </a:r>
            <a:r>
              <a:rPr lang="en-US" sz="1800" dirty="0">
                <a:latin typeface="+mj-lt"/>
                <a:cs typeface="Arial" pitchFamily="34" charset="0"/>
              </a:rPr>
              <a:t>,</a:t>
            </a:r>
            <a:r>
              <a:rPr lang="en-US" sz="1800" i="1" dirty="0">
                <a:latin typeface="+mj-lt"/>
                <a:cs typeface="Arial" pitchFamily="34" charset="0"/>
              </a:rPr>
              <a:t>y</a:t>
            </a:r>
            <a:r>
              <a:rPr lang="en-US" sz="1800" baseline="-25000" dirty="0">
                <a:latin typeface="+mj-lt"/>
                <a:cs typeface="Arial" pitchFamily="34" charset="0"/>
              </a:rPr>
              <a:t>2</a:t>
            </a:r>
            <a:r>
              <a:rPr lang="en-US" sz="1800" dirty="0">
                <a:latin typeface="+mj-lt"/>
                <a:cs typeface="Arial" pitchFamily="34" charset="0"/>
              </a:rPr>
              <a:t>), … , (</a:t>
            </a:r>
            <a:r>
              <a:rPr lang="en-US" sz="1800" i="1" dirty="0" err="1">
                <a:latin typeface="+mj-lt"/>
                <a:cs typeface="Arial" pitchFamily="34" charset="0"/>
              </a:rPr>
              <a:t>x</a:t>
            </a:r>
            <a:r>
              <a:rPr lang="en-US" sz="1800" i="1" baseline="-25000" dirty="0" err="1">
                <a:latin typeface="+mj-lt"/>
                <a:cs typeface="Arial" pitchFamily="34" charset="0"/>
              </a:rPr>
              <a:t>n</a:t>
            </a:r>
            <a:r>
              <a:rPr lang="en-US" sz="1800" dirty="0" err="1">
                <a:latin typeface="+mj-lt"/>
                <a:cs typeface="Arial" pitchFamily="34" charset="0"/>
              </a:rPr>
              <a:t>,</a:t>
            </a:r>
            <a:r>
              <a:rPr lang="en-US" sz="1800" i="1" dirty="0" err="1">
                <a:latin typeface="+mj-lt"/>
                <a:cs typeface="Arial" pitchFamily="34" charset="0"/>
              </a:rPr>
              <a:t>y</a:t>
            </a:r>
            <a:r>
              <a:rPr lang="en-US" sz="1800" i="1" baseline="-25000" dirty="0" err="1">
                <a:latin typeface="+mj-lt"/>
                <a:cs typeface="Arial" pitchFamily="34" charset="0"/>
              </a:rPr>
              <a:t>n</a:t>
            </a:r>
            <a:r>
              <a:rPr lang="en-US" sz="1800" dirty="0">
                <a:latin typeface="+mj-lt"/>
                <a:cs typeface="Arial" pitchFamily="34" charset="0"/>
              </a:rPr>
              <a:t>): </a:t>
            </a:r>
            <a:r>
              <a:rPr lang="en-US" sz="1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scatter plot</a:t>
            </a:r>
          </a:p>
          <a:p>
            <a:pPr lvl="1">
              <a:buFont typeface="Arial" pitchFamily="34" charset="0"/>
              <a:buChar char="•"/>
              <a:defRPr/>
            </a:pPr>
            <a:endParaRPr lang="en-US" sz="1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TextBox 5"/>
          <p:cNvSpPr txBox="1">
            <a:spLocks noChangeArrowheads="1"/>
          </p:cNvSpPr>
          <p:nvPr/>
        </p:nvSpPr>
        <p:spPr bwMode="auto">
          <a:xfrm>
            <a:off x="2356945" y="5240234"/>
            <a:ext cx="44196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Statistics packages (e.g., JMP, Minitab) offer more choices for statistical data analysis. </a:t>
            </a:r>
            <a:r>
              <a:rPr lang="en-US" sz="1400" dirty="0" err="1">
                <a:latin typeface="Arial" charset="0"/>
                <a:cs typeface="Arial" charset="0"/>
              </a:rPr>
              <a:t>MegaStat</a:t>
            </a:r>
            <a:r>
              <a:rPr lang="en-US" sz="1400" dirty="0">
                <a:latin typeface="Arial" charset="0"/>
                <a:cs typeface="Arial" charset="0"/>
              </a:rPr>
              <a:t> (or similar Excel add-ins) improve on Excel’s charts.</a:t>
            </a:r>
          </a:p>
        </p:txBody>
      </p:sp>
      <p:pic>
        <p:nvPicPr>
          <p:cNvPr id="3078" name="Picture 6" descr="Business 91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295400"/>
            <a:ext cx="103346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 descr="Business 2848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1100138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96E96D5E-E67B-4F66-A317-39BEBB9164D5}"/>
              </a:ext>
            </a:extLst>
          </p:cNvPr>
          <p:cNvSpPr/>
          <p:nvPr/>
        </p:nvSpPr>
        <p:spPr bwMode="auto">
          <a:xfrm>
            <a:off x="3962400" y="2429749"/>
            <a:ext cx="381000" cy="336936"/>
          </a:xfrm>
          <a:prstGeom prst="down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D1571FA-0A43-CEEF-60E6-7F558DFE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643" y="2933530"/>
            <a:ext cx="2252103" cy="148352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Insert Chart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354785" y="1291360"/>
            <a:ext cx="44344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  <a:cs typeface="Arial" charset="0"/>
              </a:rPr>
              <a:t>Highlight your data and click the insert ribbon to see chart options.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162045" y="5631451"/>
            <a:ext cx="46085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These are the chart types you are most likely to use in a statistics class. Chart icons are somewhat intuitive.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690919" y="2279323"/>
            <a:ext cx="838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Column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222639" y="4670384"/>
            <a:ext cx="92023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Statistics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20768" y="4735683"/>
            <a:ext cx="5907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Pie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896120" y="3458941"/>
            <a:ext cx="6492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Line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94574" y="5008474"/>
            <a:ext cx="838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Scatter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186368" y="2277261"/>
            <a:ext cx="8570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Stock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3174643" y="2684133"/>
            <a:ext cx="156815" cy="3112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cxnSpLocks/>
          </p:cNvCxnSpPr>
          <p:nvPr/>
        </p:nvCxnSpPr>
        <p:spPr bwMode="auto">
          <a:xfrm>
            <a:off x="4247106" y="2711799"/>
            <a:ext cx="0" cy="2393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>
            <a:cxnSpLocks/>
          </p:cNvCxnSpPr>
          <p:nvPr/>
        </p:nvCxnSpPr>
        <p:spPr bwMode="auto">
          <a:xfrm>
            <a:off x="2516166" y="3646917"/>
            <a:ext cx="73688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2777556" y="4284336"/>
            <a:ext cx="581891" cy="4917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V="1">
            <a:off x="4221664" y="4289997"/>
            <a:ext cx="9977" cy="6083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cxnSpLocks/>
          </p:cNvCxnSpPr>
          <p:nvPr/>
        </p:nvCxnSpPr>
        <p:spPr bwMode="auto">
          <a:xfrm flipH="1" flipV="1">
            <a:off x="4354325" y="3766718"/>
            <a:ext cx="1045878" cy="8373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89EC54-D950-42A1-3EC3-1F2E253EB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079" y="2279323"/>
            <a:ext cx="10458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 err="1">
                <a:solidFill>
                  <a:srgbClr val="C00000"/>
                </a:solidFill>
                <a:latin typeface="Arial" charset="0"/>
                <a:cs typeface="Arial" charset="0"/>
              </a:rPr>
              <a:t>Treemap</a:t>
            </a:r>
            <a:endParaRPr lang="en-US" sz="14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D06ADC-4334-2554-BAD3-43B0B5AF680F}"/>
              </a:ext>
            </a:extLst>
          </p:cNvPr>
          <p:cNvCxnSpPr>
            <a:cxnSpLocks/>
          </p:cNvCxnSpPr>
          <p:nvPr/>
        </p:nvCxnSpPr>
        <p:spPr bwMode="auto">
          <a:xfrm flipH="1">
            <a:off x="5071067" y="2574458"/>
            <a:ext cx="427206" cy="4393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1B8B79A-EBC1-9BB2-77AE-D23CCDFD4B0E}"/>
              </a:ext>
            </a:extLst>
          </p:cNvPr>
          <p:cNvCxnSpPr>
            <a:cxnSpLocks/>
          </p:cNvCxnSpPr>
          <p:nvPr/>
        </p:nvCxnSpPr>
        <p:spPr bwMode="auto">
          <a:xfrm flipH="1">
            <a:off x="5274304" y="3631258"/>
            <a:ext cx="549529" cy="161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52FF098-AD10-AF7F-F3C1-EEEEEFE19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185" y="3458941"/>
            <a:ext cx="8570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Combo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Insert Chart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1912883" y="1238898"/>
            <a:ext cx="5410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  <a:cs typeface="Arial" charset="0"/>
              </a:rPr>
              <a:t>The 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Recommended Charts </a:t>
            </a:r>
            <a:r>
              <a:rPr lang="en-US" sz="2000" dirty="0">
                <a:latin typeface="Arial" charset="0"/>
                <a:cs typeface="Arial" charset="0"/>
              </a:rPr>
              <a:t>icon offers an informed guess of the best chart to use.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00400" y="5058711"/>
            <a:ext cx="3619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Excel’s recommendation may </a:t>
            </a:r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not</a:t>
            </a:r>
            <a:r>
              <a:rPr lang="en-US" sz="1400" dirty="0">
                <a:latin typeface="Arial" charset="0"/>
                <a:cs typeface="Arial" charset="0"/>
              </a:rPr>
              <a:t> be the best choice for a statistics class.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9" y="4871068"/>
            <a:ext cx="1032991" cy="1016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573942-31CB-9CCC-06BC-1895CF15B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679569"/>
            <a:ext cx="3826905" cy="146638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7" name="Straight Arrow Connector 6"/>
          <p:cNvCxnSpPr/>
          <p:nvPr/>
        </p:nvCxnSpPr>
        <p:spPr bwMode="auto">
          <a:xfrm flipH="1">
            <a:off x="3276600" y="1986932"/>
            <a:ext cx="152400" cy="677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0877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Insert Chart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514600" y="1227453"/>
            <a:ext cx="435530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  <a:cs typeface="Arial" charset="0"/>
              </a:rPr>
              <a:t>Click on </a:t>
            </a: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Recommended Charts </a:t>
            </a:r>
            <a:r>
              <a:rPr lang="en-US" sz="2000" dirty="0">
                <a:latin typeface="Arial" charset="0"/>
                <a:cs typeface="Arial" charset="0"/>
              </a:rPr>
              <a:t>to see what Excel offers.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375297" y="5791200"/>
            <a:ext cx="4469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Excel shows a </a:t>
            </a:r>
            <a:r>
              <a:rPr lang="en-US" sz="1400" dirty="0" err="1">
                <a:latin typeface="Arial" charset="0"/>
                <a:cs typeface="Arial" charset="0"/>
              </a:rPr>
              <a:t>peview</a:t>
            </a:r>
            <a:r>
              <a:rPr lang="en-US" sz="1400" dirty="0">
                <a:latin typeface="Arial" charset="0"/>
                <a:cs typeface="Arial" charset="0"/>
              </a:rPr>
              <a:t> of the proposed chart. However, don't blindly rely on Excel's suggestions.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95993"/>
            <a:ext cx="4471988" cy="343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Insert Chart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287314" y="1444823"/>
            <a:ext cx="19012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latin typeface="Arial" charset="0"/>
                <a:cs typeface="Arial" charset="0"/>
              </a:rPr>
              <a:t>Click on </a:t>
            </a:r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All Charts </a:t>
            </a:r>
            <a:r>
              <a:rPr lang="en-US" sz="1400" dirty="0">
                <a:latin typeface="Arial" charset="0"/>
                <a:cs typeface="Arial" charset="0"/>
              </a:rPr>
              <a:t>to see the chart types.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676401" y="2965112"/>
            <a:ext cx="31242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latin typeface="Arial" charset="0"/>
                <a:cs typeface="Arial" charset="0"/>
              </a:rPr>
              <a:t>Or skip the </a:t>
            </a:r>
            <a:r>
              <a:rPr lang="en-US" sz="1600" dirty="0">
                <a:solidFill>
                  <a:srgbClr val="C00000"/>
                </a:solidFill>
                <a:latin typeface="Calibri Light" panose="020F0302020204030204" pitchFamily="34" charset="0"/>
              </a:rPr>
              <a:t>Recommended Charts</a:t>
            </a:r>
            <a:r>
              <a:rPr lang="en-US" sz="1600" b="1" dirty="0">
                <a:latin typeface="Calibri Light" panose="020F0302020204030204" pitchFamily="34" charset="0"/>
              </a:rPr>
              <a:t> </a:t>
            </a:r>
            <a:r>
              <a:rPr lang="en-US" sz="1400" dirty="0">
                <a:latin typeface="Arial" charset="0"/>
                <a:cs typeface="Arial" charset="0"/>
              </a:rPr>
              <a:t>and try any chart you like.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414" y="1225748"/>
            <a:ext cx="2895600" cy="5079166"/>
          </a:xfrm>
          <a:prstGeom prst="rect">
            <a:avLst/>
          </a:prstGeom>
        </p:spPr>
      </p:pic>
      <p:sp>
        <p:nvSpPr>
          <p:cNvPr id="2" name="Down Arrow 1"/>
          <p:cNvSpPr/>
          <p:nvPr/>
        </p:nvSpPr>
        <p:spPr bwMode="auto">
          <a:xfrm>
            <a:off x="3066095" y="3886200"/>
            <a:ext cx="439105" cy="457200"/>
          </a:xfrm>
          <a:prstGeom prst="down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ight Arrow 3"/>
          <p:cNvSpPr/>
          <p:nvPr/>
        </p:nvSpPr>
        <p:spPr bwMode="auto">
          <a:xfrm>
            <a:off x="4225310" y="1425000"/>
            <a:ext cx="533400" cy="457200"/>
          </a:xfrm>
          <a:prstGeom prst="right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345D20-FC19-4D11-8137-46DB9A6B2AD8}"/>
              </a:ext>
            </a:extLst>
          </p:cNvPr>
          <p:cNvSpPr/>
          <p:nvPr/>
        </p:nvSpPr>
        <p:spPr>
          <a:xfrm flipH="1" flipV="1">
            <a:off x="6248400" y="1425000"/>
            <a:ext cx="1140987" cy="56286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4E5D2-EBB8-9D6E-DCF1-48DD6A907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690" y="4572000"/>
            <a:ext cx="3422910" cy="1311582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892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6E715C-49F6-EDFF-F315-D900C309A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48" y="2131118"/>
            <a:ext cx="2252103" cy="148352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Statistics Charts</a:t>
            </a:r>
          </a:p>
        </p:txBody>
      </p:sp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2895600" y="1166157"/>
            <a:ext cx="339634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Excel offers two useful charts for a statistics class.</a:t>
            </a:r>
          </a:p>
        </p:txBody>
      </p:sp>
      <p:sp>
        <p:nvSpPr>
          <p:cNvPr id="6" name="Oval 5"/>
          <p:cNvSpPr/>
          <p:nvPr/>
        </p:nvSpPr>
        <p:spPr>
          <a:xfrm flipV="1">
            <a:off x="2286000" y="2561334"/>
            <a:ext cx="609600" cy="56286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2743200" y="3124200"/>
            <a:ext cx="378618" cy="9572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743200" y="4181492"/>
            <a:ext cx="8994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FF0000"/>
                </a:solidFill>
                <a:latin typeface="Arial" charset="0"/>
                <a:cs typeface="Arial" charset="0"/>
              </a:rPr>
              <a:t>Statistics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393781" y="5208815"/>
            <a:ext cx="320635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To see these chart options, click on the center icon called </a:t>
            </a:r>
            <a:r>
              <a:rPr lang="en-US" sz="1600" b="1" dirty="0">
                <a:latin typeface="Calibri Light" panose="020F0302020204030204" pitchFamily="34" charset="0"/>
              </a:rPr>
              <a:t>Statistic</a:t>
            </a:r>
            <a:r>
              <a:rPr lang="en-US" sz="1400" dirty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668799" y="3301425"/>
            <a:ext cx="1926801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latin typeface="Arial" charset="0"/>
                <a:cs typeface="Arial" charset="0"/>
              </a:rPr>
              <a:t>Plot of </a:t>
            </a:r>
            <a:r>
              <a:rPr lang="en-US" sz="1400" i="1" dirty="0" err="1">
                <a:latin typeface="Arial" charset="0"/>
                <a:cs typeface="Arial" charset="0"/>
              </a:rPr>
              <a:t>X</a:t>
            </a:r>
            <a:r>
              <a:rPr lang="en-US" sz="1400" baseline="-25000" dirty="0" err="1">
                <a:latin typeface="Arial" charset="0"/>
                <a:cs typeface="Arial" charset="0"/>
              </a:rPr>
              <a:t>min</a:t>
            </a:r>
            <a:r>
              <a:rPr lang="en-US" sz="1400" dirty="0">
                <a:latin typeface="Arial" charset="0"/>
                <a:cs typeface="Arial" charset="0"/>
              </a:rPr>
              <a:t>, </a:t>
            </a:r>
            <a:r>
              <a:rPr lang="en-US" sz="1400" i="1" dirty="0" err="1">
                <a:latin typeface="Arial" charset="0"/>
                <a:cs typeface="Arial" charset="0"/>
              </a:rPr>
              <a:t>X</a:t>
            </a:r>
            <a:r>
              <a:rPr lang="en-US" sz="1400" baseline="-25000" dirty="0" err="1">
                <a:latin typeface="Arial" charset="0"/>
                <a:cs typeface="Arial" charset="0"/>
              </a:rPr>
              <a:t>max</a:t>
            </a:r>
            <a:r>
              <a:rPr lang="en-US" sz="1400" dirty="0">
                <a:latin typeface="Arial" charset="0"/>
                <a:cs typeface="Arial" charset="0"/>
              </a:rPr>
              <a:t>, quartiles </a:t>
            </a:r>
            <a:r>
              <a:rPr lang="en-US" sz="1400" i="1" dirty="0">
                <a:latin typeface="Arial" charset="0"/>
                <a:cs typeface="Arial" charset="0"/>
              </a:rPr>
              <a:t>Q</a:t>
            </a:r>
            <a:r>
              <a:rPr lang="en-US" sz="1400" baseline="-25000" dirty="0">
                <a:latin typeface="Arial" charset="0"/>
                <a:cs typeface="Arial" charset="0"/>
              </a:rPr>
              <a:t>1</a:t>
            </a:r>
            <a:r>
              <a:rPr lang="en-US" sz="1400" dirty="0">
                <a:latin typeface="Arial" charset="0"/>
                <a:cs typeface="Arial" charset="0"/>
              </a:rPr>
              <a:t>, </a:t>
            </a:r>
            <a:r>
              <a:rPr lang="en-US" sz="1400" i="1" dirty="0">
                <a:latin typeface="Arial" charset="0"/>
                <a:cs typeface="Arial" charset="0"/>
              </a:rPr>
              <a:t>Q</a:t>
            </a:r>
            <a:r>
              <a:rPr lang="en-US" sz="1400" baseline="-25000" dirty="0">
                <a:latin typeface="Arial" charset="0"/>
                <a:cs typeface="Arial" charset="0"/>
              </a:rPr>
              <a:t>2</a:t>
            </a:r>
            <a:r>
              <a:rPr lang="en-US" sz="1400" dirty="0">
                <a:latin typeface="Arial" charset="0"/>
                <a:cs typeface="Arial" charset="0"/>
              </a:rPr>
              <a:t>, </a:t>
            </a:r>
            <a:r>
              <a:rPr lang="en-US" sz="1400" i="1" dirty="0">
                <a:latin typeface="Arial" charset="0"/>
                <a:cs typeface="Arial" charset="0"/>
              </a:rPr>
              <a:t>Q</a:t>
            </a:r>
            <a:r>
              <a:rPr lang="en-US" sz="1400" baseline="-25000" dirty="0">
                <a:latin typeface="Arial" charset="0"/>
                <a:cs typeface="Arial" charset="0"/>
              </a:rPr>
              <a:t>3</a:t>
            </a:r>
            <a:r>
              <a:rPr lang="en-US" sz="1400" dirty="0">
                <a:latin typeface="Arial" charset="0"/>
                <a:cs typeface="Arial" charset="0"/>
              </a:rPr>
              <a:t> (25%, 50%, 75%), and “fences” to demark outliers.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668799" y="1802249"/>
            <a:ext cx="2019299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latin typeface="Arial" charset="0"/>
                <a:cs typeface="Arial" charset="0"/>
              </a:rPr>
              <a:t>Column chart showing frequency of data values within each data range (classes are called “bins”).</a:t>
            </a:r>
          </a:p>
        </p:txBody>
      </p:sp>
      <p:sp>
        <p:nvSpPr>
          <p:cNvPr id="10" name="Left Arrow 9"/>
          <p:cNvSpPr/>
          <p:nvPr/>
        </p:nvSpPr>
        <p:spPr bwMode="auto">
          <a:xfrm>
            <a:off x="6354474" y="2471152"/>
            <a:ext cx="314325" cy="410466"/>
          </a:xfrm>
          <a:prstGeom prst="left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272" y="5115497"/>
            <a:ext cx="600756" cy="576346"/>
          </a:xfrm>
          <a:prstGeom prst="rect">
            <a:avLst/>
          </a:prstGeom>
        </p:spPr>
      </p:pic>
      <p:sp>
        <p:nvSpPr>
          <p:cNvPr id="17" name="Left Arrow 9">
            <a:extLst>
              <a:ext uri="{FF2B5EF4-FFF2-40B4-BE49-F238E27FC236}">
                <a16:creationId xmlns:a16="http://schemas.microsoft.com/office/drawing/2014/main" id="{06434DF1-6455-4D5F-9C91-CF7F66091B04}"/>
              </a:ext>
            </a:extLst>
          </p:cNvPr>
          <p:cNvSpPr/>
          <p:nvPr/>
        </p:nvSpPr>
        <p:spPr bwMode="auto">
          <a:xfrm>
            <a:off x="6379913" y="3237519"/>
            <a:ext cx="314325" cy="410466"/>
          </a:xfrm>
          <a:prstGeom prst="left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E8060-B145-3203-3082-138958EBA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750" y="2229862"/>
            <a:ext cx="18288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5C155C4-A5C6-0141-B122-4F122E374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567" y="2021304"/>
            <a:ext cx="3263507" cy="19589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40EAEF-6766-1CCF-3F23-67B36CC6B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342" y="4157199"/>
            <a:ext cx="3105151" cy="1863918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Statistics Charts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54" y="4405594"/>
            <a:ext cx="3038081" cy="517633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191000" y="1105719"/>
            <a:ext cx="401466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Example:</a:t>
            </a:r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1400" dirty="0">
                <a:latin typeface="Arial" charset="0"/>
                <a:cs typeface="Arial" charset="0"/>
              </a:rPr>
              <a:t>Excel’s histogram and boxplot of 76 winning scores in the men’s U.S. Open golf tournament from 1946 to 2022</a:t>
            </a:r>
          </a:p>
        </p:txBody>
      </p:sp>
      <p:sp>
        <p:nvSpPr>
          <p:cNvPr id="12" name="Oval 11"/>
          <p:cNvSpPr/>
          <p:nvPr/>
        </p:nvSpPr>
        <p:spPr>
          <a:xfrm flipV="1">
            <a:off x="5813106" y="4390933"/>
            <a:ext cx="486047" cy="21636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595730" y="4468071"/>
            <a:ext cx="10005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Outlier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 bwMode="auto">
          <a:xfrm flipH="1" flipV="1">
            <a:off x="6634007" y="4516059"/>
            <a:ext cx="915694" cy="912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976489" y="3144649"/>
            <a:ext cx="7619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Class  limits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7443735" y="3493997"/>
            <a:ext cx="532754" cy="3160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AD66604-74D6-642E-50A2-7C6607EC5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139" y="960120"/>
            <a:ext cx="1828800" cy="2143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19F83D-C2F1-20F8-0920-B89866F61A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443" y="4945242"/>
            <a:ext cx="3105150" cy="5048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1AF768-A471-4859-A22B-4D942CE6EF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033" y="3667869"/>
            <a:ext cx="3105150" cy="6667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870D660-424F-9749-E976-ECDA1BE2BFCE}"/>
              </a:ext>
            </a:extLst>
          </p:cNvPr>
          <p:cNvSpPr/>
          <p:nvPr/>
        </p:nvSpPr>
        <p:spPr bwMode="auto">
          <a:xfrm>
            <a:off x="1143000" y="3651998"/>
            <a:ext cx="2967593" cy="1910602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80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E48D59-944B-5B93-56F1-5DE9F3A2C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037136"/>
            <a:ext cx="6871846" cy="1662713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Edit Tools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2191518" y="1272867"/>
            <a:ext cx="50046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Customize your chart </a:t>
            </a: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you have created it. One way is to click on the chart and view the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ribbon.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733800"/>
            <a:ext cx="1285875" cy="2571750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29289" y="4450010"/>
            <a:ext cx="27668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</a:t>
            </a:r>
            <a:r>
              <a:rPr lang="en-US" sz="1400" dirty="0">
                <a:latin typeface="Arial" charset="0"/>
                <a:cs typeface="Arial" charset="0"/>
              </a:rPr>
              <a:t> For example, use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</a:rPr>
              <a:t>Add Chart Element</a:t>
            </a:r>
            <a:r>
              <a:rPr lang="en-US" sz="1400" b="1" dirty="0">
                <a:latin typeface="Calibri Light" panose="020F0302020204030204" pitchFamily="34" charset="0"/>
              </a:rPr>
              <a:t> </a:t>
            </a:r>
            <a:r>
              <a:rPr lang="en-US" sz="1400" dirty="0">
                <a:latin typeface="Arial" charset="0"/>
                <a:cs typeface="Arial" charset="0"/>
              </a:rPr>
              <a:t>to add descriptive titles to your graph and its axes.</a:t>
            </a:r>
          </a:p>
        </p:txBody>
      </p:sp>
      <p:sp>
        <p:nvSpPr>
          <p:cNvPr id="8" name="Oval 7"/>
          <p:cNvSpPr/>
          <p:nvPr/>
        </p:nvSpPr>
        <p:spPr>
          <a:xfrm flipV="1">
            <a:off x="1219200" y="2743200"/>
            <a:ext cx="896118" cy="78671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E52EF1-0C3D-4AD4-9D8F-E6EADF9BB71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362200" y="3733800"/>
            <a:ext cx="1752600" cy="8438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Elements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726790" y="1331119"/>
            <a:ext cx="57666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Instead of using the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ribbon, just click on the chart and the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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symbol to the right to customize your graph using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 Elements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243973-00D1-A17F-6F29-F6E0FF73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12328"/>
            <a:ext cx="4876800" cy="29306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0253B9-ED76-837A-45CB-C14BB7EF8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33600"/>
            <a:ext cx="214342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4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Elements</a:t>
            </a:r>
          </a:p>
        </p:txBody>
      </p:sp>
      <p:sp>
        <p:nvSpPr>
          <p:cNvPr id="6147" name="Text Box 7"/>
          <p:cNvSpPr txBox="1">
            <a:spLocks noChangeArrowheads="1"/>
          </p:cNvSpPr>
          <p:nvPr/>
        </p:nvSpPr>
        <p:spPr bwMode="auto">
          <a:xfrm>
            <a:off x="2857500" y="1238312"/>
            <a:ext cx="3429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You can improve the titles or add a fitted trend </a:t>
            </a: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creating the basic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84BEF-BD96-8B6D-277A-AA268B7A8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3696"/>
            <a:ext cx="5105400" cy="36211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B8B1B7-AB06-076C-7889-152562FD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024" y="4332713"/>
            <a:ext cx="3104554" cy="2100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Entry</a:t>
            </a:r>
          </a:p>
        </p:txBody>
      </p:sp>
      <p:sp>
        <p:nvSpPr>
          <p:cNvPr id="7172" name="Text Box 7"/>
          <p:cNvSpPr txBox="1">
            <a:spLocks noChangeArrowheads="1"/>
          </p:cNvSpPr>
          <p:nvPr/>
        </p:nvSpPr>
        <p:spPr bwMode="auto">
          <a:xfrm>
            <a:off x="3124200" y="1143000"/>
            <a:ext cx="3200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1. Enter the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E26EE-9905-11E8-79AD-2B70C237C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28800"/>
            <a:ext cx="5551668" cy="42039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6252C2-4ACD-625B-8D0C-E8C8E165D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1828800"/>
            <a:ext cx="5554679" cy="4206240"/>
          </a:xfrm>
          <a:prstGeom prst="rect">
            <a:avLst/>
          </a:prstGeom>
        </p:spPr>
      </p:pic>
      <p:sp>
        <p:nvSpPr>
          <p:cNvPr id="81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Select Data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1969327" y="1123890"/>
            <a:ext cx="5867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2. Highlight the data (not the heading).</a:t>
            </a:r>
          </a:p>
        </p:txBody>
      </p:sp>
      <p:sp>
        <p:nvSpPr>
          <p:cNvPr id="8197" name="Line 12"/>
          <p:cNvSpPr>
            <a:spLocks noChangeShapeType="1"/>
          </p:cNvSpPr>
          <p:nvPr/>
        </p:nvSpPr>
        <p:spPr bwMode="auto">
          <a:xfrm flipH="1">
            <a:off x="3200400" y="1971735"/>
            <a:ext cx="1371600" cy="168586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A22DA60A-C8F6-4015-B139-1ABFF1857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043" y="6241733"/>
            <a:ext cx="32259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You can add the axis labels later.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26CB5-9D09-1BD5-B48B-4F0490341EDF}"/>
              </a:ext>
            </a:extLst>
          </p:cNvPr>
          <p:cNvSpPr/>
          <p:nvPr/>
        </p:nvSpPr>
        <p:spPr bwMode="auto">
          <a:xfrm>
            <a:off x="2667000" y="3448488"/>
            <a:ext cx="381000" cy="2295585"/>
          </a:xfrm>
          <a:prstGeom prst="rect">
            <a:avLst/>
          </a:prstGeom>
          <a:solidFill>
            <a:srgbClr val="969696">
              <a:alpha val="14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873D62-F26E-A782-9537-DD850A12D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828800"/>
            <a:ext cx="5556631" cy="4206240"/>
          </a:xfrm>
          <a:prstGeom prst="rect">
            <a:avLst/>
          </a:prstGeom>
        </p:spPr>
      </p:pic>
      <p:sp>
        <p:nvSpPr>
          <p:cNvPr id="92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Select Chart</a:t>
            </a:r>
          </a:p>
        </p:txBody>
      </p:sp>
      <p:sp>
        <p:nvSpPr>
          <p:cNvPr id="9220" name="Text Box 7"/>
          <p:cNvSpPr txBox="1">
            <a:spLocks noChangeArrowheads="1"/>
          </p:cNvSpPr>
          <p:nvPr/>
        </p:nvSpPr>
        <p:spPr bwMode="auto">
          <a:xfrm>
            <a:off x="1396775" y="1188371"/>
            <a:ext cx="7086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3. Click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ribbon and choose chart type and style.</a:t>
            </a:r>
          </a:p>
        </p:txBody>
      </p:sp>
      <p:sp>
        <p:nvSpPr>
          <p:cNvPr id="9224" name="TextBox 12"/>
          <p:cNvSpPr txBox="1">
            <a:spLocks noChangeArrowheads="1"/>
          </p:cNvSpPr>
          <p:nvPr/>
        </p:nvSpPr>
        <p:spPr bwMode="auto">
          <a:xfrm>
            <a:off x="2432367" y="6138028"/>
            <a:ext cx="4038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For a time series we choose a line chart.</a:t>
            </a:r>
          </a:p>
        </p:txBody>
      </p:sp>
      <p:sp>
        <p:nvSpPr>
          <p:cNvPr id="12" name="Oval 11"/>
          <p:cNvSpPr/>
          <p:nvPr/>
        </p:nvSpPr>
        <p:spPr>
          <a:xfrm flipV="1">
            <a:off x="3256048" y="2381250"/>
            <a:ext cx="304800" cy="2286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 flipV="1">
            <a:off x="4181475" y="2638425"/>
            <a:ext cx="457200" cy="471941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 flipV="1">
            <a:off x="2324775" y="2057400"/>
            <a:ext cx="298900" cy="289825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562A5-74DA-A141-8F16-D18BA3BA5A77}"/>
              </a:ext>
            </a:extLst>
          </p:cNvPr>
          <p:cNvSpPr/>
          <p:nvPr/>
        </p:nvSpPr>
        <p:spPr bwMode="auto">
          <a:xfrm>
            <a:off x="2324775" y="3427003"/>
            <a:ext cx="298900" cy="2167548"/>
          </a:xfrm>
          <a:prstGeom prst="rect">
            <a:avLst/>
          </a:prstGeom>
          <a:solidFill>
            <a:srgbClr val="969696">
              <a:alpha val="14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Axis Labels?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1905000" y="1161990"/>
            <a:ext cx="7086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4. Right-click on graph and choose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246" name="TextBox 9"/>
          <p:cNvSpPr txBox="1">
            <a:spLocks noChangeArrowheads="1"/>
          </p:cNvSpPr>
          <p:nvPr/>
        </p:nvSpPr>
        <p:spPr bwMode="auto">
          <a:xfrm>
            <a:off x="2743200" y="6101770"/>
            <a:ext cx="39083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200" dirty="0">
                <a:latin typeface="Arial" charset="0"/>
                <a:cs typeface="Arial" charset="0"/>
              </a:rPr>
              <a:t>Add the years as x-axis labels after creating the chart. They are treated as </a:t>
            </a: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labels</a:t>
            </a:r>
            <a:r>
              <a:rPr lang="en-US" sz="1200" dirty="0">
                <a:latin typeface="Arial" charset="0"/>
                <a:cs typeface="Arial" charset="0"/>
              </a:rPr>
              <a:t> not </a:t>
            </a:r>
            <a:r>
              <a:rPr lang="en-US" sz="1200" i="1" dirty="0">
                <a:solidFill>
                  <a:srgbClr val="C00000"/>
                </a:solidFill>
                <a:latin typeface="Arial" charset="0"/>
                <a:cs typeface="Arial" charset="0"/>
              </a:rPr>
              <a:t>numbers</a:t>
            </a:r>
            <a:r>
              <a:rPr lang="en-US" sz="1200" dirty="0">
                <a:latin typeface="Arial" charset="0"/>
                <a:cs typeface="Arial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DF08E7-2D41-7CAE-8CFC-7B2BED850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1828800"/>
            <a:ext cx="5554678" cy="42062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23EDDA-1F4C-449A-430A-005DE52C9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657600"/>
            <a:ext cx="1152525" cy="1362075"/>
          </a:xfrm>
          <a:prstGeom prst="rect">
            <a:avLst/>
          </a:prstGeom>
        </p:spPr>
      </p:pic>
      <p:sp>
        <p:nvSpPr>
          <p:cNvPr id="14" name="Line 12">
            <a:extLst>
              <a:ext uri="{FF2B5EF4-FFF2-40B4-BE49-F238E27FC236}">
                <a16:creationId xmlns:a16="http://schemas.microsoft.com/office/drawing/2014/main" id="{00877DF0-1F15-F379-D5E7-BAD87644FF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1546" y="1524000"/>
            <a:ext cx="892254" cy="2895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D7EDC7-F7F8-8EA8-D6E4-F024561D3BE3}"/>
              </a:ext>
            </a:extLst>
          </p:cNvPr>
          <p:cNvSpPr/>
          <p:nvPr/>
        </p:nvSpPr>
        <p:spPr>
          <a:xfrm flipV="1">
            <a:off x="5999884" y="4419599"/>
            <a:ext cx="781915" cy="23596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AB11AC-E17F-13E8-45B3-0E99A5CB6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38" y="1911510"/>
            <a:ext cx="4770104" cy="2638259"/>
          </a:xfrm>
          <a:prstGeom prst="rect">
            <a:avLst/>
          </a:prstGeom>
        </p:spPr>
      </p:pic>
      <p:sp>
        <p:nvSpPr>
          <p:cNvPr id="1126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Select Axis Labels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905000" y="1251060"/>
            <a:ext cx="670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5. Enter x-axis label range after you click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272" name="TextBox 10"/>
          <p:cNvSpPr txBox="1">
            <a:spLocks noChangeArrowheads="1"/>
          </p:cNvSpPr>
          <p:nvPr/>
        </p:nvSpPr>
        <p:spPr bwMode="auto">
          <a:xfrm>
            <a:off x="7009086" y="3192058"/>
            <a:ext cx="1409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 dirty="0">
                <a:latin typeface="Arial" charset="0"/>
                <a:cs typeface="Arial" charset="0"/>
              </a:rPr>
              <a:t>This range contains the years 2000-2012.</a:t>
            </a: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H="1">
            <a:off x="4800600" y="1651169"/>
            <a:ext cx="2438400" cy="162543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4343400" y="2782426"/>
            <a:ext cx="914400" cy="62434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CB3E8-BBD8-65D6-3BF2-7B4F28C93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112" y="4810109"/>
            <a:ext cx="3267075" cy="1163762"/>
          </a:xfrm>
          <a:prstGeom prst="rect">
            <a:avLst/>
          </a:prstGeom>
        </p:spPr>
      </p:pic>
      <p:sp>
        <p:nvSpPr>
          <p:cNvPr id="10" name="Line 7"/>
          <p:cNvSpPr>
            <a:spLocks noChangeShapeType="1"/>
          </p:cNvSpPr>
          <p:nvPr/>
        </p:nvSpPr>
        <p:spPr bwMode="auto">
          <a:xfrm flipH="1">
            <a:off x="5562600" y="3962400"/>
            <a:ext cx="1676400" cy="143377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Align Data with Axis Ticks</a:t>
            </a:r>
          </a:p>
        </p:txBody>
      </p:sp>
      <p:sp>
        <p:nvSpPr>
          <p:cNvPr id="12292" name="Text Box 7"/>
          <p:cNvSpPr txBox="1">
            <a:spLocks noChangeArrowheads="1"/>
          </p:cNvSpPr>
          <p:nvPr/>
        </p:nvSpPr>
        <p:spPr bwMode="auto">
          <a:xfrm>
            <a:off x="2247900" y="1137486"/>
            <a:ext cx="5715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6. Right-click on x-axis and position labels.</a:t>
            </a:r>
          </a:p>
        </p:txBody>
      </p:sp>
      <p:sp>
        <p:nvSpPr>
          <p:cNvPr id="12293" name="TextBox 9"/>
          <p:cNvSpPr txBox="1">
            <a:spLocks noChangeArrowheads="1"/>
          </p:cNvSpPr>
          <p:nvPr/>
        </p:nvSpPr>
        <p:spPr bwMode="auto">
          <a:xfrm>
            <a:off x="4724400" y="1752796"/>
            <a:ext cx="27432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Excel centers each data value in the </a:t>
            </a:r>
            <a:r>
              <a:rPr lang="en-US" sz="1400" i="1" dirty="0">
                <a:latin typeface="Arial" charset="0"/>
                <a:cs typeface="Arial" charset="0"/>
              </a:rPr>
              <a:t>middle</a:t>
            </a:r>
            <a:r>
              <a:rPr lang="en-US" sz="1400" dirty="0">
                <a:latin typeface="Arial" charset="0"/>
                <a:cs typeface="Arial" charset="0"/>
              </a:rPr>
              <a:t> of the axis interval. That’s OK for a bar chart, but for a line chart we want to align data with axis ticks. Also, click </a:t>
            </a:r>
            <a:r>
              <a:rPr lang="en-US" sz="1400" dirty="0">
                <a:solidFill>
                  <a:srgbClr val="C00000"/>
                </a:solidFill>
                <a:latin typeface="Arial" charset="0"/>
                <a:cs typeface="Arial" charset="0"/>
              </a:rPr>
              <a:t>Text</a:t>
            </a:r>
            <a:r>
              <a:rPr lang="en-US" sz="1400" dirty="0">
                <a:latin typeface="Arial" charset="0"/>
                <a:cs typeface="Arial" charset="0"/>
              </a:rPr>
              <a:t> Options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52600"/>
            <a:ext cx="2190750" cy="4419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294" name="Line 6"/>
          <p:cNvSpPr>
            <a:spLocks noChangeShapeType="1"/>
          </p:cNvSpPr>
          <p:nvPr/>
        </p:nvSpPr>
        <p:spPr bwMode="auto">
          <a:xfrm flipH="1">
            <a:off x="2819400" y="2819400"/>
            <a:ext cx="1847850" cy="2667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7"/>
          <p:cNvSpPr/>
          <p:nvPr/>
        </p:nvSpPr>
        <p:spPr>
          <a:xfrm flipV="1">
            <a:off x="1676400" y="5410200"/>
            <a:ext cx="1143000" cy="381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4377489"/>
            <a:ext cx="2362200" cy="1647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781550" y="3428802"/>
            <a:ext cx="2686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latin typeface="Arial" charset="0"/>
                <a:cs typeface="Arial" charset="0"/>
              </a:rPr>
              <a:t>We can label every other year to avoid crowding the labels.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6038850" y="4038600"/>
            <a:ext cx="51435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6553200" y="5029200"/>
            <a:ext cx="457200" cy="3810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Customize Chart</a:t>
            </a:r>
          </a:p>
        </p:txBody>
      </p:sp>
      <p:sp>
        <p:nvSpPr>
          <p:cNvPr id="13316" name="Text Box 10"/>
          <p:cNvSpPr txBox="1">
            <a:spLocks noChangeArrowheads="1"/>
          </p:cNvSpPr>
          <p:nvPr/>
        </p:nvSpPr>
        <p:spPr bwMode="auto">
          <a:xfrm>
            <a:off x="2076522" y="2257609"/>
            <a:ext cx="16599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i="1" dirty="0">
                <a:solidFill>
                  <a:srgbClr val="C00000"/>
                </a:solidFill>
                <a:latin typeface="Arial" charset="0"/>
              </a:rPr>
              <a:t>Default Chart</a:t>
            </a:r>
          </a:p>
        </p:txBody>
      </p:sp>
      <p:sp>
        <p:nvSpPr>
          <p:cNvPr id="13317" name="Text Box 11"/>
          <p:cNvSpPr txBox="1">
            <a:spLocks noChangeArrowheads="1"/>
          </p:cNvSpPr>
          <p:nvPr/>
        </p:nvSpPr>
        <p:spPr bwMode="auto">
          <a:xfrm>
            <a:off x="6172200" y="3244334"/>
            <a:ext cx="14999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i="1" dirty="0">
                <a:solidFill>
                  <a:srgbClr val="C00000"/>
                </a:solidFill>
                <a:latin typeface="Arial" charset="0"/>
              </a:rPr>
              <a:t>With Labels</a:t>
            </a:r>
          </a:p>
        </p:txBody>
      </p:sp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2362200" y="1205441"/>
            <a:ext cx="51417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7. Edit colors, borders, and titles.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921920" y="2009006"/>
            <a:ext cx="268224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Right-click a graph feature that you want to edit and follow the menus that appear.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353" y="2031138"/>
            <a:ext cx="607108" cy="582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29B410-A4AB-72C6-B7EA-860A6900D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4907"/>
            <a:ext cx="3505200" cy="2106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8FF0AC-73F4-AB41-7E49-608602ED3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004" y="3708756"/>
            <a:ext cx="3803256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F8C3F5C-39BA-D1E3-F6E1-8C7AAFCB3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869297" cy="4343400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Scatter Plot</a:t>
            </a:r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1276136" y="1132850"/>
            <a:ext cx="3505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Highlight only the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data (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the column headings) and click </a:t>
            </a: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754E5859-0D67-4837-BAFF-9A9C25CD8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131924"/>
            <a:ext cx="365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You can add nice axis labels later by clicking the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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the upper right of the chart.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3D37BEE1-AB8C-4F4A-B20F-4C3B32956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752600"/>
            <a:ext cx="0" cy="871534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1A914E-04DD-447B-8348-0F8D9D2565A3}"/>
              </a:ext>
            </a:extLst>
          </p:cNvPr>
          <p:cNvSpPr/>
          <p:nvPr/>
        </p:nvSpPr>
        <p:spPr>
          <a:xfrm flipV="1">
            <a:off x="7057994" y="3343269"/>
            <a:ext cx="514411" cy="323854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19C2EE-7410-267C-B991-E3D60EE8B33F}"/>
              </a:ext>
            </a:extLst>
          </p:cNvPr>
          <p:cNvSpPr/>
          <p:nvPr/>
        </p:nvSpPr>
        <p:spPr>
          <a:xfrm flipV="1">
            <a:off x="3810000" y="2981502"/>
            <a:ext cx="533400" cy="371298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chemeClr val="bg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14F5C9E7-FC9B-87CD-EB42-95033EF65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1905000"/>
            <a:ext cx="476465" cy="1438269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Pie Chart</a:t>
            </a:r>
          </a:p>
        </p:txBody>
      </p:sp>
      <p:sp>
        <p:nvSpPr>
          <p:cNvPr id="15364" name="TextBox 6"/>
          <p:cNvSpPr txBox="1">
            <a:spLocks noChangeArrowheads="1"/>
          </p:cNvSpPr>
          <p:nvPr/>
        </p:nvSpPr>
        <p:spPr bwMode="auto">
          <a:xfrm>
            <a:off x="1371600" y="1116417"/>
            <a:ext cx="3200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Use  a </a:t>
            </a:r>
            <a:r>
              <a:rPr lang="en-US" sz="1400" i="1" dirty="0">
                <a:solidFill>
                  <a:srgbClr val="0000FF"/>
                </a:solidFill>
                <a:latin typeface="Arial" charset="0"/>
                <a:cs typeface="Arial" charset="0"/>
              </a:rPr>
              <a:t>pie chart </a:t>
            </a:r>
            <a:r>
              <a:rPr lang="en-US" sz="1400" dirty="0">
                <a:latin typeface="Arial" charset="0"/>
                <a:cs typeface="Arial" charset="0"/>
              </a:rPr>
              <a:t>only to display parts of a whole (must sum to 100%). 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0F065E4C-45F6-4E88-93D6-FF6EF5375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116417"/>
            <a:ext cx="2895600" cy="537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A pie chart becomes awkward if there are many categories.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16740-1C18-17C6-C285-92B054D27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67646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Column Chart</a:t>
            </a:r>
          </a:p>
        </p:txBody>
      </p:sp>
      <p:sp>
        <p:nvSpPr>
          <p:cNvPr id="16388" name="TextBox 6"/>
          <p:cNvSpPr txBox="1">
            <a:spLocks noChangeArrowheads="1"/>
          </p:cNvSpPr>
          <p:nvPr/>
        </p:nvSpPr>
        <p:spPr bwMode="auto">
          <a:xfrm>
            <a:off x="2743200" y="1132850"/>
            <a:ext cx="3657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A </a:t>
            </a:r>
            <a:r>
              <a:rPr lang="en-US" sz="1400" i="1" dirty="0">
                <a:solidFill>
                  <a:srgbClr val="0000FF"/>
                </a:solidFill>
                <a:latin typeface="Arial" charset="0"/>
                <a:cs typeface="Arial" charset="0"/>
              </a:rPr>
              <a:t>column</a:t>
            </a:r>
            <a:r>
              <a:rPr lang="en-US" sz="1400" dirty="0">
                <a:latin typeface="Arial" charset="0"/>
                <a:cs typeface="Arial" charset="0"/>
              </a:rPr>
              <a:t> chart may be clearer than a pie chart to compare data magnitudes.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030BE-674D-231D-7EDB-139E3906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67646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Column Chart</a:t>
            </a:r>
          </a:p>
        </p:txBody>
      </p:sp>
      <p:sp>
        <p:nvSpPr>
          <p:cNvPr id="16388" name="TextBox 6"/>
          <p:cNvSpPr txBox="1">
            <a:spLocks noChangeArrowheads="1"/>
          </p:cNvSpPr>
          <p:nvPr/>
        </p:nvSpPr>
        <p:spPr bwMode="auto">
          <a:xfrm>
            <a:off x="2362200" y="1132850"/>
            <a:ext cx="464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A </a:t>
            </a:r>
            <a:r>
              <a:rPr lang="en-US" sz="1400" i="1" dirty="0" err="1">
                <a:solidFill>
                  <a:srgbClr val="0000CC"/>
                </a:solidFill>
                <a:latin typeface="Arial" charset="0"/>
                <a:cs typeface="Arial" charset="0"/>
              </a:rPr>
              <a:t>treemap</a:t>
            </a:r>
            <a:r>
              <a:rPr lang="en-US" sz="1400" dirty="0">
                <a:latin typeface="Arial" charset="0"/>
                <a:cs typeface="Arial" charset="0"/>
              </a:rPr>
              <a:t> can be used to display data that comprise parts of a whole (must sum to 100%).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B73512-E110-C4C5-AE3F-0F200069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6764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6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Time Series Column Chart</a:t>
            </a:r>
          </a:p>
        </p:txBody>
      </p:sp>
      <p:sp>
        <p:nvSpPr>
          <p:cNvPr id="17412" name="TextBox 6"/>
          <p:cNvSpPr txBox="1">
            <a:spLocks noChangeArrowheads="1"/>
          </p:cNvSpPr>
          <p:nvPr/>
        </p:nvSpPr>
        <p:spPr bwMode="auto">
          <a:xfrm>
            <a:off x="2492491" y="1025128"/>
            <a:ext cx="43243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C00000"/>
                </a:solidFill>
                <a:latin typeface="Arial" charset="0"/>
                <a:cs typeface="Arial" charset="0"/>
              </a:rPr>
              <a:t>Tip: </a:t>
            </a:r>
            <a:r>
              <a:rPr lang="en-US" sz="1400" dirty="0">
                <a:latin typeface="Arial" charset="0"/>
                <a:cs typeface="Arial" charset="0"/>
              </a:rPr>
              <a:t>It’s OK to use a column chart to plot a time series. Always put time on the x-axis. Add data labels if you’re showing only a few time periods.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C070D-8037-B471-CFD8-3EA52061C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651733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Bottom Line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990600" y="2743200"/>
            <a:ext cx="50292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US" sz="2000" dirty="0">
                <a:latin typeface="Arial" charset="0"/>
                <a:cs typeface="Arial" charset="0"/>
              </a:rPr>
              <a:t>Charts are important in business.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 Excel charts are versatile.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 Excel defaults are rather plain.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  <a:cs typeface="Arial" charset="0"/>
              </a:rPr>
              <a:t> Why not take control? Customize!</a:t>
            </a:r>
          </a:p>
        </p:txBody>
      </p:sp>
      <p:pic>
        <p:nvPicPr>
          <p:cNvPr id="18436" name="Picture 10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324" y="2513806"/>
            <a:ext cx="2209800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3360</TotalTime>
  <Words>891</Words>
  <Application>Microsoft Office PowerPoint</Application>
  <PresentationFormat>On-screen Show (4:3)</PresentationFormat>
  <Paragraphs>91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Default Design</vt:lpstr>
      <vt:lpstr>Excel Charts</vt:lpstr>
      <vt:lpstr>What’s Your Data Type?</vt:lpstr>
      <vt:lpstr>Insert Chart</vt:lpstr>
      <vt:lpstr>Insert Chart</vt:lpstr>
      <vt:lpstr>Insert Chart</vt:lpstr>
      <vt:lpstr>Insert Chart</vt:lpstr>
      <vt:lpstr>Statistics Charts</vt:lpstr>
      <vt:lpstr>Statistics Charts</vt:lpstr>
      <vt:lpstr>Chart Edit Tools</vt:lpstr>
      <vt:lpstr>Chart Elements</vt:lpstr>
      <vt:lpstr>Chart Elements</vt:lpstr>
      <vt:lpstr>Data Entry</vt:lpstr>
      <vt:lpstr>Select Data</vt:lpstr>
      <vt:lpstr>Select Chart</vt:lpstr>
      <vt:lpstr>Axis Labels?</vt:lpstr>
      <vt:lpstr>Select Axis Labels</vt:lpstr>
      <vt:lpstr>Align Data with Axis Ticks</vt:lpstr>
      <vt:lpstr>Customize Chart</vt:lpstr>
      <vt:lpstr>Scatter Plot</vt:lpstr>
      <vt:lpstr>Pie Chart</vt:lpstr>
      <vt:lpstr>Column Chart</vt:lpstr>
      <vt:lpstr>Column Chart</vt:lpstr>
      <vt:lpstr>Time Series Column Chart</vt:lpstr>
      <vt:lpstr>Bottom Line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Excel Charts</dc:title>
  <dc:subject>Chapter 3 - Data Presentation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147</cp:revision>
  <dcterms:created xsi:type="dcterms:W3CDTF">2000-08-22T13:07:54Z</dcterms:created>
  <dcterms:modified xsi:type="dcterms:W3CDTF">2023-11-29T09:57:36Z</dcterms:modified>
</cp:coreProperties>
</file>