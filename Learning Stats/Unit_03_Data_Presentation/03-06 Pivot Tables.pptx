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sldIdLst>
    <p:sldId id="256" r:id="rId2"/>
    <p:sldId id="337" r:id="rId3"/>
    <p:sldId id="268" r:id="rId4"/>
    <p:sldId id="307" r:id="rId5"/>
    <p:sldId id="320" r:id="rId6"/>
    <p:sldId id="338" r:id="rId7"/>
    <p:sldId id="330" r:id="rId8"/>
    <p:sldId id="331" r:id="rId9"/>
    <p:sldId id="332" r:id="rId10"/>
    <p:sldId id="333" r:id="rId11"/>
    <p:sldId id="339" r:id="rId12"/>
    <p:sldId id="335" r:id="rId13"/>
    <p:sldId id="336" r:id="rId14"/>
    <p:sldId id="31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00"/>
    <a:srgbClr val="0000FF"/>
    <a:srgbClr val="CCFFCC"/>
    <a:srgbClr val="FFFFFF"/>
    <a:srgbClr val="CCECFF"/>
    <a:srgbClr val="FF6699"/>
    <a:srgbClr val="CC0000"/>
    <a:srgbClr val="FF3300"/>
    <a:srgbClr val="996600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70" autoAdjust="0"/>
    <p:restoredTop sz="90317" autoAdjust="0"/>
  </p:normalViewPr>
  <p:slideViewPr>
    <p:cSldViewPr>
      <p:cViewPr varScale="1">
        <p:scale>
          <a:sx n="57" d="100"/>
          <a:sy n="57" d="100"/>
        </p:scale>
        <p:origin x="1464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AEAB8-2688-49E9-BEF7-46F2A15654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76106E-5DB0-4067-B6A9-C19FFD1AED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20A1F-C64C-4333-8CD3-3AA1E2C44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E1629-261C-4B04-B0DC-27F39354B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786FD-AFC2-4452-9134-DA361608F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755152-E10C-4581-8F10-9E7620D6E49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780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F6B31-869E-4CC1-B650-F918658A7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E4A1D-E914-4D8D-B3DF-1666DE97B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4D34E-20B8-4203-BC48-9B2F85CED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1C85F-8197-4C84-ACA1-246632F87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4A341-ACE1-4CD4-A1A3-7346AA7DF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FFCD1E-BE85-4749-9C47-391098FCC6E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879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E1C8-05F1-416D-BD56-CD50AA943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B3853-A217-426A-BBC6-F2CB5A9CA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7E079-61B0-4952-BF16-D50515A8E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E53F5-C9CB-45C2-9362-870167169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2CBFC-1AA7-41D7-A03F-01EC59B4E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350A1A-6234-4EBA-AA2E-EBBAC5C8FE0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975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66720-4E2E-404F-86FB-1A78EA6DC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69445-3DF4-4BD7-AEE0-2A54D0D3B2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25BE13-2B5C-40D0-B568-FA5A27D466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4BC23B-9C09-47E1-9EF8-4322CEB2B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E119B-5DBC-496F-8B6A-5D965632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46EBBE-DEE5-4511-920B-045DAF20A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07DFBD-CE84-4B84-A2AE-F756B4F8EA0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000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4414A-E5F1-4A6F-B786-3516D3292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6192C2-528A-43D9-8FAB-D7F4D3F17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DF199-41F0-4364-B364-18060611A6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EC0AF2-5BE4-4644-BC4D-8BB8E2073B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D12716-B70C-4FC9-8D05-022495934F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1AF640-F641-4200-94A8-119E8A53D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D02ACA-6F83-44E2-8D78-30ADA4B41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A0A32F-3BDD-4FCA-8398-309A1F283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3698DA-6F25-4D47-9791-BC447C2339B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220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46509-6A1C-4FFD-B157-E40F93B96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000EF6-7896-4704-BAF2-CA3FE3716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98CB8E-23EE-43A0-9370-6EB50992E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CCBF24-7E65-4198-BFAB-E8870BFFE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964207-5EE1-4CE4-BB86-9CC6ABD6B4F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116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3C79C0-39C1-4D33-A719-39BE03E03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DCEB3D-F146-443C-9C19-F843CC069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EFA79-A48A-4B01-99BE-7F7A91595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E81822-8824-499D-A16B-30B2195410A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22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3BDB0-EE1D-46EF-8C13-A907728DF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A9FF0-01FB-4FF6-A319-F87B9A0EA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F5F722-9F5E-4E20-BA5F-F4954B2336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D02E19-C113-4CFE-9C96-081CED488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9CF963-E8EE-42CB-B555-E5270678A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9A79DA-3201-4C10-9965-F8A35CB03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93691-5905-43E7-8565-27ADC657B97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70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B6354-6B37-4767-A2ED-6B1A60010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ED8B5-164A-4162-9CB6-5A55E73E77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D7303F-27A0-4C4B-9F6D-86BA83919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E962BA-1B85-4EFF-9B99-83ADBB776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219B50-CDB8-4962-99A8-5EC982FAF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9E904C-5B22-456F-B592-880164839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6FA2F1-403C-4470-8CD9-8720D674BC2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173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E2EEB-4547-4986-AB44-60BFA3E29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C42D1B-9882-4266-9F6E-DE168D32BC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3EA29-FF32-4155-AC82-0C419A7B2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786B2-7EE5-45E0-A77B-36F3B5048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B8667-C258-42DB-804D-0CED7A68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123634-3AAC-43A2-A7E8-421372FBD5C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247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D3FA6B-5489-4687-9D58-6CA9841B23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A2B85B-D701-4805-B109-38BD4076DB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88132-C5FE-4207-8DB6-7A318E1BE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BF79E-1FD7-46E6-B8DA-94388B0E6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B603B-2D4D-440D-AE9F-117A85D21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B56764-5038-4249-84F7-E4084FA476E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30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A6A8B9-AA6B-440D-89AF-5CBA1E54A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1B360-3E65-4158-8515-881557E57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F4D3B-58CC-4DC8-B5D0-337B14C0C3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FEFD7-E0A0-4C8D-9D8F-8FCF3C45CC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EAF7A-DCBD-46F7-B9B4-B1877B548D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0BA5E8D-09FD-4400-923D-3C9C87CE6E2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484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6000" y="2209800"/>
            <a:ext cx="4876800" cy="1524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Pivot Tables</a:t>
            </a:r>
            <a:br>
              <a:rPr lang="en-US" sz="4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 Excel</a:t>
            </a:r>
          </a:p>
        </p:txBody>
      </p:sp>
      <p:sp>
        <p:nvSpPr>
          <p:cNvPr id="2051" name="Text Box 12"/>
          <p:cNvSpPr txBox="1">
            <a:spLocks noChangeArrowheads="1"/>
          </p:cNvSpPr>
          <p:nvPr/>
        </p:nvSpPr>
        <p:spPr bwMode="auto">
          <a:xfrm>
            <a:off x="1371600" y="5867400"/>
            <a:ext cx="7467600" cy="523220"/>
          </a:xfrm>
          <a:prstGeom prst="rect">
            <a:avLst/>
          </a:prstGeom>
          <a:solidFill>
            <a:srgbClr val="FFFF99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© McGraw Hill LLC. All rights reserved. </a:t>
            </a:r>
            <a:r>
              <a:rPr lang="en-US" sz="1400" b="1">
                <a:solidFill>
                  <a:schemeClr val="accent6">
                    <a:lumMod val="75000"/>
                  </a:schemeClr>
                </a:solidFill>
              </a:rPr>
              <a:t>No reproduction or distribution without the prior written consent of McGraw Hill LLC.</a:t>
            </a:r>
            <a:endParaRPr lang="en-US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850" y="1900555"/>
            <a:ext cx="6457950" cy="4349115"/>
          </a:xfrm>
          <a:prstGeom prst="rect">
            <a:avLst/>
          </a:prstGeom>
        </p:spPr>
      </p:pic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What Is a Pivot Table?</a:t>
            </a:r>
          </a:p>
        </p:txBody>
      </p:sp>
      <p:sp>
        <p:nvSpPr>
          <p:cNvPr id="3076" name="Text Box 7"/>
          <p:cNvSpPr txBox="1">
            <a:spLocks noChangeArrowheads="1"/>
          </p:cNvSpPr>
          <p:nvPr/>
        </p:nvSpPr>
        <p:spPr bwMode="auto">
          <a:xfrm>
            <a:off x="2438400" y="1143000"/>
            <a:ext cx="47244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2000" dirty="0"/>
              <a:t>It is a cross-tabulation of data.</a:t>
            </a:r>
          </a:p>
        </p:txBody>
      </p:sp>
      <p:sp>
        <p:nvSpPr>
          <p:cNvPr id="3077" name="Text Box 19"/>
          <p:cNvSpPr txBox="1">
            <a:spLocks noChangeArrowheads="1"/>
          </p:cNvSpPr>
          <p:nvPr/>
        </p:nvSpPr>
        <p:spPr bwMode="auto">
          <a:xfrm>
            <a:off x="6896099" y="3574033"/>
            <a:ext cx="1447800" cy="855248"/>
          </a:xfrm>
          <a:prstGeom prst="rect">
            <a:avLst/>
          </a:prstGeom>
          <a:solidFill>
            <a:schemeClr val="accent6">
              <a:lumMod val="60000"/>
              <a:lumOff val="40000"/>
              <a:alpha val="42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200" dirty="0">
                <a:latin typeface="Arial" charset="0"/>
                <a:cs typeface="Arial" charset="0"/>
              </a:rPr>
              <a:t>Here are three pivot tables. Let’s see how they were constructed</a:t>
            </a:r>
            <a:r>
              <a:rPr lang="en-US" sz="1200" dirty="0">
                <a:solidFill>
                  <a:srgbClr val="FF0000"/>
                </a:solidFill>
                <a:latin typeface="Arial" charset="0"/>
                <a:cs typeface="Arial" charset="0"/>
              </a:rPr>
              <a:t>.</a:t>
            </a:r>
          </a:p>
        </p:txBody>
      </p:sp>
      <p:cxnSp>
        <p:nvCxnSpPr>
          <p:cNvPr id="3078" name="Straight Arrow Connector 8"/>
          <p:cNvCxnSpPr>
            <a:cxnSpLocks noChangeShapeType="1"/>
          </p:cNvCxnSpPr>
          <p:nvPr/>
        </p:nvCxnSpPr>
        <p:spPr bwMode="auto">
          <a:xfrm rot="10800000">
            <a:off x="5948855" y="3704657"/>
            <a:ext cx="762000" cy="76200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  <p:cxnSp>
        <p:nvCxnSpPr>
          <p:cNvPr id="3079" name="Straight Arrow Connector 9"/>
          <p:cNvCxnSpPr>
            <a:cxnSpLocks noChangeShapeType="1"/>
          </p:cNvCxnSpPr>
          <p:nvPr/>
        </p:nvCxnSpPr>
        <p:spPr bwMode="auto">
          <a:xfrm rot="10800000" flipV="1">
            <a:off x="5938345" y="4143946"/>
            <a:ext cx="762000" cy="438150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  <p:cxnSp>
        <p:nvCxnSpPr>
          <p:cNvPr id="3080" name="Straight Arrow Connector 10"/>
          <p:cNvCxnSpPr>
            <a:cxnSpLocks noChangeShapeType="1"/>
          </p:cNvCxnSpPr>
          <p:nvPr/>
        </p:nvCxnSpPr>
        <p:spPr bwMode="auto">
          <a:xfrm rot="5400000">
            <a:off x="5898931" y="4467381"/>
            <a:ext cx="990600" cy="762000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Data Entry</a:t>
            </a:r>
          </a:p>
        </p:txBody>
      </p:sp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2362200" y="1143000"/>
            <a:ext cx="457199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Step 1</a:t>
            </a:r>
            <a:r>
              <a:rPr lang="en-US" sz="2000" dirty="0"/>
              <a:t>. Enter the data columns in Excel.</a:t>
            </a:r>
          </a:p>
        </p:txBody>
      </p:sp>
      <p:sp>
        <p:nvSpPr>
          <p:cNvPr id="4100" name="Text Box 19"/>
          <p:cNvSpPr txBox="1">
            <a:spLocks noChangeArrowheads="1"/>
          </p:cNvSpPr>
          <p:nvPr/>
        </p:nvSpPr>
        <p:spPr bwMode="auto">
          <a:xfrm>
            <a:off x="6934200" y="2895600"/>
            <a:ext cx="1828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dirty="0">
                <a:latin typeface="+mn-lt"/>
              </a:rPr>
              <a:t>Recent Home Sales in Gotham City (</a:t>
            </a:r>
            <a:r>
              <a:rPr lang="en-US" sz="1400" i="1" dirty="0">
                <a:latin typeface="+mn-lt"/>
              </a:rPr>
              <a:t>n</a:t>
            </a:r>
            <a:r>
              <a:rPr lang="en-US" sz="1400" dirty="0">
                <a:latin typeface="+mn-lt"/>
              </a:rPr>
              <a:t> = 25)</a:t>
            </a:r>
          </a:p>
        </p:txBody>
      </p:sp>
      <p:sp>
        <p:nvSpPr>
          <p:cNvPr id="4101" name="AutoShape 20"/>
          <p:cNvSpPr>
            <a:spLocks noChangeArrowheads="1"/>
          </p:cNvSpPr>
          <p:nvPr/>
        </p:nvSpPr>
        <p:spPr bwMode="auto">
          <a:xfrm>
            <a:off x="6172201" y="2895600"/>
            <a:ext cx="533400" cy="685800"/>
          </a:xfrm>
          <a:prstGeom prst="leftArrow">
            <a:avLst>
              <a:gd name="adj1" fmla="val 50000"/>
              <a:gd name="adj2" fmla="val 25000"/>
            </a:avLst>
          </a:prstGeom>
          <a:solidFill>
            <a:schemeClr val="accent6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812" y="1828800"/>
            <a:ext cx="3223688" cy="433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981200"/>
            <a:ext cx="6475095" cy="4389120"/>
          </a:xfrm>
          <a:prstGeom prst="rect">
            <a:avLst/>
          </a:prstGeom>
        </p:spPr>
      </p:pic>
      <p:sp>
        <p:nvSpPr>
          <p:cNvPr id="542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Insert Pivot Table</a:t>
            </a:r>
          </a:p>
        </p:txBody>
      </p:sp>
      <p:sp>
        <p:nvSpPr>
          <p:cNvPr id="5123" name="Text Box 5"/>
          <p:cNvSpPr txBox="1">
            <a:spLocks noChangeArrowheads="1"/>
          </p:cNvSpPr>
          <p:nvPr/>
        </p:nvSpPr>
        <p:spPr bwMode="auto">
          <a:xfrm>
            <a:off x="2590800" y="1066800"/>
            <a:ext cx="4114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Step 2.</a:t>
            </a:r>
            <a:r>
              <a:rPr lang="en-US" sz="2000" dirty="0"/>
              <a:t> Highlight the data, click the </a:t>
            </a:r>
            <a:r>
              <a:rPr lang="en-US" sz="2000" dirty="0">
                <a:solidFill>
                  <a:srgbClr val="006600"/>
                </a:solidFill>
                <a:latin typeface="Arial" charset="0"/>
              </a:rPr>
              <a:t>Insert</a:t>
            </a:r>
            <a:r>
              <a:rPr lang="en-US" sz="2000" dirty="0">
                <a:solidFill>
                  <a:srgbClr val="0000FF"/>
                </a:solidFill>
                <a:latin typeface="Arial" charset="0"/>
              </a:rPr>
              <a:t> </a:t>
            </a:r>
            <a:r>
              <a:rPr lang="en-US" sz="2000" dirty="0"/>
              <a:t>ribbon, and click </a:t>
            </a:r>
            <a:r>
              <a:rPr lang="en-US" sz="2000" dirty="0">
                <a:solidFill>
                  <a:srgbClr val="006600"/>
                </a:solidFill>
                <a:latin typeface="Arial" charset="0"/>
              </a:rPr>
              <a:t>Pivot Table</a:t>
            </a:r>
            <a:r>
              <a:rPr lang="en-US" sz="2000" dirty="0"/>
              <a:t>.</a:t>
            </a:r>
          </a:p>
        </p:txBody>
      </p:sp>
      <p:cxnSp>
        <p:nvCxnSpPr>
          <p:cNvPr id="5126" name="Straight Arrow Connector 7"/>
          <p:cNvCxnSpPr>
            <a:cxnSpLocks noChangeShapeType="1"/>
          </p:cNvCxnSpPr>
          <p:nvPr/>
        </p:nvCxnSpPr>
        <p:spPr bwMode="auto">
          <a:xfrm flipH="1">
            <a:off x="2648234" y="1745259"/>
            <a:ext cx="323566" cy="327521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  <p:cxnSp>
        <p:nvCxnSpPr>
          <p:cNvPr id="5127" name="Straight Arrow Connector 8"/>
          <p:cNvCxnSpPr>
            <a:cxnSpLocks noChangeShapeType="1"/>
          </p:cNvCxnSpPr>
          <p:nvPr/>
        </p:nvCxnSpPr>
        <p:spPr bwMode="auto">
          <a:xfrm flipH="1">
            <a:off x="1981200" y="1752600"/>
            <a:ext cx="3429000" cy="860946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  <p:sp>
        <p:nvSpPr>
          <p:cNvPr id="9" name="Oval 8"/>
          <p:cNvSpPr/>
          <p:nvPr/>
        </p:nvSpPr>
        <p:spPr>
          <a:xfrm>
            <a:off x="2151907" y="2164359"/>
            <a:ext cx="553193" cy="243281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508078" y="2434936"/>
            <a:ext cx="457200" cy="395681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012" y="2209800"/>
            <a:ext cx="3686175" cy="3295650"/>
          </a:xfrm>
          <a:prstGeom prst="rect">
            <a:avLst/>
          </a:prstGeom>
        </p:spPr>
      </p:pic>
      <p:sp>
        <p:nvSpPr>
          <p:cNvPr id="675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Check Data Range</a:t>
            </a: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2819400" y="1143000"/>
            <a:ext cx="3657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Step 3. </a:t>
            </a:r>
            <a:r>
              <a:rPr lang="en-US" sz="2000" dirty="0"/>
              <a:t>Verify the data range (include the column headings).</a:t>
            </a:r>
          </a:p>
        </p:txBody>
      </p:sp>
      <p:cxnSp>
        <p:nvCxnSpPr>
          <p:cNvPr id="6149" name="Straight Arrow Connector 5"/>
          <p:cNvCxnSpPr>
            <a:cxnSpLocks noChangeShapeType="1"/>
          </p:cNvCxnSpPr>
          <p:nvPr/>
        </p:nvCxnSpPr>
        <p:spPr bwMode="auto">
          <a:xfrm>
            <a:off x="4495800" y="1851025"/>
            <a:ext cx="114299" cy="945159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  <p:sp>
        <p:nvSpPr>
          <p:cNvPr id="7" name="Oval 6"/>
          <p:cNvSpPr/>
          <p:nvPr/>
        </p:nvSpPr>
        <p:spPr>
          <a:xfrm>
            <a:off x="3886200" y="2829571"/>
            <a:ext cx="990600" cy="358775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012" y="2209800"/>
            <a:ext cx="3686175" cy="3295650"/>
          </a:xfrm>
          <a:prstGeom prst="rect">
            <a:avLst/>
          </a:prstGeom>
        </p:spPr>
      </p:pic>
      <p:sp>
        <p:nvSpPr>
          <p:cNvPr id="675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Pivot Table Location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2209800" y="1143000"/>
            <a:ext cx="4724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Step 4.</a:t>
            </a:r>
            <a:r>
              <a:rPr lang="en-US" sz="2000" dirty="0"/>
              <a:t> Specify upper left corner of pivot table location (or choose a new worksheet).</a:t>
            </a:r>
          </a:p>
        </p:txBody>
      </p:sp>
      <p:cxnSp>
        <p:nvCxnSpPr>
          <p:cNvPr id="7173" name="Straight Arrow Connector 5"/>
          <p:cNvCxnSpPr>
            <a:cxnSpLocks noChangeShapeType="1"/>
            <a:stCxn id="7171" idx="2"/>
          </p:cNvCxnSpPr>
          <p:nvPr/>
        </p:nvCxnSpPr>
        <p:spPr bwMode="auto">
          <a:xfrm flipH="1">
            <a:off x="4038600" y="1851025"/>
            <a:ext cx="533400" cy="2550392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  <p:sp>
        <p:nvSpPr>
          <p:cNvPr id="8" name="Oval 7"/>
          <p:cNvSpPr/>
          <p:nvPr/>
        </p:nvSpPr>
        <p:spPr>
          <a:xfrm>
            <a:off x="3733800" y="4401417"/>
            <a:ext cx="457200" cy="395681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25" y="2057400"/>
            <a:ext cx="6457950" cy="4349115"/>
          </a:xfrm>
          <a:prstGeom prst="rect">
            <a:avLst/>
          </a:prstGeom>
        </p:spPr>
      </p:pic>
      <p:sp>
        <p:nvSpPr>
          <p:cNvPr id="788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Blank Table</a:t>
            </a: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2057400" y="1143000"/>
            <a:ext cx="5181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Step 5. </a:t>
            </a:r>
            <a:r>
              <a:rPr lang="en-US" sz="2000" dirty="0"/>
              <a:t>You now have a blank report. You will drag variables from the </a:t>
            </a:r>
            <a:r>
              <a:rPr lang="en-US" sz="2000" dirty="0">
                <a:solidFill>
                  <a:srgbClr val="006600"/>
                </a:solidFill>
                <a:latin typeface="Arial" charset="0"/>
              </a:rPr>
              <a:t>Pivot Table Fields</a:t>
            </a:r>
            <a:r>
              <a:rPr lang="en-US" sz="2000" dirty="0"/>
              <a:t>. </a:t>
            </a:r>
          </a:p>
        </p:txBody>
      </p:sp>
      <p:cxnSp>
        <p:nvCxnSpPr>
          <p:cNvPr id="8197" name="Straight Arrow Connector 6"/>
          <p:cNvCxnSpPr>
            <a:cxnSpLocks noChangeShapeType="1"/>
          </p:cNvCxnSpPr>
          <p:nvPr/>
        </p:nvCxnSpPr>
        <p:spPr bwMode="auto">
          <a:xfrm>
            <a:off x="5715000" y="1828800"/>
            <a:ext cx="762000" cy="1917000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  <p:sp>
        <p:nvSpPr>
          <p:cNvPr id="9" name="Oval 8"/>
          <p:cNvSpPr/>
          <p:nvPr/>
        </p:nvSpPr>
        <p:spPr>
          <a:xfrm>
            <a:off x="6324600" y="3753772"/>
            <a:ext cx="623248" cy="576825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071664"/>
            <a:ext cx="6457950" cy="4349115"/>
          </a:xfrm>
          <a:prstGeom prst="rect">
            <a:avLst/>
          </a:prstGeom>
        </p:spPr>
      </p:pic>
      <p:sp>
        <p:nvSpPr>
          <p:cNvPr id="798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Drag Column Field</a:t>
            </a:r>
          </a:p>
        </p:txBody>
      </p:sp>
      <p:sp>
        <p:nvSpPr>
          <p:cNvPr id="9220" name="Text Box 3"/>
          <p:cNvSpPr txBox="1">
            <a:spLocks noChangeArrowheads="1"/>
          </p:cNvSpPr>
          <p:nvPr/>
        </p:nvSpPr>
        <p:spPr bwMode="auto">
          <a:xfrm>
            <a:off x="1600200" y="1219200"/>
            <a:ext cx="630555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Step 6.</a:t>
            </a:r>
            <a:r>
              <a:rPr lang="en-US" sz="2000" dirty="0"/>
              <a:t> Drag </a:t>
            </a:r>
            <a:r>
              <a:rPr lang="en-US" sz="2000" dirty="0">
                <a:solidFill>
                  <a:srgbClr val="006600"/>
                </a:solidFill>
                <a:latin typeface="Arial" charset="0"/>
              </a:rPr>
              <a:t>Type</a:t>
            </a:r>
            <a:r>
              <a:rPr lang="en-US" sz="2000" dirty="0"/>
              <a:t> from the </a:t>
            </a:r>
            <a:r>
              <a:rPr lang="en-US" sz="2000" dirty="0">
                <a:solidFill>
                  <a:srgbClr val="006600"/>
                </a:solidFill>
                <a:latin typeface="Arial" charset="0"/>
              </a:rPr>
              <a:t>Pivot Table Field List </a:t>
            </a:r>
            <a:r>
              <a:rPr lang="en-US" sz="2000" dirty="0"/>
              <a:t>to </a:t>
            </a:r>
            <a:r>
              <a:rPr lang="en-US" sz="2000" dirty="0">
                <a:solidFill>
                  <a:srgbClr val="006600"/>
                </a:solidFill>
                <a:latin typeface="Arial" charset="0"/>
              </a:rPr>
              <a:t>Columns</a:t>
            </a:r>
            <a:r>
              <a:rPr lang="en-US" sz="2000" dirty="0"/>
              <a:t> in the </a:t>
            </a:r>
            <a:r>
              <a:rPr lang="en-US" sz="2000" dirty="0">
                <a:solidFill>
                  <a:srgbClr val="006600"/>
                </a:solidFill>
                <a:latin typeface="Arial" charset="0"/>
              </a:rPr>
              <a:t>Drop Fields </a:t>
            </a:r>
            <a:r>
              <a:rPr lang="en-US" sz="2000" dirty="0"/>
              <a:t>space at the top of the table.  </a:t>
            </a:r>
          </a:p>
        </p:txBody>
      </p:sp>
      <p:cxnSp>
        <p:nvCxnSpPr>
          <p:cNvPr id="9221" name="Straight Arrow Connector 5"/>
          <p:cNvCxnSpPr>
            <a:cxnSpLocks noChangeShapeType="1"/>
          </p:cNvCxnSpPr>
          <p:nvPr/>
        </p:nvCxnSpPr>
        <p:spPr bwMode="auto">
          <a:xfrm flipH="1" flipV="1">
            <a:off x="4681324" y="3862963"/>
            <a:ext cx="33670" cy="712948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  <p:sp>
        <p:nvSpPr>
          <p:cNvPr id="9222" name="Text Box 19"/>
          <p:cNvSpPr txBox="1">
            <a:spLocks noChangeArrowheads="1"/>
          </p:cNvSpPr>
          <p:nvPr/>
        </p:nvSpPr>
        <p:spPr bwMode="auto">
          <a:xfrm>
            <a:off x="3962400" y="4648200"/>
            <a:ext cx="1828800" cy="646113"/>
          </a:xfrm>
          <a:prstGeom prst="rect">
            <a:avLst/>
          </a:prstGeom>
          <a:solidFill>
            <a:schemeClr val="accent6">
              <a:lumMod val="60000"/>
              <a:lumOff val="40000"/>
              <a:alpha val="42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1200">
                <a:latin typeface="Arial" charset="0"/>
                <a:cs typeface="Arial" charset="0"/>
              </a:defRPr>
            </a:lvl1pPr>
            <a:lvl2pPr marL="742950" indent="-285750">
              <a:defRPr sz="2400">
                <a:latin typeface="Times New Roman" pitchFamily="18" charset="0"/>
              </a:defRPr>
            </a:lvl2pPr>
            <a:lvl3pPr marL="1143000" indent="-228600">
              <a:defRPr sz="2400">
                <a:latin typeface="Times New Roman" pitchFamily="18" charset="0"/>
              </a:defRPr>
            </a:lvl3pPr>
            <a:lvl4pPr marL="1600200" indent="-228600">
              <a:defRPr sz="2400">
                <a:latin typeface="Times New Roman" pitchFamily="18" charset="0"/>
              </a:defRPr>
            </a:lvl4pPr>
            <a:lvl5pPr marL="2057400" indent="-228600">
              <a:defRPr sz="2400"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itchFamily="18" charset="0"/>
              </a:defRPr>
            </a:lvl9pPr>
          </a:lstStyle>
          <a:p>
            <a:r>
              <a:rPr lang="en-US" dirty="0"/>
              <a:t>Four home types now appear as column headings.</a:t>
            </a:r>
          </a:p>
        </p:txBody>
      </p:sp>
      <p:sp>
        <p:nvSpPr>
          <p:cNvPr id="11" name="Oval 10"/>
          <p:cNvSpPr/>
          <p:nvPr/>
        </p:nvSpPr>
        <p:spPr>
          <a:xfrm>
            <a:off x="7010400" y="4953000"/>
            <a:ext cx="685800" cy="515144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400800" y="3962400"/>
            <a:ext cx="457200" cy="242865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5"/>
          <p:cNvCxnSpPr>
            <a:cxnSpLocks noChangeShapeType="1"/>
          </p:cNvCxnSpPr>
          <p:nvPr/>
        </p:nvCxnSpPr>
        <p:spPr bwMode="auto">
          <a:xfrm>
            <a:off x="6858000" y="4318441"/>
            <a:ext cx="342900" cy="562340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086" y="2052955"/>
            <a:ext cx="6457950" cy="4349115"/>
          </a:xfrm>
          <a:prstGeom prst="rect">
            <a:avLst/>
          </a:prstGeom>
        </p:spPr>
      </p:pic>
      <p:sp>
        <p:nvSpPr>
          <p:cNvPr id="808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Drag Row Field</a:t>
            </a:r>
          </a:p>
        </p:txBody>
      </p:sp>
      <p:sp>
        <p:nvSpPr>
          <p:cNvPr id="10244" name="Text Box 3"/>
          <p:cNvSpPr txBox="1">
            <a:spLocks noChangeArrowheads="1"/>
          </p:cNvSpPr>
          <p:nvPr/>
        </p:nvSpPr>
        <p:spPr bwMode="auto">
          <a:xfrm>
            <a:off x="1524000" y="1143000"/>
            <a:ext cx="6553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Step 7.</a:t>
            </a:r>
            <a:r>
              <a:rPr lang="en-US" sz="2000" dirty="0"/>
              <a:t> Drag </a:t>
            </a:r>
            <a:r>
              <a:rPr lang="en-US" sz="2000" dirty="0">
                <a:solidFill>
                  <a:srgbClr val="006600"/>
                </a:solidFill>
                <a:latin typeface="Arial" charset="0"/>
              </a:rPr>
              <a:t>Subdivision</a:t>
            </a:r>
            <a:r>
              <a:rPr lang="en-US" sz="2000" dirty="0"/>
              <a:t> from the </a:t>
            </a:r>
            <a:r>
              <a:rPr lang="en-US" sz="2000" dirty="0">
                <a:solidFill>
                  <a:srgbClr val="006600"/>
                </a:solidFill>
                <a:latin typeface="Arial" charset="0"/>
              </a:rPr>
              <a:t>Pivot Table Field List </a:t>
            </a:r>
            <a:r>
              <a:rPr lang="en-US" sz="2000" dirty="0"/>
              <a:t>to </a:t>
            </a:r>
            <a:r>
              <a:rPr lang="en-US" sz="2000" dirty="0">
                <a:solidFill>
                  <a:srgbClr val="006600"/>
                </a:solidFill>
                <a:latin typeface="Arial" charset="0"/>
              </a:rPr>
              <a:t>Rows</a:t>
            </a:r>
            <a:r>
              <a:rPr lang="en-US" sz="2000" dirty="0"/>
              <a:t> in the </a:t>
            </a:r>
            <a:r>
              <a:rPr lang="en-US" sz="2000" dirty="0">
                <a:solidFill>
                  <a:srgbClr val="006600"/>
                </a:solidFill>
                <a:latin typeface="Arial" charset="0"/>
              </a:rPr>
              <a:t>Drop Fields </a:t>
            </a:r>
            <a:r>
              <a:rPr lang="en-US" sz="2000" dirty="0"/>
              <a:t>space at the left side of the table.</a:t>
            </a:r>
          </a:p>
        </p:txBody>
      </p:sp>
      <p:sp>
        <p:nvSpPr>
          <p:cNvPr id="10245" name="Text Box 19"/>
          <p:cNvSpPr txBox="1">
            <a:spLocks noChangeArrowheads="1"/>
          </p:cNvSpPr>
          <p:nvPr/>
        </p:nvSpPr>
        <p:spPr bwMode="auto">
          <a:xfrm>
            <a:off x="4114800" y="4552891"/>
            <a:ext cx="1828800" cy="646113"/>
          </a:xfrm>
          <a:prstGeom prst="rect">
            <a:avLst/>
          </a:prstGeom>
          <a:solidFill>
            <a:schemeClr val="accent6">
              <a:lumMod val="60000"/>
              <a:lumOff val="40000"/>
              <a:alpha val="42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1200">
                <a:latin typeface="Arial" charset="0"/>
                <a:cs typeface="Arial" charset="0"/>
              </a:defRPr>
            </a:lvl1pPr>
            <a:lvl2pPr marL="742950" indent="-285750">
              <a:defRPr sz="2400">
                <a:latin typeface="Times New Roman" pitchFamily="18" charset="0"/>
              </a:defRPr>
            </a:lvl2pPr>
            <a:lvl3pPr marL="1143000" indent="-228600">
              <a:defRPr sz="2400">
                <a:latin typeface="Times New Roman" pitchFamily="18" charset="0"/>
              </a:defRPr>
            </a:lvl3pPr>
            <a:lvl4pPr marL="1600200" indent="-228600">
              <a:defRPr sz="2400">
                <a:latin typeface="Times New Roman" pitchFamily="18" charset="0"/>
              </a:defRPr>
            </a:lvl4pPr>
            <a:lvl5pPr marL="2057400" indent="-228600">
              <a:defRPr sz="2400"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itchFamily="18" charset="0"/>
              </a:defRPr>
            </a:lvl9pPr>
          </a:lstStyle>
          <a:p>
            <a:r>
              <a:rPr lang="en-US" dirty="0"/>
              <a:t>Three subdivision names now appear as row names.</a:t>
            </a:r>
          </a:p>
        </p:txBody>
      </p:sp>
      <p:cxnSp>
        <p:nvCxnSpPr>
          <p:cNvPr id="10246" name="Straight Arrow Connector 6"/>
          <p:cNvCxnSpPr>
            <a:cxnSpLocks noChangeShapeType="1"/>
          </p:cNvCxnSpPr>
          <p:nvPr/>
        </p:nvCxnSpPr>
        <p:spPr bwMode="auto">
          <a:xfrm flipH="1" flipV="1">
            <a:off x="4343400" y="4065080"/>
            <a:ext cx="362661" cy="362933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  <p:sp>
        <p:nvSpPr>
          <p:cNvPr id="8" name="Oval 7"/>
          <p:cNvSpPr/>
          <p:nvPr/>
        </p:nvSpPr>
        <p:spPr>
          <a:xfrm>
            <a:off x="6401653" y="5486400"/>
            <a:ext cx="685800" cy="515144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516806" y="4065080"/>
            <a:ext cx="457200" cy="242865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5"/>
          <p:cNvCxnSpPr>
            <a:cxnSpLocks noChangeShapeType="1"/>
          </p:cNvCxnSpPr>
          <p:nvPr/>
        </p:nvCxnSpPr>
        <p:spPr bwMode="auto">
          <a:xfrm>
            <a:off x="6744553" y="4498618"/>
            <a:ext cx="71083" cy="795482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  <p:sp>
        <p:nvSpPr>
          <p:cNvPr id="17" name="Oval 16"/>
          <p:cNvSpPr/>
          <p:nvPr/>
        </p:nvSpPr>
        <p:spPr>
          <a:xfrm>
            <a:off x="3657600" y="3503929"/>
            <a:ext cx="685800" cy="492011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103" y="2025659"/>
            <a:ext cx="6457950" cy="4349115"/>
          </a:xfrm>
          <a:prstGeom prst="rect">
            <a:avLst/>
          </a:prstGeom>
          <a:solidFill>
            <a:schemeClr val="accent6">
              <a:lumMod val="60000"/>
              <a:lumOff val="40000"/>
              <a:alpha val="42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819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Drag Data Field </a:t>
            </a:r>
          </a:p>
        </p:txBody>
      </p:sp>
      <p:sp>
        <p:nvSpPr>
          <p:cNvPr id="11268" name="Text Box 3"/>
          <p:cNvSpPr txBox="1">
            <a:spLocks noChangeArrowheads="1"/>
          </p:cNvSpPr>
          <p:nvPr/>
        </p:nvSpPr>
        <p:spPr bwMode="auto">
          <a:xfrm>
            <a:off x="1981200" y="1143000"/>
            <a:ext cx="5257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Step 8.</a:t>
            </a:r>
            <a:r>
              <a:rPr lang="en-US" sz="2000" dirty="0"/>
              <a:t> Drag </a:t>
            </a:r>
            <a:r>
              <a:rPr lang="en-US" sz="2000" dirty="0" err="1">
                <a:solidFill>
                  <a:srgbClr val="006600"/>
                </a:solidFill>
                <a:latin typeface="Arial" charset="0"/>
              </a:rPr>
              <a:t>SqFt</a:t>
            </a:r>
            <a:r>
              <a:rPr lang="en-US" sz="2000" dirty="0"/>
              <a:t> from the </a:t>
            </a:r>
            <a:r>
              <a:rPr lang="en-US" sz="2000" dirty="0">
                <a:solidFill>
                  <a:srgbClr val="006600"/>
                </a:solidFill>
                <a:latin typeface="Arial" charset="0"/>
              </a:rPr>
              <a:t>Pivot Table Field List </a:t>
            </a:r>
            <a:r>
              <a:rPr lang="en-US" sz="2000" dirty="0"/>
              <a:t>to the main body of the table. You are done.</a:t>
            </a:r>
          </a:p>
        </p:txBody>
      </p:sp>
      <p:sp>
        <p:nvSpPr>
          <p:cNvPr id="11269" name="Text Box 19"/>
          <p:cNvSpPr txBox="1">
            <a:spLocks noChangeArrowheads="1"/>
          </p:cNvSpPr>
          <p:nvPr/>
        </p:nvSpPr>
        <p:spPr bwMode="auto">
          <a:xfrm>
            <a:off x="4114800" y="4774546"/>
            <a:ext cx="1828800" cy="646113"/>
          </a:xfrm>
          <a:prstGeom prst="rect">
            <a:avLst/>
          </a:prstGeom>
          <a:solidFill>
            <a:schemeClr val="accent6">
              <a:lumMod val="60000"/>
              <a:lumOff val="40000"/>
              <a:alpha val="42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1200">
                <a:latin typeface="Arial" charset="0"/>
                <a:cs typeface="Arial" charset="0"/>
              </a:defRPr>
            </a:lvl1pPr>
            <a:lvl2pPr marL="742950" indent="-285750">
              <a:defRPr sz="2400">
                <a:latin typeface="Times New Roman" pitchFamily="18" charset="0"/>
              </a:defRPr>
            </a:lvl2pPr>
            <a:lvl3pPr marL="1143000" indent="-228600">
              <a:defRPr sz="2400">
                <a:latin typeface="Times New Roman" pitchFamily="18" charset="0"/>
              </a:defRPr>
            </a:lvl3pPr>
            <a:lvl4pPr marL="1600200" indent="-228600">
              <a:defRPr sz="2400">
                <a:latin typeface="Times New Roman" pitchFamily="18" charset="0"/>
              </a:defRPr>
            </a:lvl4pPr>
            <a:lvl5pPr marL="2057400" indent="-228600">
              <a:defRPr sz="2400"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itchFamily="18" charset="0"/>
              </a:defRPr>
            </a:lvl9pPr>
          </a:lstStyle>
          <a:p>
            <a:r>
              <a:rPr lang="en-US" dirty="0"/>
              <a:t>By default, the Pivot Table shows sums of all home sizes in each cell.</a:t>
            </a:r>
          </a:p>
        </p:txBody>
      </p:sp>
      <p:sp>
        <p:nvSpPr>
          <p:cNvPr id="11270" name="Line 7"/>
          <p:cNvSpPr>
            <a:spLocks noChangeShapeType="1"/>
          </p:cNvSpPr>
          <p:nvPr/>
        </p:nvSpPr>
        <p:spPr bwMode="auto">
          <a:xfrm flipV="1">
            <a:off x="5029200" y="3815686"/>
            <a:ext cx="76200" cy="784225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7086600" y="5420659"/>
            <a:ext cx="685800" cy="515144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400800" y="3813823"/>
            <a:ext cx="457200" cy="242865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5"/>
          <p:cNvCxnSpPr>
            <a:cxnSpLocks noChangeShapeType="1"/>
          </p:cNvCxnSpPr>
          <p:nvPr/>
        </p:nvCxnSpPr>
        <p:spPr bwMode="auto">
          <a:xfrm>
            <a:off x="6732326" y="4200216"/>
            <a:ext cx="506674" cy="1045809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268" y="1995464"/>
            <a:ext cx="6463665" cy="4377690"/>
          </a:xfrm>
          <a:prstGeom prst="rect">
            <a:avLst/>
          </a:prstGeom>
        </p:spPr>
      </p:pic>
      <p:sp>
        <p:nvSpPr>
          <p:cNvPr id="829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Choose Value Field</a:t>
            </a:r>
          </a:p>
        </p:txBody>
      </p:sp>
      <p:sp>
        <p:nvSpPr>
          <p:cNvPr id="12292" name="Text Box 3"/>
          <p:cNvSpPr txBox="1">
            <a:spLocks noChangeArrowheads="1"/>
          </p:cNvSpPr>
          <p:nvPr/>
        </p:nvSpPr>
        <p:spPr bwMode="auto">
          <a:xfrm>
            <a:off x="1219200" y="1219200"/>
            <a:ext cx="7162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Step 9.</a:t>
            </a:r>
            <a:r>
              <a:rPr lang="en-US" sz="2000" dirty="0"/>
              <a:t> Right-click inside a report cell and choose </a:t>
            </a:r>
            <a:r>
              <a:rPr lang="en-US" sz="2000" dirty="0">
                <a:solidFill>
                  <a:srgbClr val="006600"/>
                </a:solidFill>
                <a:latin typeface="Arial" charset="0"/>
              </a:rPr>
              <a:t>Value Field Settings</a:t>
            </a:r>
            <a:r>
              <a:rPr lang="en-US" sz="2000" dirty="0"/>
              <a:t> to display the statistic  you want (e.g., </a:t>
            </a:r>
            <a:r>
              <a:rPr lang="en-US" sz="2000" dirty="0">
                <a:solidFill>
                  <a:srgbClr val="006600"/>
                </a:solidFill>
                <a:latin typeface="Arial" charset="0"/>
              </a:rPr>
              <a:t>Average</a:t>
            </a:r>
            <a:r>
              <a:rPr lang="en-US" sz="2000" dirty="0"/>
              <a:t>).</a:t>
            </a:r>
          </a:p>
        </p:txBody>
      </p:sp>
      <p:sp>
        <p:nvSpPr>
          <p:cNvPr id="12293" name="Text Box 19"/>
          <p:cNvSpPr txBox="1">
            <a:spLocks noChangeArrowheads="1"/>
          </p:cNvSpPr>
          <p:nvPr/>
        </p:nvSpPr>
        <p:spPr bwMode="auto">
          <a:xfrm>
            <a:off x="7086600" y="3200400"/>
            <a:ext cx="1828800" cy="830263"/>
          </a:xfrm>
          <a:prstGeom prst="rect">
            <a:avLst/>
          </a:prstGeom>
          <a:solidFill>
            <a:schemeClr val="accent6">
              <a:lumMod val="60000"/>
              <a:lumOff val="40000"/>
              <a:alpha val="42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1200">
                <a:latin typeface="Arial" charset="0"/>
                <a:cs typeface="Arial" charset="0"/>
              </a:defRPr>
            </a:lvl1pPr>
            <a:lvl2pPr marL="742950" indent="-285750">
              <a:defRPr sz="2400">
                <a:latin typeface="Times New Roman" pitchFamily="18" charset="0"/>
              </a:defRPr>
            </a:lvl2pPr>
            <a:lvl3pPr marL="1143000" indent="-228600">
              <a:defRPr sz="2400">
                <a:latin typeface="Times New Roman" pitchFamily="18" charset="0"/>
              </a:defRPr>
            </a:lvl3pPr>
            <a:lvl4pPr marL="1600200" indent="-228600">
              <a:defRPr sz="2400">
                <a:latin typeface="Times New Roman" pitchFamily="18" charset="0"/>
              </a:defRPr>
            </a:lvl4pPr>
            <a:lvl5pPr marL="2057400" indent="-228600">
              <a:defRPr sz="2400"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itchFamily="18" charset="0"/>
              </a:defRPr>
            </a:lvl9pPr>
          </a:lstStyle>
          <a:p>
            <a:r>
              <a:rPr lang="en-US" dirty="0"/>
              <a:t>We copied the table and pasted  it so we could show three different value fields (next slide).</a:t>
            </a:r>
          </a:p>
        </p:txBody>
      </p:sp>
      <p:sp>
        <p:nvSpPr>
          <p:cNvPr id="12294" name="Left Arrow 5"/>
          <p:cNvSpPr>
            <a:spLocks noChangeArrowheads="1"/>
          </p:cNvSpPr>
          <p:nvPr/>
        </p:nvSpPr>
        <p:spPr bwMode="auto">
          <a:xfrm>
            <a:off x="6359956" y="3265702"/>
            <a:ext cx="609600" cy="6096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6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956" y="4194366"/>
            <a:ext cx="2443163" cy="2089461"/>
          </a:xfrm>
          <a:prstGeom prst="rect">
            <a:avLst/>
          </a:prstGeom>
          <a:effectLst>
            <a:glow rad="127000">
              <a:srgbClr val="FFFF00"/>
            </a:glo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025" y="1988022"/>
            <a:ext cx="6457950" cy="4349115"/>
          </a:xfrm>
          <a:prstGeom prst="rect">
            <a:avLst/>
          </a:prstGeom>
        </p:spPr>
      </p:pic>
      <p:sp>
        <p:nvSpPr>
          <p:cNvPr id="839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Customize It</a:t>
            </a:r>
          </a:p>
        </p:txBody>
      </p:sp>
      <p:sp>
        <p:nvSpPr>
          <p:cNvPr id="13316" name="Text Box 3"/>
          <p:cNvSpPr txBox="1">
            <a:spLocks noChangeArrowheads="1"/>
          </p:cNvSpPr>
          <p:nvPr/>
        </p:nvSpPr>
        <p:spPr bwMode="auto">
          <a:xfrm>
            <a:off x="1066800" y="1219200"/>
            <a:ext cx="7010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Step 10. </a:t>
            </a:r>
            <a:r>
              <a:rPr lang="en-US" sz="2000" dirty="0"/>
              <a:t>You can format the cells (decimals, font, centering, etc.).</a:t>
            </a:r>
          </a:p>
        </p:txBody>
      </p:sp>
      <p:sp>
        <p:nvSpPr>
          <p:cNvPr id="13317" name="Text Box 6"/>
          <p:cNvSpPr txBox="1">
            <a:spLocks noChangeArrowheads="1"/>
          </p:cNvSpPr>
          <p:nvPr/>
        </p:nvSpPr>
        <p:spPr bwMode="auto">
          <a:xfrm>
            <a:off x="7467600" y="2590800"/>
            <a:ext cx="1447800" cy="830263"/>
          </a:xfrm>
          <a:prstGeom prst="rect">
            <a:avLst/>
          </a:prstGeom>
          <a:solidFill>
            <a:schemeClr val="accent6">
              <a:lumMod val="60000"/>
              <a:lumOff val="40000"/>
              <a:alpha val="42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1200">
                <a:latin typeface="Arial" charset="0"/>
                <a:cs typeface="Arial" charset="0"/>
              </a:defRPr>
            </a:lvl1pPr>
            <a:lvl2pPr marL="742950" indent="-285750">
              <a:defRPr sz="2400">
                <a:latin typeface="Times New Roman" pitchFamily="18" charset="0"/>
              </a:defRPr>
            </a:lvl2pPr>
            <a:lvl3pPr marL="1143000" indent="-228600">
              <a:defRPr sz="2400">
                <a:latin typeface="Times New Roman" pitchFamily="18" charset="0"/>
              </a:defRPr>
            </a:lvl3pPr>
            <a:lvl4pPr marL="1600200" indent="-228600">
              <a:defRPr sz="2400">
                <a:latin typeface="Times New Roman" pitchFamily="18" charset="0"/>
              </a:defRPr>
            </a:lvl4pPr>
            <a:lvl5pPr marL="2057400" indent="-228600">
              <a:defRPr sz="2400"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itchFamily="18" charset="0"/>
              </a:defRPr>
            </a:lvl9pPr>
          </a:lstStyle>
          <a:p>
            <a:r>
              <a:rPr lang="en-US" dirty="0"/>
              <a:t>First pivot table shows the sum of home sizes in the category.</a:t>
            </a:r>
          </a:p>
        </p:txBody>
      </p:sp>
      <p:sp>
        <p:nvSpPr>
          <p:cNvPr id="13318" name="Line 7"/>
          <p:cNvSpPr>
            <a:spLocks noChangeShapeType="1"/>
          </p:cNvSpPr>
          <p:nvPr/>
        </p:nvSpPr>
        <p:spPr bwMode="auto">
          <a:xfrm flipH="1">
            <a:off x="6172200" y="3048000"/>
            <a:ext cx="1295400" cy="38100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9" name="Text Box 6"/>
          <p:cNvSpPr txBox="1">
            <a:spLocks noChangeArrowheads="1"/>
          </p:cNvSpPr>
          <p:nvPr/>
        </p:nvSpPr>
        <p:spPr bwMode="auto">
          <a:xfrm>
            <a:off x="7467600" y="3733800"/>
            <a:ext cx="1524000" cy="830263"/>
          </a:xfrm>
          <a:prstGeom prst="rect">
            <a:avLst/>
          </a:prstGeom>
          <a:solidFill>
            <a:schemeClr val="accent6">
              <a:lumMod val="60000"/>
              <a:lumOff val="40000"/>
              <a:alpha val="42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1200">
                <a:latin typeface="Arial" charset="0"/>
                <a:cs typeface="Arial" charset="0"/>
              </a:defRPr>
            </a:lvl1pPr>
            <a:lvl2pPr marL="742950" indent="-285750">
              <a:defRPr sz="2400">
                <a:latin typeface="Times New Roman" pitchFamily="18" charset="0"/>
              </a:defRPr>
            </a:lvl2pPr>
            <a:lvl3pPr marL="1143000" indent="-228600">
              <a:defRPr sz="2400">
                <a:latin typeface="Times New Roman" pitchFamily="18" charset="0"/>
              </a:defRPr>
            </a:lvl3pPr>
            <a:lvl4pPr marL="1600200" indent="-228600">
              <a:defRPr sz="2400">
                <a:latin typeface="Times New Roman" pitchFamily="18" charset="0"/>
              </a:defRPr>
            </a:lvl4pPr>
            <a:lvl5pPr marL="2057400" indent="-228600">
              <a:defRPr sz="2400"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itchFamily="18" charset="0"/>
              </a:defRPr>
            </a:lvl9pPr>
          </a:lstStyle>
          <a:p>
            <a:r>
              <a:rPr lang="en-US"/>
              <a:t>Second pivot table shows the average home size in each category.</a:t>
            </a:r>
          </a:p>
        </p:txBody>
      </p:sp>
      <p:sp>
        <p:nvSpPr>
          <p:cNvPr id="13320" name="Text Box 6"/>
          <p:cNvSpPr txBox="1">
            <a:spLocks noChangeArrowheads="1"/>
          </p:cNvSpPr>
          <p:nvPr/>
        </p:nvSpPr>
        <p:spPr bwMode="auto">
          <a:xfrm>
            <a:off x="7467600" y="4876800"/>
            <a:ext cx="1371600" cy="830263"/>
          </a:xfrm>
          <a:prstGeom prst="rect">
            <a:avLst/>
          </a:prstGeom>
          <a:solidFill>
            <a:schemeClr val="accent6">
              <a:lumMod val="60000"/>
              <a:lumOff val="40000"/>
              <a:alpha val="42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1200">
                <a:latin typeface="Arial" charset="0"/>
                <a:cs typeface="Arial" charset="0"/>
              </a:defRPr>
            </a:lvl1pPr>
            <a:lvl2pPr marL="742950" indent="-285750">
              <a:defRPr sz="2400">
                <a:latin typeface="Times New Roman" pitchFamily="18" charset="0"/>
              </a:defRPr>
            </a:lvl2pPr>
            <a:lvl3pPr marL="1143000" indent="-228600">
              <a:defRPr sz="2400">
                <a:latin typeface="Times New Roman" pitchFamily="18" charset="0"/>
              </a:defRPr>
            </a:lvl3pPr>
            <a:lvl4pPr marL="1600200" indent="-228600">
              <a:defRPr sz="2400">
                <a:latin typeface="Times New Roman" pitchFamily="18" charset="0"/>
              </a:defRPr>
            </a:lvl4pPr>
            <a:lvl5pPr marL="2057400" indent="-228600">
              <a:defRPr sz="2400"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itchFamily="18" charset="0"/>
              </a:defRPr>
            </a:lvl9pPr>
          </a:lstStyle>
          <a:p>
            <a:r>
              <a:rPr lang="en-US" dirty="0"/>
              <a:t>Third pivot table shows the count of homes in the category.</a:t>
            </a:r>
          </a:p>
        </p:txBody>
      </p:sp>
      <p:sp>
        <p:nvSpPr>
          <p:cNvPr id="13321" name="Line 7"/>
          <p:cNvSpPr>
            <a:spLocks noChangeShapeType="1"/>
          </p:cNvSpPr>
          <p:nvPr/>
        </p:nvSpPr>
        <p:spPr bwMode="auto">
          <a:xfrm flipH="1">
            <a:off x="6096000" y="3962400"/>
            <a:ext cx="1371600" cy="22860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2" name="Line 7"/>
          <p:cNvSpPr>
            <a:spLocks noChangeShapeType="1"/>
          </p:cNvSpPr>
          <p:nvPr/>
        </p:nvSpPr>
        <p:spPr bwMode="auto">
          <a:xfrm flipH="1" flipV="1">
            <a:off x="6096000" y="4945063"/>
            <a:ext cx="1371600" cy="236537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689069"/>
            <a:ext cx="3552825" cy="3038475"/>
          </a:xfrm>
          <a:prstGeom prst="rect">
            <a:avLst/>
          </a:prstGeom>
          <a:effectLst/>
        </p:spPr>
      </p:pic>
      <p:sp>
        <p:nvSpPr>
          <p:cNvPr id="849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Other Value Fields</a:t>
            </a: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2286000" y="1295400"/>
            <a:ext cx="4419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Step 11. </a:t>
            </a:r>
            <a:r>
              <a:rPr lang="en-US" sz="2000" dirty="0"/>
              <a:t>Click inside the table. Scroll down the list of </a:t>
            </a:r>
            <a:r>
              <a:rPr lang="en-US" sz="2000" dirty="0">
                <a:solidFill>
                  <a:srgbClr val="006600"/>
                </a:solidFill>
                <a:latin typeface="Arial" charset="0"/>
              </a:rPr>
              <a:t>Value Fields </a:t>
            </a:r>
            <a:r>
              <a:rPr lang="en-US" sz="2000" dirty="0"/>
              <a:t>to display.</a:t>
            </a:r>
          </a:p>
        </p:txBody>
      </p:sp>
      <p:sp>
        <p:nvSpPr>
          <p:cNvPr id="14340" name="Text Box 5"/>
          <p:cNvSpPr txBox="1">
            <a:spLocks noChangeArrowheads="1"/>
          </p:cNvSpPr>
          <p:nvPr/>
        </p:nvSpPr>
        <p:spPr bwMode="auto">
          <a:xfrm>
            <a:off x="6934200" y="2590800"/>
            <a:ext cx="2057400" cy="1200150"/>
          </a:xfrm>
          <a:prstGeom prst="rect">
            <a:avLst/>
          </a:prstGeom>
          <a:solidFill>
            <a:schemeClr val="accent6">
              <a:lumMod val="60000"/>
              <a:lumOff val="40000"/>
              <a:alpha val="42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1200">
                <a:latin typeface="Arial" charset="0"/>
                <a:cs typeface="Arial" charset="0"/>
              </a:defRPr>
            </a:lvl1pPr>
            <a:lvl2pPr marL="742950" indent="-285750">
              <a:defRPr sz="2400">
                <a:latin typeface="Times New Roman" pitchFamily="18" charset="0"/>
              </a:defRPr>
            </a:lvl2pPr>
            <a:lvl3pPr marL="1143000" indent="-228600">
              <a:defRPr sz="2400">
                <a:latin typeface="Times New Roman" pitchFamily="18" charset="0"/>
              </a:defRPr>
            </a:lvl3pPr>
            <a:lvl4pPr marL="1600200" indent="-228600">
              <a:defRPr sz="2400">
                <a:latin typeface="Times New Roman" pitchFamily="18" charset="0"/>
              </a:defRPr>
            </a:lvl4pPr>
            <a:lvl5pPr marL="2057400" indent="-228600">
              <a:defRPr sz="2400"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itchFamily="18" charset="0"/>
              </a:defRPr>
            </a:lvl9pPr>
          </a:lstStyle>
          <a:p>
            <a:r>
              <a:rPr lang="en-US" dirty="0"/>
              <a:t>Not only can you display the sum, count, average, max, min, but also you can show standard deviations and variances. Very nice for financial analysis!</a:t>
            </a:r>
          </a:p>
        </p:txBody>
      </p:sp>
      <p:sp>
        <p:nvSpPr>
          <p:cNvPr id="14341" name="Line 6"/>
          <p:cNvSpPr>
            <a:spLocks noChangeShapeType="1"/>
          </p:cNvSpPr>
          <p:nvPr/>
        </p:nvSpPr>
        <p:spPr bwMode="auto">
          <a:xfrm flipH="1">
            <a:off x="6096000" y="3276600"/>
            <a:ext cx="838200" cy="45720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Bottom Line</a:t>
            </a: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1137745" y="1600200"/>
            <a:ext cx="5263055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buClr>
                <a:srgbClr val="669900"/>
              </a:buClr>
              <a:buFont typeface="Arial" panose="020B0604020202020204" pitchFamily="34" charset="0"/>
              <a:buChar char="•"/>
            </a:pPr>
            <a:r>
              <a:rPr lang="en-US" dirty="0"/>
              <a:t>Pivot tables are a powerful analytical tool for decision-making.</a:t>
            </a:r>
          </a:p>
          <a:p>
            <a:pPr>
              <a:spcBef>
                <a:spcPct val="50000"/>
              </a:spcBef>
              <a:buClr>
                <a:srgbClr val="669900"/>
              </a:buClr>
              <a:buFont typeface="Arial" panose="020B0604020202020204" pitchFamily="34" charset="0"/>
              <a:buChar char="•"/>
            </a:pPr>
            <a:r>
              <a:rPr lang="en-US" dirty="0"/>
              <a:t>You can analyze data in various ways (sum, average, count, min, max).</a:t>
            </a:r>
          </a:p>
          <a:p>
            <a:pPr>
              <a:spcBef>
                <a:spcPct val="50000"/>
              </a:spcBef>
              <a:buClr>
                <a:srgbClr val="669900"/>
              </a:buClr>
              <a:buFont typeface="Arial" panose="020B0604020202020204" pitchFamily="34" charset="0"/>
              <a:buChar char="•"/>
            </a:pPr>
            <a:r>
              <a:rPr lang="en-US" dirty="0"/>
              <a:t>It would be difficult to create such tables manually.</a:t>
            </a:r>
          </a:p>
          <a:p>
            <a:pPr>
              <a:spcBef>
                <a:spcPct val="50000"/>
              </a:spcBef>
              <a:buClr>
                <a:srgbClr val="669900"/>
              </a:buClr>
              <a:buFont typeface="Arial" panose="020B0604020202020204" pitchFamily="34" charset="0"/>
              <a:buChar char="•"/>
            </a:pPr>
            <a:r>
              <a:rPr lang="en-US" dirty="0"/>
              <a:t>Pivot table content is updated if you change the data.</a:t>
            </a:r>
          </a:p>
          <a:p>
            <a:pPr>
              <a:spcBef>
                <a:spcPct val="50000"/>
              </a:spcBef>
              <a:buClr>
                <a:srgbClr val="669900"/>
              </a:buClr>
              <a:buFont typeface="Arial" panose="020B0604020202020204" pitchFamily="34" charset="0"/>
              <a:buChar char="•"/>
            </a:pPr>
            <a:r>
              <a:rPr lang="en-US" dirty="0"/>
              <a:t>Useful focus for team discussions.</a:t>
            </a:r>
          </a:p>
        </p:txBody>
      </p:sp>
      <p:pic>
        <p:nvPicPr>
          <p:cNvPr id="15364" name="Picture 10" descr="j023301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786428"/>
            <a:ext cx="1756002" cy="1782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1208</TotalTime>
  <Words>487</Words>
  <Application>Microsoft Office PowerPoint</Application>
  <PresentationFormat>On-screen Show (4:3)</PresentationFormat>
  <Paragraphs>42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Pivot Tables in Excel</vt:lpstr>
      <vt:lpstr>What Is a Pivot Table?</vt:lpstr>
      <vt:lpstr>Data Entry</vt:lpstr>
      <vt:lpstr>Insert Pivot Table</vt:lpstr>
      <vt:lpstr>Check Data Range</vt:lpstr>
      <vt:lpstr>Pivot Table Location</vt:lpstr>
      <vt:lpstr>Blank Table</vt:lpstr>
      <vt:lpstr>Drag Column Field</vt:lpstr>
      <vt:lpstr>Drag Row Field</vt:lpstr>
      <vt:lpstr>Drag Data Field </vt:lpstr>
      <vt:lpstr>Choose Value Field</vt:lpstr>
      <vt:lpstr>Customize It</vt:lpstr>
      <vt:lpstr>Other Value Fields</vt:lpstr>
      <vt:lpstr>Bottom Line</vt:lpstr>
    </vt:vector>
  </TitlesOfParts>
  <Company>McGraw Hill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 Pivot Tables</dc:title>
  <dc:subject>Chapter 3 - Data Presentation</dc:subject>
  <dc:creator>David P. Doane</dc:creator>
  <dc:description>Copyright (c) 2025 by McGraw Hill LLC.  This material is intended solely for educational use licensed users of Connect. It may not be copied or resold.</dc:description>
  <cp:lastModifiedBy>Elango Selvaraj</cp:lastModifiedBy>
  <cp:revision>103</cp:revision>
  <dcterms:created xsi:type="dcterms:W3CDTF">2000-08-22T13:07:54Z</dcterms:created>
  <dcterms:modified xsi:type="dcterms:W3CDTF">2023-11-29T09:57:27Z</dcterms:modified>
</cp:coreProperties>
</file>